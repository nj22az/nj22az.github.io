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7c34ddacd4546b1" Type="http://schemas.openxmlformats.org/officeDocument/2006/relationships/officeDocument" Target="ppt/presentation.xml"/><Relationship Id="R861db07599aa41dd" Type="http://schemas.openxmlformats.org/officeDocument/2006/relationships/extended-properties" Target="docProps/app.xml"/><Relationship Id="Rd8cf384cba124e90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a38d8fb4f6ec40e4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ed11355ea2543db" Type="http://schemas.openxmlformats.org/officeDocument/2006/relationships/theme" Target="theme/theme1.xml"/><Relationship Id="R4a30431852bc4203" Type="http://schemas.openxmlformats.org/officeDocument/2006/relationships/presProps" Target="presProps.xml"/><Relationship Id="R59b04d653c184694" Type="http://schemas.openxmlformats.org/officeDocument/2006/relationships/tableStyles" Target="tableStyles.xml"/><Relationship Id="Ra38d8fb4f6ec40e4" Type="http://schemas.openxmlformats.org/officeDocument/2006/relationships/slideMaster" Target="slideMasters/slideMaster1.xml"/><Relationship Id="Rba35c611fa944afe" Type="http://schemas.openxmlformats.org/officeDocument/2006/relationships/viewProps" Target="viewProp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e9bbca99fd0e4b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dbed5ff74e9b430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8d90e2e815ac47ca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599dc8b372340a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57876e5b8ebd4956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d9291271a5e94ac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0c894096355d480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8fa3bb3d3b84b8b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b9ffc4a04cc45db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7db49676138543fe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d61dd6cc9ae4a5f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71AF29-9BF1-473B-AFA6-17086F16A42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E8C47869-AB2E-4353-993A-C5F3CBCD7A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4BDD63-2879-4553-A7D4-C8B90F669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47559E2-D642-40B2-A622-29E6C6C090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BCBF1D-E8D4-4C02-B339-40A7E12B7A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22FDD0-541F-4732-A589-6E09DA58B3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9FD4EB-ED93-4F84-9A20-8F3AF861C5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87B3B2F-39C7-4AB3-B336-4AA52F5371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C14936C-5A60-4749-9BA4-077B860C97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221E00-8DF1-4F1B-832D-71DC043B5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2DB1BD-E287-4420-8511-29126B0618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B11597-97EC-49B5-A400-7D26520A3C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F742E12-71EE-4A0A-A25A-482AF08CB59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99B004-C36A-4FB2-9F9D-CE473319A9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07C9783-743E-4094-A2AE-9E44E3D473E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C4FC59-7B72-4123-8378-0EA5088432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37F9AEE-67E4-463F-959F-E9E3A1B888F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354C6D0-6530-44C0-8216-34BD311A97A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428CFC9-6708-459E-B81E-1E9C1425772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6003C71-1529-40B2-8C48-8F715F571DC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643222D-12A8-4E31-8062-7D5BCCBAB7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7D2405-3A74-4011-A349-9548796B9D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8F98B1-4335-49A0-A5DC-F7821F48D4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911721C-4555-47B9-A29D-0F448969C4F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C2D7DE53-B347-45DD-AFFA-3E8BE03250C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F97C298-A28D-4A26-BDCA-B098B846E55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9775CF6-BCDA-455B-8823-96F499D329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E36C5186-AD15-4D60-94C6-61F1173F250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9823F44-4193-4A09-BFAF-ED3CD7668F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F9FE2D-754C-44B3-B95C-26D7D5C75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6BD55E16-C4C4-4E3D-A0B4-2831B64AB9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8325CBA-1C76-41B1-899E-BE2E85DBB7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1280AB-E4E6-40DF-AAAA-D319DDAE7A3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AB46744-49A1-4DBC-9FD7-6DAC1E5B0D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BE22B4-F4D3-45EC-8704-71421CA0A1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07804CA-1F56-49BC-A4BE-414873B51DD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C616F8-21C9-44E4-AE61-31E60C0068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23E4261-CE3E-4ACE-850C-97041401DE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EF0A03-62CA-44B8-B680-52B1168AC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26F306-817F-41C5-8A16-96C7343CE1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2F4B232-2E06-41D6-B343-B9F3343442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45369E5-14C4-43E7-8C70-94F9D8946D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D77C1B-88A0-480F-A3F3-2C46ED54C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0DD105B-4990-483D-9F9F-A9235A346E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A207939-C386-457A-BB29-427E4DC69A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3222363-8D26-4BF7-AEF5-9A8D193537F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1AD7074-23A8-4F9E-B387-FF125010E36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74EEA3-8E26-4876-9CCC-AEB28DB192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C1926D-3764-4E58-9CFE-1C39C0C599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1EA9798-D720-420B-B587-FB2D341F8B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80F96-07A9-471D-BB10-6FD8F834C8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65504D-A0FC-4E9E-8009-F569A5C9842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9C1D87B-E274-4EF8-9A16-0DB1EAB639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4ED1D95-F8F3-4745-B8E4-98B6A31BFBD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93952F-F53B-42A5-B3B5-39F8406C72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B05298D-E759-46A6-B3C3-B7B73450F0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3DC9778-2E8A-4C7F-84B7-05E3D6E237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066A76-6749-4154-81E1-81287255579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62cd79811f54438" Type="http://schemas.openxmlformats.org/officeDocument/2006/relationships/slideLayout" Target="../slideLayouts/slideLayout10.xml"/><Relationship Id="R170b8970d5204efa" Type="http://schemas.openxmlformats.org/officeDocument/2006/relationships/slideLayout" Target="../slideLayouts/slideLayout9.xml"/><Relationship Id="R7099d2b2aa324873" Type="http://schemas.openxmlformats.org/officeDocument/2006/relationships/theme" Target="theme/theme2.xml"/><Relationship Id="R7be85162f4ec45ce" Type="http://schemas.openxmlformats.org/officeDocument/2006/relationships/slideLayout" Target="../slideLayouts/slideLayout8.xml"/><Relationship Id="R82b356f2f0c249f8" Type="http://schemas.openxmlformats.org/officeDocument/2006/relationships/slideLayout" Target="../slideLayouts/slideLayout4.xml"/><Relationship Id="R83d3169839ae4a0d" Type="http://schemas.openxmlformats.org/officeDocument/2006/relationships/slideLayout" Target="../slideLayouts/slideLayout7.xml"/><Relationship Id="Ra1c6ad5e34ce4900" Type="http://schemas.openxmlformats.org/officeDocument/2006/relationships/slideLayout" Target="../slideLayouts/slideLayout5.xml"/><Relationship Id="Rb613688b8cb2457e" Type="http://schemas.openxmlformats.org/officeDocument/2006/relationships/slideLayout" Target="../slideLayouts/slideLayout1.xml"/><Relationship Id="Rc5987082cc9f429b" Type="http://schemas.openxmlformats.org/officeDocument/2006/relationships/slideLayout" Target="../slideLayouts/slideLayout2.xml"/><Relationship Id="Re60a86bc3ab141e2" Type="http://schemas.openxmlformats.org/officeDocument/2006/relationships/slideLayout" Target="../slideLayouts/slideLayout3.xml"/><Relationship Id="Rf39fc677f541417c" Type="http://schemas.openxmlformats.org/officeDocument/2006/relationships/slideLayout" Target="../slideLayouts/slideLayout11.xml"/><Relationship Id="Rf7c405d8b6a04f8d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A772F057-7340-4065-8845-BB8E9AD55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7DE1F7C-60E1-400E-B38F-52BF24F21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B15F1D9-83F8-4DB0-BD2B-BDD3E158134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05894D5-5CF7-4EDE-B022-CF2BDFF8D01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0839A-B350-41EB-9FE9-191EB435D5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13688b8cb2457e"/>
    <p:sldLayoutId xmlns:r="http://schemas.openxmlformats.org/officeDocument/2006/relationships" id="2147483650" r:id="Rc5987082cc9f429b"/>
    <p:sldLayoutId xmlns:r="http://schemas.openxmlformats.org/officeDocument/2006/relationships" id="2147483651" r:id="Re60a86bc3ab141e2"/>
    <p:sldLayoutId xmlns:r="http://schemas.openxmlformats.org/officeDocument/2006/relationships" id="2147483652" r:id="R82b356f2f0c249f8"/>
    <p:sldLayoutId xmlns:r="http://schemas.openxmlformats.org/officeDocument/2006/relationships" id="2147483653" r:id="Ra1c6ad5e34ce4900"/>
    <p:sldLayoutId xmlns:r="http://schemas.openxmlformats.org/officeDocument/2006/relationships" id="2147483654" r:id="Rf7c405d8b6a04f8d"/>
    <p:sldLayoutId xmlns:r="http://schemas.openxmlformats.org/officeDocument/2006/relationships" id="2147483655" r:id="R83d3169839ae4a0d"/>
    <p:sldLayoutId xmlns:r="http://schemas.openxmlformats.org/officeDocument/2006/relationships" id="2147483656" r:id="R7be85162f4ec45ce"/>
    <p:sldLayoutId xmlns:r="http://schemas.openxmlformats.org/officeDocument/2006/relationships" id="2147483657" r:id="R170b8970d5204efa"/>
    <p:sldLayoutId xmlns:r="http://schemas.openxmlformats.org/officeDocument/2006/relationships" id="2147483658" r:id="R162cd79811f54438"/>
    <p:sldLayoutId xmlns:r="http://schemas.openxmlformats.org/officeDocument/2006/relationships" id="2147483659" r:id="Rf39fc677f541417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nj22az.github.io/sjoskolan/vecka-43/aktuell/Del_3.html" TargetMode="External"/><Relationship Id="rId3" Type="http://schemas.openxmlformats.org/officeDocument/2006/relationships/hyperlink" Target="https://webstore.iec.ch/en/publication/2723" TargetMode="External"/><Relationship Id="rId4" Type="http://schemas.openxmlformats.org/officeDocument/2006/relationships/hyperlink" Target="https://dam-assets.fluke.com.cn/s3fs-public/2100079_6003_ENG_D_W.PDF" TargetMode="External"/><Relationship Id="rId5" Type="http://schemas.openxmlformats.org/officeDocument/2006/relationships/hyperlink" Target="https://www.electrical-installation.org/enwiki/Coordination_between_circuit-breakers" TargetMode="External"/><Relationship Id="rId6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slag_v43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09904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6099048"/>
          </a:xfrm>
          <a:prstGeom prst="rect">
            <a:avLst/>
          </a:prstGeom>
          <a:gradFill rotWithShape="1">
            <a:gsLst>
              <a:gs pos="0">
                <a:srgbClr val="001427">
                  <a:alpha val="70000"/>
                </a:srgbClr>
              </a:gs>
              <a:gs pos="45000">
                <a:srgbClr val="001427">
                  <a:alpha val="55000"/>
                </a:srgbClr>
              </a:gs>
              <a:gs pos="75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1645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Elscheman och dokumentation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5669280" cy="914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Calibri"/>
              </a:rPr>
              <a:t>Symboler, hållkrets och förväntade mätvärden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03320"/>
            <a:ext cx="585216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Vecka 43 · Fredag 23 oktober · 09.00–10.00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12080"/>
            <a:ext cx="58521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 3 av 4 · Elteknik och ellära</a:t>
            </a:r>
          </a:p>
        </p:txBody>
      </p:sp>
      <p:sp>
        <p:nvSpPr>
          <p:cNvPr id="8" name="Dag: Fredag 23 oktober"/>
          <p:cNvSpPr/>
          <p:nvPr/>
        </p:nvSpPr>
        <p:spPr>
          <a:xfrm>
            <a:off x="548640" y="411480"/>
            <a:ext cx="2944368" cy="438912"/>
          </a:xfrm>
          <a:prstGeom prst="roundRect">
            <a:avLst>
              <a:gd name="adj" fmla="val 18000"/>
            </a:avLst>
          </a:prstGeom>
          <a:solidFill>
            <a:srgbClr val="B517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Fredag 23 oktober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Kursplanen i dag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48640" y="1453896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1417320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kan hitta ett fel med mätningar och ritningar.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128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EDA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30552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arbetar säkert, i rätt ordning, och skriver ner vad du har gjort.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960120" cy="420624"/>
          </a:xfrm>
          <a:prstGeom prst="roundRect">
            <a:avLst>
              <a:gd name="adj" fmla="val 18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1600" b="1" i="0">
                <a:solidFill>
                  <a:srgbClr val="111111"/>
                </a:solidFill>
                <a:latin typeface="Calibri"/>
              </a:rPr>
              <a:t>LM-1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843784"/>
            <a:ext cx="6858000" cy="8686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Du känner igen vanliga komponenter, skydd och mätinstrument och vet vad de gör.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94176"/>
            <a:ext cx="8046720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Efter lektionen kan du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51376"/>
            <a:ext cx="8046720" cy="1746503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följa en huvud- och styrströmsfunktion i ett schema.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koppla symboler, beteckningar och mätpunkter till dokumentationen.</a:t>
            </a:r>
          </a:p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ange de två mätpunkterna och driftläget för ett förväntat mätvärde.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Startfråga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Vad visar ett kretsschema som en lista över ledningsanslutningar inte visar lika tydligt?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74920"/>
            <a:ext cx="804672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800" b="0" i="0">
                <a:solidFill>
                  <a:srgbClr val="064F91"/>
                </a:solidFill>
                <a:latin typeface="Calibri"/>
              </a:rPr>
              <a:t>Skriv ett kort svar i chatten.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går lektionen till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1417320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Start och startfråga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84248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984248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Pass 1: Genomgång av del 3 med era frågor (avsnitt 1–7)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51176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551176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Övning 3.6 och 3.7 tillsammans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18104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118104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Avslutsfråga, sammanfattning och det här gör du nu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685032"/>
            <a:ext cx="8046720" cy="512064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3685032"/>
            <a:ext cx="1005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064F91"/>
                </a:solidFill>
                <a:latin typeface="Calibri"/>
              </a:rPr>
              <a:t>09.50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685032"/>
            <a:ext cx="6720840" cy="51206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Paus</a:t>
            </a:r>
          </a:p>
        </p:txBody>
      </p:sp>
      <p:pic>
        <p:nvPicPr>
          <p:cNvPr id="15" name="Picture 1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Så läses styrkretsen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En symbol visar funktion. En beteckning identifierar apparaten.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NO är öppen och NC är sluten i opåverkat läge: ingen trycker och spolen är strömlös.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Kontakter i serie måste alla vara slutna för att det ska finnas en strömväg.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Kontakter parallellt ger alternativa vägar mellan samma två noder.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Symboler och referenser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057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Symboler visar komponenternas funktion.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IEC 60617 är referensen för grafiska symboler i elscheman.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Beteckningen identifierar objektet, till exempel apparaten K1.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Korsreferenser knyter samman spolen och kontakterna.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Figuren visar förenklade undervisningssymboler.</a:t>
            </a:r>
          </a:p>
        </p:txBody>
      </p:sp>
      <p:pic>
        <p:nvPicPr>
          <p:cNvPr id="5" name="Figur: Grafiska symboler: motstånd (R), NO-kontakt (S, slutande), spänningsmätare, säkring (F), reläspole K1 och strömmätare." descr="Grafiska symboler: motstånd (R), NO-kontakt (S, slutande), spänningsmätare, säkring (F), reläspole K1 och strömmäta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0752" y="3566160"/>
            <a:ext cx="5522494" cy="233172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Huvud- och styrström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2402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Två scheman: kraftvägen och villkoren för manövern.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Huvudströmsschemat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visar kraftvägen till lasten.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1" i="0">
                <a:solidFill>
                  <a:srgbClr val="111111"/>
                </a:solidFill>
                <a:latin typeface="Calibri"/>
              </a:rPr>
              <a:t>Styrströmsschemat</a:t>
            </a:r>
            <a:r>
              <a:rPr sz="1900" b="0" i="0">
                <a:solidFill>
                  <a:srgbClr val="111111"/>
                </a:solidFill>
                <a:latin typeface="Calibri"/>
              </a:rPr>
              <a:t> visar villkoren för manövern.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Figuren är kraftdelens förenklade funktionsschema. F1 ger kortslutningsskydd, K1 kopplar matningen och F2:s överlastfunktion ska bryta motorns manöver.</a:t>
            </a:r>
          </a:p>
        </p:txBody>
      </p:sp>
      <p:pic>
        <p:nvPicPr>
          <p:cNvPr id="5" name="Figur: Huvudströmsschema: L1–L3 genom säkringarna F1, kontaktorn K1 och överlastskyddet F2 till motorn M 3~." descr="Huvudströmsschema: L1–L3 genom säkringarna F1, kontaktorn K1 och överlastskyddet F2 till motorn M 3~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879" y="3749039"/>
            <a:ext cx="5730240" cy="214884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Hållkretsens funktion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20574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S0 i serie med (S1 parallellt med K1)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S0 är STOPP (NC). S1 är START (NO). K1 har en NO-hållkontakt.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K1-spolen matas när det finns en obruten väg från +12 V till 0 V.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Figuren är en förenklad funktionsskiss i vila. K1:s spole och kontakt tillhör samma apparat.</a:t>
            </a:r>
          </a:p>
        </p:txBody>
      </p:sp>
      <p:pic>
        <p:nvPicPr>
          <p:cNvPr id="5" name="Figur: +12 V – S0 STOPP (NC, sluten i vila) – S1 START (NO, öppen i vila) parallellt med K1:s hållkontakt (NO, sluts när K1 drar) – spolen K1 – 0 V." descr="+12 V – S0 STOPP (NC, sluten i vila) – S1 START (NO, öppen i vila) parallellt med K1:s hållkontakt (NO, sluts när K1 drar) – spolen K1 – 0 V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3566160"/>
            <a:ext cx="6839712" cy="2331720"/>
          </a:xfrm>
          <a:prstGeom prst="rect">
            <a:avLst/>
          </a:prstGeom>
        </p:spPr>
      </p:pic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hållkretsens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200"/>
              </a:spcAft>
            </a:pPr>
            <a:r>
              <a:rPr sz="1900" b="0" i="1">
                <a:solidFill>
                  <a:srgbClr val="4A4A4A"/>
                </a:solidFill>
                <a:latin typeface="Calibri"/>
              </a:rPr>
              <a:t>I en 12 V-hållkrets är STOPP (NC) sluten. START (NO) och K1:s NO-hållkontakt är öppna i vila.</a:t>
            </a:r>
          </a:p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K1 matas via STOPP och en av parallellvägarna.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START trycks in och sluter vägen till K1-spolen.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K1 drar.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Vad som händer när START släpps och när STOPP trycks utreds i övningarna. Vid strömavbrott släpper K1.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exempel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Kretsschema och förbindning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Funktion respektive fysisk förbindelse.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Kretsschemat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beskriver den elektriska funktionen.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Förbindningsschemat</a:t>
            </a:r>
            <a:r>
              <a:rPr sz="2000" b="0" i="0">
                <a:solidFill>
                  <a:srgbClr val="111111"/>
                </a:solidFill>
                <a:latin typeface="Calibri"/>
              </a:rPr>
              <a:t> visar anslutningarna mellan plintar och apparater.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En felsökare behöver kunna gå från K1 i funktionen till rätt apparat och anslutning i verkligheten.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Mätpunkter och referens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Ett spänningsvärde kräver två definierade punkter.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Ange driftläge och förväntat värde innan du kontrollerar.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Vad bör en öppen kontakt visa i ditt driftläge? I en enkel aktiv DC-kedja kan ett avbrott ta hela spänningen.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Tolka resultatet mot schemat och referenspunkten.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Dokumentets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4480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500" b="1" i="0">
                <a:solidFill>
                  <a:srgbClr val="064F91"/>
                </a:solidFill>
                <a:latin typeface="Calibri"/>
              </a:rPr>
              <a:t>Aktuellt schema och faktisk anläggning ska stämma.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Ritningsnummer, revision och datum visar vilket underlag som används.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Ändringar behöver kunna följas från beslut till verifierad funktion.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I inlämningen ingår funktion, komponenter och förväntade mätvärden vid definierade mätpunkter.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avsnitt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Exempel: spänning över ett avbrott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7315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1">
                <a:solidFill>
                  <a:srgbClr val="4A4A4A"/>
                </a:solidFill>
                <a:latin typeface="Calibri"/>
              </a:rPr>
              <a:t>9 V matar en ohmsk last via en öppen seriekontakt. Returen är hel och övriga ledningar är ideala.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4069080" cy="3703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120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I = 0     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last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R · I     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kontakt</a:t>
            </a:r>
            <a:r>
              <a:rPr sz="2200" b="1" i="0">
                <a:solidFill>
                  <a:srgbClr val="064F91"/>
                </a:solidFill>
                <a:latin typeface="Calibri"/>
              </a:rPr>
              <a:t> = 9 V − U</a:t>
            </a:r>
            <a:r>
              <a:rPr sz="2200" b="1" i="0" baseline="-25000">
                <a:solidFill>
                  <a:srgbClr val="064F91"/>
                </a:solidFill>
                <a:latin typeface="Calibri"/>
              </a:rPr>
              <a:t>last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1. Den öppna kontakten hindrar strömmen: I = 0 A.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2. U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last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R · 0 = 0 V, oavsett lastens ändliga R.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111111"/>
                </a:solidFill>
                <a:latin typeface="Calibri"/>
              </a:rPr>
              <a:t>3. U</a:t>
            </a:r>
            <a:r>
              <a:rPr sz="1800" b="0" i="0" baseline="-25000">
                <a:solidFill>
                  <a:srgbClr val="111111"/>
                </a:solidFill>
                <a:latin typeface="Calibri"/>
              </a:rPr>
              <a:t>kontakt</a:t>
            </a:r>
            <a:r>
              <a:rPr sz="1800" b="0" i="0">
                <a:solidFill>
                  <a:srgbClr val="111111"/>
                </a:solidFill>
                <a:latin typeface="Calibri"/>
              </a:rPr>
              <a:t> = 9 − 0 = 9 V.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 i="0">
                <a:solidFill>
                  <a:srgbClr val="111111"/>
                </a:solidFill>
                <a:latin typeface="Calibri"/>
              </a:rPr>
              <a:t>Stor spänning över en kontakt kan tyda på avbrott.</a:t>
            </a:r>
          </a:p>
        </p:txBody>
      </p:sp>
      <p:pic>
        <p:nvPicPr>
          <p:cNvPr id="6" name="Figur: 9 V-krets med en öppen seriekontakt och en ohmsk last: 9 V över kontakten, 0 V över lasten och ingen ström." descr="9 V-krets med en öppen seriekontakt och en ohmsk last: 9 V över kontakten, 0 V över lasten och ingen strö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677815"/>
            <a:ext cx="3794760" cy="2645368"/>
          </a:xfrm>
          <a:prstGeom prst="rect">
            <a:avLst/>
          </a:prstGeom>
        </p:spPr>
      </p:pic>
      <p:pic>
        <p:nvPicPr>
          <p:cNvPr id="7" name="Picture 6" descr="sidfo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exempel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Övningar tillsammans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8046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00" b="1" i="0">
                <a:solidFill>
                  <a:srgbClr val="064F91"/>
                </a:solidFill>
                <a:latin typeface="Calibri"/>
              </a:rPr>
              <a:t>Öppna del 3 och gå till 4 Övningar.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57400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057400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Spolspänning i vila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34056"/>
            <a:ext cx="8046720" cy="566928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2734056"/>
            <a:ext cx="173736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 i="0">
                <a:solidFill>
                  <a:srgbClr val="111111"/>
                </a:solidFill>
                <a:latin typeface="Calibri"/>
              </a:rPr>
              <a:t>Övning 3.7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734056"/>
            <a:ext cx="6035040" cy="56692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Spolspänning under start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47872"/>
            <a:ext cx="8046720" cy="23500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Calibri"/>
              </a:rPr>
              <a:t>Fem minuter per övning. Skriv ditt svar i chatten. Övning 3.8–3.10 gör du själv efter lektionen.</a:t>
            </a:r>
          </a:p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1400" b="0" i="0">
                <a:solidFill>
                  <a:srgbClr val="4A4A4A"/>
                </a:solidFill>
                <a:latin typeface="Calibri"/>
              </a:rPr>
              <a:t>nj22az.github.io/sjoskolan/vecka-43/aktuell/Del_3.html</a:t>
            </a:r>
          </a:p>
        </p:txBody>
      </p:sp>
      <p:pic>
        <p:nvPicPr>
          <p:cNvPr id="12" name="Picture 11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  ·  Del 3 · 4 Övningar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Avslutsfråga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8046720" cy="201168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3200" b="1" i="0">
                <a:solidFill>
                  <a:srgbClr val="111111"/>
                </a:solidFill>
                <a:latin typeface="Calibri"/>
              </a:rPr>
              <a:t>Vilka två punkter och vilket driftläge hör till ditt förväntade mätvärde?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069080"/>
            <a:ext cx="804672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800"/>
              </a:spcAft>
            </a:pPr>
            <a:r>
              <a:rPr sz="2000" b="0" i="0">
                <a:solidFill>
                  <a:srgbClr val="4A4A4A"/>
                </a:solidFill>
                <a:latin typeface="Calibri"/>
              </a:rPr>
              <a:t>Inlämning 3 bygger på hållkretsen: redovisa funktion, komponenter och förväntade mätvärden vid definierade mätpunkter. Inlämningen senast i dag, fredag 23 oktober.</a:t>
            </a:r>
          </a:p>
        </p:txBody>
      </p:sp>
      <p:pic>
        <p:nvPicPr>
          <p:cNvPr id="6" name="Picture 5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Sammanfattning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1. En symbol visar funktion och en beteckning identifierar apparaten. Huvudströmsschemat visar kraftvägen, styrströmsschemat villkoren för manövern.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2. I hållkretsen ligger STOPP (NC) i serie med två parallella vägar: START (NO) och K1:s hållkontakt (NO).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100" b="0" i="0">
                <a:solidFill>
                  <a:srgbClr val="111111"/>
                </a:solidFill>
                <a:latin typeface="Calibri"/>
              </a:rPr>
              <a:t>3. Ett mätvärde gäller två punkter i ett driftläge. Kontrollera att schemat stämmer med anläggningen.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Det här gör du nu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4434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1. Gör övning 3.8–3.10 på delsidan. Ledtrådar och facit finns där.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2. Hållkretslabbet: välj ”Ny felmodul”, felsök det dolda felet och fyll i labbprotokollet. Protokollet är underlaget till felsökningsrapporten.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2000" b="0" i="0">
                <a:solidFill>
                  <a:srgbClr val="111111"/>
                </a:solidFill>
                <a:latin typeface="Calibri"/>
              </a:rPr>
              <a:t>3. Efter pausen 10.00: del 4, Systematisk felsökning.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4A4A4A"/>
                </a:solidFill>
                <a:latin typeface="Calibri"/>
              </a:rPr>
              <a:t>Inlämningen och felsökningsrapporten senast i dag, fredag 23 oktober. Allt finns på veckosidan.</a:t>
            </a:r>
          </a:p>
        </p:txBody>
      </p:sp>
      <p:pic>
        <p:nvPicPr>
          <p:cNvPr id="5" name="Picture 4" descr="sidf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046720" cy="731520"/>
          </a:xfrm>
          <a:prstGeom prst="rect">
            <a:avLst/>
          </a:prstGeom>
          <a:noFill/>
        </p:spPr>
        <p:txBody>
          <a:bodyPr wrap="square" anchor="b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111111"/>
                </a:solidFill>
                <a:latin typeface="Calibri"/>
              </a:rPr>
              <a:t>Källor och fortsatt läsning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76072" y="1097280"/>
            <a:ext cx="822960" cy="64008"/>
          </a:xfrm>
          <a:prstGeom prst="rect">
            <a:avLst/>
          </a:prstGeom>
          <a:solidFill>
            <a:srgbClr val="E87B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2"/>
              </a:rPr>
              <a:t>Sjöskolan: vecka 43, del 3 Elscheman och dokumentation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111111"/>
                </a:solidFill>
                <a:latin typeface="Calibri"/>
              </a:rPr>
              <a:t>Studieplanen YH03151, 18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3"/>
              </a:rPr>
              <a:t>IEC 60617, grafiska symboler för elscheman (IEC)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4"/>
              </a:rPr>
              <a:t>Fluke: multimeterns funktioner och mätning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40"/>
            <a:ext cx="80467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064F91"/>
                </a:solidFill>
                <a:latin typeface="Calibri"/>
                <a:hlinkClick r:id="rId5"/>
              </a:rPr>
              <a:t>Schneider Electric: samordning av skydd</a:t>
            </a:r>
          </a:p>
        </p:txBody>
      </p:sp>
      <p:pic>
        <p:nvPicPr>
          <p:cNvPr id="9" name="Picture 8" descr="sidfo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99048"/>
            <a:ext cx="9144000" cy="7589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63040" y="6400800"/>
            <a:ext cx="6217920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Vecka 43 · Fredag · Elscheman och dokumentation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6400800"/>
            <a:ext cx="70408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2026-09-20T20:09:37.2430000Z</dcterms:created>
  <dcterms:modified xsi:type="dcterms:W3CDTF">2026-09-20T20:09:37.2430000Z</dcterms:modified>
</coreProperties>
</file>