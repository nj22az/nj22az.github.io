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37c34ddacd4546b1" Type="http://schemas.openxmlformats.org/officeDocument/2006/relationships/officeDocument" Target="ppt/presentation.xml"/><Relationship Id="R861db07599aa41dd" Type="http://schemas.openxmlformats.org/officeDocument/2006/relationships/extended-properties" Target="docProps/app.xml"/><Relationship Id="Rd8cf384cba124e90" Type="http://schemas.openxmlformats.org/package/2006/relationships/metadata/core-properties" Target="docProps/core.xml"/></Relationships>
</file>

<file path=ppt/presentation.xml><?xml version="1.0" encoding="utf-8"?>
<p:presentation xmlns:p="http://schemas.openxmlformats.org/presentationml/2006/main" xmlns:r="http://schemas.openxmlformats.org/officeDocument/2006/relationships">
  <p:sldMasterIdLst>
    <p:sldMasterId id="2147483648" r:id="Ra38d8fb4f6ec40e4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</p:sldIdLst>
  <p:sldSz cx="9144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slideViewPr>
    <p:cSldViewPr snapToGrid="0" snapToObjects="1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2008" cy="72008"/>
</p:viewPr>
</file>

<file path=ppt/_rels/presentation.xml.rels><?xml version='1.0' encoding='UTF-8' standalone='yes'?>
<Relationships xmlns="http://schemas.openxmlformats.org/package/2006/relationships"><Relationship Id="R0ed11355ea2543db" Type="http://schemas.openxmlformats.org/officeDocument/2006/relationships/theme" Target="theme/theme1.xml"/><Relationship Id="R4a30431852bc4203" Type="http://schemas.openxmlformats.org/officeDocument/2006/relationships/presProps" Target="presProps.xml"/><Relationship Id="R59b04d653c184694" Type="http://schemas.openxmlformats.org/officeDocument/2006/relationships/tableStyles" Target="tableStyles.xml"/><Relationship Id="Ra38d8fb4f6ec40e4" Type="http://schemas.openxmlformats.org/officeDocument/2006/relationships/slideMaster" Target="slideMasters/slideMaster1.xml"/><Relationship Id="Rba35c611fa944afe" Type="http://schemas.openxmlformats.org/officeDocument/2006/relationships/viewProps" Target="viewProps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Relationship Id="rId15" Type="http://schemas.openxmlformats.org/officeDocument/2006/relationships/slide" Target="slides/slide10.xml"/><Relationship Id="rId16" Type="http://schemas.openxmlformats.org/officeDocument/2006/relationships/slide" Target="slides/slide11.xml"/><Relationship Id="rId17" Type="http://schemas.openxmlformats.org/officeDocument/2006/relationships/slide" Target="slides/slide12.xml"/><Relationship Id="rId18" Type="http://schemas.openxmlformats.org/officeDocument/2006/relationships/slide" Target="slides/slide13.xml"/><Relationship Id="rId19" Type="http://schemas.openxmlformats.org/officeDocument/2006/relationships/slide" Target="slides/slide14.xml"/><Relationship Id="rId20" Type="http://schemas.openxmlformats.org/officeDocument/2006/relationships/slide" Target="slides/slide15.xml"/><Relationship Id="rId21" Type="http://schemas.openxmlformats.org/officeDocument/2006/relationships/slide" Target="slides/slide16.xml"/><Relationship Id="rId22" Type="http://schemas.openxmlformats.org/officeDocument/2006/relationships/slide" Target="slides/slide17.xml"/><Relationship Id="rId23" Type="http://schemas.openxmlformats.org/officeDocument/2006/relationships/slide" Target="slides/slide18.xml"/></Relationships>
</file>

<file path=ppt/slideLayouts/_rels/slideLayout1.xml.rels><?xml version='1.0' encoding='UTF-8' standalone='yes'?>
<Relationships xmlns="http://schemas.openxmlformats.org/package/2006/relationships"><Relationship Id="Re9bbca99fd0e4bfe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dbed5ff74e9b4304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8d90e2e815ac47ca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3599dc8b372340a0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57876e5b8ebd4956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d9291271a5e94ac2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0c894096355d4803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08fa3bb3d3b84b8b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8b9ffc4a04cc45db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7db49676138543fe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fd61dd6cc9ae4a5f" Type="http://schemas.openxmlformats.org/officeDocument/2006/relationships/slideMaster" Target="../slideMasters/slideMaster1.xml"/></Relationships>
</file>

<file path=ppt/slideLayouts/slideLayout1.xml><?xml version="1.0" encoding="utf-8"?>
<p:sldLayout xmlns:p="http://schemas.openxmlformats.org/presentationml/2006/main" type="title" preserve="1">
  <p:cSld name="Rubrikbild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3171AF29-9BF1-473B-AFA6-17086F16A420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685800" y="1122363"/>
            <a:ext cx="7772400" cy="2387600"/>
          </a:xfrm>
        </p:spPr>
        <p:txBody>
          <a:bodyPr xmlns:a="http://schemas.openxmlformats.org/drawingml/2006/main" anchor="b"/>
          <a:lstStyle xmlns:a="http://schemas.openxmlformats.org/drawingml/2006/main">
            <a:lvl1pPr algn="ctr">
              <a:buNone/>
              <a:defRPr sz="6000"/>
            </a:lvl1pPr>
          </a:lstStyle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Subtitle 2">
            <a:extLst xmlns:a="http://schemas.openxmlformats.org/drawingml/2006/main">
              <a:ext uri="{FF2B5EF4-FFF2-40B4-BE49-F238E27FC236}">
                <a16:creationId xmlns:a16="http://schemas.microsoft.com/office/drawing/2014/main" id="{E8C47869-AB2E-4353-993A-C5F3CBCD7A53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143000" y="3602038"/>
            <a:ext cx="6858000" cy="1655762"/>
          </a:xfrm>
        </p:spPr>
        <p:txBody>
          <a:bodyPr xmlns:a="http://schemas.openxmlformats.org/drawingml/2006/main"/>
          <a:lstStyle xmlns:a="http://schemas.openxmlformats.org/drawingml/2006/main"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 xmlns:a="http://schemas.openxmlformats.org/drawingml/2006/main">
            <a:r>
              <a:t>Click to edit Master subtitle style</a:t>
            </a:r>
            <a:endParaRPr/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0E4BDD63-2879-4553-A7D4-C8B90F669440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C1F3D7D-73CF-D940-97F9-D65067452AC9}" type="datetimeFigureOut">
              <a:t>2026-08-26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B47559E2-D642-40B2-A622-29E6C6C0906B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ECBCBF1D-E8D4-4C02-B339-40A7E12B7A50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6D56CE70-7EE1-9D47-B86A-0F053C401563}" type="slidenum">
              <a:t>‹#›</a:t>
            </a:fld>
            <a:endParaRPr/>
          </a:p>
        </p:txBody>
      </p:sp>
    </p:spTree>
  </p:cSld>
</p:sldLayout>
</file>

<file path=ppt/slideLayouts/slideLayout2.xml><?xml version="1.0" encoding="utf-8"?>
<p:sldLayout xmlns:p="http://schemas.openxmlformats.org/presentationml/2006/main" type="obj" preserve="1">
  <p:cSld name="Rubrik och innehåll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E722FDD0-541F-4732-A589-6E09DA58B33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AA9FD4EB-ED93-4F84-9A20-8F3AF861C5D9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C87B3B2F-39C7-4AB3-B336-4AA52F537126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C1F3D7D-73CF-D940-97F9-D65067452AC9}" type="datetimeFigureOut">
              <a:t>2026-08-26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FC14936C-5A60-4749-9BA4-077B860C97E5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1C221E00-8DF1-4F1B-832D-71DC043B5816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6D56CE70-7EE1-9D47-B86A-0F053C401563}" type="slidenum">
              <a:t>‹#›</a:t>
            </a:fld>
            <a:endParaRPr/>
          </a:p>
        </p:txBody>
      </p:sp>
    </p:spTree>
  </p:cSld>
</p:sldLayout>
</file>

<file path=ppt/slideLayouts/slideLayout3.xml><?xml version="1.0" encoding="utf-8"?>
<p:sldLayout xmlns:p="http://schemas.openxmlformats.org/presentationml/2006/main" type="secHead" preserve="1">
  <p:cSld name="Avsnittsrubrik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442DB1BD-E287-4420-8511-29126B06189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23888" y="1709739"/>
            <a:ext cx="7886700" cy="2852737"/>
          </a:xfrm>
        </p:spPr>
        <p:txBody>
          <a:bodyPr xmlns:a="http://schemas.openxmlformats.org/drawingml/2006/main" anchor="b"/>
          <a:lstStyle xmlns:a="http://schemas.openxmlformats.org/drawingml/2006/main">
            <a:lvl1pPr>
              <a:buNone/>
              <a:defRPr sz="6000"/>
            </a:lvl1pPr>
          </a:lstStyle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B9B11597-97EC-49B5-A400-7D26520A3C0F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23888" y="4589464"/>
            <a:ext cx="7886700" cy="1500187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0F742E12-71EE-4A0A-A25A-482AF08CB59C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C1F3D7D-73CF-D940-97F9-D65067452AC9}" type="datetimeFigureOut">
              <a:t>2026-08-26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7B99B004-C36A-4FB2-9F9D-CE473319A95C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707C9783-743E-4094-A2AE-9E44E3D473E2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6D56CE70-7EE1-9D47-B86A-0F053C401563}" type="slidenum">
              <a:t>‹#›</a:t>
            </a:fld>
            <a:endParaRPr/>
          </a:p>
        </p:txBody>
      </p:sp>
    </p:spTree>
  </p:cSld>
</p:sldLayout>
</file>

<file path=ppt/slideLayouts/slideLayout4.xml><?xml version="1.0" encoding="utf-8"?>
<p:sldLayout xmlns:p="http://schemas.openxmlformats.org/presentationml/2006/main" type="twoObj" preserve="1">
  <p:cSld name="Två dela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A8C4FC59-7B72-4123-8378-0EA50884325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F37F9AEE-67E4-463F-959F-E9E3A1B888F0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628650" y="1825625"/>
            <a:ext cx="3886200" cy="43513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4" name="Content Placeholder 3">
            <a:extLst xmlns:a="http://schemas.openxmlformats.org/drawingml/2006/main">
              <a:ext uri="{FF2B5EF4-FFF2-40B4-BE49-F238E27FC236}">
                <a16:creationId xmlns:a16="http://schemas.microsoft.com/office/drawing/2014/main" id="{6354C6D0-6530-44C0-8216-34BD311A97A4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4629150" y="1825625"/>
            <a:ext cx="3886200" cy="43513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5" name="Date Placeholder 4">
            <a:extLst xmlns:a="http://schemas.openxmlformats.org/drawingml/2006/main">
              <a:ext uri="{FF2B5EF4-FFF2-40B4-BE49-F238E27FC236}">
                <a16:creationId xmlns:a16="http://schemas.microsoft.com/office/drawing/2014/main" id="{6428CFC9-6708-459E-B81E-1E9C14257725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C1F3D7D-73CF-D940-97F9-D65067452AC9}" type="datetimeFigureOut">
              <a:t>2026-08-26</a:t>
            </a:fld>
            <a:endParaRPr/>
          </a:p>
        </p:txBody>
      </p:sp>
      <p:sp>
        <p:nvSpPr>
          <p:cNvPr id="6" name="Footer Placeholder 5">
            <a:extLst xmlns:a="http://schemas.openxmlformats.org/drawingml/2006/main">
              <a:ext uri="{FF2B5EF4-FFF2-40B4-BE49-F238E27FC236}">
                <a16:creationId xmlns:a16="http://schemas.microsoft.com/office/drawing/2014/main" id="{76003C71-1529-40B2-8C48-8F715F571DCE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9643222D-12A8-4E31-8062-7D5BCCBAB7A5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6D56CE70-7EE1-9D47-B86A-0F053C401563}" type="slidenum">
              <a:t>‹#›</a:t>
            </a:fld>
            <a:endParaRPr/>
          </a:p>
        </p:txBody>
      </p:sp>
    </p:spTree>
  </p:cSld>
</p:sldLayout>
</file>

<file path=ppt/slideLayouts/slideLayout5.xml><?xml version="1.0" encoding="utf-8"?>
<p:sldLayout xmlns:p="http://schemas.openxmlformats.org/presentationml/2006/main" type="twoTxTwoObj" preserve="1">
  <p:cSld name="Jämförels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397D2405-3A74-4011-A349-9548796B9D3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29841" y="365126"/>
            <a:ext cx="7886700" cy="132556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E78F98B1-4335-49A0-A5DC-F7821F48D4D4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29842" y="1681163"/>
            <a:ext cx="3868340" cy="82391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4" name="Content Placeholder 3">
            <a:extLst xmlns:a="http://schemas.openxmlformats.org/drawingml/2006/main">
              <a:ext uri="{FF2B5EF4-FFF2-40B4-BE49-F238E27FC236}">
                <a16:creationId xmlns:a16="http://schemas.microsoft.com/office/drawing/2014/main" id="{3911721C-4555-47B9-A29D-0F448969C4F8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629842" y="2505075"/>
            <a:ext cx="3868340" cy="368458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5" name="Text Placeholder 4">
            <a:extLst xmlns:a="http://schemas.openxmlformats.org/drawingml/2006/main">
              <a:ext uri="{FF2B5EF4-FFF2-40B4-BE49-F238E27FC236}">
                <a16:creationId xmlns:a16="http://schemas.microsoft.com/office/drawing/2014/main" id="{C2D7DE53-B347-45DD-AFFA-3E8BE03250CE}"/>
              </a:ext>
            </a:extLst>
          </p:cNvPr>
          <p:cNvSpPr>
            <a:spLocks xmlns:a="http://schemas.openxmlformats.org/drawingml/2006/main" noGrp="1"/>
          </p:cNvSpPr>
          <p:nvPr>
            <p:ph type="body" idx="3"/>
          </p:nvPr>
        </p:nvSpPr>
        <p:spPr>
          <a:xfrm xmlns:a="http://schemas.openxmlformats.org/drawingml/2006/main">
            <a:off x="4629150" y="1681163"/>
            <a:ext cx="3887391" cy="82391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6" name="Content Placeholder 5">
            <a:extLst xmlns:a="http://schemas.openxmlformats.org/drawingml/2006/main">
              <a:ext uri="{FF2B5EF4-FFF2-40B4-BE49-F238E27FC236}">
                <a16:creationId xmlns:a16="http://schemas.microsoft.com/office/drawing/2014/main" id="{EF97C298-A28D-4A26-BDCA-B098B846E554}"/>
              </a:ext>
            </a:extLst>
          </p:cNvPr>
          <p:cNvSpPr>
            <a:spLocks xmlns:a="http://schemas.openxmlformats.org/drawingml/2006/main" noGrp="1"/>
          </p:cNvSpPr>
          <p:nvPr>
            <p:ph idx="4"/>
          </p:nvPr>
        </p:nvSpPr>
        <p:spPr>
          <a:xfrm xmlns:a="http://schemas.openxmlformats.org/drawingml/2006/main">
            <a:off x="4629150" y="2505075"/>
            <a:ext cx="3887391" cy="368458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7" name="Date Placeholder 6">
            <a:extLst xmlns:a="http://schemas.openxmlformats.org/drawingml/2006/main">
              <a:ext uri="{FF2B5EF4-FFF2-40B4-BE49-F238E27FC236}">
                <a16:creationId xmlns:a16="http://schemas.microsoft.com/office/drawing/2014/main" id="{09775CF6-BCDA-455B-8823-96F499D329B1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C1F3D7D-73CF-D940-97F9-D65067452AC9}" type="datetimeFigureOut">
              <a:t>2026-08-26</a:t>
            </a:fld>
            <a:endParaRPr/>
          </a:p>
        </p:txBody>
      </p:sp>
      <p:sp>
        <p:nvSpPr>
          <p:cNvPr id="8" name="Footer Placeholder 7">
            <a:extLst xmlns:a="http://schemas.openxmlformats.org/drawingml/2006/main">
              <a:ext uri="{FF2B5EF4-FFF2-40B4-BE49-F238E27FC236}">
                <a16:creationId xmlns:a16="http://schemas.microsoft.com/office/drawing/2014/main" id="{E36C5186-AD15-4D60-94C6-61F1173F2509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9" name="Slide Number Placeholder 8">
            <a:extLst xmlns:a="http://schemas.openxmlformats.org/drawingml/2006/main">
              <a:ext uri="{FF2B5EF4-FFF2-40B4-BE49-F238E27FC236}">
                <a16:creationId xmlns:a16="http://schemas.microsoft.com/office/drawing/2014/main" id="{C9823F44-4193-4A09-BFAF-ED3CD7668FF5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6D56CE70-7EE1-9D47-B86A-0F053C401563}" type="slidenum">
              <a:t>‹#›</a:t>
            </a:fld>
            <a:endParaRPr/>
          </a:p>
        </p:txBody>
      </p:sp>
    </p:spTree>
  </p:cSld>
</p:sldLayout>
</file>

<file path=ppt/slideLayouts/slideLayout6.xml><?xml version="1.0" encoding="utf-8"?>
<p:sldLayout xmlns:p="http://schemas.openxmlformats.org/presentationml/2006/main" type="titleOnly" preserve="1">
  <p:cSld name="Endast rubrik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D8F9FE2D-754C-44B3-B95C-26D7D5C7516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Date Placeholder 2">
            <a:extLst xmlns:a="http://schemas.openxmlformats.org/drawingml/2006/main">
              <a:ext uri="{FF2B5EF4-FFF2-40B4-BE49-F238E27FC236}">
                <a16:creationId xmlns:a16="http://schemas.microsoft.com/office/drawing/2014/main" id="{6BD55E16-C4C4-4E3D-A0B4-2831B64AB90E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C1F3D7D-73CF-D940-97F9-D65067452AC9}" type="datetimeFigureOut">
              <a:t>2026-08-26</a:t>
            </a:fld>
            <a:endParaRPr/>
          </a:p>
        </p:txBody>
      </p:sp>
      <p:sp>
        <p:nvSpPr>
          <p:cNvPr id="4" name="Footer Placeholder 3">
            <a:extLst xmlns:a="http://schemas.openxmlformats.org/drawingml/2006/main">
              <a:ext uri="{FF2B5EF4-FFF2-40B4-BE49-F238E27FC236}">
                <a16:creationId xmlns:a16="http://schemas.microsoft.com/office/drawing/2014/main" id="{38325CBA-1C76-41B1-899E-BE2E85DBB7E7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" name="Slide Number Placeholder 4">
            <a:extLst xmlns:a="http://schemas.openxmlformats.org/drawingml/2006/main">
              <a:ext uri="{FF2B5EF4-FFF2-40B4-BE49-F238E27FC236}">
                <a16:creationId xmlns:a16="http://schemas.microsoft.com/office/drawing/2014/main" id="{D41280AB-E4E6-40DF-AAAA-D319DDAE7A3B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6D56CE70-7EE1-9D47-B86A-0F053C401563}" type="slidenum">
              <a:t>‹#›</a:t>
            </a:fld>
            <a:endParaRPr/>
          </a:p>
        </p:txBody>
      </p:sp>
    </p:spTree>
  </p:cSld>
</p:sldLayout>
</file>

<file path=ppt/slideLayouts/slideLayout7.xml><?xml version="1.0" encoding="utf-8"?>
<p:sldLayout xmlns:p="http://schemas.openxmlformats.org/presentationml/2006/main" type="blank" preserve="1">
  <p:cSld name="Tom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Date Placeholder 1">
            <a:extLst xmlns:a="http://schemas.openxmlformats.org/drawingml/2006/main">
              <a:ext uri="{FF2B5EF4-FFF2-40B4-BE49-F238E27FC236}">
                <a16:creationId xmlns:a16="http://schemas.microsoft.com/office/drawing/2014/main" id="{4AB46744-49A1-4DBC-9FD7-6DAC1E5B0DC9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C1F3D7D-73CF-D940-97F9-D65067452AC9}" type="datetimeFigureOut">
              <a:t>2026-08-26</a:t>
            </a:fld>
            <a:endParaRPr/>
          </a:p>
        </p:txBody>
      </p:sp>
      <p:sp>
        <p:nvSpPr>
          <p:cNvPr id="3" name="Footer Placeholder 2">
            <a:extLst xmlns:a="http://schemas.openxmlformats.org/drawingml/2006/main">
              <a:ext uri="{FF2B5EF4-FFF2-40B4-BE49-F238E27FC236}">
                <a16:creationId xmlns:a16="http://schemas.microsoft.com/office/drawing/2014/main" id="{18BE22B4-F4D3-45EC-8704-71421CA0A1E7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>
            <a:extLst xmlns:a="http://schemas.openxmlformats.org/drawingml/2006/main">
              <a:ext uri="{FF2B5EF4-FFF2-40B4-BE49-F238E27FC236}">
                <a16:creationId xmlns:a16="http://schemas.microsoft.com/office/drawing/2014/main" id="{707804CA-1F56-49BC-A4BE-414873B51DDC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6D56CE70-7EE1-9D47-B86A-0F053C401563}" type="slidenum">
              <a:t>‹#›</a:t>
            </a:fld>
            <a:endParaRPr/>
          </a:p>
        </p:txBody>
      </p:sp>
    </p:spTree>
  </p:cSld>
</p:sldLayout>
</file>

<file path=ppt/slideLayouts/slideLayout8.xml><?xml version="1.0" encoding="utf-8"?>
<p:sldLayout xmlns:p="http://schemas.openxmlformats.org/presentationml/2006/main" type="objTx" preserve="1">
  <p:cSld name="Text med bild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1CC616F8-21C9-44E4-AE61-31E60C00685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29841" y="457200"/>
            <a:ext cx="2949178" cy="1600200"/>
          </a:xfrm>
        </p:spPr>
        <p:txBody>
          <a:bodyPr xmlns:a="http://schemas.openxmlformats.org/drawingml/2006/main" anchor="b"/>
          <a:lstStyle xmlns:a="http://schemas.openxmlformats.org/drawingml/2006/main">
            <a:lvl1pPr>
              <a:buNone/>
              <a:defRPr sz="3200"/>
            </a:lvl1pPr>
          </a:lstStyle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023E4261-CE3E-4ACE-850C-97041401DE29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3887391" y="987426"/>
            <a:ext cx="4629150" cy="4873625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3200"/>
            </a:lvl1pPr>
            <a:lvl2pPr>
              <a:buNone/>
              <a:defRPr sz="2800"/>
            </a:lvl2pPr>
            <a:lvl3pPr>
              <a:buNone/>
              <a:defRPr sz="2400"/>
            </a:lvl3pPr>
            <a:lvl4pPr>
              <a:buNone/>
              <a:defRPr sz="2000"/>
            </a:lvl4pPr>
            <a:lvl5pPr>
              <a:buNone/>
              <a:defRPr sz="2000"/>
            </a:lvl5pPr>
            <a:lvl6pPr>
              <a:buNone/>
              <a:defRPr sz="2000"/>
            </a:lvl6pPr>
            <a:lvl7pPr>
              <a:buNone/>
              <a:defRPr sz="2000"/>
            </a:lvl7pPr>
            <a:lvl8pPr>
              <a:buNone/>
              <a:defRPr sz="2000"/>
            </a:lvl8pPr>
            <a:lvl9pPr>
              <a:buNone/>
              <a:defRPr sz="20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70EF0A03-62CA-44B8-B680-52B1168AC435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29841" y="2057400"/>
            <a:ext cx="2949178" cy="3811588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5" name="Date Placeholder 4">
            <a:extLst xmlns:a="http://schemas.openxmlformats.org/drawingml/2006/main">
              <a:ext uri="{FF2B5EF4-FFF2-40B4-BE49-F238E27FC236}">
                <a16:creationId xmlns:a16="http://schemas.microsoft.com/office/drawing/2014/main" id="{2B26F306-817F-41C5-8A16-96C7343CE1CE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C1F3D7D-73CF-D940-97F9-D65067452AC9}" type="datetimeFigureOut">
              <a:t>2026-08-26</a:t>
            </a:fld>
            <a:endParaRPr/>
          </a:p>
        </p:txBody>
      </p:sp>
      <p:sp>
        <p:nvSpPr>
          <p:cNvPr id="6" name="Footer Placeholder 5">
            <a:extLst xmlns:a="http://schemas.openxmlformats.org/drawingml/2006/main">
              <a:ext uri="{FF2B5EF4-FFF2-40B4-BE49-F238E27FC236}">
                <a16:creationId xmlns:a16="http://schemas.microsoft.com/office/drawing/2014/main" id="{F2F4B232-2E06-41D6-B343-B9F33434424A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845369E5-14C4-43E7-8C70-94F9D8946D05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6D56CE70-7EE1-9D47-B86A-0F053C401563}" type="slidenum">
              <a:t>‹#›</a:t>
            </a:fld>
            <a:endParaRPr/>
          </a:p>
        </p:txBody>
      </p:sp>
    </p:spTree>
  </p:cSld>
</p:sldLayout>
</file>

<file path=ppt/slideLayouts/slideLayout9.xml><?xml version="1.0" encoding="utf-8"?>
<p:sldLayout xmlns:p="http://schemas.openxmlformats.org/presentationml/2006/main" type="picTx" preserve="1">
  <p:cSld name="Bild med bild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04D77C1B-88A0-480F-A3F3-2C46ED54C19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29841" y="457200"/>
            <a:ext cx="2949178" cy="1600200"/>
          </a:xfrm>
        </p:spPr>
        <p:txBody>
          <a:bodyPr xmlns:a="http://schemas.openxmlformats.org/drawingml/2006/main" anchor="b"/>
          <a:lstStyle xmlns:a="http://schemas.openxmlformats.org/drawingml/2006/main">
            <a:lvl1pPr>
              <a:buNone/>
              <a:defRPr sz="3200"/>
            </a:lvl1pPr>
          </a:lstStyle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Picture Placeholder 2">
            <a:extLst xmlns:a="http://schemas.openxmlformats.org/drawingml/2006/main">
              <a:ext uri="{FF2B5EF4-FFF2-40B4-BE49-F238E27FC236}">
                <a16:creationId xmlns:a16="http://schemas.microsoft.com/office/drawing/2014/main" id="{A0DD105B-4990-483D-9F9F-A9235A346E70}"/>
              </a:ext>
            </a:extLst>
          </p:cNvPr>
          <p:cNvSpPr>
            <a:spLocks xmlns:a="http://schemas.openxmlformats.org/drawingml/2006/main" noGrp="1"/>
          </p:cNvSpPr>
          <p:nvPr>
            <p:ph type="pic" idx="1"/>
          </p:nvPr>
        </p:nvSpPr>
        <p:spPr>
          <a:xfrm xmlns:a="http://schemas.openxmlformats.org/drawingml/2006/main">
            <a:off x="3887391" y="987426"/>
            <a:ext cx="4629150" cy="4873625"/>
          </a:xfrm>
        </p:spPr>
        <p:txBody>
          <a:bodyPr xmlns:a="http://schemas.openxmlformats.org/drawingml/2006/main" anchor="t"/>
          <a:lstStyle xmlns:a="http://schemas.openxmlformats.org/drawingml/2006/main"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 xmlns:a="http://schemas.openxmlformats.org/drawingml/2006/main">
            <a:r>
              <a:t>Click icon to add picture</a:t>
            </a:r>
            <a:endParaRPr/>
          </a:p>
        </p:txBody>
      </p:sp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2A207939-C386-457A-BB29-427E4DC69A28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29841" y="2057400"/>
            <a:ext cx="2949178" cy="3811588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5" name="Date Placeholder 4">
            <a:extLst xmlns:a="http://schemas.openxmlformats.org/drawingml/2006/main">
              <a:ext uri="{FF2B5EF4-FFF2-40B4-BE49-F238E27FC236}">
                <a16:creationId xmlns:a16="http://schemas.microsoft.com/office/drawing/2014/main" id="{F3222363-8D26-4BF7-AEF5-9A8D193537F4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C1F3D7D-73CF-D940-97F9-D65067452AC9}" type="datetimeFigureOut">
              <a:t>2026-08-26</a:t>
            </a:fld>
            <a:endParaRPr/>
          </a:p>
        </p:txBody>
      </p:sp>
      <p:sp>
        <p:nvSpPr>
          <p:cNvPr id="6" name="Footer Placeholder 5">
            <a:extLst xmlns:a="http://schemas.openxmlformats.org/drawingml/2006/main">
              <a:ext uri="{FF2B5EF4-FFF2-40B4-BE49-F238E27FC236}">
                <a16:creationId xmlns:a16="http://schemas.microsoft.com/office/drawing/2014/main" id="{C1AD7074-23A8-4F9E-B387-FF125010E360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7974EEA3-8E26-4876-9CCC-AEB28DB192D8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6D56CE70-7EE1-9D47-B86A-0F053C401563}" type="slidenum">
              <a:t>‹#›</a:t>
            </a:fld>
            <a:endParaRPr/>
          </a:p>
        </p:txBody>
      </p:sp>
    </p:spTree>
  </p:cSld>
</p:sldLayout>
</file>

<file path=ppt/slideLayouts/slideLayout10.xml><?xml version="1.0" encoding="utf-8"?>
<p:sldLayout xmlns:p="http://schemas.openxmlformats.org/presentationml/2006/main" type="vertTx" preserve="1">
  <p:cSld name="Rubrik och lodrät 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02C1926D-3764-4E58-9CFE-1C39C0C5990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Vertical Text Placeholder 2">
            <a:extLst xmlns:a="http://schemas.openxmlformats.org/drawingml/2006/main">
              <a:ext uri="{FF2B5EF4-FFF2-40B4-BE49-F238E27FC236}">
                <a16:creationId xmlns:a16="http://schemas.microsoft.com/office/drawing/2014/main" id="{E1EA9798-D720-420B-B587-FB2D341F8B88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5B280F96-07A9-471D-BB10-6FD8F834C84E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C1F3D7D-73CF-D940-97F9-D65067452AC9}" type="datetimeFigureOut">
              <a:t>2026-08-26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3765504D-A0FC-4E9E-8009-F569A5C98420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99C1D87B-E274-4EF8-9A16-0DB1EAB639A0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6D56CE70-7EE1-9D47-B86A-0F053C401563}" type="slidenum">
              <a:t>‹#›</a:t>
            </a:fld>
            <a:endParaRPr/>
          </a:p>
        </p:txBody>
      </p:sp>
    </p:spTree>
  </p:cSld>
</p:sldLayout>
</file>

<file path=ppt/slideLayouts/slideLayout11.xml><?xml version="1.0" encoding="utf-8"?>
<p:sldLayout xmlns:p="http://schemas.openxmlformats.org/presentationml/2006/main" type="vertTitleAndTx" preserve="1">
  <p:cSld name="Lodrät rubrik och 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Vertical Title 1">
            <a:extLst xmlns:a="http://schemas.openxmlformats.org/drawingml/2006/main">
              <a:ext uri="{FF2B5EF4-FFF2-40B4-BE49-F238E27FC236}">
                <a16:creationId xmlns:a16="http://schemas.microsoft.com/office/drawing/2014/main" id="{24ED1D95-F8F3-4745-B8E4-98B6A31BFBD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543675" y="365125"/>
            <a:ext cx="1971675" cy="5811838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Vertical Text Placeholder 2">
            <a:extLst xmlns:a="http://schemas.openxmlformats.org/drawingml/2006/main">
              <a:ext uri="{FF2B5EF4-FFF2-40B4-BE49-F238E27FC236}">
                <a16:creationId xmlns:a16="http://schemas.microsoft.com/office/drawing/2014/main" id="{D893952F-F53B-42A5-B3B5-39F8406C7217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28650" y="365125"/>
            <a:ext cx="5800725" cy="5811838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AB05298D-E759-46A6-B3C3-B7B73450F0E6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C1F3D7D-73CF-D940-97F9-D65067452AC9}" type="datetimeFigureOut">
              <a:t>2026-08-26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93DC9778-2E8A-4C7F-84B7-05E3D6E2377D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F9066A76-6749-4154-81E1-812872555795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6D56CE70-7EE1-9D47-B86A-0F053C401563}" type="slidenum">
              <a:t>‹#›</a:t>
            </a:fld>
            <a:endParaRPr/>
          </a:p>
        </p:txBody>
      </p:sp>
    </p:spTree>
  </p:cSld>
</p:sldLayout>
</file>

<file path=ppt/slideMasters/_rels/slideMaster1.xml.rels><?xml version='1.0' encoding='UTF-8' standalone='yes'?>
<Relationships xmlns="http://schemas.openxmlformats.org/package/2006/relationships"><Relationship Id="R162cd79811f54438" Type="http://schemas.openxmlformats.org/officeDocument/2006/relationships/slideLayout" Target="../slideLayouts/slideLayout10.xml"/><Relationship Id="R170b8970d5204efa" Type="http://schemas.openxmlformats.org/officeDocument/2006/relationships/slideLayout" Target="../slideLayouts/slideLayout9.xml"/><Relationship Id="R7099d2b2aa324873" Type="http://schemas.openxmlformats.org/officeDocument/2006/relationships/theme" Target="theme/theme2.xml"/><Relationship Id="R7be85162f4ec45ce" Type="http://schemas.openxmlformats.org/officeDocument/2006/relationships/slideLayout" Target="../slideLayouts/slideLayout8.xml"/><Relationship Id="R82b356f2f0c249f8" Type="http://schemas.openxmlformats.org/officeDocument/2006/relationships/slideLayout" Target="../slideLayouts/slideLayout4.xml"/><Relationship Id="R83d3169839ae4a0d" Type="http://schemas.openxmlformats.org/officeDocument/2006/relationships/slideLayout" Target="../slideLayouts/slideLayout7.xml"/><Relationship Id="Ra1c6ad5e34ce4900" Type="http://schemas.openxmlformats.org/officeDocument/2006/relationships/slideLayout" Target="../slideLayouts/slideLayout5.xml"/><Relationship Id="Rb613688b8cb2457e" Type="http://schemas.openxmlformats.org/officeDocument/2006/relationships/slideLayout" Target="../slideLayouts/slideLayout1.xml"/><Relationship Id="Rc5987082cc9f429b" Type="http://schemas.openxmlformats.org/officeDocument/2006/relationships/slideLayout" Target="../slideLayouts/slideLayout2.xml"/><Relationship Id="Re60a86bc3ab141e2" Type="http://schemas.openxmlformats.org/officeDocument/2006/relationships/slideLayout" Target="../slideLayouts/slideLayout3.xml"/><Relationship Id="Rf39fc677f541417c" Type="http://schemas.openxmlformats.org/officeDocument/2006/relationships/slideLayout" Target="../slideLayouts/slideLayout11.xml"/><Relationship Id="Rf7c405d8b6a04f8d" Type="http://schemas.openxmlformats.org/officeDocument/2006/relationships/slideLayout" Target="../slideLayouts/slideLayout6.xml"/></Relationships>
</file>

<file path=ppt/slideMasters/slideMaster1.xml><?xml version="1.0" encoding="utf-8"?>
<p:sld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A772F057-7340-4065-8845-BB8E9AD557B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28650" y="365126"/>
            <a:ext cx="7886700" cy="132556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rmAutofit/>
          </a:bodyPr>
          <a:lstStyle xmlns:a="http://schemas.openxmlformats.org/drawingml/2006/main"/>
          <a:p xmlns:a="http://schemas.openxmlformats.org/drawingml/2006/main">
            <a:r>
              <a:t>Klicka här för att ändra mall för rubrikformat</a:t>
            </a:r>
            <a:endParaRPr/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17DE1F7C-60E1-400E-B38F-52BF24F21A7F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28650" y="1825625"/>
            <a:ext cx="7886700" cy="435133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Klicka här för att ändra format på bakgrundstexten</a:t>
            </a:r>
          </a:p>
          <a:p xmlns:a="http://schemas.openxmlformats.org/drawingml/2006/main">
            <a:pPr lvl="1">
              <a:buNone/>
            </a:pPr>
            <a:r>
              <a:t>Nivå två</a:t>
            </a:r>
          </a:p>
          <a:p xmlns:a="http://schemas.openxmlformats.org/drawingml/2006/main">
            <a:pPr lvl="2">
              <a:buNone/>
            </a:pPr>
            <a:r>
              <a:t>Nivå tre</a:t>
            </a:r>
          </a:p>
          <a:p xmlns:a="http://schemas.openxmlformats.org/drawingml/2006/main">
            <a:pPr lvl="3">
              <a:buNone/>
            </a:pPr>
            <a:r>
              <a:t>Nivå fyra</a:t>
            </a:r>
          </a:p>
          <a:p xmlns:a="http://schemas.openxmlformats.org/drawingml/2006/main">
            <a:pPr lvl="4">
              <a:buNone/>
            </a:pPr>
            <a:r>
              <a:t>Nivå fem</a:t>
            </a:r>
            <a:endParaRPr/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DB15F1D9-83F8-4DB0-BD2B-BDD3E158134A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628650" y="6356351"/>
            <a:ext cx="20574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fld id="{CC1F3D7D-73CF-D940-97F9-D65067452AC9}" type="datetimeFigureOut">
              <a:t>2026-08-26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905894D5-5CF7-4EDE-B022-CF2BDFF8D013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028950" y="6356351"/>
            <a:ext cx="30861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7720839A-B350-41EB-9FE9-191EB435D5E3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6457950" y="6356351"/>
            <a:ext cx="20574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fld id="{6D56CE70-7EE1-9D47-B86A-0F053C401563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b613688b8cb2457e"/>
    <p:sldLayoutId xmlns:r="http://schemas.openxmlformats.org/officeDocument/2006/relationships" id="2147483650" r:id="Rc5987082cc9f429b"/>
    <p:sldLayoutId xmlns:r="http://schemas.openxmlformats.org/officeDocument/2006/relationships" id="2147483651" r:id="Re60a86bc3ab141e2"/>
    <p:sldLayoutId xmlns:r="http://schemas.openxmlformats.org/officeDocument/2006/relationships" id="2147483652" r:id="R82b356f2f0c249f8"/>
    <p:sldLayoutId xmlns:r="http://schemas.openxmlformats.org/officeDocument/2006/relationships" id="2147483653" r:id="Ra1c6ad5e34ce4900"/>
    <p:sldLayoutId xmlns:r="http://schemas.openxmlformats.org/officeDocument/2006/relationships" id="2147483654" r:id="Rf7c405d8b6a04f8d"/>
    <p:sldLayoutId xmlns:r="http://schemas.openxmlformats.org/officeDocument/2006/relationships" id="2147483655" r:id="R83d3169839ae4a0d"/>
    <p:sldLayoutId xmlns:r="http://schemas.openxmlformats.org/officeDocument/2006/relationships" id="2147483656" r:id="R7be85162f4ec45ce"/>
    <p:sldLayoutId xmlns:r="http://schemas.openxmlformats.org/officeDocument/2006/relationships" id="2147483657" r:id="R170b8970d5204efa"/>
    <p:sldLayoutId xmlns:r="http://schemas.openxmlformats.org/officeDocument/2006/relationships" id="2147483658" r:id="R162cd79811f54438"/>
    <p:sldLayoutId xmlns:r="http://schemas.openxmlformats.org/officeDocument/2006/relationships" id="2147483659" r:id="Rf39fc677f541417c"/>
  </p:sldLayoutIdLst>
  <p:txStyles>
    <p:titleStyle>
      <a:lvl1pPr xmlns:a="http://schemas.openxmlformats.org/drawingml/2006/main" algn="l" defTabSz="914400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 defTabSz="914400">
        <a:lnSpc>
          <a:spcPct val="90000"/>
        </a:lnSpc>
        <a:spcBef>
          <a:spcPts val="1000"/>
        </a:spcBef>
        <a:buFont typeface="Arial"/>
        <a:buChar char="•"/>
        <a:defRPr sz="2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Office-tema">
  <a:themeElements>
    <a:clrScheme name="Office-tema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-tema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-tema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2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2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image" Target="../media/image2.jp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image" Target="../media/image2.jp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nj22az.github.io/sjoskolan/vecka-43/aktuell/Del_3.html" TargetMode="External"/><Relationship Id="rId3" Type="http://schemas.openxmlformats.org/officeDocument/2006/relationships/hyperlink" Target="https://webstore.iec.ch/en/publication/2723" TargetMode="External"/><Relationship Id="rId4" Type="http://schemas.openxmlformats.org/officeDocument/2006/relationships/hyperlink" Target="https://dam-assets.fluke.com.cn/s3fs-public/2100079_6003_ENG_D_W.PDF" TargetMode="External"/><Relationship Id="rId5" Type="http://schemas.openxmlformats.org/officeDocument/2006/relationships/hyperlink" Target="https://www.electrical-installation.org/enwiki/Coordination_between_circuit-breakers" TargetMode="External"/><Relationship Id="rId6" Type="http://schemas.openxmlformats.org/officeDocument/2006/relationships/image" Target="../media/image2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omslag_v43_0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099048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9144000" cy="6099048"/>
          </a:xfrm>
          <a:prstGeom prst="rect">
            <a:avLst/>
          </a:prstGeom>
          <a:gradFill rotWithShape="1">
            <a:gsLst>
              <a:gs pos="0">
                <a:srgbClr val="001427">
                  <a:alpha val="70000"/>
                </a:srgbClr>
              </a:gs>
              <a:gs pos="45000">
                <a:srgbClr val="001427">
                  <a:alpha val="55000"/>
                </a:srgbClr>
              </a:gs>
              <a:gs pos="75000">
                <a:srgbClr val="001427">
                  <a:alpha val="0"/>
                </a:srgbClr>
              </a:gs>
              <a:gs pos="100000">
                <a:srgbClr val="001427">
                  <a:alpha val="0"/>
                </a:srgbClr>
              </a:gs>
            </a:gsLst>
            <a:lin ang="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005840"/>
            <a:ext cx="6035040" cy="1645920"/>
          </a:xfrm>
          <a:prstGeom prst="rect">
            <a:avLst/>
          </a:prstGeom>
          <a:noFill/>
        </p:spPr>
        <p:txBody>
          <a:bodyPr wrap="square" anchor="t" lIns="27432" rIns="27432" tIns="18288" bIns="18288">
            <a:spAutoFit/>
          </a:bodyPr>
          <a:lstStyle/>
          <a:p>
            <a:pPr algn="l">
              <a:lnSpc>
                <a:spcPct val="95000"/>
              </a:lnSpc>
              <a:spcAft>
                <a:spcPts val="0"/>
              </a:spcAft>
            </a:pPr>
            <a:r>
              <a:rPr sz="4400" b="1" i="0">
                <a:solidFill>
                  <a:srgbClr val="FFFFFF"/>
                </a:solidFill>
                <a:latin typeface="Calibri"/>
              </a:rPr>
              <a:t>Elscheman och dokumentation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2697480"/>
            <a:ext cx="5669280" cy="914400"/>
          </a:xfrm>
          <a:prstGeom prst="rect">
            <a:avLst/>
          </a:prstGeom>
          <a:noFill/>
        </p:spPr>
        <p:txBody>
          <a:bodyPr wrap="square" anchor="t" lIns="27432" rIns="27432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2200" b="0" i="0">
                <a:solidFill>
                  <a:srgbClr val="FFFFFF"/>
                </a:solidFill>
                <a:latin typeface="Calibri"/>
              </a:rPr>
              <a:t>Symboler, hållkrets och förväntade mätvärden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3703320"/>
            <a:ext cx="5852160" cy="411480"/>
          </a:xfrm>
          <a:prstGeom prst="rect">
            <a:avLst/>
          </a:prstGeom>
          <a:noFill/>
        </p:spPr>
        <p:txBody>
          <a:bodyPr wrap="square" anchor="t" lIns="27432" rIns="27432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600" b="0" i="0">
                <a:solidFill>
                  <a:srgbClr val="FFFFFF"/>
                </a:solidFill>
                <a:latin typeface="Calibri"/>
              </a:rPr>
              <a:t>Vecka 43 · Fredag 23 oktober · 09.00–10.00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5212080"/>
            <a:ext cx="5852160" cy="365760"/>
          </a:xfrm>
          <a:prstGeom prst="rect">
            <a:avLst/>
          </a:prstGeom>
          <a:noFill/>
        </p:spPr>
        <p:txBody>
          <a:bodyPr wrap="square" anchor="t" lIns="27432" rIns="27432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400" b="0" i="0">
                <a:solidFill>
                  <a:srgbClr val="FFFFFF"/>
                </a:solidFill>
                <a:latin typeface="Calibri"/>
              </a:rPr>
              <a:t>Del 3 av 4 · Elteknik och ellära</a:t>
            </a:r>
          </a:p>
        </p:txBody>
      </p:sp>
      <p:sp>
        <p:nvSpPr>
          <p:cNvPr id="8" name="Dag: Fredag 23 oktober"/>
          <p:cNvSpPr/>
          <p:nvPr/>
        </p:nvSpPr>
        <p:spPr>
          <a:xfrm>
            <a:off x="548640" y="411480"/>
            <a:ext cx="2944368" cy="438912"/>
          </a:xfrm>
          <a:prstGeom prst="roundRect">
            <a:avLst>
              <a:gd name="adj" fmla="val 18000"/>
            </a:avLst>
          </a:prstGeom>
          <a:solidFill>
            <a:srgbClr val="B517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/>
          <a:lstStyle/>
          <a:p>
            <a:pPr algn="ctr"/>
            <a:r>
              <a:rPr sz="1800" b="1" i="0">
                <a:solidFill>
                  <a:srgbClr val="FFFFFF"/>
                </a:solidFill>
                <a:latin typeface="Calibri"/>
              </a:rPr>
              <a:t>Fredag 23 oktober</a:t>
            </a:r>
          </a:p>
        </p:txBody>
      </p:sp>
      <p:pic>
        <p:nvPicPr>
          <p:cNvPr id="9" name="Picture 8" descr="sidfot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6099048"/>
            <a:ext cx="9144000" cy="758952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1463040" y="6400800"/>
            <a:ext cx="6217920" cy="310896"/>
          </a:xfrm>
          <a:prstGeom prst="rect">
            <a:avLst/>
          </a:prstGeom>
          <a:noFill/>
        </p:spPr>
        <p:txBody>
          <a:bodyPr wrap="square" anchor="t" lIns="27432" rIns="27432" tIns="18288" bIns="18288">
            <a:spAutoFit/>
          </a:bodyPr>
          <a:lstStyle/>
          <a:p>
            <a:pPr algn="ctr">
              <a:lnSpc>
                <a:spcPct val="108000"/>
              </a:lnSpc>
              <a:spcAft>
                <a:spcPts val="0"/>
              </a:spcAft>
            </a:pPr>
            <a:r>
              <a:rPr sz="1200" b="0" i="0">
                <a:solidFill>
                  <a:srgbClr val="FFFFFF"/>
                </a:solidFill>
                <a:latin typeface="Calibri"/>
              </a:rPr>
              <a:t>Vecka 43 · Fredag · Elscheman och dokumentation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10144" y="6400800"/>
            <a:ext cx="704088" cy="310896"/>
          </a:xfrm>
          <a:prstGeom prst="rect">
            <a:avLst/>
          </a:prstGeom>
          <a:noFill/>
        </p:spPr>
        <p:txBody>
          <a:bodyPr wrap="square" anchor="t" lIns="27432" rIns="27432" tIns="18288" bIns="18288">
            <a:spAutoFit/>
          </a:bodyPr>
          <a:lstStyle/>
          <a:p>
            <a:pPr algn="r">
              <a:lnSpc>
                <a:spcPct val="108000"/>
              </a:lnSpc>
              <a:spcAft>
                <a:spcPts val="0"/>
              </a:spcAft>
            </a:pPr>
            <a:r>
              <a:rPr sz="1500" b="0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9184"/>
            <a:ext cx="8046720" cy="731520"/>
          </a:xfrm>
          <a:prstGeom prst="rect">
            <a:avLst/>
          </a:prstGeom>
          <a:noFill/>
        </p:spPr>
        <p:txBody>
          <a:bodyPr wrap="square" anchor="b" lIns="27432" rIns="27432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3000" b="1" i="0">
                <a:solidFill>
                  <a:srgbClr val="111111"/>
                </a:solidFill>
                <a:latin typeface="Calibri"/>
              </a:rPr>
              <a:t>Kursplanen i dag</a:t>
            </a:r>
          </a:p>
        </p:txBody>
      </p:sp>
      <p:sp>
        <p:nvSpPr>
          <p:cNvPr id="3" name="Rectangle 2"/>
          <p:cNvSpPr/>
          <p:nvPr/>
        </p:nvSpPr>
        <p:spPr>
          <a:xfrm>
            <a:off x="576072" y="1097280"/>
            <a:ext cx="822960" cy="64008"/>
          </a:xfrm>
          <a:prstGeom prst="rect">
            <a:avLst/>
          </a:prstGeom>
          <a:solidFill>
            <a:srgbClr val="E87BA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Rounded Rectangle 3"/>
          <p:cNvSpPr/>
          <p:nvPr/>
        </p:nvSpPr>
        <p:spPr>
          <a:xfrm>
            <a:off x="548640" y="1453896"/>
            <a:ext cx="960120" cy="420624"/>
          </a:xfrm>
          <a:prstGeom prst="roundRect">
            <a:avLst>
              <a:gd name="adj" fmla="val 18000"/>
            </a:avLst>
          </a:prstGeom>
          <a:solidFill>
            <a:srgbClr val="E87BA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" rIns="18288"/>
          <a:lstStyle/>
          <a:p>
            <a:pPr algn="ctr"/>
            <a:r>
              <a:rPr sz="1600" b="1" i="0">
                <a:solidFill>
                  <a:srgbClr val="111111"/>
                </a:solidFill>
                <a:latin typeface="Calibri"/>
              </a:rPr>
              <a:t>LM-5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737360" y="1417320"/>
            <a:ext cx="6858000" cy="868680"/>
          </a:xfrm>
          <a:prstGeom prst="rect">
            <a:avLst/>
          </a:prstGeom>
          <a:noFill/>
        </p:spPr>
        <p:txBody>
          <a:bodyPr wrap="square" anchor="t" lIns="27432" rIns="27432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200"/>
              </a:spcAft>
            </a:pPr>
            <a:r>
              <a:rPr sz="2000" b="0" i="0">
                <a:solidFill>
                  <a:srgbClr val="111111"/>
                </a:solidFill>
                <a:latin typeface="Calibri"/>
              </a:rPr>
              <a:t>Du kan hitta ett fel med mätningar och ritningar.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167128"/>
            <a:ext cx="960120" cy="420624"/>
          </a:xfrm>
          <a:prstGeom prst="roundRect">
            <a:avLst>
              <a:gd name="adj" fmla="val 18000"/>
            </a:avLst>
          </a:prstGeom>
          <a:solidFill>
            <a:srgbClr val="EDA1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" rIns="18288"/>
          <a:lstStyle/>
          <a:p>
            <a:pPr algn="ctr"/>
            <a:r>
              <a:rPr sz="1600" b="1" i="0">
                <a:solidFill>
                  <a:srgbClr val="111111"/>
                </a:solidFill>
                <a:latin typeface="Calibri"/>
              </a:rPr>
              <a:t>LM-9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737360" y="2130552"/>
            <a:ext cx="6858000" cy="868680"/>
          </a:xfrm>
          <a:prstGeom prst="rect">
            <a:avLst/>
          </a:prstGeom>
          <a:noFill/>
        </p:spPr>
        <p:txBody>
          <a:bodyPr wrap="square" anchor="t" lIns="27432" rIns="27432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200"/>
              </a:spcAft>
            </a:pPr>
            <a:r>
              <a:rPr sz="2000" b="0" i="0">
                <a:solidFill>
                  <a:srgbClr val="111111"/>
                </a:solidFill>
                <a:latin typeface="Calibri"/>
              </a:rPr>
              <a:t>Du arbetar säkert, i rätt ordning, och skriver ner vad du har gjort.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880360"/>
            <a:ext cx="960120" cy="420624"/>
          </a:xfrm>
          <a:prstGeom prst="roundRect">
            <a:avLst>
              <a:gd name="adj" fmla="val 18000"/>
            </a:avLst>
          </a:prstGeom>
          <a:solidFill>
            <a:srgbClr val="1BAF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" rIns="18288"/>
          <a:lstStyle/>
          <a:p>
            <a:pPr algn="ctr"/>
            <a:r>
              <a:rPr sz="1600" b="1" i="0">
                <a:solidFill>
                  <a:srgbClr val="111111"/>
                </a:solidFill>
                <a:latin typeface="Calibri"/>
              </a:rPr>
              <a:t>LM-1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737360" y="2843784"/>
            <a:ext cx="6858000" cy="868680"/>
          </a:xfrm>
          <a:prstGeom prst="rect">
            <a:avLst/>
          </a:prstGeom>
          <a:noFill/>
        </p:spPr>
        <p:txBody>
          <a:bodyPr wrap="square" anchor="t" lIns="27432" rIns="27432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200"/>
              </a:spcAft>
            </a:pPr>
            <a:r>
              <a:rPr sz="2000" b="0" i="0">
                <a:solidFill>
                  <a:srgbClr val="111111"/>
                </a:solidFill>
                <a:latin typeface="Calibri"/>
              </a:rPr>
              <a:t>Du känner igen vanliga komponenter, skydd och mätinstrument och vet vad de gör.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3694176"/>
            <a:ext cx="8046720" cy="411480"/>
          </a:xfrm>
          <a:prstGeom prst="rect">
            <a:avLst/>
          </a:prstGeom>
          <a:noFill/>
        </p:spPr>
        <p:txBody>
          <a:bodyPr wrap="square" anchor="t" lIns="27432" rIns="27432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2200" b="1" i="0">
                <a:solidFill>
                  <a:srgbClr val="064F91"/>
                </a:solidFill>
                <a:latin typeface="Calibri"/>
              </a:rPr>
              <a:t>Efter lektionen kan du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4151376"/>
            <a:ext cx="8046720" cy="1746503"/>
          </a:xfrm>
          <a:prstGeom prst="rect">
            <a:avLst/>
          </a:prstGeom>
          <a:noFill/>
        </p:spPr>
        <p:txBody>
          <a:bodyPr wrap="square" anchor="t" lIns="27432" rIns="27432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1200"/>
              </a:spcAft>
            </a:pPr>
            <a:r>
              <a:rPr sz="2100" b="0" i="0">
                <a:solidFill>
                  <a:srgbClr val="111111"/>
                </a:solidFill>
                <a:latin typeface="Calibri"/>
              </a:rPr>
              <a:t>1. följa en huvud- och styrströmsfunktion i ett schema.</a:t>
            </a:r>
          </a:p>
          <a:p>
            <a:pPr algn="l">
              <a:lnSpc>
                <a:spcPct val="108000"/>
              </a:lnSpc>
              <a:spcAft>
                <a:spcPts val="1200"/>
              </a:spcAft>
            </a:pPr>
            <a:r>
              <a:rPr sz="2100" b="0" i="0">
                <a:solidFill>
                  <a:srgbClr val="111111"/>
                </a:solidFill>
                <a:latin typeface="Calibri"/>
              </a:rPr>
              <a:t>2. koppla symboler, beteckningar och mätpunkter till dokumentationen.</a:t>
            </a:r>
          </a:p>
          <a:p>
            <a:pPr algn="l">
              <a:lnSpc>
                <a:spcPct val="108000"/>
              </a:lnSpc>
              <a:spcAft>
                <a:spcPts val="1200"/>
              </a:spcAft>
            </a:pPr>
            <a:r>
              <a:rPr sz="2100" b="0" i="0">
                <a:solidFill>
                  <a:srgbClr val="111111"/>
                </a:solidFill>
                <a:latin typeface="Calibri"/>
              </a:rPr>
              <a:t>3. ange de två mätpunkterna och driftläget för ett förväntat mätvärde.</a:t>
            </a:r>
          </a:p>
        </p:txBody>
      </p:sp>
      <p:pic>
        <p:nvPicPr>
          <p:cNvPr id="12" name="Picture 11" descr="sidfo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6099048"/>
            <a:ext cx="9144000" cy="758952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1463040" y="6400800"/>
            <a:ext cx="6217920" cy="310896"/>
          </a:xfrm>
          <a:prstGeom prst="rect">
            <a:avLst/>
          </a:prstGeom>
          <a:noFill/>
        </p:spPr>
        <p:txBody>
          <a:bodyPr wrap="square" anchor="t" lIns="27432" rIns="27432" tIns="18288" bIns="18288">
            <a:spAutoFit/>
          </a:bodyPr>
          <a:lstStyle/>
          <a:p>
            <a:pPr algn="ctr">
              <a:lnSpc>
                <a:spcPct val="108000"/>
              </a:lnSpc>
              <a:spcAft>
                <a:spcPts val="0"/>
              </a:spcAft>
            </a:pPr>
            <a:r>
              <a:rPr sz="1200" b="0" i="0">
                <a:solidFill>
                  <a:srgbClr val="FFFFFF"/>
                </a:solidFill>
                <a:latin typeface="Calibri"/>
              </a:rPr>
              <a:t>Vecka 43 · Fredag · Elscheman och dokumentation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010144" y="6400800"/>
            <a:ext cx="704088" cy="310896"/>
          </a:xfrm>
          <a:prstGeom prst="rect">
            <a:avLst/>
          </a:prstGeom>
          <a:noFill/>
        </p:spPr>
        <p:txBody>
          <a:bodyPr wrap="square" anchor="t" lIns="27432" rIns="27432" tIns="18288" bIns="18288">
            <a:spAutoFit/>
          </a:bodyPr>
          <a:lstStyle/>
          <a:p>
            <a:pPr algn="r">
              <a:lnSpc>
                <a:spcPct val="108000"/>
              </a:lnSpc>
              <a:spcAft>
                <a:spcPts val="0"/>
              </a:spcAft>
            </a:pPr>
            <a:r>
              <a:rPr sz="1500" b="0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9184"/>
            <a:ext cx="8046720" cy="731520"/>
          </a:xfrm>
          <a:prstGeom prst="rect">
            <a:avLst/>
          </a:prstGeom>
          <a:noFill/>
        </p:spPr>
        <p:txBody>
          <a:bodyPr wrap="square" anchor="b" lIns="27432" rIns="27432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3000" b="1" i="0">
                <a:solidFill>
                  <a:srgbClr val="111111"/>
                </a:solidFill>
                <a:latin typeface="Calibri"/>
              </a:rPr>
              <a:t>Startfråga</a:t>
            </a:r>
          </a:p>
        </p:txBody>
      </p:sp>
      <p:sp>
        <p:nvSpPr>
          <p:cNvPr id="3" name="Rectangle 2"/>
          <p:cNvSpPr/>
          <p:nvPr/>
        </p:nvSpPr>
        <p:spPr>
          <a:xfrm>
            <a:off x="576072" y="1097280"/>
            <a:ext cx="822960" cy="64008"/>
          </a:xfrm>
          <a:prstGeom prst="rect">
            <a:avLst/>
          </a:prstGeom>
          <a:solidFill>
            <a:srgbClr val="E87BA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548640" y="1828800"/>
            <a:ext cx="8046720" cy="2011680"/>
          </a:xfrm>
          <a:prstGeom prst="rect">
            <a:avLst/>
          </a:prstGeom>
          <a:noFill/>
        </p:spPr>
        <p:txBody>
          <a:bodyPr wrap="square" anchor="ctr" lIns="27432" rIns="27432" tIns="18288" bIns="18288">
            <a:spAutoFit/>
          </a:bodyPr>
          <a:lstStyle/>
          <a:p>
            <a:pPr algn="l">
              <a:lnSpc>
                <a:spcPct val="105000"/>
              </a:lnSpc>
              <a:spcAft>
                <a:spcPts val="800"/>
              </a:spcAft>
            </a:pPr>
            <a:r>
              <a:rPr sz="3200" b="1" i="0">
                <a:solidFill>
                  <a:srgbClr val="111111"/>
                </a:solidFill>
                <a:latin typeface="Calibri"/>
              </a:rPr>
              <a:t>Vad visar ett kretsschema som en lista över ledningsanslutningar inte visar lika tydligt?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074920"/>
            <a:ext cx="8046720" cy="548640"/>
          </a:xfrm>
          <a:prstGeom prst="rect">
            <a:avLst/>
          </a:prstGeom>
          <a:noFill/>
        </p:spPr>
        <p:txBody>
          <a:bodyPr wrap="square" anchor="t" lIns="27432" rIns="27432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800"/>
              </a:spcAft>
            </a:pPr>
            <a:r>
              <a:rPr sz="1800" b="0" i="0">
                <a:solidFill>
                  <a:srgbClr val="064F91"/>
                </a:solidFill>
                <a:latin typeface="Calibri"/>
              </a:rPr>
              <a:t>Skriv ett kort svar i chatten.</a:t>
            </a:r>
          </a:p>
        </p:txBody>
      </p:sp>
      <p:pic>
        <p:nvPicPr>
          <p:cNvPr id="6" name="Picture 5" descr="sidfo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6099048"/>
            <a:ext cx="9144000" cy="758952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463040" y="6400800"/>
            <a:ext cx="6217920" cy="310896"/>
          </a:xfrm>
          <a:prstGeom prst="rect">
            <a:avLst/>
          </a:prstGeom>
          <a:noFill/>
        </p:spPr>
        <p:txBody>
          <a:bodyPr wrap="square" anchor="t" lIns="27432" rIns="27432" tIns="18288" bIns="18288">
            <a:spAutoFit/>
          </a:bodyPr>
          <a:lstStyle/>
          <a:p>
            <a:pPr algn="ctr">
              <a:lnSpc>
                <a:spcPct val="108000"/>
              </a:lnSpc>
              <a:spcAft>
                <a:spcPts val="0"/>
              </a:spcAft>
            </a:pPr>
            <a:r>
              <a:rPr sz="1200" b="0" i="0">
                <a:solidFill>
                  <a:srgbClr val="FFFFFF"/>
                </a:solidFill>
                <a:latin typeface="Calibri"/>
              </a:rPr>
              <a:t>Vecka 43 · Fredag · Elscheman och dokumentation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10144" y="6400800"/>
            <a:ext cx="704088" cy="310896"/>
          </a:xfrm>
          <a:prstGeom prst="rect">
            <a:avLst/>
          </a:prstGeom>
          <a:noFill/>
        </p:spPr>
        <p:txBody>
          <a:bodyPr wrap="square" anchor="t" lIns="27432" rIns="27432" tIns="18288" bIns="18288">
            <a:spAutoFit/>
          </a:bodyPr>
          <a:lstStyle/>
          <a:p>
            <a:pPr algn="r">
              <a:lnSpc>
                <a:spcPct val="108000"/>
              </a:lnSpc>
              <a:spcAft>
                <a:spcPts val="0"/>
              </a:spcAft>
            </a:pPr>
            <a:r>
              <a:rPr sz="1500" b="0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9184"/>
            <a:ext cx="8046720" cy="731520"/>
          </a:xfrm>
          <a:prstGeom prst="rect">
            <a:avLst/>
          </a:prstGeom>
          <a:noFill/>
        </p:spPr>
        <p:txBody>
          <a:bodyPr wrap="square" anchor="b" lIns="27432" rIns="27432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3000" b="1" i="0">
                <a:solidFill>
                  <a:srgbClr val="111111"/>
                </a:solidFill>
                <a:latin typeface="Calibri"/>
              </a:rPr>
              <a:t>Så går lektionen till</a:t>
            </a:r>
          </a:p>
        </p:txBody>
      </p:sp>
      <p:sp>
        <p:nvSpPr>
          <p:cNvPr id="3" name="Rectangle 2"/>
          <p:cNvSpPr/>
          <p:nvPr/>
        </p:nvSpPr>
        <p:spPr>
          <a:xfrm>
            <a:off x="576072" y="1097280"/>
            <a:ext cx="822960" cy="64008"/>
          </a:xfrm>
          <a:prstGeom prst="rect">
            <a:avLst/>
          </a:prstGeom>
          <a:solidFill>
            <a:srgbClr val="E87BA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640080" y="1417320"/>
            <a:ext cx="1005840" cy="512064"/>
          </a:xfrm>
          <a:prstGeom prst="rect">
            <a:avLst/>
          </a:prstGeom>
          <a:noFill/>
        </p:spPr>
        <p:txBody>
          <a:bodyPr wrap="square" anchor="ctr" lIns="27432" rIns="27432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800" b="1" i="0">
                <a:solidFill>
                  <a:srgbClr val="064F91"/>
                </a:solidFill>
                <a:latin typeface="Calibri"/>
              </a:rPr>
              <a:t>09.00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783080" y="1417320"/>
            <a:ext cx="6720840" cy="512064"/>
          </a:xfrm>
          <a:prstGeom prst="rect">
            <a:avLst/>
          </a:prstGeom>
          <a:noFill/>
        </p:spPr>
        <p:txBody>
          <a:bodyPr wrap="square" anchor="ctr" lIns="27432" rIns="27432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800" b="0" i="0">
                <a:solidFill>
                  <a:srgbClr val="111111"/>
                </a:solidFill>
                <a:latin typeface="Calibri"/>
              </a:rPr>
              <a:t>Start och startfråga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984248"/>
            <a:ext cx="1005840" cy="512064"/>
          </a:xfrm>
          <a:prstGeom prst="rect">
            <a:avLst/>
          </a:prstGeom>
          <a:noFill/>
        </p:spPr>
        <p:txBody>
          <a:bodyPr wrap="square" anchor="ctr" lIns="27432" rIns="27432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800" b="1" i="0">
                <a:solidFill>
                  <a:srgbClr val="064F91"/>
                </a:solidFill>
                <a:latin typeface="Calibri"/>
              </a:rPr>
              <a:t>09.05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783080" y="1984248"/>
            <a:ext cx="6720840" cy="512064"/>
          </a:xfrm>
          <a:prstGeom prst="rect">
            <a:avLst/>
          </a:prstGeom>
          <a:noFill/>
        </p:spPr>
        <p:txBody>
          <a:bodyPr wrap="square" anchor="ctr" lIns="27432" rIns="27432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800" b="0" i="0">
                <a:solidFill>
                  <a:srgbClr val="111111"/>
                </a:solidFill>
                <a:latin typeface="Calibri"/>
              </a:rPr>
              <a:t>Pass 1: Era frågor om scheman och mätpunkter (avsnitt 1–7)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551176"/>
            <a:ext cx="1005840" cy="512064"/>
          </a:xfrm>
          <a:prstGeom prst="rect">
            <a:avLst/>
          </a:prstGeom>
          <a:noFill/>
        </p:spPr>
        <p:txBody>
          <a:bodyPr wrap="square" anchor="ctr" lIns="27432" rIns="27432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800" b="1" i="0">
                <a:solidFill>
                  <a:srgbClr val="064F91"/>
                </a:solidFill>
                <a:latin typeface="Calibri"/>
              </a:rPr>
              <a:t>09.20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783080" y="2551176"/>
            <a:ext cx="6720840" cy="512064"/>
          </a:xfrm>
          <a:prstGeom prst="rect">
            <a:avLst/>
          </a:prstGeom>
          <a:noFill/>
        </p:spPr>
        <p:txBody>
          <a:bodyPr wrap="square" anchor="ctr" lIns="27432" rIns="27432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800" b="0" i="0">
                <a:solidFill>
                  <a:srgbClr val="111111"/>
                </a:solidFill>
                <a:latin typeface="Calibri"/>
              </a:rPr>
              <a:t>Eget försök: övning 3.6, 3.7 och 3.9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3118104"/>
            <a:ext cx="1005840" cy="512064"/>
          </a:xfrm>
          <a:prstGeom prst="rect">
            <a:avLst/>
          </a:prstGeom>
          <a:noFill/>
        </p:spPr>
        <p:txBody>
          <a:bodyPr wrap="square" anchor="ctr" lIns="27432" rIns="27432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800" b="1" i="0">
                <a:solidFill>
                  <a:srgbClr val="064F91"/>
                </a:solidFill>
                <a:latin typeface="Calibri"/>
              </a:rPr>
              <a:t>09.35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83080" y="3118104"/>
            <a:ext cx="6720840" cy="512064"/>
          </a:xfrm>
          <a:prstGeom prst="rect">
            <a:avLst/>
          </a:prstGeom>
          <a:noFill/>
        </p:spPr>
        <p:txBody>
          <a:bodyPr wrap="square" anchor="ctr" lIns="27432" rIns="27432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800" b="0" i="0">
                <a:solidFill>
                  <a:srgbClr val="111111"/>
                </a:solidFill>
                <a:latin typeface="Calibri"/>
              </a:rPr>
              <a:t>Jämför resonemang och avslutsfråga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3685032"/>
            <a:ext cx="1005840" cy="512064"/>
          </a:xfrm>
          <a:prstGeom prst="rect">
            <a:avLst/>
          </a:prstGeom>
          <a:noFill/>
        </p:spPr>
        <p:txBody>
          <a:bodyPr wrap="square" anchor="ctr" lIns="27432" rIns="27432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800" b="1" i="0">
                <a:solidFill>
                  <a:srgbClr val="064F91"/>
                </a:solidFill>
                <a:latin typeface="Calibri"/>
              </a:rPr>
              <a:t>09.45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783080" y="3685032"/>
            <a:ext cx="6720840" cy="512064"/>
          </a:xfrm>
          <a:prstGeom prst="rect">
            <a:avLst/>
          </a:prstGeom>
          <a:noFill/>
        </p:spPr>
        <p:txBody>
          <a:bodyPr wrap="square" anchor="ctr" lIns="27432" rIns="27432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800" b="0" i="0">
                <a:solidFill>
                  <a:srgbClr val="111111"/>
                </a:solidFill>
                <a:latin typeface="Calibri"/>
              </a:rPr>
              <a:t>Frågor och nästa steg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48640" y="4251960"/>
            <a:ext cx="8046720" cy="512064"/>
          </a:xfrm>
          <a:prstGeom prst="rect">
            <a:avLst/>
          </a:prstGeom>
          <a:solidFill>
            <a:srgbClr val="F2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640080" y="4251960"/>
            <a:ext cx="1005840" cy="512064"/>
          </a:xfrm>
          <a:prstGeom prst="rect">
            <a:avLst/>
          </a:prstGeom>
          <a:noFill/>
        </p:spPr>
        <p:txBody>
          <a:bodyPr wrap="square" anchor="ctr" lIns="27432" rIns="27432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800" b="1" i="0">
                <a:solidFill>
                  <a:srgbClr val="064F91"/>
                </a:solidFill>
                <a:latin typeface="Calibri"/>
              </a:rPr>
              <a:t>09.50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783080" y="4251960"/>
            <a:ext cx="6720840" cy="512064"/>
          </a:xfrm>
          <a:prstGeom prst="rect">
            <a:avLst/>
          </a:prstGeom>
          <a:noFill/>
        </p:spPr>
        <p:txBody>
          <a:bodyPr wrap="square" anchor="ctr" lIns="27432" rIns="27432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800" b="0" i="0">
                <a:solidFill>
                  <a:srgbClr val="111111"/>
                </a:solidFill>
                <a:latin typeface="Calibri"/>
              </a:rPr>
              <a:t>Paus</a:t>
            </a:r>
          </a:p>
        </p:txBody>
      </p:sp>
      <p:pic>
        <p:nvPicPr>
          <p:cNvPr id="17" name="Picture 16" descr="sidfo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6099048"/>
            <a:ext cx="9144000" cy="758952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1463040" y="6400800"/>
            <a:ext cx="6217920" cy="310896"/>
          </a:xfrm>
          <a:prstGeom prst="rect">
            <a:avLst/>
          </a:prstGeom>
          <a:noFill/>
        </p:spPr>
        <p:txBody>
          <a:bodyPr wrap="square" anchor="t" lIns="27432" rIns="27432" tIns="18288" bIns="18288">
            <a:spAutoFit/>
          </a:bodyPr>
          <a:lstStyle/>
          <a:p>
            <a:pPr algn="ctr">
              <a:lnSpc>
                <a:spcPct val="108000"/>
              </a:lnSpc>
              <a:spcAft>
                <a:spcPts val="0"/>
              </a:spcAft>
            </a:pPr>
            <a:r>
              <a:rPr sz="1200" b="0" i="0">
                <a:solidFill>
                  <a:srgbClr val="FFFFFF"/>
                </a:solidFill>
                <a:latin typeface="Calibri"/>
              </a:rPr>
              <a:t>Vecka 43 · Fredag · Elscheman och dokumentation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010144" y="6400800"/>
            <a:ext cx="704088" cy="310896"/>
          </a:xfrm>
          <a:prstGeom prst="rect">
            <a:avLst/>
          </a:prstGeom>
          <a:noFill/>
        </p:spPr>
        <p:txBody>
          <a:bodyPr wrap="square" anchor="t" lIns="27432" rIns="27432" tIns="18288" bIns="18288">
            <a:spAutoFit/>
          </a:bodyPr>
          <a:lstStyle/>
          <a:p>
            <a:pPr algn="r">
              <a:lnSpc>
                <a:spcPct val="108000"/>
              </a:lnSpc>
              <a:spcAft>
                <a:spcPts val="0"/>
              </a:spcAft>
            </a:pPr>
            <a:r>
              <a:rPr sz="1500" b="0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9184"/>
            <a:ext cx="8046720" cy="731520"/>
          </a:xfrm>
          <a:prstGeom prst="rect">
            <a:avLst/>
          </a:prstGeom>
          <a:noFill/>
        </p:spPr>
        <p:txBody>
          <a:bodyPr wrap="square" anchor="b" lIns="27432" rIns="27432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3000" b="1" i="0">
                <a:solidFill>
                  <a:srgbClr val="111111"/>
                </a:solidFill>
                <a:latin typeface="Calibri"/>
              </a:rPr>
              <a:t>Så läses styrkretsen</a:t>
            </a:r>
          </a:p>
        </p:txBody>
      </p:sp>
      <p:sp>
        <p:nvSpPr>
          <p:cNvPr id="3" name="Rectangle 2"/>
          <p:cNvSpPr/>
          <p:nvPr/>
        </p:nvSpPr>
        <p:spPr>
          <a:xfrm>
            <a:off x="576072" y="1097280"/>
            <a:ext cx="822960" cy="64008"/>
          </a:xfrm>
          <a:prstGeom prst="rect">
            <a:avLst/>
          </a:prstGeom>
          <a:solidFill>
            <a:srgbClr val="E87BA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548640" y="1417320"/>
            <a:ext cx="8046720" cy="4480560"/>
          </a:xfrm>
          <a:prstGeom prst="rect">
            <a:avLst/>
          </a:prstGeom>
          <a:noFill/>
        </p:spPr>
        <p:txBody>
          <a:bodyPr wrap="square" anchor="t" lIns="27432" rIns="27432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1200"/>
              </a:spcAft>
            </a:pPr>
            <a:r>
              <a:rPr sz="2500" b="1" i="0">
                <a:solidFill>
                  <a:srgbClr val="064F91"/>
                </a:solidFill>
                <a:latin typeface="Calibri"/>
              </a:rPr>
              <a:t>En symbol visar funktion. En beteckning identifierar apparaten.</a:t>
            </a:r>
          </a:p>
          <a:p>
            <a:pPr algn="l">
              <a:lnSpc>
                <a:spcPct val="108000"/>
              </a:lnSpc>
              <a:spcAft>
                <a:spcPts val="1000"/>
              </a:spcAft>
            </a:pPr>
            <a:r>
              <a:rPr sz="2000" b="0" i="0">
                <a:solidFill>
                  <a:srgbClr val="111111"/>
                </a:solidFill>
                <a:latin typeface="Calibri"/>
              </a:rPr>
              <a:t>NO är öppen och NC är sluten i opåverkat läge: ingen trycker och spolen är strömlös.</a:t>
            </a:r>
          </a:p>
          <a:p>
            <a:pPr algn="l">
              <a:lnSpc>
                <a:spcPct val="108000"/>
              </a:lnSpc>
              <a:spcAft>
                <a:spcPts val="1000"/>
              </a:spcAft>
            </a:pPr>
            <a:r>
              <a:rPr sz="2000" b="0" i="0">
                <a:solidFill>
                  <a:srgbClr val="111111"/>
                </a:solidFill>
                <a:latin typeface="Calibri"/>
              </a:rPr>
              <a:t>Kontakter i serie måste alla vara slutna för att det ska finnas en strömväg.</a:t>
            </a:r>
          </a:p>
          <a:p>
            <a:pPr algn="l">
              <a:lnSpc>
                <a:spcPct val="108000"/>
              </a:lnSpc>
              <a:spcAft>
                <a:spcPts val="1000"/>
              </a:spcAft>
            </a:pPr>
            <a:r>
              <a:rPr sz="2000" b="0" i="0">
                <a:solidFill>
                  <a:srgbClr val="111111"/>
                </a:solidFill>
                <a:latin typeface="Calibri"/>
              </a:rPr>
              <a:t>Kontakter parallellt ger alternativa vägar mellan samma två noder.</a:t>
            </a:r>
          </a:p>
        </p:txBody>
      </p:sp>
      <p:pic>
        <p:nvPicPr>
          <p:cNvPr id="5" name="Picture 4" descr="sidfo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6099048"/>
            <a:ext cx="9144000" cy="758952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463040" y="6400800"/>
            <a:ext cx="6217920" cy="310896"/>
          </a:xfrm>
          <a:prstGeom prst="rect">
            <a:avLst/>
          </a:prstGeom>
          <a:noFill/>
        </p:spPr>
        <p:txBody>
          <a:bodyPr wrap="square" anchor="t" lIns="27432" rIns="27432" tIns="18288" bIns="18288">
            <a:spAutoFit/>
          </a:bodyPr>
          <a:lstStyle/>
          <a:p>
            <a:pPr algn="ctr">
              <a:lnSpc>
                <a:spcPct val="108000"/>
              </a:lnSpc>
              <a:spcAft>
                <a:spcPts val="0"/>
              </a:spcAft>
            </a:pPr>
            <a:r>
              <a:rPr sz="1200" b="0" i="0">
                <a:solidFill>
                  <a:srgbClr val="FFFFFF"/>
                </a:solidFill>
                <a:latin typeface="Calibri"/>
              </a:rPr>
              <a:t>Vecka 43 · Fredag · Elscheman och dokumentation  ·  Del 3 · avsnitt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010144" y="6400800"/>
            <a:ext cx="704088" cy="310896"/>
          </a:xfrm>
          <a:prstGeom prst="rect">
            <a:avLst/>
          </a:prstGeom>
          <a:noFill/>
        </p:spPr>
        <p:txBody>
          <a:bodyPr wrap="square" anchor="t" lIns="27432" rIns="27432" tIns="18288" bIns="18288">
            <a:spAutoFit/>
          </a:bodyPr>
          <a:lstStyle/>
          <a:p>
            <a:pPr algn="r">
              <a:lnSpc>
                <a:spcPct val="108000"/>
              </a:lnSpc>
              <a:spcAft>
                <a:spcPts val="0"/>
              </a:spcAft>
            </a:pPr>
            <a:r>
              <a:rPr sz="1500" b="0" i="0">
                <a:solidFill>
                  <a:srgbClr val="FFFFFF"/>
                </a:solidFill>
                <a:latin typeface="Calibri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9184"/>
            <a:ext cx="8046720" cy="731520"/>
          </a:xfrm>
          <a:prstGeom prst="rect">
            <a:avLst/>
          </a:prstGeom>
          <a:noFill/>
        </p:spPr>
        <p:txBody>
          <a:bodyPr wrap="square" anchor="b" lIns="27432" rIns="27432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3000" b="1" i="0">
                <a:solidFill>
                  <a:srgbClr val="111111"/>
                </a:solidFill>
                <a:latin typeface="Calibri"/>
              </a:rPr>
              <a:t>Symboler och referenser</a:t>
            </a:r>
          </a:p>
        </p:txBody>
      </p:sp>
      <p:sp>
        <p:nvSpPr>
          <p:cNvPr id="3" name="Rectangle 2"/>
          <p:cNvSpPr/>
          <p:nvPr/>
        </p:nvSpPr>
        <p:spPr>
          <a:xfrm>
            <a:off x="576072" y="1097280"/>
            <a:ext cx="822960" cy="64008"/>
          </a:xfrm>
          <a:prstGeom prst="rect">
            <a:avLst/>
          </a:prstGeom>
          <a:solidFill>
            <a:srgbClr val="E87BA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548640" y="1417320"/>
            <a:ext cx="8046720" cy="2057400"/>
          </a:xfrm>
          <a:prstGeom prst="rect">
            <a:avLst/>
          </a:prstGeom>
          <a:noFill/>
        </p:spPr>
        <p:txBody>
          <a:bodyPr wrap="square" anchor="t" lIns="27432" rIns="27432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1200"/>
              </a:spcAft>
            </a:pPr>
            <a:r>
              <a:rPr sz="2500" b="1" i="0">
                <a:solidFill>
                  <a:srgbClr val="064F91"/>
                </a:solidFill>
                <a:latin typeface="Calibri"/>
              </a:rPr>
              <a:t>Symboler visar komponenternas funktion.</a:t>
            </a:r>
          </a:p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900" b="0" i="0">
                <a:solidFill>
                  <a:srgbClr val="111111"/>
                </a:solidFill>
                <a:latin typeface="Calibri"/>
              </a:rPr>
              <a:t>IEC 60617 är referensen för grafiska symboler i elscheman.</a:t>
            </a:r>
          </a:p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900" b="0" i="0">
                <a:solidFill>
                  <a:srgbClr val="111111"/>
                </a:solidFill>
                <a:latin typeface="Calibri"/>
              </a:rPr>
              <a:t>Beteckningen identifierar objektet, till exempel apparaten K1.</a:t>
            </a:r>
          </a:p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900" b="0" i="0">
                <a:solidFill>
                  <a:srgbClr val="111111"/>
                </a:solidFill>
                <a:latin typeface="Calibri"/>
              </a:rPr>
              <a:t>Korsreferenser knyter samman spolen och kontakterna.</a:t>
            </a:r>
          </a:p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900" b="0" i="0">
                <a:solidFill>
                  <a:srgbClr val="111111"/>
                </a:solidFill>
                <a:latin typeface="Calibri"/>
              </a:rPr>
              <a:t>Figuren visar förenklade undervisningssymboler.</a:t>
            </a:r>
          </a:p>
        </p:txBody>
      </p:sp>
      <p:pic>
        <p:nvPicPr>
          <p:cNvPr id="5" name="Figur: Grafiska symboler: motstånd (R), NO-kontakt (S, slutande), spänningsmätare, säkring (F), reläspole K1 och strömmätare." descr="Grafiska symboler: motstånd (R), NO-kontakt (S, slutande), spänningsmätare, säkring (F), reläspole K1 och strömmätare.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10752" y="3566160"/>
            <a:ext cx="5522494" cy="2331720"/>
          </a:xfrm>
          <a:prstGeom prst="rect">
            <a:avLst/>
          </a:prstGeom>
        </p:spPr>
      </p:pic>
      <p:pic>
        <p:nvPicPr>
          <p:cNvPr id="6" name="Picture 5" descr="sidfot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6099048"/>
            <a:ext cx="9144000" cy="758952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463040" y="6400800"/>
            <a:ext cx="6217920" cy="310896"/>
          </a:xfrm>
          <a:prstGeom prst="rect">
            <a:avLst/>
          </a:prstGeom>
          <a:noFill/>
        </p:spPr>
        <p:txBody>
          <a:bodyPr wrap="square" anchor="t" lIns="27432" rIns="27432" tIns="18288" bIns="18288">
            <a:spAutoFit/>
          </a:bodyPr>
          <a:lstStyle/>
          <a:p>
            <a:pPr algn="ctr">
              <a:lnSpc>
                <a:spcPct val="108000"/>
              </a:lnSpc>
              <a:spcAft>
                <a:spcPts val="0"/>
              </a:spcAft>
            </a:pPr>
            <a:r>
              <a:rPr sz="1200" b="0" i="0">
                <a:solidFill>
                  <a:srgbClr val="FFFFFF"/>
                </a:solidFill>
                <a:latin typeface="Calibri"/>
              </a:rPr>
              <a:t>Vecka 43 · Fredag · Elscheman och dokumentation  ·  Del 3 · avsnitt 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10144" y="6400800"/>
            <a:ext cx="704088" cy="310896"/>
          </a:xfrm>
          <a:prstGeom prst="rect">
            <a:avLst/>
          </a:prstGeom>
          <a:noFill/>
        </p:spPr>
        <p:txBody>
          <a:bodyPr wrap="square" anchor="t" lIns="27432" rIns="27432" tIns="18288" bIns="18288">
            <a:spAutoFit/>
          </a:bodyPr>
          <a:lstStyle/>
          <a:p>
            <a:pPr algn="r">
              <a:lnSpc>
                <a:spcPct val="108000"/>
              </a:lnSpc>
              <a:spcAft>
                <a:spcPts val="0"/>
              </a:spcAft>
            </a:pPr>
            <a:r>
              <a:rPr sz="1500" b="0" i="0">
                <a:solidFill>
                  <a:srgbClr val="FFFFFF"/>
                </a:solidFill>
                <a:latin typeface="Calibri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9184"/>
            <a:ext cx="8046720" cy="731520"/>
          </a:xfrm>
          <a:prstGeom prst="rect">
            <a:avLst/>
          </a:prstGeom>
          <a:noFill/>
        </p:spPr>
        <p:txBody>
          <a:bodyPr wrap="square" anchor="b" lIns="27432" rIns="27432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3000" b="1" i="0">
                <a:solidFill>
                  <a:srgbClr val="111111"/>
                </a:solidFill>
                <a:latin typeface="Calibri"/>
              </a:rPr>
              <a:t>Huvud- och styrström</a:t>
            </a:r>
          </a:p>
        </p:txBody>
      </p:sp>
      <p:sp>
        <p:nvSpPr>
          <p:cNvPr id="3" name="Rectangle 2"/>
          <p:cNvSpPr/>
          <p:nvPr/>
        </p:nvSpPr>
        <p:spPr>
          <a:xfrm>
            <a:off x="576072" y="1097280"/>
            <a:ext cx="822960" cy="64008"/>
          </a:xfrm>
          <a:prstGeom prst="rect">
            <a:avLst/>
          </a:prstGeom>
          <a:solidFill>
            <a:srgbClr val="E87BA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548640" y="1417320"/>
            <a:ext cx="8046720" cy="2240280"/>
          </a:xfrm>
          <a:prstGeom prst="rect">
            <a:avLst/>
          </a:prstGeom>
          <a:noFill/>
        </p:spPr>
        <p:txBody>
          <a:bodyPr wrap="square" anchor="t" lIns="27432" rIns="27432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1200"/>
              </a:spcAft>
            </a:pPr>
            <a:r>
              <a:rPr sz="2500" b="1" i="0">
                <a:solidFill>
                  <a:srgbClr val="064F91"/>
                </a:solidFill>
                <a:latin typeface="Calibri"/>
              </a:rPr>
              <a:t>Två scheman: kraftvägen och villkoren för manövern.</a:t>
            </a:r>
          </a:p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900" b="1" i="0">
                <a:solidFill>
                  <a:srgbClr val="111111"/>
                </a:solidFill>
                <a:latin typeface="Calibri"/>
              </a:rPr>
              <a:t>Huvudströmsschemat</a:t>
            </a:r>
            <a:r>
              <a:rPr sz="1900" b="0" i="0">
                <a:solidFill>
                  <a:srgbClr val="111111"/>
                </a:solidFill>
                <a:latin typeface="Calibri"/>
              </a:rPr>
              <a:t> visar kraftvägen till lasten.</a:t>
            </a:r>
          </a:p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900" b="1" i="0">
                <a:solidFill>
                  <a:srgbClr val="111111"/>
                </a:solidFill>
                <a:latin typeface="Calibri"/>
              </a:rPr>
              <a:t>Styrströmsschemat</a:t>
            </a:r>
            <a:r>
              <a:rPr sz="1900" b="0" i="0">
                <a:solidFill>
                  <a:srgbClr val="111111"/>
                </a:solidFill>
                <a:latin typeface="Calibri"/>
              </a:rPr>
              <a:t> visar villkoren för manövern.</a:t>
            </a:r>
          </a:p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900" b="0" i="0">
                <a:solidFill>
                  <a:srgbClr val="111111"/>
                </a:solidFill>
                <a:latin typeface="Calibri"/>
              </a:rPr>
              <a:t>Figuren är kraftdelens förenklade funktionsschema. F1 ger kortslutningsskydd, K1 kopplar matningen och F2:s överlastfunktion ska bryta motorns manöver.</a:t>
            </a:r>
          </a:p>
        </p:txBody>
      </p:sp>
      <p:pic>
        <p:nvPicPr>
          <p:cNvPr id="5" name="Figur: Huvudströmsschema: L1–L3 genom säkringarna F1, kontaktorn K1 och överlastskyddet F2 till motorn M 3~." descr="Huvudströmsschema: L1–L3 genom säkringarna F1, kontaktorn K1 och överlastskyddet F2 till motorn M 3~.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06879" y="3749039"/>
            <a:ext cx="5730240" cy="2148840"/>
          </a:xfrm>
          <a:prstGeom prst="rect">
            <a:avLst/>
          </a:prstGeom>
        </p:spPr>
      </p:pic>
      <p:pic>
        <p:nvPicPr>
          <p:cNvPr id="6" name="Picture 5" descr="sidfot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6099048"/>
            <a:ext cx="9144000" cy="758952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463040" y="6400800"/>
            <a:ext cx="6217920" cy="310896"/>
          </a:xfrm>
          <a:prstGeom prst="rect">
            <a:avLst/>
          </a:prstGeom>
          <a:noFill/>
        </p:spPr>
        <p:txBody>
          <a:bodyPr wrap="square" anchor="t" lIns="27432" rIns="27432" tIns="18288" bIns="18288">
            <a:spAutoFit/>
          </a:bodyPr>
          <a:lstStyle/>
          <a:p>
            <a:pPr algn="ctr">
              <a:lnSpc>
                <a:spcPct val="108000"/>
              </a:lnSpc>
              <a:spcAft>
                <a:spcPts val="0"/>
              </a:spcAft>
            </a:pPr>
            <a:r>
              <a:rPr sz="1200" b="0" i="0">
                <a:solidFill>
                  <a:srgbClr val="FFFFFF"/>
                </a:solidFill>
                <a:latin typeface="Calibri"/>
              </a:rPr>
              <a:t>Vecka 43 · Fredag · Elscheman och dokumentation  ·  Del 3 · avsnitt 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10144" y="6400800"/>
            <a:ext cx="704088" cy="310896"/>
          </a:xfrm>
          <a:prstGeom prst="rect">
            <a:avLst/>
          </a:prstGeom>
          <a:noFill/>
        </p:spPr>
        <p:txBody>
          <a:bodyPr wrap="square" anchor="t" lIns="27432" rIns="27432" tIns="18288" bIns="18288">
            <a:spAutoFit/>
          </a:bodyPr>
          <a:lstStyle/>
          <a:p>
            <a:pPr algn="r">
              <a:lnSpc>
                <a:spcPct val="108000"/>
              </a:lnSpc>
              <a:spcAft>
                <a:spcPts val="0"/>
              </a:spcAft>
            </a:pPr>
            <a:r>
              <a:rPr sz="1500" b="0" i="0">
                <a:solidFill>
                  <a:srgbClr val="FFFFFF"/>
                </a:solidFill>
                <a:latin typeface="Calibri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9184"/>
            <a:ext cx="8046720" cy="731520"/>
          </a:xfrm>
          <a:prstGeom prst="rect">
            <a:avLst/>
          </a:prstGeom>
          <a:noFill/>
        </p:spPr>
        <p:txBody>
          <a:bodyPr wrap="square" anchor="b" lIns="27432" rIns="27432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3000" b="1" i="0">
                <a:solidFill>
                  <a:srgbClr val="111111"/>
                </a:solidFill>
                <a:latin typeface="Calibri"/>
              </a:rPr>
              <a:t>Hållkretsens funktion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576072" y="1097280"/>
            <a:ext cx="822960" cy="64008"/>
          </a:xfrm>
          <a:prstGeom prst="rect">
            <a:avLst/>
          </a:prstGeom>
          <a:solidFill>
            <a:srgbClr val="E87BA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548640" y="1417320"/>
            <a:ext cx="8046720" cy="2057400"/>
          </a:xfrm>
          <a:prstGeom prst="rect">
            <a:avLst/>
          </a:prstGeom>
          <a:noFill/>
        </p:spPr>
        <p:txBody>
          <a:bodyPr wrap="square" anchor="t" lIns="27432" rIns="27432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1200"/>
              </a:spcAft>
            </a:pPr>
            <a:r>
              <a:rPr sz="2500" b="1" i="0">
                <a:solidFill>
                  <a:srgbClr val="064F91"/>
                </a:solidFill>
                <a:latin typeface="Calibri"/>
              </a:rPr>
              <a:t>S0 i serie med (S1 parallellt med K1)</a:t>
            </a:r>
          </a:p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900" b="0" i="0">
                <a:solidFill>
                  <a:srgbClr val="111111"/>
                </a:solidFill>
                <a:latin typeface="Calibri"/>
              </a:rPr>
              <a:t>S0 är STOPP (NC). S1 är START (NO). K1 har en NO-hållkontakt.</a:t>
            </a:r>
          </a:p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900" b="0" i="0">
                <a:solidFill>
                  <a:srgbClr val="111111"/>
                </a:solidFill>
                <a:latin typeface="Calibri"/>
              </a:rPr>
              <a:t>K1-spolen matas när det finns en obruten väg från +12 V till 0 V.</a:t>
            </a:r>
          </a:p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900" b="0" i="0">
                <a:solidFill>
                  <a:srgbClr val="111111"/>
                </a:solidFill>
                <a:latin typeface="Calibri"/>
              </a:rPr>
              <a:t>Figuren är en förenklad funktionsskiss i vila. K1:s spole och kontakt tillhör samma apparat.</a:t>
            </a:r>
          </a:p>
        </p:txBody>
      </p:sp>
      <p:pic>
        <p:nvPicPr>
          <p:cNvPr id="5" name="Figur: +12 V – S0 STOPP (NC, sluten i vila) – S1 START (NO, öppen i vila) parallellt med K1:s hållkontakt (NO, sluts när K1 drar) – spolen K1 – 0 V." descr="+12 V – S0 STOPP (NC, sluten i vila) – S1 START (NO, öppen i vila) parallellt med K1:s hållkontakt (NO, sluts när K1 drar) – spolen K1 – 0 V.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52144" y="3566160"/>
            <a:ext cx="6839712" cy="2331720"/>
          </a:xfrm>
          <a:prstGeom prst="rect">
            <a:avLst/>
          </a:prstGeom>
        </p:spPr>
      </p:pic>
      <p:pic>
        <p:nvPicPr>
          <p:cNvPr id="6" name="Picture 5" descr="sidfot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6099048"/>
            <a:ext cx="9144000" cy="758952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463040" y="6400800"/>
            <a:ext cx="6217920" cy="310896"/>
          </a:xfrm>
          <a:prstGeom prst="rect">
            <a:avLst/>
          </a:prstGeom>
          <a:noFill/>
        </p:spPr>
        <p:txBody>
          <a:bodyPr wrap="square" anchor="t" lIns="27432" rIns="27432" tIns="18288" bIns="18288">
            <a:spAutoFit/>
          </a:bodyPr>
          <a:lstStyle/>
          <a:p>
            <a:pPr algn="ctr">
              <a:lnSpc>
                <a:spcPct val="108000"/>
              </a:lnSpc>
              <a:spcAft>
                <a:spcPts val="0"/>
              </a:spcAft>
            </a:pPr>
            <a:r>
              <a:rPr sz="1200" b="0" i="0">
                <a:solidFill>
                  <a:srgbClr val="FFFFFF"/>
                </a:solidFill>
                <a:latin typeface="Calibri"/>
              </a:rPr>
              <a:t>Vecka 43 · Fredag · Elscheman och dokumentation  ·  Del 3 · avsnitt 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10144" y="6400800"/>
            <a:ext cx="704088" cy="310896"/>
          </a:xfrm>
          <a:prstGeom prst="rect">
            <a:avLst/>
          </a:prstGeom>
          <a:noFill/>
        </p:spPr>
        <p:txBody>
          <a:bodyPr wrap="square" anchor="t" lIns="27432" rIns="27432" tIns="18288" bIns="18288">
            <a:spAutoFit/>
          </a:bodyPr>
          <a:lstStyle/>
          <a:p>
            <a:pPr algn="r">
              <a:lnSpc>
                <a:spcPct val="108000"/>
              </a:lnSpc>
              <a:spcAft>
                <a:spcPts val="0"/>
              </a:spcAft>
            </a:pPr>
            <a:r>
              <a:rPr sz="1500" b="0" i="0">
                <a:solidFill>
                  <a:srgbClr val="FFFFFF"/>
                </a:solidFill>
                <a:latin typeface="Calibri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9184"/>
            <a:ext cx="8046720" cy="731520"/>
          </a:xfrm>
          <a:prstGeom prst="rect">
            <a:avLst/>
          </a:prstGeom>
          <a:noFill/>
        </p:spPr>
        <p:txBody>
          <a:bodyPr wrap="square" anchor="b" lIns="27432" rIns="27432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3000" b="1" i="0">
                <a:solidFill>
                  <a:srgbClr val="111111"/>
                </a:solidFill>
                <a:latin typeface="Calibri"/>
              </a:rPr>
              <a:t>Exempel: hållkretsens start</a:t>
            </a:r>
          </a:p>
        </p:txBody>
      </p:sp>
      <p:sp>
        <p:nvSpPr>
          <p:cNvPr id="3" name="Rectangle 2"/>
          <p:cNvSpPr/>
          <p:nvPr/>
        </p:nvSpPr>
        <p:spPr>
          <a:xfrm>
            <a:off x="576072" y="1097280"/>
            <a:ext cx="822960" cy="64008"/>
          </a:xfrm>
          <a:prstGeom prst="rect">
            <a:avLst/>
          </a:prstGeom>
          <a:solidFill>
            <a:srgbClr val="E87BA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548640" y="1417320"/>
            <a:ext cx="8046720" cy="4480560"/>
          </a:xfrm>
          <a:prstGeom prst="rect">
            <a:avLst/>
          </a:prstGeom>
          <a:noFill/>
        </p:spPr>
        <p:txBody>
          <a:bodyPr wrap="square" anchor="t" lIns="27432" rIns="27432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1200"/>
              </a:spcAft>
            </a:pPr>
            <a:r>
              <a:rPr sz="1900" b="0" i="1">
                <a:solidFill>
                  <a:srgbClr val="4A4A4A"/>
                </a:solidFill>
                <a:latin typeface="Calibri"/>
              </a:rPr>
              <a:t>I en 12 V-hållkrets är STOPP (NC) sluten. START (NO) och K1:s NO-hållkontakt är öppna i vila.</a:t>
            </a:r>
          </a:p>
          <a:p>
            <a:pPr algn="l">
              <a:lnSpc>
                <a:spcPct val="100000"/>
              </a:lnSpc>
              <a:spcAft>
                <a:spcPts val="1200"/>
              </a:spcAft>
            </a:pPr>
            <a:r>
              <a:rPr sz="2500" b="1" i="0">
                <a:solidFill>
                  <a:srgbClr val="064F91"/>
                </a:solidFill>
                <a:latin typeface="Calibri"/>
              </a:rPr>
              <a:t>K1 matas via STOPP och en av parallellvägarna.</a:t>
            </a:r>
          </a:p>
          <a:p>
            <a:pPr algn="l">
              <a:lnSpc>
                <a:spcPct val="108000"/>
              </a:lnSpc>
              <a:spcAft>
                <a:spcPts val="1000"/>
              </a:spcAft>
            </a:pPr>
            <a:r>
              <a:rPr sz="2000" b="0" i="0">
                <a:solidFill>
                  <a:srgbClr val="111111"/>
                </a:solidFill>
                <a:latin typeface="Calibri"/>
              </a:rPr>
              <a:t>1. START trycks in och sluter vägen till K1-spolen.</a:t>
            </a:r>
          </a:p>
          <a:p>
            <a:pPr algn="l">
              <a:lnSpc>
                <a:spcPct val="108000"/>
              </a:lnSpc>
              <a:spcAft>
                <a:spcPts val="1000"/>
              </a:spcAft>
            </a:pPr>
            <a:r>
              <a:rPr sz="2000" b="0" i="0">
                <a:solidFill>
                  <a:srgbClr val="111111"/>
                </a:solidFill>
                <a:latin typeface="Calibri"/>
              </a:rPr>
              <a:t>2. K1 drar.</a:t>
            </a:r>
          </a:p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2000" b="1" i="0">
                <a:solidFill>
                  <a:srgbClr val="111111"/>
                </a:solidFill>
                <a:latin typeface="Calibri"/>
              </a:rPr>
              <a:t>Vad som händer när START släpps och när STOPP trycks utreds i övningarna. Vid strömavbrott släpper K1.</a:t>
            </a:r>
          </a:p>
        </p:txBody>
      </p:sp>
      <p:pic>
        <p:nvPicPr>
          <p:cNvPr id="5" name="Picture 4" descr="sidfo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6099048"/>
            <a:ext cx="9144000" cy="758952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463040" y="6400800"/>
            <a:ext cx="6217920" cy="310896"/>
          </a:xfrm>
          <a:prstGeom prst="rect">
            <a:avLst/>
          </a:prstGeom>
          <a:noFill/>
        </p:spPr>
        <p:txBody>
          <a:bodyPr wrap="square" anchor="t" lIns="27432" rIns="27432" tIns="18288" bIns="18288">
            <a:spAutoFit/>
          </a:bodyPr>
          <a:lstStyle/>
          <a:p>
            <a:pPr algn="ctr">
              <a:lnSpc>
                <a:spcPct val="108000"/>
              </a:lnSpc>
              <a:spcAft>
                <a:spcPts val="0"/>
              </a:spcAft>
            </a:pPr>
            <a:r>
              <a:rPr sz="1200" b="0" i="0">
                <a:solidFill>
                  <a:srgbClr val="FFFFFF"/>
                </a:solidFill>
                <a:latin typeface="Calibri"/>
              </a:rPr>
              <a:t>Vecka 43 · Fredag · Elscheman och dokumentation  ·  Del 3 · exempel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010144" y="6400800"/>
            <a:ext cx="704088" cy="310896"/>
          </a:xfrm>
          <a:prstGeom prst="rect">
            <a:avLst/>
          </a:prstGeom>
          <a:noFill/>
        </p:spPr>
        <p:txBody>
          <a:bodyPr wrap="square" anchor="t" lIns="27432" rIns="27432" tIns="18288" bIns="18288">
            <a:spAutoFit/>
          </a:bodyPr>
          <a:lstStyle/>
          <a:p>
            <a:pPr algn="r">
              <a:lnSpc>
                <a:spcPct val="108000"/>
              </a:lnSpc>
              <a:spcAft>
                <a:spcPts val="0"/>
              </a:spcAft>
            </a:pPr>
            <a:r>
              <a:rPr sz="1500" b="0" i="0">
                <a:solidFill>
                  <a:srgbClr val="FFFFFF"/>
                </a:solidFill>
                <a:latin typeface="Calibri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9184"/>
            <a:ext cx="8046720" cy="731520"/>
          </a:xfrm>
          <a:prstGeom prst="rect">
            <a:avLst/>
          </a:prstGeom>
          <a:noFill/>
        </p:spPr>
        <p:txBody>
          <a:bodyPr wrap="square" anchor="b" lIns="27432" rIns="27432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3000" b="1" i="0">
                <a:solidFill>
                  <a:srgbClr val="111111"/>
                </a:solidFill>
                <a:latin typeface="Calibri"/>
              </a:rPr>
              <a:t>Kretsschema och förbindning</a:t>
            </a:r>
          </a:p>
        </p:txBody>
      </p:sp>
      <p:sp>
        <p:nvSpPr>
          <p:cNvPr id="3" name="Rectangle 2"/>
          <p:cNvSpPr/>
          <p:nvPr/>
        </p:nvSpPr>
        <p:spPr>
          <a:xfrm>
            <a:off x="576072" y="1097280"/>
            <a:ext cx="822960" cy="64008"/>
          </a:xfrm>
          <a:prstGeom prst="rect">
            <a:avLst/>
          </a:prstGeom>
          <a:solidFill>
            <a:srgbClr val="E87BA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548640" y="1417320"/>
            <a:ext cx="8046720" cy="4480560"/>
          </a:xfrm>
          <a:prstGeom prst="rect">
            <a:avLst/>
          </a:prstGeom>
          <a:noFill/>
        </p:spPr>
        <p:txBody>
          <a:bodyPr wrap="square" anchor="t" lIns="27432" rIns="27432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1200"/>
              </a:spcAft>
            </a:pPr>
            <a:r>
              <a:rPr sz="2500" b="1" i="0">
                <a:solidFill>
                  <a:srgbClr val="064F91"/>
                </a:solidFill>
                <a:latin typeface="Calibri"/>
              </a:rPr>
              <a:t>Funktion respektive fysisk förbindelse.</a:t>
            </a:r>
          </a:p>
          <a:p>
            <a:pPr algn="l">
              <a:lnSpc>
                <a:spcPct val="108000"/>
              </a:lnSpc>
              <a:spcAft>
                <a:spcPts val="1000"/>
              </a:spcAft>
            </a:pPr>
            <a:r>
              <a:rPr sz="2000" b="1" i="0">
                <a:solidFill>
                  <a:srgbClr val="111111"/>
                </a:solidFill>
                <a:latin typeface="Calibri"/>
              </a:rPr>
              <a:t>Kretsschemat</a:t>
            </a:r>
            <a:r>
              <a:rPr sz="2000" b="0" i="0">
                <a:solidFill>
                  <a:srgbClr val="111111"/>
                </a:solidFill>
                <a:latin typeface="Calibri"/>
              </a:rPr>
              <a:t> beskriver den elektriska funktionen.</a:t>
            </a:r>
          </a:p>
          <a:p>
            <a:pPr algn="l">
              <a:lnSpc>
                <a:spcPct val="108000"/>
              </a:lnSpc>
              <a:spcAft>
                <a:spcPts val="1000"/>
              </a:spcAft>
            </a:pPr>
            <a:r>
              <a:rPr sz="2000" b="1" i="0">
                <a:solidFill>
                  <a:srgbClr val="111111"/>
                </a:solidFill>
                <a:latin typeface="Calibri"/>
              </a:rPr>
              <a:t>Förbindningsschemat</a:t>
            </a:r>
            <a:r>
              <a:rPr sz="2000" b="0" i="0">
                <a:solidFill>
                  <a:srgbClr val="111111"/>
                </a:solidFill>
                <a:latin typeface="Calibri"/>
              </a:rPr>
              <a:t> visar anslutningarna mellan plintar och apparater.</a:t>
            </a:r>
          </a:p>
          <a:p>
            <a:pPr algn="l">
              <a:lnSpc>
                <a:spcPct val="108000"/>
              </a:lnSpc>
              <a:spcAft>
                <a:spcPts val="1000"/>
              </a:spcAft>
            </a:pPr>
            <a:r>
              <a:rPr sz="2000" b="0" i="0">
                <a:solidFill>
                  <a:srgbClr val="111111"/>
                </a:solidFill>
                <a:latin typeface="Calibri"/>
              </a:rPr>
              <a:t>En felsökare behöver kunna gå från K1 i funktionen till rätt apparat och anslutning i verkligheten.</a:t>
            </a:r>
          </a:p>
        </p:txBody>
      </p:sp>
      <p:pic>
        <p:nvPicPr>
          <p:cNvPr id="5" name="Picture 4" descr="sidfo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6099048"/>
            <a:ext cx="9144000" cy="758952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463040" y="6400800"/>
            <a:ext cx="6217920" cy="310896"/>
          </a:xfrm>
          <a:prstGeom prst="rect">
            <a:avLst/>
          </a:prstGeom>
          <a:noFill/>
        </p:spPr>
        <p:txBody>
          <a:bodyPr wrap="square" anchor="t" lIns="27432" rIns="27432" tIns="18288" bIns="18288">
            <a:spAutoFit/>
          </a:bodyPr>
          <a:lstStyle/>
          <a:p>
            <a:pPr algn="ctr">
              <a:lnSpc>
                <a:spcPct val="108000"/>
              </a:lnSpc>
              <a:spcAft>
                <a:spcPts val="0"/>
              </a:spcAft>
            </a:pPr>
            <a:r>
              <a:rPr sz="1200" b="0" i="0">
                <a:solidFill>
                  <a:srgbClr val="FFFFFF"/>
                </a:solidFill>
                <a:latin typeface="Calibri"/>
              </a:rPr>
              <a:t>Vecka 43 · Fredag · Elscheman och dokumentation  ·  Del 3 · avsnitt 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010144" y="6400800"/>
            <a:ext cx="704088" cy="310896"/>
          </a:xfrm>
          <a:prstGeom prst="rect">
            <a:avLst/>
          </a:prstGeom>
          <a:noFill/>
        </p:spPr>
        <p:txBody>
          <a:bodyPr wrap="square" anchor="t" lIns="27432" rIns="27432" tIns="18288" bIns="18288">
            <a:spAutoFit/>
          </a:bodyPr>
          <a:lstStyle/>
          <a:p>
            <a:pPr algn="r">
              <a:lnSpc>
                <a:spcPct val="108000"/>
              </a:lnSpc>
              <a:spcAft>
                <a:spcPts val="0"/>
              </a:spcAft>
            </a:pPr>
            <a:r>
              <a:rPr sz="1500" b="0" i="0">
                <a:solidFill>
                  <a:srgbClr val="FFFFFF"/>
                </a:solidFill>
                <a:latin typeface="Calibri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9184"/>
            <a:ext cx="8046720" cy="731520"/>
          </a:xfrm>
          <a:prstGeom prst="rect">
            <a:avLst/>
          </a:prstGeom>
          <a:noFill/>
        </p:spPr>
        <p:txBody>
          <a:bodyPr wrap="square" anchor="b" lIns="27432" rIns="27432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3000" b="1" i="0">
                <a:solidFill>
                  <a:srgbClr val="111111"/>
                </a:solidFill>
                <a:latin typeface="Calibri"/>
              </a:rPr>
              <a:t>Mätpunkter och referens</a:t>
            </a:r>
          </a:p>
        </p:txBody>
      </p:sp>
      <p:sp>
        <p:nvSpPr>
          <p:cNvPr id="3" name="Rectangle 2"/>
          <p:cNvSpPr/>
          <p:nvPr/>
        </p:nvSpPr>
        <p:spPr>
          <a:xfrm>
            <a:off x="576072" y="1097280"/>
            <a:ext cx="822960" cy="64008"/>
          </a:xfrm>
          <a:prstGeom prst="rect">
            <a:avLst/>
          </a:prstGeom>
          <a:solidFill>
            <a:srgbClr val="E87BA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548640" y="1417320"/>
            <a:ext cx="8046720" cy="4480560"/>
          </a:xfrm>
          <a:prstGeom prst="rect">
            <a:avLst/>
          </a:prstGeom>
          <a:noFill/>
        </p:spPr>
        <p:txBody>
          <a:bodyPr wrap="square" anchor="t" lIns="27432" rIns="27432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1200"/>
              </a:spcAft>
            </a:pPr>
            <a:r>
              <a:rPr sz="2500" b="1" i="0">
                <a:solidFill>
                  <a:srgbClr val="064F91"/>
                </a:solidFill>
                <a:latin typeface="Calibri"/>
              </a:rPr>
              <a:t>Ett spänningsvärde kräver två definierade punkter.</a:t>
            </a:r>
          </a:p>
          <a:p>
            <a:pPr algn="l">
              <a:lnSpc>
                <a:spcPct val="108000"/>
              </a:lnSpc>
              <a:spcAft>
                <a:spcPts val="1000"/>
              </a:spcAft>
            </a:pPr>
            <a:r>
              <a:rPr sz="2000" b="0" i="0">
                <a:solidFill>
                  <a:srgbClr val="111111"/>
                </a:solidFill>
                <a:latin typeface="Calibri"/>
              </a:rPr>
              <a:t>Ange driftläge och förväntat värde innan du kontrollerar.</a:t>
            </a:r>
          </a:p>
          <a:p>
            <a:pPr algn="l">
              <a:lnSpc>
                <a:spcPct val="108000"/>
              </a:lnSpc>
              <a:spcAft>
                <a:spcPts val="1000"/>
              </a:spcAft>
            </a:pPr>
            <a:r>
              <a:rPr sz="2000" b="0" i="0">
                <a:solidFill>
                  <a:srgbClr val="111111"/>
                </a:solidFill>
                <a:latin typeface="Calibri"/>
              </a:rPr>
              <a:t>Vad bör en öppen kontakt visa i ditt driftläge? I en enkel aktiv DC-kedja kan ett avbrott ta hela spänningen.</a:t>
            </a:r>
          </a:p>
          <a:p>
            <a:pPr algn="l">
              <a:lnSpc>
                <a:spcPct val="108000"/>
              </a:lnSpc>
              <a:spcAft>
                <a:spcPts val="1000"/>
              </a:spcAft>
            </a:pPr>
            <a:r>
              <a:rPr sz="2000" b="0" i="0">
                <a:solidFill>
                  <a:srgbClr val="111111"/>
                </a:solidFill>
                <a:latin typeface="Calibri"/>
              </a:rPr>
              <a:t>Tolka resultatet mot schemat och referenspunkten.</a:t>
            </a:r>
          </a:p>
        </p:txBody>
      </p:sp>
      <p:pic>
        <p:nvPicPr>
          <p:cNvPr id="5" name="Picture 4" descr="sidfo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6099048"/>
            <a:ext cx="9144000" cy="758952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463040" y="6400800"/>
            <a:ext cx="6217920" cy="310896"/>
          </a:xfrm>
          <a:prstGeom prst="rect">
            <a:avLst/>
          </a:prstGeom>
          <a:noFill/>
        </p:spPr>
        <p:txBody>
          <a:bodyPr wrap="square" anchor="t" lIns="27432" rIns="27432" tIns="18288" bIns="18288">
            <a:spAutoFit/>
          </a:bodyPr>
          <a:lstStyle/>
          <a:p>
            <a:pPr algn="ctr">
              <a:lnSpc>
                <a:spcPct val="108000"/>
              </a:lnSpc>
              <a:spcAft>
                <a:spcPts val="0"/>
              </a:spcAft>
            </a:pPr>
            <a:r>
              <a:rPr sz="1200" b="0" i="0">
                <a:solidFill>
                  <a:srgbClr val="FFFFFF"/>
                </a:solidFill>
                <a:latin typeface="Calibri"/>
              </a:rPr>
              <a:t>Vecka 43 · Fredag · Elscheman och dokumentation  ·  Del 3 · avsnitt 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010144" y="6400800"/>
            <a:ext cx="704088" cy="310896"/>
          </a:xfrm>
          <a:prstGeom prst="rect">
            <a:avLst/>
          </a:prstGeom>
          <a:noFill/>
        </p:spPr>
        <p:txBody>
          <a:bodyPr wrap="square" anchor="t" lIns="27432" rIns="27432" tIns="18288" bIns="18288">
            <a:spAutoFit/>
          </a:bodyPr>
          <a:lstStyle/>
          <a:p>
            <a:pPr algn="r">
              <a:lnSpc>
                <a:spcPct val="108000"/>
              </a:lnSpc>
              <a:spcAft>
                <a:spcPts val="0"/>
              </a:spcAft>
            </a:pPr>
            <a:r>
              <a:rPr sz="1500" b="0" i="0">
                <a:solidFill>
                  <a:srgbClr val="FFFFFF"/>
                </a:solidFill>
                <a:latin typeface="Calibri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9184"/>
            <a:ext cx="8046720" cy="731520"/>
          </a:xfrm>
          <a:prstGeom prst="rect">
            <a:avLst/>
          </a:prstGeom>
          <a:noFill/>
        </p:spPr>
        <p:txBody>
          <a:bodyPr wrap="square" anchor="b" lIns="27432" rIns="27432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3000" b="1" i="0">
                <a:solidFill>
                  <a:srgbClr val="111111"/>
                </a:solidFill>
                <a:latin typeface="Calibri"/>
              </a:rPr>
              <a:t>Dokumentets status</a:t>
            </a:r>
          </a:p>
        </p:txBody>
      </p:sp>
      <p:sp>
        <p:nvSpPr>
          <p:cNvPr id="3" name="Rectangle 2"/>
          <p:cNvSpPr/>
          <p:nvPr/>
        </p:nvSpPr>
        <p:spPr>
          <a:xfrm>
            <a:off x="576072" y="1097280"/>
            <a:ext cx="822960" cy="64008"/>
          </a:xfrm>
          <a:prstGeom prst="rect">
            <a:avLst/>
          </a:prstGeom>
          <a:solidFill>
            <a:srgbClr val="E87BA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548640" y="1417320"/>
            <a:ext cx="8046720" cy="4480560"/>
          </a:xfrm>
          <a:prstGeom prst="rect">
            <a:avLst/>
          </a:prstGeom>
          <a:noFill/>
        </p:spPr>
        <p:txBody>
          <a:bodyPr wrap="square" anchor="t" lIns="27432" rIns="27432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1200"/>
              </a:spcAft>
            </a:pPr>
            <a:r>
              <a:rPr sz="2500" b="1" i="0">
                <a:solidFill>
                  <a:srgbClr val="064F91"/>
                </a:solidFill>
                <a:latin typeface="Calibri"/>
              </a:rPr>
              <a:t>Aktuellt schema och faktisk anläggning ska stämma.</a:t>
            </a:r>
          </a:p>
          <a:p>
            <a:pPr algn="l">
              <a:lnSpc>
                <a:spcPct val="108000"/>
              </a:lnSpc>
              <a:spcAft>
                <a:spcPts val="1000"/>
              </a:spcAft>
            </a:pPr>
            <a:r>
              <a:rPr sz="2000" b="0" i="0">
                <a:solidFill>
                  <a:srgbClr val="111111"/>
                </a:solidFill>
                <a:latin typeface="Calibri"/>
              </a:rPr>
              <a:t>Ritningsnummer, revision och datum visar vilket underlag som används.</a:t>
            </a:r>
          </a:p>
          <a:p>
            <a:pPr algn="l">
              <a:lnSpc>
                <a:spcPct val="108000"/>
              </a:lnSpc>
              <a:spcAft>
                <a:spcPts val="1000"/>
              </a:spcAft>
            </a:pPr>
            <a:r>
              <a:rPr sz="2000" b="0" i="0">
                <a:solidFill>
                  <a:srgbClr val="111111"/>
                </a:solidFill>
                <a:latin typeface="Calibri"/>
              </a:rPr>
              <a:t>Ändringar behöver kunna följas från beslut till verifierad funktion.</a:t>
            </a:r>
          </a:p>
          <a:p>
            <a:pPr algn="l">
              <a:lnSpc>
                <a:spcPct val="108000"/>
              </a:lnSpc>
              <a:spcAft>
                <a:spcPts val="1000"/>
              </a:spcAft>
            </a:pPr>
            <a:r>
              <a:rPr sz="2000" b="0" i="0">
                <a:solidFill>
                  <a:srgbClr val="111111"/>
                </a:solidFill>
                <a:latin typeface="Calibri"/>
              </a:rPr>
              <a:t>Inlämning 3 bygger på hållkretsen: nödstoppet, lampan, kretsens fem lägen och en felsökningsrad.</a:t>
            </a:r>
          </a:p>
        </p:txBody>
      </p:sp>
      <p:pic>
        <p:nvPicPr>
          <p:cNvPr id="5" name="Picture 4" descr="sidfo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6099048"/>
            <a:ext cx="9144000" cy="758952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463040" y="6400800"/>
            <a:ext cx="6217920" cy="310896"/>
          </a:xfrm>
          <a:prstGeom prst="rect">
            <a:avLst/>
          </a:prstGeom>
          <a:noFill/>
        </p:spPr>
        <p:txBody>
          <a:bodyPr wrap="square" anchor="t" lIns="27432" rIns="27432" tIns="18288" bIns="18288">
            <a:spAutoFit/>
          </a:bodyPr>
          <a:lstStyle/>
          <a:p>
            <a:pPr algn="ctr">
              <a:lnSpc>
                <a:spcPct val="108000"/>
              </a:lnSpc>
              <a:spcAft>
                <a:spcPts val="0"/>
              </a:spcAft>
            </a:pPr>
            <a:r>
              <a:rPr sz="1200" b="0" i="0">
                <a:solidFill>
                  <a:srgbClr val="FFFFFF"/>
                </a:solidFill>
                <a:latin typeface="Calibri"/>
              </a:rPr>
              <a:t>Vecka 43 · Fredag · Elscheman och dokumentation  ·  Del 3 · avsnitt 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010144" y="6400800"/>
            <a:ext cx="704088" cy="310896"/>
          </a:xfrm>
          <a:prstGeom prst="rect">
            <a:avLst/>
          </a:prstGeom>
          <a:noFill/>
        </p:spPr>
        <p:txBody>
          <a:bodyPr wrap="square" anchor="t" lIns="27432" rIns="27432" tIns="18288" bIns="18288">
            <a:spAutoFit/>
          </a:bodyPr>
          <a:lstStyle/>
          <a:p>
            <a:pPr algn="r">
              <a:lnSpc>
                <a:spcPct val="108000"/>
              </a:lnSpc>
              <a:spcAft>
                <a:spcPts val="0"/>
              </a:spcAft>
            </a:pPr>
            <a:r>
              <a:rPr sz="1500" b="0" i="0">
                <a:solidFill>
                  <a:srgbClr val="FFFFFF"/>
                </a:solidFill>
                <a:latin typeface="Calibri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9184"/>
            <a:ext cx="8046720" cy="731520"/>
          </a:xfrm>
          <a:prstGeom prst="rect">
            <a:avLst/>
          </a:prstGeom>
          <a:noFill/>
        </p:spPr>
        <p:txBody>
          <a:bodyPr wrap="square" anchor="b" lIns="27432" rIns="27432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3000" b="1" i="0">
                <a:solidFill>
                  <a:srgbClr val="111111"/>
                </a:solidFill>
                <a:latin typeface="Calibri"/>
              </a:rPr>
              <a:t>Exempel: spänning över ett avbrott</a:t>
            </a:r>
          </a:p>
        </p:txBody>
      </p:sp>
      <p:sp>
        <p:nvSpPr>
          <p:cNvPr id="3" name="Rectangle 2"/>
          <p:cNvSpPr/>
          <p:nvPr/>
        </p:nvSpPr>
        <p:spPr>
          <a:xfrm>
            <a:off x="576072" y="1097280"/>
            <a:ext cx="822960" cy="64008"/>
          </a:xfrm>
          <a:prstGeom prst="rect">
            <a:avLst/>
          </a:prstGeom>
          <a:solidFill>
            <a:srgbClr val="E87BA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548640" y="1417320"/>
            <a:ext cx="8046720" cy="731520"/>
          </a:xfrm>
          <a:prstGeom prst="rect">
            <a:avLst/>
          </a:prstGeom>
          <a:noFill/>
        </p:spPr>
        <p:txBody>
          <a:bodyPr wrap="square" anchor="t" lIns="27432" rIns="27432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800" b="0" i="1">
                <a:solidFill>
                  <a:srgbClr val="4A4A4A"/>
                </a:solidFill>
                <a:latin typeface="Calibri"/>
              </a:rPr>
              <a:t>9 V matar en ohmsk last via en öppen seriekontakt. Returen är hel och övriga ledningar är ideala.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2194560"/>
            <a:ext cx="4069080" cy="3703320"/>
          </a:xfrm>
          <a:prstGeom prst="rect">
            <a:avLst/>
          </a:prstGeom>
          <a:noFill/>
        </p:spPr>
        <p:txBody>
          <a:bodyPr wrap="square" anchor="t" lIns="27432" rIns="27432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1200"/>
              </a:spcAft>
            </a:pPr>
            <a:r>
              <a:rPr sz="2200" b="1" i="0">
                <a:solidFill>
                  <a:srgbClr val="064F91"/>
                </a:solidFill>
                <a:latin typeface="Calibri"/>
              </a:rPr>
              <a:t>I = 0     U</a:t>
            </a:r>
            <a:r>
              <a:rPr sz="2200" b="1" i="0" baseline="-25000">
                <a:solidFill>
                  <a:srgbClr val="064F91"/>
                </a:solidFill>
                <a:latin typeface="Calibri"/>
              </a:rPr>
              <a:t>last</a:t>
            </a:r>
            <a:r>
              <a:rPr sz="2200" b="1" i="0">
                <a:solidFill>
                  <a:srgbClr val="064F91"/>
                </a:solidFill>
                <a:latin typeface="Calibri"/>
              </a:rPr>
              <a:t> = R · I     U</a:t>
            </a:r>
            <a:r>
              <a:rPr sz="2200" b="1" i="0" baseline="-25000">
                <a:solidFill>
                  <a:srgbClr val="064F91"/>
                </a:solidFill>
                <a:latin typeface="Calibri"/>
              </a:rPr>
              <a:t>kontakt</a:t>
            </a:r>
            <a:r>
              <a:rPr sz="2200" b="1" i="0">
                <a:solidFill>
                  <a:srgbClr val="064F91"/>
                </a:solidFill>
                <a:latin typeface="Calibri"/>
              </a:rPr>
              <a:t> = 9 V − U</a:t>
            </a:r>
            <a:r>
              <a:rPr sz="2200" b="1" i="0" baseline="-25000">
                <a:solidFill>
                  <a:srgbClr val="064F91"/>
                </a:solidFill>
                <a:latin typeface="Calibri"/>
              </a:rPr>
              <a:t>last</a:t>
            </a:r>
          </a:p>
          <a:p>
            <a:pPr algn="l">
              <a:lnSpc>
                <a:spcPct val="108000"/>
              </a:lnSpc>
              <a:spcAft>
                <a:spcPts val="600"/>
              </a:spcAft>
            </a:pPr>
            <a:r>
              <a:rPr sz="1800" b="0" i="0">
                <a:solidFill>
                  <a:srgbClr val="111111"/>
                </a:solidFill>
                <a:latin typeface="Calibri"/>
              </a:rPr>
              <a:t>1. Den öppna kontakten hindrar strömmen: I = 0 A.</a:t>
            </a:r>
          </a:p>
          <a:p>
            <a:pPr algn="l">
              <a:lnSpc>
                <a:spcPct val="108000"/>
              </a:lnSpc>
              <a:spcAft>
                <a:spcPts val="600"/>
              </a:spcAft>
            </a:pPr>
            <a:r>
              <a:rPr sz="1800" b="0" i="0">
                <a:solidFill>
                  <a:srgbClr val="111111"/>
                </a:solidFill>
                <a:latin typeface="Calibri"/>
              </a:rPr>
              <a:t>2. U</a:t>
            </a:r>
            <a:r>
              <a:rPr sz="1800" b="0" i="0" baseline="-25000">
                <a:solidFill>
                  <a:srgbClr val="111111"/>
                </a:solidFill>
                <a:latin typeface="Calibri"/>
              </a:rPr>
              <a:t>last</a:t>
            </a:r>
            <a:r>
              <a:rPr sz="1800" b="0" i="0">
                <a:solidFill>
                  <a:srgbClr val="111111"/>
                </a:solidFill>
                <a:latin typeface="Calibri"/>
              </a:rPr>
              <a:t> = R · 0 = 0 V, oavsett lastens ändliga R.</a:t>
            </a:r>
          </a:p>
          <a:p>
            <a:pPr algn="l">
              <a:lnSpc>
                <a:spcPct val="108000"/>
              </a:lnSpc>
              <a:spcAft>
                <a:spcPts val="600"/>
              </a:spcAft>
            </a:pPr>
            <a:r>
              <a:rPr sz="1800" b="0" i="0">
                <a:solidFill>
                  <a:srgbClr val="111111"/>
                </a:solidFill>
                <a:latin typeface="Calibri"/>
              </a:rPr>
              <a:t>3. U</a:t>
            </a:r>
            <a:r>
              <a:rPr sz="1800" b="0" i="0" baseline="-25000">
                <a:solidFill>
                  <a:srgbClr val="111111"/>
                </a:solidFill>
                <a:latin typeface="Calibri"/>
              </a:rPr>
              <a:t>kontakt</a:t>
            </a:r>
            <a:r>
              <a:rPr sz="1800" b="0" i="0">
                <a:solidFill>
                  <a:srgbClr val="111111"/>
                </a:solidFill>
                <a:latin typeface="Calibri"/>
              </a:rPr>
              <a:t> = 9 − 0 = 9 V.</a:t>
            </a:r>
          </a:p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800" b="1" i="0">
                <a:solidFill>
                  <a:srgbClr val="111111"/>
                </a:solidFill>
                <a:latin typeface="Calibri"/>
              </a:rPr>
              <a:t>Stor spänning över en kontakt kan tyda på avbrott.</a:t>
            </a:r>
          </a:p>
        </p:txBody>
      </p:sp>
      <p:pic>
        <p:nvPicPr>
          <p:cNvPr id="6" name="Figur: 9 V-krets med en öppen seriekontakt och en ohmsk last: 9 V över kontakten, 0 V över lasten och ingen ström." descr="9 V-krets med en öppen seriekontakt och en ohmsk last: 9 V över kontakten, 0 V över lasten och ingen ström.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46320" y="2677815"/>
            <a:ext cx="3794760" cy="2645368"/>
          </a:xfrm>
          <a:prstGeom prst="rect">
            <a:avLst/>
          </a:prstGeom>
        </p:spPr>
      </p:pic>
      <p:pic>
        <p:nvPicPr>
          <p:cNvPr id="7" name="Picture 6" descr="sidfot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6099048"/>
            <a:ext cx="9144000" cy="758952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1463040" y="6400800"/>
            <a:ext cx="6217920" cy="310896"/>
          </a:xfrm>
          <a:prstGeom prst="rect">
            <a:avLst/>
          </a:prstGeom>
          <a:noFill/>
        </p:spPr>
        <p:txBody>
          <a:bodyPr wrap="square" anchor="t" lIns="27432" rIns="27432" tIns="18288" bIns="18288">
            <a:spAutoFit/>
          </a:bodyPr>
          <a:lstStyle/>
          <a:p>
            <a:pPr algn="ctr">
              <a:lnSpc>
                <a:spcPct val="108000"/>
              </a:lnSpc>
              <a:spcAft>
                <a:spcPts val="0"/>
              </a:spcAft>
            </a:pPr>
            <a:r>
              <a:rPr sz="1200" b="0" i="0">
                <a:solidFill>
                  <a:srgbClr val="FFFFFF"/>
                </a:solidFill>
                <a:latin typeface="Calibri"/>
              </a:rPr>
              <a:t>Vecka 43 · Fredag · Elscheman och dokumentation  ·  Del 3 · exempel 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10144" y="6400800"/>
            <a:ext cx="704088" cy="310896"/>
          </a:xfrm>
          <a:prstGeom prst="rect">
            <a:avLst/>
          </a:prstGeom>
          <a:noFill/>
        </p:spPr>
        <p:txBody>
          <a:bodyPr wrap="square" anchor="t" lIns="27432" rIns="27432" tIns="18288" bIns="18288">
            <a:spAutoFit/>
          </a:bodyPr>
          <a:lstStyle/>
          <a:p>
            <a:pPr algn="r">
              <a:lnSpc>
                <a:spcPct val="108000"/>
              </a:lnSpc>
              <a:spcAft>
                <a:spcPts val="0"/>
              </a:spcAft>
            </a:pPr>
            <a:r>
              <a:rPr sz="1500" b="0" i="0">
                <a:solidFill>
                  <a:srgbClr val="FFFFFF"/>
                </a:solidFill>
                <a:latin typeface="Calibri"/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9184"/>
            <a:ext cx="8046720" cy="731520"/>
          </a:xfrm>
          <a:prstGeom prst="rect">
            <a:avLst/>
          </a:prstGeom>
          <a:noFill/>
        </p:spPr>
        <p:txBody>
          <a:bodyPr wrap="square" anchor="b" lIns="27432" rIns="27432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3000" b="1" i="0">
                <a:solidFill>
                  <a:srgbClr val="111111"/>
                </a:solidFill>
                <a:latin typeface="Calibri"/>
              </a:rPr>
              <a:t>Övningar tillsammans</a:t>
            </a:r>
          </a:p>
        </p:txBody>
      </p:sp>
      <p:sp>
        <p:nvSpPr>
          <p:cNvPr id="3" name="Rectangle 2"/>
          <p:cNvSpPr/>
          <p:nvPr/>
        </p:nvSpPr>
        <p:spPr>
          <a:xfrm>
            <a:off x="576072" y="1097280"/>
            <a:ext cx="822960" cy="64008"/>
          </a:xfrm>
          <a:prstGeom prst="rect">
            <a:avLst/>
          </a:prstGeom>
          <a:solidFill>
            <a:srgbClr val="E87BA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548640" y="1417320"/>
            <a:ext cx="8046720" cy="502920"/>
          </a:xfrm>
          <a:prstGeom prst="rect">
            <a:avLst/>
          </a:prstGeom>
          <a:noFill/>
        </p:spPr>
        <p:txBody>
          <a:bodyPr wrap="square" anchor="t" lIns="27432" rIns="27432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2200" b="1" i="0">
                <a:solidFill>
                  <a:srgbClr val="064F91"/>
                </a:solidFill>
                <a:latin typeface="Calibri"/>
              </a:rPr>
              <a:t>Öppna del 3 och gå till 4 Övningar.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2057400"/>
            <a:ext cx="8046720" cy="566928"/>
          </a:xfrm>
          <a:prstGeom prst="rect">
            <a:avLst/>
          </a:prstGeom>
          <a:solidFill>
            <a:srgbClr val="F2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685800" y="2057400"/>
            <a:ext cx="1737360" cy="566928"/>
          </a:xfrm>
          <a:prstGeom prst="rect">
            <a:avLst/>
          </a:prstGeom>
          <a:noFill/>
        </p:spPr>
        <p:txBody>
          <a:bodyPr wrap="square" anchor="ctr" lIns="27432" rIns="27432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2000" b="1" i="0">
                <a:solidFill>
                  <a:srgbClr val="111111"/>
                </a:solidFill>
                <a:latin typeface="Calibri"/>
              </a:rPr>
              <a:t>Övning 3.6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468880" y="2057400"/>
            <a:ext cx="6035040" cy="566928"/>
          </a:xfrm>
          <a:prstGeom prst="rect">
            <a:avLst/>
          </a:prstGeom>
          <a:noFill/>
        </p:spPr>
        <p:txBody>
          <a:bodyPr wrap="square" anchor="ctr" lIns="27432" rIns="27432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2000" b="0" i="0">
                <a:solidFill>
                  <a:srgbClr val="111111"/>
                </a:solidFill>
                <a:latin typeface="Calibri"/>
              </a:rPr>
              <a:t>Spolspänning i vila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2734056"/>
            <a:ext cx="8046720" cy="566928"/>
          </a:xfrm>
          <a:prstGeom prst="rect">
            <a:avLst/>
          </a:prstGeom>
          <a:solidFill>
            <a:srgbClr val="F2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685800" y="2734056"/>
            <a:ext cx="1737360" cy="566928"/>
          </a:xfrm>
          <a:prstGeom prst="rect">
            <a:avLst/>
          </a:prstGeom>
          <a:noFill/>
        </p:spPr>
        <p:txBody>
          <a:bodyPr wrap="square" anchor="ctr" lIns="27432" rIns="27432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2000" b="1" i="0">
                <a:solidFill>
                  <a:srgbClr val="111111"/>
                </a:solidFill>
                <a:latin typeface="Calibri"/>
              </a:rPr>
              <a:t>Övning 3.7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468880" y="2734056"/>
            <a:ext cx="6035040" cy="566928"/>
          </a:xfrm>
          <a:prstGeom prst="rect">
            <a:avLst/>
          </a:prstGeom>
          <a:noFill/>
        </p:spPr>
        <p:txBody>
          <a:bodyPr wrap="square" anchor="ctr" lIns="27432" rIns="27432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2000" b="0" i="0">
                <a:solidFill>
                  <a:srgbClr val="111111"/>
                </a:solidFill>
                <a:latin typeface="Calibri"/>
              </a:rPr>
              <a:t>Spolspänning under start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3410712"/>
            <a:ext cx="8046720" cy="566928"/>
          </a:xfrm>
          <a:prstGeom prst="rect">
            <a:avLst/>
          </a:prstGeom>
          <a:solidFill>
            <a:srgbClr val="F2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685800" y="3410712"/>
            <a:ext cx="1737360" cy="566928"/>
          </a:xfrm>
          <a:prstGeom prst="rect">
            <a:avLst/>
          </a:prstGeom>
          <a:noFill/>
        </p:spPr>
        <p:txBody>
          <a:bodyPr wrap="square" anchor="ctr" lIns="27432" rIns="27432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2000" b="1" i="0">
                <a:solidFill>
                  <a:srgbClr val="111111"/>
                </a:solidFill>
                <a:latin typeface="Calibri"/>
              </a:rPr>
              <a:t>Övning 3.9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468880" y="3410712"/>
            <a:ext cx="6035040" cy="566928"/>
          </a:xfrm>
          <a:prstGeom prst="rect">
            <a:avLst/>
          </a:prstGeom>
          <a:noFill/>
        </p:spPr>
        <p:txBody>
          <a:bodyPr wrap="square" anchor="ctr" lIns="27432" rIns="27432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2000" b="0" i="0">
                <a:solidFill>
                  <a:srgbClr val="111111"/>
                </a:solidFill>
                <a:latin typeface="Calibri"/>
              </a:rPr>
              <a:t>Brist i en ritning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4224528"/>
            <a:ext cx="8046720" cy="1673351"/>
          </a:xfrm>
          <a:prstGeom prst="rect">
            <a:avLst/>
          </a:prstGeom>
          <a:noFill/>
        </p:spPr>
        <p:txBody>
          <a:bodyPr wrap="square" anchor="t" lIns="27432" rIns="27432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800"/>
              </a:spcAft>
            </a:pPr>
            <a:r>
              <a:rPr sz="1900" b="0" i="0">
                <a:solidFill>
                  <a:srgbClr val="111111"/>
                </a:solidFill>
                <a:latin typeface="Calibri"/>
              </a:rPr>
              <a:t>Fem minuter per övning: försök själv, använd ledtråd vid behov och jämför sedan med facit. Ange mätpunkter och driftläge i 3.6–3.7. Spara din motivering.</a:t>
            </a:r>
          </a:p>
          <a:p>
            <a:pPr algn="l">
              <a:lnSpc>
                <a:spcPct val="108000"/>
              </a:lnSpc>
              <a:spcAft>
                <a:spcPts val="800"/>
              </a:spcAft>
            </a:pPr>
            <a:r>
              <a:rPr sz="1400" b="0" i="0">
                <a:solidFill>
                  <a:srgbClr val="4A4A4A"/>
                </a:solidFill>
                <a:latin typeface="Calibri"/>
              </a:rPr>
              <a:t>nj22az.github.io/sjoskolan/vecka-43/aktuell/Del_3.html</a:t>
            </a:r>
          </a:p>
        </p:txBody>
      </p:sp>
      <p:pic>
        <p:nvPicPr>
          <p:cNvPr id="15" name="Picture 14" descr="sidfo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6099048"/>
            <a:ext cx="9144000" cy="758952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1463040" y="6400800"/>
            <a:ext cx="6217920" cy="310896"/>
          </a:xfrm>
          <a:prstGeom prst="rect">
            <a:avLst/>
          </a:prstGeom>
          <a:noFill/>
        </p:spPr>
        <p:txBody>
          <a:bodyPr wrap="square" anchor="t" lIns="27432" rIns="27432" tIns="18288" bIns="18288">
            <a:spAutoFit/>
          </a:bodyPr>
          <a:lstStyle/>
          <a:p>
            <a:pPr algn="ctr">
              <a:lnSpc>
                <a:spcPct val="108000"/>
              </a:lnSpc>
              <a:spcAft>
                <a:spcPts val="0"/>
              </a:spcAft>
            </a:pPr>
            <a:r>
              <a:rPr sz="1200" b="0" i="0">
                <a:solidFill>
                  <a:srgbClr val="FFFFFF"/>
                </a:solidFill>
                <a:latin typeface="Calibri"/>
              </a:rPr>
              <a:t>Vecka 43 · Fredag · Elscheman och dokumentation  ·  Del 3 · 4 Övningar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010144" y="6400800"/>
            <a:ext cx="704088" cy="310896"/>
          </a:xfrm>
          <a:prstGeom prst="rect">
            <a:avLst/>
          </a:prstGeom>
          <a:noFill/>
        </p:spPr>
        <p:txBody>
          <a:bodyPr wrap="square" anchor="t" lIns="27432" rIns="27432" tIns="18288" bIns="18288">
            <a:spAutoFit/>
          </a:bodyPr>
          <a:lstStyle/>
          <a:p>
            <a:pPr algn="r">
              <a:lnSpc>
                <a:spcPct val="108000"/>
              </a:lnSpc>
              <a:spcAft>
                <a:spcPts val="0"/>
              </a:spcAft>
            </a:pPr>
            <a:r>
              <a:rPr sz="1500" b="0" i="0">
                <a:solidFill>
                  <a:srgbClr val="FFFFFF"/>
                </a:solidFill>
                <a:latin typeface="Calibri"/>
              </a:rP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9184"/>
            <a:ext cx="8046720" cy="731520"/>
          </a:xfrm>
          <a:prstGeom prst="rect">
            <a:avLst/>
          </a:prstGeom>
          <a:noFill/>
        </p:spPr>
        <p:txBody>
          <a:bodyPr wrap="square" anchor="b" lIns="27432" rIns="27432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3000" b="1" i="0">
                <a:solidFill>
                  <a:srgbClr val="111111"/>
                </a:solidFill>
                <a:latin typeface="Calibri"/>
              </a:rPr>
              <a:t>Avslutsfråga</a:t>
            </a:r>
          </a:p>
        </p:txBody>
      </p:sp>
      <p:sp>
        <p:nvSpPr>
          <p:cNvPr id="3" name="Rectangle 2"/>
          <p:cNvSpPr/>
          <p:nvPr/>
        </p:nvSpPr>
        <p:spPr>
          <a:xfrm>
            <a:off x="576072" y="1097280"/>
            <a:ext cx="822960" cy="64008"/>
          </a:xfrm>
          <a:prstGeom prst="rect">
            <a:avLst/>
          </a:prstGeom>
          <a:solidFill>
            <a:srgbClr val="E87BA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548640" y="1828800"/>
            <a:ext cx="8046720" cy="2011680"/>
          </a:xfrm>
          <a:prstGeom prst="rect">
            <a:avLst/>
          </a:prstGeom>
          <a:noFill/>
        </p:spPr>
        <p:txBody>
          <a:bodyPr wrap="square" anchor="ctr" lIns="27432" rIns="27432" tIns="18288" bIns="18288">
            <a:spAutoFit/>
          </a:bodyPr>
          <a:lstStyle/>
          <a:p>
            <a:pPr algn="l">
              <a:lnSpc>
                <a:spcPct val="105000"/>
              </a:lnSpc>
              <a:spcAft>
                <a:spcPts val="800"/>
              </a:spcAft>
            </a:pPr>
            <a:r>
              <a:rPr sz="3200" b="1" i="0">
                <a:solidFill>
                  <a:srgbClr val="111111"/>
                </a:solidFill>
                <a:latin typeface="Calibri"/>
              </a:rPr>
              <a:t>Vilka två punkter och vilket driftläge hör till ditt förväntade mätvärde?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4069080"/>
            <a:ext cx="8046720" cy="1463040"/>
          </a:xfrm>
          <a:prstGeom prst="rect">
            <a:avLst/>
          </a:prstGeom>
          <a:noFill/>
        </p:spPr>
        <p:txBody>
          <a:bodyPr wrap="square" anchor="t" lIns="27432" rIns="27432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800"/>
              </a:spcAft>
            </a:pPr>
            <a:r>
              <a:rPr sz="2000" b="0" i="0">
                <a:solidFill>
                  <a:srgbClr val="4A4A4A"/>
                </a:solidFill>
                <a:latin typeface="Calibri"/>
              </a:rPr>
              <a:t>Inlämning 3 bygger på hållkretsen: nödstoppet S2, lampan H1, kretsens fem lägen och en felsökningsrad. Inlämningen senast i dag, fredag 23 oktober.</a:t>
            </a:r>
          </a:p>
        </p:txBody>
      </p:sp>
      <p:pic>
        <p:nvPicPr>
          <p:cNvPr id="6" name="Picture 5" descr="sidfo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6099048"/>
            <a:ext cx="9144000" cy="758952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463040" y="6400800"/>
            <a:ext cx="6217920" cy="310896"/>
          </a:xfrm>
          <a:prstGeom prst="rect">
            <a:avLst/>
          </a:prstGeom>
          <a:noFill/>
        </p:spPr>
        <p:txBody>
          <a:bodyPr wrap="square" anchor="t" lIns="27432" rIns="27432" tIns="18288" bIns="18288">
            <a:spAutoFit/>
          </a:bodyPr>
          <a:lstStyle/>
          <a:p>
            <a:pPr algn="ctr">
              <a:lnSpc>
                <a:spcPct val="108000"/>
              </a:lnSpc>
              <a:spcAft>
                <a:spcPts val="0"/>
              </a:spcAft>
            </a:pPr>
            <a:r>
              <a:rPr sz="1200" b="0" i="0">
                <a:solidFill>
                  <a:srgbClr val="FFFFFF"/>
                </a:solidFill>
                <a:latin typeface="Calibri"/>
              </a:rPr>
              <a:t>Vecka 43 · Fredag · Elscheman och dokumentation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10144" y="6400800"/>
            <a:ext cx="704088" cy="310896"/>
          </a:xfrm>
          <a:prstGeom prst="rect">
            <a:avLst/>
          </a:prstGeom>
          <a:noFill/>
        </p:spPr>
        <p:txBody>
          <a:bodyPr wrap="square" anchor="t" lIns="27432" rIns="27432" tIns="18288" bIns="18288">
            <a:spAutoFit/>
          </a:bodyPr>
          <a:lstStyle/>
          <a:p>
            <a:pPr algn="r">
              <a:lnSpc>
                <a:spcPct val="108000"/>
              </a:lnSpc>
              <a:spcAft>
                <a:spcPts val="0"/>
              </a:spcAft>
            </a:pPr>
            <a:r>
              <a:rPr sz="1500" b="0" i="0">
                <a:solidFill>
                  <a:srgbClr val="FFFFFF"/>
                </a:solidFill>
                <a:latin typeface="Calibri"/>
              </a:rPr>
              <a:t>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9184"/>
            <a:ext cx="8046720" cy="731520"/>
          </a:xfrm>
          <a:prstGeom prst="rect">
            <a:avLst/>
          </a:prstGeom>
          <a:noFill/>
        </p:spPr>
        <p:txBody>
          <a:bodyPr wrap="square" anchor="b" lIns="27432" rIns="27432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3000" b="1" i="0">
                <a:solidFill>
                  <a:srgbClr val="111111"/>
                </a:solidFill>
                <a:latin typeface="Calibri"/>
              </a:rPr>
              <a:t>Sammanfattning</a:t>
            </a:r>
          </a:p>
        </p:txBody>
      </p:sp>
      <p:sp>
        <p:nvSpPr>
          <p:cNvPr id="3" name="Rectangle 2"/>
          <p:cNvSpPr/>
          <p:nvPr/>
        </p:nvSpPr>
        <p:spPr>
          <a:xfrm>
            <a:off x="576072" y="1097280"/>
            <a:ext cx="822960" cy="64008"/>
          </a:xfrm>
          <a:prstGeom prst="rect">
            <a:avLst/>
          </a:prstGeom>
          <a:solidFill>
            <a:srgbClr val="E87BA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548640" y="1463040"/>
            <a:ext cx="8046720" cy="4434840"/>
          </a:xfrm>
          <a:prstGeom prst="rect">
            <a:avLst/>
          </a:prstGeom>
          <a:noFill/>
        </p:spPr>
        <p:txBody>
          <a:bodyPr wrap="square" anchor="t" lIns="27432" rIns="27432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1400"/>
              </a:spcAft>
            </a:pPr>
            <a:r>
              <a:rPr sz="2100" b="0" i="0">
                <a:solidFill>
                  <a:srgbClr val="111111"/>
                </a:solidFill>
                <a:latin typeface="Calibri"/>
              </a:rPr>
              <a:t>1. En symbol visar funktion och en beteckning identifierar apparaten. Huvudströmsschemat visar kraftvägen, styrströmsschemat villkoren för manövern.</a:t>
            </a:r>
          </a:p>
          <a:p>
            <a:pPr algn="l">
              <a:lnSpc>
                <a:spcPct val="108000"/>
              </a:lnSpc>
              <a:spcAft>
                <a:spcPts val="1400"/>
              </a:spcAft>
            </a:pPr>
            <a:r>
              <a:rPr sz="2100" b="0" i="0">
                <a:solidFill>
                  <a:srgbClr val="111111"/>
                </a:solidFill>
                <a:latin typeface="Calibri"/>
              </a:rPr>
              <a:t>2. I hållkretsen ligger STOPP (NC) i serie med två parallella vägar: START (NO) och K1:s hållkontakt (NO).</a:t>
            </a:r>
          </a:p>
          <a:p>
            <a:pPr algn="l">
              <a:lnSpc>
                <a:spcPct val="108000"/>
              </a:lnSpc>
              <a:spcAft>
                <a:spcPts val="1400"/>
              </a:spcAft>
            </a:pPr>
            <a:r>
              <a:rPr sz="2100" b="0" i="0">
                <a:solidFill>
                  <a:srgbClr val="111111"/>
                </a:solidFill>
                <a:latin typeface="Calibri"/>
              </a:rPr>
              <a:t>3. Ett mätvärde gäller två punkter i ett driftläge. Kontrollera att schemat stämmer med anläggningen.</a:t>
            </a:r>
          </a:p>
        </p:txBody>
      </p:sp>
      <p:pic>
        <p:nvPicPr>
          <p:cNvPr id="5" name="Picture 4" descr="sidfo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6099048"/>
            <a:ext cx="9144000" cy="758952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463040" y="6400800"/>
            <a:ext cx="6217920" cy="310896"/>
          </a:xfrm>
          <a:prstGeom prst="rect">
            <a:avLst/>
          </a:prstGeom>
          <a:noFill/>
        </p:spPr>
        <p:txBody>
          <a:bodyPr wrap="square" anchor="t" lIns="27432" rIns="27432" tIns="18288" bIns="18288">
            <a:spAutoFit/>
          </a:bodyPr>
          <a:lstStyle/>
          <a:p>
            <a:pPr algn="ctr">
              <a:lnSpc>
                <a:spcPct val="108000"/>
              </a:lnSpc>
              <a:spcAft>
                <a:spcPts val="0"/>
              </a:spcAft>
            </a:pPr>
            <a:r>
              <a:rPr sz="1200" b="0" i="0">
                <a:solidFill>
                  <a:srgbClr val="FFFFFF"/>
                </a:solidFill>
                <a:latin typeface="Calibri"/>
              </a:rPr>
              <a:t>Vecka 43 · Fredag · Elscheman och dokumentation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010144" y="6400800"/>
            <a:ext cx="704088" cy="310896"/>
          </a:xfrm>
          <a:prstGeom prst="rect">
            <a:avLst/>
          </a:prstGeom>
          <a:noFill/>
        </p:spPr>
        <p:txBody>
          <a:bodyPr wrap="square" anchor="t" lIns="27432" rIns="27432" tIns="18288" bIns="18288">
            <a:spAutoFit/>
          </a:bodyPr>
          <a:lstStyle/>
          <a:p>
            <a:pPr algn="r">
              <a:lnSpc>
                <a:spcPct val="108000"/>
              </a:lnSpc>
              <a:spcAft>
                <a:spcPts val="0"/>
              </a:spcAft>
            </a:pPr>
            <a:r>
              <a:rPr sz="1500" b="0" i="0">
                <a:solidFill>
                  <a:srgbClr val="FFFFFF"/>
                </a:solidFill>
                <a:latin typeface="Calibri"/>
              </a:rPr>
              <a:t>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9184"/>
            <a:ext cx="8046720" cy="731520"/>
          </a:xfrm>
          <a:prstGeom prst="rect">
            <a:avLst/>
          </a:prstGeom>
          <a:noFill/>
        </p:spPr>
        <p:txBody>
          <a:bodyPr wrap="square" anchor="b" lIns="27432" rIns="27432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3000" b="1" i="0">
                <a:solidFill>
                  <a:srgbClr val="111111"/>
                </a:solidFill>
                <a:latin typeface="Calibri"/>
              </a:rPr>
              <a:t>Det här gör du nu</a:t>
            </a:r>
          </a:p>
        </p:txBody>
      </p:sp>
      <p:sp>
        <p:nvSpPr>
          <p:cNvPr id="3" name="Rectangle 2"/>
          <p:cNvSpPr/>
          <p:nvPr/>
        </p:nvSpPr>
        <p:spPr>
          <a:xfrm>
            <a:off x="576072" y="1097280"/>
            <a:ext cx="822960" cy="64008"/>
          </a:xfrm>
          <a:prstGeom prst="rect">
            <a:avLst/>
          </a:prstGeom>
          <a:solidFill>
            <a:srgbClr val="E87BA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548640" y="1463040"/>
            <a:ext cx="8046720" cy="4434840"/>
          </a:xfrm>
          <a:prstGeom prst="rect">
            <a:avLst/>
          </a:prstGeom>
          <a:noFill/>
        </p:spPr>
        <p:txBody>
          <a:bodyPr wrap="square" anchor="t" lIns="27432" rIns="27432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1400"/>
              </a:spcAft>
            </a:pPr>
            <a:r>
              <a:rPr sz="2000" b="0" i="0">
                <a:solidFill>
                  <a:srgbClr val="111111"/>
                </a:solidFill>
                <a:latin typeface="Calibri"/>
              </a:rPr>
              <a:t>1. Frivillig extra träning: övning 3.8 och 3.10. Prioritera inlämningen. Ledtrådar och facit finns på delsidan.</a:t>
            </a:r>
          </a:p>
          <a:p>
            <a:pPr algn="l">
              <a:lnSpc>
                <a:spcPct val="108000"/>
              </a:lnSpc>
              <a:spcAft>
                <a:spcPts val="1400"/>
              </a:spcAft>
            </a:pPr>
            <a:r>
              <a:rPr sz="2000" b="0" i="0">
                <a:solidFill>
                  <a:srgbClr val="111111"/>
                </a:solidFill>
                <a:latin typeface="Calibri"/>
              </a:rPr>
              <a:t>2. Hållkretslabbet: välj ”Ny felmodul”, felsök det dolda felet och fyll i labbprotokollet. Protokollet är underlaget till felsökningsrapporten.</a:t>
            </a:r>
          </a:p>
          <a:p>
            <a:pPr algn="l">
              <a:lnSpc>
                <a:spcPct val="108000"/>
              </a:lnSpc>
              <a:spcAft>
                <a:spcPts val="1400"/>
              </a:spcAft>
            </a:pPr>
            <a:r>
              <a:rPr sz="2000" b="0" i="0">
                <a:solidFill>
                  <a:srgbClr val="111111"/>
                </a:solidFill>
                <a:latin typeface="Calibri"/>
              </a:rPr>
              <a:t>3. Efter pausen 10.00: del 4, Systematisk felsökning.</a:t>
            </a:r>
          </a:p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700" b="0" i="0">
                <a:solidFill>
                  <a:srgbClr val="4A4A4A"/>
                </a:solidFill>
                <a:latin typeface="Calibri"/>
              </a:rPr>
              <a:t>Inlämningen, uppgift 1–4, senast i dag, fredag 23 oktober. Allt finns på veckosidan.</a:t>
            </a:r>
          </a:p>
        </p:txBody>
      </p:sp>
      <p:pic>
        <p:nvPicPr>
          <p:cNvPr id="5" name="Picture 4" descr="sidfo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6099048"/>
            <a:ext cx="9144000" cy="758952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463040" y="6400800"/>
            <a:ext cx="6217920" cy="310896"/>
          </a:xfrm>
          <a:prstGeom prst="rect">
            <a:avLst/>
          </a:prstGeom>
          <a:noFill/>
        </p:spPr>
        <p:txBody>
          <a:bodyPr wrap="square" anchor="t" lIns="27432" rIns="27432" tIns="18288" bIns="18288">
            <a:spAutoFit/>
          </a:bodyPr>
          <a:lstStyle/>
          <a:p>
            <a:pPr algn="ctr">
              <a:lnSpc>
                <a:spcPct val="108000"/>
              </a:lnSpc>
              <a:spcAft>
                <a:spcPts val="0"/>
              </a:spcAft>
            </a:pPr>
            <a:r>
              <a:rPr sz="1200" b="0" i="0">
                <a:solidFill>
                  <a:srgbClr val="FFFFFF"/>
                </a:solidFill>
                <a:latin typeface="Calibri"/>
              </a:rPr>
              <a:t>Vecka 43 · Fredag · Elscheman och dokumentation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010144" y="6400800"/>
            <a:ext cx="704088" cy="310896"/>
          </a:xfrm>
          <a:prstGeom prst="rect">
            <a:avLst/>
          </a:prstGeom>
          <a:noFill/>
        </p:spPr>
        <p:txBody>
          <a:bodyPr wrap="square" anchor="t" lIns="27432" rIns="27432" tIns="18288" bIns="18288">
            <a:spAutoFit/>
          </a:bodyPr>
          <a:lstStyle/>
          <a:p>
            <a:pPr algn="r">
              <a:lnSpc>
                <a:spcPct val="108000"/>
              </a:lnSpc>
              <a:spcAft>
                <a:spcPts val="0"/>
              </a:spcAft>
            </a:pPr>
            <a:r>
              <a:rPr sz="1500" b="0" i="0">
                <a:solidFill>
                  <a:srgbClr val="FFFFFF"/>
                </a:solidFill>
                <a:latin typeface="Calibri"/>
              </a:rPr>
              <a:t>17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9184"/>
            <a:ext cx="8046720" cy="731520"/>
          </a:xfrm>
          <a:prstGeom prst="rect">
            <a:avLst/>
          </a:prstGeom>
          <a:noFill/>
        </p:spPr>
        <p:txBody>
          <a:bodyPr wrap="square" anchor="b" lIns="27432" rIns="27432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3000" b="1" i="0">
                <a:solidFill>
                  <a:srgbClr val="111111"/>
                </a:solidFill>
                <a:latin typeface="Calibri"/>
              </a:rPr>
              <a:t>Källor och fortsatt läsning</a:t>
            </a:r>
          </a:p>
        </p:txBody>
      </p:sp>
      <p:sp>
        <p:nvSpPr>
          <p:cNvPr id="3" name="Rectangle 2"/>
          <p:cNvSpPr/>
          <p:nvPr/>
        </p:nvSpPr>
        <p:spPr>
          <a:xfrm>
            <a:off x="576072" y="1097280"/>
            <a:ext cx="822960" cy="64008"/>
          </a:xfrm>
          <a:prstGeom prst="rect">
            <a:avLst/>
          </a:prstGeom>
          <a:solidFill>
            <a:srgbClr val="E87BA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548640" y="1463040"/>
            <a:ext cx="8046720" cy="384048"/>
          </a:xfrm>
          <a:prstGeom prst="rect">
            <a:avLst/>
          </a:prstGeom>
          <a:noFill/>
        </p:spPr>
        <p:txBody>
          <a:bodyPr wrap="square" anchor="t" lIns="27432" rIns="27432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700" b="0" i="0">
                <a:solidFill>
                  <a:srgbClr val="064F91"/>
                </a:solidFill>
                <a:latin typeface="Calibri"/>
                <a:hlinkClick r:id="rId2"/>
              </a:rPr>
              <a:t>Sjöskolan: vecka 43, del 3 Elscheman och dokumentation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920240"/>
            <a:ext cx="8046720" cy="384048"/>
          </a:xfrm>
          <a:prstGeom prst="rect">
            <a:avLst/>
          </a:prstGeom>
          <a:noFill/>
        </p:spPr>
        <p:txBody>
          <a:bodyPr wrap="square" anchor="t" lIns="27432" rIns="27432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700" b="0" i="0">
                <a:solidFill>
                  <a:srgbClr val="111111"/>
                </a:solidFill>
                <a:latin typeface="Calibri"/>
              </a:rPr>
              <a:t>Studieplanen YH03151, 18 september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377440"/>
            <a:ext cx="8046720" cy="384048"/>
          </a:xfrm>
          <a:prstGeom prst="rect">
            <a:avLst/>
          </a:prstGeom>
          <a:noFill/>
        </p:spPr>
        <p:txBody>
          <a:bodyPr wrap="square" anchor="t" lIns="27432" rIns="27432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700" b="0" i="0">
                <a:solidFill>
                  <a:srgbClr val="064F91"/>
                </a:solidFill>
                <a:latin typeface="Calibri"/>
                <a:hlinkClick r:id="rId3"/>
              </a:rPr>
              <a:t>IEC 60617, grafiska symboler för elscheman (IEC)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834640"/>
            <a:ext cx="8046720" cy="384048"/>
          </a:xfrm>
          <a:prstGeom prst="rect">
            <a:avLst/>
          </a:prstGeom>
          <a:noFill/>
        </p:spPr>
        <p:txBody>
          <a:bodyPr wrap="square" anchor="t" lIns="27432" rIns="27432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700" b="0" i="0">
                <a:solidFill>
                  <a:srgbClr val="064F91"/>
                </a:solidFill>
                <a:latin typeface="Calibri"/>
                <a:hlinkClick r:id="rId4"/>
              </a:rPr>
              <a:t>Fluke: multimeterns funktioner och mätning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3291840"/>
            <a:ext cx="8046720" cy="384048"/>
          </a:xfrm>
          <a:prstGeom prst="rect">
            <a:avLst/>
          </a:prstGeom>
          <a:noFill/>
        </p:spPr>
        <p:txBody>
          <a:bodyPr wrap="square" anchor="t" lIns="27432" rIns="27432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700" b="0" i="0">
                <a:solidFill>
                  <a:srgbClr val="064F91"/>
                </a:solidFill>
                <a:latin typeface="Calibri"/>
                <a:hlinkClick r:id="rId5"/>
              </a:rPr>
              <a:t>Schneider Electric: samordning av skydd</a:t>
            </a:r>
          </a:p>
        </p:txBody>
      </p:sp>
      <p:pic>
        <p:nvPicPr>
          <p:cNvPr id="9" name="Picture 8" descr="sidfot.jp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0" y="6099048"/>
            <a:ext cx="9144000" cy="758952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1463040" y="6400800"/>
            <a:ext cx="6217920" cy="310896"/>
          </a:xfrm>
          <a:prstGeom prst="rect">
            <a:avLst/>
          </a:prstGeom>
          <a:noFill/>
        </p:spPr>
        <p:txBody>
          <a:bodyPr wrap="square" anchor="t" lIns="27432" rIns="27432" tIns="18288" bIns="18288">
            <a:spAutoFit/>
          </a:bodyPr>
          <a:lstStyle/>
          <a:p>
            <a:pPr algn="ctr">
              <a:lnSpc>
                <a:spcPct val="108000"/>
              </a:lnSpc>
              <a:spcAft>
                <a:spcPts val="0"/>
              </a:spcAft>
            </a:pPr>
            <a:r>
              <a:rPr sz="1200" b="0" i="0">
                <a:solidFill>
                  <a:srgbClr val="FFFFFF"/>
                </a:solidFill>
                <a:latin typeface="Calibri"/>
              </a:rPr>
              <a:t>Vecka 43 · Fredag · Elscheman och dokumentation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10144" y="6400800"/>
            <a:ext cx="704088" cy="310896"/>
          </a:xfrm>
          <a:prstGeom prst="rect">
            <a:avLst/>
          </a:prstGeom>
          <a:noFill/>
        </p:spPr>
        <p:txBody>
          <a:bodyPr wrap="square" anchor="t" lIns="27432" rIns="27432" tIns="18288" bIns="18288">
            <a:spAutoFit/>
          </a:bodyPr>
          <a:lstStyle/>
          <a:p>
            <a:pPr algn="r">
              <a:lnSpc>
                <a:spcPct val="108000"/>
              </a:lnSpc>
              <a:spcAft>
                <a:spcPts val="0"/>
              </a:spcAft>
            </a:pPr>
            <a:r>
              <a:rPr sz="1500" b="0" i="0">
                <a:solidFill>
                  <a:srgbClr val="FFFFFF"/>
                </a:solidFill>
                <a:latin typeface="Calibri"/>
              </a:rPr>
              <a:t>18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-tema">
  <a:themeElements>
    <a:clrScheme name="Office-tema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-tema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-tema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Properties xmlns="http://schemas.openxmlformats.org/officeDocument/2006/extended-properties">
  <Application>Microsoft PowerPoint</Application>
  <Slides>36</Slides>
  <Notes>0</Notes>
  <HiddenSlides>0</HiddenSlides>
</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2026-09-20T20:09:37.2430000Z</dcterms:created>
  <dcterms:modified xsi:type="dcterms:W3CDTF">2026-09-20T20:09:37.2430000Z</dcterms:modified>
</coreProperties>
</file>