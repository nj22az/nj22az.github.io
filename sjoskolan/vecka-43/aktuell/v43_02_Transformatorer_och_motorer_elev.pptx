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3/aktuell/Del_2.html" TargetMode="External"/><Relationship Id="rId3" Type="http://schemas.openxmlformats.org/officeDocument/2006/relationships/hyperlink" Target="https://nj22az.github.io/sjoskolan/motorlabbet/" TargetMode="External"/><Relationship Id="rId4" Type="http://schemas.openxmlformats.org/officeDocument/2006/relationships/hyperlink" Target="https://library.e.abb.com/public/e670a466d31e469a80e653b759f40091/ACS580_technical_eBook_3AUA0000197173 RevB_EN.pdf" TargetMode="External"/><Relationship Id="rId5" Type="http://schemas.openxmlformats.org/officeDocument/2006/relationships/hyperlink" Target="https://library.e.abb.com/public/85bb7f53868f4d549e537374c191838b/EN_ACS260-04_B_A4.pdf" TargetMode="External"/><Relationship Id="rId6" Type="http://schemas.openxmlformats.org/officeDocument/2006/relationships/hyperlink" Target="https://www.electrical-installation.org/enwiki/Installed_apparent_power_%28kVA%29" TargetMode="External"/><Relationship Id="rId7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3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1645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Transformatorer och motorer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Asynkronmotor, startutrustning och frekvensomriktare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43 · Tisdag 20 oktober · 15.00–17.00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2 av 4 · Elteknik och ellära</a:t>
            </a:r>
          </a:p>
        </p:txBody>
      </p:sp>
      <p:sp>
        <p:nvSpPr>
          <p:cNvPr id="8" name="Dag: Tisdag 20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24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Tisdag 20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0" i="0">
                <a:solidFill>
                  <a:srgbClr val="111111"/>
                </a:solidFill>
                <a:latin typeface="Calibri"/>
              </a:rPr>
              <a:t>Du känner igen vanliga komponenter, skydd och mätinstrument och vet vad de gör.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Komponenter och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401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37744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0" i="0">
                <a:solidFill>
                  <a:srgbClr val="111111"/>
                </a:solidFill>
                <a:latin typeface="Calibri"/>
              </a:rPr>
              <a:t>Du kan förklara hur el kan skada och hur man arbetar säkert, vid både låg och hög spänning.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Elsäkerhet och regler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8046720" cy="1965959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använda transformatorns omsättning och motorns varvtalssamband.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beskriva start och varvtalsreglering på funktionsnivå.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förklara varför en frekvensomriktare kan vara farlig efter frånkoppling.</a:t>
            </a:r>
          </a:p>
        </p:txBody>
      </p:sp>
      <p:pic>
        <p:nvPicPr>
          <p:cNvPr id="10" name="Picture 9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Varför går en fyrpolig asynkronmotor något långsammare än fältets synkrona varvtal?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en gissning i chatten med några ord.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10080"/>
            <a:ext cx="1005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10080"/>
            <a:ext cx="6720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Transformatorn och det roterande fältet (avsnitt 1–3) och ett exempel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02840"/>
            <a:ext cx="1005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402840"/>
            <a:ext cx="6720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2.1–2.4 tillsammans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95600"/>
            <a:ext cx="1005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895600"/>
            <a:ext cx="6720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Eftersläpning (avsnitt 4) och ett exempel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88360"/>
            <a:ext cx="1005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388360"/>
            <a:ext cx="6720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2.5 tillsammans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81120"/>
            <a:ext cx="8046720" cy="437896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0080" y="3881120"/>
            <a:ext cx="1005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881120"/>
            <a:ext cx="6720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73880"/>
            <a:ext cx="1005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373880"/>
            <a:ext cx="6720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Start, frekvensomriktare och felsökning (avsnitt 5–7)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866640"/>
            <a:ext cx="1005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866640"/>
            <a:ext cx="6720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Veckans labb: Hållkretslabbet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359400"/>
            <a:ext cx="1005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5359400"/>
            <a:ext cx="6720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23" name="Picture 22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Transformator och roterande maskin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Håll isär beteckningarna: N, n, n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s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, p, s och η.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Transformatorns N betyder antal lindningsvarv.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Motorns n betyder varvtal i r/min. n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gäller magnetfältet.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p är antalet poler i formeln n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 = 120f/p.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 beskriver eftersläpning. η beskriver förhållandet mellan uteffekt och inmatning.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Transformatorns omsättning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1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/U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2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 = N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1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/N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2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En växlande magnetisk koppling överför energi mellan lindningarna.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Den ideala modellen försummar förluster: U</a:t>
            </a:r>
            <a:r>
              <a:rPr sz="1900" b="0" i="0" baseline="-25000">
                <a:solidFill>
                  <a:srgbClr val="111111"/>
                </a:solidFill>
                <a:latin typeface="Calibri"/>
              </a:rPr>
              <a:t>1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 · I</a:t>
            </a:r>
            <a:r>
              <a:rPr sz="1900" b="0" i="0" baseline="-25000">
                <a:solidFill>
                  <a:srgbClr val="111111"/>
                </a:solidFill>
                <a:latin typeface="Calibri"/>
              </a:rPr>
              <a:t>1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 = U</a:t>
            </a:r>
            <a:r>
              <a:rPr sz="19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 · I</a:t>
            </a:r>
            <a:r>
              <a:rPr sz="19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440 V till 110 V ger omsättningen 4:1.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2 A på sekundären motsvarar idealt 0,50 A på primären.</a:t>
            </a:r>
          </a:p>
        </p:txBody>
      </p:sp>
      <p:pic>
        <p:nvPicPr>
          <p:cNvPr id="5" name="Figur: Ideal transformator med en primär- och en sekundärlindning: 440 V på primärsidan och 110 V på sekundärsidan." descr="Ideal transformator med en primär- och en sekundärlindning: 440 V på primärsidan och 110 V på sekundärsida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289195"/>
            <a:ext cx="3794760" cy="2645368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avsnitt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ideal transformator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Ideal styrtransformator till en kontaktors manöverkrets: U</a:t>
            </a:r>
            <a:r>
              <a:rPr sz="1900" b="0" i="1" baseline="-25000">
                <a:solidFill>
                  <a:srgbClr val="4A4A4A"/>
                </a:solidFill>
                <a:latin typeface="Calibri"/>
              </a:rPr>
              <a:t>1</a:t>
            </a:r>
            <a:r>
              <a:rPr sz="1900" b="0" i="1">
                <a:solidFill>
                  <a:srgbClr val="4A4A4A"/>
                </a:solidFill>
                <a:latin typeface="Calibri"/>
              </a:rPr>
              <a:t> = 230 V RMS, N</a:t>
            </a:r>
            <a:r>
              <a:rPr sz="1900" b="0" i="1" baseline="-25000">
                <a:solidFill>
                  <a:srgbClr val="4A4A4A"/>
                </a:solidFill>
                <a:latin typeface="Calibri"/>
              </a:rPr>
              <a:t>1</a:t>
            </a:r>
            <a:r>
              <a:rPr sz="1900" b="0" i="1">
                <a:solidFill>
                  <a:srgbClr val="4A4A4A"/>
                </a:solidFill>
                <a:latin typeface="Calibri"/>
              </a:rPr>
              <a:t> = 460 och N</a:t>
            </a:r>
            <a:r>
              <a:rPr sz="1900" b="0" i="1" baseline="-25000">
                <a:solidFill>
                  <a:srgbClr val="4A4A4A"/>
                </a:solidFill>
                <a:latin typeface="Calibri"/>
              </a:rPr>
              <a:t>2</a:t>
            </a:r>
            <a:r>
              <a:rPr sz="1900" b="0" i="1">
                <a:solidFill>
                  <a:srgbClr val="4A4A4A"/>
                </a:solidFill>
                <a:latin typeface="Calibri"/>
              </a:rPr>
              <a:t> = 48 varv. I</a:t>
            </a:r>
            <a:r>
              <a:rPr sz="1900" b="0" i="1" baseline="-25000">
                <a:solidFill>
                  <a:srgbClr val="4A4A4A"/>
                </a:solidFill>
                <a:latin typeface="Calibri"/>
              </a:rPr>
              <a:t>2</a:t>
            </a:r>
            <a:r>
              <a:rPr sz="1900" b="0" i="1">
                <a:solidFill>
                  <a:srgbClr val="4A4A4A"/>
                </a:solidFill>
                <a:latin typeface="Calibri"/>
              </a:rPr>
              <a:t> = 2 A.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300" b="1" i="0">
                <a:solidFill>
                  <a:srgbClr val="064F91"/>
                </a:solidFill>
                <a:latin typeface="Calibri"/>
              </a:rPr>
              <a:t>U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2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 = U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1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 · N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2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/N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1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 och I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1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 = U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2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 · I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2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/U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1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U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 = 230 · 48/460 = 24 V.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Sekundär skenbar effekt S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 = 24 · 2 = 48 VA.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I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1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 = 48/230 ≈ 0,21 A.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Kontroll: 230 · 0,21 ≈ 24 · 2 = 48 VA. Modellen försummar magnetiseringsström och förluster.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exempel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Asynkronmotorns roterande fält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n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s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 = 120f/p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Statorns trefasströmmar skapar ett roterande magnetfält.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Fältets hastighet bestäms av frekvens och antal poler.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Ombord: f = 60 Hz och fyra poler (p = 4) ger n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 = 1 800 r/min.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Här är p antalet poler, inte antalet polpar.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avsnitt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2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Omsättning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Transformatorström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Synkront varvtal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087368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" y="4087368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4087368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Sex poler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901184"/>
            <a:ext cx="8046720" cy="996695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Ledtrådar och facit finns på delsidan.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nj22az.github.io/sjoskolan/vecka-43/aktuell/Del_2.html</a:t>
            </a:r>
          </a:p>
        </p:txBody>
      </p:sp>
      <p:pic>
        <p:nvPicPr>
          <p:cNvPr id="18" name="Picture 17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4 Övningar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Eftersläpning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 = (n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s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− n)/n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s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I motordrift roterar asynkronmotorns rotor långsammare än fältet.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Skillnaden behövs för induktion och moment i den vanliga modellen.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n</a:t>
            </a:r>
            <a:r>
              <a:rPr sz="19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 = 1 800 och n = 1 746 r/min ger s = 0,03 = 3 %.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Eftersläpningen varierar med belastningen.</a:t>
            </a:r>
          </a:p>
        </p:txBody>
      </p:sp>
      <p:pic>
        <p:nvPicPr>
          <p:cNvPr id="5" name="Figur: Stator med fyra poler vid 60 Hz. Fältet roterar med 1 800 r/min och rotorn med 1 746 r/min." descr="Stator med fyra poler vid 60 Hz. Fältet roterar med 1 800 r/min och rotorn med 1 746 r/mi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802914"/>
            <a:ext cx="3794760" cy="3617930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avsnitt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varvtal och eftersläpning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En åttapolig motor matas med 60 Hz. Rotorn går med 873 r/min.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300" b="1" i="0">
                <a:solidFill>
                  <a:srgbClr val="064F91"/>
                </a:solidFill>
                <a:latin typeface="Calibri"/>
              </a:rPr>
              <a:t>n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s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 = 120f/p och s% = 100(n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s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 − n)/n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s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n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 = 120 · 60/8 = 900 r/min.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Skillnad = 900 − 873 = 27 r/min.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s% = 100 · 27/900 = 3 %.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Rotorn går långsammare än fältet vid den angivna motordriften. p är åtta poler, inte fyra polpar.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exempel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2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Varvtal och eftersläpning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71216"/>
            <a:ext cx="8046720" cy="3026664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minuter. Skriv synkront varvtal i r/min och eftersläpning i procent i chatten. Övning 2.6–2.10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nj22az.github.io/sjoskolan/vecka-43/aktuell/Del_2.html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4 Övningar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4160520" y="2011680"/>
            <a:ext cx="822960" cy="7315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731520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4800" b="1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4A4A4A"/>
                </a:solidFill>
                <a:latin typeface="Calibri"/>
              </a:rPr>
              <a:t>Vi fortsätter 16.05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Startutrustning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Märkning, startström och lastmoment avgör.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Direktstart kopplar motorn till matningen genom en startapparat.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Y/Δ-start förutsätter en motor och last som passar metoden.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Ombord: en 690/1 200 V Δ/Y-motor kan vara kandidat för Y/Δ-start vid 690 V.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Y-start minskar också tillgängligt startmoment.</a:t>
            </a:r>
          </a:p>
        </p:txBody>
      </p:sp>
      <p:pic>
        <p:nvPicPr>
          <p:cNvPr id="5" name="Figur: Principskiss av startström över tid för direktstart och för Y/Δ-start med omkoppling." descr="Principskiss av startström över tid för direktstart och för Y/Δ-start med omkoppl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200780"/>
            <a:ext cx="3794760" cy="2822198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avsnitt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Frekvensomriktarens delar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300" b="1" i="0">
                <a:solidFill>
                  <a:srgbClr val="064F91"/>
                </a:solidFill>
                <a:latin typeface="Calibri"/>
              </a:rPr>
              <a:t>Nät-AC, mellanleds-DC, reglerad motorutgång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En vanlig omriktare har likriktare, DC-mellanled och växelriktare.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Utgångens frekvens och spänning styr motorns drift.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Utspänningen är ofta pulsformad. Mätmetod och instrument måste vara avsedda för omriktardrift.</a:t>
            </a:r>
          </a:p>
        </p:txBody>
      </p:sp>
      <p:pic>
        <p:nvPicPr>
          <p:cNvPr id="5" name="Figur: Frekvensomriktare: likriktare, DC-mellanled med lagrad energi och växelriktare med pulsad utgång." descr="Frekvensomriktare: likriktare, DC-mellanled med lagrad energi och växelriktare med pulsad utgå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200780"/>
            <a:ext cx="3794760" cy="2822198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avsnitt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Felsökning i motordriften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Återställning kräver klarlagd orsak.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Skilj kommando, matning, skyddstillstånd och mekanisk last.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larm är information som ska tolkas tillsammans med driftdata.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Vid ett 440 V-nät ligger mellanledet på ca 620 V DC. Det kan vara laddat efter frånkoppling.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Följ omriktarens säkerhetsanvisning: frånskilj alla energikällor, följ väntetiden och verifiera samtliga föreskrivna mätpunkter. Enbart DC+–DC− räcker inte.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Veckans labb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00" b="1" i="0">
                <a:solidFill>
                  <a:srgbClr val="064F91"/>
                </a:solidFill>
                <a:latin typeface="Calibri"/>
              </a:rPr>
              <a:t>Hållkretslabbet: Räkna först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8046720" cy="3337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3 och gör övning 3.1–3.5 först. Labben bygger på hållkretsen i del 3.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Öppna Hållkretslabbet och gör de 8 uppgifterna under Räkna först: förutsäg, läs av och jämför, förklara.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Uppgifterna ingår i inlämning 3, Hållkretsen med nödstopp.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804672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nj22az.github.io/sjoskolan/hallkretslabbet/</a:t>
            </a:r>
          </a:p>
        </p:txBody>
      </p:sp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Vilken del av en omriktare kan lagra energi efter att matningen brutits?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Uppgiften Motorns märkskylt i inlämningen bygger på del 2. Inlämningen senast fredag 23 oktober.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Transformatorn: U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1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/U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 = N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1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/N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. I den ideala modellen är effekten lika stor på båda sidor.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Motorn: fältet roterar med n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 = 120f/p, och rotorn går något långsammare. Skillnaden är eftersläpningen.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Frekvensomriktarens DC-mellanled kan vara laddat efter frånkoppling. Följ säkerhetsanvisningen.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2 och tryck på ”Jag har läst del 2” längst ned på 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2.6–2.10 på delsidan.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Gör uppgift 1 i inlämningen, motorns märkskylt.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Läs del 3 på egen hand och tryck på ”Jag har läst del 3” längst ned på 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5. Gör övning 3.1–3.5 i del 3.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6. Hållkretslabbet: gör de 8 räkna-först-uppgifterna.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7. Fredag 09.00: frågor om del 3 och del 4, Systematisk felsökning.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Inlämningen, uppgift 1–4, senast fredag 23 oktober. Allt finns på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43, del 2 Transformatorer och motorer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Sjöskolan: Motorlabbet, repetera motorn i plinten från vecka 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Kursplanen för Elteknik och ellära, lärandemål 1 och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ABB: asynkronmotor och frekvensomriktare (ACS580, teknisk e-bok)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ABB: motorns märkning och Y/Δ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6"/>
              </a:rPr>
              <a:t>Schneider Electric: skenbar effekt, verkningsgrad och effektfaktor (PF)</a:t>
            </a:r>
          </a:p>
        </p:txBody>
      </p:sp>
      <p:pic>
        <p:nvPicPr>
          <p:cNvPr id="10" name="Picture 9" descr="sidfo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