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f807577df534923" Type="http://schemas.openxmlformats.org/package/2006/relationships/metadata/core-properties" Target="docProps/core.xml"/><Relationship Id="R3b9d6d8f70c041c1" Type="http://schemas.openxmlformats.org/officeDocument/2006/relationships/officeDocument" Target="ppt/presentation.xml"/><Relationship Id="R5526252eb8614a7f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7ce7aec5e64478f"/>
  </p:sldMasterIdLst>
  <p:sldIdLst>
    <p:sldId id="256" r:id="R631df4510d9048d6"/>
    <p:sldId id="257" r:id="R4e1055336f8c471d"/>
    <p:sldId id="258" r:id="Rd18b93613b1a4128"/>
    <p:sldId id="259" r:id="R35161886395c4094"/>
    <p:sldId id="260" r:id="R61687d0a5fb94bc1"/>
    <p:sldId id="261" r:id="R932b26cfc83e4740"/>
    <p:sldId id="262" r:id="Rffa6f645a7f44789"/>
    <p:sldId id="263" r:id="R00bb6c68d24c4e74"/>
    <p:sldId id="264" r:id="R3ac6deb4171948d1"/>
    <p:sldId id="265" r:id="Ra63d1916c68a4a7a"/>
    <p:sldId id="266" r:id="R842eb32f8f8f484e"/>
    <p:sldId id="267" r:id="R02a3696f8d5f4fdd"/>
    <p:sldId id="268" r:id="R87a734932e204bf8"/>
    <p:sldId id="269" r:id="R453fa2c1ed9e4017"/>
    <p:sldId id="270" r:id="Raccadb4fd7364ee8"/>
    <p:sldId id="271" r:id="Rb9301ac8780d4a5a"/>
    <p:sldId id="272" r:id="R5c69a9de08c345bf"/>
    <p:sldId id="273" r:id="R49ea9ef861ad4f02"/>
    <p:sldId id="274" r:id="R2e2640b3839341f6"/>
    <p:sldId id="275" r:id="R184eac362bab4cf9"/>
    <p:sldId id="276" r:id="R7795811655654cd0"/>
    <p:sldId id="277" r:id="R9975a573a1b84305"/>
    <p:sldId id="278" r:id="Rc9611bb9b9624aac"/>
    <p:sldId id="279" r:id="R28f246df837d418f"/>
    <p:sldId id="280" r:id="Rf275dd37e2124ef3"/>
    <p:sldId id="281" r:id="R7f97ba08406b4177"/>
    <p:sldId id="282" r:id="R48481c2ecfbf4def"/>
    <p:sldId id="283" r:id="R23deaeae18224720"/>
    <p:sldId id="284" r:id="R40d02e114b8640ee"/>
    <p:sldId id="285" r:id="Rc8f1850b236c4a18"/>
    <p:sldId id="286" r:id="R0304c047608c4827"/>
    <p:sldId id="287" r:id="Ra64d8f6558c84dd6"/>
    <p:sldId id="288" r:id="R5b0c8b77c22f4181"/>
    <p:sldId id="289" r:id="R0fb38f1c4aa44fa8"/>
    <p:sldId id="290" r:id="R1afcb47bd0214444"/>
    <p:sldId id="291" r:id="Rccb60e5352464b0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bb6c68d24c4e74" Type="http://schemas.openxmlformats.org/officeDocument/2006/relationships/slide" Target="slides/slide8.xml"/><Relationship Id="R02a3696f8d5f4fdd" Type="http://schemas.openxmlformats.org/officeDocument/2006/relationships/slide" Target="slides/slide12.xml"/><Relationship Id="R0304c047608c4827" Type="http://schemas.openxmlformats.org/officeDocument/2006/relationships/slide" Target="slides/slide31.xml"/><Relationship Id="R0fb38f1c4aa44fa8" Type="http://schemas.openxmlformats.org/officeDocument/2006/relationships/slide" Target="slides/slide34.xml"/><Relationship Id="R184eac362bab4cf9" Type="http://schemas.openxmlformats.org/officeDocument/2006/relationships/slide" Target="slides/slide20.xml"/><Relationship Id="R1afcb47bd0214444" Type="http://schemas.openxmlformats.org/officeDocument/2006/relationships/slide" Target="slides/slide35.xml"/><Relationship Id="R21aa9442cc564088" Type="http://schemas.openxmlformats.org/officeDocument/2006/relationships/presProps" Target="presProps.xml"/><Relationship Id="R23deaeae18224720" Type="http://schemas.openxmlformats.org/officeDocument/2006/relationships/slide" Target="slides/slide28.xml"/><Relationship Id="R28f246df837d418f" Type="http://schemas.openxmlformats.org/officeDocument/2006/relationships/slide" Target="slides/slide24.xml"/><Relationship Id="R2e2640b3839341f6" Type="http://schemas.openxmlformats.org/officeDocument/2006/relationships/slide" Target="slides/slide19.xml"/><Relationship Id="R2eb9c4df10c94e65" Type="http://schemas.openxmlformats.org/officeDocument/2006/relationships/tableStyles" Target="tableStyles.xml"/><Relationship Id="R35161886395c4094" Type="http://schemas.openxmlformats.org/officeDocument/2006/relationships/slide" Target="slides/slide4.xml"/><Relationship Id="R3ac6deb4171948d1" Type="http://schemas.openxmlformats.org/officeDocument/2006/relationships/slide" Target="slides/slide9.xml"/><Relationship Id="R40d02e114b8640ee" Type="http://schemas.openxmlformats.org/officeDocument/2006/relationships/slide" Target="slides/slide29.xml"/><Relationship Id="R453fa2c1ed9e4017" Type="http://schemas.openxmlformats.org/officeDocument/2006/relationships/slide" Target="slides/slide14.xml"/><Relationship Id="R48481c2ecfbf4def" Type="http://schemas.openxmlformats.org/officeDocument/2006/relationships/slide" Target="slides/slide27.xml"/><Relationship Id="R49ea9ef861ad4f02" Type="http://schemas.openxmlformats.org/officeDocument/2006/relationships/slide" Target="slides/slide18.xml"/><Relationship Id="R4e1055336f8c471d" Type="http://schemas.openxmlformats.org/officeDocument/2006/relationships/slide" Target="slides/slide2.xml"/><Relationship Id="R5b0c8b77c22f4181" Type="http://schemas.openxmlformats.org/officeDocument/2006/relationships/slide" Target="slides/slide33.xml"/><Relationship Id="R5c69a9de08c345bf" Type="http://schemas.openxmlformats.org/officeDocument/2006/relationships/slide" Target="slides/slide17.xml"/><Relationship Id="R61687d0a5fb94bc1" Type="http://schemas.openxmlformats.org/officeDocument/2006/relationships/slide" Target="slides/slide5.xml"/><Relationship Id="R631df4510d9048d6" Type="http://schemas.openxmlformats.org/officeDocument/2006/relationships/slide" Target="slides/slide1.xml"/><Relationship Id="R64a2a02ee90f4e21" Type="http://schemas.openxmlformats.org/officeDocument/2006/relationships/theme" Target="theme/theme1.xml"/><Relationship Id="R7795811655654cd0" Type="http://schemas.openxmlformats.org/officeDocument/2006/relationships/slide" Target="slides/slide21.xml"/><Relationship Id="R7f97ba08406b4177" Type="http://schemas.openxmlformats.org/officeDocument/2006/relationships/slide" Target="slides/slide26.xml"/><Relationship Id="R842eb32f8f8f484e" Type="http://schemas.openxmlformats.org/officeDocument/2006/relationships/slide" Target="slides/slide11.xml"/><Relationship Id="R87a734932e204bf8" Type="http://schemas.openxmlformats.org/officeDocument/2006/relationships/slide" Target="slides/slide13.xml"/><Relationship Id="R89246434a23d45e2" Type="http://schemas.openxmlformats.org/officeDocument/2006/relationships/viewProps" Target="viewProps.xml"/><Relationship Id="R932b26cfc83e4740" Type="http://schemas.openxmlformats.org/officeDocument/2006/relationships/slide" Target="slides/slide6.xml"/><Relationship Id="R9975a573a1b84305" Type="http://schemas.openxmlformats.org/officeDocument/2006/relationships/slide" Target="slides/slide22.xml"/><Relationship Id="Ra63d1916c68a4a7a" Type="http://schemas.openxmlformats.org/officeDocument/2006/relationships/slide" Target="slides/slide10.xml"/><Relationship Id="Ra64d8f6558c84dd6" Type="http://schemas.openxmlformats.org/officeDocument/2006/relationships/slide" Target="slides/slide32.xml"/><Relationship Id="Raccadb4fd7364ee8" Type="http://schemas.openxmlformats.org/officeDocument/2006/relationships/slide" Target="slides/slide15.xml"/><Relationship Id="Rb9301ac8780d4a5a" Type="http://schemas.openxmlformats.org/officeDocument/2006/relationships/slide" Target="slides/slide16.xml"/><Relationship Id="Rc8f1850b236c4a18" Type="http://schemas.openxmlformats.org/officeDocument/2006/relationships/slide" Target="slides/slide30.xml"/><Relationship Id="Rc9611bb9b9624aac" Type="http://schemas.openxmlformats.org/officeDocument/2006/relationships/slide" Target="slides/slide23.xml"/><Relationship Id="Rccb60e5352464b0f" Type="http://schemas.openxmlformats.org/officeDocument/2006/relationships/slide" Target="slides/slide36.xml"/><Relationship Id="Rd18b93613b1a4128" Type="http://schemas.openxmlformats.org/officeDocument/2006/relationships/slide" Target="slides/slide3.xml"/><Relationship Id="Re7ce7aec5e64478f" Type="http://schemas.openxmlformats.org/officeDocument/2006/relationships/slideMaster" Target="slideMasters/slideMaster1.xml"/><Relationship Id="Rf275dd37e2124ef3" Type="http://schemas.openxmlformats.org/officeDocument/2006/relationships/slide" Target="slides/slide25.xml"/><Relationship Id="Rffa6f645a7f44789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d8f601184f764fe2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fd9d83f794d24cdb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a315dd89f2a340d7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edd11810cc6404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0d36a17e4b142e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62a7be9df814a0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c4996ba49ed548b0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ac6e9ce1875a426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09c9290515c4a6c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fc446716fdc4b87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869b3df71896472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60EC5A-7045-468B-890E-FC38A18B427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B53503-06D6-4FFE-B4E1-0F43F179635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953E2C-B4B5-4EDD-9B54-785EDCEB421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CE190E0-9DF7-48E4-B958-2A122430691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FABB469-461F-4776-A90F-30500C829D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7A9132-8522-4131-94F4-87CD28B16D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E62C0A3-0960-461E-AD11-66990385C15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F00C28-2B62-4A52-B8AF-E17F47201E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681BE6-9029-4B6C-8F5D-E9DA359CA7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B6DBA0-E0A6-488A-A6C0-304F17D4B7E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771AB3-5442-4008-B5EF-4A90214642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A987693-2CB2-4C94-865E-55E5A0B9D9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192F1B8-4E42-4B63-8EC1-D0A4B02069F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2146CC2-1292-4BF2-BC70-94839970D1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3A572E-5090-4810-A545-3B2913FB1B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ACB7A63-EE76-4CEF-9A39-594FC53650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7CBEF29-203C-4744-A4E3-F25BCF1EBBC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847B410-E814-4AD3-91E1-DD504A94F64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B1DE2CD-9284-4537-9260-536DEF3749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DB7DAD6-FDDA-45B6-B483-161B31890E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AE9BAE8-F202-4583-9E07-37BCE7FA10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DD9F1F-67F0-410E-A164-A3A0E90497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B1B42F-795C-4611-BFED-E75B5A93AD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325F765-01C4-4C44-B324-7FB3716B6EA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9DF2312-2407-4687-8A26-829AE615BF2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7FA3D04-4665-4811-BBD0-145AF33C3DF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89585EC-6B03-4363-A5D6-CD3F234515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E37B94A-9373-4474-9597-6F19AD97D9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E6A1589-7344-4490-91F0-6C83E3D829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19FF3A-E960-44B7-9DD8-42B4A15E02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09C908A-6CCD-4B71-B410-272B363A1A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25FAD816-B3A2-4517-AD54-FD4B32A196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FD99BBE9-B479-40E8-8AD9-23E1A6F80F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E5C4777-A0FC-4B60-95EF-4A0011D1F9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0017D7D-391D-4E69-BAA2-624974DFD2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5A900BE-0C88-4D8D-B863-E49B6B1324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EFB736-CD1A-4867-B056-EB92B77EB7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AECC635-E351-41CB-BE64-51770F27AB3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639B8AB-0AD2-4F8A-A3A7-A741A38D266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DD04ED9-64A3-4BB0-AF78-3A363994DA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40F069B-7477-483D-ABC7-BE452BBC05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C78E24E-A3B2-4F15-B3CA-2D3B511B05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F46792D-C3FE-42DB-AEE1-80E01F2034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29591FD-AD48-4810-A852-3E53FCE94DA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FDD9FE5-B98A-4AEE-841F-9AC779AE637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EAD06F6-3042-4B6C-8E93-0A459D0F02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5BA9275-33DD-4A9B-B5C9-1DC3646106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AB026DB-F8E0-456F-A9DB-871E037BB1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17B95D-82F1-45E2-8529-31DF9E5A37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F38789-D408-4679-9B67-E883394E7E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C1E98E-6155-4546-9CB7-F43DDEB3A3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872A93E-87CD-438D-9CD3-49114BE2FB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2C96BB1-82F4-4BF7-B3A8-CA92A9C5F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64299BF-2049-432F-A198-41E2D5C8A8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F1D65FB-A445-4C57-93DA-43BA76FB7C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30C5A58-6A3F-454F-A165-DA72D99788F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0A0E384-E46E-4A73-85E8-CED6580C18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7229AB2-5CA9-4A3D-B773-05F33D8DD9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2305fbeae21459d" Type="http://schemas.openxmlformats.org/officeDocument/2006/relationships/slideLayout" Target="../slideLayouts/slideLayout6.xml"/><Relationship Id="R2ba018abf7bb4aa6" Type="http://schemas.openxmlformats.org/officeDocument/2006/relationships/slideLayout" Target="../slideLayouts/slideLayout1.xml"/><Relationship Id="R453c5ebe014d4b57" Type="http://schemas.openxmlformats.org/officeDocument/2006/relationships/slideLayout" Target="../slideLayouts/slideLayout7.xml"/><Relationship Id="R463fb2b9e53849ce" Type="http://schemas.openxmlformats.org/officeDocument/2006/relationships/slideLayout" Target="../slideLayouts/slideLayout8.xml"/><Relationship Id="R4bb9e840d1eb40bc" Type="http://schemas.openxmlformats.org/officeDocument/2006/relationships/slideLayout" Target="../slideLayouts/slideLayout11.xml"/><Relationship Id="R86112e372960433b" Type="http://schemas.openxmlformats.org/officeDocument/2006/relationships/slideLayout" Target="../slideLayouts/slideLayout10.xml"/><Relationship Id="R87b81542e2534ab9" Type="http://schemas.openxmlformats.org/officeDocument/2006/relationships/slideLayout" Target="../slideLayouts/slideLayout5.xml"/><Relationship Id="Rdd82a65ed26446c3" Type="http://schemas.openxmlformats.org/officeDocument/2006/relationships/slideLayout" Target="../slideLayouts/slideLayout3.xml"/><Relationship Id="Re81128181f074cc0" Type="http://schemas.openxmlformats.org/officeDocument/2006/relationships/slideLayout" Target="../slideLayouts/slideLayout4.xml"/><Relationship Id="Re982b11b204f4d00" Type="http://schemas.openxmlformats.org/officeDocument/2006/relationships/slideLayout" Target="../slideLayouts/slideLayout2.xml"/><Relationship Id="Rf00d464c6ef14b2d" Type="http://schemas.openxmlformats.org/officeDocument/2006/relationships/theme" Target="theme/theme2.xml"/><Relationship Id="Rf983b57437084f7f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291307A-F9FC-425E-BBBB-3BD5000D16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2BD0D56-98F4-49E6-B1B2-4A38E47E1C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5179F1-EBD4-4063-909C-F3F09E4B6C4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AC0E0BC-1FDD-4BDC-8E3D-942BDE84F54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A6360FE-923E-403D-99DC-2C9F1D2A98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a018abf7bb4aa6"/>
    <p:sldLayoutId xmlns:r="http://schemas.openxmlformats.org/officeDocument/2006/relationships" id="2147483650" r:id="Re982b11b204f4d00"/>
    <p:sldLayoutId xmlns:r="http://schemas.openxmlformats.org/officeDocument/2006/relationships" id="2147483651" r:id="Rdd82a65ed26446c3"/>
    <p:sldLayoutId xmlns:r="http://schemas.openxmlformats.org/officeDocument/2006/relationships" id="2147483652" r:id="Re81128181f074cc0"/>
    <p:sldLayoutId xmlns:r="http://schemas.openxmlformats.org/officeDocument/2006/relationships" id="2147483653" r:id="R87b81542e2534ab9"/>
    <p:sldLayoutId xmlns:r="http://schemas.openxmlformats.org/officeDocument/2006/relationships" id="2147483654" r:id="R22305fbeae21459d"/>
    <p:sldLayoutId xmlns:r="http://schemas.openxmlformats.org/officeDocument/2006/relationships" id="2147483655" r:id="R453c5ebe014d4b57"/>
    <p:sldLayoutId xmlns:r="http://schemas.openxmlformats.org/officeDocument/2006/relationships" id="2147483656" r:id="R463fb2b9e53849ce"/>
    <p:sldLayoutId xmlns:r="http://schemas.openxmlformats.org/officeDocument/2006/relationships" id="2147483657" r:id="Rf983b57437084f7f"/>
    <p:sldLayoutId xmlns:r="http://schemas.openxmlformats.org/officeDocument/2006/relationships" id="2147483658" r:id="R86112e372960433b"/>
    <p:sldLayoutId xmlns:r="http://schemas.openxmlformats.org/officeDocument/2006/relationships" id="2147483659" r:id="R4bb9e840d1eb40b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bc48190a4c34d3b" Type="http://schemas.openxmlformats.org/officeDocument/2006/relationships/image" Target="../media/image.png"/><Relationship Id="R5a508b2ecedd48f7" Type="http://schemas.openxmlformats.org/officeDocument/2006/relationships/slideLayout" Target="../slideLayouts/slideLayout1.xml"/><Relationship Id="Rd5a1173389d24381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40dce8b87a084473" Type="http://schemas.openxmlformats.org/officeDocument/2006/relationships/image" Target="../media/image.jpeg"/><Relationship Id="R816e0bd93d5f4cf9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c38ebb657ae4cf8" Type="http://schemas.openxmlformats.org/officeDocument/2006/relationships/slideLayout" Target="../slideLayouts/slideLayout1.xml"/><Relationship Id="Rbe57176092394330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1ce81cb7920e47ec" Type="http://schemas.openxmlformats.org/officeDocument/2006/relationships/slideLayout" Target="../slideLayouts/slideLayout1.xml"/><Relationship Id="Rd8f21b68f3884b11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30d70c131adf42f6" Type="http://schemas.openxmlformats.org/officeDocument/2006/relationships/image" Target="../media/image.jpeg"/><Relationship Id="Rce0ea6ee04a24576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e067f462996423b" Type="http://schemas.openxmlformats.org/officeDocument/2006/relationships/slideLayout" Target="../slideLayouts/slideLayout1.xml"/><Relationship Id="R8717906d3bf04b51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6d4b12b6ce774ef7" Type="http://schemas.openxmlformats.org/officeDocument/2006/relationships/slideLayout" Target="../slideLayouts/slideLayout1.xml"/><Relationship Id="Rcf1f794e26d1499a" Type="http://schemas.openxmlformats.org/officeDocument/2006/relationships/image" Target="../media/image.jpeg"/></Relationships>
</file>

<file path=ppt/slides/_rels/slide8.xml.rels><?xml version='1.0' encoding='UTF-8' standalone='yes'?>
<Relationships xmlns="http://schemas.openxmlformats.org/package/2006/relationships"><Relationship Id="Rcb9bd9d7c4b34bca" Type="http://schemas.openxmlformats.org/officeDocument/2006/relationships/image" Target="../media/image.jpeg"/><Relationship Id="Rdf152f75e1d94ac7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ad2ddafd5d2c43d3" Type="http://schemas.openxmlformats.org/officeDocument/2006/relationships/slideLayout" Target="../slideLayouts/slideLayout1.xml"/><Relationship Id="Rdd4a5b292f35421b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873f695f275b403e" Type="http://schemas.openxmlformats.org/officeDocument/2006/relationships/slideLayout" Target="../slideLayouts/slideLayout1.xml"/><Relationship Id="Re403918bcaf843d5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170950f004564353" Type="http://schemas.openxmlformats.org/officeDocument/2006/relationships/image" Target="../media/image.jpeg"/><Relationship Id="R94653c8476d84d46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2d1d8783d80b4cca" Type="http://schemas.openxmlformats.org/officeDocument/2006/relationships/slideLayout" Target="../slideLayouts/slideLayout1.xml"/><Relationship Id="R3b42084a886f4be4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672c2c89408e42f3" Type="http://schemas.openxmlformats.org/officeDocument/2006/relationships/image" Target="../media/image.jpeg"/><Relationship Id="Rcc385e6c195e4bb1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608ce6f117154dcb" Type="http://schemas.openxmlformats.org/officeDocument/2006/relationships/image" Target="../media/image.jpeg"/><Relationship Id="Rb097da3f1bac404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187db86f6f394222" Type="http://schemas.openxmlformats.org/officeDocument/2006/relationships/image" Target="../media/image.jpeg"/><Relationship Id="Rbcbea2c9618c454d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ac81004b8e974dd7" Type="http://schemas.openxmlformats.org/officeDocument/2006/relationships/image" Target="../media/image.jpeg"/><Relationship Id="Rad53d57924fa47e9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66e32e7b4a124057" Type="http://schemas.openxmlformats.org/officeDocument/2006/relationships/slideLayout" Target="../slideLayouts/slideLayout1.xml"/><Relationship Id="Re7456d954cd948ae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20aeb7da9ed94c55" Type="http://schemas.openxmlformats.org/officeDocument/2006/relationships/image" Target="../media/image.jpeg"/><Relationship Id="R84e5ad50084e46c6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568e5a432b7f45cc" Type="http://schemas.openxmlformats.org/officeDocument/2006/relationships/image" Target="../media/image.jpeg"/><Relationship Id="R7e2efb2fcdfb4efd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3430da303aef474e" Type="http://schemas.openxmlformats.org/officeDocument/2006/relationships/image" Target="../media/image.jpeg"/><Relationship Id="Rc8e14f9d690b4d3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bf37bcdd98c04a72" Type="http://schemas.openxmlformats.org/officeDocument/2006/relationships/slideLayout" Target="../slideLayouts/slideLayout1.xml"/><Relationship Id="Re453aaefc5044b47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128fbb5441914631" Type="http://schemas.openxmlformats.org/officeDocument/2006/relationships/slideLayout" Target="../slideLayouts/slideLayout1.xml"/><Relationship Id="Rae3c8d4772164895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5fa5c13ada924237" Type="http://schemas.openxmlformats.org/officeDocument/2006/relationships/image" Target="../media/image.jpeg"/><Relationship Id="Ra1b297ea5c2a44c2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78bd79a43be44e81" Type="http://schemas.openxmlformats.org/officeDocument/2006/relationships/slideLayout" Target="../slideLayouts/slideLayout1.xml"/><Relationship Id="Ra0a83f2107dd4c9b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28384f1ffeaa4f48" Type="http://schemas.openxmlformats.org/officeDocument/2006/relationships/image" Target="../media/image.jpeg"/><Relationship Id="Rcb8e1e793d6e488c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6d3d53f8c364424c" Type="http://schemas.openxmlformats.org/officeDocument/2006/relationships/image" Target="../media/image.jpeg"/><Relationship Id="Rb523e928c9904d5b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6aee8127505a4568" Type="http://schemas.openxmlformats.org/officeDocument/2006/relationships/slideLayout" Target="../slideLayouts/slideLayout1.xml"/><Relationship Id="R9cb24d350ab248d9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c3d5edf3e7bc4331" Type="http://schemas.openxmlformats.org/officeDocument/2006/relationships/slideLayout" Target="../slideLayouts/slideLayout1.xml"/><Relationship Id="Rd7c6590f6b6247ca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8ac193457a2c45d3" Type="http://schemas.openxmlformats.org/officeDocument/2006/relationships/slideLayout" Target="../slideLayouts/slideLayout1.xml"/><Relationship Id="Rcb3df7b2a3c649b3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900c8731ce464053" Type="http://schemas.openxmlformats.org/officeDocument/2006/relationships/image" Target="../media/image.jpeg"/><Relationship Id="Rb270391b22d44d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9725bfef229b4212" Type="http://schemas.openxmlformats.org/officeDocument/2006/relationships/slideLayout" Target="../slideLayouts/slideLayout1.xml"/><Relationship Id="Rc099b2958da847c5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9e1b7d59e81b4e23" Type="http://schemas.openxmlformats.org/officeDocument/2006/relationships/image" Target="../media/image.jpeg"/><Relationship Id="Rc321710b2d8248d3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83acb20d51034f51" Type="http://schemas.openxmlformats.org/officeDocument/2006/relationships/image" Target="../media/image.jpeg"/><Relationship Id="R89335550eacb4f6f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23bf4e95cf744fd6" Type="http://schemas.openxmlformats.org/officeDocument/2006/relationships/slideLayout" Target="../slideLayouts/slideLayout1.xml"/><Relationship Id="Rb3ca50edd6544078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e212ee86e7a04680" Type="http://schemas.openxmlformats.org/officeDocument/2006/relationships/slideLayout" Target="../slideLayouts/slideLayout1.xml"/><Relationship Id="Rf6671541d0d64f48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fe6b0d7a08b4432" Type="http://schemas.openxmlformats.org/officeDocument/2006/relationships/hyperlink" Target="https://www.electrical-installation.org/enwiki/Installed_apparent_power_%28kVA%29" TargetMode="External"/><Relationship Id="R57ee33b86db6455a" Type="http://schemas.openxmlformats.org/officeDocument/2006/relationships/hyperlink" Target="https://library.e.abb.com/public/85bb7f53868f4d549e537374c191838b/EN_ACS260-04_B_A4.pdf" TargetMode="External"/><Relationship Id="R8b381ff3d1c1448c" Type="http://schemas.openxmlformats.org/officeDocument/2006/relationships/slideLayout" Target="../slideLayouts/slideLayout1.xml"/><Relationship Id="Racab9fa9713449b8" Type="http://schemas.openxmlformats.org/officeDocument/2006/relationships/image" Target="../media/image.jpeg"/><Relationship Id="Rd7ff0ca983444469" Type="http://schemas.openxmlformats.org/officeDocument/2006/relationships/hyperlink" Target="https://library.e.abb.com/public/e670a466d31e469a80e653b759f40091/ACS580_technical_eBook_3AUA0000197173 RevB_EN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a1173389d243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c48190a4c34d3b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07A20D84-9F01-4CEF-8084-C9C3080A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C8E181F-EC38-4C32-96C0-8C93D298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Transformatorer och motorer</a:t>
            </a:r>
          </a:p>
        </p:txBody>
      </p:sp>
      <p:sp>
        <p:nvSpPr>
          <p:cNvPr id="13" name="Asynkronmotor, startutrustning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6A560BA1-184A-46B2-A812-58DF5126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Asynkronmotor, startutrustning och frekvensomriktare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4739DB7F-78D0-4BC4-BCAB-3EE1BF24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dce8b87a0844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20063300-D0CD-4853-8268-1CC4A5AE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Använda transformatorns omsättning och motorns varvtalssamband.">
            <a:extLst xmlns:a="http://schemas.openxmlformats.org/drawingml/2006/main">
              <a:ext uri="{FF2B5EF4-FFF2-40B4-BE49-F238E27FC236}">
                <a16:creationId xmlns:a16="http://schemas.microsoft.com/office/drawing/2014/main" id="{CDF59CBA-1E23-4681-B5F6-62B63528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transformatorns omsättning och motorns varvtalssamband.</a:t>
            </a:r>
          </a:p>
        </p:txBody>
      </p:sp>
      <p:sp>
        <p:nvSpPr>
          <p:cNvPr id="4" name="Beskriva start och varvtalsreglering på funktionsnivå.">
            <a:extLst xmlns:a="http://schemas.openxmlformats.org/drawingml/2006/main">
              <a:ext uri="{FF2B5EF4-FFF2-40B4-BE49-F238E27FC236}">
                <a16:creationId xmlns:a16="http://schemas.microsoft.com/office/drawing/2014/main" id="{3C8415A8-0B09-467B-B1A3-CB18ABAA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Beskriva start och varvtalsreglering på funktionsnivå.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8599649-9E61-44C3-9FCB-28E692B8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går en fyrpolig asynkronmotor ofta något långsammare än 1 ">
            <a:extLst xmlns:a="http://schemas.openxmlformats.org/drawingml/2006/main">
              <a:ext uri="{FF2B5EF4-FFF2-40B4-BE49-F238E27FC236}">
                <a16:creationId xmlns:a16="http://schemas.microsoft.com/office/drawing/2014/main" id="{5E27A2E3-971E-4F1F-80F2-B2104CD4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går en fyrpolig asynkronmotor något långsammare än fältets synkrona varvtal?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E6A0876-EE3C-47CA-952E-C90C2E70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571760923943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0BF10776-9FDB-48EC-AD88-05D86FC7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334785F2-6426-402C-B2BE-D47D30F8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D7A89AB5-AC24-4F49-954F-4648C482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2.1, 2.2 och 2.4,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38FB11E3-2819-41CD-874E-D8FE470E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09D3AC55-7BC5-412F-8AF3-E8A17D85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2.6, 2.7 och 2.8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41BE9778-FE60-440F-B930-242AC529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7A9F1FA-0C73-44A6-885E-A8EB3BBA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f21b68f3884b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ransformator och roterande maskin">
            <a:extLst xmlns:a="http://schemas.openxmlformats.org/drawingml/2006/main">
              <a:ext uri="{FF2B5EF4-FFF2-40B4-BE49-F238E27FC236}">
                <a16:creationId xmlns:a16="http://schemas.microsoft.com/office/drawing/2014/main" id="{91746709-D353-420D-BC0D-005FA626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 och roterande maskin</a:t>
            </a:r>
          </a:p>
        </p:txBody>
      </p:sp>
      <p:sp>
        <p:nvSpPr>
          <p:cNvPr id="10" name="Transformatorns N betyder antal lindningsvarv.">
            <a:extLst xmlns:a="http://schemas.openxmlformats.org/drawingml/2006/main">
              <a:ext uri="{FF2B5EF4-FFF2-40B4-BE49-F238E27FC236}">
                <a16:creationId xmlns:a16="http://schemas.microsoft.com/office/drawing/2014/main" id="{7FBE41F6-5CC0-482F-A5B5-41B7FA249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N betyder antal lindningsvarv.</a:t>
            </a:r>
          </a:p>
        </p:txBody>
      </p:sp>
      <p:sp>
        <p:nvSpPr>
          <p:cNvPr id="11" name="Motorns n betyder varvtal i r/min. nₛ gäller magnetfältet.">
            <a:extLst xmlns:a="http://schemas.openxmlformats.org/drawingml/2006/main">
              <a:ext uri="{FF2B5EF4-FFF2-40B4-BE49-F238E27FC236}">
                <a16:creationId xmlns:a16="http://schemas.microsoft.com/office/drawing/2014/main" id="{972CC615-569F-451D-B905-D3E6D832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n betyder varvtal i r/min. nₛ gäller magnetfältet.</a:t>
            </a:r>
          </a:p>
        </p:txBody>
      </p:sp>
      <p:sp>
        <p:nvSpPr>
          <p:cNvPr id="12" name="p är antalet poler i formeln nₛ = 120f/p.">
            <a:extLst xmlns:a="http://schemas.openxmlformats.org/drawingml/2006/main">
              <a:ext uri="{FF2B5EF4-FFF2-40B4-BE49-F238E27FC236}">
                <a16:creationId xmlns:a16="http://schemas.microsoft.com/office/drawing/2014/main" id="{7D7BC458-60A4-49F6-8D8E-57F1980A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antalet poler i formeln nₛ = 120f/p.</a:t>
            </a:r>
          </a:p>
        </p:txBody>
      </p:sp>
      <p:sp>
        <p:nvSpPr>
          <p:cNvPr id="13" name="s beskriver eftersläpning. η beskriver förhållandet mellan uteffe">
            <a:extLst xmlns:a="http://schemas.openxmlformats.org/drawingml/2006/main">
              <a:ext uri="{FF2B5EF4-FFF2-40B4-BE49-F238E27FC236}">
                <a16:creationId xmlns:a16="http://schemas.microsoft.com/office/drawing/2014/main" id="{9D35D99D-8426-4D1C-857D-D2B7257D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beskriver eftersläpning. η beskriver förhållandet mellan uteffekt och inmatning.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C4BF6536-AC7E-4324-B2D6-8FF8CD24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70c131adf42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5FE5215B-8D4D-4150-BB5C-8DD67DA4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A04AB5D-E0D7-4A31-9621-1A7B0A56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FF18138C-E24B-4299-9BD1-95E40828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38735267-B7F3-4EC6-9C2A-AB94C988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636E880C-ACC5-4945-861E-ABFD6C63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F7C2F671-116B-4564-9F15-5AB85725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45EC42E5-148F-431C-AAA5-ADEDC4E6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B14F9CD6-0742-4553-95D5-CF4543C7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17906d3bf04b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ansformatorns omsättning">
            <a:extLst xmlns:a="http://schemas.openxmlformats.org/drawingml/2006/main">
              <a:ext uri="{FF2B5EF4-FFF2-40B4-BE49-F238E27FC236}">
                <a16:creationId xmlns:a16="http://schemas.microsoft.com/office/drawing/2014/main" id="{DD7450B4-80F7-40A5-8410-2B64DA38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omsättning</a:t>
            </a:r>
          </a:p>
        </p:txBody>
      </p:sp>
      <p:sp>
        <p:nvSpPr>
          <p:cNvPr id="3" name="En växlande magnetisk koppling överför energi mellan lindningar.&#10;">
            <a:extLst xmlns:a="http://schemas.openxmlformats.org/drawingml/2006/main">
              <a:ext uri="{FF2B5EF4-FFF2-40B4-BE49-F238E27FC236}">
                <a16:creationId xmlns:a16="http://schemas.microsoft.com/office/drawing/2014/main" id="{C2298C72-2237-4F57-B990-6241DA59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växlande magnetisk koppling överför energi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ideala modellen försummar förluster.</a:t>
            </a:r>
          </a:p>
        </p:txBody>
      </p:sp>
      <p:sp>
        <p:nvSpPr>
          <p:cNvPr id="4" name="U₁/U₂ = N₁/N₂     U₁I₁ = U₂I₂">
            <a:extLst xmlns:a="http://schemas.openxmlformats.org/drawingml/2006/main">
              <a:ext uri="{FF2B5EF4-FFF2-40B4-BE49-F238E27FC236}">
                <a16:creationId xmlns:a16="http://schemas.microsoft.com/office/drawing/2014/main" id="{552AED07-E381-46E3-A7A0-3034C5A7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U₁/U₂ = N₁/N₂     U₁I₁ = U₂I₂</a:t>
            </a:r>
          </a:p>
        </p:txBody>
      </p:sp>
      <p:sp>
        <p:nvSpPr>
          <p:cNvPr id="5" name="230 V till 23 V ger omsättningen 10:1.&#10;2 A på sekundären motsvara">
            <a:extLst xmlns:a="http://schemas.openxmlformats.org/drawingml/2006/main">
              <a:ext uri="{FF2B5EF4-FFF2-40B4-BE49-F238E27FC236}">
                <a16:creationId xmlns:a16="http://schemas.microsoft.com/office/drawing/2014/main" id="{14C04360-2FEB-4E2B-B4B9-0DAF0AC7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till 110 V ger omsättningen 4:1.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 A på sekundären motsvarar idealt 0,50 A på primären.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10060075-3E07-482B-8E5F-DD67954B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lindningarna N1 " descr="Ideal transformator med lindningarna N1 och N2; 440 V på primärsidan och 110 V på sekundärsid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f794e26d149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synkronmotorns roterande fält">
            <a:extLst xmlns:a="http://schemas.openxmlformats.org/drawingml/2006/main">
              <a:ext uri="{FF2B5EF4-FFF2-40B4-BE49-F238E27FC236}">
                <a16:creationId xmlns:a16="http://schemas.microsoft.com/office/drawing/2014/main" id="{3A7E6973-5098-40CB-BABD-C2F753A6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Asynkronmotorns roterande fält</a:t>
            </a:r>
          </a:p>
        </p:txBody>
      </p:sp>
      <p:sp>
        <p:nvSpPr>
          <p:cNvPr id="3" name="Statorns trefasströmmar skapar ett roterande magnetfält.&#10;Fältets ">
            <a:extLst xmlns:a="http://schemas.openxmlformats.org/drawingml/2006/main">
              <a:ext uri="{FF2B5EF4-FFF2-40B4-BE49-F238E27FC236}">
                <a16:creationId xmlns:a16="http://schemas.microsoft.com/office/drawing/2014/main" id="{7D460E3D-3B4E-41E4-909D-206CE4EB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Statorns trefasströmmar skapar ett roterande magnetfält.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Fältets hastighet bestäms av frekvens och antal poler.</a:t>
            </a:r>
          </a:p>
        </p:txBody>
      </p:sp>
      <p:sp>
        <p:nvSpPr>
          <p:cNvPr id="4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33C593DE-4B35-4E9B-83A1-68FE5B8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5" name="50 Hz och fyra poler ger nₛ = 1 500 r/min.&#10;Här är p antalet poler">
            <a:extLst xmlns:a="http://schemas.openxmlformats.org/drawingml/2006/main">
              <a:ext uri="{FF2B5EF4-FFF2-40B4-BE49-F238E27FC236}">
                <a16:creationId xmlns:a16="http://schemas.microsoft.com/office/drawing/2014/main" id="{D1A13344-3986-41CA-B21B-E1BBBE23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60 Hz och fyra poler ger nₛ = 1 800 r/min.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Här är p antalet poler, inte antalet polpar.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AB241A72-2096-4FB7-A1EE-CE38D610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9bd9d7c4b34b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EE6C01A5-48BE-4646-B533-7E7C792A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3" name="I motordrift roterar asynkronmotorns rotor långsammare än fältet.">
            <a:extLst xmlns:a="http://schemas.openxmlformats.org/drawingml/2006/main">
              <a:ext uri="{FF2B5EF4-FFF2-40B4-BE49-F238E27FC236}">
                <a16:creationId xmlns:a16="http://schemas.microsoft.com/office/drawing/2014/main" id="{A9BBA011-3470-44F8-9183-2728F887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motordrift roterar asynkronmotorns rotor långsammare än fältet.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Skillnaden behövs för induktion och moment i den vanliga modellen.</a:t>
            </a:r>
          </a:p>
        </p:txBody>
      </p:sp>
      <p:sp>
        <p:nvSpPr>
          <p:cNvPr id="4" name="s = (nₛ − n)/nₛ">
            <a:extLst xmlns:a="http://schemas.openxmlformats.org/drawingml/2006/main">
              <a:ext uri="{FF2B5EF4-FFF2-40B4-BE49-F238E27FC236}">
                <a16:creationId xmlns:a16="http://schemas.microsoft.com/office/drawing/2014/main" id="{CDCAD0A7-61EB-454C-808C-D83397D9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 = (nₛ − n)/nₛ</a:t>
            </a:r>
          </a:p>
        </p:txBody>
      </p:sp>
      <p:sp>
        <p:nvSpPr>
          <p:cNvPr id="5" name="nₛ = 1 500 och n = 1 440 r/min ger s = 0,04 = 4 %.&#10;Eftersläpninge">
            <a:extLst xmlns:a="http://schemas.openxmlformats.org/drawingml/2006/main">
              <a:ext uri="{FF2B5EF4-FFF2-40B4-BE49-F238E27FC236}">
                <a16:creationId xmlns:a16="http://schemas.microsoft.com/office/drawing/2014/main" id="{45DC23C6-FEDF-4432-B23E-A68BC907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nₛ = 1 800 och n = 1 746 r/min ger s = 0,03 = 3 %.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Eftersläpningen varierar med belastningen.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FE6B123F-E3B7-45CB-A66B-0C134CBD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tor med fyra poler vid 60 Hz; fältet " descr="Stator med fyra poler vid 60 Hz; fältet roterar med 1 800 r/min och rotorn med 1 746 r/m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0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4a5b292f3542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ideal transformator">
            <a:extLst xmlns:a="http://schemas.openxmlformats.org/drawingml/2006/main">
              <a:ext uri="{FF2B5EF4-FFF2-40B4-BE49-F238E27FC236}">
                <a16:creationId xmlns:a16="http://schemas.microsoft.com/office/drawing/2014/main" id="{F30DEB62-D7AE-4973-8840-38191037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ideal transformator</a:t>
            </a:r>
          </a:p>
        </p:txBody>
      </p:sp>
      <p:sp>
        <p:nvSpPr>
          <p:cNvPr id="10" name="Ideal enfastransformator: U₁ = 120 V, N₁ = 600, N₂ = 120 varv. I₂">
            <a:extLst xmlns:a="http://schemas.openxmlformats.org/drawingml/2006/main">
              <a:ext uri="{FF2B5EF4-FFF2-40B4-BE49-F238E27FC236}">
                <a16:creationId xmlns:a16="http://schemas.microsoft.com/office/drawing/2014/main" id="{A1E00967-0D7D-486C-AF69-61D0A47F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Ideal styrtransformator till en kontaktors manöverkrets: U₁ = 230 V, N₁ = 460, N₂ = 48 varv. I₂ = 2 A.</a:t>
            </a:r>
          </a:p>
        </p:txBody>
      </p:sp>
      <p:sp>
        <p:nvSpPr>
          <p:cNvPr id="11" name="U₂ = U₁N₂/N₁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B8916E52-ED47-4CAF-A8A1-C2EA961E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U₁N₂/N₁     I₁ = U₂I₂/U₁</a:t>
            </a:r>
          </a:p>
        </p:txBody>
      </p:sp>
      <p:sp>
        <p:nvSpPr>
          <p:cNvPr id="12" name="1. U₂ = 120 · 120/600 = 24 V.&#10;2. Sekundär skenbar effekt S₂ = 24 ">
            <a:extLst xmlns:a="http://schemas.openxmlformats.org/drawingml/2006/main">
              <a:ext uri="{FF2B5EF4-FFF2-40B4-BE49-F238E27FC236}">
                <a16:creationId xmlns:a16="http://schemas.microsoft.com/office/drawing/2014/main" id="{ACF4A973-0845-4042-8A75-241C7320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U₂ = 230 · 48/460 = 24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Sekundär skenbar effekt S₂ = 24 · 2 = 48 VA.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I₁ = 48/230 ≈ 0,21 A.</a:t>
            </a:r>
          </a:p>
        </p:txBody>
      </p:sp>
      <p:sp>
        <p:nvSpPr>
          <p:cNvPr id="13" name="Kontroll: 120 · 0,40 = 24 · 2 = 48 VA. Modellen försummar magneti">
            <a:extLst xmlns:a="http://schemas.openxmlformats.org/drawingml/2006/main">
              <a:ext uri="{FF2B5EF4-FFF2-40B4-BE49-F238E27FC236}">
                <a16:creationId xmlns:a16="http://schemas.microsoft.com/office/drawing/2014/main" id="{ACA1DB88-3FE4-49DA-9460-7EC36D13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230 · 0,21 ≈ 24 · 2 = 48 VA. Modellen försummar magnetiseringsström och förluster.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6951E024-05B2-4CEF-902B-095A63C1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03918bcaf843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C3F44A8-B8F8-4C03-A6C2-74C2C8D9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U₂ = U₁ · N₂/N₁">
            <a:extLst xmlns:a="http://schemas.openxmlformats.org/drawingml/2006/main">
              <a:ext uri="{FF2B5EF4-FFF2-40B4-BE49-F238E27FC236}">
                <a16:creationId xmlns:a16="http://schemas.microsoft.com/office/drawing/2014/main" id="{2A2E59E1-69BA-48B1-8832-CEB7FE57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 · N₂/N₁</a:t>
            </a:r>
          </a:p>
        </p:txBody>
      </p:sp>
      <p:sp>
        <p:nvSpPr>
          <p:cNvPr id="11" name="N₁ och N₂ är antal varv i respektive lindning. Index 1 är primärs">
            <a:extLst xmlns:a="http://schemas.openxmlformats.org/drawingml/2006/main">
              <a:ext uri="{FF2B5EF4-FFF2-40B4-BE49-F238E27FC236}">
                <a16:creationId xmlns:a16="http://schemas.microsoft.com/office/drawing/2014/main" id="{CC06D526-8E66-463B-9F48-8AF7D5F4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antalet varv i lindningarna; 1 är primärsidan och 2 sekundärsidan.</a:t>
            </a:r>
          </a:p>
        </p:txBody>
      </p:sp>
      <p:sp>
        <p:nvSpPr>
          <p:cNvPr id="12" name="Förutsättningar: Ideal enfastransformator. N₁ = 1 000, N₂ = 100 o">
            <a:extLst xmlns:a="http://schemas.openxmlformats.org/drawingml/2006/main">
              <a:ext uri="{FF2B5EF4-FFF2-40B4-BE49-F238E27FC236}">
                <a16:creationId xmlns:a16="http://schemas.microsoft.com/office/drawing/2014/main" id="{38BAE0DE-46C7-4603-828F-81E02591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enfastransformator. N₁ = 1 000, N₂ = 100 och U₁ = 230 V RMS.</a:t>
            </a:r>
          </a:p>
        </p:txBody>
      </p:sp>
      <p:sp>
        <p:nvSpPr>
          <p:cNvPr id="13" name="Arbetsgång: Beräkna varvförhållandet och multiplicera primärspänn">
            <a:extLst xmlns:a="http://schemas.openxmlformats.org/drawingml/2006/main">
              <a:ext uri="{FF2B5EF4-FFF2-40B4-BE49-F238E27FC236}">
                <a16:creationId xmlns:a16="http://schemas.microsoft.com/office/drawing/2014/main" id="{6332913E-1ADF-4815-B357-DDD048A5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förhållandet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/N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multiplicera primärspänningen med det.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4C4D0754-EF7A-49D1-8E37-049C1D12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0950f0045643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E57531B7-38D1-4DE5-ABA8-99E8A20B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Omsättning">
            <a:extLst xmlns:a="http://schemas.openxmlformats.org/drawingml/2006/main">
              <a:ext uri="{FF2B5EF4-FFF2-40B4-BE49-F238E27FC236}">
                <a16:creationId xmlns:a16="http://schemas.microsoft.com/office/drawing/2014/main" id="{47DA132B-3CD2-4BE4-9902-AFFB3489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Omsättning</a:t>
            </a:r>
          </a:p>
        </p:txBody>
      </p:sp>
      <p:sp>
        <p:nvSpPr>
          <p:cNvPr id="4" name="En ideal enfastransformator har N₁ = 1 000 varv och N₂ = 100 varv">
            <a:extLst xmlns:a="http://schemas.openxmlformats.org/drawingml/2006/main">
              <a:ext uri="{FF2B5EF4-FFF2-40B4-BE49-F238E27FC236}">
                <a16:creationId xmlns:a16="http://schemas.microsoft.com/office/drawing/2014/main" id="{DF1B7A74-CB0C-4BD9-A2E1-A059B567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enfastransformator har N₁ = 1 000 varv och N₂ = 100 varv. U₁ = 230 V. Bestäm U₂.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142B9-7328-4CAD-87B9-46A85523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85E7B54E-57E6-4732-98B5-F114D50A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N1 = 1 000 och N" descr="Ideal transformator med N1 = 1 000 och N2 = 100 varv, U1 = 230 V; U2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42084a886f4b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A4103DF8-B5C1-4A9C-B3A2-6BC7D4EB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U₁I₁ = U₂I₂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86C5C8DE-7859-4346-ACB4-DC1A2400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1" name="Produkterna är skenbar effekt i VA. För en resistiv last är de äv">
            <a:extLst xmlns:a="http://schemas.openxmlformats.org/drawingml/2006/main">
              <a:ext uri="{FF2B5EF4-FFF2-40B4-BE49-F238E27FC236}">
                <a16:creationId xmlns:a16="http://schemas.microsoft.com/office/drawing/2014/main" id="{D9866C36-1F93-4DB6-A86C-2005E206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gånger ström ger skenbar effekt i VA, och för en resistiv last är det också den aktiva effekten i W.</a:t>
            </a:r>
          </a:p>
        </p:txBody>
      </p:sp>
      <p:sp>
        <p:nvSpPr>
          <p:cNvPr id="12" name="Förutsättningar: Ideal enfastransformator med resistiv last, PF =">
            <a:extLst xmlns:a="http://schemas.openxmlformats.org/drawingml/2006/main">
              <a:ext uri="{FF2B5EF4-FFF2-40B4-BE49-F238E27FC236}">
                <a16:creationId xmlns:a16="http://schemas.microsoft.com/office/drawing/2014/main" id="{D24C8485-6BC6-4BFD-9CF7-7E43B547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 med resistiv last, PF = 1.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A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V. Förluster försummas.</a:t>
            </a:r>
          </a:p>
        </p:txBody>
      </p:sp>
      <p:sp>
        <p:nvSpPr>
          <p:cNvPr id="13" name="Arbetsgång: Beräkna sekundärsidans VA och dividera med primärspän">
            <a:extLst xmlns:a="http://schemas.openxmlformats.org/drawingml/2006/main">
              <a:ext uri="{FF2B5EF4-FFF2-40B4-BE49-F238E27FC236}">
                <a16:creationId xmlns:a16="http://schemas.microsoft.com/office/drawing/2014/main" id="{6AB1F9B9-4421-4246-B70B-E95078A7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effekten på sekundärsidan och dela med primärspänningen. Håll isär primär- och sekundärsidan.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AB701375-B05E-4D05-92DF-59E46895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2c2c89408e42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61164208-C724-48B4-81DC-7D1544CC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Transformatorström">
            <a:extLst xmlns:a="http://schemas.openxmlformats.org/drawingml/2006/main">
              <a:ext uri="{FF2B5EF4-FFF2-40B4-BE49-F238E27FC236}">
                <a16:creationId xmlns:a16="http://schemas.microsoft.com/office/drawing/2014/main" id="{20957687-D5DB-404F-9291-A07D4E80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Transformatorström</a:t>
            </a:r>
          </a:p>
        </p:txBody>
      </p:sp>
      <p:sp>
        <p:nvSpPr>
          <p:cNvPr id="4" name="Den ideala transformatorn ger 24 V och 3 A. Primärspänningen är 2">
            <a:extLst xmlns:a="http://schemas.openxmlformats.org/drawingml/2006/main">
              <a:ext uri="{FF2B5EF4-FFF2-40B4-BE49-F238E27FC236}">
                <a16:creationId xmlns:a16="http://schemas.microsoft.com/office/drawing/2014/main" id="{95C89801-8A56-4C54-9435-762ABE6D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transformator matar en resistiv last med 24 V och 3 A. Primärspänningen är 230 V. Bestäm effekten och primärströmmen.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8F36FB2-5078-45CD-B94F-7C635089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43A87E94-C61B-4725-BC75-DB36F243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last: U1 = 230 V" descr="Ideal transformator med last: U1 = 230 V, U2 = 24 V och I2 = 3 A; I1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8ce6f117154d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FCF195CF-C5D3-410E-ACAE-326AA274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E2A18C4E-F8A9-4EDA-8404-3ABAD286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nₛ är magnetfältets synkrona varvtal i r/min. f anges i Hz och p ">
            <a:extLst xmlns:a="http://schemas.openxmlformats.org/drawingml/2006/main">
              <a:ext uri="{FF2B5EF4-FFF2-40B4-BE49-F238E27FC236}">
                <a16:creationId xmlns:a16="http://schemas.microsoft.com/office/drawing/2014/main" id="{02BE69E2-8DB7-4754-9FBA-421C7F14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magnetfältets varvtal i r/min.</a:t>
            </a:r>
          </a:p>
        </p:txBody>
      </p:sp>
      <p:sp>
        <p:nvSpPr>
          <p:cNvPr id="12" name="Förutsättningar: Fyrpolig motor: p = 4. Frekvens f = 50 Hz. p bet">
            <a:extLst xmlns:a="http://schemas.openxmlformats.org/drawingml/2006/main">
              <a:ext uri="{FF2B5EF4-FFF2-40B4-BE49-F238E27FC236}">
                <a16:creationId xmlns:a16="http://schemas.microsoft.com/office/drawing/2014/main" id="{8797471E-C5D3-4A04-94A6-D6400C9E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Fyrpolig motor: p = 4. Frekvensen f = 50 Hz. I den här formeln är p antalet poler, inte polpar.</a:t>
            </a:r>
          </a:p>
        </p:txBody>
      </p:sp>
      <p:sp>
        <p:nvSpPr>
          <p:cNvPr id="13" name="Arbetsgång: Multiplicera frekvensen med 120 och dividera med anta">
            <a:extLst xmlns:a="http://schemas.openxmlformats.org/drawingml/2006/main">
              <a:ext uri="{FF2B5EF4-FFF2-40B4-BE49-F238E27FC236}">
                <a16:creationId xmlns:a16="http://schemas.microsoft.com/office/drawing/2014/main" id="{6107CC61-F0A5-4FD1-A526-1819D254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frekvensen med 120 och dela med antalet poler.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E2AC50D3-83A6-4E10-875F-8C1FA912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7db86f6f3942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A902AACE-5897-4197-8312-B6CD230D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Synkront varvtal">
            <a:extLst xmlns:a="http://schemas.openxmlformats.org/drawingml/2006/main">
              <a:ext uri="{FF2B5EF4-FFF2-40B4-BE49-F238E27FC236}">
                <a16:creationId xmlns:a16="http://schemas.microsoft.com/office/drawing/2014/main" id="{AE12A946-E44E-4AF5-9634-A9573510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Synkront varvtal</a:t>
            </a:r>
          </a:p>
        </p:txBody>
      </p:sp>
      <p:sp>
        <p:nvSpPr>
          <p:cNvPr id="4" name="Beräkna nₛ för en fyrpolig motor vid 50 Hz.">
            <a:extLst xmlns:a="http://schemas.openxmlformats.org/drawingml/2006/main">
              <a:ext uri="{FF2B5EF4-FFF2-40B4-BE49-F238E27FC236}">
                <a16:creationId xmlns:a16="http://schemas.microsoft.com/office/drawing/2014/main" id="{DB1713CB-0B09-4B5B-B744-5C25E110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nₛ för en fyrpolig motor vid 50 Hz.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F8AA64A-5143-4990-BCFA-740714A5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B8CB3962-1DDE-4604-8F8B-607DD37F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81004b8e974d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FCB79717-940C-4C0E-BCD6-EF175479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92EDF9B1-6B86-493C-B53F-154FE092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Fler poler ger lägre synkront varvtal vid samma elektriska frekve">
            <a:extLst xmlns:a="http://schemas.openxmlformats.org/drawingml/2006/main">
              <a:ext uri="{FF2B5EF4-FFF2-40B4-BE49-F238E27FC236}">
                <a16:creationId xmlns:a16="http://schemas.microsoft.com/office/drawing/2014/main" id="{89B97D3E-CC15-495F-A688-54937B01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Fler poler ger lägre varvtal vid samma frekvens.</a:t>
            </a:r>
          </a:p>
        </p:txBody>
      </p:sp>
      <p:sp>
        <p:nvSpPr>
          <p:cNvPr id="12" name="Förutsättningar: p = 6 poler och f = 50 Hz.">
            <a:extLst xmlns:a="http://schemas.openxmlformats.org/drawingml/2006/main">
              <a:ext uri="{FF2B5EF4-FFF2-40B4-BE49-F238E27FC236}">
                <a16:creationId xmlns:a16="http://schemas.microsoft.com/office/drawing/2014/main" id="{24F2E608-9438-4CB0-A7BA-047F63C0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6 poler och f = 50 Hz.</a:t>
            </a:r>
          </a:p>
        </p:txBody>
      </p:sp>
      <p:sp>
        <p:nvSpPr>
          <p:cNvPr id="13" name="Arbetsgång: Sätt in sex som p. Ange r/min, eftersom formeln redan">
            <a:extLst xmlns:a="http://schemas.openxmlformats.org/drawingml/2006/main">
              <a:ext uri="{FF2B5EF4-FFF2-40B4-BE49-F238E27FC236}">
                <a16:creationId xmlns:a16="http://schemas.microsoft.com/office/drawing/2014/main" id="{A45ECF87-31B4-4737-AD2E-7E5A45FC5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p = 6. Svaret blir i r/min, eftersom formeln redan räknar om till minuter.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B7BE6BDE-3022-4522-87D6-F58764E3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56d954cd948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78B365B-7726-4DCA-8424-11B97D89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Sex poler">
            <a:extLst xmlns:a="http://schemas.openxmlformats.org/drawingml/2006/main">
              <a:ext uri="{FF2B5EF4-FFF2-40B4-BE49-F238E27FC236}">
                <a16:creationId xmlns:a16="http://schemas.microsoft.com/office/drawing/2014/main" id="{CB90C9B8-8930-431B-8A4A-13F4F8A8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Sex poler</a:t>
            </a:r>
          </a:p>
        </p:txBody>
      </p:sp>
      <p:sp>
        <p:nvSpPr>
          <p:cNvPr id="4" name="Vilket synkront varvtal ger sex poler och 50 Hz?">
            <a:extLst xmlns:a="http://schemas.openxmlformats.org/drawingml/2006/main">
              <a:ext uri="{FF2B5EF4-FFF2-40B4-BE49-F238E27FC236}">
                <a16:creationId xmlns:a16="http://schemas.microsoft.com/office/drawing/2014/main" id="{09BBB8B3-97B1-4AA0-AA33-AA192740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Vilket synkront varvtal ger sex poler och 50 Hz?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1BBCD19-F343-45D1-A335-E954198B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2B665A-D700-41E8-A130-1C454F7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aeb7da9ed9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E43A0488-B754-4F9F-B206-ED72CB13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nₛ = 120f/p&#10;s% = 100 · (nₛ − n)/nₛ">
            <a:extLst xmlns:a="http://schemas.openxmlformats.org/drawingml/2006/main">
              <a:ext uri="{FF2B5EF4-FFF2-40B4-BE49-F238E27FC236}">
                <a16:creationId xmlns:a16="http://schemas.microsoft.com/office/drawing/2014/main" id="{A32FAB23-5CE7-48FF-8A86-09EE0213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s% = 100 · (nₛ − n)/nₛ</a:t>
            </a:r>
          </a:p>
        </p:txBody>
      </p:sp>
      <p:sp>
        <p:nvSpPr>
          <p:cNvPr id="11" name="n är rotorns verkliga varvtal. s är eftersläpning som andel av fä">
            <a:extLst xmlns:a="http://schemas.openxmlformats.org/drawingml/2006/main">
              <a:ext uri="{FF2B5EF4-FFF2-40B4-BE49-F238E27FC236}">
                <a16:creationId xmlns:a16="http://schemas.microsoft.com/office/drawing/2014/main" id="{7262E201-E69D-486E-A950-D43D9CD8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 är rotorns verkliga varvtal.</a:t>
            </a:r>
          </a:p>
        </p:txBody>
      </p:sp>
      <p:sp>
        <p:nvSpPr>
          <p:cNvPr id="12" name="Förutsättningar: f = 50 Hz, p = 4 och n = 1 440 r/min. Motorn arb">
            <a:extLst xmlns:a="http://schemas.openxmlformats.org/drawingml/2006/main">
              <a:ext uri="{FF2B5EF4-FFF2-40B4-BE49-F238E27FC236}">
                <a16:creationId xmlns:a16="http://schemas.microsoft.com/office/drawing/2014/main" id="{9B8E19A8-B25F-41A2-99A2-BC8BC9FB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 = 50 Hz, p = 4 och n = 1 440 r/min. Motorn går som motor, alltså inte som generator.</a:t>
            </a:r>
          </a:p>
        </p:txBody>
      </p:sp>
      <p:sp>
        <p:nvSpPr>
          <p:cNvPr id="13" name="Arbetsgång: Räkna nₛ först. Beräkna sedan skillnaden som andel av">
            <a:extLst xmlns:a="http://schemas.openxmlformats.org/drawingml/2006/main">
              <a:ext uri="{FF2B5EF4-FFF2-40B4-BE49-F238E27FC236}">
                <a16:creationId xmlns:a16="http://schemas.microsoft.com/office/drawing/2014/main" id="{16B8D384-2D16-47E5-B6FD-A1260C16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sedan skillnaden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− n som andel av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och gör om till procent.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2647D08B-8623-45B9-B3ED-E0A574FF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8e5a432b7f45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E6A3C35A-990E-4568-B12A-0E86339C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0DA9B4DB-D65D-4520-AD04-5E8C2FD6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4" name="En fyrpolig 50 Hz-motor går med 1 440 r/min. Beräkna eftersläpnin">
            <a:extLst xmlns:a="http://schemas.openxmlformats.org/drawingml/2006/main">
              <a:ext uri="{FF2B5EF4-FFF2-40B4-BE49-F238E27FC236}">
                <a16:creationId xmlns:a16="http://schemas.microsoft.com/office/drawing/2014/main" id="{472668DB-5557-4686-B9DD-937AA853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50 Hz-motor går med 1 440 r/min. Beräkna eftersläpningen i procent.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8809F60-36FF-4629-8318-DA3AA5EE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8EF2E1DD-5B31-4287-ABFE-BBEEDD94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0da303aef47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862E5242-72B2-4258-88F1-DEFFF315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tartutrustning&#10;Frekvensomriktarens delar&#10;Felsökning i motordrift">
            <a:extLst xmlns:a="http://schemas.openxmlformats.org/drawingml/2006/main">
              <a:ext uri="{FF2B5EF4-FFF2-40B4-BE49-F238E27FC236}">
                <a16:creationId xmlns:a16="http://schemas.microsoft.com/office/drawing/2014/main" id="{1796B231-6B00-4604-B0B2-609E654E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Startutrustning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7329D302-2FB4-4A54-9046-13111751F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2.6–2.10.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A5079231-3C5C-4C97-9677-AAE2110C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53aaefc5044b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rtutrustning">
            <a:extLst xmlns:a="http://schemas.openxmlformats.org/drawingml/2006/main">
              <a:ext uri="{FF2B5EF4-FFF2-40B4-BE49-F238E27FC236}">
                <a16:creationId xmlns:a16="http://schemas.microsoft.com/office/drawing/2014/main" id="{56C9B95F-9AC1-4C2D-956E-F678271C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Startutrustning</a:t>
            </a:r>
          </a:p>
        </p:txBody>
      </p:sp>
      <p:sp>
        <p:nvSpPr>
          <p:cNvPr id="3" name="Direktstart kopplar motorn till matningen genom en startapparat.&#10;">
            <a:extLst xmlns:a="http://schemas.openxmlformats.org/drawingml/2006/main">
              <a:ext uri="{FF2B5EF4-FFF2-40B4-BE49-F238E27FC236}">
                <a16:creationId xmlns:a16="http://schemas.microsoft.com/office/drawing/2014/main" id="{D703EDD9-FFFD-43A0-BFDC-5B3F798D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Direktstart kopplar motorn till matningen genom en startapparat.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Y/Δ-start förutsätter en motor och last som passar metoden.</a:t>
            </a:r>
          </a:p>
        </p:txBody>
      </p:sp>
      <p:sp>
        <p:nvSpPr>
          <p:cNvPr id="4" name="Märkning, startström och lastmoment avgör">
            <a:extLst xmlns:a="http://schemas.openxmlformats.org/drawingml/2006/main">
              <a:ext uri="{FF2B5EF4-FFF2-40B4-BE49-F238E27FC236}">
                <a16:creationId xmlns:a16="http://schemas.microsoft.com/office/drawing/2014/main" id="{4EE7B219-0DD5-4232-9371-74F03A9D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Märkning, startström och lastmoment avgör</a:t>
            </a:r>
          </a:p>
        </p:txBody>
      </p:sp>
      <p:sp>
        <p:nvSpPr>
          <p:cNvPr id="5" name="En 400/690 V Δ/Y-motor kan vara kandidat vid 400 V.&#10;Y-start minsk">
            <a:extLst xmlns:a="http://schemas.openxmlformats.org/drawingml/2006/main">
              <a:ext uri="{FF2B5EF4-FFF2-40B4-BE49-F238E27FC236}">
                <a16:creationId xmlns:a16="http://schemas.microsoft.com/office/drawing/2014/main" id="{1CB80B5D-7AB0-4C1D-B59B-8FF83754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440/760 V Δ/Y-motor kan vara kandidat vid 440 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Y-start minskar också tillgängligt startmoment.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63B70AD-F58C-4C9D-BA24-017EE41E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rincipskiss av startström över tid för " descr="Principskiss av startström över tid för direktstart och Y/Δ-start med omkopp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3c8d47721648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rekvensomriktarens delar">
            <a:extLst xmlns:a="http://schemas.openxmlformats.org/drawingml/2006/main">
              <a:ext uri="{FF2B5EF4-FFF2-40B4-BE49-F238E27FC236}">
                <a16:creationId xmlns:a16="http://schemas.microsoft.com/office/drawing/2014/main" id="{E12A088E-868B-4DA4-8397-9BF12E79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</p:txBody>
      </p:sp>
      <p:sp>
        <p:nvSpPr>
          <p:cNvPr id="3" name="En vanlig omriktare har 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E2739776-091A-45C2-A189-096BCE39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vanlig omriktare har likriktare, DC-mellanled och växelriktare.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Utgångens frekvens och spänning styr motorns drift.</a:t>
            </a:r>
          </a:p>
        </p:txBody>
      </p:sp>
      <p:sp>
        <p:nvSpPr>
          <p:cNvPr id="4" name="Nät-AC, mellanleds-DC, reglerad motorutgång">
            <a:extLst xmlns:a="http://schemas.openxmlformats.org/drawingml/2006/main">
              <a:ext uri="{FF2B5EF4-FFF2-40B4-BE49-F238E27FC236}">
                <a16:creationId xmlns:a16="http://schemas.microsoft.com/office/drawing/2014/main" id="{43C0E380-9F0F-47C6-A8A6-F1B3B95D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Nät-AC, mellanleds-DC, reglerad motorutgång</a:t>
            </a:r>
          </a:p>
        </p:txBody>
      </p:sp>
      <p:sp>
        <p:nvSpPr>
          <p:cNvPr id="5" name="Utspänningen är ofta pulsformad. Mätmetod och instrument&#10;måste va">
            <a:extLst xmlns:a="http://schemas.openxmlformats.org/drawingml/2006/main">
              <a:ext uri="{FF2B5EF4-FFF2-40B4-BE49-F238E27FC236}">
                <a16:creationId xmlns:a16="http://schemas.microsoft.com/office/drawing/2014/main" id="{B77D0F08-6232-402C-A845-156BB401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Utspänningen är ofta pulsformad. Mätmetod och instrument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måste vara avsedda för omriktardrift.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E076FB94-CE4A-44FD-8427-63233D17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rekvensomriktare: likriktare, DC-mellan" descr="Frekvensomriktare: likriktare, DC-mellanled med lagrad energi och växelriktare med pulsad utgå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5c13ada9242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lsökning i motordriften">
            <a:extLst xmlns:a="http://schemas.openxmlformats.org/drawingml/2006/main">
              <a:ext uri="{FF2B5EF4-FFF2-40B4-BE49-F238E27FC236}">
                <a16:creationId xmlns:a16="http://schemas.microsoft.com/office/drawing/2014/main" id="{87A79A91-3E02-406B-9490-22B1DAD0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3" name="Skilj kommando, matning, skyddstillstånd och mekanisk last.&#10;Ett l">
            <a:extLst xmlns:a="http://schemas.openxmlformats.org/drawingml/2006/main">
              <a:ext uri="{FF2B5EF4-FFF2-40B4-BE49-F238E27FC236}">
                <a16:creationId xmlns:a16="http://schemas.microsoft.com/office/drawing/2014/main" id="{13ABD0DB-9F77-489B-8FA9-DBFCDC05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 kommando, matning, skyddstillstånd och mekanisk last.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larm är information som ska tolkas tillsammans med driftdata.</a:t>
            </a:r>
          </a:p>
        </p:txBody>
      </p:sp>
      <p:sp>
        <p:nvSpPr>
          <p:cNvPr id="4" name="Återställning kräver klarlagd orsak">
            <a:extLst xmlns:a="http://schemas.openxmlformats.org/drawingml/2006/main">
              <a:ext uri="{FF2B5EF4-FFF2-40B4-BE49-F238E27FC236}">
                <a16:creationId xmlns:a16="http://schemas.microsoft.com/office/drawing/2014/main" id="{F67F47BA-0F32-41D1-AB9A-C849D80F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Återställning kräver klarlagd orsak</a:t>
            </a:r>
          </a:p>
        </p:txBody>
      </p:sp>
      <p:sp>
        <p:nvSpPr>
          <p:cNvPr id="5" name="Lagrad energi kan finnas i DC-mellanledet efter frånkoppling.&#10;Til">
            <a:extLst xmlns:a="http://schemas.openxmlformats.org/drawingml/2006/main">
              <a:ext uri="{FF2B5EF4-FFF2-40B4-BE49-F238E27FC236}">
                <a16:creationId xmlns:a16="http://schemas.microsoft.com/office/drawing/2014/main" id="{6D89C92B-C62D-43A3-BA43-DB4527E5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440 V nät ligger mellanledet på ca 620 V DC och kan vara laddat efter frånkoppling.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Följ omriktarens säkerhetsanvisning: frånskilj alla energikällor, följ väntetiden och verifiera samtliga föreskrivna mätpunkter. Enbart DC+–DC− räcker inte.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D8038EF1-CAD7-4688-A513-EBC44E8A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a83f2107dd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varvtal och eftersläpning">
            <a:extLst xmlns:a="http://schemas.openxmlformats.org/drawingml/2006/main">
              <a:ext uri="{FF2B5EF4-FFF2-40B4-BE49-F238E27FC236}">
                <a16:creationId xmlns:a16="http://schemas.microsoft.com/office/drawing/2014/main" id="{238871E6-66C6-4E0E-93CF-3D07095D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varvtal och eftersläpning</a:t>
            </a:r>
          </a:p>
        </p:txBody>
      </p:sp>
      <p:sp>
        <p:nvSpPr>
          <p:cNvPr id="10" name="En sexpolig motor matas med 60 Hz. Rotorn går med 1 140 r/min.">
            <a:extLst xmlns:a="http://schemas.openxmlformats.org/drawingml/2006/main">
              <a:ext uri="{FF2B5EF4-FFF2-40B4-BE49-F238E27FC236}">
                <a16:creationId xmlns:a16="http://schemas.microsoft.com/office/drawing/2014/main" id="{9556EBD6-9735-4D0C-AA0F-63587E9B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åttapolig motor matas med 60 Hz. Rotorn går med 873 r/min.</a:t>
            </a:r>
          </a:p>
        </p:txBody>
      </p:sp>
      <p:sp>
        <p:nvSpPr>
          <p:cNvPr id="11" name="nₛ = 120f/p     s% = 100(nₛ − n)/nₛ">
            <a:extLst xmlns:a="http://schemas.openxmlformats.org/drawingml/2006/main">
              <a:ext uri="{FF2B5EF4-FFF2-40B4-BE49-F238E27FC236}">
                <a16:creationId xmlns:a16="http://schemas.microsoft.com/office/drawing/2014/main" id="{B9E036D9-04B5-42EF-8630-34A95539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     s% = 100(nₛ − n)/nₛ</a:t>
            </a:r>
          </a:p>
        </p:txBody>
      </p:sp>
      <p:sp>
        <p:nvSpPr>
          <p:cNvPr id="12" name="1. nₛ = 120 · 60/6 = 1 200 r/min.&#10;2. Skillnad = 1 200 − 1 140 = 6">
            <a:extLst xmlns:a="http://schemas.openxmlformats.org/drawingml/2006/main">
              <a:ext uri="{FF2B5EF4-FFF2-40B4-BE49-F238E27FC236}">
                <a16:creationId xmlns:a16="http://schemas.microsoft.com/office/drawing/2014/main" id="{F5B29428-DA20-43D9-9A65-4B764DA7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nₛ = 120 · 60/8 = 900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Skillnad = 900 − 873 = 27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s% = 100 · 27/900 = 3 %.</a:t>
            </a:r>
          </a:p>
        </p:txBody>
      </p:sp>
      <p:sp>
        <p:nvSpPr>
          <p:cNvPr id="13" name="Rotorn går långsammare än fältet vid den angivna motordriften. p ">
            <a:extLst xmlns:a="http://schemas.openxmlformats.org/drawingml/2006/main">
              <a:ext uri="{FF2B5EF4-FFF2-40B4-BE49-F238E27FC236}">
                <a16:creationId xmlns:a16="http://schemas.microsoft.com/office/drawing/2014/main" id="{0E58C6B1-F656-4094-8F79-A3A59D7D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Rotorn går långsammare än fältet vid den angivna motordriften. p är åtta poler, inte fyra polpar.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8E6CD806-7A29-4619-B643-D6F704F2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84f1ffeaa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9EC7C0C0-2F41-4A52-BE11-5F2370A5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BE4697E4-4687-4BE0-8C04-D810D6FF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Formeln ger fältets varvtal. Rotorns verkliga varvtal kräver även">
            <a:extLst xmlns:a="http://schemas.openxmlformats.org/drawingml/2006/main">
              <a:ext uri="{FF2B5EF4-FFF2-40B4-BE49-F238E27FC236}">
                <a16:creationId xmlns:a16="http://schemas.microsoft.com/office/drawing/2014/main" id="{48080119-E021-4B44-ACD8-FFA4B018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fältets varvtal. För rotorns varvtal skulle du också behöva eftersläpningen.</a:t>
            </a:r>
          </a:p>
        </p:txBody>
      </p:sp>
      <p:sp>
        <p:nvSpPr>
          <p:cNvPr id="12" name="Förutsättningar: Fyra poler och matningsfrekvens 40 Hz. Uppgiften">
            <a:extLst xmlns:a="http://schemas.openxmlformats.org/drawingml/2006/main">
              <a:ext uri="{FF2B5EF4-FFF2-40B4-BE49-F238E27FC236}">
                <a16:creationId xmlns:a16="http://schemas.microsoft.com/office/drawing/2014/main" id="{026D769B-4E38-47B4-B78F-4ABDC90E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Fyra poler och frekvensen 40 Hz. Uppgiften gäller bara fältets varvtal.</a:t>
            </a:r>
          </a:p>
        </p:txBody>
      </p:sp>
      <p:sp>
        <p:nvSpPr>
          <p:cNvPr id="13" name="Arbetsgång: Använd omriktarens 40 Hz och samma poltal. Blanda int">
            <a:extLst xmlns:a="http://schemas.openxmlformats.org/drawingml/2006/main">
              <a:ext uri="{FF2B5EF4-FFF2-40B4-BE49-F238E27FC236}">
                <a16:creationId xmlns:a16="http://schemas.microsoft.com/office/drawing/2014/main" id="{2B2B652A-38CE-4D20-8ABF-CFABB5C8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40 Hz och fyra poler.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0F7D61E-9C86-46FE-938D-DEA12173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3d53f8c364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BC113F1F-657D-4177-8C57-761FB026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Ändrad frekvens">
            <a:extLst xmlns:a="http://schemas.openxmlformats.org/drawingml/2006/main">
              <a:ext uri="{FF2B5EF4-FFF2-40B4-BE49-F238E27FC236}">
                <a16:creationId xmlns:a16="http://schemas.microsoft.com/office/drawing/2014/main" id="{0A14E0C1-99BA-481C-8441-BB6B0DB3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frekvens</a:t>
            </a:r>
          </a:p>
        </p:txBody>
      </p:sp>
      <p:sp>
        <p:nvSpPr>
          <p:cNvPr id="4" name="En fyrpolig motor matas med 40 Hz. Beräkna fältets synkrona varvt">
            <a:extLst xmlns:a="http://schemas.openxmlformats.org/drawingml/2006/main">
              <a:ext uri="{FF2B5EF4-FFF2-40B4-BE49-F238E27FC236}">
                <a16:creationId xmlns:a16="http://schemas.microsoft.com/office/drawing/2014/main" id="{865E359E-CD2E-49D5-8E78-F417E600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motor matas med 40 Hz. Beräkna fältets synkrona varvtal.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957A6A5-B853-4216-AF08-D77AAE2C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A624E4E-8E10-4C25-9100-2DAEDF34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b24d350ab248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5D8E1448-E9AB-4111-AE17-76D6F9BE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Δ-koppling ger Ugren = UL">
            <a:extLst xmlns:a="http://schemas.openxmlformats.org/drawingml/2006/main">
              <a:ext uri="{FF2B5EF4-FFF2-40B4-BE49-F238E27FC236}">
                <a16:creationId xmlns:a16="http://schemas.microsoft.com/office/drawing/2014/main" id="{BCBD5307-BFF3-450A-BFD6-BF25F5DF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Δ-koppling ger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anger linjespänning för de två driftkopplingarna.">
            <a:extLst xmlns:a="http://schemas.openxmlformats.org/drawingml/2006/main">
              <a:ext uri="{FF2B5EF4-FFF2-40B4-BE49-F238E27FC236}">
                <a16:creationId xmlns:a16="http://schemas.microsoft.com/office/drawing/2014/main" id="{D5BB24C5-A889-471D-A2DC-117556D1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anger nätspänningen för de två kopplingarna.</a:t>
            </a:r>
          </a:p>
        </p:txBody>
      </p:sp>
      <p:sp>
        <p:nvSpPr>
          <p:cNvPr id="12" name="Förutsättningar: Nät 400 V. Motor A: Δ/Y 230/400 V. Motor B: Δ/Y ">
            <a:extLst xmlns:a="http://schemas.openxmlformats.org/drawingml/2006/main">
              <a:ext uri="{FF2B5EF4-FFF2-40B4-BE49-F238E27FC236}">
                <a16:creationId xmlns:a16="http://schemas.microsoft.com/office/drawing/2014/main" id="{22EE0D92-DE7E-48CC-A8DB-62E8FCFF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Nät 400 V. Motor A: Δ/Y 230/400 V. Motor B: Δ/Y 400/690 V.</a:t>
            </a:r>
          </a:p>
        </p:txBody>
      </p:sp>
      <p:sp>
        <p:nvSpPr>
          <p:cNvPr id="13" name="Arbetsgång: Jämför 400 V med motorernas Δ-märkspänning. Frågan gä">
            <a:extLst xmlns:a="http://schemas.openxmlformats.org/drawingml/2006/main">
              <a:ext uri="{FF2B5EF4-FFF2-40B4-BE49-F238E27FC236}">
                <a16:creationId xmlns:a16="http://schemas.microsoft.com/office/drawing/2014/main" id="{9496B0FA-018F-4094-A58C-56E3345D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400 V med motorernas Δ-spänning. Frågan gäller normal drift, inte hur motorn ska startas.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7AF05C77-A047-4B44-8563-0413FEE5C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c6590f6b6247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5BD7CF12-9986-47B4-82FF-D68A8642A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Rätt motor för Δ-drift">
            <a:extLst xmlns:a="http://schemas.openxmlformats.org/drawingml/2006/main">
              <a:ext uri="{FF2B5EF4-FFF2-40B4-BE49-F238E27FC236}">
                <a16:creationId xmlns:a16="http://schemas.microsoft.com/office/drawing/2014/main" id="{381A9371-4150-4500-8782-E6FC1DBA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motor för Δ-drift</a:t>
            </a:r>
          </a:p>
        </p:txBody>
      </p:sp>
      <p:sp>
        <p:nvSpPr>
          <p:cNvPr id="4" name="Nätet är 400 V. Motor A är Δ/Y 230/400 V, motor B Δ/Y 400/690 V. ">
            <a:extLst xmlns:a="http://schemas.openxmlformats.org/drawingml/2006/main">
              <a:ext uri="{FF2B5EF4-FFF2-40B4-BE49-F238E27FC236}">
                <a16:creationId xmlns:a16="http://schemas.microsoft.com/office/drawing/2014/main" id="{3F164288-41F6-4440-A484-5B24DA63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 är 400 V. Motor A är Δ/Y 230/400 V, motor B Δ/Y 400/690 V. Vilken av motorerna ska kopplas i Δ på det här nätet?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4EC7189-C66C-47D8-8899-A375FFAC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628AC5BB-34A9-451F-99F2-4FC3E765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df7b2a3c649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1C6EAB0-D8FB-491B-8B89-ED7842D3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C39F6F37-050B-404D-9C58-BF6B9364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Följ energin från nät till motor</a:t>
            </a:r>
          </a:p>
        </p:txBody>
      </p:sp>
      <p:sp>
        <p:nvSpPr>
          <p:cNvPr id="11" name="Likriktaren omvandlar nät-AC till DC. Mellanledet lagrar energi. ">
            <a:extLst xmlns:a="http://schemas.openxmlformats.org/drawingml/2006/main">
              <a:ext uri="{FF2B5EF4-FFF2-40B4-BE49-F238E27FC236}">
                <a16:creationId xmlns:a16="http://schemas.microsoft.com/office/drawing/2014/main" id="{5098D409-FFD7-48BB-BFB5-69BD10B59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 ändrar energins form. En av delarna lagrar energi mellan de två andra.</a:t>
            </a:r>
          </a:p>
        </p:txBody>
      </p:sp>
      <p:sp>
        <p:nvSpPr>
          <p:cNvPr id="12" name="Förutsättningar: En vanlig spänningsmatad frekvensomriktare med d">
            <a:extLst xmlns:a="http://schemas.openxmlformats.org/drawingml/2006/main">
              <a:ext uri="{FF2B5EF4-FFF2-40B4-BE49-F238E27FC236}">
                <a16:creationId xmlns:a16="http://schemas.microsoft.com/office/drawing/2014/main" id="{0292F20C-9B8C-4E33-83B5-E8840A21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vanlig frekvensomriktare med dessa tre delar.</a:t>
            </a:r>
          </a:p>
        </p:txBody>
      </p:sp>
      <p:sp>
        <p:nvSpPr>
          <p:cNvPr id="13" name="Arbetsgång: Följ energins väg från nät till motor och placera del">
            <a:extLst xmlns:a="http://schemas.openxmlformats.org/drawingml/2006/main">
              <a:ext uri="{FF2B5EF4-FFF2-40B4-BE49-F238E27FC236}">
                <a16:creationId xmlns:a16="http://schemas.microsoft.com/office/drawing/2014/main" id="{7AC5B58E-89C4-4E0F-96C2-FBCAC862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energins väg från nät till motor och placera delarna i funktionell ordning.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72EB60AC-DBAE-4E2C-BA8B-5777615E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0c8731ce4640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2F036694-B2CA-403B-A526-BD3FBFE5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Omriktarens funktioner">
            <a:extLst xmlns:a="http://schemas.openxmlformats.org/drawingml/2006/main">
              <a:ext uri="{FF2B5EF4-FFF2-40B4-BE49-F238E27FC236}">
                <a16:creationId xmlns:a16="http://schemas.microsoft.com/office/drawing/2014/main" id="{F69C4141-D08A-454E-B28D-C29B55D4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Omriktarens funktioner</a:t>
            </a:r>
          </a:p>
        </p:txBody>
      </p:sp>
      <p:sp>
        <p:nvSpPr>
          <p:cNvPr id="4" name="Ange ordningen för likriktare, växelriktare och DC-mellanled från">
            <a:extLst xmlns:a="http://schemas.openxmlformats.org/drawingml/2006/main">
              <a:ext uri="{FF2B5EF4-FFF2-40B4-BE49-F238E27FC236}">
                <a16:creationId xmlns:a16="http://schemas.microsoft.com/office/drawing/2014/main" id="{0754D67D-F6FB-44CD-B1CC-AFD55400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ordningen för likriktare, växelriktare och DC-mellanled från nät till motor.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68175D2-660F-43F4-8B42-CF33C236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16A22F1B-BBE8-4DC7-A2E7-5D434BA30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99b2958da847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09FD78EA-3006-45BE-A6D3-E33264C2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η = Paxel/Pᵢₙ     Pförlust = Pᵢₙ − Paxel">
            <a:extLst xmlns:a="http://schemas.openxmlformats.org/drawingml/2006/main">
              <a:ext uri="{FF2B5EF4-FFF2-40B4-BE49-F238E27FC236}">
                <a16:creationId xmlns:a16="http://schemas.microsoft.com/office/drawing/2014/main" id="{B07FD2DD-083F-4ECC-B5BD-E56A75A6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η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förlust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</a:p>
        </p:txBody>
      </p:sp>
      <p:sp>
        <p:nvSpPr>
          <p:cNvPr id="11" name="η är verkningsgrad. Samma effektenhet ska användas i kvoten och s">
            <a:extLst xmlns:a="http://schemas.openxmlformats.org/drawingml/2006/main">
              <a:ext uri="{FF2B5EF4-FFF2-40B4-BE49-F238E27FC236}">
                <a16:creationId xmlns:a16="http://schemas.microsoft.com/office/drawing/2014/main" id="{684A8699-78BA-4EA9-958C-000A4211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Räkna i samma enhet hela tiden.</a:t>
            </a:r>
          </a:p>
        </p:txBody>
      </p:sp>
      <p:sp>
        <p:nvSpPr>
          <p:cNvPr id="12" name="Förutsättningar: Pᵢₙ = 4,0 kW och Paxel = 3,4 kW gäller samma dri">
            <a:extLst xmlns:a="http://schemas.openxmlformats.org/drawingml/2006/main">
              <a:ext uri="{FF2B5EF4-FFF2-40B4-BE49-F238E27FC236}">
                <a16:creationId xmlns:a16="http://schemas.microsoft.com/office/drawing/2014/main" id="{CC06E5EB-BA97-4471-B148-CE46C0D0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4,0 kW och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3,4 kW gäller vid samma belastning.</a:t>
            </a:r>
          </a:p>
        </p:txBody>
      </p:sp>
      <p:sp>
        <p:nvSpPr>
          <p:cNvPr id="13" name="Arbetsgång: Dividera uteffekt med inmatning och multiplicera med ">
            <a:extLst xmlns:a="http://schemas.openxmlformats.org/drawingml/2006/main">
              <a:ext uri="{FF2B5EF4-FFF2-40B4-BE49-F238E27FC236}">
                <a16:creationId xmlns:a16="http://schemas.microsoft.com/office/drawing/2014/main" id="{C2247B1A-EB66-4DEF-9935-72EEF72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axeleffekten med den tillförda effekten och multiplicera med 100 för procent. Räkna förlusten för sig.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CD3F1B5-5F78-43DB-A30C-C1047745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1b7d59e81b4e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7D1B4D11-BC25-4519-B7F9-7A85A998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Motorförluster">
            <a:extLst xmlns:a="http://schemas.openxmlformats.org/drawingml/2006/main">
              <a:ext uri="{FF2B5EF4-FFF2-40B4-BE49-F238E27FC236}">
                <a16:creationId xmlns:a16="http://schemas.microsoft.com/office/drawing/2014/main" id="{85FB974F-3307-486E-BA4A-EB6C4BD3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Motorförluster</a:t>
            </a:r>
          </a:p>
        </p:txBody>
      </p:sp>
      <p:sp>
        <p:nvSpPr>
          <p:cNvPr id="4" name="En motor tar 4,0 kW elektriskt och ger 3,4 kW på axeln. Bestäm ve">
            <a:extLst xmlns:a="http://schemas.openxmlformats.org/drawingml/2006/main">
              <a:ext uri="{FF2B5EF4-FFF2-40B4-BE49-F238E27FC236}">
                <a16:creationId xmlns:a16="http://schemas.microsoft.com/office/drawing/2014/main" id="{49FBA51E-78F7-464D-A05A-CBC78349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tar 4,0 kW elektriskt och ger 3,4 kW på axeln. Bestäm verkningsgraden och förlusten.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310B9E9-61B2-49FA-BC4D-20E8742A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7E3D9F0A-34A2-446D-BBF1-899430B6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cb20d51034f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FD49F10-0C6C-41A9-83C1-7B27BA67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Överlastlarm är ett symtom som kräver orsakssökning">
            <a:extLst xmlns:a="http://schemas.openxmlformats.org/drawingml/2006/main">
              <a:ext uri="{FF2B5EF4-FFF2-40B4-BE49-F238E27FC236}">
                <a16:creationId xmlns:a16="http://schemas.microsoft.com/office/drawing/2014/main" id="{CE78AEDB-E939-4D38-BEE0-C588083F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Överlastlarm är ett symtom som kräver orsakssökning</a:t>
            </a:r>
          </a:p>
        </p:txBody>
      </p:sp>
      <p:sp>
        <p:nvSpPr>
          <p:cNvPr id="11" name="Mekanisk belastning, elektrisk matning och skyddsinställning kan ">
            <a:extLst xmlns:a="http://schemas.openxmlformats.org/drawingml/2006/main">
              <a:ext uri="{FF2B5EF4-FFF2-40B4-BE49-F238E27FC236}">
                <a16:creationId xmlns:a16="http://schemas.microsoft.com/office/drawing/2014/main" id="{58C208EE-5F49-49FD-ADBB-A4599D35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mekaniska lasten, matningen och skyddets inställning påverkar motorströmmen.</a:t>
            </a:r>
          </a:p>
        </p:txBody>
      </p:sp>
      <p:sp>
        <p:nvSpPr>
          <p:cNvPr id="12" name="Förutsättningar: Motorn löser upprepade gånger. Inga mätdata visa">
            <a:extLst xmlns:a="http://schemas.openxmlformats.org/drawingml/2006/main">
              <a:ext uri="{FF2B5EF4-FFF2-40B4-BE49-F238E27FC236}">
                <a16:creationId xmlns:a16="http://schemas.microsoft.com/office/drawing/2014/main" id="{F10E2D64-05BE-43B9-811F-CF25247B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Skyddet löser ut gång på gång. Det finns inga mätvärden som visar orsaken än.</a:t>
            </a:r>
          </a:p>
        </p:txBody>
      </p:sp>
      <p:sp>
        <p:nvSpPr>
          <p:cNvPr id="13" name="Arbetsgång: Formulera två skilda hypoteser och ange data som kan ">
            <a:extLst xmlns:a="http://schemas.openxmlformats.org/drawingml/2006/main">
              <a:ext uri="{FF2B5EF4-FFF2-40B4-BE49-F238E27FC236}">
                <a16:creationId xmlns:a16="http://schemas.microsoft.com/office/drawing/2014/main" id="{3C8EFC7F-4EB6-4A37-BAA2-33CC0708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Formulera två olika hypoteser och ange vilka data som kan skilja dem åt, till exempel fasströmmarna och hur lasten varierar.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4A37461B-02C8-4C04-882B-919DB9DB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ca50edd65440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A7748B6C-C221-4693-9AAF-B0C60C30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Larm efter överlast">
            <a:extLst xmlns:a="http://schemas.openxmlformats.org/drawingml/2006/main">
              <a:ext uri="{FF2B5EF4-FFF2-40B4-BE49-F238E27FC236}">
                <a16:creationId xmlns:a16="http://schemas.microsoft.com/office/drawing/2014/main" id="{595CACC9-2FA9-4FFF-9A10-07C09865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Larm efter överlast</a:t>
            </a:r>
          </a:p>
        </p:txBody>
      </p:sp>
      <p:sp>
        <p:nvSpPr>
          <p:cNvPr id="4" name="En motor löser upprepade gånger på överlast. Föreslå två olika fe">
            <a:extLst xmlns:a="http://schemas.openxmlformats.org/drawingml/2006/main">
              <a:ext uri="{FF2B5EF4-FFF2-40B4-BE49-F238E27FC236}">
                <a16:creationId xmlns:a16="http://schemas.microsoft.com/office/drawing/2014/main" id="{52FE3DAA-5F0A-4A0B-A5FF-E8952200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Överlastskyddet för en motor löser ut gång på gång. Föreslå två olika möjliga orsaker och vilken information som kan skilja dem åt.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4B8F38-25D2-40B5-A028-61A96BE8B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B1ECAF8-6FB8-468A-B8E8-9B876184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671541d0d6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3B731954-553E-4E48-BF99-EBDA7046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del av en omriktare kan lagra energi efter att matningen b">
            <a:extLst xmlns:a="http://schemas.openxmlformats.org/drawingml/2006/main">
              <a:ext uri="{FF2B5EF4-FFF2-40B4-BE49-F238E27FC236}">
                <a16:creationId xmlns:a16="http://schemas.microsoft.com/office/drawing/2014/main" id="{FA5F1DAD-827B-4489-8232-BFC24558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del av en omriktare kan lagra energi efter att matningen brutits?</a:t>
            </a:r>
          </a:p>
        </p:txBody>
      </p:sp>
      <p:sp>
        <p:nvSpPr>
          <p:cNvPr id="4" name="Förbered en funktionsbeskrivning av motorstartaren. Skilj elektri">
            <a:extLst xmlns:a="http://schemas.openxmlformats.org/drawingml/2006/main">
              <a:ext uri="{FF2B5EF4-FFF2-40B4-BE49-F238E27FC236}">
                <a16:creationId xmlns:a16="http://schemas.microsoft.com/office/drawing/2014/main" id="{A29D292E-59FD-4F7F-8C8C-E86FF9B7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en funktionsbeskrivning av motorstartaren. Skilj elektrisk inmatning, skyddsfunktion och mekanisk last.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B0262A0-F2CC-43B0-AF2B-EFB3EACD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ab9fa9713449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747C38AB-E73B-41F4-98CC-9334CCDD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514DAB7D-DE51-41A8-A760-F30F212B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ABB: asynkronmotor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BF2A8155-14A8-4FD4-BE5E-CD381E12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7ff0ca983444469"/>
              </a:rPr>
              <a:t>ABB: asynkronmotor och frekvensomriktare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CB866193-CFEB-4115-8C2E-4CA55396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7ee33b86db6455a"/>
              </a:rPr>
              <a:t>ABB: motorns märkning och Y/Δ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884EAA27-F43C-4213-9465-04076024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fe6b0d7a08b4432"/>
              </a:rPr>
              <a:t>Schneider Electric: skenbar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9AF4CD25-83CA-4887-AB0C-1E84D6B7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2026-09-20T20:10:01.0410000Z</dcterms:created>
  <dcterms:modified xsi:type="dcterms:W3CDTF">2026-09-20T20:10:01.0410000Z</dcterms:modified>
</coreProperties>
</file>