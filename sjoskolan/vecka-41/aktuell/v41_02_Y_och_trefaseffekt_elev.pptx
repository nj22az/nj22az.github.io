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bc0b326c8694377" Type="http://schemas.openxmlformats.org/package/2006/relationships/metadata/core-properties" Target="docProps/core.xml"/><Relationship Id="Ra4a785bda2fa41bb" Type="http://schemas.openxmlformats.org/officeDocument/2006/relationships/officeDocument" Target="ppt/presentation.xml"/><Relationship Id="Rf95bb55cb2514a6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0bb1220c741245a7"/>
  </p:sldMasterIdLst>
  <p:sldIdLst>
    <p:sldId id="256" r:id="R824750d7779342c7"/>
    <p:sldId id="257" r:id="R7e4a9d9063544454"/>
    <p:sldId id="258" r:id="Rceb8d4e7071945df"/>
    <p:sldId id="259" r:id="Rda355d764aee476d"/>
    <p:sldId id="260" r:id="Ra9a7d442859d4e2c"/>
    <p:sldId id="261" r:id="Rbba7379a4cbc4d33"/>
    <p:sldId id="262" r:id="R65e96ac74c7e47ff"/>
    <p:sldId id="263" r:id="R79c20bf6b49a45ee"/>
    <p:sldId id="264" r:id="R9c14cdc895f74e93"/>
    <p:sldId id="265" r:id="R3f82ea6d58cb46a9"/>
    <p:sldId id="266" r:id="R1e6aed5d02844a46"/>
    <p:sldId id="267" r:id="Ra22ffe03da734204"/>
    <p:sldId id="268" r:id="R04e5b369f22444b5"/>
    <p:sldId id="269" r:id="Ra0608be88cbf4bb9"/>
    <p:sldId id="270" r:id="R440bd8a8505d442c"/>
    <p:sldId id="271" r:id="Rc86e22555c184215"/>
    <p:sldId id="272" r:id="Rf5097e5fa25a4dab"/>
    <p:sldId id="273" r:id="R50197de9fcfd4151"/>
    <p:sldId id="274" r:id="R475733e2ba004b1d"/>
    <p:sldId id="275" r:id="R3b6da10fce424fa9"/>
    <p:sldId id="276" r:id="Ra4be1175b43d414a"/>
    <p:sldId id="277" r:id="Rb507fb31a2c64edc"/>
    <p:sldId id="278" r:id="R4840783ed78948bd"/>
    <p:sldId id="279" r:id="Rf0708e0a6f0b4111"/>
    <p:sldId id="280" r:id="R417039c0ce6f4de8"/>
    <p:sldId id="281" r:id="R61f9bcc517734db7"/>
    <p:sldId id="282" r:id="Rce611e06afc64aa7"/>
    <p:sldId id="283" r:id="R934180f3a06a46ec"/>
    <p:sldId id="284" r:id="Re38b4c93a2f8486c"/>
    <p:sldId id="285" r:id="R319248f5dea34aba"/>
    <p:sldId id="286" r:id="R82d740c8fe25450e"/>
    <p:sldId id="287" r:id="Rc8b4bc8144a241bf"/>
    <p:sldId id="288" r:id="R5979fd4477434159"/>
    <p:sldId id="289" r:id="Rf707136d088e45cb"/>
    <p:sldId id="290" r:id="R1dda4bf046164741"/>
    <p:sldId id="291" r:id="Rcb1a8ca95707472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e5b369f22444b5" Type="http://schemas.openxmlformats.org/officeDocument/2006/relationships/slide" Target="slides/slide13.xml"/><Relationship Id="R0bb1220c741245a7" Type="http://schemas.openxmlformats.org/officeDocument/2006/relationships/slideMaster" Target="slideMasters/slideMaster1.xml"/><Relationship Id="R1dda4bf046164741" Type="http://schemas.openxmlformats.org/officeDocument/2006/relationships/slide" Target="slides/slide35.xml"/><Relationship Id="R1e6aed5d02844a46" Type="http://schemas.openxmlformats.org/officeDocument/2006/relationships/slide" Target="slides/slide11.xml"/><Relationship Id="R319248f5dea34aba" Type="http://schemas.openxmlformats.org/officeDocument/2006/relationships/slide" Target="slides/slide30.xml"/><Relationship Id="R3b6da10fce424fa9" Type="http://schemas.openxmlformats.org/officeDocument/2006/relationships/slide" Target="slides/slide20.xml"/><Relationship Id="R3f82ea6d58cb46a9" Type="http://schemas.openxmlformats.org/officeDocument/2006/relationships/slide" Target="slides/slide10.xml"/><Relationship Id="R417039c0ce6f4de8" Type="http://schemas.openxmlformats.org/officeDocument/2006/relationships/slide" Target="slides/slide25.xml"/><Relationship Id="R440bd8a8505d442c" Type="http://schemas.openxmlformats.org/officeDocument/2006/relationships/slide" Target="slides/slide15.xml"/><Relationship Id="R475733e2ba004b1d" Type="http://schemas.openxmlformats.org/officeDocument/2006/relationships/slide" Target="slides/slide19.xml"/><Relationship Id="R4840783ed78948bd" Type="http://schemas.openxmlformats.org/officeDocument/2006/relationships/slide" Target="slides/slide23.xml"/><Relationship Id="R50197de9fcfd4151" Type="http://schemas.openxmlformats.org/officeDocument/2006/relationships/slide" Target="slides/slide18.xml"/><Relationship Id="R5979fd4477434159" Type="http://schemas.openxmlformats.org/officeDocument/2006/relationships/slide" Target="slides/slide33.xml"/><Relationship Id="R61f9bcc517734db7" Type="http://schemas.openxmlformats.org/officeDocument/2006/relationships/slide" Target="slides/slide26.xml"/><Relationship Id="R65e96ac74c7e47ff" Type="http://schemas.openxmlformats.org/officeDocument/2006/relationships/slide" Target="slides/slide7.xml"/><Relationship Id="R79c20bf6b49a45ee" Type="http://schemas.openxmlformats.org/officeDocument/2006/relationships/slide" Target="slides/slide8.xml"/><Relationship Id="R7e4a9d9063544454" Type="http://schemas.openxmlformats.org/officeDocument/2006/relationships/slide" Target="slides/slide2.xml"/><Relationship Id="R824750d7779342c7" Type="http://schemas.openxmlformats.org/officeDocument/2006/relationships/slide" Target="slides/slide1.xml"/><Relationship Id="R82d740c8fe25450e" Type="http://schemas.openxmlformats.org/officeDocument/2006/relationships/slide" Target="slides/slide31.xml"/><Relationship Id="R84cb0203bf2145e3" Type="http://schemas.openxmlformats.org/officeDocument/2006/relationships/viewProps" Target="viewProps.xml"/><Relationship Id="R923412b36f574700" Type="http://schemas.openxmlformats.org/officeDocument/2006/relationships/presProps" Target="presProps.xml"/><Relationship Id="R934180f3a06a46ec" Type="http://schemas.openxmlformats.org/officeDocument/2006/relationships/slide" Target="slides/slide28.xml"/><Relationship Id="R9c14cdc895f74e93" Type="http://schemas.openxmlformats.org/officeDocument/2006/relationships/slide" Target="slides/slide9.xml"/><Relationship Id="Ra0608be88cbf4bb9" Type="http://schemas.openxmlformats.org/officeDocument/2006/relationships/slide" Target="slides/slide14.xml"/><Relationship Id="Ra22ffe03da734204" Type="http://schemas.openxmlformats.org/officeDocument/2006/relationships/slide" Target="slides/slide12.xml"/><Relationship Id="Ra4be1175b43d414a" Type="http://schemas.openxmlformats.org/officeDocument/2006/relationships/slide" Target="slides/slide21.xml"/><Relationship Id="Ra709fba1e8cc4f8c" Type="http://schemas.openxmlformats.org/officeDocument/2006/relationships/tableStyles" Target="tableStyles.xml"/><Relationship Id="Ra9a7d442859d4e2c" Type="http://schemas.openxmlformats.org/officeDocument/2006/relationships/slide" Target="slides/slide5.xml"/><Relationship Id="Rb507fb31a2c64edc" Type="http://schemas.openxmlformats.org/officeDocument/2006/relationships/slide" Target="slides/slide22.xml"/><Relationship Id="Rbba7379a4cbc4d33" Type="http://schemas.openxmlformats.org/officeDocument/2006/relationships/slide" Target="slides/slide6.xml"/><Relationship Id="Rbc9b3e8bf8484ba0" Type="http://schemas.openxmlformats.org/officeDocument/2006/relationships/theme" Target="theme/theme1.xml"/><Relationship Id="Rc86e22555c184215" Type="http://schemas.openxmlformats.org/officeDocument/2006/relationships/slide" Target="slides/slide16.xml"/><Relationship Id="Rc8b4bc8144a241bf" Type="http://schemas.openxmlformats.org/officeDocument/2006/relationships/slide" Target="slides/slide32.xml"/><Relationship Id="Rcb1a8ca957074724" Type="http://schemas.openxmlformats.org/officeDocument/2006/relationships/slide" Target="slides/slide36.xml"/><Relationship Id="Rce611e06afc64aa7" Type="http://schemas.openxmlformats.org/officeDocument/2006/relationships/slide" Target="slides/slide27.xml"/><Relationship Id="Rceb8d4e7071945df" Type="http://schemas.openxmlformats.org/officeDocument/2006/relationships/slide" Target="slides/slide3.xml"/><Relationship Id="Rda355d764aee476d" Type="http://schemas.openxmlformats.org/officeDocument/2006/relationships/slide" Target="slides/slide4.xml"/><Relationship Id="Re38b4c93a2f8486c" Type="http://schemas.openxmlformats.org/officeDocument/2006/relationships/slide" Target="slides/slide29.xml"/><Relationship Id="Rf0708e0a6f0b4111" Type="http://schemas.openxmlformats.org/officeDocument/2006/relationships/slide" Target="slides/slide24.xml"/><Relationship Id="Rf5097e5fa25a4dab" Type="http://schemas.openxmlformats.org/officeDocument/2006/relationships/slide" Target="slides/slide17.xml"/><Relationship Id="Rf707136d088e45cb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39186dee30224e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38358c8083f42fc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ccca5deab973497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e951892985c4ee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41e99cead4249f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db628b4fc0942d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73cb62591be4599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1f6bc48fb2e9494a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3e20abe070614e7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e1c3b3d38e8f45bc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02564707ffc74d9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5C7370-A218-4A96-BF04-0B9DA03B48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058A87-B70E-419C-BA31-58D7CB7B9A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CB2140-2749-4B48-BF2A-A1235760AA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006586-B4F5-4313-B5A6-B5F52B939C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E64E9F-3EA6-4174-AE3E-5348C73ED4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661A82-B525-49F7-89C9-32FE4A0E1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F83046-D03E-4966-B20A-7A88B33EAE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E5CF60-3098-46A3-AEF3-B785303E1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12DE59-DEFD-48F8-9AF2-1712711768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142FC0-1BF9-42B1-AAD4-94EDF8BE1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1CA361-F23B-495B-B595-2C23C92C9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E6E620-88AF-4CF5-A5FD-0521AC85BC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0DCA98-FF98-4095-878A-6A222FBA7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4C024D-BB11-45C7-8F58-976AB96F7A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17C3A3-6670-4421-B9DE-F0E67C6F9B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7C4489-9E80-4FF1-A347-8B47118E9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DC9B36-84B3-457B-A777-3CF8926C1B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6C0DCA-EA3C-4787-A218-878C94C474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6D2B24-5CCD-4809-8B5F-E62E56D76C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51B9CA-19D5-498E-A87F-4BE0ACA628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EB3E60-0A4E-4527-A483-FA6AA0BFD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3AE6B3-C13C-4700-8D20-D97905F65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CA85EF-172C-4877-834E-C87532C8B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05B7A76-38CA-4B96-90B2-91B3EF1C5F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F152A83-8E57-441D-B8D0-E58D3D180C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965044D-8CD5-4327-94F0-F6CF2F569A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8DBD27C-17BE-4060-AA7E-F641257FF9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525D71-9A18-4E26-81F2-898692202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A54807E-DE37-4B71-9E4A-B71DDC2DE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9CD02E-B899-4D74-8240-C1780B5B1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8E3D9CD-3F1C-4307-90A1-0827F931C4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52DB067-98B7-4A80-BAC3-9B45E866F5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4C50F57-DA9C-4373-BBF8-972C57A94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E40F772-0922-49DE-8047-2B5C54A4B7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92A0422-F172-4E19-BE8B-647D748803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C651790-3017-48BF-B5CA-A1A8494F1C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E0D7CD-F84D-4AAB-B5F8-57664B031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DA1E34-60E3-447C-B85D-0359A2FA75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FBAB63-9F16-4891-92CB-4F8B31CD74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482ED5-16D3-45D0-8DD0-F83A071C8B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F91B0E-1B9B-4978-BF24-30B2EDA418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4BAB62-7CBC-4DB8-AAFD-8C21FE9477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F0A35-9AD0-42AB-8167-ECC6E7401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6194-4BA1-4C53-9154-4A34DDD0D6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43CFBA5-6232-4AF1-A7BD-01DEEC002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791CF64-26B6-43E8-9ACB-1E2BB33E9B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CEB70B-D8E2-4965-9F43-5AACFE9B3C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E776CA-89CC-45CC-94F6-E14E2D8687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1D77FD-A82B-479C-B392-3B587816B0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2BBD80-632E-49DC-B992-E0F05AFFC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D23107-9B05-43A3-949D-D70F209C39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D62C2F-0A73-4827-B3C5-1A05E6C51F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8FA51F-0F81-420A-897C-3E5B564D9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E208243-6E4D-42A9-83BA-84252CAF9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DECE6E-BD8A-4263-A4DA-BA85DF0E4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CEA10C-D9AD-4AB8-A045-6AC504E92B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01BED8-02DE-44B9-9021-C4A9AB65A0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5B33C6-A8F5-44F6-A468-7C593C0E9F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b891608815e46bb" Type="http://schemas.openxmlformats.org/officeDocument/2006/relationships/slideLayout" Target="../slideLayouts/slideLayout9.xml"/><Relationship Id="R3af3f4e1457b4396" Type="http://schemas.openxmlformats.org/officeDocument/2006/relationships/slideLayout" Target="../slideLayouts/slideLayout3.xml"/><Relationship Id="R43a4e6fca82f45ec" Type="http://schemas.openxmlformats.org/officeDocument/2006/relationships/slideLayout" Target="../slideLayouts/slideLayout4.xml"/><Relationship Id="R5492aa785d6a4960" Type="http://schemas.openxmlformats.org/officeDocument/2006/relationships/slideLayout" Target="../slideLayouts/slideLayout8.xml"/><Relationship Id="R6ad33eb5029341bd" Type="http://schemas.openxmlformats.org/officeDocument/2006/relationships/slideLayout" Target="../slideLayouts/slideLayout2.xml"/><Relationship Id="R6ad427321cfe4d17" Type="http://schemas.openxmlformats.org/officeDocument/2006/relationships/slideLayout" Target="../slideLayouts/slideLayout10.xml"/><Relationship Id="R722a959aa2f64aa7" Type="http://schemas.openxmlformats.org/officeDocument/2006/relationships/slideLayout" Target="../slideLayouts/slideLayout1.xml"/><Relationship Id="R73febb4500f84a4a" Type="http://schemas.openxmlformats.org/officeDocument/2006/relationships/slideLayout" Target="../slideLayouts/slideLayout7.xml"/><Relationship Id="R77a977f086a34756" Type="http://schemas.openxmlformats.org/officeDocument/2006/relationships/slideLayout" Target="../slideLayouts/slideLayout11.xml"/><Relationship Id="R8d7e21d197974b57" Type="http://schemas.openxmlformats.org/officeDocument/2006/relationships/theme" Target="theme/theme2.xml"/><Relationship Id="R919889b9fc084a0a" Type="http://schemas.openxmlformats.org/officeDocument/2006/relationships/slideLayout" Target="../slideLayouts/slideLayout5.xml"/><Relationship Id="Rb22188fc326c4c1c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16D910A-FDAC-4648-8F72-86BE355DB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230979-E8BD-49F6-B0C1-33E4AEB20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706D0A-44C6-4447-9885-728E1BB490F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DDF314-1ABD-4B27-8714-6EF4CC7703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D39D64-40F4-4F0A-A4EA-3DBBB2ECCE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2a959aa2f64aa7"/>
    <p:sldLayoutId xmlns:r="http://schemas.openxmlformats.org/officeDocument/2006/relationships" id="2147483650" r:id="R6ad33eb5029341bd"/>
    <p:sldLayoutId xmlns:r="http://schemas.openxmlformats.org/officeDocument/2006/relationships" id="2147483651" r:id="R3af3f4e1457b4396"/>
    <p:sldLayoutId xmlns:r="http://schemas.openxmlformats.org/officeDocument/2006/relationships" id="2147483652" r:id="R43a4e6fca82f45ec"/>
    <p:sldLayoutId xmlns:r="http://schemas.openxmlformats.org/officeDocument/2006/relationships" id="2147483653" r:id="R919889b9fc084a0a"/>
    <p:sldLayoutId xmlns:r="http://schemas.openxmlformats.org/officeDocument/2006/relationships" id="2147483654" r:id="Rb22188fc326c4c1c"/>
    <p:sldLayoutId xmlns:r="http://schemas.openxmlformats.org/officeDocument/2006/relationships" id="2147483655" r:id="R73febb4500f84a4a"/>
    <p:sldLayoutId xmlns:r="http://schemas.openxmlformats.org/officeDocument/2006/relationships" id="2147483656" r:id="R5492aa785d6a4960"/>
    <p:sldLayoutId xmlns:r="http://schemas.openxmlformats.org/officeDocument/2006/relationships" id="2147483657" r:id="R2b891608815e46bb"/>
    <p:sldLayoutId xmlns:r="http://schemas.openxmlformats.org/officeDocument/2006/relationships" id="2147483658" r:id="R6ad427321cfe4d17"/>
    <p:sldLayoutId xmlns:r="http://schemas.openxmlformats.org/officeDocument/2006/relationships" id="2147483659" r:id="R77a977f086a3475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28e55c93794c36" Type="http://schemas.openxmlformats.org/officeDocument/2006/relationships/image" Target="../media/image.jpeg"/><Relationship Id="R2ad2072211c14306" Type="http://schemas.openxmlformats.org/officeDocument/2006/relationships/slideLayout" Target="../slideLayouts/slideLayout1.xml"/><Relationship Id="Re8f1569f98ef484d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c52167cbfd454f6c" Type="http://schemas.openxmlformats.org/officeDocument/2006/relationships/slideLayout" Target="../slideLayouts/slideLayout1.xml"/><Relationship Id="Rf622e9a061a4470a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11e43442032f4665" Type="http://schemas.openxmlformats.org/officeDocument/2006/relationships/image" Target="../media/image.jpeg"/><Relationship Id="R2196d916f1be452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96c22a8ba724cbf" Type="http://schemas.openxmlformats.org/officeDocument/2006/relationships/image" Target="../media/image.jpeg"/><Relationship Id="R90aaab6ad0934d5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2d43ff7f5a94e6c" Type="http://schemas.openxmlformats.org/officeDocument/2006/relationships/slideLayout" Target="../slideLayouts/slideLayout1.xml"/><Relationship Id="Rf28e56f4576d410e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ede16256b49d438a" Type="http://schemas.openxmlformats.org/officeDocument/2006/relationships/image" Target="../media/image.jpeg"/><Relationship Id="Rfb89abbc0a5645cb" Type="http://schemas.openxmlformats.org/officeDocument/2006/relationships/slideLayout" Target="../slideLayouts/slideLayout1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11cbaa9c9a144f8b" Type="http://schemas.openxmlformats.org/officeDocument/2006/relationships/image" Target="../media/image.jpeg"/><Relationship Id="Rd4e26fea84c54349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4b50b44b40bf4750" Type="http://schemas.openxmlformats.org/officeDocument/2006/relationships/image" Target="../media/image.jpeg"/><Relationship Id="Rd12ca3e1c00c4a6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8d0871abb4b4333" Type="http://schemas.openxmlformats.org/officeDocument/2006/relationships/slideLayout" Target="../slideLayouts/slideLayout1.xml"/><Relationship Id="Rc47709dde3a24541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c6f1ba80f1bb4033" Type="http://schemas.openxmlformats.org/officeDocument/2006/relationships/slideLayout" Target="../slideLayouts/slideLayout1.xml"/><Relationship Id="Rf61e65c9feea4a1a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56da38f5f1764136" Type="http://schemas.openxmlformats.org/officeDocument/2006/relationships/slideLayout" Target="../slideLayouts/slideLayout1.xml"/><Relationship Id="Recd4c5befdd54f69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db7c58fd5e8d4ff7" Type="http://schemas.openxmlformats.org/officeDocument/2006/relationships/image" Target="../media/image.jpeg"/><Relationship Id="Rde45406d53f3442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d1998dcedbf4942" Type="http://schemas.openxmlformats.org/officeDocument/2006/relationships/image" Target="../media/image.jpeg"/><Relationship Id="Rc3ce7f3bdf034efd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b5a4f47562364c91" Type="http://schemas.openxmlformats.org/officeDocument/2006/relationships/slideLayout" Target="../slideLayouts/slideLayout1.xml"/><Relationship Id="Rf8507e4244284f62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3692726d9d5f46da" Type="http://schemas.openxmlformats.org/officeDocument/2006/relationships/image" Target="../media/image.jpeg"/><Relationship Id="Rd529e9cd883a43df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3e71c707d7a94582" Type="http://schemas.openxmlformats.org/officeDocument/2006/relationships/slideLayout" Target="../slideLayouts/slideLayout1.xml"/><Relationship Id="Rf501aac150634206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3fa543e895f74f2e" Type="http://schemas.openxmlformats.org/officeDocument/2006/relationships/image" Target="../media/image.jpeg"/><Relationship Id="R738bdc1a2b4a4af4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191438bf4ddd4fd3" Type="http://schemas.openxmlformats.org/officeDocument/2006/relationships/slideLayout" Target="../slideLayouts/slideLayout1.xml"/><Relationship Id="R1b8eacba9f29489c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aa032fe9b22d4e37" Type="http://schemas.openxmlformats.org/officeDocument/2006/relationships/slideLayout" Target="../slideLayouts/slideLayout1.xml"/><Relationship Id="Rc8cdbea9afc2463e" Type="http://schemas.openxmlformats.org/officeDocument/2006/relationships/image" Target="../media/image.jpe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bc22d52815c746ab" Type="http://schemas.openxmlformats.org/officeDocument/2006/relationships/image" Target="../media/image.jpeg"/><Relationship Id="Re8b4139bd07544b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bfb9f1efc5f43c2" Type="http://schemas.openxmlformats.org/officeDocument/2006/relationships/slideLayout" Target="../slideLayouts/slideLayout1.xml"/><Relationship Id="Ra59fddca0740422c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59d89b3b90804a32" Type="http://schemas.openxmlformats.org/officeDocument/2006/relationships/slideLayout" Target="../slideLayouts/slideLayout1.xml"/><Relationship Id="R7ccc2c95f273424c" Type="http://schemas.openxmlformats.org/officeDocument/2006/relationships/image" Target="../media/image.jpeg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030c3eba9c244ce0" Type="http://schemas.openxmlformats.org/officeDocument/2006/relationships/image" Target="../media/image.jpeg"/><Relationship Id="Rc9e6b9b38027462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20fe8b2631274c0d" Type="http://schemas.openxmlformats.org/officeDocument/2006/relationships/slideLayout" Target="../slideLayouts/slideLayout1.xml"/><Relationship Id="R370b1b4b1b9043df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9f3c64fd73c346bb" Type="http://schemas.openxmlformats.org/officeDocument/2006/relationships/image" Target="../media/image.jpeg"/><Relationship Id="R9ffbf371cf6e4d08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ae81053bb444579" Type="http://schemas.openxmlformats.org/officeDocument/2006/relationships/slideLayout" Target="../slideLayouts/slideLayout1.xml"/><Relationship Id="Re0549dc7b61b4ea3" Type="http://schemas.openxmlformats.org/officeDocument/2006/relationships/image" Target="../media/image.jpeg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02c55e4dc5e34b4c" Type="http://schemas.openxmlformats.org/officeDocument/2006/relationships/image" Target="../media/image.jpeg"/><Relationship Id="R1dcfabed07a747ec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03b45bdb4433458c" Type="http://schemas.openxmlformats.org/officeDocument/2006/relationships/slideLayout" Target="../slideLayouts/slideLayout1.xml"/><Relationship Id="Rb4c155c7d09947b4" Type="http://schemas.openxmlformats.org/officeDocument/2006/relationships/image" Target="../media/image.jpeg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006472b67f9b4a1d" Type="http://schemas.openxmlformats.org/officeDocument/2006/relationships/image" Target="../media/image.jpeg"/><Relationship Id="Rca7a0cd1c9874e5c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1e3228605be5462d" Type="http://schemas.openxmlformats.org/officeDocument/2006/relationships/slideLayout" Target="../slideLayouts/slideLayout1.xml"/><Relationship Id="Rb5c451e5bc9e4ae8" Type="http://schemas.openxmlformats.org/officeDocument/2006/relationships/image" Target="../media/image.jpeg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06ed9c4f921243d1" Type="http://schemas.openxmlformats.org/officeDocument/2006/relationships/image" Target="../media/image.jpeg"/><Relationship Id="Rb662bce1bb604617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0233d6503d164e16" Type="http://schemas.openxmlformats.org/officeDocument/2006/relationships/slideLayout" Target="../slideLayouts/slideLayout1.xml"/><Relationship Id="Refd002a88eeb4617" Type="http://schemas.openxmlformats.org/officeDocument/2006/relationships/image" Target="../media/image.jpeg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0ccb07a2ae8d4a53" Type="http://schemas.openxmlformats.org/officeDocument/2006/relationships/slideLayout" Target="../slideLayouts/slideLayout1.xml"/><Relationship Id="R46a2742062b740c3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211aaee13419461f" Type="http://schemas.openxmlformats.org/officeDocument/2006/relationships/slideLayout" Target="../slideLayouts/slideLayout1.xml"/><Relationship Id="R8c2af3158bc64697" Type="http://schemas.openxmlformats.org/officeDocument/2006/relationships/image" Target="../media/image.jpe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61ccdb6908804058" Type="http://schemas.openxmlformats.org/officeDocument/2006/relationships/image" Target="../media/image.jpeg"/><Relationship Id="Rae80b7f8975b4939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589996c6df3a4770" Type="http://schemas.openxmlformats.org/officeDocument/2006/relationships/image" Target="../media/image.jpeg"/><Relationship Id="R91ed1b4ccb424912" Type="http://schemas.openxmlformats.org/officeDocument/2006/relationships/hyperlink" Target="https://library.e.abb.com/public/85bb7f53868f4d549e537374c191838b/EN_ACS260-04_B_A4.pdf" TargetMode="External"/><Relationship Id="R92332aadd063499f" Type="http://schemas.openxmlformats.org/officeDocument/2006/relationships/slideLayout" Target="../slideLayouts/slideLayout1.xml"/><Relationship Id="R9f70c45d53784a13" Type="http://schemas.openxmlformats.org/officeDocument/2006/relationships/hyperlink" Target="https://www.electrical-installation.org/enwiki/Installed_apparent_power_%28kVA%29" TargetMode="External"/><Relationship Id="Re21c6d713dff4279" Type="http://schemas.openxmlformats.org/officeDocument/2006/relationships/hyperlink" Target="https://www.electrical-installation.org/enwiki/Definition_of_reactive_power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8e55c93794c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1569f98ef484d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B5660A3C-37CF-47DD-9967-9E5A983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E4B7E2E9-A747-4AAC-A25D-799AD8C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Y, Δ och trefaseffekt</a:t>
            </a:r>
          </a:p>
        </p:txBody>
      </p:sp>
      <p:sp>
        <p:nvSpPr>
          <p:cNvPr id="13" name="Symmetrisk last, motoruppgifter och transformator">
            <a:extLst xmlns:a="http://schemas.openxmlformats.org/drawingml/2006/main">
              <a:ext uri="{FF2B5EF4-FFF2-40B4-BE49-F238E27FC236}">
                <a16:creationId xmlns:a16="http://schemas.microsoft.com/office/drawing/2014/main" id="{849040B1-6FC3-4D7E-8CA2-813BF38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Symmetrisk last, motoruppgifter och transformator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19D9474D-CC05-4C79-9DD0-7EF1437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2e9a061a447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8E20B6D5-C05C-4C3F-9325-533DC68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Beräkna ström och effekt i symmetrisk Y- och Δ-last.">
            <a:extLst xmlns:a="http://schemas.openxmlformats.org/drawingml/2006/main">
              <a:ext uri="{FF2B5EF4-FFF2-40B4-BE49-F238E27FC236}">
                <a16:creationId xmlns:a16="http://schemas.microsoft.com/office/drawing/2014/main" id="{BC3919ED-9F56-48A4-89D9-5B87C31D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ström och effekt i symmetrisk Y- och Δ-last.</a:t>
            </a:r>
          </a:p>
        </p:txBody>
      </p:sp>
      <p:sp>
        <p:nvSpPr>
          <p:cNvPr id="4" name="Använda motorns märkning och skilja axeleffekt från inmatning.">
            <a:extLst xmlns:a="http://schemas.openxmlformats.org/drawingml/2006/main">
              <a:ext uri="{FF2B5EF4-FFF2-40B4-BE49-F238E27FC236}">
                <a16:creationId xmlns:a16="http://schemas.microsoft.com/office/drawing/2014/main" id="{29AF9B35-EB39-4608-9CAF-1A71C7B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Använda motorns märkning och skilja axeleffekt från inmatning.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1248F106-C71D-4A9F-B664-261D750D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Har en lastgren samma spänning i Y som i Δ vid samma linjespännin">
            <a:extLst xmlns:a="http://schemas.openxmlformats.org/drawingml/2006/main">
              <a:ext uri="{FF2B5EF4-FFF2-40B4-BE49-F238E27FC236}">
                <a16:creationId xmlns:a16="http://schemas.microsoft.com/office/drawing/2014/main" id="{B75020DD-F6FA-43F5-90E2-EBA9C806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Har en lastgren samma spänning i Y som i Δ vid samma linjespänning?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2D15B98-960A-418F-80AE-529006A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43442032f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3E6EC4A6-7DFB-4F04-B3ED-49537D6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F90398D9-BE0A-4347-84B0-FE2F909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AE909C2B-5C8C-4B57-8C95-99F5BE7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2.1, 2.2 och 2.4,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AEA7F106-99F9-4A59-A535-B242E53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D0B6E64A-2EE5-4785-A114-B62249AD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2.6, 2.7 och 2.8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3B541118-7427-4961-A816-0FB4067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F9100A7F-D21E-46A5-AD8E-730E6E4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c22a8ba724c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Vilken spänning och ström?">
            <a:extLst xmlns:a="http://schemas.openxmlformats.org/drawingml/2006/main">
              <a:ext uri="{FF2B5EF4-FFF2-40B4-BE49-F238E27FC236}">
                <a16:creationId xmlns:a16="http://schemas.microsoft.com/office/drawing/2014/main" id="{8C419B2A-21CD-4D14-B45B-848030A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spänning och ström?</a:t>
            </a:r>
          </a:p>
        </p:txBody>
      </p:sp>
      <p:sp>
        <p:nvSpPr>
          <p:cNvPr id="10" name="Linjevärden gäller matningsledningarna. Grenvärden gäller varje l">
            <a:extLst xmlns:a="http://schemas.openxmlformats.org/drawingml/2006/main">
              <a:ext uri="{FF2B5EF4-FFF2-40B4-BE49-F238E27FC236}">
                <a16:creationId xmlns:a16="http://schemas.microsoft.com/office/drawing/2014/main" id="{84C1AEB0-5CF2-442C-AC51-029643C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Linjevärden gäller matningsledningarna. Grenvärden gäller varje lastgren.</a:t>
            </a:r>
          </a:p>
        </p:txBody>
      </p:sp>
      <p:sp>
        <p:nvSpPr>
          <p:cNvPr id="11" name="I Y är linjeström och grenström lika.">
            <a:extLst xmlns:a="http://schemas.openxmlformats.org/drawingml/2006/main">
              <a:ext uri="{FF2B5EF4-FFF2-40B4-BE49-F238E27FC236}">
                <a16:creationId xmlns:a16="http://schemas.microsoft.com/office/drawing/2014/main" id="{856A9D8F-DA3D-4A06-8CD4-8F2D27A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Y är linjeström och grenström lika.</a:t>
            </a:r>
          </a:p>
        </p:txBody>
      </p:sp>
      <p:sp>
        <p:nvSpPr>
          <p:cNvPr id="12" name="I symmetrisk Δ är grenspänning och linjespänning lika.">
            <a:extLst xmlns:a="http://schemas.openxmlformats.org/drawingml/2006/main">
              <a:ext uri="{FF2B5EF4-FFF2-40B4-BE49-F238E27FC236}">
                <a16:creationId xmlns:a16="http://schemas.microsoft.com/office/drawing/2014/main" id="{1814803D-DD93-4527-A236-8E56D1D3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Δ är grenspänning och linjespänning alltid lika.</a:t>
            </a:r>
          </a:p>
        </p:txBody>
      </p:sp>
      <p:sp>
        <p:nvSpPr>
          <p:cNvPr id="13" name="Axeleffekt är mekanisk uteffekt. Elektrisk inmatning beräknas med">
            <a:extLst xmlns:a="http://schemas.openxmlformats.org/drawingml/2006/main">
              <a:ext uri="{FF2B5EF4-FFF2-40B4-BE49-F238E27FC236}">
                <a16:creationId xmlns:a16="http://schemas.microsoft.com/office/drawing/2014/main" id="{FED0FABD-8312-41A5-A748-FB034F79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Axeleffekt är mekanisk uteffekt. Elektrisk inmatning beräknas med η.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73022B95-A03C-4577-BE6A-013BE07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e56f4576d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49163E76-A2A6-44CD-882F-EF60F8E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C5BD4873-D242-415D-B6F1-FFC91E70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B5D80DF7-4EA6-4709-9EE5-CFAF4BA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DFCC6C6B-218A-488F-ADA7-05B9C48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D3586216-7C4C-4F85-98AA-FADF1E0E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A1D4A3AE-A7F2-4042-B744-D2A77879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36952294-625C-4454-8458-0B9D6FAA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E5025246-F3EC-4B71-A5D0-5F5A5AF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16256b49d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Y- och Δ-koppling">
            <a:extLst xmlns:a="http://schemas.openxmlformats.org/drawingml/2006/main">
              <a:ext uri="{FF2B5EF4-FFF2-40B4-BE49-F238E27FC236}">
                <a16:creationId xmlns:a16="http://schemas.microsoft.com/office/drawing/2014/main" id="{7FE7BDAD-A663-4D5C-8597-9EB8BF5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Y- och Δ-koppling</a:t>
            </a:r>
          </a:p>
        </p:txBody>
      </p:sp>
      <p:sp>
        <p:nvSpPr>
          <p:cNvPr id="3" name="I Y ligger varje lastgren mellan en fas och stjärnpunkten.&#10;I Δ li">
            <a:extLst xmlns:a="http://schemas.openxmlformats.org/drawingml/2006/main">
              <a:ext uri="{FF2B5EF4-FFF2-40B4-BE49-F238E27FC236}">
                <a16:creationId xmlns:a16="http://schemas.microsoft.com/office/drawing/2014/main" id="{3064F766-B1A0-484E-A8B9-7E1B82B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Y ligger varje lastgren mellan en fas och stjärnpunkten.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Δ ligger varje lastgren mellan två faser.</a:t>
            </a:r>
          </a:p>
        </p:txBody>
      </p:sp>
      <p:sp>
        <p:nvSpPr>
          <p:cNvPr id="26" name="Y: Ugren = UL/√3     Δ: Ugren = UL">
            <a:extLst xmlns:a="http://schemas.openxmlformats.org/drawingml/2006/main">
              <a:ext uri="{FF2B5EF4-FFF2-40B4-BE49-F238E27FC236}">
                <a16:creationId xmlns:a16="http://schemas.microsoft.com/office/drawing/2014/main" id="{904FABC7-EBE6-469E-B1A9-7D61AF4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     Δ: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sp>
        <p:nvSpPr>
          <p:cNvPr id="27" name="Samma grenimpedans får större spänning i Δ.&#10;Kopplingsbilden visar">
            <a:extLst xmlns:a="http://schemas.openxmlformats.org/drawingml/2006/main">
              <a:ext uri="{FF2B5EF4-FFF2-40B4-BE49-F238E27FC236}">
                <a16:creationId xmlns:a16="http://schemas.microsoft.com/office/drawing/2014/main" id="{0BCEE3B2-4DE4-48C8-8E80-AD0CE3B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grenimpedans får större spänning i Δ.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Kopplingsbilden visar principen, inte en plintanvisning.</a:t>
            </a:r>
          </a:p>
        </p:txBody>
      </p:sp>
      <p:sp>
        <p:nvSpPr>
          <p:cNvPr id="28" name="4">
            <a:extLst xmlns:a="http://schemas.openxmlformats.org/drawingml/2006/main">
              <a:ext uri="{FF2B5EF4-FFF2-40B4-BE49-F238E27FC236}">
                <a16:creationId xmlns:a16="http://schemas.microsoft.com/office/drawing/2014/main" id="{87AEC1F3-87E5-43B9-B2EE-B1E756DF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31" name="schema-y-delta" descr="Y: tre grenar mellan fas och stjärnpunkt. Δ: tre grenar mellan två fase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47" y="2395728"/>
            <a:ext cx="6058706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baa9c9a14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Linjeström och grenström">
            <a:extLst xmlns:a="http://schemas.openxmlformats.org/drawingml/2006/main">
              <a:ext uri="{FF2B5EF4-FFF2-40B4-BE49-F238E27FC236}">
                <a16:creationId xmlns:a16="http://schemas.microsoft.com/office/drawing/2014/main" id="{4C95A1DF-4C1A-40B0-9EB5-314AFE0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Linjeström och grenström</a:t>
            </a:r>
          </a:p>
        </p:txBody>
      </p:sp>
      <p:sp>
        <p:nvSpPr>
          <p:cNvPr id="3" name="I Y passerar linjeströmmen genom en lastgren.&#10;I symmetrisk Δ är l">
            <a:extLst xmlns:a="http://schemas.openxmlformats.org/drawingml/2006/main">
              <a:ext uri="{FF2B5EF4-FFF2-40B4-BE49-F238E27FC236}">
                <a16:creationId xmlns:a16="http://schemas.microsoft.com/office/drawing/2014/main" id="{626F28B4-B339-491F-B966-552C033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Y passerar linjeströmmen genom en lastgren.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symmetrisk Δ är linjeströmmen en skillnad av grenvisare.</a:t>
            </a:r>
          </a:p>
        </p:txBody>
      </p:sp>
      <p:sp>
        <p:nvSpPr>
          <p:cNvPr id="4" name="Y: IL = Igren     Δ: IL = √3 · Igren">
            <a:extLst xmlns:a="http://schemas.openxmlformats.org/drawingml/2006/main">
              <a:ext uri="{FF2B5EF4-FFF2-40B4-BE49-F238E27FC236}">
                <a16:creationId xmlns:a16="http://schemas.microsoft.com/office/drawing/2014/main" id="{1274D93B-3B17-497F-B0B7-E23BE728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I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I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Δ: I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√3 · I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</a:p>
        </p:txBody>
      </p:sp>
      <p:sp>
        <p:nvSpPr>
          <p:cNvPr id="5" name="400 V över tre grenar på 40 Ω i Δ:&#10;Igren = 10 A och IL ≈ 17,3 A.">
            <a:extLst xmlns:a="http://schemas.openxmlformats.org/drawingml/2006/main">
              <a:ext uri="{FF2B5EF4-FFF2-40B4-BE49-F238E27FC236}">
                <a16:creationId xmlns:a16="http://schemas.microsoft.com/office/drawing/2014/main" id="{84B8B199-278D-4AF7-9E16-47ADBEB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440 V över tre grenar på 55 Ω i Δ: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8,0 A och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13,9 A.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4B48A0DB-A91E-45E4-81E7-6EFC096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Δ-last där linjeströmmen i L1 delar sig " descr="Δ-last där linjeströmmen i L1 delar sig i två grenströmm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0b44b40bf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refaseffekt">
            <a:extLst xmlns:a="http://schemas.openxmlformats.org/drawingml/2006/main">
              <a:ext uri="{FF2B5EF4-FFF2-40B4-BE49-F238E27FC236}">
                <a16:creationId xmlns:a16="http://schemas.microsoft.com/office/drawing/2014/main" id="{97ECA704-1624-4105-AE80-CD81795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Trefaseffekt</a:t>
            </a:r>
          </a:p>
        </p:txBody>
      </p:sp>
      <p:sp>
        <p:nvSpPr>
          <p:cNvPr id="3" name="För symmetrisk trefas används linjespänning och linjeström.&#10;Vid s">
            <a:extLst xmlns:a="http://schemas.openxmlformats.org/drawingml/2006/main">
              <a:ext uri="{FF2B5EF4-FFF2-40B4-BE49-F238E27FC236}">
                <a16:creationId xmlns:a16="http://schemas.microsoft.com/office/drawing/2014/main" id="{8309D59C-B5D9-49D9-9B11-77B4A891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symmetrisk trefas används linjespänning och linjeström.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sinusform gäller PF = cos φ.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Osymmetrisk last: summera fasernas aktiva effekter.</a:t>
            </a:r>
          </a:p>
        </p:txBody>
      </p:sp>
      <p:sp>
        <p:nvSpPr>
          <p:cNvPr id="4" name="S = √3 ULIL     P = √3 ULIL cos φ">
            <a:extLst xmlns:a="http://schemas.openxmlformats.org/drawingml/2006/main">
              <a:ext uri="{FF2B5EF4-FFF2-40B4-BE49-F238E27FC236}">
                <a16:creationId xmlns:a16="http://schemas.microsoft.com/office/drawing/2014/main" id="{34758714-B854-4413-AB22-A5296F9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√3 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P = √3 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cos φ</a:t>
            </a:r>
          </a:p>
        </p:txBody>
      </p:sp>
      <p:sp>
        <p:nvSpPr>
          <p:cNvPr id="5" name="400 V, 10 A och cos φ = 0,80 ger&#10;S ≈ 6,93 kVA och P ≈ 5,54 kW.">
            <a:extLst xmlns:a="http://schemas.openxmlformats.org/drawingml/2006/main">
              <a:ext uri="{FF2B5EF4-FFF2-40B4-BE49-F238E27FC236}">
                <a16:creationId xmlns:a16="http://schemas.microsoft.com/office/drawing/2014/main" id="{3E8CC010-4E5F-452B-8CB4-1738A4E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440 V, 20 A och cos φ = 0,85 ger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 ≈ 15,2 kVA och P ≈ 13,0 kW.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B72821DD-421D-4168-829F-55FE015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709dde3a24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samma resistorer i Y och Δ">
            <a:extLst xmlns:a="http://schemas.openxmlformats.org/drawingml/2006/main">
              <a:ext uri="{FF2B5EF4-FFF2-40B4-BE49-F238E27FC236}">
                <a16:creationId xmlns:a16="http://schemas.microsoft.com/office/drawing/2014/main" id="{6D47DD05-1203-4F59-9F10-13050B5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samma resistorer i Y och Δ</a:t>
            </a:r>
          </a:p>
        </p:txBody>
      </p:sp>
      <p:sp>
        <p:nvSpPr>
          <p:cNvPr id="10" name="Tre resistorer på 20 Ω ansluts till symmetriska 200 V mellan fase">
            <a:extLst xmlns:a="http://schemas.openxmlformats.org/drawingml/2006/main">
              <a:ext uri="{FF2B5EF4-FFF2-40B4-BE49-F238E27FC236}">
                <a16:creationId xmlns:a16="http://schemas.microsoft.com/office/drawing/2014/main" id="{D9A33FD9-40E9-460B-9AB9-FEE255B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resistorer på 20 Ω ansluts till fartygets symmetriska 440 V mellan faserna.</a:t>
            </a:r>
          </a:p>
        </p:txBody>
      </p:sp>
      <p:sp>
        <p:nvSpPr>
          <p:cNvPr id="11" name="Y: IL = (UL/√3)/R&#10;Δ: IL = √3 · (UL/R)">
            <a:extLst xmlns:a="http://schemas.openxmlformats.org/drawingml/2006/main">
              <a:ext uri="{FF2B5EF4-FFF2-40B4-BE49-F238E27FC236}">
                <a16:creationId xmlns:a16="http://schemas.microsoft.com/office/drawing/2014/main" id="{7737F422-A18E-4BFA-8AF4-30F7FE1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(U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/√3)/R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Δ: 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√3 · (U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/R)</a:t>
            </a:r>
          </a:p>
        </p:txBody>
      </p:sp>
      <p:sp>
        <p:nvSpPr>
          <p:cNvPr id="12" name="1. Y: Ugren = 200/√3 ≈ 115,5 V. IL ≈ 115,5/20 = 5,77 A.&#10;2. Δ: Ugr">
            <a:extLst xmlns:a="http://schemas.openxmlformats.org/drawingml/2006/main">
              <a:ext uri="{FF2B5EF4-FFF2-40B4-BE49-F238E27FC236}">
                <a16:creationId xmlns:a16="http://schemas.microsoft.com/office/drawing/2014/main" id="{61E1F30D-4695-4100-83D2-31B9F5F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Y: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440/√3 ≈ 254 V.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254/20 = 12,7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Δ: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440 V.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440/20 = 22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Δ: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√3 · 22 ≈ 38,1 A.</a:t>
            </a:r>
          </a:p>
        </p:txBody>
      </p:sp>
      <p:sp>
        <p:nvSpPr>
          <p:cNvPr id="13" name="Vid samma linjespänning och samma grenresistans blir linjeströmme">
            <a:extLst xmlns:a="http://schemas.openxmlformats.org/drawingml/2006/main">
              <a:ext uri="{FF2B5EF4-FFF2-40B4-BE49-F238E27FC236}">
                <a16:creationId xmlns:a16="http://schemas.microsoft.com/office/drawing/2014/main" id="{B8F238CB-48C8-4649-8995-C5D158C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samma linjespänning och samma grenresistans blir linjeströmmen tre gånger större i Δ.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8B236A2D-B225-43A5-AB4F-B95F762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e65c9fee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0F4CD91F-D6E2-4125-B267-66DF64F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</a:t>
            </a:r>
          </a:p>
        </p:txBody>
      </p:sp>
      <p:sp>
        <p:nvSpPr>
          <p:cNvPr id="10" name="Y: Ugren = UL/√3">
            <a:extLst xmlns:a="http://schemas.openxmlformats.org/drawingml/2006/main">
              <a:ext uri="{FF2B5EF4-FFF2-40B4-BE49-F238E27FC236}">
                <a16:creationId xmlns:a16="http://schemas.microsoft.com/office/drawing/2014/main" id="{EA47EC4F-B38B-435D-ADF9-9849A48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</a:t>
            </a:r>
          </a:p>
        </p:txBody>
      </p:sp>
      <p:sp>
        <p:nvSpPr>
          <p:cNvPr id="11" name="UL är linjespänning. Ugren är spänningen över en enskild resistor">
            <a:extLst xmlns:a="http://schemas.openxmlformats.org/drawingml/2006/main">
              <a:ext uri="{FF2B5EF4-FFF2-40B4-BE49-F238E27FC236}">
                <a16:creationId xmlns:a16="http://schemas.microsoft.com/office/drawing/2014/main" id="{996EA335-C488-46D1-85F1-50BC1F75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linjespänningen och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spänningen över en av resistorerna i Y-lasten.</a:t>
            </a:r>
          </a:p>
        </p:txBody>
      </p:sp>
      <p:sp>
        <p:nvSpPr>
          <p:cNvPr id="12" name="Förutsättningar: Symmetrisk källa och tre lika ohmska grenar på 4">
            <a:extLst xmlns:a="http://schemas.openxmlformats.org/drawingml/2006/main">
              <a:ext uri="{FF2B5EF4-FFF2-40B4-BE49-F238E27FC236}">
                <a16:creationId xmlns:a16="http://schemas.microsoft.com/office/drawing/2014/main" id="{3B31EA70-B923-413A-AF9A-C6D4E5C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Symmetrisk källa och tre lika resistorer på 40 Ω.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 RMS.</a:t>
            </a:r>
          </a:p>
        </p:txBody>
      </p:sp>
      <p:sp>
        <p:nvSpPr>
          <p:cNvPr id="13" name="Arbetsgång: Beräkna grenspänningen ur linjespänningen. Resistanse">
            <a:extLst xmlns:a="http://schemas.openxmlformats.org/drawingml/2006/main">
              <a:ext uri="{FF2B5EF4-FFF2-40B4-BE49-F238E27FC236}">
                <a16:creationId xmlns:a16="http://schemas.microsoft.com/office/drawing/2014/main" id="{5666FF77-1843-4D53-B84D-C1C2DA70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grenspänningen från linjespänningen. Resistansen behövs först i nästa uppgift.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951F8699-00A7-4C0E-BBF4-48CED06D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4c5befdd5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CAF92C81-A37C-49BC-BB1B-5189B3E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</a:t>
            </a:r>
          </a:p>
        </p:txBody>
      </p:sp>
      <p:sp>
        <p:nvSpPr>
          <p:cNvPr id="3" name="Y-lastens grenspänning">
            <a:extLst xmlns:a="http://schemas.openxmlformats.org/drawingml/2006/main">
              <a:ext uri="{FF2B5EF4-FFF2-40B4-BE49-F238E27FC236}">
                <a16:creationId xmlns:a16="http://schemas.microsoft.com/office/drawing/2014/main" id="{3975947B-29F5-4CCE-814C-11968B1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Y-lastens grenspänning</a:t>
            </a:r>
          </a:p>
        </p:txBody>
      </p:sp>
      <p:sp>
        <p:nvSpPr>
          <p:cNvPr id="4" name="Tre lika resistorer på 40 Ω kopplas i Y till 400 V linjespänning.">
            <a:extLst xmlns:a="http://schemas.openxmlformats.org/drawingml/2006/main">
              <a:ext uri="{FF2B5EF4-FFF2-40B4-BE49-F238E27FC236}">
                <a16:creationId xmlns:a16="http://schemas.microsoft.com/office/drawing/2014/main" id="{80CBA397-1DF0-4B20-BF82-7736A19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lika resistorer på 40 Ω kopplas i Y till 400 V linjespänning. Bestäm grenspänningen.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9C580E8-38CA-45AE-BBF0-30F0A2ED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EA1DE769-6AAC-49CC-BB94-4D819926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Y-last med tre resistorer på 40 ohm vid " descr="Y-last med tre resistorer på 40 ohm vid linjespänningen 400 V; grenspänning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c58fd5e8d4f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D2CE1BCE-BA3D-4BA6-9E0E-4BCC8FE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2.2</a:t>
            </a:r>
          </a:p>
        </p:txBody>
      </p:sp>
      <p:sp>
        <p:nvSpPr>
          <p:cNvPr id="10" name="Igren = Ugren/R     Y: IL = Igren">
            <a:extLst xmlns:a="http://schemas.openxmlformats.org/drawingml/2006/main">
              <a:ext uri="{FF2B5EF4-FFF2-40B4-BE49-F238E27FC236}">
                <a16:creationId xmlns:a16="http://schemas.microsoft.com/office/drawing/2014/main" id="{75D7C668-9E05-4BBB-A45C-74617FFE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/R; Y: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</a:p>
        </p:txBody>
      </p:sp>
      <p:sp>
        <p:nvSpPr>
          <p:cNvPr id="11" name="Linjeström IL och grenström Igren är lika i Y eftersom samma strö">
            <a:extLst xmlns:a="http://schemas.openxmlformats.org/drawingml/2006/main">
              <a:ext uri="{FF2B5EF4-FFF2-40B4-BE49-F238E27FC236}">
                <a16:creationId xmlns:a16="http://schemas.microsoft.com/office/drawing/2014/main" id="{C3EFCFE4-F474-4E96-8DCD-3D5A6487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Y är linjeströmmen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grenströmmen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lika, eftersom linjeströmmen går rakt genom grenen.</a:t>
            </a:r>
          </a:p>
        </p:txBody>
      </p:sp>
      <p:sp>
        <p:nvSpPr>
          <p:cNvPr id="12" name="Förutsättningar: Y-last med tre 40 Ω-resistorer och UL = 400 V. U">
            <a:extLst xmlns:a="http://schemas.openxmlformats.org/drawingml/2006/main">
              <a:ext uri="{FF2B5EF4-FFF2-40B4-BE49-F238E27FC236}">
                <a16:creationId xmlns:a16="http://schemas.microsoft.com/office/drawing/2014/main" id="{7BC201DD-5776-432E-833D-F696862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Y-last med tre 40 Ω-resistorer och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V.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400/√3 V.</a:t>
            </a:r>
          </a:p>
        </p:txBody>
      </p:sp>
      <p:sp>
        <p:nvSpPr>
          <p:cNvPr id="13" name="Arbetsgång: Räkna grenströmmen med Ohms lag. Använd sedan Y-samba">
            <a:extLst xmlns:a="http://schemas.openxmlformats.org/drawingml/2006/main">
              <a:ext uri="{FF2B5EF4-FFF2-40B4-BE49-F238E27FC236}">
                <a16:creationId xmlns:a16="http://schemas.microsoft.com/office/drawing/2014/main" id="{0B010880-32EB-47CC-A035-F6079EEB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grenströmmen med Ohms lag.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8A0099C8-AE52-451B-A279-917CB482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998dcedbf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EB7F03DC-EB46-42E3-BD33-B5F4D88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2.2</a:t>
            </a:r>
          </a:p>
        </p:txBody>
      </p:sp>
      <p:sp>
        <p:nvSpPr>
          <p:cNvPr id="3" name="Ström i Y">
            <a:extLst xmlns:a="http://schemas.openxmlformats.org/drawingml/2006/main">
              <a:ext uri="{FF2B5EF4-FFF2-40B4-BE49-F238E27FC236}">
                <a16:creationId xmlns:a16="http://schemas.microsoft.com/office/drawing/2014/main" id="{AB7A364B-EDF2-4A49-9EF9-D66133D0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 i Y</a:t>
            </a:r>
          </a:p>
        </p:txBody>
      </p:sp>
      <p:sp>
        <p:nvSpPr>
          <p:cNvPr id="4" name="Använd Y-lasten i uppgift 1. Bestäm grenström och linjeström.">
            <a:extLst xmlns:a="http://schemas.openxmlformats.org/drawingml/2006/main">
              <a:ext uri="{FF2B5EF4-FFF2-40B4-BE49-F238E27FC236}">
                <a16:creationId xmlns:a16="http://schemas.microsoft.com/office/drawing/2014/main" id="{38C27566-45B3-4A0F-8D7C-28EF05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Använd Y-lasten i föregående övning. Bestäm grenströmmen och linjeströmmen.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CF391AD-6A4D-4FF0-8906-293E6477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9CDFE2DB-3C93-4CAB-899D-B200E8C8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Y-last med tre resistorer på 40 ohm vid " descr="Y-last med tre resistorer på 40 ohm vid 400 V; linjeström och grenström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07e424428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CE6A95CB-5189-49AB-B5B6-9FC61B03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2.3</a:t>
            </a:r>
          </a:p>
        </p:txBody>
      </p:sp>
      <p:sp>
        <p:nvSpPr>
          <p:cNvPr id="10" name="Δ: Ugren = UL     Igren = Ugren/R&#10;IL = √3 · Igren">
            <a:extLst xmlns:a="http://schemas.openxmlformats.org/drawingml/2006/main">
              <a:ext uri="{FF2B5EF4-FFF2-40B4-BE49-F238E27FC236}">
                <a16:creationId xmlns:a16="http://schemas.microsoft.com/office/drawing/2014/main" id="{D7AA56F2-7058-4FAB-B7DC-1844B21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/R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√3 ·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</a:p>
        </p:txBody>
      </p:sp>
      <p:sp>
        <p:nvSpPr>
          <p:cNvPr id="11" name="I Δ är linjeströmmen en visarskillnad mellan två grenströmmar.">
            <a:extLst xmlns:a="http://schemas.openxmlformats.org/drawingml/2006/main">
              <a:ext uri="{FF2B5EF4-FFF2-40B4-BE49-F238E27FC236}">
                <a16:creationId xmlns:a16="http://schemas.microsoft.com/office/drawing/2014/main" id="{C82E5627-A917-4031-9A46-41D8D5E8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Δ är linjeströmmen skillnaden mellan två grenströmmar, räknad som visare.</a:t>
            </a:r>
          </a:p>
        </p:txBody>
      </p:sp>
      <p:sp>
        <p:nvSpPr>
          <p:cNvPr id="12" name="Förutsättningar: Symmetrisk Δ-last, tre resistorer på 40 Ω och UL">
            <a:extLst xmlns:a="http://schemas.openxmlformats.org/drawingml/2006/main">
              <a:ext uri="{FF2B5EF4-FFF2-40B4-BE49-F238E27FC236}">
                <a16:creationId xmlns:a16="http://schemas.microsoft.com/office/drawing/2014/main" id="{687B835B-6225-4CE7-915C-4D39FF1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Symmetrisk Δ-last, tre resistorer på 40 Ω och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 RMS.</a:t>
            </a:r>
          </a:p>
        </p:txBody>
      </p:sp>
      <p:sp>
        <p:nvSpPr>
          <p:cNvPr id="13" name="Arbetsgång: Beräkna grenströmmen. Multiplicera därefter med √3 fö">
            <a:extLst xmlns:a="http://schemas.openxmlformats.org/drawingml/2006/main">
              <a:ext uri="{FF2B5EF4-FFF2-40B4-BE49-F238E27FC236}">
                <a16:creationId xmlns:a16="http://schemas.microsoft.com/office/drawing/2014/main" id="{00C64558-0F34-4993-B49F-C0FB7B1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grenströmmen och multiplicera sedan med √3 för att få linjeströmmen.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9911CA15-2B2D-4730-9357-BC40A9F2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2726d9d5f46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0880F2A7-88BD-4513-BB57-5A53C3AE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2.3</a:t>
            </a:r>
          </a:p>
        </p:txBody>
      </p:sp>
      <p:sp>
        <p:nvSpPr>
          <p:cNvPr id="3" name="Samma resistorer i Δ">
            <a:extLst xmlns:a="http://schemas.openxmlformats.org/drawingml/2006/main">
              <a:ext uri="{FF2B5EF4-FFF2-40B4-BE49-F238E27FC236}">
                <a16:creationId xmlns:a16="http://schemas.microsoft.com/office/drawing/2014/main" id="{883D760C-A5AF-4345-AF8C-A1EF594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Samma resistorer i Δ</a:t>
            </a:r>
          </a:p>
        </p:txBody>
      </p:sp>
      <p:sp>
        <p:nvSpPr>
          <p:cNvPr id="4" name="Tre resistorer på 40 Ω kopplas i Δ till 400 V. Bestäm grenström o">
            <a:extLst xmlns:a="http://schemas.openxmlformats.org/drawingml/2006/main">
              <a:ext uri="{FF2B5EF4-FFF2-40B4-BE49-F238E27FC236}">
                <a16:creationId xmlns:a16="http://schemas.microsoft.com/office/drawing/2014/main" id="{A44AFD30-EFF4-4513-B4A1-DE7B843E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resistorer på 40 Ω kopplas i Δ till 400 V. Bestäm grenströmmen och linjeströmmen.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D345D99-B18D-4FA6-B019-1E5B5AB3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60E18C94-5496-4B34-879C-0D6066E3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Δ-last med tre resistorer på 40 ohm vid " descr="Δ-last med tre resistorer på 40 ohm vid 400 V; linjeström och grenström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1aac150634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8152087C-99E2-4A67-B0F7-3AB88BB9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2.4</a:t>
            </a:r>
          </a:p>
        </p:txBody>
      </p:sp>
      <p:sp>
        <p:nvSpPr>
          <p:cNvPr id="10" name="P = √3 · UL · IL · cos φ">
            <a:extLst xmlns:a="http://schemas.openxmlformats.org/drawingml/2006/main">
              <a:ext uri="{FF2B5EF4-FFF2-40B4-BE49-F238E27FC236}">
                <a16:creationId xmlns:a16="http://schemas.microsoft.com/office/drawing/2014/main" id="{7F7C0961-D3BB-490B-996A-02720A79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√3 ·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cos φ</a:t>
            </a:r>
          </a:p>
        </p:txBody>
      </p:sp>
      <p:sp>
        <p:nvSpPr>
          <p:cNvPr id="11" name="P är total aktiv trefaseffekt. UL och IL är linjevärden i V och A">
            <a:extLst xmlns:a="http://schemas.openxmlformats.org/drawingml/2006/main">
              <a:ext uri="{FF2B5EF4-FFF2-40B4-BE49-F238E27FC236}">
                <a16:creationId xmlns:a16="http://schemas.microsoft.com/office/drawing/2014/main" id="{6454951C-AE51-45D5-AF8E-9495435F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den totala aktiva effekten i alla tre faserna.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linjevärden (effektivvärden).</a:t>
            </a:r>
          </a:p>
        </p:txBody>
      </p:sp>
      <p:sp>
        <p:nvSpPr>
          <p:cNvPr id="12" name="Förutsättningar: Symmetrisk sinusformad last, UL = 400 V, IL = 10">
            <a:extLst xmlns:a="http://schemas.openxmlformats.org/drawingml/2006/main">
              <a:ext uri="{FF2B5EF4-FFF2-40B4-BE49-F238E27FC236}">
                <a16:creationId xmlns:a16="http://schemas.microsoft.com/office/drawing/2014/main" id="{C5A5D998-6A44-4401-AD7D-75FA4208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Symmetrisk sinusformad last,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V,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10 A, cos φ = 0,80.</a:t>
            </a:r>
          </a:p>
        </p:txBody>
      </p:sp>
      <p:sp>
        <p:nvSpPr>
          <p:cNvPr id="13" name="Arbetsgång: Multiplicera de fyra faktorerna. Resultatet blir W, s">
            <a:extLst xmlns:a="http://schemas.openxmlformats.org/drawingml/2006/main">
              <a:ext uri="{FF2B5EF4-FFF2-40B4-BE49-F238E27FC236}">
                <a16:creationId xmlns:a16="http://schemas.microsoft.com/office/drawing/2014/main" id="{022E1DEF-75B8-400F-BEB6-E3B690BA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de fyra faktorerna. Svaret blir i W – dela med 1 000 för kW.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4DF88377-AC2D-46CF-985B-0E9BB7D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543e895f7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2EAFEA00-C521-4A27-BEEF-C5B1264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2.4</a:t>
            </a:r>
          </a:p>
        </p:txBody>
      </p:sp>
      <p:sp>
        <p:nvSpPr>
          <p:cNvPr id="3" name="Aktiv effekt">
            <a:extLst xmlns:a="http://schemas.openxmlformats.org/drawingml/2006/main">
              <a:ext uri="{FF2B5EF4-FFF2-40B4-BE49-F238E27FC236}">
                <a16:creationId xmlns:a16="http://schemas.microsoft.com/office/drawing/2014/main" id="{8EFE268A-16D4-48EA-8139-E2E766F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Aktiv effekt</a:t>
            </a:r>
          </a:p>
        </p:txBody>
      </p:sp>
      <p:sp>
        <p:nvSpPr>
          <p:cNvPr id="4" name="En symmetrisk trefaslast har UL = 400 V, IL = 10 A och cos φ = 0,">
            <a:extLst xmlns:a="http://schemas.openxmlformats.org/drawingml/2006/main">
              <a:ext uri="{FF2B5EF4-FFF2-40B4-BE49-F238E27FC236}">
                <a16:creationId xmlns:a16="http://schemas.microsoft.com/office/drawing/2014/main" id="{AFAF5394-C6DF-49C1-A4A5-B8BE5A56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symmetrisk trefaslast har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400 V, I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10 A och cos φ = 0,80. Beräkna P.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9845F51-1CAC-4145-BDAE-C7FBD699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CCB27D4C-44B6-4E1C-9548-99C4D0B0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fasmotor matad med 400 V och 10 A lin" descr="Trefasmotor matad med 400 V och 10 A linjeström vid cos fi 0,80; aktiv effekt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eacba9f29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2C6E02FD-C13B-43EB-9041-D4E42015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2.5</a:t>
            </a:r>
          </a:p>
        </p:txBody>
      </p:sp>
      <p:sp>
        <p:nvSpPr>
          <p:cNvPr id="10" name="S = √3 ULIL     Q = S sin φ&#10;sin φ = √(1 − cos²φ)">
            <a:extLst xmlns:a="http://schemas.openxmlformats.org/drawingml/2006/main">
              <a:ext uri="{FF2B5EF4-FFF2-40B4-BE49-F238E27FC236}">
                <a16:creationId xmlns:a16="http://schemas.microsoft.com/office/drawing/2014/main" id="{1215796E-5FF1-4A63-AA30-58300E58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√3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Q = S sin φ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sin φ = √(1 − cos²φ)</a:t>
            </a:r>
          </a:p>
        </p:txBody>
      </p:sp>
      <p:sp>
        <p:nvSpPr>
          <p:cNvPr id="11" name="S är total skenbar effekt i VA. Q är reaktiv effekt i var, positi">
            <a:extLst xmlns:a="http://schemas.openxmlformats.org/drawingml/2006/main">
              <a:ext uri="{FF2B5EF4-FFF2-40B4-BE49-F238E27FC236}">
                <a16:creationId xmlns:a16="http://schemas.microsoft.com/office/drawing/2014/main" id="{EF330F80-08DA-4FCA-9101-54446480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 är den totala skenbara effekten i VA och Q den reaktiva effekten i var, positiv för induktiv last.</a:t>
            </a:r>
          </a:p>
        </p:txBody>
      </p:sp>
      <p:sp>
        <p:nvSpPr>
          <p:cNvPr id="12" name="Förutsättningar: UL = 400 V, IL = 10 A, cos φ = 0,80. Symmetrisk ">
            <a:extLst xmlns:a="http://schemas.openxmlformats.org/drawingml/2006/main">
              <a:ext uri="{FF2B5EF4-FFF2-40B4-BE49-F238E27FC236}">
                <a16:creationId xmlns:a16="http://schemas.microsoft.com/office/drawing/2014/main" id="{49FEF356-6177-41EB-B197-536A363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V,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10 A, cos φ = 0,80. Symmetrisk last med rena sinussignaler.</a:t>
            </a:r>
          </a:p>
        </p:txBody>
      </p:sp>
      <p:sp>
        <p:nvSpPr>
          <p:cNvPr id="13" name="Arbetsgång: Beräkna S och sin φ separat. Multiplicera sedan och o">
            <a:extLst xmlns:a="http://schemas.openxmlformats.org/drawingml/2006/main">
              <a:ext uri="{FF2B5EF4-FFF2-40B4-BE49-F238E27FC236}">
                <a16:creationId xmlns:a16="http://schemas.microsoft.com/office/drawing/2014/main" id="{B0A9EC0A-A220-4C54-BCDC-62264D0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S och sin φ var för sig, multiplicera och gör om till kVA och kvar.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C5C9CB67-11EF-48E6-BF40-B59B56C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dbea9afc2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4AE0E55C-298B-487A-9179-0038FDE3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2.5</a:t>
            </a:r>
          </a:p>
        </p:txBody>
      </p:sp>
      <p:sp>
        <p:nvSpPr>
          <p:cNvPr id="3" name="Skenbar och reaktiv effekt">
            <a:extLst xmlns:a="http://schemas.openxmlformats.org/drawingml/2006/main">
              <a:ext uri="{FF2B5EF4-FFF2-40B4-BE49-F238E27FC236}">
                <a16:creationId xmlns:a16="http://schemas.microsoft.com/office/drawing/2014/main" id="{EEFECFC2-9B04-4353-A1A9-7AC048AD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Skenbar och reaktiv effekt</a:t>
            </a:r>
          </a:p>
        </p:txBody>
      </p:sp>
      <p:sp>
        <p:nvSpPr>
          <p:cNvPr id="4" name="Samma last som i uppgift 4 är induktiv och sinusformad. Beräkna S">
            <a:extLst xmlns:a="http://schemas.openxmlformats.org/drawingml/2006/main">
              <a:ext uri="{FF2B5EF4-FFF2-40B4-BE49-F238E27FC236}">
                <a16:creationId xmlns:a16="http://schemas.microsoft.com/office/drawing/2014/main" id="{CF4A54D0-34C6-44AD-8253-40DF66A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last som i föregående övning är induktiv och sinusformad. Beräkna S och Q.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3587943-6B44-47BB-AFF3-E9C57C67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02F239CC-B566-41DF-B2F8-63C8F381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triangel för induktiv last med cos" descr="Effekttriangel för induktiv last med cos fi 0,80; S och Q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2d52815c746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F95FE301-5650-4A17-8EB7-02958F8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Motorns märkning&#10;Axeleffekt och elektrisk effekt&#10;Trefastransforma">
            <a:extLst xmlns:a="http://schemas.openxmlformats.org/drawingml/2006/main">
              <a:ext uri="{FF2B5EF4-FFF2-40B4-BE49-F238E27FC236}">
                <a16:creationId xmlns:a16="http://schemas.microsoft.com/office/drawing/2014/main" id="{F0C77865-82E8-4F07-9B3A-2529BA2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Motorns märkning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Axeleffekt och elektrisk effekt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Trefastransformatorn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3930BA16-0506-4502-B140-3C3425F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2.6–2.10.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9B00781C-5698-4054-BB7D-C325941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fddca0740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otorns märkning">
            <a:extLst xmlns:a="http://schemas.openxmlformats.org/drawingml/2006/main">
              <a:ext uri="{FF2B5EF4-FFF2-40B4-BE49-F238E27FC236}">
                <a16:creationId xmlns:a16="http://schemas.microsoft.com/office/drawing/2014/main" id="{A440ABAC-1529-4BA8-AA83-D38A629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Motorns märkning</a:t>
            </a:r>
          </a:p>
        </p:txBody>
      </p:sp>
      <p:sp>
        <p:nvSpPr>
          <p:cNvPr id="3" name="Märkningen Δ/Y 230/400 V anger spänningen för varje koppling.&#10;Val">
            <a:extLst xmlns:a="http://schemas.openxmlformats.org/drawingml/2006/main">
              <a:ext uri="{FF2B5EF4-FFF2-40B4-BE49-F238E27FC236}">
                <a16:creationId xmlns:a16="http://schemas.microsoft.com/office/drawing/2014/main" id="{66E5F4CD-EB80-44AB-936B-51F49E2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Märkningen Δ/Y 230/400 V anger spänningen för varje koppling.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Valet beror på matning och faktisk motormärkning.</a:t>
            </a:r>
          </a:p>
        </p:txBody>
      </p:sp>
      <p:sp>
        <p:nvSpPr>
          <p:cNvPr id="4" name="Δ/Y 230/400 V vid 400 V: Y">
            <a:extLst xmlns:a="http://schemas.openxmlformats.org/drawingml/2006/main">
              <a:ext uri="{FF2B5EF4-FFF2-40B4-BE49-F238E27FC236}">
                <a16:creationId xmlns:a16="http://schemas.microsoft.com/office/drawing/2014/main" id="{04507431-C465-4196-8B87-A21DA43D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Nätets U</a:t>
            </a:r>
            <a:r>
              <a:rPr sz="26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högre märkvärde: Y</a:t>
            </a:r>
          </a:p>
        </p:txBody>
      </p:sp>
      <p:sp>
        <p:nvSpPr>
          <p:cNvPr id="5" name="Δ/Y 400/690 V vid 400 V: Δ.&#10;En 230/400 V-motor kan inte köras i Δ">
            <a:extLst xmlns:a="http://schemas.openxmlformats.org/drawingml/2006/main">
              <a:ext uri="{FF2B5EF4-FFF2-40B4-BE49-F238E27FC236}">
                <a16:creationId xmlns:a16="http://schemas.microsoft.com/office/drawing/2014/main" id="{1706932A-C7CB-4E5F-829A-6498C36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Nätets U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lägre märkvärde: Δ.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Ombord: en motor Δ/Y 440/760 V på 440 V-nät kopplas i Δ.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34577176-375F-4F0A-8559-5F7A0E62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otorns kopplingsplint: Y med bygel över" descr="Motorns kopplingsplint: Y med bygel över W2, U2, V2 och Δ med byglar U1–W2, V1–U2, W1–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c2c95f27342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xeleffekt och elektrisk effekt">
            <a:extLst xmlns:a="http://schemas.openxmlformats.org/drawingml/2006/main">
              <a:ext uri="{FF2B5EF4-FFF2-40B4-BE49-F238E27FC236}">
                <a16:creationId xmlns:a16="http://schemas.microsoft.com/office/drawing/2014/main" id="{E2D40898-E95E-4DC7-B290-D726B26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Axeleffekt och elektrisk effekt</a:t>
            </a:r>
          </a:p>
        </p:txBody>
      </p:sp>
      <p:sp>
        <p:nvSpPr>
          <p:cNvPr id="3" name="Motorns angivna nyttiga effekt är ofta mekanisk axeleffekt.&#10;Förlu">
            <a:extLst xmlns:a="http://schemas.openxmlformats.org/drawingml/2006/main">
              <a:ext uri="{FF2B5EF4-FFF2-40B4-BE49-F238E27FC236}">
                <a16:creationId xmlns:a16="http://schemas.microsoft.com/office/drawing/2014/main" id="{AE65DF27-7288-4962-A6EA-D6D5DB8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Motorns angivna nyttiga effekt är ofta mekanisk axeleffekt.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Förlusten gör att den elektriska inmatningen är större.</a:t>
            </a:r>
          </a:p>
        </p:txBody>
      </p:sp>
      <p:sp>
        <p:nvSpPr>
          <p:cNvPr id="4" name="Pᵢₙ = Paxel/η">
            <a:extLst xmlns:a="http://schemas.openxmlformats.org/drawingml/2006/main">
              <a:ext uri="{FF2B5EF4-FFF2-40B4-BE49-F238E27FC236}">
                <a16:creationId xmlns:a16="http://schemas.microsoft.com/office/drawing/2014/main" id="{DC11A226-5557-4F38-B8A3-80E69045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P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/η</a:t>
            </a:r>
          </a:p>
        </p:txBody>
      </p:sp>
      <p:sp>
        <p:nvSpPr>
          <p:cNvPr id="5" name="Paxel = 5,5 kW, η = 0,88 ger Pᵢₙ = 6,25 kW.&#10;Vid 400 V och PF = 0,">
            <a:extLst xmlns:a="http://schemas.openxmlformats.org/drawingml/2006/main">
              <a:ext uri="{FF2B5EF4-FFF2-40B4-BE49-F238E27FC236}">
                <a16:creationId xmlns:a16="http://schemas.microsoft.com/office/drawing/2014/main" id="{131D586E-3E38-476F-8CF2-6BA9613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11 kW, η = 0,90 ger 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12,2 kW.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440 V och PF = 0,85 blir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18,9 A.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0D0B37AA-4AD5-4FAE-802D-1ED8DDBB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Effektflöde i motorn: elektrisk inmatnin" descr="Effektflöde i motorn: elektrisk inmatning blir axeleffekt och förlu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c3eba9c24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refastransformatorn">
            <a:extLst xmlns:a="http://schemas.openxmlformats.org/drawingml/2006/main">
              <a:ext uri="{FF2B5EF4-FFF2-40B4-BE49-F238E27FC236}">
                <a16:creationId xmlns:a16="http://schemas.microsoft.com/office/drawing/2014/main" id="{2C6E7E00-F2A0-46BA-93FC-B9796D5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Trefastransformatorn</a:t>
            </a:r>
          </a:p>
        </p:txBody>
      </p:sp>
      <p:sp>
        <p:nvSpPr>
          <p:cNvPr id="3" name="En transformator kopplar magnetiskt mellan lindningar.&#10;Omsättning">
            <a:extLst xmlns:a="http://schemas.openxmlformats.org/drawingml/2006/main">
              <a:ext uri="{FF2B5EF4-FFF2-40B4-BE49-F238E27FC236}">
                <a16:creationId xmlns:a16="http://schemas.microsoft.com/office/drawing/2014/main" id="{64635E9C-D8A4-431C-AFE5-9098F1A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transformator kopplar magnetiskt mellan lindningar.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Omsättning per lindning måste skiljas från linjeomsättning.</a:t>
            </a:r>
          </a:p>
        </p:txBody>
      </p:sp>
      <p:sp>
        <p:nvSpPr>
          <p:cNvPr id="4" name="U₁,gren/U₂,gren = N₁/N₂">
            <a:extLst xmlns:a="http://schemas.openxmlformats.org/drawingml/2006/main">
              <a:ext uri="{FF2B5EF4-FFF2-40B4-BE49-F238E27FC236}">
                <a16:creationId xmlns:a16="http://schemas.microsoft.com/office/drawing/2014/main" id="{E7ABDC98-461A-48FA-970D-7676643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1,gren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2,gren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N₁/N₂</a:t>
            </a:r>
          </a:p>
        </p:txBody>
      </p:sp>
      <p:sp>
        <p:nvSpPr>
          <p:cNvPr id="5" name="I uppgifterna med angivna linjespänningar används S = √3 ULIL.&#10;Y/">
            <a:extLst xmlns:a="http://schemas.openxmlformats.org/drawingml/2006/main">
              <a:ext uri="{FF2B5EF4-FFF2-40B4-BE49-F238E27FC236}">
                <a16:creationId xmlns:a16="http://schemas.microsoft.com/office/drawing/2014/main" id="{BA98B29B-5188-4946-94C2-CA22947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uppgifterna med angivna linjespänningar används S = √3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Y/Δ och kopplingsgrupp påverkar sambandet mellan lindningar.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B1353805-C713-4C2D-87E5-0E3C5DB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1b4b1b90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motorström från axeleffekt">
            <a:extLst xmlns:a="http://schemas.openxmlformats.org/drawingml/2006/main">
              <a:ext uri="{FF2B5EF4-FFF2-40B4-BE49-F238E27FC236}">
                <a16:creationId xmlns:a16="http://schemas.microsoft.com/office/drawing/2014/main" id="{1E57418F-77DA-48A4-AF44-A15357D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motorström från axeleffekt</a:t>
            </a:r>
          </a:p>
        </p:txBody>
      </p:sp>
      <p:sp>
        <p:nvSpPr>
          <p:cNvPr id="10" name="Motor: Paxel = 2,4 kW, η = 0,80, PF = 0,75 och UL = 400 V. Symmet">
            <a:extLst xmlns:a="http://schemas.openxmlformats.org/drawingml/2006/main">
              <a:ext uri="{FF2B5EF4-FFF2-40B4-BE49-F238E27FC236}">
                <a16:creationId xmlns:a16="http://schemas.microsoft.com/office/drawing/2014/main" id="{49A5AF4E-937C-47D1-806D-1921C31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Motor: P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3,0 kW, η = 0,80, PF = 0,75 och U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440 V ombord. Symmetrisk trefas.</a:t>
            </a:r>
          </a:p>
        </p:txBody>
      </p:sp>
      <p:sp>
        <p:nvSpPr>
          <p:cNvPr id="11" name="Pᵢₙ = Paxel/η     IL = Pᵢₙ/(√3 ULPF)">
            <a:extLst xmlns:a="http://schemas.openxmlformats.org/drawingml/2006/main">
              <a:ext uri="{FF2B5EF4-FFF2-40B4-BE49-F238E27FC236}">
                <a16:creationId xmlns:a16="http://schemas.microsoft.com/office/drawing/2014/main" id="{51F3D8B3-FCE3-4632-882B-1E539C3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/η     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/(√3 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PF)</a:t>
            </a:r>
          </a:p>
        </p:txBody>
      </p:sp>
      <p:sp>
        <p:nvSpPr>
          <p:cNvPr id="12" name="1. Pᵢₙ = 2,4/0,80 = 3,0 kW = 3 000 W.&#10;2. IL = 3 000/(√3 · 400 · 0">
            <a:extLst xmlns:a="http://schemas.openxmlformats.org/drawingml/2006/main">
              <a:ext uri="{FF2B5EF4-FFF2-40B4-BE49-F238E27FC236}">
                <a16:creationId xmlns:a16="http://schemas.microsoft.com/office/drawing/2014/main" id="{5415F706-B61C-4734-8B06-29F36CA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P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3,0/0,80 = 3,75 kW = 3 750 W.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3 750/(√3 · 440 · 0,75) ≈ 6,56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P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förlust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3,75 − 3,0 = 0,75 kW.</a:t>
            </a:r>
          </a:p>
        </p:txBody>
      </p:sp>
      <p:sp>
        <p:nvSpPr>
          <p:cNvPr id="13" name="Effektfaktor och verkningsgrad används i olika steg. η omvandlar ">
            <a:extLst xmlns:a="http://schemas.openxmlformats.org/drawingml/2006/main">
              <a:ext uri="{FF2B5EF4-FFF2-40B4-BE49-F238E27FC236}">
                <a16:creationId xmlns:a16="http://schemas.microsoft.com/office/drawing/2014/main" id="{FC0A8C4B-CECC-4355-BCA9-6893EC4A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Effektfaktor och verkningsgrad används i olika steg. η omvandlar uteffekt till inmatning.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A87091DF-8E89-4C18-8C12-D348C5D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c64fd73c3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CF19B412-99E3-40D6-B7D2-06253869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2.6</a:t>
            </a:r>
          </a:p>
        </p:txBody>
      </p:sp>
      <p:sp>
        <p:nvSpPr>
          <p:cNvPr id="10" name="Y: Ugren = UL/√3     Δ: Ugren = UL">
            <a:extLst xmlns:a="http://schemas.openxmlformats.org/drawingml/2006/main">
              <a:ext uri="{FF2B5EF4-FFF2-40B4-BE49-F238E27FC236}">
                <a16:creationId xmlns:a16="http://schemas.microsoft.com/office/drawing/2014/main" id="{8257EFE1-9F0B-4636-9F3E-C20F60C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/√3; Δ: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gren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</a:p>
        </p:txBody>
      </p:sp>
      <p:sp>
        <p:nvSpPr>
          <p:cNvPr id="11" name="Märkningen Δ/Y 230/400 V anger tillåten linjespänning för respekt">
            <a:extLst xmlns:a="http://schemas.openxmlformats.org/drawingml/2006/main">
              <a:ext uri="{FF2B5EF4-FFF2-40B4-BE49-F238E27FC236}">
                <a16:creationId xmlns:a16="http://schemas.microsoft.com/office/drawing/2014/main" id="{3355E8B8-926E-486E-8350-0719FF76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Märkningen Δ/Y 230/400 V anger vilken nätspänning som gäller för varje koppling.</a:t>
            </a:r>
          </a:p>
        </p:txBody>
      </p:sp>
      <p:sp>
        <p:nvSpPr>
          <p:cNvPr id="12" name="Förutsättningar: Motorn är märkt Δ/Y 230/400 V. Matningen är 400 ">
            <a:extLst xmlns:a="http://schemas.openxmlformats.org/drawingml/2006/main">
              <a:ext uri="{FF2B5EF4-FFF2-40B4-BE49-F238E27FC236}">
                <a16:creationId xmlns:a16="http://schemas.microsoft.com/office/drawing/2014/main" id="{D9E86A8C-7A69-44A2-9C83-D255BDC7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Motorn är märkt Δ/Y 230/400 V. Matningen är 400 V mellan faserna.</a:t>
            </a:r>
          </a:p>
        </p:txBody>
      </p:sp>
      <p:sp>
        <p:nvSpPr>
          <p:cNvPr id="13" name="Arbetsgång: Jämför lindningsspänningen vid Y och Δ med motorns mä">
            <a:extLst xmlns:a="http://schemas.openxmlformats.org/drawingml/2006/main">
              <a:ext uri="{FF2B5EF4-FFF2-40B4-BE49-F238E27FC236}">
                <a16:creationId xmlns:a16="http://schemas.microsoft.com/office/drawing/2014/main" id="{B0E4B1BE-DF4B-41A6-A514-E5E9DB1C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spänningen över en lindning i Y och i Δ och jämför med märkningen. Motivera valet med ett värde.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37187CE2-B812-4C2B-B980-C6316335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49dc7b61b4e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A9E16B93-0384-42C5-9512-C38C0D9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2.6</a:t>
            </a:r>
          </a:p>
        </p:txBody>
      </p:sp>
      <p:sp>
        <p:nvSpPr>
          <p:cNvPr id="3" name="Motor 230/400 V">
            <a:extLst xmlns:a="http://schemas.openxmlformats.org/drawingml/2006/main">
              <a:ext uri="{FF2B5EF4-FFF2-40B4-BE49-F238E27FC236}">
                <a16:creationId xmlns:a16="http://schemas.microsoft.com/office/drawing/2014/main" id="{784134E0-79F7-4D94-B6E7-35B2782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 230/400 V</a:t>
            </a:r>
          </a:p>
        </p:txBody>
      </p:sp>
      <p:sp>
        <p:nvSpPr>
          <p:cNvPr id="4" name="Motorn är märkt Δ/Y 230/400 V. Matningen är 400 V mellan faserna.">
            <a:extLst xmlns:a="http://schemas.openxmlformats.org/drawingml/2006/main">
              <a:ext uri="{FF2B5EF4-FFF2-40B4-BE49-F238E27FC236}">
                <a16:creationId xmlns:a16="http://schemas.microsoft.com/office/drawing/2014/main" id="{C20B9F01-044C-460E-B7E6-BC989BC3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 är märkt Δ/Y 230/400 V. Matningen är 400 V mellan faserna. Vilken koppling ger rätt märkspänning över lindningarna?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BA868EE-E66F-4A02-A6DA-D178783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E0E21F69-BD86-4FBB-B7C5-57886859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otor märkt Δ/Y 230/400 V på 400 V-nät; " descr="Motor märkt Δ/Y 230/400 V på 400 V-nät; Y- och Δ-koppling att välja mel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55e4dc5e34b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03961837-B463-43AA-9E52-C90AE3C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2.7</a:t>
            </a:r>
          </a:p>
        </p:txBody>
      </p:sp>
      <p:sp>
        <p:nvSpPr>
          <p:cNvPr id="10" name="Märkningens Δ-värde jämförs med UL">
            <a:extLst xmlns:a="http://schemas.openxmlformats.org/drawingml/2006/main">
              <a:ext uri="{FF2B5EF4-FFF2-40B4-BE49-F238E27FC236}">
                <a16:creationId xmlns:a16="http://schemas.microsoft.com/office/drawing/2014/main" id="{A96613F4-9628-42C6-AC75-55CCD83F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Nätets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märkvärdet för driftkopplingen</a:t>
            </a:r>
          </a:p>
        </p:txBody>
      </p:sp>
      <p:sp>
        <p:nvSpPr>
          <p:cNvPr id="11" name="Δ/Y 400/690 V betyder att lindningen är avsedd för ungefär 400 V ">
            <a:extLst xmlns:a="http://schemas.openxmlformats.org/drawingml/2006/main">
              <a:ext uri="{FF2B5EF4-FFF2-40B4-BE49-F238E27FC236}">
                <a16:creationId xmlns:a16="http://schemas.microsoft.com/office/drawing/2014/main" id="{D0A77739-C019-4398-9AA7-1F2E9AC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Δ/Y-märkningen anger vilken linjespänning som gäller för respektive koppling.</a:t>
            </a:r>
          </a:p>
        </p:txBody>
      </p:sp>
      <p:sp>
        <p:nvSpPr>
          <p:cNvPr id="12" name="Förutsättningar: Matningen ger 400 V linjespänning. Endast driftk">
            <a:extLst xmlns:a="http://schemas.openxmlformats.org/drawingml/2006/main">
              <a:ext uri="{FF2B5EF4-FFF2-40B4-BE49-F238E27FC236}">
                <a16:creationId xmlns:a16="http://schemas.microsoft.com/office/drawing/2014/main" id="{4D89BB26-4F0B-4937-B83C-B1C44BCC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Nätet ger 400 V mellan faserna. Frågan gäller bara vilken koppling motorn ska ha i drift.</a:t>
            </a:r>
          </a:p>
        </p:txBody>
      </p:sp>
      <p:sp>
        <p:nvSpPr>
          <p:cNvPr id="13" name="Arbetsgång: Jämför nätets linjespänning med respektive märkspänni">
            <a:extLst xmlns:a="http://schemas.openxmlformats.org/drawingml/2006/main">
              <a:ext uri="{FF2B5EF4-FFF2-40B4-BE49-F238E27FC236}">
                <a16:creationId xmlns:a16="http://schemas.microsoft.com/office/drawing/2014/main" id="{4816FEC6-C368-4D2E-A64B-5CFF236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nätets linjespänning med respektive märkspänning. Full dokumentation styr verklig anslutning.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FB3D7069-F442-4291-AABC-1C13909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155c7d09947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D1D39069-71F9-4641-8539-D09F02D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2.7</a:t>
            </a:r>
          </a:p>
        </p:txBody>
      </p:sp>
      <p:sp>
        <p:nvSpPr>
          <p:cNvPr id="3" name="Motor 400/690 V">
            <a:extLst xmlns:a="http://schemas.openxmlformats.org/drawingml/2006/main">
              <a:ext uri="{FF2B5EF4-FFF2-40B4-BE49-F238E27FC236}">
                <a16:creationId xmlns:a16="http://schemas.microsoft.com/office/drawing/2014/main" id="{B6CA939F-B864-4B16-91A1-2CF6A3A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 400/690 V</a:t>
            </a:r>
          </a:p>
        </p:txBody>
      </p:sp>
      <p:sp>
        <p:nvSpPr>
          <p:cNvPr id="4" name="En motor är märkt Δ/Y 400/690 V. Nätet ger 400 V mellan faserna. ">
            <a:extLst xmlns:a="http://schemas.openxmlformats.org/drawingml/2006/main">
              <a:ext uri="{FF2B5EF4-FFF2-40B4-BE49-F238E27FC236}">
                <a16:creationId xmlns:a16="http://schemas.microsoft.com/office/drawing/2014/main" id="{BA4A446C-6D99-407D-98D7-E9EB3400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är märkt Δ/Y 400/690 V. Nätet ger 400 V mellan faserna. Vilken driftkoppling stämmer?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6E4B63B-E8EB-48B6-9A81-8630A9F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427C7E22-2E31-49EC-9838-F7B6B392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otor märkt Δ/Y 400/690 V på 400 V-nät; " descr="Motor märkt Δ/Y 400/690 V på 400 V-nät; Y- och Δ-koppling att välja mel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472b67f9b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35F9440A-1FD1-419A-8ABC-219F2F2C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2.8</a:t>
            </a:r>
          </a:p>
        </p:txBody>
      </p:sp>
      <p:sp>
        <p:nvSpPr>
          <p:cNvPr id="10" name="Pᵢₙ = Paxel/η&#10;IL = Pᵢₙ/(√3 · UL · PF)">
            <a:extLst xmlns:a="http://schemas.openxmlformats.org/drawingml/2006/main">
              <a:ext uri="{FF2B5EF4-FFF2-40B4-BE49-F238E27FC236}">
                <a16:creationId xmlns:a16="http://schemas.microsoft.com/office/drawing/2014/main" id="{291B08E5-6A31-4949-BED9-F706F78B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/η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/(√3 ·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PF)</a:t>
            </a:r>
          </a:p>
        </p:txBody>
      </p:sp>
      <p:sp>
        <p:nvSpPr>
          <p:cNvPr id="11" name="Paxel är mekanisk uteffekt. Pᵢₙ är elektrisk aktiv inmatning. η o">
            <a:extLst xmlns:a="http://schemas.openxmlformats.org/drawingml/2006/main">
              <a:ext uri="{FF2B5EF4-FFF2-40B4-BE49-F238E27FC236}">
                <a16:creationId xmlns:a16="http://schemas.microsoft.com/office/drawing/2014/main" id="{32687CDB-947D-4B58-AE18-728611A8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effekten på axeln och 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den tillförda elektriska effekten. η och PF saknar enhet.</a:t>
            </a:r>
          </a:p>
        </p:txBody>
      </p:sp>
      <p:sp>
        <p:nvSpPr>
          <p:cNvPr id="12" name="Förutsättningar: Paxel = 5,5 kW, η = 0,88, PF = 0,80 och UL = 400">
            <a:extLst xmlns:a="http://schemas.openxmlformats.org/drawingml/2006/main">
              <a:ext uri="{FF2B5EF4-FFF2-40B4-BE49-F238E27FC236}">
                <a16:creationId xmlns:a16="http://schemas.microsoft.com/office/drawing/2014/main" id="{45BA0188-45CA-4EC3-84E0-5614E87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Landström vid kaj, 50 Hz. P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5,5 kW, η = 0,88, PF = 0,80 och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V. Symmetrisk trefas.</a:t>
            </a:r>
          </a:p>
        </p:txBody>
      </p:sp>
      <p:sp>
        <p:nvSpPr>
          <p:cNvPr id="13" name="Arbetsgång: Räkna inmatningen först. Omvandla kW till W innan du ">
            <a:extLst xmlns:a="http://schemas.openxmlformats.org/drawingml/2006/main">
              <a:ext uri="{FF2B5EF4-FFF2-40B4-BE49-F238E27FC236}">
                <a16:creationId xmlns:a16="http://schemas.microsoft.com/office/drawing/2014/main" id="{CA244B3E-E20C-4BB3-AA68-F35B79FF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P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gör om kW till W innan du räknar linjeströmmen.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A7A01E60-6F7A-47A6-9389-9016E73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451e5bc9e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025F82FB-7F9E-4147-9E32-E9B51831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2.8</a:t>
            </a:r>
          </a:p>
        </p:txBody>
      </p:sp>
      <p:sp>
        <p:nvSpPr>
          <p:cNvPr id="3" name="Motorström från axeleffekt">
            <a:extLst xmlns:a="http://schemas.openxmlformats.org/drawingml/2006/main">
              <a:ext uri="{FF2B5EF4-FFF2-40B4-BE49-F238E27FC236}">
                <a16:creationId xmlns:a16="http://schemas.microsoft.com/office/drawing/2014/main" id="{0D212A74-AF4C-48E6-9554-67C4EC2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Motorström från axeleffekt</a:t>
            </a:r>
          </a:p>
        </p:txBody>
      </p:sp>
      <p:sp>
        <p:nvSpPr>
          <p:cNvPr id="4" name="Paxel = 5,5 kW, η = 0,88, PF = 0,80 och UL = 400 V. Bestäm elektr">
            <a:extLst xmlns:a="http://schemas.openxmlformats.org/drawingml/2006/main">
              <a:ext uri="{FF2B5EF4-FFF2-40B4-BE49-F238E27FC236}">
                <a16:creationId xmlns:a16="http://schemas.microsoft.com/office/drawing/2014/main" id="{9581BB4A-9C80-4D74-B164-2795CAED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ger P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axel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5,5 kW med η = 0,88 och PF = 0,80 vid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400 V. Bestäm den tillförda elektriska effekten och linjeströmmen.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E4A8510-D9C9-4D57-B2FA-0B38515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FA3517D5-4163-4101-8C36-A3FD55B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fasmotor med axeleffekt 5,5 kW, verkn" descr="Trefasmotor med axeleffekt 5,5 kW, verkningsgrad 0,88 och PF 0,80 vid 400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d9c4f921243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FCED7195-A095-4FBB-B978-FB286345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2.9</a:t>
            </a:r>
          </a:p>
        </p:txBody>
      </p:sp>
      <p:sp>
        <p:nvSpPr>
          <p:cNvPr id="10" name="I₂ = S/(√3 · U₂)">
            <a:extLst xmlns:a="http://schemas.openxmlformats.org/drawingml/2006/main">
              <a:ext uri="{FF2B5EF4-FFF2-40B4-BE49-F238E27FC236}">
                <a16:creationId xmlns:a16="http://schemas.microsoft.com/office/drawing/2014/main" id="{EC96598A-15ED-454F-90B7-DBD6FDD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 = S/(√3 · U₂)</a:t>
            </a:r>
          </a:p>
        </p:txBody>
      </p:sp>
      <p:sp>
        <p:nvSpPr>
          <p:cNvPr id="11" name="S är total trefas-märkeffekt i VA. U₂ är sekundär linjespänning i">
            <a:extLst xmlns:a="http://schemas.openxmlformats.org/drawingml/2006/main">
              <a:ext uri="{FF2B5EF4-FFF2-40B4-BE49-F238E27FC236}">
                <a16:creationId xmlns:a16="http://schemas.microsoft.com/office/drawing/2014/main" id="{04C59C07-8062-4704-8603-2D289623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 är transformatorns märkeffekt i VA.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linjespänning och linjeström på sekundärsidan.</a:t>
            </a:r>
          </a:p>
        </p:txBody>
      </p:sp>
      <p:sp>
        <p:nvSpPr>
          <p:cNvPr id="12" name="Förutsättningar: Ideal symmetrisk trefastransformator, 100 kVA oc">
            <a:extLst xmlns:a="http://schemas.openxmlformats.org/drawingml/2006/main">
              <a:ext uri="{FF2B5EF4-FFF2-40B4-BE49-F238E27FC236}">
                <a16:creationId xmlns:a16="http://schemas.microsoft.com/office/drawing/2014/main" id="{37FD6208-535D-4431-A0FB-A9F04E97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Nätstation i land. Ideal symmetrisk trefastransformator, 100 kVA och 10 kV/400 V.</a:t>
            </a:r>
          </a:p>
        </p:txBody>
      </p:sp>
      <p:sp>
        <p:nvSpPr>
          <p:cNvPr id="13" name="Arbetsgång: Använd 100 000 VA och sekundärsidans 400 V. Primärspä">
            <a:extLst xmlns:a="http://schemas.openxmlformats.org/drawingml/2006/main">
              <a:ext uri="{FF2B5EF4-FFF2-40B4-BE49-F238E27FC236}">
                <a16:creationId xmlns:a16="http://schemas.microsoft.com/office/drawing/2014/main" id="{D9E6AB87-BF63-4C0A-9615-AA6227AC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100 000 VA och sekundärsidans 400 V – primärspänningen ska inte vara med här.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E156F967-54C0-49D1-B667-76AF1BE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002a88eeb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3B1F92A2-421A-4CC9-93D9-FA3B337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2.9</a:t>
            </a:r>
          </a:p>
        </p:txBody>
      </p:sp>
      <p:sp>
        <p:nvSpPr>
          <p:cNvPr id="3" name="Transformatorns märkström">
            <a:extLst xmlns:a="http://schemas.openxmlformats.org/drawingml/2006/main">
              <a:ext uri="{FF2B5EF4-FFF2-40B4-BE49-F238E27FC236}">
                <a16:creationId xmlns:a16="http://schemas.microsoft.com/office/drawing/2014/main" id="{3FC422E1-C818-4374-BF2A-079CA47C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Transformatorns märkström</a:t>
            </a:r>
          </a:p>
        </p:txBody>
      </p:sp>
      <p:sp>
        <p:nvSpPr>
          <p:cNvPr id="4" name="En ideal trefastransformator är märkt 100 kVA, 10 kV/400 V linjes">
            <a:extLst xmlns:a="http://schemas.openxmlformats.org/drawingml/2006/main">
              <a:ext uri="{FF2B5EF4-FFF2-40B4-BE49-F238E27FC236}">
                <a16:creationId xmlns:a16="http://schemas.microsoft.com/office/drawing/2014/main" id="{04B0E401-B164-410F-A9D7-4EBC98B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trefastransformator är märkt 100 kVA och 10 kV/400 V (linjespänningar). Bestäm linjeströmmen på sekundärsidan vid full last.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F4808E12-0260-44D5-8570-C3BCCC0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CEA952C7-842F-4885-B982-9ED8021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ansformator 100 kVA, 10 kV till 400 V;" descr="Transformator 100 kVA, 10 kV till 400 V; sekundär linjeström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2742062b7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DBAFEF5D-1DBD-4E48-A69E-8B957C2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2.10</a:t>
            </a:r>
          </a:p>
        </p:txBody>
      </p:sp>
      <p:sp>
        <p:nvSpPr>
          <p:cNvPr id="10" name="Ptotal = P₁ + P₂ + P₃">
            <a:extLst xmlns:a="http://schemas.openxmlformats.org/drawingml/2006/main">
              <a:ext uri="{FF2B5EF4-FFF2-40B4-BE49-F238E27FC236}">
                <a16:creationId xmlns:a16="http://schemas.microsoft.com/office/drawing/2014/main" id="{6CC87AEB-A69A-48D9-A141-587B9A31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P₁ + P₂ + P₃</a:t>
            </a:r>
          </a:p>
        </p:txBody>
      </p:sp>
      <p:sp>
        <p:nvSpPr>
          <p:cNvPr id="11" name="Aktiva faseffekter kan adderas även när faslasterna är olika.">
            <a:extLst xmlns:a="http://schemas.openxmlformats.org/drawingml/2006/main">
              <a:ext uri="{FF2B5EF4-FFF2-40B4-BE49-F238E27FC236}">
                <a16:creationId xmlns:a16="http://schemas.microsoft.com/office/drawing/2014/main" id="{E7A8290F-1163-4BD2-B7D4-448DF09C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Aktiva faseffekter kan adderas även när faslasterna är olika.</a:t>
            </a:r>
          </a:p>
        </p:txBody>
      </p:sp>
      <p:sp>
        <p:nvSpPr>
          <p:cNvPr id="12" name="Förutsättningar: Uppmätta faseffekter 1,2, 1,5 och 0,9 kW. Ingen ">
            <a:extLst xmlns:a="http://schemas.openxmlformats.org/drawingml/2006/main">
              <a:ext uri="{FF2B5EF4-FFF2-40B4-BE49-F238E27FC236}">
                <a16:creationId xmlns:a16="http://schemas.microsoft.com/office/drawing/2014/main" id="{B853A4D0-0354-40EE-AAC1-E5E4BB3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Uppmätt effekt per fas: 1,2, 1,5 och 0,9 kW. Lasten är inte symmetrisk.</a:t>
            </a:r>
          </a:p>
        </p:txBody>
      </p:sp>
      <p:sp>
        <p:nvSpPr>
          <p:cNvPr id="13" name="Arbetsgång: Summera faseffekterna. Förklara vilken symmetri som s">
            <a:extLst xmlns:a="http://schemas.openxmlformats.org/drawingml/2006/main">
              <a:ext uri="{FF2B5EF4-FFF2-40B4-BE49-F238E27FC236}">
                <a16:creationId xmlns:a16="http://schemas.microsoft.com/office/drawing/2014/main" id="{A1E91F44-FDEC-4FBE-9F25-89F3A718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Summera faseffekterna. Förklara vilken symmetri som saknas för att använda en godtycklig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i √3-formeln.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BCF25F0A-C1A0-43F5-8518-E29CF6A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af3158bc6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F7511C26-D633-408E-B646-D88F714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2.10</a:t>
            </a:r>
          </a:p>
        </p:txBody>
      </p:sp>
      <p:sp>
        <p:nvSpPr>
          <p:cNvPr id="3" name="Osymmetrisk aktiv effekt">
            <a:extLst xmlns:a="http://schemas.openxmlformats.org/drawingml/2006/main">
              <a:ext uri="{FF2B5EF4-FFF2-40B4-BE49-F238E27FC236}">
                <a16:creationId xmlns:a16="http://schemas.microsoft.com/office/drawing/2014/main" id="{97266976-5611-48BE-89A7-E899569D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Osymmetrisk aktiv effekt</a:t>
            </a:r>
          </a:p>
        </p:txBody>
      </p:sp>
      <p:sp>
        <p:nvSpPr>
          <p:cNvPr id="4" name="En last har tre uppmätta aktiva faseffekter: 1,2, 1,5 och 0,9 kW.">
            <a:extLst xmlns:a="http://schemas.openxmlformats.org/drawingml/2006/main">
              <a:ext uri="{FF2B5EF4-FFF2-40B4-BE49-F238E27FC236}">
                <a16:creationId xmlns:a16="http://schemas.microsoft.com/office/drawing/2014/main" id="{CDC943E3-7F18-470C-A0D3-7DB5D0D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Den aktiva effekten i de tre faserna har mätts till 1,2, 1,5 och 0,9 kW. Bestäm den totala aktiva effekten. Varför kan du inte bara ta en av fasströmmarna och sätta in i formeln för symmetrisk last?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063D292-80E9-462A-8083-2E395587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D64093B8-045F-4BE4-8D88-704AE917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peldiagram med faseffekterna 1,2, 1,5" descr="Stapeldiagram med faseffekterna 1,2, 1,5 och 0,9 kW; total effekt okä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cdb690880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BEAC178D-E756-4BED-89B1-C1C91C1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a märkdata behöver du innan du beräknar motorström från axele">
            <a:extLst xmlns:a="http://schemas.openxmlformats.org/drawingml/2006/main">
              <a:ext uri="{FF2B5EF4-FFF2-40B4-BE49-F238E27FC236}">
                <a16:creationId xmlns:a16="http://schemas.microsoft.com/office/drawing/2014/main" id="{80C06CA9-DE88-4D06-9C7B-E3B124D1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märkdata behöver du innan du beräknar motorström från axeleffekt?</a:t>
            </a:r>
          </a:p>
        </p:txBody>
      </p:sp>
      <p:sp>
        <p:nvSpPr>
          <p:cNvPr id="4" name="Lämna v41-uppgifterna före 9 oktober. Repetera instrumentval och ">
            <a:extLst xmlns:a="http://schemas.openxmlformats.org/drawingml/2006/main">
              <a:ext uri="{FF2B5EF4-FFF2-40B4-BE49-F238E27FC236}">
                <a16:creationId xmlns:a16="http://schemas.microsoft.com/office/drawing/2014/main" id="{9E3D2F63-B974-4149-9C97-FAA497C8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Lämna v41-uppgifterna före 9 oktober. Repetera instrumentval och säker arbetsberedning inför träffen.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9BD1AB2E-02C8-487E-BFEB-AE2B7A61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996c6df3a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39DCC344-6A80-420A-BB27-A1425A21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3CCC3CF5-2A6E-45B0-8FBE-BDD0C86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Schneider Electric: skenbar effekt">
            <a:extLst xmlns:a="http://schemas.openxmlformats.org/drawingml/2006/main">
              <a:ext uri="{FF2B5EF4-FFF2-40B4-BE49-F238E27FC236}">
                <a16:creationId xmlns:a16="http://schemas.microsoft.com/office/drawing/2014/main" id="{C58AEE9C-8840-4FFA-BA8E-1DDE64D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f70c45d53784a13"/>
              </a:rPr>
              <a:t>Schneider Electric: skenbar effekt</a:t>
            </a:r>
          </a:p>
        </p:txBody>
      </p:sp>
      <p:sp>
        <p:nvSpPr>
          <p:cNvPr id="5" name="ABB: motorns märkning och Y/Δ">
            <a:extLst xmlns:a="http://schemas.openxmlformats.org/drawingml/2006/main">
              <a:ext uri="{FF2B5EF4-FFF2-40B4-BE49-F238E27FC236}">
                <a16:creationId xmlns:a16="http://schemas.microsoft.com/office/drawing/2014/main" id="{5FEBE1B0-0BCE-476C-8FDA-492107C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1ed1b4ccb424912"/>
              </a:rPr>
              <a:t>ABB: motorns märkning och Y/Δ</a:t>
            </a:r>
          </a:p>
        </p:txBody>
      </p:sp>
      <p:sp>
        <p:nvSpPr>
          <p:cNvPr id="6" name="Schneider Electric: reaktiv effekt">
            <a:extLst xmlns:a="http://schemas.openxmlformats.org/drawingml/2006/main">
              <a:ext uri="{FF2B5EF4-FFF2-40B4-BE49-F238E27FC236}">
                <a16:creationId xmlns:a16="http://schemas.microsoft.com/office/drawing/2014/main" id="{6452C766-DF27-40D5-8701-107AAE75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21c6d713dff4279"/>
              </a:rPr>
              <a:t>Schneider Electric: reaktiv effekt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ED64ACC9-B93B-4FED-A1D1-F0E77DF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2026-09-20T20:09:25.1650000Z</dcterms:created>
  <dcterms:modified xsi:type="dcterms:W3CDTF">2026-09-20T20:09:25.1650000Z</dcterms:modified>
</coreProperties>
</file>