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43a8e2d82ffb45ba" Type="http://schemas.openxmlformats.org/officeDocument/2006/relationships/extended-properties" Target="docProps/app.xml"/><Relationship Id="Ra9165fb38ec945b7" Type="http://schemas.openxmlformats.org/package/2006/relationships/metadata/core-properties" Target="docProps/core.xml"/><Relationship Id="Re0233d350c064b79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89c95cdde17b4f7e"/>
  </p:sldMasterIdLst>
  <p:sldIdLst>
    <p:sldId id="256" r:id="R665842db886d4eb1"/>
    <p:sldId id="257" r:id="Ra8c63b5896ea4ae3"/>
    <p:sldId id="258" r:id="R2a2cdec22c834b98"/>
    <p:sldId id="259" r:id="Rea5d1744f1d8449c"/>
    <p:sldId id="260" r:id="R7cfad43892f54b7e"/>
    <p:sldId id="261" r:id="Ra52b58f94fd34c7e"/>
    <p:sldId id="262" r:id="R71df9c7675d14d95"/>
    <p:sldId id="263" r:id="R4b64f7a8cfc842e7"/>
    <p:sldId id="264" r:id="Rda38edb0074042f2"/>
    <p:sldId id="265" r:id="R4182ca127e9c427e"/>
    <p:sldId id="266" r:id="R724ea0401f0e4a48"/>
    <p:sldId id="267" r:id="R49a4d594aa9e4aff"/>
    <p:sldId id="268" r:id="Rd71963051279478c"/>
    <p:sldId id="269" r:id="R20c7cf01a4ea4c98"/>
    <p:sldId id="270" r:id="Rabecb13646ac484e"/>
    <p:sldId id="271" r:id="Rd9e502d1782a4b85"/>
    <p:sldId id="272" r:id="Rf34de09423ed4bf3"/>
    <p:sldId id="273" r:id="Rfe2d7bec7a9445cc"/>
    <p:sldId id="274" r:id="R25019b191bc84269"/>
    <p:sldId id="275" r:id="R24f9f86de40440e8"/>
    <p:sldId id="276" r:id="R346b9636152045cb"/>
    <p:sldId id="277" r:id="Rcec2c76468bc43f9"/>
    <p:sldId id="278" r:id="Rd682e9f72fa94b5c"/>
    <p:sldId id="279" r:id="R8c94bb099a404bcc"/>
    <p:sldId id="280" r:id="R01ba85370a754bde"/>
    <p:sldId id="281" r:id="Rcbfa32b5ca7241f0"/>
    <p:sldId id="282" r:id="Rc263b28ee0b64a25"/>
    <p:sldId id="283" r:id="Rd0a14e57beac4a69"/>
    <p:sldId id="284" r:id="R8df5fff5312549ff"/>
    <p:sldId id="285" r:id="Rc330078708244643"/>
    <p:sldId id="286" r:id="Rcc429961e809416f"/>
    <p:sldId id="287" r:id="R487f2c79ac174d75"/>
    <p:sldId id="288" r:id="R4eb1d43283164661"/>
    <p:sldId id="289" r:id="R5d76d65898624b48"/>
    <p:sldId id="290" r:id="R6d9894b47cd6493f"/>
    <p:sldId id="291" r:id="Reb8a9d9dcc3647fe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1ba85370a754bde" Type="http://schemas.openxmlformats.org/officeDocument/2006/relationships/slide" Target="slides/slide25.xml"/><Relationship Id="R20c7cf01a4ea4c98" Type="http://schemas.openxmlformats.org/officeDocument/2006/relationships/slide" Target="slides/slide14.xml"/><Relationship Id="R24f9f86de40440e8" Type="http://schemas.openxmlformats.org/officeDocument/2006/relationships/slide" Target="slides/slide20.xml"/><Relationship Id="R25019b191bc84269" Type="http://schemas.openxmlformats.org/officeDocument/2006/relationships/slide" Target="slides/slide19.xml"/><Relationship Id="R2a2cdec22c834b98" Type="http://schemas.openxmlformats.org/officeDocument/2006/relationships/slide" Target="slides/slide3.xml"/><Relationship Id="R2bea23c6150c43fb" Type="http://schemas.openxmlformats.org/officeDocument/2006/relationships/tableStyles" Target="tableStyles.xml"/><Relationship Id="R346b9636152045cb" Type="http://schemas.openxmlformats.org/officeDocument/2006/relationships/slide" Target="slides/slide21.xml"/><Relationship Id="R4182ca127e9c427e" Type="http://schemas.openxmlformats.org/officeDocument/2006/relationships/slide" Target="slides/slide10.xml"/><Relationship Id="R487f2c79ac174d75" Type="http://schemas.openxmlformats.org/officeDocument/2006/relationships/slide" Target="slides/slide32.xml"/><Relationship Id="R49a4d594aa9e4aff" Type="http://schemas.openxmlformats.org/officeDocument/2006/relationships/slide" Target="slides/slide12.xml"/><Relationship Id="R4b64f7a8cfc842e7" Type="http://schemas.openxmlformats.org/officeDocument/2006/relationships/slide" Target="slides/slide8.xml"/><Relationship Id="R4eb1d43283164661" Type="http://schemas.openxmlformats.org/officeDocument/2006/relationships/slide" Target="slides/slide33.xml"/><Relationship Id="R504ab91c415c424b" Type="http://schemas.openxmlformats.org/officeDocument/2006/relationships/presProps" Target="presProps.xml"/><Relationship Id="R5d76d65898624b48" Type="http://schemas.openxmlformats.org/officeDocument/2006/relationships/slide" Target="slides/slide34.xml"/><Relationship Id="R5e1718ba2ceb47fb" Type="http://schemas.openxmlformats.org/officeDocument/2006/relationships/theme" Target="theme/theme1.xml"/><Relationship Id="R665842db886d4eb1" Type="http://schemas.openxmlformats.org/officeDocument/2006/relationships/slide" Target="slides/slide1.xml"/><Relationship Id="R6d9894b47cd6493f" Type="http://schemas.openxmlformats.org/officeDocument/2006/relationships/slide" Target="slides/slide35.xml"/><Relationship Id="R71df9c7675d14d95" Type="http://schemas.openxmlformats.org/officeDocument/2006/relationships/slide" Target="slides/slide7.xml"/><Relationship Id="R724ea0401f0e4a48" Type="http://schemas.openxmlformats.org/officeDocument/2006/relationships/slide" Target="slides/slide11.xml"/><Relationship Id="R7b98f300e7b84529" Type="http://schemas.openxmlformats.org/officeDocument/2006/relationships/viewProps" Target="viewProps.xml"/><Relationship Id="R7cfad43892f54b7e" Type="http://schemas.openxmlformats.org/officeDocument/2006/relationships/slide" Target="slides/slide5.xml"/><Relationship Id="R89c95cdde17b4f7e" Type="http://schemas.openxmlformats.org/officeDocument/2006/relationships/slideMaster" Target="slideMasters/slideMaster1.xml"/><Relationship Id="R8c94bb099a404bcc" Type="http://schemas.openxmlformats.org/officeDocument/2006/relationships/slide" Target="slides/slide24.xml"/><Relationship Id="R8df5fff5312549ff" Type="http://schemas.openxmlformats.org/officeDocument/2006/relationships/slide" Target="slides/slide29.xml"/><Relationship Id="Ra52b58f94fd34c7e" Type="http://schemas.openxmlformats.org/officeDocument/2006/relationships/slide" Target="slides/slide6.xml"/><Relationship Id="Ra8c63b5896ea4ae3" Type="http://schemas.openxmlformats.org/officeDocument/2006/relationships/slide" Target="slides/slide2.xml"/><Relationship Id="Rabecb13646ac484e" Type="http://schemas.openxmlformats.org/officeDocument/2006/relationships/slide" Target="slides/slide15.xml"/><Relationship Id="Rc263b28ee0b64a25" Type="http://schemas.openxmlformats.org/officeDocument/2006/relationships/slide" Target="slides/slide27.xml"/><Relationship Id="Rc330078708244643" Type="http://schemas.openxmlformats.org/officeDocument/2006/relationships/slide" Target="slides/slide30.xml"/><Relationship Id="Rcbfa32b5ca7241f0" Type="http://schemas.openxmlformats.org/officeDocument/2006/relationships/slide" Target="slides/slide26.xml"/><Relationship Id="Rcc429961e809416f" Type="http://schemas.openxmlformats.org/officeDocument/2006/relationships/slide" Target="slides/slide31.xml"/><Relationship Id="Rcec2c76468bc43f9" Type="http://schemas.openxmlformats.org/officeDocument/2006/relationships/slide" Target="slides/slide22.xml"/><Relationship Id="Rd0a14e57beac4a69" Type="http://schemas.openxmlformats.org/officeDocument/2006/relationships/slide" Target="slides/slide28.xml"/><Relationship Id="Rd682e9f72fa94b5c" Type="http://schemas.openxmlformats.org/officeDocument/2006/relationships/slide" Target="slides/slide23.xml"/><Relationship Id="Rd71963051279478c" Type="http://schemas.openxmlformats.org/officeDocument/2006/relationships/slide" Target="slides/slide13.xml"/><Relationship Id="Rd9e502d1782a4b85" Type="http://schemas.openxmlformats.org/officeDocument/2006/relationships/slide" Target="slides/slide16.xml"/><Relationship Id="Rda38edb0074042f2" Type="http://schemas.openxmlformats.org/officeDocument/2006/relationships/slide" Target="slides/slide9.xml"/><Relationship Id="Rea5d1744f1d8449c" Type="http://schemas.openxmlformats.org/officeDocument/2006/relationships/slide" Target="slides/slide4.xml"/><Relationship Id="Reb8a9d9dcc3647fe" Type="http://schemas.openxmlformats.org/officeDocument/2006/relationships/slide" Target="slides/slide36.xml"/><Relationship Id="Rf34de09423ed4bf3" Type="http://schemas.openxmlformats.org/officeDocument/2006/relationships/slide" Target="slides/slide17.xml"/><Relationship Id="Rfe2d7bec7a9445cc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cb220eec53844bed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0b17680ed79e41a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b8f19e8904514d40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960cf4e0548147c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03dc2986fcac466b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4e4b54f108b04d29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1414f6cc74d34332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27c1a9fe2aa946d6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f33618addacd4893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6ad4caaaea7b415a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2fdd19694032432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D74EA7-DEEE-4FA4-BB35-5763E0FD8E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AC81982-7FC6-4720-9F86-1386CFE827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C89E103-FBC4-4E7E-8A39-F6CF86DD75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DDEE8EB-127A-4146-8E73-7207318B82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294326-E7CD-4232-A5FA-08C313370F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2A4A09-8E37-457C-AC4E-2F5B818A93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B18F97C-4792-4F0A-84AE-24A1479ABC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FDC0CB-C17F-453D-9A76-C1872F869E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CB6624E-DB81-4948-91F0-3CBD97E2FC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43E9EC-9671-4554-8467-3C0FD6A5FD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9B5F5F-58CD-4AD2-8F52-1AC3B08152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932BE05-FEC1-4E6B-A783-B50B99B40F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3C81912-6CC7-41E8-87F7-9C04025065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04EDEC-B8FC-4207-B310-F5268D3AD8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2D815C-F5B8-414E-A38F-D0F1F50053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C09B48-4861-4953-A50A-95BF0556ED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B2732D5-0837-4CF2-9CCB-69D9289F26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61F0FCF-CF48-447A-B7DB-AA4DED216C1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82C8807-C071-42EB-A3B2-30CE99C404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93256F9-2031-44E7-9A97-68DE4BB818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49DEDDA-3C93-4FAE-AC13-3F5F77332A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75971-E8C6-45E9-A6CA-6D6EA88E1B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DAAA959-3CA5-4590-8636-857D8644AE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F209281-377A-4489-A73B-971D3F4B2D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2752DD1-4729-44D7-BCD8-F57B15DADD2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148175B-0835-41B7-89E2-FA2CDE43777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E6098C0A-17F6-4A59-804A-A3DCBB4FA9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7E9D15B-F6D7-40AB-9E9E-07CE2EF62A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AECCFDF-AE87-404A-8A03-D40F25F0F7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CE0EF2-B6BB-4D82-BC69-02170DF172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A6C81CB-8A11-4805-9E45-CD947C9747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F497FC8-9266-40E9-BA25-FFCC4EB29F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2E42518-674F-4ED7-B195-5A9CA109D1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790194D-EA45-4770-AB49-3A0D43F272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3D01E65-B1A3-426B-BD9F-C244FD3484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3B95285-EC53-44C4-B0F3-D434CF29EE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742B20-3D96-4126-8912-02917E756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ABA0F32-9EF3-4F58-9C46-0B691E9325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2DCF465-A016-4D93-BF09-3204C64FD3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50C8D41-35F1-41E7-AE38-3D62F4E3FB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B01FEAD-F3B4-4A88-BDE7-2A6A638675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AC5120A-5619-4023-AAE9-58988823BB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651F615-143A-412A-8BE1-99FBA546C4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D2634E8-26CB-4CB5-B691-75BE1ACE500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CAC56BF-A323-4787-A224-8563A0ADDC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83C5192-C08A-49B9-8435-7DE6B294E2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A028E49-7DA5-4BBC-83B0-7A12591926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7255EF-09E3-418B-9B6C-AA89BF4115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ADD361-0C57-432B-9C12-3E2201A9E1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0C7A346-731C-4428-9D38-F27CBFC2D4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8F66D1-2201-4983-BB91-BE61AB82BD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7AD0BA9-C2E6-4ABD-B301-DA8B2DC965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3624E9-9687-4032-8C9A-F012031D17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57ECBD0-ADCA-48D0-B26E-B338524BCC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62901DC-D46D-4E7B-BA49-EB01106CEA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CAA8989-C124-4774-A2D3-BB2D091842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A3B634-0A40-4A85-A64D-42D78E396D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91ED36E-0F9B-4E61-ADCF-1063FA4EBA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2935948fbb904188" Type="http://schemas.openxmlformats.org/officeDocument/2006/relationships/theme" Target="theme/theme2.xml"/><Relationship Id="R2ef759fcf06d44db" Type="http://schemas.openxmlformats.org/officeDocument/2006/relationships/slideLayout" Target="../slideLayouts/slideLayout9.xml"/><Relationship Id="R3fe9df1db8364f6b" Type="http://schemas.openxmlformats.org/officeDocument/2006/relationships/slideLayout" Target="../slideLayouts/slideLayout11.xml"/><Relationship Id="R460a7ea4f98d4347" Type="http://schemas.openxmlformats.org/officeDocument/2006/relationships/slideLayout" Target="../slideLayouts/slideLayout8.xml"/><Relationship Id="R4d540e29486f4dec" Type="http://schemas.openxmlformats.org/officeDocument/2006/relationships/slideLayout" Target="../slideLayouts/slideLayout1.xml"/><Relationship Id="R543938406f0f4300" Type="http://schemas.openxmlformats.org/officeDocument/2006/relationships/slideLayout" Target="../slideLayouts/slideLayout4.xml"/><Relationship Id="R8e5a2ac191b14a8c" Type="http://schemas.openxmlformats.org/officeDocument/2006/relationships/slideLayout" Target="../slideLayouts/slideLayout10.xml"/><Relationship Id="R9a82488ed34f4eda" Type="http://schemas.openxmlformats.org/officeDocument/2006/relationships/slideLayout" Target="../slideLayouts/slideLayout5.xml"/><Relationship Id="Rb2ec441616454240" Type="http://schemas.openxmlformats.org/officeDocument/2006/relationships/slideLayout" Target="../slideLayouts/slideLayout3.xml"/><Relationship Id="Rb5ad804e310e4886" Type="http://schemas.openxmlformats.org/officeDocument/2006/relationships/slideLayout" Target="../slideLayouts/slideLayout7.xml"/><Relationship Id="Reb9b36613b354d3b" Type="http://schemas.openxmlformats.org/officeDocument/2006/relationships/slideLayout" Target="../slideLayouts/slideLayout6.xml"/><Relationship Id="Rf2a6d551c87a4b6a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CB1C931-8DDC-4A2C-8735-41052D015E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47BA54B-A5F9-45EC-99E4-4BC79BCA7D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5008FF2-CC96-4F67-9016-203E8B3863D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AC3FAD-E15C-4869-852B-F4C5F8EB7A4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74F2A1-5DED-49EE-BCAD-00E5F8264D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540e29486f4dec"/>
    <p:sldLayoutId xmlns:r="http://schemas.openxmlformats.org/officeDocument/2006/relationships" id="2147483650" r:id="Rf2a6d551c87a4b6a"/>
    <p:sldLayoutId xmlns:r="http://schemas.openxmlformats.org/officeDocument/2006/relationships" id="2147483651" r:id="Rb2ec441616454240"/>
    <p:sldLayoutId xmlns:r="http://schemas.openxmlformats.org/officeDocument/2006/relationships" id="2147483652" r:id="R543938406f0f4300"/>
    <p:sldLayoutId xmlns:r="http://schemas.openxmlformats.org/officeDocument/2006/relationships" id="2147483653" r:id="R9a82488ed34f4eda"/>
    <p:sldLayoutId xmlns:r="http://schemas.openxmlformats.org/officeDocument/2006/relationships" id="2147483654" r:id="Reb9b36613b354d3b"/>
    <p:sldLayoutId xmlns:r="http://schemas.openxmlformats.org/officeDocument/2006/relationships" id="2147483655" r:id="Rb5ad804e310e4886"/>
    <p:sldLayoutId xmlns:r="http://schemas.openxmlformats.org/officeDocument/2006/relationships" id="2147483656" r:id="R460a7ea4f98d4347"/>
    <p:sldLayoutId xmlns:r="http://schemas.openxmlformats.org/officeDocument/2006/relationships" id="2147483657" r:id="R2ef759fcf06d44db"/>
    <p:sldLayoutId xmlns:r="http://schemas.openxmlformats.org/officeDocument/2006/relationships" id="2147483658" r:id="R8e5a2ac191b14a8c"/>
    <p:sldLayoutId xmlns:r="http://schemas.openxmlformats.org/officeDocument/2006/relationships" id="2147483659" r:id="R3fe9df1db8364f6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732163297534445" Type="http://schemas.openxmlformats.org/officeDocument/2006/relationships/slideLayout" Target="../slideLayouts/slideLayout1.xml"/><Relationship Id="R51ca39aa19de4d59" Type="http://schemas.openxmlformats.org/officeDocument/2006/relationships/image" Target="../media/image.jpeg"/><Relationship Id="R523b38ebcbad4020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4ef7154b9d1b406e" Type="http://schemas.openxmlformats.org/officeDocument/2006/relationships/slideLayout" Target="../slideLayouts/slideLayout1.xml"/><Relationship Id="Rad60d5bc5059495e" Type="http://schemas.openxmlformats.org/officeDocument/2006/relationships/image" Target="../media/image.jpeg"/></Relationships>
</file>

<file path=ppt/slides/_rels/slide3.xml.rels><?xml version='1.0' encoding='UTF-8' standalone='yes'?>
<Relationships xmlns="http://schemas.openxmlformats.org/package/2006/relationships"><Relationship Id="R2f6dfe5a495241c0" Type="http://schemas.openxmlformats.org/officeDocument/2006/relationships/image" Target="../media/image.jpeg"/><Relationship Id="Rdbb051c8094b426f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08d35b69c5954d98" Type="http://schemas.openxmlformats.org/officeDocument/2006/relationships/slideLayout" Target="../slideLayouts/slideLayout1.xml"/><Relationship Id="R30efdc0151e34896" Type="http://schemas.openxmlformats.org/officeDocument/2006/relationships/image" Target="../media/image.jpeg"/></Relationships>
</file>

<file path=ppt/slides/_rels/slide5.xml.rels><?xml version='1.0' encoding='UTF-8' standalone='yes'?>
<Relationships xmlns="http://schemas.openxmlformats.org/package/2006/relationships"><Relationship Id="R1cfb47a701d24df1" Type="http://schemas.openxmlformats.org/officeDocument/2006/relationships/image" Target="../media/image.jpeg"/><Relationship Id="R23eab804e3d34808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779a7e59433f48c5" Type="http://schemas.openxmlformats.org/officeDocument/2006/relationships/image" Target="../media/image.jpeg"/><Relationship Id="Rb8301a7e805f4604" Type="http://schemas.openxmlformats.org/officeDocument/2006/relationships/slideLayout" Target="../slideLayouts/slideLayout1.xml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198f057f410b472a" Type="http://schemas.openxmlformats.org/officeDocument/2006/relationships/image" Target="../media/image.jpeg"/><Relationship Id="Raee5b86f94d643aa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8b4db952aa1b42be" Type="http://schemas.openxmlformats.org/officeDocument/2006/relationships/slideLayout" Target="../slideLayouts/slideLayout1.xml"/><Relationship Id="R92f277031f474288" Type="http://schemas.openxmlformats.org/officeDocument/2006/relationships/image" Target="../media/image.jpe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a125b1fdd5754108" Type="http://schemas.openxmlformats.org/officeDocument/2006/relationships/slideLayout" Target="../slideLayouts/slideLayout1.xml"/><Relationship Id="Ra7c44849b49d48cd" Type="http://schemas.openxmlformats.org/officeDocument/2006/relationships/image" Target="../media/image.jpeg"/></Relationships>
</file>

<file path=ppt/slides/_rels/slide10.xml.rels><?xml version='1.0' encoding='UTF-8' standalone='yes'?>
<Relationships xmlns="http://schemas.openxmlformats.org/package/2006/relationships"><Relationship Id="R059879e6b2e043ab" Type="http://schemas.openxmlformats.org/officeDocument/2006/relationships/image" Target="../media/image.jpeg"/><Relationship Id="Re2f3064cda56439f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83f437c900c94101" Type="http://schemas.openxmlformats.org/officeDocument/2006/relationships/image" Target="../media/image.jpeg"/><Relationship Id="Rc1d106d762124463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33a82c75ed5f4367" Type="http://schemas.openxmlformats.org/officeDocument/2006/relationships/slideLayout" Target="../slideLayouts/slideLayout1.xml"/><Relationship Id="Rfa7c7f2340954429" Type="http://schemas.openxmlformats.org/officeDocument/2006/relationships/image" Target="../media/image.jpeg"/></Relationships>
</file>

<file path=ppt/slides/_rels/slide13.xml.rels><?xml version='1.0' encoding='UTF-8' standalone='yes'?>
<Relationships xmlns="http://schemas.openxmlformats.org/package/2006/relationships"><Relationship Id="R67f43e66d0a549b5" Type="http://schemas.openxmlformats.org/officeDocument/2006/relationships/image" Target="../media/image.jpeg"/><Relationship Id="Rc1a13cefad134af4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6c775055bb4e4439" Type="http://schemas.openxmlformats.org/officeDocument/2006/relationships/slideLayout" Target="../slideLayouts/slideLayout1.xml"/><Relationship Id="Rcf1e0d9739c84bee" Type="http://schemas.openxmlformats.org/officeDocument/2006/relationships/image" Target="../media/image.jpeg"/></Relationships>
</file>

<file path=ppt/slides/_rels/slide15.xml.rels><?xml version='1.0' encoding='UTF-8' standalone='yes'?>
<Relationships xmlns="http://schemas.openxmlformats.org/package/2006/relationships"><Relationship Id="R2ea9ed73d65d41f3" Type="http://schemas.openxmlformats.org/officeDocument/2006/relationships/image" Target="../media/image.jpeg"/><Relationship Id="R7a154a678c604209" Type="http://schemas.openxmlformats.org/officeDocument/2006/relationships/slideLayout" Target="../slideLayouts/slideLayout1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aa86940ae75c4202" Type="http://schemas.openxmlformats.org/officeDocument/2006/relationships/slideLayout" Target="../slideLayouts/slideLayout1.xml"/><Relationship Id="Rdb77915b090840af" Type="http://schemas.openxmlformats.org/officeDocument/2006/relationships/image" Target="../media/image.jpeg"/></Relationships>
</file>

<file path=ppt/slides/_rels/slide17.xml.rels><?xml version='1.0' encoding='UTF-8' standalone='yes'?>
<Relationships xmlns="http://schemas.openxmlformats.org/package/2006/relationships"><Relationship Id="Rb58b9178bf374771" Type="http://schemas.openxmlformats.org/officeDocument/2006/relationships/image" Target="../media/image.jpeg"/><Relationship Id="Re63c2e807f004dfb" Type="http://schemas.openxmlformats.org/officeDocument/2006/relationships/slideLayout" Target="../slideLayouts/slideLayout1.xml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66a18af560f643ce" Type="http://schemas.openxmlformats.org/officeDocument/2006/relationships/image" Target="../media/image.jpeg"/><Relationship Id="Re3085969c5664e3e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66473a7484064b72" Type="http://schemas.openxmlformats.org/officeDocument/2006/relationships/image" Target="../media/image.jpeg"/><Relationship Id="R85e6f33aee6940b9" Type="http://schemas.openxmlformats.org/officeDocument/2006/relationships/slideLayout" Target="../slideLayouts/slideLayout1.xml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3a7e2e8bd45b42e7" Type="http://schemas.openxmlformats.org/officeDocument/2006/relationships/slideLayout" Target="../slideLayouts/slideLayout1.xml"/><Relationship Id="Rd846df26c79f4d30" Type="http://schemas.openxmlformats.org/officeDocument/2006/relationships/image" Target="../media/image.jpeg"/></Relationships>
</file>

<file path=ppt/slides/_rels/slide21.xml.rels><?xml version='1.0' encoding='UTF-8' standalone='yes'?>
<Relationships xmlns="http://schemas.openxmlformats.org/package/2006/relationships"><Relationship Id="R79010e09a9964b79" Type="http://schemas.openxmlformats.org/officeDocument/2006/relationships/image" Target="../media/image.jpeg"/><Relationship Id="Rf55bc612f5f24ab4" Type="http://schemas.openxmlformats.org/officeDocument/2006/relationships/slideLayout" Target="../slideLayouts/slideLayout1.xml"/><Relationship Id="rId3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4ff8efc8d6c741f6" Type="http://schemas.openxmlformats.org/officeDocument/2006/relationships/image" Target="../media/image.jpeg"/><Relationship Id="Rec99b3768d4b4bd2" Type="http://schemas.openxmlformats.org/officeDocument/2006/relationships/slideLayout" Target="../slideLayouts/slideLayout1.xml"/><Relationship Id="rId3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0fe207c631fd44b4" Type="http://schemas.openxmlformats.org/officeDocument/2006/relationships/slideLayout" Target="../slideLayouts/slideLayout1.xml"/><Relationship Id="Rc8304497e56e4e8f" Type="http://schemas.openxmlformats.org/officeDocument/2006/relationships/image" Target="../media/image.jpeg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2a456ad71cd548f5" Type="http://schemas.openxmlformats.org/officeDocument/2006/relationships/slideLayout" Target="../slideLayouts/slideLayout1.xml"/><Relationship Id="Rc1a087cf49b34fe9" Type="http://schemas.openxmlformats.org/officeDocument/2006/relationships/image" Target="../media/image.jpeg"/></Relationships>
</file>

<file path=ppt/slides/_rels/slide25.xml.rels><?xml version='1.0' encoding='UTF-8' standalone='yes'?>
<Relationships xmlns="http://schemas.openxmlformats.org/package/2006/relationships"><Relationship Id="R29865d370ba148aa" Type="http://schemas.openxmlformats.org/officeDocument/2006/relationships/slideLayout" Target="../slideLayouts/slideLayout1.xml"/><Relationship Id="R7958dd9d80da4f08" Type="http://schemas.openxmlformats.org/officeDocument/2006/relationships/image" Target="../media/image.jpeg"/></Relationships>
</file>

<file path=ppt/slides/_rels/slide26.xml.rels><?xml version='1.0' encoding='UTF-8' standalone='yes'?>
<Relationships xmlns="http://schemas.openxmlformats.org/package/2006/relationships"><Relationship Id="R9b1c7650487d41e9" Type="http://schemas.openxmlformats.org/officeDocument/2006/relationships/image" Target="../media/image.jpeg"/><Relationship Id="Raa44657b458641df" Type="http://schemas.openxmlformats.org/officeDocument/2006/relationships/slideLayout" Target="../slideLayouts/slideLayout1.xml"/><Relationship Id="rId3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02b3c81e17bf4ed4" Type="http://schemas.openxmlformats.org/officeDocument/2006/relationships/image" Target="../media/image.jpeg"/><Relationship Id="R5e067b757cdd423e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67cd468331094a46" Type="http://schemas.openxmlformats.org/officeDocument/2006/relationships/slideLayout" Target="../slideLayouts/slideLayout1.xml"/><Relationship Id="Rfe551daf7da84bbe" Type="http://schemas.openxmlformats.org/officeDocument/2006/relationships/image" Target="../media/image.jpeg"/><Relationship Id="rId3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892bd3f740a543f3" Type="http://schemas.openxmlformats.org/officeDocument/2006/relationships/slideLayout" Target="../slideLayouts/slideLayout1.xml"/><Relationship Id="R9a3d9541cca948a7" Type="http://schemas.openxmlformats.org/officeDocument/2006/relationships/image" Target="../media/image.jpeg"/></Relationships>
</file>

<file path=ppt/slides/_rels/slide30.xml.rels><?xml version='1.0' encoding='UTF-8' standalone='yes'?>
<Relationships xmlns="http://schemas.openxmlformats.org/package/2006/relationships"><Relationship Id="R6f13185502a54c1b" Type="http://schemas.openxmlformats.org/officeDocument/2006/relationships/slideLayout" Target="../slideLayouts/slideLayout1.xml"/><Relationship Id="R9a16362ae9c54e87" Type="http://schemas.openxmlformats.org/officeDocument/2006/relationships/image" Target="../media/image.jpeg"/><Relationship Id="rId3" Type="http://schemas.openxmlformats.org/officeDocument/2006/relationships/image" Target="../media/image13.png"/></Relationships>
</file>

<file path=ppt/slides/_rels/slide31.xml.rels><?xml version='1.0' encoding='UTF-8' standalone='yes'?>
<Relationships xmlns="http://schemas.openxmlformats.org/package/2006/relationships"><Relationship Id="R91c1684125ac4e1f" Type="http://schemas.openxmlformats.org/officeDocument/2006/relationships/slideLayout" Target="../slideLayouts/slideLayout1.xml"/><Relationship Id="Rb9e4865ffaf549cc" Type="http://schemas.openxmlformats.org/officeDocument/2006/relationships/image" Target="../media/image.jpeg"/></Relationships>
</file>

<file path=ppt/slides/_rels/slide32.xml.rels><?xml version='1.0' encoding='UTF-8' standalone='yes'?>
<Relationships xmlns="http://schemas.openxmlformats.org/package/2006/relationships"><Relationship Id="R016f9bad98cd4e9e" Type="http://schemas.openxmlformats.org/officeDocument/2006/relationships/slideLayout" Target="../slideLayouts/slideLayout1.xml"/><Relationship Id="R814e746d7c5d43a6" Type="http://schemas.openxmlformats.org/officeDocument/2006/relationships/image" Target="../media/image.jpeg"/><Relationship Id="rId3" Type="http://schemas.openxmlformats.org/officeDocument/2006/relationships/image" Target="../media/image14.png"/></Relationships>
</file>

<file path=ppt/slides/_rels/slide33.xml.rels><?xml version='1.0' encoding='UTF-8' standalone='yes'?>
<Relationships xmlns="http://schemas.openxmlformats.org/package/2006/relationships"><Relationship Id="R0b512f17cf6f4ad2" Type="http://schemas.openxmlformats.org/officeDocument/2006/relationships/image" Target="../media/image.jpeg"/><Relationship Id="R4b9708fa27c9429e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43f726abba9e4941" Type="http://schemas.openxmlformats.org/officeDocument/2006/relationships/image" Target="../media/image.jpeg"/><Relationship Id="Rbfa0f714dca34287" Type="http://schemas.openxmlformats.org/officeDocument/2006/relationships/slideLayout" Target="../slideLayouts/slideLayout1.xml"/><Relationship Id="rId3" Type="http://schemas.openxmlformats.org/officeDocument/2006/relationships/image" Target="../media/image15.png"/></Relationships>
</file>

<file path=ppt/slides/_rels/slide35.xml.rels><?xml version='1.0' encoding='UTF-8' standalone='yes'?>
<Relationships xmlns="http://schemas.openxmlformats.org/package/2006/relationships"><Relationship Id="R73898359414a4c0f" Type="http://schemas.openxmlformats.org/officeDocument/2006/relationships/slideLayout" Target="../slideLayouts/slideLayout1.xml"/><Relationship Id="Ra77da0f492db4f86" Type="http://schemas.openxmlformats.org/officeDocument/2006/relationships/image" Target="../media/image.jpeg"/></Relationships>
</file>

<file path=ppt/slides/_rels/slide36.xml.rels><?xml version='1.0' encoding='UTF-8' standalone='yes'?>
<Relationships xmlns="http://schemas.openxmlformats.org/package/2006/relationships"><Relationship Id="R28d131ae885247af" Type="http://schemas.openxmlformats.org/officeDocument/2006/relationships/image" Target="../media/image.jpeg"/><Relationship Id="R345452606f644d66" Type="http://schemas.openxmlformats.org/officeDocument/2006/relationships/hyperlink" Target="https://www.electrical-installation.org/enwiki/Installed_apparent_power_%28kVA%29" TargetMode="External"/><Relationship Id="R51daa7a292ba4986" Type="http://schemas.openxmlformats.org/officeDocument/2006/relationships/hyperlink" Target="https://openstax.org/books/university-physics-volume-2/pages/15-2-simple-ac-circuits" TargetMode="External"/><Relationship Id="R870485b5b06d432d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a39aa19de4d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18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b38ebcbad4020"/>
          <a:srcRect xmlns:a="http://schemas.openxmlformats.org/drawingml/2006/main" l="0" t="194" r="0" b="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11" name="Kontrast för omslagets rubrik">
            <a:extLst xmlns:a="http://schemas.openxmlformats.org/drawingml/2006/main">
              <a:ext uri="{FF2B5EF4-FFF2-40B4-BE49-F238E27FC236}">
                <a16:creationId xmlns:a16="http://schemas.microsoft.com/office/drawing/2014/main" id="{63874132-827F-4713-9F94-64CC8E01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38501" cy="588321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1427">
                  <a:alpha val="38000"/>
                </a:srgbClr>
              </a:gs>
              <a:gs pos="42000">
                <a:srgbClr val="001427">
                  <a:alpha val="45000"/>
                </a:srgbClr>
              </a:gs>
              <a:gs pos="68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textruta 3">
            <a:extLst xmlns:a="http://schemas.openxmlformats.org/drawingml/2006/main">
              <a:ext uri="{FF2B5EF4-FFF2-40B4-BE49-F238E27FC236}">
                <a16:creationId xmlns:a16="http://schemas.microsoft.com/office/drawing/2014/main" id="{BC1F31A6-8FC0-4D0E-AD94-081B8A79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704850"/>
            <a:ext cx="633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Trefassystemets grunder</a:t>
            </a:r>
          </a:p>
        </p:txBody>
      </p:sp>
      <p:sp>
        <p:nvSpPr>
          <p:cNvPr id="13" name="Fasspänning, huvudspänning och neutralledare">
            <a:extLst xmlns:a="http://schemas.openxmlformats.org/drawingml/2006/main">
              <a:ext uri="{FF2B5EF4-FFF2-40B4-BE49-F238E27FC236}">
                <a16:creationId xmlns:a16="http://schemas.microsoft.com/office/drawing/2014/main" id="{DBB7BA75-EF33-4F5A-BEFA-AE682585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18097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Fasspänning, huvudspänning och neutralledare</a:t>
            </a:r>
          </a:p>
        </p:txBody>
      </p:sp>
      <p:sp>
        <p:nvSpPr>
          <p:cNvPr id="14" name="1">
            <a:extLst xmlns:a="http://schemas.openxmlformats.org/drawingml/2006/main">
              <a:ext uri="{FF2B5EF4-FFF2-40B4-BE49-F238E27FC236}">
                <a16:creationId xmlns:a16="http://schemas.microsoft.com/office/drawing/2014/main" id="{1734C6BB-CD3D-4EF1-B2B0-F9FE1E12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0d5bc505949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Mål och startfråga">
            <a:extLst xmlns:a="http://schemas.openxmlformats.org/drawingml/2006/main">
              <a:ext uri="{FF2B5EF4-FFF2-40B4-BE49-F238E27FC236}">
                <a16:creationId xmlns:a16="http://schemas.microsoft.com/office/drawing/2014/main" id="{D2F26AB9-EA81-4BA6-BD51-87CD7DA1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Mål och startfråga</a:t>
            </a:r>
          </a:p>
        </p:txBody>
      </p:sp>
      <p:sp>
        <p:nvSpPr>
          <p:cNvPr id="3" name="Skilja linjespänning från fasspänning.">
            <a:extLst xmlns:a="http://schemas.openxmlformats.org/drawingml/2006/main">
              <a:ext uri="{FF2B5EF4-FFF2-40B4-BE49-F238E27FC236}">
                <a16:creationId xmlns:a16="http://schemas.microsoft.com/office/drawing/2014/main" id="{72215FF1-5026-46FF-8A68-8BA62AB7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Skilja linjespänning från fasspänning.</a:t>
            </a:r>
          </a:p>
        </p:txBody>
      </p:sp>
      <p:sp>
        <p:nvSpPr>
          <p:cNvPr id="4" name="Förklara 120° fasförskjutning och neutralledarens funktion.">
            <a:extLst xmlns:a="http://schemas.openxmlformats.org/drawingml/2006/main">
              <a:ext uri="{FF2B5EF4-FFF2-40B4-BE49-F238E27FC236}">
                <a16:creationId xmlns:a16="http://schemas.microsoft.com/office/drawing/2014/main" id="{569330F3-C5AF-48A0-8E16-0FE20D02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Förklara 120° fasförskjutning och neutralledarens funktion.</a:t>
            </a:r>
          </a:p>
        </p:txBody>
      </p:sp>
      <p:sp>
        <p:nvSpPr>
          <p:cNvPr id="5" name="Startfråga">
            <a:extLst xmlns:a="http://schemas.openxmlformats.org/drawingml/2006/main">
              <a:ext uri="{FF2B5EF4-FFF2-40B4-BE49-F238E27FC236}">
                <a16:creationId xmlns:a16="http://schemas.microsoft.com/office/drawing/2014/main" id="{8B637D5E-997D-4572-BC22-D196B300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Startfråga</a:t>
            </a:r>
          </a:p>
        </p:txBody>
      </p:sp>
      <p:sp>
        <p:nvSpPr>
          <p:cNvPr id="6" name="Varför är linjespänningen i ett 230/400 V-system 400 V och inte 4">
            <a:extLst xmlns:a="http://schemas.openxmlformats.org/drawingml/2006/main">
              <a:ext uri="{FF2B5EF4-FFF2-40B4-BE49-F238E27FC236}">
                <a16:creationId xmlns:a16="http://schemas.microsoft.com/office/drawing/2014/main" id="{F2C6A0AF-BDCB-4768-8C31-EFF7C501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762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Varför är linjespänningen i ett 230/400 V-system 400 V och inte 460 V?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B8266F06-E161-4D32-82B6-AB9BAEED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dfe5a495241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0" name="Dagens två pass">
            <a:extLst xmlns:a="http://schemas.openxmlformats.org/drawingml/2006/main">
              <a:ext uri="{FF2B5EF4-FFF2-40B4-BE49-F238E27FC236}">
                <a16:creationId xmlns:a16="http://schemas.microsoft.com/office/drawing/2014/main" id="{A751FBF5-A1DA-4B47-9D45-C170B3BC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Dagens två pass</a:t>
            </a:r>
          </a:p>
        </p:txBody>
      </p:sp>
      <p:sp>
        <p:nvSpPr>
          <p:cNvPr id="11" name="Pass 1: 45 minuter">
            <a:extLst xmlns:a="http://schemas.openxmlformats.org/drawingml/2006/main">
              <a:ext uri="{FF2B5EF4-FFF2-40B4-BE49-F238E27FC236}">
                <a16:creationId xmlns:a16="http://schemas.microsoft.com/office/drawing/2014/main" id="{9A1E3223-E9B3-4A39-B5CE-B1A73FDA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1: 45 minuter</a:t>
            </a:r>
          </a:p>
        </p:txBody>
      </p:sp>
      <p:sp>
        <p:nvSpPr>
          <p:cNvPr id="12" name="5 min begrepp, 20 min teori och genomräknade exempel&#10;15 min övnin">
            <a:extLst xmlns:a="http://schemas.openxmlformats.org/drawingml/2006/main">
              <a:ext uri="{FF2B5EF4-FFF2-40B4-BE49-F238E27FC236}">
                <a16:creationId xmlns:a16="http://schemas.microsoft.com/office/drawing/2014/main" id="{0C6B367F-0593-4D27-84CA-852D623C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 min begrepp, 20 min teori och genomräknade exempel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15 min övning 1.1, 1.2 och 1.4, 5 min återkoppling</a:t>
            </a:r>
          </a:p>
        </p:txBody>
      </p:sp>
      <p:sp>
        <p:nvSpPr>
          <p:cNvPr id="13" name="Pass 2: 45 minuter">
            <a:extLst xmlns:a="http://schemas.openxmlformats.org/drawingml/2006/main">
              <a:ext uri="{FF2B5EF4-FFF2-40B4-BE49-F238E27FC236}">
                <a16:creationId xmlns:a16="http://schemas.microsoft.com/office/drawing/2014/main" id="{5CF8C24E-17C3-49F1-8C07-03241FA2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2: 45 minuter</a:t>
            </a:r>
          </a:p>
        </p:txBody>
      </p:sp>
      <p:sp>
        <p:nvSpPr>
          <p:cNvPr id="14" name="20 min teori och exempel, 15 min övning 6, 7, 8&#10;8 min lösningsdis">
            <a:extLst xmlns:a="http://schemas.openxmlformats.org/drawingml/2006/main">
              <a:ext uri="{FF2B5EF4-FFF2-40B4-BE49-F238E27FC236}">
                <a16:creationId xmlns:a16="http://schemas.microsoft.com/office/drawing/2014/main" id="{DF717C46-F539-4CDA-99BD-A40EA46A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20 min teori och exempel, 15 min övning 1.6, 1.7 och 1.8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8 min lösningsdiskussion, 2 min avslut</a:t>
            </a:r>
          </a:p>
        </p:txBody>
      </p:sp>
      <p:sp>
        <p:nvSpPr>
          <p:cNvPr id="15" name="Stödbilderna används under arbetet. Övriga övningar: egen studiet">
            <a:extLst xmlns:a="http://schemas.openxmlformats.org/drawingml/2006/main">
              <a:ext uri="{FF2B5EF4-FFF2-40B4-BE49-F238E27FC236}">
                <a16:creationId xmlns:a16="http://schemas.microsoft.com/office/drawing/2014/main" id="{ED0BDBF1-8BFA-4D80-857E-F7E6FA4F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Stödbilderna används under arbetet. Övriga övningar: egen studietid.</a:t>
            </a:r>
          </a:p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Alla tio med utförlig genomgång: cirka 110–135 min. Paus tillkommer.</a:t>
            </a:r>
          </a:p>
        </p:txBody>
      </p:sp>
      <p:sp>
        <p:nvSpPr>
          <p:cNvPr id="16" name="3">
            <a:extLst xmlns:a="http://schemas.openxmlformats.org/drawingml/2006/main">
              <a:ext uri="{FF2B5EF4-FFF2-40B4-BE49-F238E27FC236}">
                <a16:creationId xmlns:a16="http://schemas.microsoft.com/office/drawing/2014/main" id="{BBDF75C5-924C-417A-9A80-A58DEE24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fdc0151e348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Fas, linje och neutral">
            <a:extLst xmlns:a="http://schemas.openxmlformats.org/drawingml/2006/main">
              <a:ext uri="{FF2B5EF4-FFF2-40B4-BE49-F238E27FC236}">
                <a16:creationId xmlns:a16="http://schemas.microsoft.com/office/drawing/2014/main" id="{E793A563-F88A-4B83-9349-790B3904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Fas, linje och neutral</a:t>
            </a:r>
          </a:p>
        </p:txBody>
      </p:sp>
      <p:sp>
        <p:nvSpPr>
          <p:cNvPr id="10" name="UL mäts mellan två faser och kallas även huvudspänning.">
            <a:extLst xmlns:a="http://schemas.openxmlformats.org/drawingml/2006/main">
              <a:ext uri="{FF2B5EF4-FFF2-40B4-BE49-F238E27FC236}">
                <a16:creationId xmlns:a16="http://schemas.microsoft.com/office/drawing/2014/main" id="{A5005403-33F4-4DA3-8A26-4EDEB8CB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25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mäts mellan två faser och kallas även huvudspänning.</a:t>
            </a:r>
          </a:p>
        </p:txBody>
      </p:sp>
      <p:sp>
        <p:nvSpPr>
          <p:cNvPr id="11" name="UF mäts mellan en fas och källans neutralpunkt.">
            <a:extLst xmlns:a="http://schemas.openxmlformats.org/drawingml/2006/main">
              <a:ext uri="{FF2B5EF4-FFF2-40B4-BE49-F238E27FC236}">
                <a16:creationId xmlns:a16="http://schemas.microsoft.com/office/drawing/2014/main" id="{221797B2-5F83-4BE9-98C2-B19CE9AD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25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</a:t>
            </a: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mäts mellan en fas och källans neutralpunkt.</a:t>
            </a:r>
          </a:p>
        </p:txBody>
      </p:sp>
      <p:sp>
        <p:nvSpPr>
          <p:cNvPr id="12" name="En visare beskriver sinusens belopp och fasläge.">
            <a:extLst xmlns:a="http://schemas.openxmlformats.org/drawingml/2006/main">
              <a:ext uri="{FF2B5EF4-FFF2-40B4-BE49-F238E27FC236}">
                <a16:creationId xmlns:a16="http://schemas.microsoft.com/office/drawing/2014/main" id="{93B4A3A5-2377-4327-A527-CF7E97D4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visare beskriver sinusens belopp och fasläge.</a:t>
            </a:r>
          </a:p>
        </p:txBody>
      </p:sp>
      <p:sp>
        <p:nvSpPr>
          <p:cNvPr id="13" name="Neutralströmmen är en visarsumma. Vanlig addition av belopp räcke">
            <a:extLst xmlns:a="http://schemas.openxmlformats.org/drawingml/2006/main">
              <a:ext uri="{FF2B5EF4-FFF2-40B4-BE49-F238E27FC236}">
                <a16:creationId xmlns:a16="http://schemas.microsoft.com/office/drawing/2014/main" id="{BBCCCF6A-C47B-4185-B933-796F3D1C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Neutralströmmen är en visarsumma. Vanlig addition av belopp räcker inte.</a:t>
            </a:r>
          </a:p>
        </p:txBody>
      </p:sp>
      <p:sp>
        <p:nvSpPr>
          <p:cNvPr id="14" name="4">
            <a:extLst xmlns:a="http://schemas.openxmlformats.org/drawingml/2006/main">
              <a:ext uri="{FF2B5EF4-FFF2-40B4-BE49-F238E27FC236}">
                <a16:creationId xmlns:a16="http://schemas.microsoft.com/office/drawing/2014/main" id="{12B7B007-BB84-4C61-AB33-E74C6D43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b47a701d24d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n lösning som går att följa">
            <a:extLst xmlns:a="http://schemas.openxmlformats.org/drawingml/2006/main">
              <a:ext uri="{FF2B5EF4-FFF2-40B4-BE49-F238E27FC236}">
                <a16:creationId xmlns:a16="http://schemas.microsoft.com/office/drawing/2014/main" id="{9303CECF-E550-4855-BF41-335681D0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lösning som går att följa</a:t>
            </a:r>
          </a:p>
        </p:txBody>
      </p:sp>
      <p:sp>
        <p:nvSpPr>
          <p:cNvPr id="10" name="1. Givet och sökt">
            <a:extLst xmlns:a="http://schemas.openxmlformats.org/drawingml/2006/main">
              <a:ext uri="{FF2B5EF4-FFF2-40B4-BE49-F238E27FC236}">
                <a16:creationId xmlns:a16="http://schemas.microsoft.com/office/drawing/2014/main" id="{A0C45CD4-660D-41B9-85D8-463FB9B4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1. Givet och sökt</a:t>
            </a:r>
          </a:p>
        </p:txBody>
      </p:sp>
      <p:sp>
        <p:nvSpPr>
          <p:cNvPr id="11" name="Skriv av värden, enheter och vad du ska bestämma.">
            <a:extLst xmlns:a="http://schemas.openxmlformats.org/drawingml/2006/main">
              <a:ext uri="{FF2B5EF4-FFF2-40B4-BE49-F238E27FC236}">
                <a16:creationId xmlns:a16="http://schemas.microsoft.com/office/drawing/2014/main" id="{4AA63D28-7F2B-49C1-AEDB-DEABCCFE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Skriv av värden, enheter och vad du ska bestämma.</a:t>
            </a:r>
          </a:p>
        </p:txBody>
      </p:sp>
      <p:sp>
        <p:nvSpPr>
          <p:cNvPr id="12" name="2. Samband och villkor">
            <a:extLst xmlns:a="http://schemas.openxmlformats.org/drawingml/2006/main">
              <a:ext uri="{FF2B5EF4-FFF2-40B4-BE49-F238E27FC236}">
                <a16:creationId xmlns:a16="http://schemas.microsoft.com/office/drawing/2014/main" id="{0B333850-EF0E-418C-B4FB-05254D8A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2. Samband och villkor</a:t>
            </a:r>
          </a:p>
        </p:txBody>
      </p:sp>
      <p:sp>
        <p:nvSpPr>
          <p:cNvPr id="13" name="Välj formel eller princip. Kontrollera koppling, driftfall och an">
            <a:extLst xmlns:a="http://schemas.openxmlformats.org/drawingml/2006/main">
              <a:ext uri="{FF2B5EF4-FFF2-40B4-BE49-F238E27FC236}">
                <a16:creationId xmlns:a16="http://schemas.microsoft.com/office/drawing/2014/main" id="{3FE11409-EF54-4597-A950-7C091EFC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formel eller princip. Kontrollera koppling, driftfall och antaganden.</a:t>
            </a:r>
          </a:p>
        </p:txBody>
      </p:sp>
      <p:sp>
        <p:nvSpPr>
          <p:cNvPr id="14" name="3. Uträkning och kontroll">
            <a:extLst xmlns:a="http://schemas.openxmlformats.org/drawingml/2006/main">
              <a:ext uri="{FF2B5EF4-FFF2-40B4-BE49-F238E27FC236}">
                <a16:creationId xmlns:a16="http://schemas.microsoft.com/office/drawing/2014/main" id="{30E267A3-0A66-43F9-A773-A0066B39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3. Uträkning och kontroll</a:t>
            </a:r>
          </a:p>
        </p:txBody>
      </p:sp>
      <p:sp>
        <p:nvSpPr>
          <p:cNvPr id="15" name="Omvandla enheter, sätt in värden och tolka resultatet.&#10;I resonema">
            <a:extLst xmlns:a="http://schemas.openxmlformats.org/drawingml/2006/main">
              <a:ext uri="{FF2B5EF4-FFF2-40B4-BE49-F238E27FC236}">
                <a16:creationId xmlns:a16="http://schemas.microsoft.com/office/drawing/2014/main" id="{BB149681-B2F1-4DA9-9C24-AD30458E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Omvandla enheter, sätt in värden och tolka resultatet.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resonemangsfall: koppla observation till en motiverad slutsats.</a:t>
            </a:r>
          </a:p>
        </p:txBody>
      </p:sp>
      <p:sp>
        <p:nvSpPr>
          <p:cNvPr id="16" name="5">
            <a:extLst xmlns:a="http://schemas.openxmlformats.org/drawingml/2006/main">
              <a:ext uri="{FF2B5EF4-FFF2-40B4-BE49-F238E27FC236}">
                <a16:creationId xmlns:a16="http://schemas.microsoft.com/office/drawing/2014/main" id="{57A05590-3EDF-49C4-993F-100B0D9A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a7e59433f48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Tre sinusspänningar">
            <a:extLst xmlns:a="http://schemas.openxmlformats.org/drawingml/2006/main">
              <a:ext uri="{FF2B5EF4-FFF2-40B4-BE49-F238E27FC236}">
                <a16:creationId xmlns:a16="http://schemas.microsoft.com/office/drawing/2014/main" id="{CA279134-C7F4-4D87-9795-FA61C362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Tre sinusspänningar</a:t>
            </a:r>
          </a:p>
        </p:txBody>
      </p:sp>
      <p:sp>
        <p:nvSpPr>
          <p:cNvPr id="3" name="I ett symmetriskt trefassystem har faserna lika amplitud.&#10;De är f">
            <a:extLst xmlns:a="http://schemas.openxmlformats.org/drawingml/2006/main">
              <a:ext uri="{FF2B5EF4-FFF2-40B4-BE49-F238E27FC236}">
                <a16:creationId xmlns:a16="http://schemas.microsoft.com/office/drawing/2014/main" id="{A8C1B1C6-98B4-4AF6-9DEB-2D4B4C9C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ett symmetriskt trefassystem har faserna lika amplitud.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 är förskjutna 120° från varandra.</a:t>
            </a:r>
          </a:p>
        </p:txBody>
      </p:sp>
      <p:sp>
        <p:nvSpPr>
          <p:cNvPr id="5" name="360°/3 = 120°">
            <a:extLst xmlns:a="http://schemas.openxmlformats.org/drawingml/2006/main">
              <a:ext uri="{FF2B5EF4-FFF2-40B4-BE49-F238E27FC236}">
                <a16:creationId xmlns:a16="http://schemas.microsoft.com/office/drawing/2014/main" id="{FC489684-F135-485E-9C0F-C68A8748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360°/3 = 120°</a:t>
            </a:r>
          </a:p>
        </p:txBody>
      </p:sp>
      <p:sp>
        <p:nvSpPr>
          <p:cNvPr id="6" name="Vid 50 Hz motsvarar 120° ett tidsavstånd på 6,67 ms.&#10;Kurvorna är ">
            <a:extLst xmlns:a="http://schemas.openxmlformats.org/drawingml/2006/main">
              <a:ext uri="{FF2B5EF4-FFF2-40B4-BE49-F238E27FC236}">
                <a16:creationId xmlns:a16="http://schemas.microsoft.com/office/drawing/2014/main" id="{F32D3B27-AEFD-4686-A638-F3615790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Vid 50 Hz motsvarar 120° ett tidsavstånd på 6,67 ms.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Kurvorna är normaliserade till samma toppvärde.</a:t>
            </a:r>
          </a:p>
        </p:txBody>
      </p:sp>
      <p:sp>
        <p:nvSpPr>
          <p:cNvPr id="7" name="4">
            <a:extLst xmlns:a="http://schemas.openxmlformats.org/drawingml/2006/main">
              <a:ext uri="{FF2B5EF4-FFF2-40B4-BE49-F238E27FC236}">
                <a16:creationId xmlns:a16="http://schemas.microsoft.com/office/drawing/2014/main" id="{A5B97454-9D1B-4FB8-A499-75F542DC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pic xmlns:a="http://schemas.openxmlformats.org/drawingml/2006/main" xmlns:r="http://schemas.openxmlformats.org/officeDocument/2006/relationships">
        <p:nvPicPr>
          <p:cNvPr id="11" name="schema-sinus" descr="L1, L2 och L3 över 20 ms (50 Hz), normaliserade, 120° isär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848" y="2395728"/>
            <a:ext cx="6242304" cy="234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f057f410b47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Två sätt att ange spänning">
            <a:extLst xmlns:a="http://schemas.openxmlformats.org/drawingml/2006/main">
              <a:ext uri="{FF2B5EF4-FFF2-40B4-BE49-F238E27FC236}">
                <a16:creationId xmlns:a16="http://schemas.microsoft.com/office/drawing/2014/main" id="{B5DDE5CC-3692-44DF-88F0-C457C17F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Två sätt att ange spänning</a:t>
            </a:r>
          </a:p>
        </p:txBody>
      </p:sp>
      <p:sp>
        <p:nvSpPr>
          <p:cNvPr id="3" name="Fasspänning UF: mellan fas och källans neutralpunkt.&#10;Linjespännin">
            <a:extLst xmlns:a="http://schemas.openxmlformats.org/drawingml/2006/main">
              <a:ext uri="{FF2B5EF4-FFF2-40B4-BE49-F238E27FC236}">
                <a16:creationId xmlns:a16="http://schemas.microsoft.com/office/drawing/2014/main" id="{371A25E3-E2BE-4FFB-A83B-21D3BD19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Fasspänning U</a:t>
            </a:r>
            <a:r>
              <a:rPr sz="18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</a:t>
            </a: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: mellan fas och källans neutralpunkt.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Linjespänning U</a:t>
            </a:r>
            <a:r>
              <a:rPr sz="18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: mellan två faser, även kallad huvudspänning.</a:t>
            </a:r>
          </a:p>
        </p:txBody>
      </p:sp>
      <p:sp>
        <p:nvSpPr>
          <p:cNvPr id="4" name="UL = √3 · UF">
            <a:extLst xmlns:a="http://schemas.openxmlformats.org/drawingml/2006/main">
              <a:ext uri="{FF2B5EF4-FFF2-40B4-BE49-F238E27FC236}">
                <a16:creationId xmlns:a16="http://schemas.microsoft.com/office/drawing/2014/main" id="{B86F4B34-4E16-490A-ABFD-A29D3E80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 = √3 · U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</a:t>
            </a:r>
          </a:p>
        </p:txBody>
      </p:sp>
      <p:sp>
        <p:nvSpPr>
          <p:cNvPr id="5" name="I ett symmetriskt 400 V-system är UF ≈ 231 V.&#10;Använd inte 400 V s">
            <a:extLst xmlns:a="http://schemas.openxmlformats.org/drawingml/2006/main">
              <a:ext uri="{FF2B5EF4-FFF2-40B4-BE49-F238E27FC236}">
                <a16:creationId xmlns:a16="http://schemas.microsoft.com/office/drawing/2014/main" id="{B39D32FC-6D48-4E43-A113-3FB2AC56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Ombord är 440 V vanligt. Generatorns fasspänning i Y är ≈ 254 V,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men nätet har oftast ingen neutralledare. Vid ett jordfel kan en fas ha hela 440 V mot skrovet.</a:t>
            </a:r>
          </a:p>
        </p:txBody>
      </p:sp>
      <p:sp>
        <p:nvSpPr>
          <p:cNvPr id="6" name="5">
            <a:extLst xmlns:a="http://schemas.openxmlformats.org/drawingml/2006/main">
              <a:ext uri="{FF2B5EF4-FFF2-40B4-BE49-F238E27FC236}">
                <a16:creationId xmlns:a16="http://schemas.microsoft.com/office/drawing/2014/main" id="{0AE66A3F-74F2-4B92-AEC2-69E960F7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Tre fasspänningsvisare 120 grader isär; " descr="Tre fasspänningsvisare 120 grader isär; linjespänningen U12 är sträckan mellan två visarspets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25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277031f4742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Varifrån kommer √3?">
            <a:extLst xmlns:a="http://schemas.openxmlformats.org/drawingml/2006/main">
              <a:ext uri="{FF2B5EF4-FFF2-40B4-BE49-F238E27FC236}">
                <a16:creationId xmlns:a16="http://schemas.microsoft.com/office/drawing/2014/main" id="{F7470C34-2CCB-4C62-B1E8-387A0166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Varifrån kommer √3?</a:t>
            </a:r>
          </a:p>
        </p:txBody>
      </p:sp>
      <p:sp>
        <p:nvSpPr>
          <p:cNvPr id="3" name="Linjespänningen är skillnaden mellan två fasvisare.&#10;Visarna har s">
            <a:extLst xmlns:a="http://schemas.openxmlformats.org/drawingml/2006/main">
              <a:ext uri="{FF2B5EF4-FFF2-40B4-BE49-F238E27FC236}">
                <a16:creationId xmlns:a16="http://schemas.microsoft.com/office/drawing/2014/main" id="{C247BF2E-D805-40ED-8F2B-11CF7E59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Linjespänningen är skillnaden mellan två fasvisare.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Visarna har samma längd och ligger 120° isär.</a:t>
            </a:r>
          </a:p>
        </p:txBody>
      </p:sp>
      <p:sp>
        <p:nvSpPr>
          <p:cNvPr id="4" name="UL² = UF² + UF² − 2UF² cos 120°">
            <a:extLst xmlns:a="http://schemas.openxmlformats.org/drawingml/2006/main">
              <a:ext uri="{FF2B5EF4-FFF2-40B4-BE49-F238E27FC236}">
                <a16:creationId xmlns:a16="http://schemas.microsoft.com/office/drawing/2014/main" id="{FBC03102-DDD6-4D28-9712-FD5015CC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65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² = U</a:t>
            </a:r>
            <a:r>
              <a:rPr sz="265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</a:t>
            </a: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² + U</a:t>
            </a:r>
            <a:r>
              <a:rPr sz="265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</a:t>
            </a: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² − 2U</a:t>
            </a:r>
            <a:r>
              <a:rPr sz="265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</a:t>
            </a: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² cos 120°</a:t>
            </a:r>
          </a:p>
        </p:txBody>
      </p:sp>
      <p:sp>
        <p:nvSpPr>
          <p:cNvPr id="5" name="cos 120° = −0,5 ger UL² = 3UF².&#10;Därför blir UL = √3 UF.">
            <a:extLst xmlns:a="http://schemas.openxmlformats.org/drawingml/2006/main">
              <a:ext uri="{FF2B5EF4-FFF2-40B4-BE49-F238E27FC236}">
                <a16:creationId xmlns:a16="http://schemas.microsoft.com/office/drawing/2014/main" id="{A53BA81C-D003-4770-B757-BF38CDA1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cos 120° = −0,5 ger U</a:t>
            </a:r>
            <a:r>
              <a:rPr sz="225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² = 3U</a:t>
            </a:r>
            <a:r>
              <a:rPr sz="225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</a:t>
            </a: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².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Därför blir U</a:t>
            </a:r>
            <a:r>
              <a:rPr sz="225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√3 U</a:t>
            </a:r>
            <a:r>
              <a:rPr sz="225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</a:t>
            </a: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6" name="6">
            <a:extLst xmlns:a="http://schemas.openxmlformats.org/drawingml/2006/main">
              <a:ext uri="{FF2B5EF4-FFF2-40B4-BE49-F238E27FC236}">
                <a16:creationId xmlns:a16="http://schemas.microsoft.com/office/drawing/2014/main" id="{9CDFAFD0-FADA-49D0-BCCE-B17C0BA8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Linjespänningen U12 som skillnaden mella" descr="Linjespänningen U12 som skillnaden mellan fasvisarna U1N och U2N med 120 grader mellan d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25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44849b49d48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linje och fas">
            <a:extLst xmlns:a="http://schemas.openxmlformats.org/drawingml/2006/main">
              <a:ext uri="{FF2B5EF4-FFF2-40B4-BE49-F238E27FC236}">
                <a16:creationId xmlns:a16="http://schemas.microsoft.com/office/drawing/2014/main" id="{B9374629-4DE7-427A-B0D7-05A1E5A3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linje och fas</a:t>
            </a:r>
          </a:p>
        </p:txBody>
      </p:sp>
      <p:sp>
        <p:nvSpPr>
          <p:cNvPr id="10" name="En symmetrisk trefaskälla ger UF = 100 V vid f = 60 Hz. Sök UL oc">
            <a:extLst xmlns:a="http://schemas.openxmlformats.org/drawingml/2006/main">
              <a:ext uri="{FF2B5EF4-FFF2-40B4-BE49-F238E27FC236}">
                <a16:creationId xmlns:a16="http://schemas.microsoft.com/office/drawing/2014/main" id="{41F0F78C-990B-433E-BA30-5139AF5A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symmetrisk trefaskälla ombord ger U</a:t>
            </a:r>
            <a:r>
              <a:rPr sz="217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</a:t>
            </a: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254 V vid f = 60 Hz. Sök U</a:t>
            </a:r>
            <a:r>
              <a:rPr sz="217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och tidsavståndet 120°.</a:t>
            </a:r>
          </a:p>
        </p:txBody>
      </p:sp>
      <p:sp>
        <p:nvSpPr>
          <p:cNvPr id="11" name="UL = √3 UF     Δt = (1/f)/3">
            <a:extLst xmlns:a="http://schemas.openxmlformats.org/drawingml/2006/main">
              <a:ext uri="{FF2B5EF4-FFF2-40B4-BE49-F238E27FC236}">
                <a16:creationId xmlns:a16="http://schemas.microsoft.com/office/drawing/2014/main" id="{5A600AFE-7C15-473C-93C8-41E07A94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√3 U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    Δt = (1/f)/3</a:t>
            </a:r>
          </a:p>
        </p:txBody>
      </p:sp>
      <p:sp>
        <p:nvSpPr>
          <p:cNvPr id="12" name="1. UL = √3 · 100 ≈ 173,2 V.&#10;2. T = 1/60 ≈ 0,01667 s = 16,67 ms.&#10;3">
            <a:extLst xmlns:a="http://schemas.openxmlformats.org/drawingml/2006/main">
              <a:ext uri="{FF2B5EF4-FFF2-40B4-BE49-F238E27FC236}">
                <a16:creationId xmlns:a16="http://schemas.microsoft.com/office/drawing/2014/main" id="{7F45F91B-0AA8-445B-8C18-E922D766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U</a:t>
            </a:r>
            <a:r>
              <a:rPr sz="20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√3 · 254 ≈ 440 V, fartygets vanliga huvudspänning.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T = 1/60 ≈ 0,01667 s = 16,67 ms.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Δt = 16,67/3 ≈ 5,56 ms.</a:t>
            </a:r>
          </a:p>
        </p:txBody>
      </p:sp>
      <p:sp>
        <p:nvSpPr>
          <p:cNvPr id="13" name="120° är en tredjedels period. Spänningsförhållandet √3 beror på f">
            <a:extLst xmlns:a="http://schemas.openxmlformats.org/drawingml/2006/main">
              <a:ext uri="{FF2B5EF4-FFF2-40B4-BE49-F238E27FC236}">
                <a16:creationId xmlns:a16="http://schemas.microsoft.com/office/drawing/2014/main" id="{58AF713A-E4CE-486F-8065-8A098826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120° är en tredjedels period. Spänningsförhållandet √3 beror på fasvinklarna.</a:t>
            </a:r>
          </a:p>
        </p:txBody>
      </p:sp>
      <p:sp>
        <p:nvSpPr>
          <p:cNvPr id="14" name="9">
            <a:extLst xmlns:a="http://schemas.openxmlformats.org/drawingml/2006/main">
              <a:ext uri="{FF2B5EF4-FFF2-40B4-BE49-F238E27FC236}">
                <a16:creationId xmlns:a16="http://schemas.microsoft.com/office/drawing/2014/main" id="{50303FB5-1434-490A-B6DD-6B8FF530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879e6b2e043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">
            <a:extLst xmlns:a="http://schemas.openxmlformats.org/drawingml/2006/main">
              <a:ext uri="{FF2B5EF4-FFF2-40B4-BE49-F238E27FC236}">
                <a16:creationId xmlns:a16="http://schemas.microsoft.com/office/drawing/2014/main" id="{29EFB19C-9547-41F3-8D25-06129C16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1.1</a:t>
            </a:r>
          </a:p>
        </p:txBody>
      </p:sp>
      <p:sp>
        <p:nvSpPr>
          <p:cNvPr id="10" name="Fasavstånd = 360°/antal faser">
            <a:extLst xmlns:a="http://schemas.openxmlformats.org/drawingml/2006/main">
              <a:ext uri="{FF2B5EF4-FFF2-40B4-BE49-F238E27FC236}">
                <a16:creationId xmlns:a16="http://schemas.microsoft.com/office/drawing/2014/main" id="{5978C6F9-8536-47B5-BC9F-0CF84BEE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Fasavstånd = 360°/antal faser</a:t>
            </a:r>
          </a:p>
        </p:txBody>
      </p:sp>
      <p:sp>
        <p:nvSpPr>
          <p:cNvPr id="11" name="En hel period motsvarar 360°. Fasavstånd beskriver skillnaden i l">
            <a:extLst xmlns:a="http://schemas.openxmlformats.org/drawingml/2006/main">
              <a:ext uri="{FF2B5EF4-FFF2-40B4-BE49-F238E27FC236}">
                <a16:creationId xmlns:a16="http://schemas.microsoft.com/office/drawing/2014/main" id="{92AD0674-2A1B-481E-99C0-8FD33696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hel period motsvarar 360°.</a:t>
            </a:r>
          </a:p>
        </p:txBody>
      </p:sp>
      <p:sp>
        <p:nvSpPr>
          <p:cNvPr id="12" name="Förutsättningar: Tre lika, jämnt förskjutna faser.">
            <a:extLst xmlns:a="http://schemas.openxmlformats.org/drawingml/2006/main">
              <a:ext uri="{FF2B5EF4-FFF2-40B4-BE49-F238E27FC236}">
                <a16:creationId xmlns:a16="http://schemas.microsoft.com/office/drawing/2014/main" id="{F603B4ED-06A3-4B6B-9D99-A7419654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Tre lika stora faser, jämnt förskjutna.</a:t>
            </a:r>
          </a:p>
        </p:txBody>
      </p:sp>
      <p:sp>
        <p:nvSpPr>
          <p:cNvPr id="13" name="Arbetsgång: Dela den hela periodens vinkel lika mellan de tre fas">
            <a:extLst xmlns:a="http://schemas.openxmlformats.org/drawingml/2006/main">
              <a:ext uri="{FF2B5EF4-FFF2-40B4-BE49-F238E27FC236}">
                <a16:creationId xmlns:a16="http://schemas.microsoft.com/office/drawing/2014/main" id="{D1D341CC-FD5E-44AE-9C9A-C0C821A8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Dela den vinkeln lika mellan de tre faserna.</a:t>
            </a:r>
          </a:p>
        </p:txBody>
      </p:sp>
      <p:sp>
        <p:nvSpPr>
          <p:cNvPr id="14" name="10">
            <a:extLst xmlns:a="http://schemas.openxmlformats.org/drawingml/2006/main">
              <a:ext uri="{FF2B5EF4-FFF2-40B4-BE49-F238E27FC236}">
                <a16:creationId xmlns:a16="http://schemas.microsoft.com/office/drawing/2014/main" id="{81C6B74D-0E84-4B45-B413-A4EDA76A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437c900c941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">
            <a:extLst xmlns:a="http://schemas.openxmlformats.org/drawingml/2006/main">
              <a:ext uri="{FF2B5EF4-FFF2-40B4-BE49-F238E27FC236}">
                <a16:creationId xmlns:a16="http://schemas.microsoft.com/office/drawing/2014/main" id="{C77CCF7F-F1F3-4340-85E4-F16AE6DC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1.1</a:t>
            </a:r>
          </a:p>
        </p:txBody>
      </p:sp>
      <p:sp>
        <p:nvSpPr>
          <p:cNvPr id="3" name="Fasförskjutning">
            <a:extLst xmlns:a="http://schemas.openxmlformats.org/drawingml/2006/main">
              <a:ext uri="{FF2B5EF4-FFF2-40B4-BE49-F238E27FC236}">
                <a16:creationId xmlns:a16="http://schemas.microsoft.com/office/drawing/2014/main" id="{74182202-54AE-411E-8039-2C8C5453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Fasförskjutning</a:t>
            </a:r>
          </a:p>
        </p:txBody>
      </p:sp>
      <p:sp>
        <p:nvSpPr>
          <p:cNvPr id="4" name="Tre faser delar en hel period jämnt. Beräkna vinkel mellan fasern">
            <a:extLst xmlns:a="http://schemas.openxmlformats.org/drawingml/2006/main">
              <a:ext uri="{FF2B5EF4-FFF2-40B4-BE49-F238E27FC236}">
                <a16:creationId xmlns:a16="http://schemas.microsoft.com/office/drawing/2014/main" id="{34CB565D-1889-45FD-96B9-F6FC86D8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Tre faser delar en hel period jämnt. Beräkna vinkeln mellan faserna.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BFA0DF38-F19D-475A-976E-33F46D91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7">
            <a:extLst xmlns:a="http://schemas.openxmlformats.org/drawingml/2006/main">
              <a:ext uri="{FF2B5EF4-FFF2-40B4-BE49-F238E27FC236}">
                <a16:creationId xmlns:a16="http://schemas.microsoft.com/office/drawing/2014/main" id="{6579E25D-AFF1-44D3-9D46-3B450D3F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Tre fasvisare L1, L2 och L3 med okänd vi" descr="Tre fasvisare L1, L2 och L3 med okänd vinkel mellan L1 och L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c7f23409544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2">
            <a:extLst xmlns:a="http://schemas.openxmlformats.org/drawingml/2006/main">
              <a:ext uri="{FF2B5EF4-FFF2-40B4-BE49-F238E27FC236}">
                <a16:creationId xmlns:a16="http://schemas.microsoft.com/office/drawing/2014/main" id="{0C91A73A-8C88-44EA-ABE2-5E2F2FF6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1.2</a:t>
            </a:r>
          </a:p>
        </p:txBody>
      </p:sp>
      <p:sp>
        <p:nvSpPr>
          <p:cNvPr id="10" name="T = 1/f     Δt = T · φ/360°">
            <a:extLst xmlns:a="http://schemas.openxmlformats.org/drawingml/2006/main">
              <a:ext uri="{FF2B5EF4-FFF2-40B4-BE49-F238E27FC236}">
                <a16:creationId xmlns:a16="http://schemas.microsoft.com/office/drawing/2014/main" id="{5B988E46-E0DA-46CA-BC4B-342B95AC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 = 1/f; Δt = T · φ/360°</a:t>
            </a:r>
          </a:p>
        </p:txBody>
      </p:sp>
      <p:sp>
        <p:nvSpPr>
          <p:cNvPr id="11" name="T är period, Δt tidsförskjutning och φ fasavstånd i grader. 1 s =">
            <a:extLst xmlns:a="http://schemas.openxmlformats.org/drawingml/2006/main">
              <a:ext uri="{FF2B5EF4-FFF2-40B4-BE49-F238E27FC236}">
                <a16:creationId xmlns:a16="http://schemas.microsoft.com/office/drawing/2014/main" id="{9869E090-ED61-4C0D-BC74-548F240B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 är periodtiden, Δt tidsförskjutningen och φ vinkeln i grader. 1 s = 1 000 ms.</a:t>
            </a:r>
          </a:p>
        </p:txBody>
      </p:sp>
      <p:sp>
        <p:nvSpPr>
          <p:cNvPr id="12" name="Förutsättningar: f = 50 Hz och φ = 120°.">
            <a:extLst xmlns:a="http://schemas.openxmlformats.org/drawingml/2006/main">
              <a:ext uri="{FF2B5EF4-FFF2-40B4-BE49-F238E27FC236}">
                <a16:creationId xmlns:a16="http://schemas.microsoft.com/office/drawing/2014/main" id="{C84D2592-B25A-49CF-9929-566E38E7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f = 50 Hz och φ = 120°.</a:t>
            </a:r>
          </a:p>
        </p:txBody>
      </p:sp>
      <p:sp>
        <p:nvSpPr>
          <p:cNvPr id="13" name="Arbetsgång: Räkna perioden först. Beräkna sedan hur stor del av p">
            <a:extLst xmlns:a="http://schemas.openxmlformats.org/drawingml/2006/main">
              <a:ext uri="{FF2B5EF4-FFF2-40B4-BE49-F238E27FC236}">
                <a16:creationId xmlns:a16="http://schemas.microsoft.com/office/drawing/2014/main" id="{EC0C353F-A6B9-49FE-BF4F-F8075EF4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först ut periodtiden och sedan hur stor del av den som 120° motsvarar.</a:t>
            </a:r>
          </a:p>
        </p:txBody>
      </p:sp>
      <p:sp>
        <p:nvSpPr>
          <p:cNvPr id="14" name="12">
            <a:extLst xmlns:a="http://schemas.openxmlformats.org/drawingml/2006/main">
              <a:ext uri="{FF2B5EF4-FFF2-40B4-BE49-F238E27FC236}">
                <a16:creationId xmlns:a16="http://schemas.microsoft.com/office/drawing/2014/main" id="{318B8377-94A3-47E4-A770-37A586EE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43e66d0a549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2">
            <a:extLst xmlns:a="http://schemas.openxmlformats.org/drawingml/2006/main">
              <a:ext uri="{FF2B5EF4-FFF2-40B4-BE49-F238E27FC236}">
                <a16:creationId xmlns:a16="http://schemas.microsoft.com/office/drawing/2014/main" id="{9536FA29-12FF-4035-A7C8-3DA8FDD5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1.2</a:t>
            </a:r>
          </a:p>
        </p:txBody>
      </p:sp>
      <p:sp>
        <p:nvSpPr>
          <p:cNvPr id="3" name="Tidsförskjutning">
            <a:extLst xmlns:a="http://schemas.openxmlformats.org/drawingml/2006/main">
              <a:ext uri="{FF2B5EF4-FFF2-40B4-BE49-F238E27FC236}">
                <a16:creationId xmlns:a16="http://schemas.microsoft.com/office/drawing/2014/main" id="{DCE016E3-FA9F-4DB6-9AA6-24B73DA3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Tidsförskjutning</a:t>
            </a:r>
          </a:p>
        </p:txBody>
      </p:sp>
      <p:sp>
        <p:nvSpPr>
          <p:cNvPr id="4" name="Ett symmetriskt trefassystem har f = 50 Hz. Hur många ms motsvara">
            <a:extLst xmlns:a="http://schemas.openxmlformats.org/drawingml/2006/main">
              <a:ext uri="{FF2B5EF4-FFF2-40B4-BE49-F238E27FC236}">
                <a16:creationId xmlns:a16="http://schemas.microsoft.com/office/drawing/2014/main" id="{82A944D3-6DD5-4A2C-A2AC-7D2CCAF3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symmetriskt trefassystem har f = 50 Hz. Hur många ms motsvarar 120°?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97DC8DE3-A6F0-482C-B9FC-188291AA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8">
            <a:extLst xmlns:a="http://schemas.openxmlformats.org/drawingml/2006/main">
              <a:ext uri="{FF2B5EF4-FFF2-40B4-BE49-F238E27FC236}">
                <a16:creationId xmlns:a16="http://schemas.microsoft.com/office/drawing/2014/main" id="{9F601556-753C-4487-B412-2A64957F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Tre sinusspänningar vid 50 Hz med okänd " descr="Tre sinusspänningar vid 50 Hz med okänd tidsförskjutning mellan L1 och L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e0d9739c84b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3">
            <a:extLst xmlns:a="http://schemas.openxmlformats.org/drawingml/2006/main">
              <a:ext uri="{FF2B5EF4-FFF2-40B4-BE49-F238E27FC236}">
                <a16:creationId xmlns:a16="http://schemas.microsoft.com/office/drawing/2014/main" id="{A1F69587-250A-4EC8-A56E-82A5C44C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1.3</a:t>
            </a:r>
          </a:p>
        </p:txBody>
      </p:sp>
      <p:sp>
        <p:nvSpPr>
          <p:cNvPr id="10" name="UF = UL/√3">
            <a:extLst xmlns:a="http://schemas.openxmlformats.org/drawingml/2006/main">
              <a:ext uri="{FF2B5EF4-FFF2-40B4-BE49-F238E27FC236}">
                <a16:creationId xmlns:a16="http://schemas.microsoft.com/office/drawing/2014/main" id="{54641C4D-4AE5-412D-9C65-60DA13A2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/√3</a:t>
            </a:r>
          </a:p>
        </p:txBody>
      </p:sp>
      <p:sp>
        <p:nvSpPr>
          <p:cNvPr id="11" name="UL är linje- eller huvudspänning mellan två faser. UF är spänning">
            <a:extLst xmlns:a="http://schemas.openxmlformats.org/drawingml/2006/main">
              <a:ext uri="{FF2B5EF4-FFF2-40B4-BE49-F238E27FC236}">
                <a16:creationId xmlns:a16="http://schemas.microsoft.com/office/drawing/2014/main" id="{61879C50-7F9A-4500-90E3-C7FC821B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är linjespänningen (huvudspänningen) mellan två faser. U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är spänningen mellan en fas och neutralpunkten.</a:t>
            </a:r>
          </a:p>
        </p:txBody>
      </p:sp>
      <p:sp>
        <p:nvSpPr>
          <p:cNvPr id="12" name="Förutsättningar: Symmetrisk trefaskälla med UL = 400 V. √3 ≈ 1,73">
            <a:extLst xmlns:a="http://schemas.openxmlformats.org/drawingml/2006/main">
              <a:ext uri="{FF2B5EF4-FFF2-40B4-BE49-F238E27FC236}">
                <a16:creationId xmlns:a16="http://schemas.microsoft.com/office/drawing/2014/main" id="{68C1E9D0-B401-43EF-81DC-BC715E92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Symmetrisk trefaskälla med U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400 V. √3 ≈ 1,732.</a:t>
            </a:r>
          </a:p>
        </p:txBody>
      </p:sp>
      <p:sp>
        <p:nvSpPr>
          <p:cNvPr id="13" name="Arbetsgång: Dividera linjespänningen med √3. Ange tydligt att res">
            <a:extLst xmlns:a="http://schemas.openxmlformats.org/drawingml/2006/main">
              <a:ext uri="{FF2B5EF4-FFF2-40B4-BE49-F238E27FC236}">
                <a16:creationId xmlns:a16="http://schemas.microsoft.com/office/drawing/2014/main" id="{0BD68EDB-ADCB-418A-98B6-F16D510F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Dela linjespänningen med √3 och skriv tydligt att svaret gäller mellan fas och neutral.</a:t>
            </a:r>
          </a:p>
        </p:txBody>
      </p:sp>
      <p:sp>
        <p:nvSpPr>
          <p:cNvPr id="14" name="14">
            <a:extLst xmlns:a="http://schemas.openxmlformats.org/drawingml/2006/main">
              <a:ext uri="{FF2B5EF4-FFF2-40B4-BE49-F238E27FC236}">
                <a16:creationId xmlns:a16="http://schemas.microsoft.com/office/drawing/2014/main" id="{058CE53F-2BF6-414F-A196-9ACA19AB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9ed73d65d41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3">
            <a:extLst xmlns:a="http://schemas.openxmlformats.org/drawingml/2006/main">
              <a:ext uri="{FF2B5EF4-FFF2-40B4-BE49-F238E27FC236}">
                <a16:creationId xmlns:a16="http://schemas.microsoft.com/office/drawing/2014/main" id="{F6E80688-DA8F-4455-BB60-EFAC4885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1.3</a:t>
            </a:r>
          </a:p>
        </p:txBody>
      </p:sp>
      <p:sp>
        <p:nvSpPr>
          <p:cNvPr id="3" name="Fasspänning">
            <a:extLst xmlns:a="http://schemas.openxmlformats.org/drawingml/2006/main">
              <a:ext uri="{FF2B5EF4-FFF2-40B4-BE49-F238E27FC236}">
                <a16:creationId xmlns:a16="http://schemas.microsoft.com/office/drawing/2014/main" id="{A22E73DC-5739-4111-9D03-D68893D3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Fasspänning</a:t>
            </a:r>
          </a:p>
        </p:txBody>
      </p:sp>
      <p:sp>
        <p:nvSpPr>
          <p:cNvPr id="4" name="UL = 400 V i ett symmetriskt system. Beräkna UF.">
            <a:extLst xmlns:a="http://schemas.openxmlformats.org/drawingml/2006/main">
              <a:ext uri="{FF2B5EF4-FFF2-40B4-BE49-F238E27FC236}">
                <a16:creationId xmlns:a16="http://schemas.microsoft.com/office/drawing/2014/main" id="{755195FD-F6DC-46CB-9A31-A66530EE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400 V i ett symmetriskt system. Beräkna U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5F519043-899B-4F8E-B770-C8EB3705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9">
            <a:extLst xmlns:a="http://schemas.openxmlformats.org/drawingml/2006/main">
              <a:ext uri="{FF2B5EF4-FFF2-40B4-BE49-F238E27FC236}">
                <a16:creationId xmlns:a16="http://schemas.microsoft.com/office/drawing/2014/main" id="{7DC83704-9C80-402D-8057-ED340FFE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Ledarna L1, L2, L3 och N; linjespänninge" descr="Ledarna L1, L2, L3 och N; linjespänningen 400 V mellan L1 och L2, fasspänningen okä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7915b090840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4">
            <a:extLst xmlns:a="http://schemas.openxmlformats.org/drawingml/2006/main">
              <a:ext uri="{FF2B5EF4-FFF2-40B4-BE49-F238E27FC236}">
                <a16:creationId xmlns:a16="http://schemas.microsoft.com/office/drawing/2014/main" id="{339B8574-C442-494F-B4C1-728A73D8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1.4</a:t>
            </a:r>
          </a:p>
        </p:txBody>
      </p:sp>
      <p:sp>
        <p:nvSpPr>
          <p:cNvPr id="10" name="UL = √3 · UF">
            <a:extLst xmlns:a="http://schemas.openxmlformats.org/drawingml/2006/main">
              <a:ext uri="{FF2B5EF4-FFF2-40B4-BE49-F238E27FC236}">
                <a16:creationId xmlns:a16="http://schemas.microsoft.com/office/drawing/2014/main" id="{40946302-67BF-4737-99C6-DD5E8D13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√3 ·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</a:t>
            </a:r>
          </a:p>
        </p:txBody>
      </p:sp>
      <p:sp>
        <p:nvSpPr>
          <p:cNvPr id="11" name="Fasvisarna har samma belopp och 120° mellan sig. Deras skillnad g">
            <a:extLst xmlns:a="http://schemas.openxmlformats.org/drawingml/2006/main">
              <a:ext uri="{FF2B5EF4-FFF2-40B4-BE49-F238E27FC236}">
                <a16:creationId xmlns:a16="http://schemas.microsoft.com/office/drawing/2014/main" id="{974194FF-92E3-4AD4-94BE-EE323F69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Fasvisarna är lika långa och ligger 120° isär. Skillnaden mellan dem är linjespänningen.</a:t>
            </a:r>
          </a:p>
        </p:txBody>
      </p:sp>
      <p:sp>
        <p:nvSpPr>
          <p:cNvPr id="12" name="Förutsättningar: Symmetrisk källa. UF = 120 V är fas–neutralspänn">
            <a:extLst xmlns:a="http://schemas.openxmlformats.org/drawingml/2006/main">
              <a:ext uri="{FF2B5EF4-FFF2-40B4-BE49-F238E27FC236}">
                <a16:creationId xmlns:a16="http://schemas.microsoft.com/office/drawing/2014/main" id="{6F9BB74E-1A98-4256-AE55-0F7E5BEA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Symmetrisk källa. U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230 V mellan fas och neutral.</a:t>
            </a:r>
          </a:p>
        </p:txBody>
      </p:sp>
      <p:sp>
        <p:nvSpPr>
          <p:cNvPr id="13" name="Arbetsgång: Multiplicera med √3. Förväxla inte linjespänningen me">
            <a:extLst xmlns:a="http://schemas.openxmlformats.org/drawingml/2006/main">
              <a:ext uri="{FF2B5EF4-FFF2-40B4-BE49-F238E27FC236}">
                <a16:creationId xmlns:a16="http://schemas.microsoft.com/office/drawing/2014/main" id="{9A6E845F-E220-47CD-8F99-14B437D1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Multiplicera med √3 – linjespänningen är inte 2U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16">
            <a:extLst xmlns:a="http://schemas.openxmlformats.org/drawingml/2006/main">
              <a:ext uri="{FF2B5EF4-FFF2-40B4-BE49-F238E27FC236}">
                <a16:creationId xmlns:a16="http://schemas.microsoft.com/office/drawing/2014/main" id="{D0385080-2208-4C79-86B7-9D3A46AF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b9178bf3747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4">
            <a:extLst xmlns:a="http://schemas.openxmlformats.org/drawingml/2006/main">
              <a:ext uri="{FF2B5EF4-FFF2-40B4-BE49-F238E27FC236}">
                <a16:creationId xmlns:a16="http://schemas.microsoft.com/office/drawing/2014/main" id="{73EB35E4-A346-4D9C-8113-2D637BDD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1.4</a:t>
            </a:r>
          </a:p>
        </p:txBody>
      </p:sp>
      <p:sp>
        <p:nvSpPr>
          <p:cNvPr id="3" name="Linjespänning">
            <a:extLst xmlns:a="http://schemas.openxmlformats.org/drawingml/2006/main">
              <a:ext uri="{FF2B5EF4-FFF2-40B4-BE49-F238E27FC236}">
                <a16:creationId xmlns:a16="http://schemas.microsoft.com/office/drawing/2014/main" id="{FBCCD5A4-6103-4DDB-8E54-D2C393C8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Linjespänning</a:t>
            </a:r>
          </a:p>
        </p:txBody>
      </p:sp>
      <p:sp>
        <p:nvSpPr>
          <p:cNvPr id="4" name="UF = 120 V. Beräkna linjespänningen i ett symmetriskt system.">
            <a:extLst xmlns:a="http://schemas.openxmlformats.org/drawingml/2006/main">
              <a:ext uri="{FF2B5EF4-FFF2-40B4-BE49-F238E27FC236}">
                <a16:creationId xmlns:a16="http://schemas.microsoft.com/office/drawing/2014/main" id="{3B2B7150-BF5B-4FF2-927B-78BD38ED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230 V. Beräkna linjespänningen i ett symmetriskt system.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167F39E5-9F85-4503-9688-A2AA5BE5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0">
            <a:extLst xmlns:a="http://schemas.openxmlformats.org/drawingml/2006/main">
              <a:ext uri="{FF2B5EF4-FFF2-40B4-BE49-F238E27FC236}">
                <a16:creationId xmlns:a16="http://schemas.microsoft.com/office/drawing/2014/main" id="{E0AED816-7ABE-4C03-A51B-0EABEEB2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Ledarna L1, L2, L3 och N; fasspänningen " descr="Ledarna L1, L2, L3 och N; fasspänningen 120 V mellan L1 och N, linjespänningen okä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18af560f643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5">
            <a:extLst xmlns:a="http://schemas.openxmlformats.org/drawingml/2006/main">
              <a:ext uri="{FF2B5EF4-FFF2-40B4-BE49-F238E27FC236}">
                <a16:creationId xmlns:a16="http://schemas.microsoft.com/office/drawing/2014/main" id="{6551CF2E-A118-4CBD-B984-FF5AE94C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1.5</a:t>
            </a:r>
          </a:p>
        </p:txBody>
      </p:sp>
      <p:sp>
        <p:nvSpPr>
          <p:cNvPr id="10" name="Ugren,Y = UL/√3">
            <a:extLst xmlns:a="http://schemas.openxmlformats.org/drawingml/2006/main">
              <a:ext uri="{FF2B5EF4-FFF2-40B4-BE49-F238E27FC236}">
                <a16:creationId xmlns:a16="http://schemas.microsoft.com/office/drawing/2014/main" id="{843430DE-C25E-4028-AA32-CDD21D4A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gren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,Y =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/√3</a:t>
            </a:r>
          </a:p>
        </p:txBody>
      </p:sp>
      <p:sp>
        <p:nvSpPr>
          <p:cNvPr id="11" name="Ugren,Y är spänningen över en lastgren i symmetrisk Y.">
            <a:extLst xmlns:a="http://schemas.openxmlformats.org/drawingml/2006/main">
              <a:ext uri="{FF2B5EF4-FFF2-40B4-BE49-F238E27FC236}">
                <a16:creationId xmlns:a16="http://schemas.microsoft.com/office/drawing/2014/main" id="{2B66DBEB-D57F-4C54-B2E4-831F37A1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gren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,Y är spänningen över en lastgren i Y-koppling.</a:t>
            </a:r>
          </a:p>
        </p:txBody>
      </p:sp>
      <p:sp>
        <p:nvSpPr>
          <p:cNvPr id="12" name="Förutsättningar: Avsedd tränare med UL = 12,0 V, lika fasimpedans">
            <a:extLst xmlns:a="http://schemas.openxmlformats.org/drawingml/2006/main">
              <a:ext uri="{FF2B5EF4-FFF2-40B4-BE49-F238E27FC236}">
                <a16:creationId xmlns:a16="http://schemas.microsoft.com/office/drawing/2014/main" id="{F9F75C3D-39F3-4BCE-BF90-A54056BD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Avsedd övningsrigg med U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12,0 V, lika fasimpedanser och symmetrisk källa.</a:t>
            </a:r>
          </a:p>
        </p:txBody>
      </p:sp>
      <p:sp>
        <p:nvSpPr>
          <p:cNvPr id="13" name="Arbetsgång: Identifiera Y-kopplingen och beräkna grenspänningen u">
            <a:extLst xmlns:a="http://schemas.openxmlformats.org/drawingml/2006/main">
              <a:ext uri="{FF2B5EF4-FFF2-40B4-BE49-F238E27FC236}">
                <a16:creationId xmlns:a16="http://schemas.microsoft.com/office/drawing/2014/main" id="{0BEDFEA1-18B1-433D-93F6-B7C5E109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ut grenspänningen från linjespänningen.</a:t>
            </a:r>
          </a:p>
        </p:txBody>
      </p:sp>
      <p:sp>
        <p:nvSpPr>
          <p:cNvPr id="14" name="18">
            <a:extLst xmlns:a="http://schemas.openxmlformats.org/drawingml/2006/main">
              <a:ext uri="{FF2B5EF4-FFF2-40B4-BE49-F238E27FC236}">
                <a16:creationId xmlns:a16="http://schemas.microsoft.com/office/drawing/2014/main" id="{510035D4-55B0-47E2-B1E7-4B58B2D6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73a7484064b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5">
            <a:extLst xmlns:a="http://schemas.openxmlformats.org/drawingml/2006/main">
              <a:ext uri="{FF2B5EF4-FFF2-40B4-BE49-F238E27FC236}">
                <a16:creationId xmlns:a16="http://schemas.microsoft.com/office/drawing/2014/main" id="{A8B7DD66-D670-4EF0-B95E-32D31BAC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1.5</a:t>
            </a:r>
          </a:p>
        </p:txBody>
      </p:sp>
      <p:sp>
        <p:nvSpPr>
          <p:cNvPr id="3" name="Trefastränaren">
            <a:extLst xmlns:a="http://schemas.openxmlformats.org/drawingml/2006/main">
              <a:ext uri="{FF2B5EF4-FFF2-40B4-BE49-F238E27FC236}">
                <a16:creationId xmlns:a16="http://schemas.microsoft.com/office/drawing/2014/main" id="{798F5B9B-04A5-4827-AB8D-431CC700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Trefasriggen</a:t>
            </a:r>
          </a:p>
        </p:txBody>
      </p:sp>
      <p:sp>
        <p:nvSpPr>
          <p:cNvPr id="4" name="En avsedd trefastränare ger 12,0 V mellan faserna. Vilken spännin">
            <a:extLst xmlns:a="http://schemas.openxmlformats.org/drawingml/2006/main">
              <a:ext uri="{FF2B5EF4-FFF2-40B4-BE49-F238E27FC236}">
                <a16:creationId xmlns:a16="http://schemas.microsoft.com/office/drawing/2014/main" id="{096A1BD7-39FC-4A56-ACEE-CE66DA70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avsedd trefasrigg ger 12,0 V mellan faserna. Vilken spänning förväntas över varje gren i en symmetrisk Y-last?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0CA788E3-B581-4FB6-99C4-107ECDF1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1">
            <a:extLst xmlns:a="http://schemas.openxmlformats.org/drawingml/2006/main">
              <a:ext uri="{FF2B5EF4-FFF2-40B4-BE49-F238E27FC236}">
                <a16:creationId xmlns:a16="http://schemas.microsoft.com/office/drawing/2014/main" id="{C57A2347-3FA1-44A5-B4AD-34F33FBC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ymmetrisk Y-last på trefastränare med l" descr="Symmetrisk Y-last på trefastränare med linjespänningen 12,0 V; grenspänningen okä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6df26c79f4d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ass 2">
            <a:extLst xmlns:a="http://schemas.openxmlformats.org/drawingml/2006/main">
              <a:ext uri="{FF2B5EF4-FFF2-40B4-BE49-F238E27FC236}">
                <a16:creationId xmlns:a16="http://schemas.microsoft.com/office/drawing/2014/main" id="{4A803ED1-1486-4C39-9E73-89EE5D7D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Pass 2</a:t>
            </a:r>
          </a:p>
        </p:txBody>
      </p:sp>
      <p:sp>
        <p:nvSpPr>
          <p:cNvPr id="3" name="Neutralledaren vid symmetri&#10;Osymmetri och övertoner&#10;Mätpunkten be">
            <a:extLst xmlns:a="http://schemas.openxmlformats.org/drawingml/2006/main">
              <a:ext uri="{FF2B5EF4-FFF2-40B4-BE49-F238E27FC236}">
                <a16:creationId xmlns:a16="http://schemas.microsoft.com/office/drawing/2014/main" id="{3250FC62-7081-4E7F-B759-8C954B02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7620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Neutralledaren vid symmetri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Osymmetri och övertoner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Mätpunkten bestämmer tolkningen</a:t>
            </a:r>
          </a:p>
        </p:txBody>
      </p:sp>
      <p:sp>
        <p:nvSpPr>
          <p:cNvPr id="4" name="Teori och exempel följs av övning 6–10.&#10;Lösningar och facit ligge">
            <a:extLst xmlns:a="http://schemas.openxmlformats.org/drawingml/2006/main">
              <a:ext uri="{FF2B5EF4-FFF2-40B4-BE49-F238E27FC236}">
                <a16:creationId xmlns:a16="http://schemas.microsoft.com/office/drawing/2014/main" id="{0B7632BB-64CC-4608-916D-0C0F0AE7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Teori och exempel följs av övning 1.6–1.10.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metod och diskutera resultaten i gruppen.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C95F4043-6C62-45C8-A4E4-61ADB7EF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10e09a9964b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Neutralledaren vid symmetri">
            <a:extLst xmlns:a="http://schemas.openxmlformats.org/drawingml/2006/main">
              <a:ext uri="{FF2B5EF4-FFF2-40B4-BE49-F238E27FC236}">
                <a16:creationId xmlns:a16="http://schemas.microsoft.com/office/drawing/2014/main" id="{63D79E40-F4CC-42B5-93AB-F7EAD37B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Neutralledaren vid symmetri</a:t>
            </a:r>
          </a:p>
        </p:txBody>
      </p:sp>
      <p:sp>
        <p:nvSpPr>
          <p:cNvPr id="3" name="Tre lika sinusformade fasströmmar summerar till noll.&#10;Summan måst">
            <a:extLst xmlns:a="http://schemas.openxmlformats.org/drawingml/2006/main">
              <a:ext uri="{FF2B5EF4-FFF2-40B4-BE49-F238E27FC236}">
                <a16:creationId xmlns:a16="http://schemas.microsoft.com/office/drawing/2014/main" id="{F0DDE562-EDC0-41CE-8A16-71D08673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Tre lika sinusformade fasströmmar summerar till noll.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Summan måste göras med riktning och fasvinkel.</a:t>
            </a:r>
          </a:p>
        </p:txBody>
      </p:sp>
      <p:sp>
        <p:nvSpPr>
          <p:cNvPr id="4" name="I⃗N = −(I⃗₁ + I⃗₂ + I⃗₃)">
            <a:extLst xmlns:a="http://schemas.openxmlformats.org/drawingml/2006/main">
              <a:ext uri="{FF2B5EF4-FFF2-40B4-BE49-F238E27FC236}">
                <a16:creationId xmlns:a16="http://schemas.microsoft.com/office/drawing/2014/main" id="{F091E5E2-D954-403B-A936-851CC84A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I⃗N = −(I⃗₁ + I⃗₂ + I⃗₃)</a:t>
            </a:r>
          </a:p>
        </p:txBody>
      </p:sp>
      <p:sp>
        <p:nvSpPr>
          <p:cNvPr id="5" name="10 A i varje fas ger 0 A i neutralledaren&#10;för en symmetrisk, sinu">
            <a:extLst xmlns:a="http://schemas.openxmlformats.org/drawingml/2006/main">
              <a:ext uri="{FF2B5EF4-FFF2-40B4-BE49-F238E27FC236}">
                <a16:creationId xmlns:a16="http://schemas.microsoft.com/office/drawing/2014/main" id="{98FE80CD-D743-4B93-AD1A-AE100507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10 A i varje fas ger 0 A i neutralledaren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 en symmetrisk, sinusformad last.</a:t>
            </a:r>
          </a:p>
        </p:txBody>
      </p:sp>
      <p:sp>
        <p:nvSpPr>
          <p:cNvPr id="6" name="13">
            <a:extLst xmlns:a="http://schemas.openxmlformats.org/drawingml/2006/main">
              <a:ext uri="{FF2B5EF4-FFF2-40B4-BE49-F238E27FC236}">
                <a16:creationId xmlns:a16="http://schemas.microsoft.com/office/drawing/2014/main" id="{0CE1A8F5-4C9D-4519-AA76-3BDE3542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Tre lika strömvisare lagda efter varandr" descr="Tre lika strömvisare lagda efter varandra bildar en sluten triangel; neutralströmmen blir no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25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8efc8d6c741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Osymmetri och övertoner">
            <a:extLst xmlns:a="http://schemas.openxmlformats.org/drawingml/2006/main">
              <a:ext uri="{FF2B5EF4-FFF2-40B4-BE49-F238E27FC236}">
                <a16:creationId xmlns:a16="http://schemas.microsoft.com/office/drawing/2014/main" id="{539B7012-60EB-42A3-8A1A-4C426A52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Osymmetri och övertoner</a:t>
            </a:r>
          </a:p>
        </p:txBody>
      </p:sp>
      <p:sp>
        <p:nvSpPr>
          <p:cNvPr id="3" name="Olika laster kan ge neutralström.&#10;Övertoner kan också ge betydand">
            <a:extLst xmlns:a="http://schemas.openxmlformats.org/drawingml/2006/main">
              <a:ext uri="{FF2B5EF4-FFF2-40B4-BE49-F238E27FC236}">
                <a16:creationId xmlns:a16="http://schemas.microsoft.com/office/drawing/2014/main" id="{01FC089A-27AF-4469-B282-D9DE7B70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Olika laster kan ge neutralström.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Övertoner kan också ge betydande neutralström.</a:t>
            </a:r>
          </a:p>
        </p:txBody>
      </p:sp>
      <p:sp>
        <p:nvSpPr>
          <p:cNvPr id="4" name="10 A + 10 A + 10 A är ingen visarsumma">
            <a:extLst xmlns:a="http://schemas.openxmlformats.org/drawingml/2006/main">
              <a:ext uri="{FF2B5EF4-FFF2-40B4-BE49-F238E27FC236}">
                <a16:creationId xmlns:a16="http://schemas.microsoft.com/office/drawing/2014/main" id="{7E17FACE-B010-4274-BA8B-F273B118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10 A + 10 A + 10 A är ingen visarsumma</a:t>
            </a:r>
          </a:p>
        </p:txBody>
      </p:sp>
      <p:sp>
        <p:nvSpPr>
          <p:cNvPr id="5" name="Med fungerande neutralledare får faslasterna sin avsedda&#10;fas–neut">
            <a:extLst xmlns:a="http://schemas.openxmlformats.org/drawingml/2006/main">
              <a:ext uri="{FF2B5EF4-FFF2-40B4-BE49-F238E27FC236}">
                <a16:creationId xmlns:a16="http://schemas.microsoft.com/office/drawing/2014/main" id="{BA8517A7-C5D4-4D71-9E26-A9C7BF8B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Med fungerande neutralledare får faslasterna sin avsedda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fas–neutralspänning. Avbrott kan ge farlig spänningsfördelning.</a:t>
            </a:r>
          </a:p>
        </p:txBody>
      </p:sp>
      <p:sp>
        <p:nvSpPr>
          <p:cNvPr id="6" name="14">
            <a:extLst xmlns:a="http://schemas.openxmlformats.org/drawingml/2006/main">
              <a:ext uri="{FF2B5EF4-FFF2-40B4-BE49-F238E27FC236}">
                <a16:creationId xmlns:a16="http://schemas.microsoft.com/office/drawing/2014/main" id="{3696B644-439E-4DA9-8442-6AE59E12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Olika fasströmmar 10, 10 och 4 A sluter " descr="Olika fasströmmar 10, 10 och 4 A sluter inte triangeln; neutralströmmen sluter d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25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04497e56e4e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Mätpunkten bestämmer tolkningen">
            <a:extLst xmlns:a="http://schemas.openxmlformats.org/drawingml/2006/main">
              <a:ext uri="{FF2B5EF4-FFF2-40B4-BE49-F238E27FC236}">
                <a16:creationId xmlns:a16="http://schemas.microsoft.com/office/drawing/2014/main" id="{6906930A-DD42-409C-8E2D-C6965AB0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Mätpunkten bestämmer tolkningen</a:t>
            </a:r>
          </a:p>
        </p:txBody>
      </p:sp>
      <p:sp>
        <p:nvSpPr>
          <p:cNvPr id="3" name="Tre linjespänningar jämförs för att bedöma spänningsbalans.&#10;En mä">
            <a:extLst xmlns:a="http://schemas.openxmlformats.org/drawingml/2006/main">
              <a:ext uri="{FF2B5EF4-FFF2-40B4-BE49-F238E27FC236}">
                <a16:creationId xmlns:a16="http://schemas.microsoft.com/office/drawing/2014/main" id="{7850BC0F-FB54-49E4-A0A7-4B0810A4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Tre linjespänningar jämförs för att bedöma spänningsbalans.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mätning mot neutral eller jord besvarar en annan fråga.</a:t>
            </a:r>
          </a:p>
        </p:txBody>
      </p:sp>
      <p:sp>
        <p:nvSpPr>
          <p:cNvPr id="4" name="U₁₂, U₂₃, U₃₁ respektive U₁N">
            <a:extLst xmlns:a="http://schemas.openxmlformats.org/drawingml/2006/main">
              <a:ext uri="{FF2B5EF4-FFF2-40B4-BE49-F238E27FC236}">
                <a16:creationId xmlns:a16="http://schemas.microsoft.com/office/drawing/2014/main" id="{43118017-BD8F-4F03-BB5B-9287D896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U₁₂, U₂₃, U₃₁ respektive U₁N</a:t>
            </a:r>
          </a:p>
        </p:txBody>
      </p:sp>
      <p:sp>
        <p:nvSpPr>
          <p:cNvPr id="5" name="Skriv alltid ut båda mätpunkterna i protokollet.&#10;400 V mellan fas">
            <a:extLst xmlns:a="http://schemas.openxmlformats.org/drawingml/2006/main">
              <a:ext uri="{FF2B5EF4-FFF2-40B4-BE49-F238E27FC236}">
                <a16:creationId xmlns:a16="http://schemas.microsoft.com/office/drawing/2014/main" id="{4E7520DD-F27B-4BF3-BE5E-1D3973F9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Skriv alltid ut båda mätpunkterna i protokollet.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400 V mellan faser visar inte att varje fas–jordvärde är 230 V.</a:t>
            </a:r>
          </a:p>
        </p:txBody>
      </p:sp>
      <p:sp>
        <p:nvSpPr>
          <p:cNvPr id="6" name="15">
            <a:extLst xmlns:a="http://schemas.openxmlformats.org/drawingml/2006/main">
              <a:ext uri="{FF2B5EF4-FFF2-40B4-BE49-F238E27FC236}">
                <a16:creationId xmlns:a16="http://schemas.microsoft.com/office/drawing/2014/main" id="{493C6870-2EDD-40CB-9A4A-F9FA9DC5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Mätpunkter för linjespänningarna U12, U2" descr="Mätpunkter för linjespänningarna U12, U23, U31 och fasspänningen U1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07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087cf49b34f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två fasströmmar">
            <a:extLst xmlns:a="http://schemas.openxmlformats.org/drawingml/2006/main">
              <a:ext uri="{FF2B5EF4-FFF2-40B4-BE49-F238E27FC236}">
                <a16:creationId xmlns:a16="http://schemas.microsoft.com/office/drawing/2014/main" id="{F3170E27-065F-4F15-A324-7D7F3927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två fasströmmar</a:t>
            </a:r>
          </a:p>
        </p:txBody>
      </p:sp>
      <p:sp>
        <p:nvSpPr>
          <p:cNvPr id="10" name="Två strömmar på 6 A har 120° mellan sig. Den tredje är noll. Sök ">
            <a:extLst xmlns:a="http://schemas.openxmlformats.org/drawingml/2006/main">
              <a:ext uri="{FF2B5EF4-FFF2-40B4-BE49-F238E27FC236}">
                <a16:creationId xmlns:a16="http://schemas.microsoft.com/office/drawing/2014/main" id="{9996B1AA-4D3E-48F9-AA58-C3545218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Två strömmar på 6 A har 120° mellan sig. Den tredje är noll. Sök neutralströmmens belopp.</a:t>
            </a:r>
          </a:p>
        </p:txBody>
      </p:sp>
      <p:sp>
        <p:nvSpPr>
          <p:cNvPr id="11" name="IN = √(I₁² + I₂² + 2I₁I₂ cos120°)">
            <a:extLst xmlns:a="http://schemas.openxmlformats.org/drawingml/2006/main">
              <a:ext uri="{FF2B5EF4-FFF2-40B4-BE49-F238E27FC236}">
                <a16:creationId xmlns:a16="http://schemas.microsoft.com/office/drawing/2014/main" id="{A98566A4-321B-422F-BC06-6979FE7C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N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√(I₁² + I₂² + 2I₁I₂ cos120°)</a:t>
            </a:r>
          </a:p>
        </p:txBody>
      </p:sp>
      <p:sp>
        <p:nvSpPr>
          <p:cNvPr id="12" name="1. cos120° = −0,5.&#10;2. IN² = 6² + 6² + 2 · 6 · 6 · (−0,5) = 36.&#10;3.">
            <a:extLst xmlns:a="http://schemas.openxmlformats.org/drawingml/2006/main">
              <a:ext uri="{FF2B5EF4-FFF2-40B4-BE49-F238E27FC236}">
                <a16:creationId xmlns:a16="http://schemas.microsoft.com/office/drawing/2014/main" id="{FFDEE09A-BC47-48AF-BECD-F5E7D2A3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cos120° = −0,5.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I</a:t>
            </a:r>
            <a:r>
              <a:rPr sz="20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</a:t>
            </a: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² = 6² + 6² + 2 · 6 · 6 · (−0,5) = 36.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I</a:t>
            </a:r>
            <a:r>
              <a:rPr sz="20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</a:t>
            </a: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√36 = 6 A.</a:t>
            </a:r>
          </a:p>
        </p:txBody>
      </p:sp>
      <p:sp>
        <p:nvSpPr>
          <p:cNvPr id="13" name="Beloppen 6 + 6 kan inte adderas direkt. Vinkeln gör att en del av">
            <a:extLst xmlns:a="http://schemas.openxmlformats.org/drawingml/2006/main">
              <a:ext uri="{FF2B5EF4-FFF2-40B4-BE49-F238E27FC236}">
                <a16:creationId xmlns:a16="http://schemas.microsoft.com/office/drawing/2014/main" id="{52D3EBAC-557D-42E2-B097-25D7BF7D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Beloppen 6 + 6 kan inte adderas direkt. Vinkeln gör att en del av bidragen tar ut varandra.</a:t>
            </a:r>
          </a:p>
        </p:txBody>
      </p:sp>
      <p:sp>
        <p:nvSpPr>
          <p:cNvPr id="14" name="24">
            <a:extLst xmlns:a="http://schemas.openxmlformats.org/drawingml/2006/main">
              <a:ext uri="{FF2B5EF4-FFF2-40B4-BE49-F238E27FC236}">
                <a16:creationId xmlns:a16="http://schemas.microsoft.com/office/drawing/2014/main" id="{C5B0E76A-0D69-4DBE-AB26-9EC54988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8dd9d80da4f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6">
            <a:extLst xmlns:a="http://schemas.openxmlformats.org/drawingml/2006/main">
              <a:ext uri="{FF2B5EF4-FFF2-40B4-BE49-F238E27FC236}">
                <a16:creationId xmlns:a16="http://schemas.microsoft.com/office/drawing/2014/main" id="{B23D9021-1B68-45D7-BB24-712D1D01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1.6</a:t>
            </a:r>
          </a:p>
        </p:txBody>
      </p:sp>
      <p:sp>
        <p:nvSpPr>
          <p:cNvPr id="10" name="I⃗N = −(I⃗₁ + I⃗₂ + I⃗₃)">
            <a:extLst xmlns:a="http://schemas.openxmlformats.org/drawingml/2006/main">
              <a:ext uri="{FF2B5EF4-FFF2-40B4-BE49-F238E27FC236}">
                <a16:creationId xmlns:a16="http://schemas.microsoft.com/office/drawing/2014/main" id="{6CD55215-8960-46AC-8160-1180C228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Visarsumma: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−(I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+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+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11" name="Symbolen med pil betecknar en visare med belopp och fasvinkel. Ne">
            <a:extLst xmlns:a="http://schemas.openxmlformats.org/drawingml/2006/main">
              <a:ext uri="{FF2B5EF4-FFF2-40B4-BE49-F238E27FC236}">
                <a16:creationId xmlns:a16="http://schemas.microsoft.com/office/drawing/2014/main" id="{7D2E2B5B-2E2D-43C7-AB6C-20F00D25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Symbolen med pil betecknar en visare med belopp och fasvinkel. Neutralströmmen sluter strömbalansen.</a:t>
            </a:r>
          </a:p>
        </p:txBody>
      </p:sp>
      <p:sp>
        <p:nvSpPr>
          <p:cNvPr id="12" name="Förutsättningar: Tre rena sinusströmmar på 8,0 A med exakt 120° m">
            <a:extLst xmlns:a="http://schemas.openxmlformats.org/drawingml/2006/main">
              <a:ext uri="{FF2B5EF4-FFF2-40B4-BE49-F238E27FC236}">
                <a16:creationId xmlns:a16="http://schemas.microsoft.com/office/drawing/2014/main" id="{FD2D08CB-1D7E-464F-99E3-0004F18E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Tre rena sinusströmmar på 8,0 A, exakt 120° isär.</a:t>
            </a:r>
          </a:p>
        </p:txBody>
      </p:sp>
      <p:sp>
        <p:nvSpPr>
          <p:cNvPr id="13" name="Arbetsgång: Föreställ dig tre lika visare jämnt runt ett varv. De">
            <a:extLst xmlns:a="http://schemas.openxmlformats.org/drawingml/2006/main">
              <a:ext uri="{FF2B5EF4-FFF2-40B4-BE49-F238E27FC236}">
                <a16:creationId xmlns:a16="http://schemas.microsoft.com/office/drawing/2014/main" id="{271E3579-D766-44E6-A481-B0883FD1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Rita de tre visarna efter varandra, spets mot fot. Vad blir summan?</a:t>
            </a:r>
          </a:p>
        </p:txBody>
      </p:sp>
      <p:sp>
        <p:nvSpPr>
          <p:cNvPr id="14" name="25">
            <a:extLst xmlns:a="http://schemas.openxmlformats.org/drawingml/2006/main">
              <a:ext uri="{FF2B5EF4-FFF2-40B4-BE49-F238E27FC236}">
                <a16:creationId xmlns:a16="http://schemas.microsoft.com/office/drawing/2014/main" id="{6BE3510F-F703-42A3-90B8-A4876231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c7650487d41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6">
            <a:extLst xmlns:a="http://schemas.openxmlformats.org/drawingml/2006/main">
              <a:ext uri="{FF2B5EF4-FFF2-40B4-BE49-F238E27FC236}">
                <a16:creationId xmlns:a16="http://schemas.microsoft.com/office/drawing/2014/main" id="{ED09C835-25B3-49FB-AC0E-80CB96E8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1.6</a:t>
            </a:r>
          </a:p>
        </p:txBody>
      </p:sp>
      <p:sp>
        <p:nvSpPr>
          <p:cNvPr id="3" name="Neutralström vid symmetri">
            <a:extLst xmlns:a="http://schemas.openxmlformats.org/drawingml/2006/main">
              <a:ext uri="{FF2B5EF4-FFF2-40B4-BE49-F238E27FC236}">
                <a16:creationId xmlns:a16="http://schemas.microsoft.com/office/drawing/2014/main" id="{BAABB573-521E-46D4-AC5F-46743C69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Neutralström vid symmetri</a:t>
            </a:r>
          </a:p>
        </p:txBody>
      </p:sp>
      <p:sp>
        <p:nvSpPr>
          <p:cNvPr id="4" name="Tre rena sinusströmmar på 8,0 A har 120° mellan faserna. Bestäm n">
            <a:extLst xmlns:a="http://schemas.openxmlformats.org/drawingml/2006/main">
              <a:ext uri="{FF2B5EF4-FFF2-40B4-BE49-F238E27FC236}">
                <a16:creationId xmlns:a16="http://schemas.microsoft.com/office/drawing/2014/main" id="{910A6A3A-0E4C-449A-9F38-DBB69FF9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Tre rena sinusströmmar på 8,0 A ligger 120° isär. Bestäm strömmen i neutralledaren (effektivvärde).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46CDA06D-424D-4569-8F71-E4B2D48B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6">
            <a:extLst xmlns:a="http://schemas.openxmlformats.org/drawingml/2006/main">
              <a:ext uri="{FF2B5EF4-FFF2-40B4-BE49-F238E27FC236}">
                <a16:creationId xmlns:a16="http://schemas.microsoft.com/office/drawing/2014/main" id="{928DFA3A-7011-49E5-9921-7D03DF5F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Tre strömvisare på 8,0 A med 120 grader " descr="Tre strömvisare på 8,0 A med 120 grader mellan; neutralströmmen okä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3c81e17bf4e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7">
            <a:extLst xmlns:a="http://schemas.openxmlformats.org/drawingml/2006/main">
              <a:ext uri="{FF2B5EF4-FFF2-40B4-BE49-F238E27FC236}">
                <a16:creationId xmlns:a16="http://schemas.microsoft.com/office/drawing/2014/main" id="{08EE0082-4006-482E-A47F-E8EB1F4E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1.7</a:t>
            </a:r>
          </a:p>
        </p:txBody>
      </p:sp>
      <p:sp>
        <p:nvSpPr>
          <p:cNvPr id="10" name="|IN| = |Ifas| vid en enda faslast">
            <a:extLst xmlns:a="http://schemas.openxmlformats.org/drawingml/2006/main">
              <a:ext uri="{FF2B5EF4-FFF2-40B4-BE49-F238E27FC236}">
                <a16:creationId xmlns:a16="http://schemas.microsoft.com/office/drawing/2014/main" id="{BA3B63C2-A71F-4E8D-B3D0-5B8F753F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Nodlagen: Σ in = Σ ut</a:t>
            </a:r>
          </a:p>
        </p:txBody>
      </p:sp>
      <p:sp>
        <p:nvSpPr>
          <p:cNvPr id="11" name="IN är neutralledarens ström. Den återför strömmen från den enda a">
            <a:extLst xmlns:a="http://schemas.openxmlformats.org/drawingml/2006/main">
              <a:ext uri="{FF2B5EF4-FFF2-40B4-BE49-F238E27FC236}">
                <a16:creationId xmlns:a16="http://schemas.microsoft.com/office/drawing/2014/main" id="{74163219-749F-4B4C-88AD-9BE66AD9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är neutralledarens ström. Den för tillbaka strömmen från fas–neutral-lasterna.</a:t>
            </a:r>
          </a:p>
        </p:txBody>
      </p:sp>
      <p:sp>
        <p:nvSpPr>
          <p:cNvPr id="12" name="Förutsättningar: En fas tar 5,0 A, övriga fasströmmar är noll. Ne">
            <a:extLst xmlns:a="http://schemas.openxmlformats.org/drawingml/2006/main">
              <a:ext uri="{FF2B5EF4-FFF2-40B4-BE49-F238E27FC236}">
                <a16:creationId xmlns:a16="http://schemas.microsoft.com/office/drawing/2014/main" id="{FF1E8C77-E945-483B-A938-61D3B99C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En fas tar 5,0 A, de andra två ingenting. Neutralledaren är hel.</a:t>
            </a:r>
          </a:p>
        </p:txBody>
      </p:sp>
      <p:sp>
        <p:nvSpPr>
          <p:cNvPr id="13" name="Arbetsgång: Använd nodlagen. All utgående lastström måste återkom">
            <a:extLst xmlns:a="http://schemas.openxmlformats.org/drawingml/2006/main">
              <a:ext uri="{FF2B5EF4-FFF2-40B4-BE49-F238E27FC236}">
                <a16:creationId xmlns:a16="http://schemas.microsoft.com/office/drawing/2014/main" id="{079884EE-38EF-4F3E-9E19-B3D677AA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Använd nodlagen. All utgående lastström måste återkomma genom neutralledaren.</a:t>
            </a:r>
          </a:p>
        </p:txBody>
      </p:sp>
      <p:sp>
        <p:nvSpPr>
          <p:cNvPr id="14" name="27">
            <a:extLst xmlns:a="http://schemas.openxmlformats.org/drawingml/2006/main">
              <a:ext uri="{FF2B5EF4-FFF2-40B4-BE49-F238E27FC236}">
                <a16:creationId xmlns:a16="http://schemas.microsoft.com/office/drawing/2014/main" id="{D64AD562-E174-4251-A95C-59B0074D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51daf7da84b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7">
            <a:extLst xmlns:a="http://schemas.openxmlformats.org/drawingml/2006/main">
              <a:ext uri="{FF2B5EF4-FFF2-40B4-BE49-F238E27FC236}">
                <a16:creationId xmlns:a16="http://schemas.microsoft.com/office/drawing/2014/main" id="{949CB241-CAED-486A-8F34-673F8003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1.7</a:t>
            </a:r>
          </a:p>
        </p:txBody>
      </p:sp>
      <p:sp>
        <p:nvSpPr>
          <p:cNvPr id="3" name="Bara en belastad fas">
            <a:extLst xmlns:a="http://schemas.openxmlformats.org/drawingml/2006/main">
              <a:ext uri="{FF2B5EF4-FFF2-40B4-BE49-F238E27FC236}">
                <a16:creationId xmlns:a16="http://schemas.microsoft.com/office/drawing/2014/main" id="{6B3AA516-FE56-41AE-9E9A-84DBF302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Bara en belastad fas</a:t>
            </a:r>
          </a:p>
        </p:txBody>
      </p:sp>
      <p:sp>
        <p:nvSpPr>
          <p:cNvPr id="4" name="En enda fas–neutral-last tar 5,0 A. De två andra fasströmmarna är">
            <a:extLst xmlns:a="http://schemas.openxmlformats.org/drawingml/2006/main">
              <a:ext uri="{FF2B5EF4-FFF2-40B4-BE49-F238E27FC236}">
                <a16:creationId xmlns:a16="http://schemas.microsoft.com/office/drawing/2014/main" id="{E43FC9B9-9A1D-42F6-89B6-57489640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last mellan en fas och neutral tar 5,0 A. De två andra faserna är obelastade. Bestäm strömmen i neutralledaren.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AF75773F-9B02-44AC-B141-B594D736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7">
            <a:extLst xmlns:a="http://schemas.openxmlformats.org/drawingml/2006/main">
              <a:ext uri="{FF2B5EF4-FFF2-40B4-BE49-F238E27FC236}">
                <a16:creationId xmlns:a16="http://schemas.microsoft.com/office/drawing/2014/main" id="{7C5D64E0-F1FB-4090-8DE1-3DF193F0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En last mellan L1 och N som tar 5,0 A; n" descr="En last mellan L1 och N som tar 5,0 A; neutralströmmen okä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d9541cca948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8">
            <a:extLst xmlns:a="http://schemas.openxmlformats.org/drawingml/2006/main">
              <a:ext uri="{FF2B5EF4-FFF2-40B4-BE49-F238E27FC236}">
                <a16:creationId xmlns:a16="http://schemas.microsoft.com/office/drawing/2014/main" id="{D1635D1B-EB04-4A72-A58B-6979753E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1.8</a:t>
            </a:r>
          </a:p>
        </p:txBody>
      </p:sp>
      <p:sp>
        <p:nvSpPr>
          <p:cNvPr id="10" name="IN = √(I₁² + I₂² + 2I₁I₂ cos120°)">
            <a:extLst xmlns:a="http://schemas.openxmlformats.org/drawingml/2006/main">
              <a:ext uri="{FF2B5EF4-FFF2-40B4-BE49-F238E27FC236}">
                <a16:creationId xmlns:a16="http://schemas.microsoft.com/office/drawing/2014/main" id="{04B37E09-3527-4A8B-8272-71991C57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√(I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² +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² + 2 ·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·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cos120°)</a:t>
            </a:r>
          </a:p>
        </p:txBody>
      </p:sp>
      <p:sp>
        <p:nvSpPr>
          <p:cNvPr id="11" name="Formeln ger beloppet av summan av två visare. cos120° = −0,5. I a">
            <a:extLst xmlns:a="http://schemas.openxmlformats.org/drawingml/2006/main">
              <a:ext uri="{FF2B5EF4-FFF2-40B4-BE49-F238E27FC236}">
                <a16:creationId xmlns:a16="http://schemas.microsoft.com/office/drawing/2014/main" id="{7CBA7273-F7A5-42B8-833F-79574BCD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Formeln ger storleken på summan av två visare. cos120° = −0,5 – glöm inte minustecknet.</a:t>
            </a:r>
          </a:p>
        </p:txBody>
      </p:sp>
      <p:sp>
        <p:nvSpPr>
          <p:cNvPr id="12" name="Förutsättningar: I₁ = I₂ = 10 A, 120° mellan strömmarna och I₃ = ">
            <a:extLst xmlns:a="http://schemas.openxmlformats.org/drawingml/2006/main">
              <a:ext uri="{FF2B5EF4-FFF2-40B4-BE49-F238E27FC236}">
                <a16:creationId xmlns:a16="http://schemas.microsoft.com/office/drawing/2014/main" id="{280AA647-747C-4A35-9BAC-AC721CDD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I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I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10 A, 120° isär, och I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0. Neutralledaren är hel.</a:t>
            </a:r>
          </a:p>
        </p:txBody>
      </p:sp>
      <p:sp>
        <p:nvSpPr>
          <p:cNvPr id="13" name="Arbetsgång: Sätt in cos120° med minustecknet. Räkna uttrycket und">
            <a:extLst xmlns:a="http://schemas.openxmlformats.org/drawingml/2006/main">
              <a:ext uri="{FF2B5EF4-FFF2-40B4-BE49-F238E27FC236}">
                <a16:creationId xmlns:a16="http://schemas.microsoft.com/office/drawing/2014/main" id="{CA37C025-9FE8-446F-9D7F-0B4478C1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ut uttrycket under roten och dra sedan roten ur.</a:t>
            </a:r>
          </a:p>
        </p:txBody>
      </p:sp>
      <p:sp>
        <p:nvSpPr>
          <p:cNvPr id="14" name="29">
            <a:extLst xmlns:a="http://schemas.openxmlformats.org/drawingml/2006/main">
              <a:ext uri="{FF2B5EF4-FFF2-40B4-BE49-F238E27FC236}">
                <a16:creationId xmlns:a16="http://schemas.microsoft.com/office/drawing/2014/main" id="{B0D4DD7A-2510-4B63-AC08-30795420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6362ae9c54e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8">
            <a:extLst xmlns:a="http://schemas.openxmlformats.org/drawingml/2006/main">
              <a:ext uri="{FF2B5EF4-FFF2-40B4-BE49-F238E27FC236}">
                <a16:creationId xmlns:a16="http://schemas.microsoft.com/office/drawing/2014/main" id="{AEC22643-3A0D-4264-BAEB-5D37C28E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1.8</a:t>
            </a:r>
          </a:p>
        </p:txBody>
      </p:sp>
      <p:sp>
        <p:nvSpPr>
          <p:cNvPr id="3" name="Två lika faslaster">
            <a:extLst xmlns:a="http://schemas.openxmlformats.org/drawingml/2006/main">
              <a:ext uri="{FF2B5EF4-FFF2-40B4-BE49-F238E27FC236}">
                <a16:creationId xmlns:a16="http://schemas.microsoft.com/office/drawing/2014/main" id="{E7EC7C50-2466-4B3F-81CA-6A76E9A0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Två lika faslaster</a:t>
            </a:r>
          </a:p>
        </p:txBody>
      </p:sp>
      <p:sp>
        <p:nvSpPr>
          <p:cNvPr id="4" name="Två fasströmmar är 10 A med 120° emellan. Den tredje är noll. Bes">
            <a:extLst xmlns:a="http://schemas.openxmlformats.org/drawingml/2006/main">
              <a:ext uri="{FF2B5EF4-FFF2-40B4-BE49-F238E27FC236}">
                <a16:creationId xmlns:a16="http://schemas.microsoft.com/office/drawing/2014/main" id="{1218FB44-1FA1-4B29-81C8-7BC30DD6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Två fasströmmar på 10 A ligger 120° isär. Den tredje fasen är obelastad. Bestäm strömmen i neutralledaren.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A7EE873D-9F4B-49FF-8729-26386C84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8">
            <a:extLst xmlns:a="http://schemas.openxmlformats.org/drawingml/2006/main">
              <a:ext uri="{FF2B5EF4-FFF2-40B4-BE49-F238E27FC236}">
                <a16:creationId xmlns:a16="http://schemas.microsoft.com/office/drawing/2014/main" id="{A26D67E4-EB00-4B02-90E6-4904FEA6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Två strömvisare på 10 A med 120 grader m" descr="Två strömvisare på 10 A med 120 grader mellan, tredje strömmen noll; neutralströmmen okä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4865ffaf549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9">
            <a:extLst xmlns:a="http://schemas.openxmlformats.org/drawingml/2006/main">
              <a:ext uri="{FF2B5EF4-FFF2-40B4-BE49-F238E27FC236}">
                <a16:creationId xmlns:a16="http://schemas.microsoft.com/office/drawing/2014/main" id="{90279105-124E-4A4E-98C9-E376317F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1.9</a:t>
            </a:r>
          </a:p>
        </p:txBody>
      </p:sp>
      <p:sp>
        <p:nvSpPr>
          <p:cNvPr id="10" name="Umedel = (U₁₂ + U₂₃ + U₃₁)/3&#10;Avvikelse i % = 100 · max|Ui − Umede">
            <a:extLst xmlns:a="http://schemas.openxmlformats.org/drawingml/2006/main">
              <a:ext uri="{FF2B5EF4-FFF2-40B4-BE49-F238E27FC236}">
                <a16:creationId xmlns:a16="http://schemas.microsoft.com/office/drawing/2014/main" id="{BC82D785-A381-440E-9F7A-7050E659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medel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(U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+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23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+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)/3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Avvikelse i % = 100 · max|U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−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medel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|/U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medel</a:t>
            </a:r>
          </a:p>
        </p:txBody>
      </p:sp>
      <p:sp>
        <p:nvSpPr>
          <p:cNvPr id="11" name="max betyder den största avvikelsens belopp. Ui är ett av de tre m">
            <a:extLst xmlns:a="http://schemas.openxmlformats.org/drawingml/2006/main">
              <a:ext uri="{FF2B5EF4-FFF2-40B4-BE49-F238E27FC236}">
                <a16:creationId xmlns:a16="http://schemas.microsoft.com/office/drawing/2014/main" id="{6A0DFF25-E47C-4813-BC55-B6E86C75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max betyder den största avvikelsen, oavsett tecken. Ui är ett av de tre mätvärdena.</a:t>
            </a:r>
          </a:p>
        </p:txBody>
      </p:sp>
      <p:sp>
        <p:nvSpPr>
          <p:cNvPr id="12" name="Förutsättningar: Mätvärden 400, 402 och 398 V. Uppgiften använder">
            <a:extLst xmlns:a="http://schemas.openxmlformats.org/drawingml/2006/main">
              <a:ext uri="{FF2B5EF4-FFF2-40B4-BE49-F238E27FC236}">
                <a16:creationId xmlns:a16="http://schemas.microsoft.com/office/drawing/2014/main" id="{58FB1BF4-DDB5-4FF8-81FB-F210F68A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Mätvärdena 400, 402 och 398 V. Uppgiften använder ett enkelt mått på spridning.</a:t>
            </a:r>
          </a:p>
        </p:txBody>
      </p:sp>
      <p:sp>
        <p:nvSpPr>
          <p:cNvPr id="13" name="Arbetsgång: Beräkna medlet och jämför varje värde med medlet. Väl">
            <a:extLst xmlns:a="http://schemas.openxmlformats.org/drawingml/2006/main">
              <a:ext uri="{FF2B5EF4-FFF2-40B4-BE49-F238E27FC236}">
                <a16:creationId xmlns:a16="http://schemas.microsoft.com/office/drawing/2014/main" id="{2F048F44-7BC7-43E3-8090-AEEBD7DD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ut medelvärdet, jämför varje mätvärde med det och använd den största skillnaden.</a:t>
            </a:r>
          </a:p>
        </p:txBody>
      </p:sp>
      <p:sp>
        <p:nvSpPr>
          <p:cNvPr id="14" name="31">
            <a:extLst xmlns:a="http://schemas.openxmlformats.org/drawingml/2006/main">
              <a:ext uri="{FF2B5EF4-FFF2-40B4-BE49-F238E27FC236}">
                <a16:creationId xmlns:a16="http://schemas.microsoft.com/office/drawing/2014/main" id="{3C786E81-6335-47BB-9932-42C02419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e746d7c5d43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9">
            <a:extLst xmlns:a="http://schemas.openxmlformats.org/drawingml/2006/main">
              <a:ext uri="{FF2B5EF4-FFF2-40B4-BE49-F238E27FC236}">
                <a16:creationId xmlns:a16="http://schemas.microsoft.com/office/drawing/2014/main" id="{A206CB37-4310-4215-BCD1-AA5D9D8F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1.9</a:t>
            </a:r>
          </a:p>
        </p:txBody>
      </p:sp>
      <p:sp>
        <p:nvSpPr>
          <p:cNvPr id="3" name="Mätvärden i protokollet">
            <a:extLst xmlns:a="http://schemas.openxmlformats.org/drawingml/2006/main">
              <a:ext uri="{FF2B5EF4-FFF2-40B4-BE49-F238E27FC236}">
                <a16:creationId xmlns:a16="http://schemas.microsoft.com/office/drawing/2014/main" id="{F421932B-23C8-4619-8D09-7C8B4412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Mätvärden i protokollet</a:t>
            </a:r>
          </a:p>
        </p:txBody>
      </p:sp>
      <p:sp>
        <p:nvSpPr>
          <p:cNvPr id="4" name="U₁₂ = 400 V, U₂₃ = 402 V och U₃₁ = 398 V. Beräkna medelvärdet och">
            <a:extLst xmlns:a="http://schemas.openxmlformats.org/drawingml/2006/main">
              <a:ext uri="{FF2B5EF4-FFF2-40B4-BE49-F238E27FC236}">
                <a16:creationId xmlns:a16="http://schemas.microsoft.com/office/drawing/2014/main" id="{046DB8AE-8A9D-4F33-B4BA-EB10CAB5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12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400 V, U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23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402 V och U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31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398 V. Beräkna medelvärdet och den största avvikelsen i procent av medelvärdet.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22071FA0-0C0E-4EAC-8D69-22D02BAF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9">
            <a:extLst xmlns:a="http://schemas.openxmlformats.org/drawingml/2006/main">
              <a:ext uri="{FF2B5EF4-FFF2-40B4-BE49-F238E27FC236}">
                <a16:creationId xmlns:a16="http://schemas.microsoft.com/office/drawing/2014/main" id="{F56A9C29-69F2-41AB-B98B-14279A49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tapeldiagram med linjespänningarna 400," descr="Stapeldiagram med linjespänningarna 400, 402 och 398 V; medelvärde och avvikelse okän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12f17cf6f4a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0">
            <a:extLst xmlns:a="http://schemas.openxmlformats.org/drawingml/2006/main">
              <a:ext uri="{FF2B5EF4-FFF2-40B4-BE49-F238E27FC236}">
                <a16:creationId xmlns:a16="http://schemas.microsoft.com/office/drawing/2014/main" id="{D296146A-C994-4C89-8552-8C99151A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1.10</a:t>
            </a:r>
          </a:p>
        </p:txBody>
      </p:sp>
      <p:sp>
        <p:nvSpPr>
          <p:cNvPr id="10" name="Flytande neutralpunkt ger ändrad fördelning">
            <a:extLst xmlns:a="http://schemas.openxmlformats.org/drawingml/2006/main">
              <a:ext uri="{FF2B5EF4-FFF2-40B4-BE49-F238E27FC236}">
                <a16:creationId xmlns:a16="http://schemas.microsoft.com/office/drawing/2014/main" id="{B283F815-0766-4161-91AD-30344A79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Flytande neutralpunkt ger ändrad fördelning</a:t>
            </a:r>
          </a:p>
        </p:txBody>
      </p:sp>
      <p:sp>
        <p:nvSpPr>
          <p:cNvPr id="11" name="När den gemensamma neutralen bryts kan två laster bilda en seriev">
            <a:extLst xmlns:a="http://schemas.openxmlformats.org/drawingml/2006/main">
              <a:ext uri="{FF2B5EF4-FFF2-40B4-BE49-F238E27FC236}">
                <a16:creationId xmlns:a16="http://schemas.microsoft.com/office/drawing/2014/main" id="{F113F74E-41B7-4740-B898-99093D09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När neutralledaren går av hamnar de två lasterna i serie mellan två faser.</a:t>
            </a:r>
          </a:p>
        </p:txBody>
      </p:sp>
      <p:sp>
        <p:nvSpPr>
          <p:cNvPr id="12" name="Förutsättningar: Två olika fas–neutral-laster. Båda fasledningarn">
            <a:extLst xmlns:a="http://schemas.openxmlformats.org/drawingml/2006/main">
              <a:ext uri="{FF2B5EF4-FFF2-40B4-BE49-F238E27FC236}">
                <a16:creationId xmlns:a16="http://schemas.microsoft.com/office/drawing/2014/main" id="{A8472D55-B812-49F9-A6EB-E28466B9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Två olika laster mellan fas och neutral. Fasledarna är hela, men den gemensamma neutralledaren är av.</a:t>
            </a:r>
          </a:p>
        </p:txBody>
      </p:sp>
      <p:sp>
        <p:nvSpPr>
          <p:cNvPr id="13" name="Arbetsgång: Följ strömvägen mellan faserna. Förklara varför olika">
            <a:extLst xmlns:a="http://schemas.openxmlformats.org/drawingml/2006/main">
              <a:ext uri="{FF2B5EF4-FFF2-40B4-BE49-F238E27FC236}">
                <a16:creationId xmlns:a16="http://schemas.microsoft.com/office/drawing/2014/main" id="{EA3CD8D0-74E2-490B-A319-05A0EB38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Följ strömvägen och förklara varför laster med olika impedans då får olika stor del av spänningen.</a:t>
            </a:r>
          </a:p>
        </p:txBody>
      </p:sp>
      <p:sp>
        <p:nvSpPr>
          <p:cNvPr id="14" name="33">
            <a:extLst xmlns:a="http://schemas.openxmlformats.org/drawingml/2006/main">
              <a:ext uri="{FF2B5EF4-FFF2-40B4-BE49-F238E27FC236}">
                <a16:creationId xmlns:a16="http://schemas.microsoft.com/office/drawing/2014/main" id="{785532B0-885F-443B-B254-4610E160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726abba9e49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0">
            <a:extLst xmlns:a="http://schemas.openxmlformats.org/drawingml/2006/main">
              <a:ext uri="{FF2B5EF4-FFF2-40B4-BE49-F238E27FC236}">
                <a16:creationId xmlns:a16="http://schemas.microsoft.com/office/drawing/2014/main" id="{1364E364-2D38-4B8B-9EAB-4785F2F5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1.10</a:t>
            </a:r>
          </a:p>
        </p:txBody>
      </p:sp>
      <p:sp>
        <p:nvSpPr>
          <p:cNvPr id="3" name="Avbrott i neutralledaren">
            <a:extLst xmlns:a="http://schemas.openxmlformats.org/drawingml/2006/main">
              <a:ext uri="{FF2B5EF4-FFF2-40B4-BE49-F238E27FC236}">
                <a16:creationId xmlns:a16="http://schemas.microsoft.com/office/drawing/2014/main" id="{46607D43-F849-40B4-87A8-9645451C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Avbrott i neutralledaren</a:t>
            </a:r>
          </a:p>
        </p:txBody>
      </p:sp>
      <p:sp>
        <p:nvSpPr>
          <p:cNvPr id="4" name="Två olika fas–neutral-laster har gemensam neutralpunkt. Neutralle">
            <a:extLst xmlns:a="http://schemas.openxmlformats.org/drawingml/2006/main">
              <a:ext uri="{FF2B5EF4-FFF2-40B4-BE49-F238E27FC236}">
                <a16:creationId xmlns:a16="http://schemas.microsoft.com/office/drawing/2014/main" id="{2E893B8E-F16D-4BB4-8327-64D7DA05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Två olika laster, var och en mellan en fas och neutral, har en gemensam neutralledare. Neutralledaren går av. Varför kan spänningarna över lasterna ändras fast linjespänningen är densamma?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9776F268-FF55-49B4-905A-57DD6C71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20">
            <a:extLst xmlns:a="http://schemas.openxmlformats.org/drawingml/2006/main">
              <a:ext uri="{FF2B5EF4-FFF2-40B4-BE49-F238E27FC236}">
                <a16:creationId xmlns:a16="http://schemas.microsoft.com/office/drawing/2014/main" id="{EF600700-2469-4B89-88E9-59691E89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Två olika laster Ra och Rb från L1 och L" descr="Två olika laster Ra och Rb från L1 och L2 till en gemensam punkt där neutralledaren är brut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da0f492db4f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Avslut och eget arbete">
            <a:extLst xmlns:a="http://schemas.openxmlformats.org/drawingml/2006/main">
              <a:ext uri="{FF2B5EF4-FFF2-40B4-BE49-F238E27FC236}">
                <a16:creationId xmlns:a16="http://schemas.microsoft.com/office/drawing/2014/main" id="{BA500A7F-7CE3-40A5-84A1-6FD96DE6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Avslut och eget arbete</a:t>
            </a:r>
          </a:p>
        </p:txBody>
      </p:sp>
      <p:sp>
        <p:nvSpPr>
          <p:cNvPr id="3" name="Vilka två anslutningar använder du för att definiera UL respektiv">
            <a:extLst xmlns:a="http://schemas.openxmlformats.org/drawingml/2006/main">
              <a:ext uri="{FF2B5EF4-FFF2-40B4-BE49-F238E27FC236}">
                <a16:creationId xmlns:a16="http://schemas.microsoft.com/office/drawing/2014/main" id="{62F86BB0-E23B-45F6-A5E8-986B537D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Vilka två anslutningar använder du för att definiera U</a:t>
            </a:r>
            <a:r>
              <a:rPr sz="255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respektive U</a:t>
            </a:r>
            <a:r>
              <a:rPr sz="255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</a:t>
            </a: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4" name="Förbered trefasberäkningarna för v41. Inlämningen ska vara klar f">
            <a:extLst xmlns:a="http://schemas.openxmlformats.org/drawingml/2006/main">
              <a:ext uri="{FF2B5EF4-FFF2-40B4-BE49-F238E27FC236}">
                <a16:creationId xmlns:a16="http://schemas.microsoft.com/office/drawing/2014/main" id="{AE003D6E-D79F-4AE4-A39B-68B1525C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7620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Förbered trefasberäkningarna för v41. Inlämningen ska vara klar före den fysiska träffen den 9 oktober.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8AA3B039-4F0A-47D4-996B-B63D0190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131ae885247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Källor och fortsatt läsning">
            <a:extLst xmlns:a="http://schemas.openxmlformats.org/drawingml/2006/main">
              <a:ext uri="{FF2B5EF4-FFF2-40B4-BE49-F238E27FC236}">
                <a16:creationId xmlns:a16="http://schemas.microsoft.com/office/drawing/2014/main" id="{CE4B8594-D317-4A59-8DEA-AE0D1E5A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Källor och fortsatt läsning</a:t>
            </a:r>
          </a:p>
        </p:txBody>
      </p:sp>
      <p:sp>
        <p:nvSpPr>
          <p:cNvPr id="3" name="Studieplanen YH03151, 18 september 2026&#10;Sjöskolans kursmaterial o">
            <a:extLst xmlns:a="http://schemas.openxmlformats.org/drawingml/2006/main">
              <a:ext uri="{FF2B5EF4-FFF2-40B4-BE49-F238E27FC236}">
                <a16:creationId xmlns:a16="http://schemas.microsoft.com/office/drawing/2014/main" id="{87DB990C-901B-49DC-B332-CAE7CC56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Studieplanen YH03151, 18 september 2026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Sjöskolans kursmaterial och originalmall</a:t>
            </a:r>
          </a:p>
        </p:txBody>
      </p:sp>
      <p:sp>
        <p:nvSpPr>
          <p:cNvPr id="4" name="Schneider Electric: skenbar effekt">
            <a:extLst xmlns:a="http://schemas.openxmlformats.org/drawingml/2006/main">
              <a:ext uri="{FF2B5EF4-FFF2-40B4-BE49-F238E27FC236}">
                <a16:creationId xmlns:a16="http://schemas.microsoft.com/office/drawing/2014/main" id="{CDD57389-867B-4493-9613-64A46583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45452606f644d66"/>
              </a:rPr>
              <a:t>Schneider Electric: skenbar effekt</a:t>
            </a:r>
          </a:p>
        </p:txBody>
      </p:sp>
      <p:sp>
        <p:nvSpPr>
          <p:cNvPr id="5" name="OpenStax: enkla växelströmskretsar">
            <a:extLst xmlns:a="http://schemas.openxmlformats.org/drawingml/2006/main">
              <a:ext uri="{FF2B5EF4-FFF2-40B4-BE49-F238E27FC236}">
                <a16:creationId xmlns:a16="http://schemas.microsoft.com/office/drawing/2014/main" id="{D62D58C2-E102-4776-BF20-7FBD5C00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1daa7a292ba4986"/>
              </a:rPr>
              <a:t>OpenStax: enkla växelströmskretsar</a:t>
            </a:r>
          </a:p>
        </p:txBody>
      </p:sp>
      <p:sp>
        <p:nvSpPr>
          <p:cNvPr id="7" name="22">
            <a:extLst xmlns:a="http://schemas.openxmlformats.org/drawingml/2006/main">
              <a:ext uri="{FF2B5EF4-FFF2-40B4-BE49-F238E27FC236}">
                <a16:creationId xmlns:a16="http://schemas.microsoft.com/office/drawing/2014/main" id="{91AF77C9-DAD7-4698-9A7D-ACDBF95C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2026-09-20T20:09:18.3760000Z</dcterms:created>
  <dcterms:modified xsi:type="dcterms:W3CDTF">2026-09-20T20:09:18.3760000Z</dcterms:modified>
</coreProperties>
</file>