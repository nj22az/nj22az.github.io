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57e34278eb74a8d" Type="http://schemas.openxmlformats.org/officeDocument/2006/relationships/officeDocument" Target="ppt/presentation.xml"/><Relationship Id="R4b9c067e7481457a" Type="http://schemas.openxmlformats.org/package/2006/relationships/metadata/core-properties" Target="docProps/core.xml"/><Relationship Id="R54284ed06bb442d8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2d61c94d2a7c469f"/>
  </p:sldMasterIdLst>
  <p:sldIdLst>
    <p:sldId id="256" r:id="R5a1ee7f1327e424a"/>
    <p:sldId id="257" r:id="R87f80e328a554079"/>
    <p:sldId id="258" r:id="R304828e14aed4fd8"/>
    <p:sldId id="259" r:id="Ra39aff3387a34136"/>
    <p:sldId id="260" r:id="R582a00ed88fb43cd"/>
    <p:sldId id="261" r:id="Rf3e8405fbf664568"/>
    <p:sldId id="262" r:id="R0047df74181f4f01"/>
    <p:sldId id="263" r:id="Re3fbdf93906a473c"/>
    <p:sldId id="264" r:id="R665a9f1e160f4fce"/>
    <p:sldId id="265" r:id="R38b70e9a82ab47b8"/>
    <p:sldId id="266" r:id="R922c9bfb0eb74c0d"/>
    <p:sldId id="267" r:id="R93ba8d7e43a24be1"/>
    <p:sldId id="268" r:id="R15e3f3a7dd2545e1"/>
    <p:sldId id="269" r:id="Rf28d482ce20e4ab5"/>
    <p:sldId id="270" r:id="Reab36455477c4f98"/>
    <p:sldId id="271" r:id="Ra5690a1b23014bf4"/>
    <p:sldId id="272" r:id="R32b5ed8f4d504842"/>
    <p:sldId id="273" r:id="R9847cfbb07bb4b92"/>
    <p:sldId id="274" r:id="R3141661295cd40ce"/>
    <p:sldId id="275" r:id="Rc162b9d790564da0"/>
    <p:sldId id="276" r:id="R8c028002e63b4f73"/>
    <p:sldId id="277" r:id="R127d45ea875a42dc"/>
    <p:sldId id="278" r:id="R4c558434d0a44206"/>
    <p:sldId id="279" r:id="R0ddbe49e3b774f31"/>
    <p:sldId id="280" r:id="R38f9f89c49f1411b"/>
    <p:sldId id="281" r:id="Re5382b6a478846bb"/>
    <p:sldId id="282" r:id="Re91807c4c5e54760"/>
    <p:sldId id="283" r:id="R8bb2624ef8c8452b"/>
    <p:sldId id="284" r:id="R3eb71dddeec241c6"/>
    <p:sldId id="285" r:id="Ra66efb76405543e0"/>
    <p:sldId id="286" r:id="Rae3fb2718281430a"/>
    <p:sldId id="287" r:id="R44cb685748994db9"/>
    <p:sldId id="288" r:id="R56ef2647e9704790"/>
    <p:sldId id="289" r:id="R0f9b70c147d24c07"/>
    <p:sldId id="290" r:id="R0ded7175166141a3"/>
    <p:sldId id="291" r:id="R60121635a42c4cff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047df74181f4f01" Type="http://schemas.openxmlformats.org/officeDocument/2006/relationships/slide" Target="slides/slide7.xml"/><Relationship Id="R05c3a851865f474a" Type="http://schemas.openxmlformats.org/officeDocument/2006/relationships/theme" Target="theme/theme1.xml"/><Relationship Id="R0ddbe49e3b774f31" Type="http://schemas.openxmlformats.org/officeDocument/2006/relationships/slide" Target="slides/slide24.xml"/><Relationship Id="R0ded7175166141a3" Type="http://schemas.openxmlformats.org/officeDocument/2006/relationships/slide" Target="slides/slide35.xml"/><Relationship Id="R0f9b70c147d24c07" Type="http://schemas.openxmlformats.org/officeDocument/2006/relationships/slide" Target="slides/slide34.xml"/><Relationship Id="R127d45ea875a42dc" Type="http://schemas.openxmlformats.org/officeDocument/2006/relationships/slide" Target="slides/slide22.xml"/><Relationship Id="R15e3f3a7dd2545e1" Type="http://schemas.openxmlformats.org/officeDocument/2006/relationships/slide" Target="slides/slide13.xml"/><Relationship Id="R2d61c94d2a7c469f" Type="http://schemas.openxmlformats.org/officeDocument/2006/relationships/slideMaster" Target="slideMasters/slideMaster1.xml"/><Relationship Id="R304828e14aed4fd8" Type="http://schemas.openxmlformats.org/officeDocument/2006/relationships/slide" Target="slides/slide3.xml"/><Relationship Id="R3141661295cd40ce" Type="http://schemas.openxmlformats.org/officeDocument/2006/relationships/slide" Target="slides/slide19.xml"/><Relationship Id="R32b5ed8f4d504842" Type="http://schemas.openxmlformats.org/officeDocument/2006/relationships/slide" Target="slides/slide17.xml"/><Relationship Id="R38b70e9a82ab47b8" Type="http://schemas.openxmlformats.org/officeDocument/2006/relationships/slide" Target="slides/slide10.xml"/><Relationship Id="R38f9f89c49f1411b" Type="http://schemas.openxmlformats.org/officeDocument/2006/relationships/slide" Target="slides/slide25.xml"/><Relationship Id="R3eb71dddeec241c6" Type="http://schemas.openxmlformats.org/officeDocument/2006/relationships/slide" Target="slides/slide29.xml"/><Relationship Id="R407466834db24691" Type="http://schemas.openxmlformats.org/officeDocument/2006/relationships/viewProps" Target="viewProps.xml"/><Relationship Id="R44cb685748994db9" Type="http://schemas.openxmlformats.org/officeDocument/2006/relationships/slide" Target="slides/slide32.xml"/><Relationship Id="R4c558434d0a44206" Type="http://schemas.openxmlformats.org/officeDocument/2006/relationships/slide" Target="slides/slide23.xml"/><Relationship Id="R56ef2647e9704790" Type="http://schemas.openxmlformats.org/officeDocument/2006/relationships/slide" Target="slides/slide33.xml"/><Relationship Id="R582a00ed88fb43cd" Type="http://schemas.openxmlformats.org/officeDocument/2006/relationships/slide" Target="slides/slide5.xml"/><Relationship Id="R5a1ee7f1327e424a" Type="http://schemas.openxmlformats.org/officeDocument/2006/relationships/slide" Target="slides/slide1.xml"/><Relationship Id="R60121635a42c4cff" Type="http://schemas.openxmlformats.org/officeDocument/2006/relationships/slide" Target="slides/slide36.xml"/><Relationship Id="R665a9f1e160f4fce" Type="http://schemas.openxmlformats.org/officeDocument/2006/relationships/slide" Target="slides/slide9.xml"/><Relationship Id="R87f80e328a554079" Type="http://schemas.openxmlformats.org/officeDocument/2006/relationships/slide" Target="slides/slide2.xml"/><Relationship Id="R8b2dd4ee96d34b31" Type="http://schemas.openxmlformats.org/officeDocument/2006/relationships/presProps" Target="presProps.xml"/><Relationship Id="R8bb2624ef8c8452b" Type="http://schemas.openxmlformats.org/officeDocument/2006/relationships/slide" Target="slides/slide28.xml"/><Relationship Id="R8c028002e63b4f73" Type="http://schemas.openxmlformats.org/officeDocument/2006/relationships/slide" Target="slides/slide21.xml"/><Relationship Id="R91ab0e094f164fca" Type="http://schemas.openxmlformats.org/officeDocument/2006/relationships/tableStyles" Target="tableStyles.xml"/><Relationship Id="R922c9bfb0eb74c0d" Type="http://schemas.openxmlformats.org/officeDocument/2006/relationships/slide" Target="slides/slide11.xml"/><Relationship Id="R93ba8d7e43a24be1" Type="http://schemas.openxmlformats.org/officeDocument/2006/relationships/slide" Target="slides/slide12.xml"/><Relationship Id="R9847cfbb07bb4b92" Type="http://schemas.openxmlformats.org/officeDocument/2006/relationships/slide" Target="slides/slide18.xml"/><Relationship Id="Ra39aff3387a34136" Type="http://schemas.openxmlformats.org/officeDocument/2006/relationships/slide" Target="slides/slide4.xml"/><Relationship Id="Ra5690a1b23014bf4" Type="http://schemas.openxmlformats.org/officeDocument/2006/relationships/slide" Target="slides/slide16.xml"/><Relationship Id="Ra66efb76405543e0" Type="http://schemas.openxmlformats.org/officeDocument/2006/relationships/slide" Target="slides/slide30.xml"/><Relationship Id="Rae3fb2718281430a" Type="http://schemas.openxmlformats.org/officeDocument/2006/relationships/slide" Target="slides/slide31.xml"/><Relationship Id="Rc162b9d790564da0" Type="http://schemas.openxmlformats.org/officeDocument/2006/relationships/slide" Target="slides/slide20.xml"/><Relationship Id="Re3fbdf93906a473c" Type="http://schemas.openxmlformats.org/officeDocument/2006/relationships/slide" Target="slides/slide8.xml"/><Relationship Id="Re5382b6a478846bb" Type="http://schemas.openxmlformats.org/officeDocument/2006/relationships/slide" Target="slides/slide26.xml"/><Relationship Id="Re91807c4c5e54760" Type="http://schemas.openxmlformats.org/officeDocument/2006/relationships/slide" Target="slides/slide27.xml"/><Relationship Id="Reab36455477c4f98" Type="http://schemas.openxmlformats.org/officeDocument/2006/relationships/slide" Target="slides/slide15.xml"/><Relationship Id="Rf28d482ce20e4ab5" Type="http://schemas.openxmlformats.org/officeDocument/2006/relationships/slide" Target="slides/slide14.xml"/><Relationship Id="Rf3e8405fbf664568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c03d83f039834a34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3ccca12c483740c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3226148f77048a9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9a55ae32e2449cd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b96b892c45e2478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700e1a53f03c4b3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1a30ed333b8b461e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3e5263fb2a344ec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cad9db353a494ee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3733f5d10e004825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35e460890951437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6D8109-34EB-4F98-AE52-881EED6972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AAF92DF-DEE5-4884-8CE4-AE74AD88F9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220C88-D432-4075-8DB2-97456F74FE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F9F990-FEB1-4236-88B1-3960B2EB2D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FEA425-1206-4A42-87C4-6306180219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E67F04-AFA7-41EB-9A32-887A781145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7C3EC3-0427-4046-9192-8774341E99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FFA511-57DF-4017-BB90-8E88D9B573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C011AF-5180-4B95-8AC3-C8E7C929D2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48D9FD-D9DC-48C4-89AA-3FFA7F33DE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0EA77F-9699-4267-8EAB-1987A8E01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285289-E579-4892-9081-6FE82EEC6C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6DB08B-A149-491E-8F67-5A42D33BA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6EC570-55E0-4C38-AF9B-2F706889AF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557459-5B79-4FD0-9284-869D003CD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0CDED5-1816-4E68-816F-32AF14984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CFF17E-C7C8-485B-932C-B0DA91C575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3BF3CA9-5096-4FBE-B58E-808ADF6FD63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941040-B62C-4B33-B6CD-668297332D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6F37884-1FA2-44F9-8DB7-31B4F4F3BC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78FA296-5C1F-4989-B8FE-2522835DAD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B02FAA-D6A5-4A9D-B3E9-9B9F23EB8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A84515-B685-47E1-82D0-B75C67E25F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7F1E366-9F22-4155-A970-7985BB3DC84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1389F86-498D-4ADB-806E-77D89A04F3F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643B8AC-EF1E-421C-B36B-77780058B13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732049-B279-4B8B-99A0-E23E8EB591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04D90CE-074B-4106-99CB-7D85095125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5CA3BB9-940A-443A-8ECF-A93A9983F8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6DD2EF-4A36-49EF-8580-69CEBF6C8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19CADFC-9412-4D08-B28D-452E2479DD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4ACFA95-7A4B-4BA5-AF0C-2373065685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4C0C25F-5E20-4B1D-AF8C-C2F6FB5751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CC2C1C8-12E0-463D-85CA-7F3EC06418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D53C714-15C5-41F5-8F85-5A2E1B1E78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8792BA2-6DBD-478A-B0B4-B622D6218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4E6C5F-0106-407C-A154-0EC065804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266F7-E3F3-4C05-B0EB-EC3BEEB0EE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4A6B96-1D94-48A6-92DC-70E44E0E78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9EDFC46-4995-4373-AB10-6F2AFF1341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3E176F-6BF2-4155-B1E5-A279B95CF0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40F925A-56F0-41BA-9A6E-2EA20B6B6A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3223DB-AC24-4676-A482-A6E566F34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9F6A90-D4B2-44E6-89F9-CA7B5FFF072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2BB822-F6E4-4AA2-972B-B2D1628894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740858-C01E-4A50-B9B7-276BDEDCCC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2E5B3D-E030-4931-8DF3-95EED78F22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2BE9EB2-EEA4-4107-A65C-1CB4BBDDAB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0C22A7-5FE8-41F6-BBA8-FB849E4B0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242DA8-7A42-470C-AEFD-A9A59F24A4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F7B1E1-4077-48D0-BF0A-1CD500F34F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EC207C-AF19-42A1-898C-9B1153C7B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079213-B65B-4589-A7B6-E4EE283D63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0B823B1-68C8-44D8-925F-7C88450FBB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F87584-D786-4D36-8B01-A33EBB79E2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76CE57-1776-4D7D-A0FB-13365D5DD4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00B064-5FBB-479D-8A47-D956AEC134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8FF351-C7B5-4D96-8244-16F72E6878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cbfd8b804b04a9c" Type="http://schemas.openxmlformats.org/officeDocument/2006/relationships/slideLayout" Target="../slideLayouts/slideLayout11.xml"/><Relationship Id="R10f71a4623334507" Type="http://schemas.openxmlformats.org/officeDocument/2006/relationships/theme" Target="theme/theme2.xml"/><Relationship Id="R51af684bbea146f4" Type="http://schemas.openxmlformats.org/officeDocument/2006/relationships/slideLayout" Target="../slideLayouts/slideLayout7.xml"/><Relationship Id="R55be58af768f4b9d" Type="http://schemas.openxmlformats.org/officeDocument/2006/relationships/slideLayout" Target="../slideLayouts/slideLayout3.xml"/><Relationship Id="R5965ed6978c04372" Type="http://schemas.openxmlformats.org/officeDocument/2006/relationships/slideLayout" Target="../slideLayouts/slideLayout2.xml"/><Relationship Id="R62eb91164ae54177" Type="http://schemas.openxmlformats.org/officeDocument/2006/relationships/slideLayout" Target="../slideLayouts/slideLayout8.xml"/><Relationship Id="R771c95dc53684749" Type="http://schemas.openxmlformats.org/officeDocument/2006/relationships/slideLayout" Target="../slideLayouts/slideLayout9.xml"/><Relationship Id="R7f1c282bedff466a" Type="http://schemas.openxmlformats.org/officeDocument/2006/relationships/slideLayout" Target="../slideLayouts/slideLayout5.xml"/><Relationship Id="Rc0d2127f0c3b43a0" Type="http://schemas.openxmlformats.org/officeDocument/2006/relationships/slideLayout" Target="../slideLayouts/slideLayout1.xml"/><Relationship Id="Rd4256536246c4e92" Type="http://schemas.openxmlformats.org/officeDocument/2006/relationships/slideLayout" Target="../slideLayouts/slideLayout4.xml"/><Relationship Id="Ref343e7b78b941bb" Type="http://schemas.openxmlformats.org/officeDocument/2006/relationships/slideLayout" Target="../slideLayouts/slideLayout10.xml"/><Relationship Id="Rf9dc06dfc05f4642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754BEF-EFC3-4590-913F-EF4FF1316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9FAB11E-3B1B-47EF-AE33-EBA9CDB09F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178096-6C55-4171-8DC7-9E79FDB18BE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02C951-8770-4004-A3E9-5AE3CFED216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43E799-1EAB-446E-A1A7-FE4176E29F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d2127f0c3b43a0"/>
    <p:sldLayoutId xmlns:r="http://schemas.openxmlformats.org/officeDocument/2006/relationships" id="2147483650" r:id="R5965ed6978c04372"/>
    <p:sldLayoutId xmlns:r="http://schemas.openxmlformats.org/officeDocument/2006/relationships" id="2147483651" r:id="R55be58af768f4b9d"/>
    <p:sldLayoutId xmlns:r="http://schemas.openxmlformats.org/officeDocument/2006/relationships" id="2147483652" r:id="Rd4256536246c4e92"/>
    <p:sldLayoutId xmlns:r="http://schemas.openxmlformats.org/officeDocument/2006/relationships" id="2147483653" r:id="R7f1c282bedff466a"/>
    <p:sldLayoutId xmlns:r="http://schemas.openxmlformats.org/officeDocument/2006/relationships" id="2147483654" r:id="Rf9dc06dfc05f4642"/>
    <p:sldLayoutId xmlns:r="http://schemas.openxmlformats.org/officeDocument/2006/relationships" id="2147483655" r:id="R51af684bbea146f4"/>
    <p:sldLayoutId xmlns:r="http://schemas.openxmlformats.org/officeDocument/2006/relationships" id="2147483656" r:id="R62eb91164ae54177"/>
    <p:sldLayoutId xmlns:r="http://schemas.openxmlformats.org/officeDocument/2006/relationships" id="2147483657" r:id="R771c95dc53684749"/>
    <p:sldLayoutId xmlns:r="http://schemas.openxmlformats.org/officeDocument/2006/relationships" id="2147483658" r:id="Ref343e7b78b941bb"/>
    <p:sldLayoutId xmlns:r="http://schemas.openxmlformats.org/officeDocument/2006/relationships" id="2147483659" r:id="R0cbfd8b804b04a9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1a0946c5e704732" Type="http://schemas.openxmlformats.org/officeDocument/2006/relationships/image" Target="../media/image.jpeg"/><Relationship Id="Rb1ff14269fe341ae" Type="http://schemas.openxmlformats.org/officeDocument/2006/relationships/image" Target="../media/image.png"/><Relationship Id="Rfd264c08e8954a70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703d520f3fa04d5f" Type="http://schemas.openxmlformats.org/officeDocument/2006/relationships/image" Target="../media/image.jpeg"/><Relationship Id="Rbc2494b3493a414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2121e4bd3e7467c" Type="http://schemas.openxmlformats.org/officeDocument/2006/relationships/image" Target="../media/image.jpeg"/><Relationship Id="Re1c5760529944998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dca7289f3f14e1c" Type="http://schemas.openxmlformats.org/officeDocument/2006/relationships/slideLayout" Target="../slideLayouts/slideLayout1.xml"/><Relationship Id="R9a3b363999df473b" Type="http://schemas.openxmlformats.org/officeDocument/2006/relationships/image" Target="../media/image.jpeg"/></Relationships>
</file>

<file path=ppt/slides/_rels/slide5.xml.rels><?xml version='1.0' encoding='UTF-8' standalone='yes'?>
<Relationships xmlns="http://schemas.openxmlformats.org/package/2006/relationships"><Relationship Id="R5de55314ae394dd2" Type="http://schemas.openxmlformats.org/officeDocument/2006/relationships/image" Target="../media/image.jpeg"/><Relationship Id="R73a7255a6faa4fd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52d0bf8189a24525" Type="http://schemas.openxmlformats.org/officeDocument/2006/relationships/image" Target="../media/image.jpeg"/><Relationship Id="Re1b505aca6e64548" Type="http://schemas.openxmlformats.org/officeDocument/2006/relationships/slideLayout" Target="../slideLayouts/slideLayout1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2230311161eb4cd2" Type="http://schemas.openxmlformats.org/officeDocument/2006/relationships/slideLayout" Target="../slideLayouts/slideLayout1.xml"/><Relationship Id="R79941c9d52534f53" Type="http://schemas.openxmlformats.org/officeDocument/2006/relationships/image" Target="../media/image.jpe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24de43a1a5c3413b" Type="http://schemas.openxmlformats.org/officeDocument/2006/relationships/image" Target="../media/image.jpeg"/><Relationship Id="R42fb9a92f133408d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1afd52d3691e4dae" Type="http://schemas.openxmlformats.org/officeDocument/2006/relationships/image" Target="../media/image.jpeg"/><Relationship Id="R8b5cc2e449fd4f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d865376182194b9f" Type="http://schemas.openxmlformats.org/officeDocument/2006/relationships/image" Target="../media/image.jpeg"/><Relationship Id="Rdcc11a2aeb354e6e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8c6c48f6c2049fd" Type="http://schemas.openxmlformats.org/officeDocument/2006/relationships/image" Target="../media/image.jpeg"/><Relationship Id="R5f12c8cdcdd641c0" Type="http://schemas.openxmlformats.org/officeDocument/2006/relationships/slideLayout" Target="../slideLayouts/slideLayout1.xml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0d5484d1b70d44e0" Type="http://schemas.openxmlformats.org/officeDocument/2006/relationships/image" Target="../media/image.jpeg"/><Relationship Id="R77728395d88d424d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50983f1e1f84e76" Type="http://schemas.openxmlformats.org/officeDocument/2006/relationships/image" Target="../media/image.jpeg"/><Relationship Id="Rba7b0fada3be40b6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94ab894a31cf421a" Type="http://schemas.openxmlformats.org/officeDocument/2006/relationships/image" Target="../media/image.jpeg"/><Relationship Id="Re226fd7451af4a0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c08141ef951457f" Type="http://schemas.openxmlformats.org/officeDocument/2006/relationships/slideLayout" Target="../slideLayouts/slideLayout1.xml"/><Relationship Id="R62505d24a0894d10" Type="http://schemas.openxmlformats.org/officeDocument/2006/relationships/image" Target="../media/image.jpeg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8a2c9357bdcc48c6" Type="http://schemas.openxmlformats.org/officeDocument/2006/relationships/slideLayout" Target="../slideLayouts/slideLayout1.xml"/><Relationship Id="Rafdd1e6dd9e14cbb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22f27f5426ca4a16" Type="http://schemas.openxmlformats.org/officeDocument/2006/relationships/image" Target="../media/image.jpeg"/><Relationship Id="R3b72e5aafe4f4182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71942587ac6140bf" Type="http://schemas.openxmlformats.org/officeDocument/2006/relationships/image" Target="../media/image.jpeg"/><Relationship Id="Rc7b4cdef765d4ae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4a3539ec7f9a4752" Type="http://schemas.openxmlformats.org/officeDocument/2006/relationships/image" Target="../media/image.jpeg"/><Relationship Id="R9e632cf0205f4ed3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db017f50d53f499c" Type="http://schemas.openxmlformats.org/officeDocument/2006/relationships/slideLayout" Target="../slideLayouts/slideLayout1.xml"/><Relationship Id="Re228f3f84ba4470e" Type="http://schemas.openxmlformats.org/officeDocument/2006/relationships/image" Target="../media/image.jpeg"/></Relationships>
</file>

<file path=ppt/slides/_rels/slide21.xml.rels><?xml version='1.0' encoding='UTF-8' standalone='yes'?>
<Relationships xmlns="http://schemas.openxmlformats.org/package/2006/relationships"><Relationship Id="R27e97fb24cf64e80" Type="http://schemas.openxmlformats.org/officeDocument/2006/relationships/image" Target="../media/image.jpeg"/><Relationship Id="Re2e57a6df10e46ff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7dfc8722b6154e6d" Type="http://schemas.openxmlformats.org/officeDocument/2006/relationships/slideLayout" Target="../slideLayouts/slideLayout1.xml"/><Relationship Id="Re949c979fe6c41e2" Type="http://schemas.openxmlformats.org/officeDocument/2006/relationships/image" Target="../media/image.jpeg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708a92a9f624ed0" Type="http://schemas.openxmlformats.org/officeDocument/2006/relationships/slideLayout" Target="../slideLayouts/slideLayout1.xml"/><Relationship Id="R5f29bf37bfae4989" Type="http://schemas.openxmlformats.org/officeDocument/2006/relationships/image" Target="../media/image.jpeg"/></Relationships>
</file>

<file path=ppt/slides/_rels/slide24.xml.rels><?xml version='1.0' encoding='UTF-8' standalone='yes'?>
<Relationships xmlns="http://schemas.openxmlformats.org/package/2006/relationships"><Relationship Id="R955a5cd5b1ef46fb" Type="http://schemas.openxmlformats.org/officeDocument/2006/relationships/image" Target="../media/image.jpeg"/><Relationship Id="Rccd970aaf0d84d06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2644cf32cf754bcc" Type="http://schemas.openxmlformats.org/officeDocument/2006/relationships/image" Target="../media/image.jpeg"/><Relationship Id="Rf706f30b017f482c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4e5195e786c74b43" Type="http://schemas.openxmlformats.org/officeDocument/2006/relationships/image" Target="../media/image.jpeg"/><Relationship Id="R588f26e4cbc74600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12d3909ac8474d91" Type="http://schemas.openxmlformats.org/officeDocument/2006/relationships/slideLayout" Target="../slideLayouts/slideLayout1.xml"/><Relationship Id="R51bfa05a98b74062" Type="http://schemas.openxmlformats.org/officeDocument/2006/relationships/image" Target="../media/image.jpeg"/></Relationships>
</file>

<file path=ppt/slides/_rels/slide28.xml.rels><?xml version='1.0' encoding='UTF-8' standalone='yes'?>
<Relationships xmlns="http://schemas.openxmlformats.org/package/2006/relationships"><Relationship Id="R33c24d6a68e043fc" Type="http://schemas.openxmlformats.org/officeDocument/2006/relationships/image" Target="../media/image.jpeg"/><Relationship Id="R880b4968496b4e06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a339ca74f3104b7b" Type="http://schemas.openxmlformats.org/officeDocument/2006/relationships/image" Target="../media/image.jpeg"/><Relationship Id="Rd21ca9ea64804885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15f079e3807c49e6" Type="http://schemas.openxmlformats.org/officeDocument/2006/relationships/image" Target="../media/image.jpeg"/><Relationship Id="R99c5b5ecb6324b1f" Type="http://schemas.openxmlformats.org/officeDocument/2006/relationships/slideLayout" Target="../slideLayouts/slideLayout1.xml"/><Relationship Id="rId3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a91457858f3642aa" Type="http://schemas.openxmlformats.org/officeDocument/2006/relationships/slideLayout" Target="../slideLayouts/slideLayout1.xml"/><Relationship Id="Rc48ede0bfcda4ce3" Type="http://schemas.openxmlformats.org/officeDocument/2006/relationships/image" Target="../media/image.jpeg"/></Relationships>
</file>

<file path=ppt/slides/_rels/slide32.xml.rels><?xml version='1.0' encoding='UTF-8' standalone='yes'?>
<Relationships xmlns="http://schemas.openxmlformats.org/package/2006/relationships"><Relationship Id="R1a2844373d1b430f" Type="http://schemas.openxmlformats.org/officeDocument/2006/relationships/image" Target="../media/image.jpeg"/><Relationship Id="Rc9221655d41b44ca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aa65e5daa2324c2b" Type="http://schemas.openxmlformats.org/officeDocument/2006/relationships/slideLayout" Target="../slideLayouts/slideLayout1.xml"/><Relationship Id="Rd556a36cba2a47c1" Type="http://schemas.openxmlformats.org/officeDocument/2006/relationships/image" Target="../media/image.jpeg"/></Relationships>
</file>

<file path=ppt/slides/_rels/slide34.xml.rels><?xml version='1.0' encoding='UTF-8' standalone='yes'?>
<Relationships xmlns="http://schemas.openxmlformats.org/package/2006/relationships"><Relationship Id="R1dfd086f6283440c" Type="http://schemas.openxmlformats.org/officeDocument/2006/relationships/slideLayout" Target="../slideLayouts/slideLayout1.xml"/><Relationship Id="R777c47e3b79d4adb" Type="http://schemas.openxmlformats.org/officeDocument/2006/relationships/image" Target="../media/image.jpeg"/><Relationship Id="rId3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ae7dec7539ff4dd5" Type="http://schemas.openxmlformats.org/officeDocument/2006/relationships/image" Target="../media/image.jpeg"/><Relationship Id="Re43ca6d68ead4057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2e200e51ca054b62" Type="http://schemas.openxmlformats.org/officeDocument/2006/relationships/slideLayout" Target="../slideLayouts/slideLayout1.xml"/><Relationship Id="R304cd51401e44174" Type="http://schemas.openxmlformats.org/officeDocument/2006/relationships/hyperlink" Target="https://www.electrical-installation.org/enwiki/Installed_apparent_power_%28kVA%29" TargetMode="External"/><Relationship Id="R326d635f80904509" Type="http://schemas.openxmlformats.org/officeDocument/2006/relationships/hyperlink" Target="https://elstandard.se/documents/preview/3246401" TargetMode="External"/><Relationship Id="R7a30eb6189dc4c80" Type="http://schemas.openxmlformats.org/officeDocument/2006/relationships/image" Target="../media/image.jpeg"/><Relationship Id="Readafdc350414a8a" Type="http://schemas.openxmlformats.org/officeDocument/2006/relationships/hyperlink" Target="https://dam-assets.fluke.com.cn/s3fs-public/2100079_6003_ENG_D_W.PDF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0946c5e7047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f14269fe341ae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840A4858-74B6-4AB7-A120-BFE630A4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2B69AD8E-86E4-4619-AC09-19D7C0E6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Fysisk träff och mätning</a:t>
            </a:r>
          </a:p>
        </p:txBody>
      </p:sp>
      <p:sp>
        <p:nvSpPr>
          <p:cNvPr id="13" name="Stationsförslag med SELV-riggar och dokumentation">
            <a:extLst xmlns:a="http://schemas.openxmlformats.org/drawingml/2006/main">
              <a:ext uri="{FF2B5EF4-FFF2-40B4-BE49-F238E27FC236}">
                <a16:creationId xmlns:a16="http://schemas.microsoft.com/office/drawing/2014/main" id="{25A287A4-D613-402D-A85A-62EA528D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Motorn: delar, Y och Δ i plinten och strömtången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E64A728E-1F5B-4CB3-BDD1-2E876E36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d520f3fa04d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C19013B0-1443-4B4E-A56A-B1552B3A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Jämföra beräknade värden med kontrollerade mätdata.">
            <a:extLst xmlns:a="http://schemas.openxmlformats.org/drawingml/2006/main">
              <a:ext uri="{FF2B5EF4-FFF2-40B4-BE49-F238E27FC236}">
                <a16:creationId xmlns:a16="http://schemas.microsoft.com/office/drawing/2014/main" id="{70C2909E-BDF7-438C-8876-2B04A7B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Koppla Y och Δ i en motors plint och kontrollera kopplingen med mätning.</a:t>
            </a:r>
          </a:p>
        </p:txBody>
      </p:sp>
      <p:sp>
        <p:nvSpPr>
          <p:cNvPr id="4" name="Planera och dokumentera en mätning med handledare.">
            <a:extLst xmlns:a="http://schemas.openxmlformats.org/drawingml/2006/main">
              <a:ext uri="{FF2B5EF4-FFF2-40B4-BE49-F238E27FC236}">
                <a16:creationId xmlns:a16="http://schemas.microsoft.com/office/drawing/2014/main" id="{DB61FD58-B9D6-4CFB-BDE7-A0C934BD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Känna igen motorns och startarens delar och förklara vad en strömtång mäter.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860EF907-AB83-4BAB-B2FF-535B1197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Vilken information visar att en 12 V-utrustning verkligen är en S">
            <a:extLst xmlns:a="http://schemas.openxmlformats.org/drawingml/2006/main">
              <a:ext uri="{FF2B5EF4-FFF2-40B4-BE49-F238E27FC236}">
                <a16:creationId xmlns:a16="http://schemas.microsoft.com/office/drawing/2014/main" id="{0F0C6D6B-3448-41CA-9498-25D20FED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Motorn har sex plintar. Hur tar du reda på vilka två som hör till samma lindning?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8B893E22-A799-480C-86AE-EBECE686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21e4bd3e746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2BDDD090-DAE0-40A1-B91E-18AA6B91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74420E78-04ED-4368-9202-C3780F2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genomgång, 20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2BEE7B0D-D61E-414D-AE74-13EDB580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Labbets ramar, motorns delar, Y och Δ i plinten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Gemensam förutsägelse: 2R i Y, (2/3) · R i Δ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BCB0D8ED-259E-4A75-8CF5-9D121225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stationerna, 100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4663BE89-B825-4D01-BDAE-2B3859C3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 motorn, S startaren och skylten, T tången: 25 minuter var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Sist resultat på tavlan, protokoll och återkoppling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775BFEC6-7B09-485A-A1D4-0ED9B081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Förbered övning 3.1–3.5 före träffen. Övning 3.6–3.10 görs efter labbet.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Motorn och startaren ansluts aldrig till nätet.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001F5318-1B5C-423B-B0AF-CB66012F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b363999df47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Beräkning före mätning">
            <a:extLst xmlns:a="http://schemas.openxmlformats.org/drawingml/2006/main">
              <a:ext uri="{FF2B5EF4-FFF2-40B4-BE49-F238E27FC236}">
                <a16:creationId xmlns:a16="http://schemas.microsoft.com/office/drawing/2014/main" id="{12C7DE71-0DAE-41E2-A4E3-325B257F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Labbets ramar</a:t>
            </a:r>
          </a:p>
        </p:txBody>
      </p:sp>
      <p:sp>
        <p:nvSpPr>
          <p:cNvPr id="10" name="Förväntat värde kommer från schema, märkdata och angiven modell.">
            <a:extLst xmlns:a="http://schemas.openxmlformats.org/drawingml/2006/main">
              <a:ext uri="{FF2B5EF4-FFF2-40B4-BE49-F238E27FC236}">
                <a16:creationId xmlns:a16="http://schemas.microsoft.com/office/drawing/2014/main" id="{2672D817-E445-49E2-8CFF-D53A81A9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Motorn och startaren är övningsobjekt. De ansluts aldrig till nätet.</a:t>
            </a:r>
          </a:p>
        </p:txBody>
      </p:sp>
      <p:sp>
        <p:nvSpPr>
          <p:cNvPr id="11" name="Mätvärde kräver två mätpunkter, instrument och driftläge.">
            <a:extLst xmlns:a="http://schemas.openxmlformats.org/drawingml/2006/main">
              <a:ext uri="{FF2B5EF4-FFF2-40B4-BE49-F238E27FC236}">
                <a16:creationId xmlns:a16="http://schemas.microsoft.com/office/drawing/2014/main" id="{9A445F4D-2689-47C2-919D-D8886402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Blecken flyttas med mätsladdarna bortkopplade.</a:t>
            </a:r>
          </a:p>
        </p:txBody>
      </p:sp>
      <p:sp>
        <p:nvSpPr>
          <p:cNvPr id="12" name="Avvikelse är uppmätt minus förväntat värde.">
            <a:extLst xmlns:a="http://schemas.openxmlformats.org/drawingml/2006/main">
              <a:ext uri="{FF2B5EF4-FFF2-40B4-BE49-F238E27FC236}">
                <a16:creationId xmlns:a16="http://schemas.microsoft.com/office/drawing/2014/main" id="{EE12DE2A-5EAA-46A7-87AC-52E96C29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Tångstationen matas av ett strömbegränsat DC-aggregat på skyddsklenspänning.</a:t>
            </a:r>
          </a:p>
        </p:txBody>
      </p:sp>
      <p:sp>
        <p:nvSpPr>
          <p:cNvPr id="13" name="En slutsats behöver ta hänsyn till tolerans och instrumentets bid">
            <a:extLst xmlns:a="http://schemas.openxmlformats.org/drawingml/2006/main">
              <a:ext uri="{FF2B5EF4-FFF2-40B4-BE49-F238E27FC236}">
                <a16:creationId xmlns:a16="http://schemas.microsoft.com/office/drawing/2014/main" id="{681180C5-D527-4418-8571-9BB61282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Förutsäg först, mät sedan, jämför och förklara skillnaden.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3954ECE2-AAF2-4B87-81A5-F3DE1431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55314ae394d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D8E0AA4F-C361-4626-88AD-B2E31C03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B92A1959-DD6C-4B39-8569-18B38639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CC78FA11-F863-4073-9E28-A346A286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60F26717-B11D-49CB-BE80-F1A5C56F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22C857BD-47B2-46BD-9727-1390C9F0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143A5039-366C-4683-8AB9-158357AC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D0C98FCC-B0BC-41B0-BFB8-AB8914E2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A945899D-EB58-4E12-9B8D-AB7519B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0bf8189a245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Ramar för stationspasset">
            <a:extLst xmlns:a="http://schemas.openxmlformats.org/drawingml/2006/main">
              <a:ext uri="{FF2B5EF4-FFF2-40B4-BE49-F238E27FC236}">
                <a16:creationId xmlns:a16="http://schemas.microsoft.com/office/drawing/2014/main" id="{1D09B04F-9749-40C4-82B2-AD5490DA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Motorns delar och märkskylt</a:t>
            </a:r>
          </a:p>
        </p:txBody>
      </p:sp>
      <p:sp>
        <p:nvSpPr>
          <p:cNvPr id="3" name="Instruktören kontrollerar rigg, strömgräns och instrument.&#10;Elevpr">
            <a:extLst xmlns:a="http://schemas.openxmlformats.org/drawingml/2006/main">
              <a:ext uri="{FF2B5EF4-FFF2-40B4-BE49-F238E27FC236}">
                <a16:creationId xmlns:a16="http://schemas.microsoft.com/office/drawing/2014/main" id="{97E02643-EFC2-41E0-872C-A85D2C7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Statorn sitter i stommen. Rotorn på axeln bärs av lager.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Fläkten kyler genom flänsarna.</a:t>
            </a:r>
          </a:p>
        </p:txBody>
      </p:sp>
      <p:sp>
        <p:nvSpPr>
          <p:cNvPr id="4" name="Klartecken före energisättning">
            <a:extLst xmlns:a="http://schemas.openxmlformats.org/drawingml/2006/main">
              <a:ext uri="{FF2B5EF4-FFF2-40B4-BE49-F238E27FC236}">
                <a16:creationId xmlns:a16="http://schemas.microsoft.com/office/drawing/2014/main" id="{B4245933-2A96-40DC-98D6-302CC6D6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Märkskylten avgör kopplingen</a:t>
            </a:r>
          </a:p>
        </p:txBody>
      </p:sp>
      <p:sp>
        <p:nvSpPr>
          <p:cNvPr id="5" name="Omkoppling sker frånskilt. Avbryt vid skada, värme eller osäkerhe">
            <a:extLst xmlns:a="http://schemas.openxmlformats.org/drawingml/2006/main">
              <a:ext uri="{FF2B5EF4-FFF2-40B4-BE49-F238E27FC236}">
                <a16:creationId xmlns:a16="http://schemas.microsoft.com/office/drawing/2014/main" id="{C317C0CC-3269-4A29-BCE1-5B62B4E6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Skylten anger effekt, Δ/Y-spänning, ström, cos φ, varvtal och frekvens.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Ombord ofta 440 V, 60 Hz: kontrollera skylten.</a:t>
            </a:r>
          </a:p>
        </p:txBody>
      </p:sp>
      <p:sp>
        <p:nvSpPr>
          <p:cNvPr id="6" name="4">
            <a:extLst xmlns:a="http://schemas.openxmlformats.org/drawingml/2006/main">
              <a:ext uri="{FF2B5EF4-FFF2-40B4-BE49-F238E27FC236}">
                <a16:creationId xmlns:a16="http://schemas.microsoft.com/office/drawing/2014/main" id="{BFACEC3B-68B9-48EF-9323-82A459CD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refasmotor från sidan: kopplingslåda me" descr="Trefasmotor från sidan: kopplingslåda med plint, fläktkåpa med fläkt, stomme med kylflänsar, lagersköldar, axel med kil, märkskylt och föt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53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41c9d5253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tation A: DC-delare">
            <a:extLst xmlns:a="http://schemas.openxmlformats.org/drawingml/2006/main">
              <a:ext uri="{FF2B5EF4-FFF2-40B4-BE49-F238E27FC236}">
                <a16:creationId xmlns:a16="http://schemas.microsoft.com/office/drawing/2014/main" id="{8E5E6A74-08F7-4EC6-AC9B-8DE532FE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Lindningar och plint</a:t>
            </a:r>
          </a:p>
        </p:txBody>
      </p:sp>
      <p:sp>
        <p:nvSpPr>
          <p:cNvPr id="3" name="12 V DC matar 1 kΩ och 2 kΩ i serie.&#10;Förutsäg ström och spännings">
            <a:extLst xmlns:a="http://schemas.openxmlformats.org/drawingml/2006/main">
              <a:ext uri="{FF2B5EF4-FFF2-40B4-BE49-F238E27FC236}">
                <a16:creationId xmlns:a16="http://schemas.microsoft.com/office/drawing/2014/main" id="{BCA404EA-28A9-4C87-8073-8B1D2A53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lindningar: U1–U2, V1–V2 och W1–W2.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Utan bleck är lindningarna skilda åt.</a:t>
            </a:r>
          </a:p>
        </p:txBody>
      </p:sp>
      <p:sp>
        <p:nvSpPr>
          <p:cNvPr id="4" name="I = 12/3 000 = 4,0 mA">
            <a:extLst xmlns:a="http://schemas.openxmlformats.org/drawingml/2006/main">
              <a:ext uri="{FF2B5EF4-FFF2-40B4-BE49-F238E27FC236}">
                <a16:creationId xmlns:a16="http://schemas.microsoft.com/office/drawing/2014/main" id="{DA5EB4ED-9B68-41AF-9264-9B1A2850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U1–U2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≈ R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V1–V2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≈ R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W1–W2</a:t>
            </a:r>
          </a:p>
        </p:txBody>
      </p:sp>
      <p:sp>
        <p:nvSpPr>
          <p:cNvPr id="5" name="U₁ = 4,0 V och U₂ = 8,0 V.&#10;Instruktören granskar mätplan och ansl">
            <a:extLst xmlns:a="http://schemas.openxmlformats.org/drawingml/2006/main">
              <a:ext uri="{FF2B5EF4-FFF2-40B4-BE49-F238E27FC236}">
                <a16:creationId xmlns:a16="http://schemas.microsoft.com/office/drawing/2014/main" id="{34789AE0-39BC-479C-9B67-DDF6F661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Mellan två olika lindningar visar mätaren överområde.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Dra av mätsladdarnas resistans: en lindning har bara några ohm.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61BD869C-3B60-43AA-A6C1-DDE2EEC4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Plint med sex lindningsändar utan bleck; lindningarna" descr="Plint med sex lindningsändar utan bleck; lindningarna U1–U2, V1–V2 och W1–W2 streckade; ohmmeter mellan U1 och U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7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e43a1a5c341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tation B: AC och trefas">
            <a:extLst xmlns:a="http://schemas.openxmlformats.org/drawingml/2006/main">
              <a:ext uri="{FF2B5EF4-FFF2-40B4-BE49-F238E27FC236}">
                <a16:creationId xmlns:a16="http://schemas.microsoft.com/office/drawing/2014/main" id="{0938AACF-4F64-4DBE-8464-FA221E58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Y och Δ med bleck</a:t>
            </a:r>
          </a:p>
        </p:txBody>
      </p:sp>
      <p:sp>
        <p:nvSpPr>
          <p:cNvPr id="3" name="Använd avsedd isolerad AC-källa och lämpligt RMS-instrument.&#10;Mät ">
            <a:extLst xmlns:a="http://schemas.openxmlformats.org/drawingml/2006/main">
              <a:ext uri="{FF2B5EF4-FFF2-40B4-BE49-F238E27FC236}">
                <a16:creationId xmlns:a16="http://schemas.microsoft.com/office/drawing/2014/main" id="{935F272E-608D-4791-B5F1-40E0ED28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Y: blecken förbinder W2, U2 och V2. Det är stjärnpunkten.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Δ: tre lodräta bleck, U1–W2, V1–U2 och W1–V2.</a:t>
            </a:r>
          </a:p>
        </p:txBody>
      </p:sp>
      <p:sp>
        <p:nvSpPr>
          <p:cNvPr id="4" name="12 V linjespänning ger 6,93 V i symmetrisk Y">
            <a:extLst xmlns:a="http://schemas.openxmlformats.org/drawingml/2006/main">
              <a:ext uri="{FF2B5EF4-FFF2-40B4-BE49-F238E27FC236}">
                <a16:creationId xmlns:a16="http://schemas.microsoft.com/office/drawing/2014/main" id="{7A4713C7-E11F-4C8B-BFD1-C6523404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Y: 2R     Δ: (2/3) · R</a:t>
            </a:r>
          </a:p>
        </p:txBody>
      </p:sp>
      <p:sp>
        <p:nvSpPr>
          <p:cNvPr id="5" name="Saknas trefastränare används givna data för analys.&#10;Dataanalys do">
            <a:extLst xmlns:a="http://schemas.openxmlformats.org/drawingml/2006/main">
              <a:ext uri="{FF2B5EF4-FFF2-40B4-BE49-F238E27FC236}">
                <a16:creationId xmlns:a16="http://schemas.microsoft.com/office/drawing/2014/main" id="{6CB5617F-0559-40B0-897A-CC2C6071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Resistansen mellan två plintar kontrollerar kopplingen.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Kvoten R</a:t>
            </a:r>
            <a:r>
              <a:rPr sz="17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Y</a:t>
            </a: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/R</a:t>
            </a:r>
            <a:r>
              <a:rPr sz="17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3, samma tal som strömmarna i Del 2.</a:t>
            </a:r>
          </a:p>
        </p:txBody>
      </p:sp>
      <p:sp>
        <p:nvSpPr>
          <p:cNvPr id="6" name="6">
            <a:extLst xmlns:a="http://schemas.openxmlformats.org/drawingml/2006/main">
              <a:ext uri="{FF2B5EF4-FFF2-40B4-BE49-F238E27FC236}">
                <a16:creationId xmlns:a16="http://schemas.microsoft.com/office/drawing/2014/main" id="{2C4135A3-6F20-4CBF-8E02-53B7854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Resistans mellan U1 och V1: i Y två lindningar i seri" descr="Resistans mellan U1 och V1: i Y två lindningar i serie, 2R; i Δ en lindning parallellt med två i serie, (2/3) · 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70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d52d3691e4d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förutsäg en mätning">
            <a:extLst xmlns:a="http://schemas.openxmlformats.org/drawingml/2006/main">
              <a:ext uri="{FF2B5EF4-FFF2-40B4-BE49-F238E27FC236}">
                <a16:creationId xmlns:a16="http://schemas.microsoft.com/office/drawing/2014/main" id="{24A84739-C2DD-4DE6-AEDC-17F35D73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resistansen mellan plintarna</a:t>
            </a:r>
          </a:p>
        </p:txBody>
      </p:sp>
      <p:sp>
        <p:nvSpPr>
          <p:cNvPr id="10" name="En kontrollerad 9 V DC-rigg har 1 kΩ och 2 kΩ i serie. Spänning s">
            <a:extLst xmlns:a="http://schemas.openxmlformats.org/drawingml/2006/main">
              <a:ext uri="{FF2B5EF4-FFF2-40B4-BE49-F238E27FC236}">
                <a16:creationId xmlns:a16="http://schemas.microsoft.com/office/drawing/2014/main" id="{35C0DF53-9AEF-4A76-BFE1-507C8692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Tre lindningar mäts till 6,0 Ω var, med mätsladdarna avdragna. Förutsäg resistansen mellan U1 och V1 i Y och i Δ.</a:t>
            </a:r>
          </a:p>
        </p:txBody>
      </p:sp>
      <p:sp>
        <p:nvSpPr>
          <p:cNvPr id="11" name="I = U/(R₁ + R₂)     U₂ = I · R₂">
            <a:extLst xmlns:a="http://schemas.openxmlformats.org/drawingml/2006/main">
              <a:ext uri="{FF2B5EF4-FFF2-40B4-BE49-F238E27FC236}">
                <a16:creationId xmlns:a16="http://schemas.microsoft.com/office/drawing/2014/main" id="{D37B478B-565B-42F8-A560-61217B61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2R     R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R · 2R/(3R)</a:t>
            </a:r>
          </a:p>
        </p:txBody>
      </p:sp>
      <p:sp>
        <p:nvSpPr>
          <p:cNvPr id="12" name="1. Rtotal = 3 kΩ. I = 9/3 = 3 mA.&#10;2. U₂ = 3 mA · 2 kΩ = 6 V. U₁ =">
            <a:extLst xmlns:a="http://schemas.openxmlformats.org/drawingml/2006/main">
              <a:ext uri="{FF2B5EF4-FFF2-40B4-BE49-F238E27FC236}">
                <a16:creationId xmlns:a16="http://schemas.microsoft.com/office/drawing/2014/main" id="{F5ABBEAD-0C61-40C5-9C11-1C675478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Y: två lindningar i serie: 2 · 6,0 = 12,0 Ω.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Δ: 6,0 Ω parallellt med 12,0 Ω: 6,0 · 12,0/18,0 = 4,0 Ω.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Kvoten: 12,0/4,0 = 3.</a:t>
            </a:r>
          </a:p>
        </p:txBody>
      </p:sp>
      <p:sp>
        <p:nvSpPr>
          <p:cNvPr id="13" name="Kontroll: 3 + 6 = 9 V. Protokollet anger rigg, mätpunkter, instru">
            <a:extLst xmlns:a="http://schemas.openxmlformats.org/drawingml/2006/main">
              <a:ext uri="{FF2B5EF4-FFF2-40B4-BE49-F238E27FC236}">
                <a16:creationId xmlns:a16="http://schemas.microsoft.com/office/drawing/2014/main" id="{F6C90A6B-65D3-49DC-9906-18D8A66A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kvoten blir 3 för alla R. Ett annat tal tyder på ett fel bleck eller en fel mätpunkt.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8E806288-C814-40FD-94B7-07E9299A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5376182194b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3FE67407-9232-433B-9D59-5481EE79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3.1</a:t>
            </a:r>
          </a:p>
        </p:txBody>
      </p:sp>
      <p:sp>
        <p:nvSpPr>
          <p:cNvPr id="10" name="SELV kräver skyddande separation">
            <a:extLst xmlns:a="http://schemas.openxmlformats.org/drawingml/2006/main">
              <a:ext uri="{FF2B5EF4-FFF2-40B4-BE49-F238E27FC236}">
                <a16:creationId xmlns:a16="http://schemas.microsoft.com/office/drawing/2014/main" id="{B491286A-E3E2-4114-85C7-FEAD2E88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Nätets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märkvärdet för driftkopplingen</a:t>
            </a:r>
          </a:p>
        </p:txBody>
      </p:sp>
      <p:sp>
        <p:nvSpPr>
          <p:cNvPr id="11" name="SELV beskriver systemets skyddsegenskaper, inklusive separation f">
            <a:extLst xmlns:a="http://schemas.openxmlformats.org/drawingml/2006/main">
              <a:ext uri="{FF2B5EF4-FFF2-40B4-BE49-F238E27FC236}">
                <a16:creationId xmlns:a16="http://schemas.microsoft.com/office/drawing/2014/main" id="{BAF4DF21-26F0-4137-B548-1E77BFFC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Märkningen Δ/Y anger två linjespänningar: den lägre hör till Δ och den högre till Y.</a:t>
            </a:r>
          </a:p>
        </p:txBody>
      </p:sp>
      <p:sp>
        <p:nvSpPr>
          <p:cNvPr id="12" name="Förutsättningar: Rigg märkt 12 V, men dokumentation om skyddet sa">
            <a:extLst xmlns:a="http://schemas.openxmlformats.org/drawingml/2006/main">
              <a:ext uri="{FF2B5EF4-FFF2-40B4-BE49-F238E27FC236}">
                <a16:creationId xmlns:a16="http://schemas.microsoft.com/office/drawing/2014/main" id="{6629D3D0-F8C1-4573-B9A5-BA837CE1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Ombord, 60 Hz. Märkskylt Δ/Y 254/440 V. Nätets linjespänning 440 V. Plintens övre rad är W2, U2, V2 och den undre U1, V1, W1.</a:t>
            </a:r>
          </a:p>
        </p:txBody>
      </p:sp>
      <p:sp>
        <p:nvSpPr>
          <p:cNvPr id="13" name="Arbetsgång: Skilj märkspänning från verifierat skydd. Ange vilken">
            <a:extLst xmlns:a="http://schemas.openxmlformats.org/drawingml/2006/main">
              <a:ext uri="{FF2B5EF4-FFF2-40B4-BE49-F238E27FC236}">
                <a16:creationId xmlns:a16="http://schemas.microsoft.com/office/drawing/2014/main" id="{34A4E92E-C965-4A13-A8D6-21D4B6EB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Jämför nätets linjespänning med de två märkvärdena. Beskriv sedan var blecken ska ligga för den kopplingen.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913F3003-B687-4333-9CF8-5E996405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6c48f6c2049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797C1CF4-3717-4DAE-AFA7-166A5534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3.1</a:t>
            </a:r>
          </a:p>
        </p:txBody>
      </p:sp>
      <p:sp>
        <p:nvSpPr>
          <p:cNvPr id="3" name="Kontroll före stationen">
            <a:extLst xmlns:a="http://schemas.openxmlformats.org/drawingml/2006/main">
              <a:ext uri="{FF2B5EF4-FFF2-40B4-BE49-F238E27FC236}">
                <a16:creationId xmlns:a16="http://schemas.microsoft.com/office/drawing/2014/main" id="{E295BFF9-D9D0-4D3C-88F1-FA0202DE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Blecken för fartygets nät</a:t>
            </a:r>
          </a:p>
        </p:txBody>
      </p:sp>
      <p:sp>
        <p:nvSpPr>
          <p:cNvPr id="4" name="En rigg är märkt 12 V men saknar dokumentation om skyddande separ">
            <a:extLst xmlns:a="http://schemas.openxmlformats.org/drawingml/2006/main">
              <a:ext uri="{FF2B5EF4-FFF2-40B4-BE49-F238E27FC236}">
                <a16:creationId xmlns:a16="http://schemas.microsoft.com/office/drawing/2014/main" id="{A1D73D5E-C2FD-4BF2-B512-85441205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motor ombord har märkskylten Δ/Y 254/440 V, 60 Hz. Fartygets nät ger 440 V mellan faserna. Vilken koppling ska motorn ha, och hur lägger du blecken i plinten?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FD781199-B448-42EB-811E-57E73DA4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09099AF0-4AEF-4F21-8DD5-BE3399B8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Märkskylt Δ/Y 254/440 V, 60 Hz och farty" descr="Märkskylt Δ/Y 254/440 V, 60 Hz och fartygets nät 440 V, 60 Hz; Y- och Δ-bleck att välja mell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484d1b70d44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7AE331ED-1E1A-4BBC-8FD8-8FD2DAF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3.2</a:t>
            </a:r>
          </a:p>
        </p:txBody>
      </p:sp>
      <p:sp>
        <p:nvSpPr>
          <p:cNvPr id="10" name="Rtotal = R₁ + R₂     I = U/Rtotal&#10;U₂ = I · R₂">
            <a:extLst xmlns:a="http://schemas.openxmlformats.org/drawingml/2006/main">
              <a:ext uri="{FF2B5EF4-FFF2-40B4-BE49-F238E27FC236}">
                <a16:creationId xmlns:a16="http://schemas.microsoft.com/office/drawing/2014/main" id="{E77C1211-EEA4-4676-B562-8AA0FCAD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lindning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avläst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sladdar</a:t>
            </a:r>
          </a:p>
        </p:txBody>
      </p:sp>
      <p:sp>
        <p:nvSpPr>
          <p:cNvPr id="11" name="Ω och V ger A. 1 mA = 0,001 A. Voltmeter mäter mellan två anslutn">
            <a:extLst xmlns:a="http://schemas.openxmlformats.org/drawingml/2006/main">
              <a:ext uri="{FF2B5EF4-FFF2-40B4-BE49-F238E27FC236}">
                <a16:creationId xmlns:a16="http://schemas.microsoft.com/office/drawing/2014/main" id="{852835DD-5CDD-485C-89B1-0DCBABDF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Mätsladdarna ligger i serie med lindningen. Multimetern visar summan.</a:t>
            </a:r>
          </a:p>
        </p:txBody>
      </p:sp>
      <p:sp>
        <p:nvSpPr>
          <p:cNvPr id="12" name="Förutsättningar: Kontrollerad 12 V DC-rigg med R₁ = 1 kΩ och R₂ =">
            <a:extLst xmlns:a="http://schemas.openxmlformats.org/drawingml/2006/main">
              <a:ext uri="{FF2B5EF4-FFF2-40B4-BE49-F238E27FC236}">
                <a16:creationId xmlns:a16="http://schemas.microsoft.com/office/drawing/2014/main" id="{F8E93854-4828-4F7E-8017-981D3932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Spänningslös motor som aldrig är ansluten. Blecken borttagna. Sladdarnas resistans 0,3 Ω.</a:t>
            </a:r>
          </a:p>
        </p:txBody>
      </p:sp>
      <p:sp>
        <p:nvSpPr>
          <p:cNvPr id="13" name="Arbetsgång: Beräkna totalresistans, ström och U₂. Rita mätningen ">
            <a:extLst xmlns:a="http://schemas.openxmlformats.org/drawingml/2006/main">
              <a:ext uri="{FF2B5EF4-FFF2-40B4-BE49-F238E27FC236}">
                <a16:creationId xmlns:a16="http://schemas.microsoft.com/office/drawing/2014/main" id="{F035907E-943A-4A62-AD82-257CBD9C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Dra av sladdarnas resistans från varje avläsning. Lägg sedan ihop de tre lindningarna och dela med tre.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0C386D2E-026D-411C-86AB-4DE3AEF8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983f1e1f84e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4ABA3B79-90F7-42EA-9BDB-813430F3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3.2</a:t>
            </a:r>
          </a:p>
        </p:txBody>
      </p:sp>
      <p:sp>
        <p:nvSpPr>
          <p:cNvPr id="3" name="Plan för DC-mätning">
            <a:extLst xmlns:a="http://schemas.openxmlformats.org/drawingml/2006/main">
              <a:ext uri="{FF2B5EF4-FFF2-40B4-BE49-F238E27FC236}">
                <a16:creationId xmlns:a16="http://schemas.microsoft.com/office/drawing/2014/main" id="{D0C0BFE7-1CFC-4B16-A5E6-784A3E98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Lindningarna utan bleck</a:t>
            </a:r>
          </a:p>
        </p:txBody>
      </p:sp>
      <p:sp>
        <p:nvSpPr>
          <p:cNvPr id="4" name="En kontrollerad 12 V-rigg har 1 kΩ + 2 kΩ i serie. Beräkna strömm">
            <a:extLst xmlns:a="http://schemas.openxmlformats.org/drawingml/2006/main">
              <a:ext uri="{FF2B5EF4-FFF2-40B4-BE49-F238E27FC236}">
                <a16:creationId xmlns:a16="http://schemas.microsoft.com/office/drawing/2014/main" id="{B437A3A8-1DB6-42C1-8EF1-111AC7EC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Sladdarna visar 0,3 Ω mot varandra. Utan bleck: U1–U2 4,1 Ω, V1–V2 4,0 Ω och W1–W2 4,2 Ω. Beräkna varje lindnings resistans och medelvärdet.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AB46478-22AE-4B34-A3CF-58E6F17C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7C6B1824-4E46-43DA-9225-83E55545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Plint utan bleck med avläsningarna 4,1, 4,0 och 4,2 o" descr="Plint utan bleck med avläsningarna 4,1, 4,0 och 4,2 ohm och sladdarnas 0,3 ohm; lindningsresistans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b894a31cf42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6C7DE71C-BC1A-4DF6-9B14-69527F8A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3.3</a:t>
            </a:r>
          </a:p>
        </p:txBody>
      </p:sp>
      <p:sp>
        <p:nvSpPr>
          <p:cNvPr id="10" name="Ukälla − U₁ − U₂ = 0">
            <a:extLst xmlns:a="http://schemas.openxmlformats.org/drawingml/2006/main">
              <a:ext uri="{FF2B5EF4-FFF2-40B4-BE49-F238E27FC236}">
                <a16:creationId xmlns:a16="http://schemas.microsoft.com/office/drawing/2014/main" id="{8F44B2C5-E9E5-474E-8EDA-2E58B745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Y: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2 ·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lindning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Δ: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(2/3) ·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lindning</a:t>
            </a:r>
          </a:p>
        </p:txBody>
      </p:sp>
      <p:sp>
        <p:nvSpPr>
          <p:cNvPr id="11" name="Slinglagen jämför källhöjning med summan av spänningsfallen. Alla">
            <a:extLst xmlns:a="http://schemas.openxmlformats.org/drawingml/2006/main">
              <a:ext uri="{FF2B5EF4-FFF2-40B4-BE49-F238E27FC236}">
                <a16:creationId xmlns:a16="http://schemas.microsoft.com/office/drawing/2014/main" id="{2B0AB096-E35F-4A7F-95D4-8E10ABB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Y går vägen mellan två plintar genom två lindningar. I Δ ligger en lindning parallellt med två lindningar i serie.</a:t>
            </a:r>
          </a:p>
        </p:txBody>
      </p:sp>
      <p:sp>
        <p:nvSpPr>
          <p:cNvPr id="12" name="Förutsättningar: Givna samtidiga mätdata: 11,94 V, 3,98 V och 7,9">
            <a:extLst xmlns:a="http://schemas.openxmlformats.org/drawingml/2006/main">
              <a:ext uri="{FF2B5EF4-FFF2-40B4-BE49-F238E27FC236}">
                <a16:creationId xmlns:a16="http://schemas.microsoft.com/office/drawing/2014/main" id="{0F228205-D261-4D6B-9297-01392285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Tre lika lindningar på 3,6 Ω. Mätsladdarnas resistans är redan avdragen.</a:t>
            </a:r>
          </a:p>
        </p:txBody>
      </p:sp>
      <p:sp>
        <p:nvSpPr>
          <p:cNvPr id="13" name="Arbetsgång: Summera fallen och jämför med källan. Ange hur stor r">
            <a:extLst xmlns:a="http://schemas.openxmlformats.org/drawingml/2006/main">
              <a:ext uri="{FF2B5EF4-FFF2-40B4-BE49-F238E27FC236}">
                <a16:creationId xmlns:a16="http://schemas.microsoft.com/office/drawing/2014/main" id="{3A96D6F4-A6B3-43BA-B96E-77A9C120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serie för Y. För Δ: räkna först de två lindningarna i serie och sedan parallellt med den tredje.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96507E2B-817E-4CC1-B32C-9E2D12FD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05d24a0894d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0E500D2C-E93C-4561-83E0-B41FFD0C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3.3</a:t>
            </a:r>
          </a:p>
        </p:txBody>
      </p:sp>
      <p:sp>
        <p:nvSpPr>
          <p:cNvPr id="3" name="Observerade DC-värden">
            <a:extLst xmlns:a="http://schemas.openxmlformats.org/drawingml/2006/main">
              <a:ext uri="{FF2B5EF4-FFF2-40B4-BE49-F238E27FC236}">
                <a16:creationId xmlns:a16="http://schemas.microsoft.com/office/drawing/2014/main" id="{82369C21-C5F5-414C-A220-D0395CEC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Förutsäg Y och Δ</a:t>
            </a:r>
          </a:p>
        </p:txBody>
      </p:sp>
      <p:sp>
        <p:nvSpPr>
          <p:cNvPr id="4" name="Ukälla = 11,94 V, U₁ = 3,98 V och U₂ = 7,96 V. Kontrollera slingl">
            <a:extLst xmlns:a="http://schemas.openxmlformats.org/drawingml/2006/main">
              <a:ext uri="{FF2B5EF4-FFF2-40B4-BE49-F238E27FC236}">
                <a16:creationId xmlns:a16="http://schemas.microsoft.com/office/drawing/2014/main" id="{B82C8928-93E9-4D53-90FC-FCD1E62B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lindning har resistansen 3,6 Ω. Förutsäg resistansen mellan U1 och V1 när blecken ligger för Y och när de ligger för Δ.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C13F1887-1A40-4AC0-8911-BC0D3DCA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E2E80B96-19D5-49EA-B995-A411DE82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Y och Δ av tre lindningar på 3,6 ohm; resistansen mel" descr="Y och Δ av tre lindningar på 3,6 ohm; resistansen mellan U1 och V1 okänd i båd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31720"/>
            <a:ext cx="3931920" cy="256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d1e6dd9e14c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E5490EED-AFCA-49EB-8991-85DD86DE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3.4</a:t>
            </a:r>
          </a:p>
        </p:txBody>
      </p:sp>
      <p:sp>
        <p:nvSpPr>
          <p:cNvPr id="10" name="û = √2 · Urms">
            <a:extLst xmlns:a="http://schemas.openxmlformats.org/drawingml/2006/main">
              <a:ext uri="{FF2B5EF4-FFF2-40B4-BE49-F238E27FC236}">
                <a16:creationId xmlns:a16="http://schemas.microsoft.com/office/drawing/2014/main" id="{E289467C-544E-41F8-B061-0CB1435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Märkskylten avgör kopplingen</a:t>
            </a:r>
          </a:p>
        </p:txBody>
      </p:sp>
      <p:sp>
        <p:nvSpPr>
          <p:cNvPr id="11" name="û är toppvärde, Urms effektivvärde. Båda mäts i V.">
            <a:extLst xmlns:a="http://schemas.openxmlformats.org/drawingml/2006/main">
              <a:ext uri="{FF2B5EF4-FFF2-40B4-BE49-F238E27FC236}">
                <a16:creationId xmlns:a16="http://schemas.microsoft.com/office/drawing/2014/main" id="{43C8D052-8383-464C-B855-3DB71DD9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Lindningsändarna sitter i plinten. Märkskylten anger spänning, ström, frekvens och effekt.</a:t>
            </a:r>
          </a:p>
        </p:txBody>
      </p:sp>
      <p:sp>
        <p:nvSpPr>
          <p:cNvPr id="12" name="Förutsättningar: Ren sinus utan DC-komponent. Mätvärdet 12,1 V är">
            <a:extLst xmlns:a="http://schemas.openxmlformats.org/drawingml/2006/main">
              <a:ext uri="{FF2B5EF4-FFF2-40B4-BE49-F238E27FC236}">
                <a16:creationId xmlns:a16="http://schemas.microsoft.com/office/drawing/2014/main" id="{162A6B7B-7720-4620-B21A-4F28840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Motorn har stomme med kylflänsar, fläktkåpa, lagersköldar, kopplingslåda och märkskylt. Den är aldrig ansluten.</a:t>
            </a:r>
          </a:p>
        </p:txBody>
      </p:sp>
      <p:sp>
        <p:nvSpPr>
          <p:cNvPr id="13" name="Arbetsgång: Multiplicera med √2. Ange att sambandet bygger på sin">
            <a:extLst xmlns:a="http://schemas.openxmlformats.org/drawingml/2006/main">
              <a:ext uri="{FF2B5EF4-FFF2-40B4-BE49-F238E27FC236}">
                <a16:creationId xmlns:a16="http://schemas.microsoft.com/office/drawing/2014/main" id="{93DB64DB-2E3A-42AB-9A03-6100FE16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Leta upp var lindningsändarna finns och vilken rad på skylten som anger två spänningar med Δ och Y.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743E20C6-8931-4206-8C9A-2D922075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27f5426ca4a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047BF13B-2F16-4F0F-88D6-132781CD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3.4</a:t>
            </a:r>
          </a:p>
        </p:txBody>
      </p:sp>
      <p:sp>
        <p:nvSpPr>
          <p:cNvPr id="3" name="AC-tränarens toppvärde">
            <a:extLst xmlns:a="http://schemas.openxmlformats.org/drawingml/2006/main">
              <a:ext uri="{FF2B5EF4-FFF2-40B4-BE49-F238E27FC236}">
                <a16:creationId xmlns:a16="http://schemas.microsoft.com/office/drawing/2014/main" id="{7108FC6B-FF76-4CE1-B139-F488A600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Motorns delar</a:t>
            </a:r>
          </a:p>
        </p:txBody>
      </p:sp>
      <p:sp>
        <p:nvSpPr>
          <p:cNvPr id="4" name="En sinusformad tränarkälla mäts till 12,1 V RMS. Beräkna förvänta">
            <a:extLst xmlns:a="http://schemas.openxmlformats.org/drawingml/2006/main">
              <a:ext uri="{FF2B5EF4-FFF2-40B4-BE49-F238E27FC236}">
                <a16:creationId xmlns:a16="http://schemas.microsoft.com/office/drawing/2014/main" id="{E265A0EC-1D9C-4619-B053-A15DB7AD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Vilken del av motorn öppnar du för att koppla Y eller Δ, och vilka uppgifter på märkskylten avgör kopplingen? Vad gör fläkten och lagersköldarna?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9CF8D28-CA84-4508-AF6B-57DE80EE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79F81E32-3E44-4C96-9021-9513C7A8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refasmotor från sidan utan etiketter; vilken del som" descr="Trefasmotor från sidan utan etiketter; vilken del som öppnas och vilka uppgifter som avgör kopplingen efterfråg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56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42587ac6140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F3C3D9D5-49AF-4D56-9989-7E17F4B5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3.5</a:t>
            </a:r>
          </a:p>
        </p:txBody>
      </p:sp>
      <p:sp>
        <p:nvSpPr>
          <p:cNvPr id="10" name="Uförv = UL/√3&#10;ΔU = Uuppmätt − Uförv">
            <a:extLst xmlns:a="http://schemas.openxmlformats.org/drawingml/2006/main">
              <a:ext uri="{FF2B5EF4-FFF2-40B4-BE49-F238E27FC236}">
                <a16:creationId xmlns:a16="http://schemas.microsoft.com/office/drawing/2014/main" id="{F0414203-7849-4F45-AE31-B66ECEC6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Kvot =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Y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Avvikelse i % = 100 · (kvot − 3)/3</a:t>
            </a:r>
          </a:p>
        </p:txBody>
      </p:sp>
      <p:sp>
        <p:nvSpPr>
          <p:cNvPr id="11" name="ΔU anger signerad avvikelse. Negativt värde betyder lägre uppmätt">
            <a:extLst xmlns:a="http://schemas.openxmlformats.org/drawingml/2006/main">
              <a:ext uri="{FF2B5EF4-FFF2-40B4-BE49-F238E27FC236}">
                <a16:creationId xmlns:a16="http://schemas.microsoft.com/office/drawing/2014/main" id="{7101946C-333B-42E7-AEBA-5AB57DE0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Kvoten 3 gäller oavsett lindningens resistans, eftersom R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Y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2R och R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(2/3)R.</a:t>
            </a:r>
          </a:p>
        </p:txBody>
      </p:sp>
      <p:sp>
        <p:nvSpPr>
          <p:cNvPr id="12" name="Förutsättningar: Symmetrisk Y, UL = 12,0 V och Uuppmätt = 6,90 V.">
            <a:extLst xmlns:a="http://schemas.openxmlformats.org/drawingml/2006/main">
              <a:ext uri="{FF2B5EF4-FFF2-40B4-BE49-F238E27FC236}">
                <a16:creationId xmlns:a16="http://schemas.microsoft.com/office/drawing/2014/main" id="{1351E2C2-BF56-4B63-BB00-89AD05E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Samma motor, samma par U1–V1. Förväntad kvot 3.</a:t>
            </a:r>
          </a:p>
        </p:txBody>
      </p:sp>
      <p:sp>
        <p:nvSpPr>
          <p:cNvPr id="13" name="Arbetsgång: Beräkna förväntad grenspänning. Subtrahera den från m">
            <a:extLst xmlns:a="http://schemas.openxmlformats.org/drawingml/2006/main">
              <a:ext uri="{FF2B5EF4-FFF2-40B4-BE49-F238E27FC236}">
                <a16:creationId xmlns:a16="http://schemas.microsoft.com/office/drawing/2014/main" id="{CC9F6E69-2C06-41DB-8CAA-068C26CD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Dela Y-värdet med Δ-värdet, jämför med 3 och räkna avvikelsen i procent.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DA3595EF-32E6-4E0E-9828-4B39F5BB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539ec7f9a47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7D0AE97E-2D48-4547-8710-E1260534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3.5</a:t>
            </a:r>
          </a:p>
        </p:txBody>
      </p:sp>
      <p:sp>
        <p:nvSpPr>
          <p:cNvPr id="3" name="Trefasdata">
            <a:extLst xmlns:a="http://schemas.openxmlformats.org/drawingml/2006/main">
              <a:ext uri="{FF2B5EF4-FFF2-40B4-BE49-F238E27FC236}">
                <a16:creationId xmlns:a16="http://schemas.microsoft.com/office/drawing/2014/main" id="{6D2B5FEA-F4C7-4D66-BCC8-DD11B75B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Kvoten mellan Y och Δ</a:t>
            </a:r>
          </a:p>
        </p:txBody>
      </p:sp>
      <p:sp>
        <p:nvSpPr>
          <p:cNvPr id="4" name="En symmetrisk tränare har uppmätt linjespänning 12,0 V. Beräkna f">
            <a:extLst xmlns:a="http://schemas.openxmlformats.org/drawingml/2006/main">
              <a:ext uri="{FF2B5EF4-FFF2-40B4-BE49-F238E27FC236}">
                <a16:creationId xmlns:a16="http://schemas.microsoft.com/office/drawing/2014/main" id="{7DA7ACCC-877C-42F5-B5ED-98CF83BB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labbet mättes U1–V1 till 8,1 Ω i Y och 2,8 Ω i Δ (sladdarna avdragna). Beräkna kvoten R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Y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/R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avvikelsen från 3 i procent. Låg blecken rätt?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39EDC775-5440-48D7-B5C6-9F1F8393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0CED1740-8A0E-4AF6-A149-7793DB72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apeldiagram: U1–V1 8,1 ohm i Y och 2,8 ohm i Δ; kvo" descr="Stapeldiagram: U1–V1 8,1 ohm i Y och 2,8 ohm i Δ; kvot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8f3f84ba447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B47388E2-E514-486E-A223-3E5DAFE8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Station C: hållkrets&#10;Mätprotokoll och rimlighet&#10;Individuell återk">
            <a:extLst xmlns:a="http://schemas.openxmlformats.org/drawingml/2006/main">
              <a:ext uri="{FF2B5EF4-FFF2-40B4-BE49-F238E27FC236}">
                <a16:creationId xmlns:a16="http://schemas.microsoft.com/office/drawing/2014/main" id="{6F78A954-1192-4A6E-9858-AE50A295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Startarens delar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Strömtången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Protokoll och slutsats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D4583191-7123-4B06-BEED-A0330998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3.6–3.10.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A3A2D515-7844-4698-9AFE-FC4ADA57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97fb24cf64e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tation C: hållkrets">
            <a:extLst xmlns:a="http://schemas.openxmlformats.org/drawingml/2006/main">
              <a:ext uri="{FF2B5EF4-FFF2-40B4-BE49-F238E27FC236}">
                <a16:creationId xmlns:a16="http://schemas.microsoft.com/office/drawing/2014/main" id="{6C8496BE-1AA9-482E-BE4F-1799F79C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Startarens delar</a:t>
            </a:r>
          </a:p>
        </p:txBody>
      </p:sp>
      <p:sp>
        <p:nvSpPr>
          <p:cNvPr id="3" name="STOPP är normalt sluten. START är normalt öppen.&#10;K1:s hjälpkontak">
            <a:extLst xmlns:a="http://schemas.openxmlformats.org/drawingml/2006/main">
              <a:ext uri="{FF2B5EF4-FFF2-40B4-BE49-F238E27FC236}">
                <a16:creationId xmlns:a16="http://schemas.microsoft.com/office/drawing/2014/main" id="{A7A4B4FA-A753-4C3C-8BD4-A368AA2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Kontaktorn K1 kopplar motorns tre faser med huvudkontakterna. Spolen A1–A2 drar den.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13–14 är normalt öppen. 95–96 på överlastreläet är normalt sluten.</a:t>
            </a:r>
          </a:p>
        </p:txBody>
      </p:sp>
      <p:sp>
        <p:nvSpPr>
          <p:cNvPr id="33" name="Vila, start, hållning och stopp">
            <a:extLst xmlns:a="http://schemas.openxmlformats.org/drawingml/2006/main">
              <a:ext uri="{FF2B5EF4-FFF2-40B4-BE49-F238E27FC236}">
                <a16:creationId xmlns:a16="http://schemas.microsoft.com/office/drawing/2014/main" id="{D6920D22-B4BB-436D-8D70-36284999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Överlastreläet ställs på motorns märkström</a:t>
            </a:r>
          </a:p>
        </p:txBody>
      </p:sp>
      <p:sp>
        <p:nvSpPr>
          <p:cNvPr id="34" name="Instruktören använder säkra förberedda felmoduler.&#10;Eleven jämför ">
            <a:extLst xmlns:a="http://schemas.openxmlformats.org/drawingml/2006/main">
              <a:ext uri="{FF2B5EF4-FFF2-40B4-BE49-F238E27FC236}">
                <a16:creationId xmlns:a16="http://schemas.microsoft.com/office/drawing/2014/main" id="{24FFEE65-E858-4B06-925F-A20BED9F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Startaren ansluts aldrig i labbet. Kontakterna mäts spänningslöst.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Hållkretsen kommer tillbaka vecka 43.</a:t>
            </a:r>
          </a:p>
        </p:txBody>
      </p:sp>
      <p:sp>
        <p:nvSpPr>
          <p:cNvPr id="35" name="13">
            <a:extLst xmlns:a="http://schemas.openxmlformats.org/drawingml/2006/main">
              <a:ext uri="{FF2B5EF4-FFF2-40B4-BE49-F238E27FC236}">
                <a16:creationId xmlns:a16="http://schemas.microsoft.com/office/drawing/2014/main" id="{07C2D948-B493-429A-9817-BBC612AA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pic xmlns:a="http://schemas.openxmlformats.org/drawingml/2006/main" xmlns:r="http://schemas.openxmlformats.org/officeDocument/2006/relationships">
        <p:nvPicPr>
          <p:cNvPr id="38" name="Figur: Startarens delar: kontaktor K1 med spole A1–A2, huvud" descr="Startarens delar: kontaktor K1 med spole A1–A2, huvudkontakter 1–2, 3–4, 5–6, hjälpkontakt 13–14 (NO) och överlastrelä F2 med 95–96 (NC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136" y="2395728"/>
            <a:ext cx="4681728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9c979fe6c41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ätprotokoll och rimlighet">
            <a:extLst xmlns:a="http://schemas.openxmlformats.org/drawingml/2006/main">
              <a:ext uri="{FF2B5EF4-FFF2-40B4-BE49-F238E27FC236}">
                <a16:creationId xmlns:a16="http://schemas.microsoft.com/office/drawing/2014/main" id="{A2820AC8-BB1C-45FE-9BBE-F783B9AB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Strömtången</a:t>
            </a:r>
          </a:p>
        </p:txBody>
      </p:sp>
      <p:sp>
        <p:nvSpPr>
          <p:cNvPr id="3" name="Varje deltagare skriver ett eget protokoll.&#10;Anteckna både beräkni">
            <a:extLst xmlns:a="http://schemas.openxmlformats.org/drawingml/2006/main">
              <a:ext uri="{FF2B5EF4-FFF2-40B4-BE49-F238E27FC236}">
                <a16:creationId xmlns:a16="http://schemas.microsoft.com/office/drawing/2014/main" id="{3681ABAE-9638-4866-B96B-7444BE26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Tången mäter summan av strömmarna som går genom käften.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Nollställ tången i läget DC A före mätningen.</a:t>
            </a:r>
          </a:p>
        </p:txBody>
      </p:sp>
      <p:sp>
        <p:nvSpPr>
          <p:cNvPr id="4" name="Avvikelse = uppmätt − förväntat">
            <a:extLst xmlns:a="http://schemas.openxmlformats.org/drawingml/2006/main">
              <a:ext uri="{FF2B5EF4-FFF2-40B4-BE49-F238E27FC236}">
                <a16:creationId xmlns:a16="http://schemas.microsoft.com/office/drawing/2014/main" id="{4C8D1B9A-09F3-4EAC-9D5D-A8AD9961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Två varv: 2 · I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 och tillbaka: 0</a:t>
            </a:r>
          </a:p>
        </p:txBody>
      </p:sp>
      <p:sp>
        <p:nvSpPr>
          <p:cNvPr id="5" name="Toleranser, källspänning och instrumentdata påverkar jämförelsen.">
            <a:extLst xmlns:a="http://schemas.openxmlformats.org/drawingml/2006/main">
              <a:ext uri="{FF2B5EF4-FFF2-40B4-BE49-F238E27FC236}">
                <a16:creationId xmlns:a16="http://schemas.microsoft.com/office/drawing/2014/main" id="{C832A217-731B-4360-8BCB-B751FFC4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 en fasledare i taget. Runt en hel trefaskabel blir summan nära noll.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Samma princip används i jordfelsbrytaren.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9C032AA8-3753-468A-AEB6-7AB96D60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römtångens käft: en ledare ger I, två " descr="Strömtångens käft: en ledare ger I, två varv ger 2 · I, hårnål med ström in och ut g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02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9bf37bfae49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Individuell återkoppling">
            <a:extLst xmlns:a="http://schemas.openxmlformats.org/drawingml/2006/main">
              <a:ext uri="{FF2B5EF4-FFF2-40B4-BE49-F238E27FC236}">
                <a16:creationId xmlns:a16="http://schemas.microsoft.com/office/drawing/2014/main" id="{B83656F8-A4A9-4533-A5F9-8B4EEAB9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Protokoll och slutsats</a:t>
            </a:r>
          </a:p>
        </p:txBody>
      </p:sp>
      <p:sp>
        <p:nvSpPr>
          <p:cNvPr id="3" name="Varje deltagare motiverar minst ett metodval.&#10;Handledaren dokumen">
            <a:extLst xmlns:a="http://schemas.openxmlformats.org/drawingml/2006/main">
              <a:ext uri="{FF2B5EF4-FFF2-40B4-BE49-F238E27FC236}">
                <a16:creationId xmlns:a16="http://schemas.microsoft.com/office/drawing/2014/main" id="{562ADDF1-23D8-4E41-B5D1-D6332136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Varje deltagare skriver ett eget protokoll: mätpunkter, instrument och värden.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 förväntade värdet står i protokollet före mätningen.</a:t>
            </a:r>
          </a:p>
        </p:txBody>
      </p:sp>
      <p:sp>
        <p:nvSpPr>
          <p:cNvPr id="4" name="Observation och slutsats hålls isär">
            <a:extLst xmlns:a="http://schemas.openxmlformats.org/drawingml/2006/main">
              <a:ext uri="{FF2B5EF4-FFF2-40B4-BE49-F238E27FC236}">
                <a16:creationId xmlns:a16="http://schemas.microsoft.com/office/drawing/2014/main" id="{A0E5FCA0-1447-4717-AFA0-D32C834D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Avvikelse = uppmätt − förväntat</a:t>
            </a:r>
          </a:p>
        </p:txBody>
      </p:sp>
      <p:sp>
        <p:nvSpPr>
          <p:cNvPr id="5" name="Exempel: ”K1 släpper efter START” är en observation.&#10;”Avbrott i h">
            <a:extLst xmlns:a="http://schemas.openxmlformats.org/drawingml/2006/main">
              <a:ext uri="{FF2B5EF4-FFF2-40B4-BE49-F238E27FC236}">
                <a16:creationId xmlns:a16="http://schemas.microsoft.com/office/drawing/2014/main" id="{0265C323-2226-492E-9FEB-C4C699C4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Observation: ”U1–V1 visar 2R i Y”. Slutsats: ”blecken ligger rätt”.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Håll isär observation och slutsats.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9DB34D64-C160-4839-A526-966B95E3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a5cd5b1ef46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tolkning av ett mätvärde">
            <a:extLst xmlns:a="http://schemas.openxmlformats.org/drawingml/2006/main">
              <a:ext uri="{FF2B5EF4-FFF2-40B4-BE49-F238E27FC236}">
                <a16:creationId xmlns:a16="http://schemas.microsoft.com/office/drawing/2014/main" id="{611E3886-C563-4056-95F7-6B0879E4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strömtången med flera varv</a:t>
            </a:r>
          </a:p>
        </p:txBody>
      </p:sp>
      <p:sp>
        <p:nvSpPr>
          <p:cNvPr id="10" name="En 2 kΩ-resistor har toleransen ±5 %. Den mäts till 2,06 kΩ. Inst">
            <a:extLst xmlns:a="http://schemas.openxmlformats.org/drawingml/2006/main">
              <a:ext uri="{FF2B5EF4-FFF2-40B4-BE49-F238E27FC236}">
                <a16:creationId xmlns:a16="http://schemas.microsoft.com/office/drawing/2014/main" id="{AC0C98B9-278E-4624-95F5-F88EAEC7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aggregat driver 1,5 A genom en labbsladd. Sladden läggs tre varv genom tången och sedan som en hårnål.</a:t>
            </a:r>
          </a:p>
        </p:txBody>
      </p:sp>
      <p:sp>
        <p:nvSpPr>
          <p:cNvPr id="11" name="Gränser = Rnom · (1 ± p/100)">
            <a:extLst xmlns:a="http://schemas.openxmlformats.org/drawingml/2006/main">
              <a:ext uri="{FF2B5EF4-FFF2-40B4-BE49-F238E27FC236}">
                <a16:creationId xmlns:a16="http://schemas.microsoft.com/office/drawing/2014/main" id="{619BC3A6-182E-4226-85FC-EE25CF16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Visat värde = summan av strömmarna genom käften</a:t>
            </a:r>
          </a:p>
        </p:txBody>
      </p:sp>
      <p:sp>
        <p:nvSpPr>
          <p:cNvPr id="12" name="1. Nedre gräns = 2 · 0,95 = 1,90 kΩ.&#10;2. Övre gräns = 2 · 1,05 = 2">
            <a:extLst xmlns:a="http://schemas.openxmlformats.org/drawingml/2006/main">
              <a:ext uri="{FF2B5EF4-FFF2-40B4-BE49-F238E27FC236}">
                <a16:creationId xmlns:a16="http://schemas.microsoft.com/office/drawing/2014/main" id="{75DD9544-C81C-4761-B9BF-468DD8F1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En gång genom käften: 1,5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Tre varv: 3 · 1,5 = 4,5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Hårnål: +1,5 − 1,5 = 0 A.</a:t>
            </a:r>
          </a:p>
        </p:txBody>
      </p:sp>
      <p:sp>
        <p:nvSpPr>
          <p:cNvPr id="13" name="Verklig bedömning behöver även instrumentets bidrag och jämförbar">
            <a:extLst xmlns:a="http://schemas.openxmlformats.org/drawingml/2006/main">
              <a:ext uri="{FF2B5EF4-FFF2-40B4-BE49-F238E27FC236}">
                <a16:creationId xmlns:a16="http://schemas.microsoft.com/office/drawing/2014/main" id="{0C25C292-0282-4F25-9DCD-4BED7136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tången räknar varje passage genom käften, med riktning.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E724F8D7-60A8-4B65-A709-9AE83911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4cf32cf754b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93535485-A46C-411E-965E-C2E5F11D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3.6</a:t>
            </a:r>
          </a:p>
        </p:txBody>
      </p:sp>
      <p:sp>
        <p:nvSpPr>
          <p:cNvPr id="10" name="Matad spole kräver sluten väg från + till 0 V">
            <a:extLst xmlns:a="http://schemas.openxmlformats.org/drawingml/2006/main">
              <a:ext uri="{FF2B5EF4-FFF2-40B4-BE49-F238E27FC236}">
                <a16:creationId xmlns:a16="http://schemas.microsoft.com/office/drawing/2014/main" id="{D557B3C7-1288-43CA-B951-3EEA3245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Δ: alla par (2/3) ·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lindning</a:t>
            </a:r>
          </a:p>
        </p:txBody>
      </p:sp>
      <p:sp>
        <p:nvSpPr>
          <p:cNvPr id="11" name="NC är normalt sluten och NO normalt öppen. K1:s NO-hållkontakt är">
            <a:extLst xmlns:a="http://schemas.openxmlformats.org/drawingml/2006/main">
              <a:ext uri="{FF2B5EF4-FFF2-40B4-BE49-F238E27FC236}">
                <a16:creationId xmlns:a16="http://schemas.microsoft.com/office/drawing/2014/main" id="{FCA2944A-9BC9-4A44-B845-C5BD83FC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en hel Δ-koppling visar alla tre paren samma värde. Två par med en lindning och ett par med två lindningar i serie betyder att triangeln är öppen.</a:t>
            </a:r>
          </a:p>
        </p:txBody>
      </p:sp>
      <p:sp>
        <p:nvSpPr>
          <p:cNvPr id="12" name="Förutsättningar: Visad hållkrets: S0 sluten, S1 öppen, K1 i vila.">
            <a:extLst xmlns:a="http://schemas.openxmlformats.org/drawingml/2006/main">
              <a:ext uri="{FF2B5EF4-FFF2-40B4-BE49-F238E27FC236}">
                <a16:creationId xmlns:a16="http://schemas.microsoft.com/office/drawing/2014/main" id="{1E049D73-63E2-48E8-AAF2-19258FD6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Spänningslös motor. Sladdarnas resistans avdragen. Δ-blecken ska vara U1–W2, V1–U2 och W1–V2.</a:t>
            </a:r>
          </a:p>
        </p:txBody>
      </p:sp>
      <p:sp>
        <p:nvSpPr>
          <p:cNvPr id="13" name="Arbetsgång: Följ båda parallella vägarna efter S0. Avgör om någon">
            <a:extLst xmlns:a="http://schemas.openxmlformats.org/drawingml/2006/main">
              <a:ext uri="{FF2B5EF4-FFF2-40B4-BE49-F238E27FC236}">
                <a16:creationId xmlns:a16="http://schemas.microsoft.com/office/drawing/2014/main" id="{334810B8-66DF-4331-97DE-8F74CE36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först vad en hel Δ skulle ge. Rita sedan triangeln och ta bort ett bleck i taget tills mätvärdena stämmer.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FE96961C-858C-45DF-9BAB-E51C89AB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195e786c74b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9ACA50E8-B448-4B13-BA28-BA137A17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3.6</a:t>
            </a:r>
          </a:p>
        </p:txBody>
      </p:sp>
      <p:sp>
        <p:nvSpPr>
          <p:cNvPr id="3" name="Hållkretsens vila">
            <a:extLst xmlns:a="http://schemas.openxmlformats.org/drawingml/2006/main">
              <a:ext uri="{FF2B5EF4-FFF2-40B4-BE49-F238E27FC236}">
                <a16:creationId xmlns:a16="http://schemas.microsoft.com/office/drawing/2014/main" id="{E5B0F076-356F-4799-9D69-6A26FA63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Ett bleck som saknas</a:t>
            </a:r>
          </a:p>
        </p:txBody>
      </p:sp>
      <p:sp>
        <p:nvSpPr>
          <p:cNvPr id="4" name="I hållkretsen är S0 sluten, S1 öppen och K1 opåverkad. Finns en s">
            <a:extLst xmlns:a="http://schemas.openxmlformats.org/drawingml/2006/main">
              <a:ext uri="{FF2B5EF4-FFF2-40B4-BE49-F238E27FC236}">
                <a16:creationId xmlns:a16="http://schemas.microsoft.com/office/drawing/2014/main" id="{C8664CA4-8658-428A-94DF-9D15EA40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Blecken ska ligga för Δ. Du mäter U1–V1 = 4,2 Ω, V1–W1 = 4,2 Ω och W1–U1 = 8,4 Ω. En lindning har resistansen 4,2 Ω. Vad visar mätningen, och vilket bleck saknas?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788DBF0D-A1F7-4D10-B0F1-3E03227F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F07D6B52-EAF6-42D4-BC53-6A79B39A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apeldiagram i Δ: U1–V1 4,2 ohm, V1–W1 4,2 ohm, W1–U" descr="Stapeldiagram i Δ: U1–V1 4,2 ohm, V1–W1 4,2 ohm, W1–U1 8,4 ohm; vilket bleck som saknas efterfråg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fa05a98b74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99106AF7-9FE2-4732-90FA-5CF1FA50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3.7</a:t>
            </a:r>
          </a:p>
        </p:txBody>
      </p:sp>
      <p:sp>
        <p:nvSpPr>
          <p:cNvPr id="10" name="K1:s NO-kontakt följer K1-spolen">
            <a:extLst xmlns:a="http://schemas.openxmlformats.org/drawingml/2006/main">
              <a:ext uri="{FF2B5EF4-FFF2-40B4-BE49-F238E27FC236}">
                <a16:creationId xmlns:a16="http://schemas.microsoft.com/office/drawing/2014/main" id="{544947E4-68A5-495C-A94D-544912F4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NO: öppen i vila. NC: sluten i vila</a:t>
            </a:r>
          </a:p>
        </p:txBody>
      </p:sp>
      <p:sp>
        <p:nvSpPr>
          <p:cNvPr id="11" name="När spolen drar sluter dess NO-kontakt. Den ligger parallellt med">
            <a:extLst xmlns:a="http://schemas.openxmlformats.org/drawingml/2006/main">
              <a:ext uri="{FF2B5EF4-FFF2-40B4-BE49-F238E27FC236}">
                <a16:creationId xmlns:a16="http://schemas.microsoft.com/office/drawing/2014/main" id="{A8D979D1-22EB-49EF-AE63-4CF93A91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13–14 är kontaktorns hjälpkontakt. 95–96 sitter på överlastreläet.</a:t>
            </a:r>
          </a:p>
        </p:txBody>
      </p:sp>
      <p:sp>
        <p:nvSpPr>
          <p:cNvPr id="12" name="Förutsättningar: S0 och returen är hela. S1 hålls in tills K1 hin">
            <a:extLst xmlns:a="http://schemas.openxmlformats.org/drawingml/2006/main">
              <a:ext uri="{FF2B5EF4-FFF2-40B4-BE49-F238E27FC236}">
                <a16:creationId xmlns:a16="http://schemas.microsoft.com/office/drawing/2014/main" id="{AB519921-8933-43E9-8D14-7754004D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Startaren är ett övningsobjekt och är aldrig ansluten. Kontaktorn är opåverkad.</a:t>
            </a:r>
          </a:p>
        </p:txBody>
      </p:sp>
      <p:sp>
        <p:nvSpPr>
          <p:cNvPr id="13" name="Arbetsgång: Följ strömvägen under START och efter släpp. Beskriv ">
            <a:extLst xmlns:a="http://schemas.openxmlformats.org/drawingml/2006/main">
              <a:ext uri="{FF2B5EF4-FFF2-40B4-BE49-F238E27FC236}">
                <a16:creationId xmlns:a16="http://schemas.microsoft.com/office/drawing/2014/main" id="{1155AD75-EC3D-46B3-96E2-52993575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Bestäm om varje kontakt är normalt öppen eller normalt sluten, och vad testknappen gör med överlastreläet.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0A93B22C-2B4D-41F2-9129-F61879D0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24d6a68e043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CD33C934-5F85-4E49-9025-F7BAF2A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3.7</a:t>
            </a:r>
          </a:p>
        </p:txBody>
      </p:sp>
      <p:sp>
        <p:nvSpPr>
          <p:cNvPr id="3" name="Hållkretsens start">
            <a:extLst xmlns:a="http://schemas.openxmlformats.org/drawingml/2006/main">
              <a:ext uri="{FF2B5EF4-FFF2-40B4-BE49-F238E27FC236}">
                <a16:creationId xmlns:a16="http://schemas.microsoft.com/office/drawing/2014/main" id="{51DAFC74-00E6-4733-A481-FDFC24C7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Startarens kontakter</a:t>
            </a:r>
          </a:p>
        </p:txBody>
      </p:sp>
      <p:sp>
        <p:nvSpPr>
          <p:cNvPr id="4" name="S1 trycks in och K1 drar. Vad ska K1:s NO-hjälpkontakt göra och v">
            <a:extLst xmlns:a="http://schemas.openxmlformats.org/drawingml/2006/main">
              <a:ext uri="{FF2B5EF4-FFF2-40B4-BE49-F238E27FC236}">
                <a16:creationId xmlns:a16="http://schemas.microsoft.com/office/drawing/2014/main" id="{8A0C13EC-5AC3-4DAD-976D-39BE8B2E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Spänningslöst visar 13–14 överområde och 95–96 0,1 Ω. Vad betyder värdena? Vad visar 95–96 efter överlastreläets testknapp, och varför?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3B06C22A-4F24-4833-AD14-49C7E13B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65907771-1049-4836-AC16-FCF6AADB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artarens kontakter spänningslöst: 13–14 visar övero" descr="Startarens kontakter spänningslöst: 13–14 visar överområde, 95–96 visar 0,1 ohm; läget efter testknappen efterfråg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05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9ca74f3104b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BBAB8E71-76A6-4073-BE25-D9433A2E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3.8</a:t>
            </a:r>
          </a:p>
        </p:txBody>
      </p:sp>
      <p:sp>
        <p:nvSpPr>
          <p:cNvPr id="10" name="Hypotes prövas med förväntat kontrollresultat">
            <a:extLst xmlns:a="http://schemas.openxmlformats.org/drawingml/2006/main">
              <a:ext uri="{FF2B5EF4-FFF2-40B4-BE49-F238E27FC236}">
                <a16:creationId xmlns:a16="http://schemas.microsoft.com/office/drawing/2014/main" id="{87E694A9-A722-4217-B0C1-7A59FAB7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Nätets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märkvärdet för driftkopplingen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Överlastreläet ställs på märkströmmen för kopplingen</a:t>
            </a:r>
          </a:p>
        </p:txBody>
      </p:sp>
      <p:sp>
        <p:nvSpPr>
          <p:cNvPr id="11" name="En hypotes är en möjlig orsak. En skiljande kontroll ger olika re">
            <a:extLst xmlns:a="http://schemas.openxmlformats.org/drawingml/2006/main">
              <a:ext uri="{FF2B5EF4-FFF2-40B4-BE49-F238E27FC236}">
                <a16:creationId xmlns:a16="http://schemas.microsoft.com/office/drawing/2014/main" id="{77CDA32A-B901-4A23-BA70-B57C9BCA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Skylten ger strömmen för varje koppling i samma ordning som spänningarna: Δ först, sedan Y.</a:t>
            </a:r>
          </a:p>
        </p:txBody>
      </p:sp>
      <p:sp>
        <p:nvSpPr>
          <p:cNvPr id="12" name="Förutsättningar: K1 drar under START men släpper efteråt. Mätning">
            <a:extLst xmlns:a="http://schemas.openxmlformats.org/drawingml/2006/main">
              <a:ext uri="{FF2B5EF4-FFF2-40B4-BE49-F238E27FC236}">
                <a16:creationId xmlns:a16="http://schemas.microsoft.com/office/drawing/2014/main" id="{1C75BD74-2007-4105-AD34-14DBC5C2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Landnät 400 V, 50 Hz. Märkskylt Δ/Y 230/400 V, 5,9/3,4 A, 1,5 kW.</a:t>
            </a:r>
          </a:p>
        </p:txBody>
      </p:sp>
      <p:sp>
        <p:nvSpPr>
          <p:cNvPr id="13" name="Arbetsgång: Föreslå en orsak i hållvägen. Beskriv vilken observat">
            <a:extLst xmlns:a="http://schemas.openxmlformats.org/drawingml/2006/main">
              <a:ext uri="{FF2B5EF4-FFF2-40B4-BE49-F238E27FC236}">
                <a16:creationId xmlns:a16="http://schemas.microsoft.com/office/drawing/2014/main" id="{4EBF3A4C-2059-438C-A155-D13B802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Välj koppling från spänningarna och läs sedan strömmen för den kopplingen.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8FF4E832-01B3-464B-B637-04E085C0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079e3807c49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28F6A2FA-9BE8-43CC-BE86-0C379A2C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3.8</a:t>
            </a:r>
          </a:p>
        </p:txBody>
      </p:sp>
      <p:sp>
        <p:nvSpPr>
          <p:cNvPr id="3" name="Förberett fel">
            <a:extLst xmlns:a="http://schemas.openxmlformats.org/drawingml/2006/main">
              <a:ext uri="{FF2B5EF4-FFF2-40B4-BE49-F238E27FC236}">
                <a16:creationId xmlns:a16="http://schemas.microsoft.com/office/drawing/2014/main" id="{2C09C0C4-665D-4BE2-8AED-8B02E3D3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Koppling och överlastrelä</a:t>
            </a:r>
          </a:p>
        </p:txBody>
      </p:sp>
      <p:sp>
        <p:nvSpPr>
          <p:cNvPr id="4" name="K1 drar medan START hålls in men släpper direkt när knappen släpp">
            <a:extLst xmlns:a="http://schemas.openxmlformats.org/drawingml/2006/main">
              <a:ext uri="{FF2B5EF4-FFF2-40B4-BE49-F238E27FC236}">
                <a16:creationId xmlns:a16="http://schemas.microsoft.com/office/drawing/2014/main" id="{F5C535BE-6954-41FE-91E8-CFACD82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Märkskylten anger Δ/Y 230/400 V och 5,9/3,4 A, 1,5 kW, 50 Hz. Motorn ska gå på landnätet 400 V i verkstaden. Vilken koppling ska den ha, och på vilken ström ställs överlastreläet?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0336F6D-6194-4ADF-BE1B-FCADA1A3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E8D72C56-5D11-41E6-BB55-59ABEA4C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Märkskylt 1,5 kW, Δ/Y 230/400 V, 5,9/3,4 A, 50 Hz och" descr="Märkskylt 1,5 kW, Δ/Y 230/400 V, 5,9/3,4 A, 50 Hz och landnät 400 V; koppling och överlastreläets inställning efterfråg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447" y="2331720"/>
            <a:ext cx="3047664" cy="212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ede0bfcda4c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5FED8A1A-B104-4056-B8B1-C42254DE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3.9</a:t>
            </a:r>
          </a:p>
        </p:txBody>
      </p:sp>
      <p:sp>
        <p:nvSpPr>
          <p:cNvPr id="10" name="Rmin = Rnom · (1 − p/100)&#10;Rmax = Rnom · (1 + p/100)">
            <a:extLst xmlns:a="http://schemas.openxmlformats.org/drawingml/2006/main">
              <a:ext uri="{FF2B5EF4-FFF2-40B4-BE49-F238E27FC236}">
                <a16:creationId xmlns:a16="http://schemas.microsoft.com/office/drawing/2014/main" id="{C62616CD-402A-4BFD-B94E-3EAA3EEE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Tången visar summan av strömmarna genom käften</a:t>
            </a:r>
          </a:p>
        </p:txBody>
      </p:sp>
      <p:sp>
        <p:nvSpPr>
          <p:cNvPr id="11" name="Rnom är nominellt värde och p toleransen i procent. Gränsvärden i">
            <a:extLst xmlns:a="http://schemas.openxmlformats.org/drawingml/2006/main">
              <a:ext uri="{FF2B5EF4-FFF2-40B4-BE49-F238E27FC236}">
                <a16:creationId xmlns:a16="http://schemas.microsoft.com/office/drawing/2014/main" id="{F353E2C6-12F8-46D2-8F04-A10F17C1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Varje gång sladden passerar käften räknas strömmen en gång, med sin riktning.</a:t>
            </a:r>
          </a:p>
        </p:txBody>
      </p:sp>
      <p:sp>
        <p:nvSpPr>
          <p:cNvPr id="12" name="Förutsättningar: Rnom = 1 kΩ, p = 5, uppmätt 1,03 kΩ. Instrumentf">
            <a:extLst xmlns:a="http://schemas.openxmlformats.org/drawingml/2006/main">
              <a:ext uri="{FF2B5EF4-FFF2-40B4-BE49-F238E27FC236}">
                <a16:creationId xmlns:a16="http://schemas.microsoft.com/office/drawing/2014/main" id="{F5ABCEBD-B413-4205-A18E-97AAC60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Tångstationen på skyddsklenspänning. Tången nollställd i läget DC A. Strömmen 1,8 A.</a:t>
            </a:r>
          </a:p>
        </p:txBody>
      </p:sp>
      <p:sp>
        <p:nvSpPr>
          <p:cNvPr id="13" name="Arbetsgång: Beräkna nedre och övre gräns. Jämför mätvärdet med bå">
            <a:extLst xmlns:a="http://schemas.openxmlformats.org/drawingml/2006/main">
              <a:ext uri="{FF2B5EF4-FFF2-40B4-BE49-F238E27FC236}">
                <a16:creationId xmlns:a16="http://schemas.microsoft.com/office/drawing/2014/main" id="{E3A3D5A0-F78B-4A6F-8BBA-A8317035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hur många gånger strömmen passerar käften och åt vilket håll.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FEEF9B96-C04D-4386-99A4-3CC30917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844373d1b43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3B6B85BB-28C2-4393-BAB8-679B0B4E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3.9</a:t>
            </a:r>
          </a:p>
        </p:txBody>
      </p:sp>
      <p:sp>
        <p:nvSpPr>
          <p:cNvPr id="3" name="Mätvärde med avvikelse">
            <a:extLst xmlns:a="http://schemas.openxmlformats.org/drawingml/2006/main">
              <a:ext uri="{FF2B5EF4-FFF2-40B4-BE49-F238E27FC236}">
                <a16:creationId xmlns:a16="http://schemas.microsoft.com/office/drawing/2014/main" id="{E0DD8494-743D-4C38-A54B-6723CEE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Tången med flera varv</a:t>
            </a:r>
          </a:p>
        </p:txBody>
      </p:sp>
      <p:sp>
        <p:nvSpPr>
          <p:cNvPr id="4" name="En 1 kΩ-resistor med tolerans ±5 % mäts till 1,03 kΩ. Bortse från">
            <a:extLst xmlns:a="http://schemas.openxmlformats.org/drawingml/2006/main">
              <a:ext uri="{FF2B5EF4-FFF2-40B4-BE49-F238E27FC236}">
                <a16:creationId xmlns:a16="http://schemas.microsoft.com/office/drawing/2014/main" id="{4C6F23CC-976F-41A3-8F43-1DADAD20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DC-aggregat driver 1,8 A genom en labbsladd. Vad visar tången med sladden två varv genom käften, och med sladden vikt som en hårnål?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E4D3F790-FFEE-4056-934E-FD4CA188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63217F37-D5EF-488C-B985-D002AB38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trömtång med sladden två varv och som hårnål, 1,8 A " descr="Strömtång med sladden två varv och som hårnål, 1,8 A i sladden; visat värde efterfråg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31720"/>
            <a:ext cx="3931920" cy="255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6a36cba2a47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DAF709D7-731F-42C8-B7DD-E3772756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3.10</a:t>
            </a:r>
          </a:p>
        </p:txBody>
      </p:sp>
      <p:sp>
        <p:nvSpPr>
          <p:cNvPr id="10" name="Slutsats kopplas till data och driftfall">
            <a:extLst xmlns:a="http://schemas.openxmlformats.org/drawingml/2006/main">
              <a:ext uri="{FF2B5EF4-FFF2-40B4-BE49-F238E27FC236}">
                <a16:creationId xmlns:a16="http://schemas.microsoft.com/office/drawing/2014/main" id="{3F7165EB-03FA-46C3-8BD1-CD218B75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0 vid symmetri utan neutralledare</a:t>
            </a:r>
          </a:p>
        </p:txBody>
      </p:sp>
      <p:sp>
        <p:nvSpPr>
          <p:cNvPr id="11" name="En slutsats ska ange vad jämförelsen visar. Mätvillkor och kvarst">
            <a:extLst xmlns:a="http://schemas.openxmlformats.org/drawingml/2006/main">
              <a:ext uri="{FF2B5EF4-FFF2-40B4-BE49-F238E27FC236}">
                <a16:creationId xmlns:a16="http://schemas.microsoft.com/office/drawing/2014/main" id="{B7C75F98-047E-4E84-B771-0AB93912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Tången visar summan av strömmarna genom käften. En hel kabel har alla tre fasledarna i käften.</a:t>
            </a:r>
          </a:p>
        </p:txBody>
      </p:sp>
      <p:sp>
        <p:nvSpPr>
          <p:cNvPr id="12" name="Förutsättningar: Källa 11,94 V, spänningsfall 3,98 V och 7,96 V. ">
            <a:extLst xmlns:a="http://schemas.openxmlformats.org/drawingml/2006/main">
              <a:ext uri="{FF2B5EF4-FFF2-40B4-BE49-F238E27FC236}">
                <a16:creationId xmlns:a16="http://schemas.microsoft.com/office/drawing/2014/main" id="{39722EA9-CE71-43C4-8216-8E6A21B1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Ombord, 440 V, 60 Hz. Trefasmotor utan neutralledare. Tången är avsedd för mätningen och mätkategorin.</a:t>
            </a:r>
          </a:p>
        </p:txBody>
      </p:sp>
      <p:sp>
        <p:nvSpPr>
          <p:cNvPr id="13" name="Arbetsgång: Visa summan och jämför med källan. Skriv att uppgifte">
            <a:extLst xmlns:a="http://schemas.openxmlformats.org/drawingml/2006/main">
              <a:ext uri="{FF2B5EF4-FFF2-40B4-BE49-F238E27FC236}">
                <a16:creationId xmlns:a16="http://schemas.microsoft.com/office/drawing/2014/main" id="{F7E7A440-2C1A-4C2D-A455-2A245553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Använd summan av fasströmmarna från Del 1 och det du såg med hårnålen på tångstationen.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DABC75BA-A591-443D-879C-51D66483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c47e3b79d4a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137803B6-43BF-440B-9176-D79441BA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3.10</a:t>
            </a:r>
          </a:p>
        </p:txBody>
      </p:sp>
      <p:sp>
        <p:nvSpPr>
          <p:cNvPr id="3" name="Egen slutsats">
            <a:extLst xmlns:a="http://schemas.openxmlformats.org/drawingml/2006/main">
              <a:ext uri="{FF2B5EF4-FFF2-40B4-BE49-F238E27FC236}">
                <a16:creationId xmlns:a16="http://schemas.microsoft.com/office/drawing/2014/main" id="{52DB91ED-17A2-4673-9068-C9FCD23A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Tången runt motorkabeln</a:t>
            </a:r>
          </a:p>
        </p:txBody>
      </p:sp>
      <p:sp>
        <p:nvSpPr>
          <p:cNvPr id="4" name="Skriv en kort slutsats till protokollet: källan mäts till 11,94 V">
            <a:extLst xmlns:a="http://schemas.openxmlformats.org/drawingml/2006/main">
              <a:ext uri="{FF2B5EF4-FFF2-40B4-BE49-F238E27FC236}">
                <a16:creationId xmlns:a16="http://schemas.microsoft.com/office/drawing/2014/main" id="{399CB64D-8B4F-4A45-AFC9-A13D8AF6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motorman lägger tången runt hela kabeln till en trefasmotor ombord medan den går, och läser 0,2 A. Förklara varför värdet är så litet, och hur fasströmmen ska mätas.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A499165-1484-4867-9341-7ACB4BA4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8BB58DB7-C850-4239-9170-B0DF14B6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ång runt hela trefaskabeln till en motor ombord visa" descr="Tång runt hela trefaskabeln till en motor ombord visar 0,2 A; förklaring och rätt mätsätt efterfråg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dec7539ff4d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1BEB658A-2B0B-434C-B607-4CFAF67C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ilken slutsats kan ditt protokoll stödja, och vad har du ännu in">
            <a:extLst xmlns:a="http://schemas.openxmlformats.org/drawingml/2006/main">
              <a:ext uri="{FF2B5EF4-FFF2-40B4-BE49-F238E27FC236}">
                <a16:creationId xmlns:a16="http://schemas.microsoft.com/office/drawing/2014/main" id="{0EF72A4E-5FC5-41B8-887F-E4E788F9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Vilken koppling visar dina mätvärden, och hur vet du det?</a:t>
            </a:r>
          </a:p>
        </p:txBody>
      </p:sp>
      <p:sp>
        <p:nvSpPr>
          <p:cNvPr id="4" name="Färdigställ individuellt protokoll. Praktisk bedömning och eventu">
            <a:extLst xmlns:a="http://schemas.openxmlformats.org/drawingml/2006/main">
              <a:ext uri="{FF2B5EF4-FFF2-40B4-BE49-F238E27FC236}">
                <a16:creationId xmlns:a16="http://schemas.microsoft.com/office/drawing/2014/main" id="{15873594-CDD5-4169-AEC8-6C5F6EE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Gör klart ditt protokoll och lämna in det med veckans uppgifter senast söndag 11 oktober.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334CBFCC-1983-4CB5-AFBD-C64A8873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0eb6189dc4c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AA86399E-60A1-41F8-88A4-6EE6E11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22C3671D-5491-45D6-8AF4-22583613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Laborationsunderlag och inköpsguide, 24 september 2026</a:t>
            </a:r>
          </a:p>
        </p:txBody>
      </p:sp>
      <p:sp>
        <p:nvSpPr>
          <p:cNvPr id="4" name="Fluke: multimeterns funktioner och mätning">
            <a:extLst xmlns:a="http://schemas.openxmlformats.org/drawingml/2006/main">
              <a:ext uri="{FF2B5EF4-FFF2-40B4-BE49-F238E27FC236}">
                <a16:creationId xmlns:a16="http://schemas.microsoft.com/office/drawing/2014/main" id="{A2ED14B1-273F-4135-94D5-B0A232E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Motorns märkskylt och dokumentation</a:t>
            </a:r>
          </a:p>
        </p:txBody>
      </p:sp>
      <p:sp>
        <p:nvSpPr>
          <p:cNvPr id="5" name="SEK: SS-EN 50110-1, utgåva 4:2024">
            <a:extLst xmlns:a="http://schemas.openxmlformats.org/drawingml/2006/main">
              <a:ext uri="{FF2B5EF4-FFF2-40B4-BE49-F238E27FC236}">
                <a16:creationId xmlns:a16="http://schemas.microsoft.com/office/drawing/2014/main" id="{181D6E4D-26C9-426F-9C8D-FAE9B58F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Startarens kopplingsschema för vald modell</a:t>
            </a:r>
          </a:p>
        </p:txBody>
      </p:sp>
      <p:sp>
        <p:nvSpPr>
          <p:cNvPr id="6" name="Schneider Electric: skenbar effekt">
            <a:extLst xmlns:a="http://schemas.openxmlformats.org/drawingml/2006/main">
              <a:ext uri="{FF2B5EF4-FFF2-40B4-BE49-F238E27FC236}">
                <a16:creationId xmlns:a16="http://schemas.microsoft.com/office/drawing/2014/main" id="{811DB7DE-5B10-4030-B21A-9F5EC3A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UNI-T UT210D: bruksanvisning för tångmätning</a:t>
            </a:r>
          </a:p>
        </p:txBody>
      </p:sp>
      <p:sp>
        <p:nvSpPr>
          <p:cNvPr id="8" name="22">
            <a:extLst xmlns:a="http://schemas.openxmlformats.org/drawingml/2006/main">
              <a:ext uri="{FF2B5EF4-FFF2-40B4-BE49-F238E27FC236}">
                <a16:creationId xmlns:a16="http://schemas.microsoft.com/office/drawing/2014/main" id="{5A77D682-B37D-48C4-98B5-82AA4E44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2026-09-20T20:09:31.1790000Z</dcterms:created>
  <dcterms:modified xsi:type="dcterms:W3CDTF">2026-09-20T20:09:31.1790000Z</dcterms:modified>
</coreProperties>
</file>