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7c34ddacd4546b1" Type="http://schemas.openxmlformats.org/officeDocument/2006/relationships/officeDocument" Target="ppt/presentation.xml"/><Relationship Id="R861db07599aa41dd" Type="http://schemas.openxmlformats.org/officeDocument/2006/relationships/extended-properties" Target="docProps/app.xml"/><Relationship Id="Rd8cf384cba124e9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a38d8fb4f6ec40e4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ed11355ea2543db" Type="http://schemas.openxmlformats.org/officeDocument/2006/relationships/theme" Target="theme/theme1.xml"/><Relationship Id="R4a30431852bc4203" Type="http://schemas.openxmlformats.org/officeDocument/2006/relationships/presProps" Target="presProps.xml"/><Relationship Id="R59b04d653c184694" Type="http://schemas.openxmlformats.org/officeDocument/2006/relationships/tableStyles" Target="tableStyles.xml"/><Relationship Id="Ra38d8fb4f6ec40e4" Type="http://schemas.openxmlformats.org/officeDocument/2006/relationships/slideMaster" Target="slideMasters/slideMaster1.xml"/><Relationship Id="Rba35c611fa944afe" Type="http://schemas.openxmlformats.org/officeDocument/2006/relationships/viewProps" Target="viewProp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e9bbca99fd0e4bf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bed5ff74e9b430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d90e2e815ac47c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599dc8b372340a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7876e5b8ebd495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9291271a5e94ac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c894096355d480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8fa3bb3d3b84b8b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b9ffc4a04cc45db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db49676138543f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d61dd6cc9ae4a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1AF29-9BF1-473B-AFA6-17086F16A4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C47869-AB2E-4353-993A-C5F3CBCD7A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4BDD63-2879-4553-A7D4-C8B90F669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7559E2-D642-40B2-A622-29E6C6C09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BCBF1D-E8D4-4C02-B339-40A7E12B7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22FDD0-541F-4732-A589-6E09DA58B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9FD4EB-ED93-4F84-9A20-8F3AF861C5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7B3B2F-39C7-4AB3-B336-4AA52F5371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14936C-5A60-4749-9BA4-077B860C9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221E00-8DF1-4F1B-832D-71DC043B5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2DB1BD-E287-4420-8511-29126B061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B11597-97EC-49B5-A400-7D26520A3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742E12-71EE-4A0A-A25A-482AF08CB5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99B004-C36A-4FB2-9F9D-CE473319A9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7C9783-743E-4094-A2AE-9E44E3D473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C4FC59-7B72-4123-8378-0EA508843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7F9AEE-67E4-463F-959F-E9E3A1B888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354C6D0-6530-44C0-8216-34BD311A97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28CFC9-6708-459E-B81E-1E9C142577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003C71-1529-40B2-8C48-8F715F571D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43222D-12A8-4E31-8062-7D5BCCBAB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7D2405-3A74-4011-A349-9548796B9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8F98B1-4335-49A0-A5DC-F7821F48D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1721C-4555-47B9-A29D-0F448969C4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2D7DE53-B347-45DD-AFFA-3E8BE03250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F97C298-A28D-4A26-BDCA-B098B846E5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9775CF6-BCDA-455B-8823-96F499D329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6C5186-AD15-4D60-94C6-61F1173F2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9823F44-4193-4A09-BFAF-ED3CD7668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F9FE2D-754C-44B3-B95C-26D7D5C75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BD55E16-C4C4-4E3D-A0B4-2831B64AB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8325CBA-1C76-41B1-899E-BE2E85DBB7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41280AB-E4E6-40DF-AAAA-D319DDAE7A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B46744-49A1-4DBC-9FD7-6DAC1E5B0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8BE22B4-F4D3-45EC-8704-71421CA0A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07804CA-1F56-49BC-A4BE-414873B51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C616F8-21C9-44E4-AE61-31E60C006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3E4261-CE3E-4ACE-850C-97041401DE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EF0A03-62CA-44B8-B680-52B1168AC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6F306-817F-41C5-8A16-96C7343CE1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F4B232-2E06-41D6-B343-B9F3343442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5369E5-14C4-43E7-8C70-94F9D8946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D77C1B-88A0-480F-A3F3-2C46ED54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0DD105B-4990-483D-9F9F-A9235A346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207939-C386-457A-BB29-427E4DC69A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222363-8D26-4BF7-AEF5-9A8D193537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AD7074-23A8-4F9E-B387-FF125010E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74EEA3-8E26-4876-9CCC-AEB28DB19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1926D-3764-4E58-9CFE-1C39C0C59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EA9798-D720-420B-B587-FB2D341F8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280F96-07A9-471D-BB10-6FD8F834C8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65504D-A0FC-4E9E-8009-F569A5C98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1D87B-E274-4EF8-9A16-0DB1EAB63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4ED1D95-F8F3-4745-B8E4-98B6A31BF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93952F-F53B-42A5-B3B5-39F8406C7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05298D-E759-46A6-B3C3-B7B73450F0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DC9778-2E8A-4C7F-84B7-05E3D6E237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066A76-6749-4154-81E1-8128725557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62cd79811f54438" Type="http://schemas.openxmlformats.org/officeDocument/2006/relationships/slideLayout" Target="../slideLayouts/slideLayout10.xml"/><Relationship Id="R170b8970d5204efa" Type="http://schemas.openxmlformats.org/officeDocument/2006/relationships/slideLayout" Target="../slideLayouts/slideLayout9.xml"/><Relationship Id="R7099d2b2aa324873" Type="http://schemas.openxmlformats.org/officeDocument/2006/relationships/theme" Target="theme/theme2.xml"/><Relationship Id="R7be85162f4ec45ce" Type="http://schemas.openxmlformats.org/officeDocument/2006/relationships/slideLayout" Target="../slideLayouts/slideLayout8.xml"/><Relationship Id="R82b356f2f0c249f8" Type="http://schemas.openxmlformats.org/officeDocument/2006/relationships/slideLayout" Target="../slideLayouts/slideLayout4.xml"/><Relationship Id="R83d3169839ae4a0d" Type="http://schemas.openxmlformats.org/officeDocument/2006/relationships/slideLayout" Target="../slideLayouts/slideLayout7.xml"/><Relationship Id="Ra1c6ad5e34ce4900" Type="http://schemas.openxmlformats.org/officeDocument/2006/relationships/slideLayout" Target="../slideLayouts/slideLayout5.xml"/><Relationship Id="Rb613688b8cb2457e" Type="http://schemas.openxmlformats.org/officeDocument/2006/relationships/slideLayout" Target="../slideLayouts/slideLayout1.xml"/><Relationship Id="Rc5987082cc9f429b" Type="http://schemas.openxmlformats.org/officeDocument/2006/relationships/slideLayout" Target="../slideLayouts/slideLayout2.xml"/><Relationship Id="Re60a86bc3ab141e2" Type="http://schemas.openxmlformats.org/officeDocument/2006/relationships/slideLayout" Target="../slideLayouts/slideLayout3.xml"/><Relationship Id="Rf39fc677f541417c" Type="http://schemas.openxmlformats.org/officeDocument/2006/relationships/slideLayout" Target="../slideLayouts/slideLayout11.xml"/><Relationship Id="Rf7c405d8b6a04f8d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772F057-7340-4065-8845-BB8E9AD55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DE1F7C-60E1-400E-B38F-52BF24F21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15F1D9-83F8-4DB0-BD2B-BDD3E15813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5894D5-5CF7-4EDE-B022-CF2BDFF8D0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0839A-B350-41EB-9FE9-191EB435D5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3688b8cb2457e"/>
    <p:sldLayoutId xmlns:r="http://schemas.openxmlformats.org/officeDocument/2006/relationships" id="2147483650" r:id="Rc5987082cc9f429b"/>
    <p:sldLayoutId xmlns:r="http://schemas.openxmlformats.org/officeDocument/2006/relationships" id="2147483651" r:id="Re60a86bc3ab141e2"/>
    <p:sldLayoutId xmlns:r="http://schemas.openxmlformats.org/officeDocument/2006/relationships" id="2147483652" r:id="R82b356f2f0c249f8"/>
    <p:sldLayoutId xmlns:r="http://schemas.openxmlformats.org/officeDocument/2006/relationships" id="2147483653" r:id="Ra1c6ad5e34ce4900"/>
    <p:sldLayoutId xmlns:r="http://schemas.openxmlformats.org/officeDocument/2006/relationships" id="2147483654" r:id="Rf7c405d8b6a04f8d"/>
    <p:sldLayoutId xmlns:r="http://schemas.openxmlformats.org/officeDocument/2006/relationships" id="2147483655" r:id="R83d3169839ae4a0d"/>
    <p:sldLayoutId xmlns:r="http://schemas.openxmlformats.org/officeDocument/2006/relationships" id="2147483656" r:id="R7be85162f4ec45ce"/>
    <p:sldLayoutId xmlns:r="http://schemas.openxmlformats.org/officeDocument/2006/relationships" id="2147483657" r:id="R170b8970d5204efa"/>
    <p:sldLayoutId xmlns:r="http://schemas.openxmlformats.org/officeDocument/2006/relationships" id="2147483658" r:id="R162cd79811f54438"/>
    <p:sldLayoutId xmlns:r="http://schemas.openxmlformats.org/officeDocument/2006/relationships" id="2147483659" r:id="Rf39fc677f54141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j22az.github.io/sjoskolan/vecka-45/aktuell/Del_3.html" TargetMode="External"/><Relationship Id="rId3" Type="http://schemas.openxmlformats.org/officeDocument/2006/relationships/hyperlink" Target="https://nj22az.github.io/sjoskolan/tentamen.html" TargetMode="External"/><Relationship Id="rId4" Type="http://schemas.openxmlformats.org/officeDocument/2006/relationships/hyperlink" Target="https://nj22az.github.io/sjoskolan/praktiskt-prov.html" TargetMode="External"/><Relationship Id="rId5" Type="http://schemas.openxmlformats.org/officeDocument/2006/relationships/hyperlink" Target="https://openstax.org/books/university-physics-volume-2/pages/10-3-kirchhoffs-rules" TargetMode="External"/><Relationship Id="rId6" Type="http://schemas.openxmlformats.org/officeDocument/2006/relationships/hyperlink" Target="https://openstax.org/books/university-physics-volume-2/pages/15-2-simple-ac-circuits" TargetMode="External"/><Relationship Id="rId7" Type="http://schemas.openxmlformats.org/officeDocument/2006/relationships/hyperlink" Target="https://www.electrical-installation.org/enwiki/Installed_apparent_power_%28kVA%29" TargetMode="External"/><Relationship Id="rId8" Type="http://schemas.openxmlformats.org/officeDocument/2006/relationships/hyperlink" Target="https://elstandard.se/documents/preview/3246401" TargetMode="External"/><Relationship Id="rId9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mslag_v45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9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gradFill rotWithShape="1">
            <a:gsLst>
              <a:gs pos="0">
                <a:srgbClr val="001427">
                  <a:alpha val="70000"/>
                </a:srgbClr>
              </a:gs>
              <a:gs pos="45000">
                <a:srgbClr val="001427">
                  <a:alpha val="55000"/>
                </a:srgbClr>
              </a:gs>
              <a:gs pos="75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1645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Repetition inför tentamen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66928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Blandade uppgifter från hela kursen och så går tentamensveckan till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58521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Vecka 44 · Fredag 30 oktober · 09.00–11.00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585216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Del 5 av 5 · Elteknik och ellära</a:t>
            </a:r>
          </a:p>
        </p:txBody>
      </p:sp>
      <p:sp>
        <p:nvSpPr>
          <p:cNvPr id="8" name="Dag: Fredag 30 oktober"/>
          <p:cNvSpPr/>
          <p:nvPr/>
        </p:nvSpPr>
        <p:spPr>
          <a:xfrm>
            <a:off x="548640" y="411480"/>
            <a:ext cx="2944368" cy="438912"/>
          </a:xfrm>
          <a:prstGeom prst="roundRect">
            <a:avLst>
              <a:gd name="adj" fmla="val 18000"/>
            </a:avLst>
          </a:prstGeom>
          <a:solidFill>
            <a:srgbClr val="B51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Fredag 30 oktober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Kursplanen i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453896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17320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kan mäta spänning, ström och resistans i likström, växelström och trefas.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7128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30552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följer reglerna för säkert elarbete ombord när du mäter och bedömer risker.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43784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förstår vad dina mätvärden betyder och drar rätt slutsats.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94176"/>
            <a:ext cx="80467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Efter lektionen kan 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51376"/>
            <a:ext cx="8046720" cy="1746503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välja rätt samband och redovisa beräkningar tydligt.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motivera instrumentval, regelval och felsökningsbeslut.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säga hur tentamensveckan går till och vad du behöver repetera.</a:t>
            </a:r>
          </a:p>
        </p:txBody>
      </p:sp>
      <p:pic>
        <p:nvPicPr>
          <p:cNvPr id="12" name="Picture 11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Startfråga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Vilket område behöver du mest träna: kretsar, AC/trefas, säkerhet eller mätanalys?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4920"/>
            <a:ext cx="80467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064F91"/>
                </a:solidFill>
                <a:latin typeface="Calibri"/>
              </a:rPr>
              <a:t>Skriv ditt område i chatten.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Så går lektionen till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41732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Start och startfråga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84248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1: Likström, Kirchhoff, växelström och trefas (avsnitt 1–4) och ett exempel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51176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51176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3.1–3.5 tillsammans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18104"/>
            <a:ext cx="8046720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3118104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118104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85032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685032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2: Säkerhet, mätning och felsökning, redovisning och tentamensveckan (avsnitt 5–8) och ett exempel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Övningstentan: vi går igenom de uppgifter som flest behöver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18888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818888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Avslutsfråga, sammanfattning och det här gör du nu</a:t>
            </a:r>
          </a:p>
        </p:txBody>
      </p:sp>
      <p:pic>
        <p:nvPicPr>
          <p:cNvPr id="19" name="Picture 18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Storheten avgör formelvalet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Varje samband gäller under vissa villkor.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DC-ström beräknas med I = U/R när kretsen är ohmsk.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Energi kräver effekt och tid. Verkningsgrad kan behövas före energiberäkningen.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AC kräver kontroll av vågform och RMS. Trefas kräver tydliga linjevärden.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Mät- och säkerhetsfall behöver dokumenterade villkor, inte bara ett tal.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  ·  Del 5 · avsnitt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Likström och effekt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U = RI     P = UI     E = Pt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Skriv först vilken storhet som söks.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Använd ett samband som passar kretsens koppling.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Serie: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samma ström. </a:t>
            </a:r>
            <a:r>
              <a:rPr sz="2000" b="1" i="0">
                <a:solidFill>
                  <a:srgbClr val="111111"/>
                </a:solidFill>
                <a:latin typeface="Calibri"/>
              </a:rPr>
              <a:t>Parallell: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samma spänning.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Enheter och rimlighetskontroll ingår i redovisningen.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  ·  Del 5 · avsnitt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Kirchhoff och delare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ΣI = 0     ΣΔU = 0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Nodlagen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beskriver strömbalans. </a:t>
            </a:r>
            <a:r>
              <a:rPr sz="2000" b="1" i="0">
                <a:solidFill>
                  <a:srgbClr val="111111"/>
                </a:solidFill>
                <a:latin typeface="Calibri"/>
              </a:rPr>
              <a:t>Slinglagen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beskriver spänningsbalans.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ansluten last ändrar en spänningsdelare.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negativ ström är ett tecken på riktning relativt din pil. Det är inte automatiskt ett räknefel.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  ·  Del 5 · avsnitt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metodval i en delare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1">
                <a:solidFill>
                  <a:srgbClr val="4A4A4A"/>
                </a:solidFill>
                <a:latin typeface="Calibri"/>
              </a:rPr>
              <a:t>18 V matar 2 kΩ och 2 kΩ i serie. En last på 2 kΩ ansluts över den nedre resistorn.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069080" cy="3703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100" b="1" i="0">
                <a:solidFill>
                  <a:srgbClr val="064F91"/>
                </a:solidFill>
                <a:latin typeface="Calibri"/>
              </a:rPr>
              <a:t>U</a:t>
            </a:r>
            <a:r>
              <a:rPr sz="2100" b="1" i="0" baseline="-25000">
                <a:solidFill>
                  <a:srgbClr val="064F91"/>
                </a:solidFill>
                <a:latin typeface="Calibri"/>
              </a:rPr>
              <a:t>ut</a:t>
            </a:r>
            <a:r>
              <a:rPr sz="2100" b="1" i="0">
                <a:solidFill>
                  <a:srgbClr val="064F91"/>
                </a:solidFill>
                <a:latin typeface="Calibri"/>
              </a:rPr>
              <a:t> = U</a:t>
            </a:r>
            <a:r>
              <a:rPr sz="2100" b="1" i="0" baseline="-25000">
                <a:solidFill>
                  <a:srgbClr val="064F91"/>
                </a:solidFill>
                <a:latin typeface="Calibri"/>
              </a:rPr>
              <a:t>in</a:t>
            </a:r>
            <a:r>
              <a:rPr sz="2100" b="1" i="0">
                <a:solidFill>
                  <a:srgbClr val="064F91"/>
                </a:solidFill>
                <a:latin typeface="Calibri"/>
              </a:rPr>
              <a:t> · R</a:t>
            </a:r>
            <a:r>
              <a:rPr sz="2100" b="1" i="0" baseline="-25000">
                <a:solidFill>
                  <a:srgbClr val="064F91"/>
                </a:solidFill>
                <a:latin typeface="Calibri"/>
              </a:rPr>
              <a:t>p</a:t>
            </a:r>
            <a:r>
              <a:rPr sz="2100" b="1" i="0">
                <a:solidFill>
                  <a:srgbClr val="064F91"/>
                </a:solidFill>
                <a:latin typeface="Calibri"/>
              </a:rPr>
              <a:t>/(R</a:t>
            </a:r>
            <a:r>
              <a:rPr sz="2100" b="1" i="0" baseline="-25000">
                <a:solidFill>
                  <a:srgbClr val="064F91"/>
                </a:solidFill>
                <a:latin typeface="Calibri"/>
              </a:rPr>
              <a:t>1</a:t>
            </a:r>
            <a:r>
              <a:rPr sz="2100" b="1" i="0">
                <a:solidFill>
                  <a:srgbClr val="064F91"/>
                </a:solidFill>
                <a:latin typeface="Calibri"/>
              </a:rPr>
              <a:t> + R</a:t>
            </a:r>
            <a:r>
              <a:rPr sz="2100" b="1" i="0" baseline="-25000">
                <a:solidFill>
                  <a:srgbClr val="064F91"/>
                </a:solidFill>
                <a:latin typeface="Calibri"/>
              </a:rPr>
              <a:t>p</a:t>
            </a:r>
            <a:r>
              <a:rPr sz="2100" b="1" i="0">
                <a:solidFill>
                  <a:srgbClr val="064F91"/>
                </a:solidFill>
                <a:latin typeface="Calibri"/>
              </a:rPr>
              <a:t>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1. R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p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= R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2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· R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last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/(R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2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+ R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last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) = 2 · 2/(2 + 2) = 1 kΩ.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2. U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ut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= 18 · 1/(2 + 1) = 6 V.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3. I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tot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= 18/(2 + 1) = 6 mA. Varje nedre gren får 3 mA.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Kontroll: 3 + 3 = 6 mA, och fallet över den övre resistorn är 12 V. 12 + 6 = 18 V.</a:t>
            </a:r>
          </a:p>
        </p:txBody>
      </p:sp>
      <p:pic>
        <p:nvPicPr>
          <p:cNvPr id="6" name="Figur: Spänningsdelare: 18 V matar 2 kilohm och 2 kilohm i serie. En last på 2 kilohm ligger parallellt med den nedre resistorn. Utspänningen är 6 V." descr="Spänningsdelare: 18 V matar 2 kilohm och 2 kilohm i serie. En last på 2 kilohm ligger parallellt med den nedre resistorn. Utspänningen är 6 V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77815"/>
            <a:ext cx="3794760" cy="2645368"/>
          </a:xfrm>
          <a:prstGeom prst="rect">
            <a:avLst/>
          </a:prstGeom>
        </p:spPr>
      </p:pic>
      <p:pic>
        <p:nvPicPr>
          <p:cNvPr id="7" name="Picture 6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  ·  Del 5 · exempel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AC och trefas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|Z| = √(R² + X²)     P = √3 · U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L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 · I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L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 · PF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RMS, toppvärde och medelvärde beskriver olika saker.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Trefasformeln med √3 förutsätter de angivna symmetrivillkoren.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Skriv om spänningen är linje-, fas- eller grenspänning.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Skilj aktiv effekt från skenbar effekt.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  ·  Del 5 · avsnitt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5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Energi och verkningsgrad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Strömlagen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10712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410712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10712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Spänningsdelare med last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8046720" cy="1673351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Fyra minuter per övning. Skriv ditt svar i chatten. Ledtrådar och facit finns på delsidan.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nj22az.github.io/sjoskolan/vecka-45/aktuell/Del_3.html</a:t>
            </a:r>
          </a:p>
        </p:txBody>
      </p:sp>
      <p:pic>
        <p:nvPicPr>
          <p:cNvPr id="15" name="Picture 1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  ·  Del 5 · 4 Övningar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5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Sinus och period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RL och effektfaktor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47872"/>
            <a:ext cx="8046720" cy="23500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Fyra minuter per övning. Skriv ditt svar i chatten. Övning 3.6–3.10 gör du själv efter lektionen.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nj22az.github.io/sjoskolan/vecka-45/aktuell/Del_3.html</a:t>
            </a:r>
          </a:p>
        </p:txBody>
      </p:sp>
      <p:pic>
        <p:nvPicPr>
          <p:cNvPr id="12" name="Picture 11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  ·  Del 5 · 4 Övningar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60520" y="2011680"/>
            <a:ext cx="822960" cy="73152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731520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4800" b="1" i="0">
                <a:solidFill>
                  <a:srgbClr val="111111"/>
                </a:solidFill>
                <a:latin typeface="Calibri"/>
              </a:rPr>
              <a:t>Paus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4A4A4A"/>
                </a:solidFill>
                <a:latin typeface="Calibri"/>
              </a:rPr>
              <a:t>Vi fortsätter 10.00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Säkerhet och regelval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Riskbedömning ska leda till verifierbara åtgärder.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Utgå från arbetsmoment, system och energikällor.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Kontrollera vilket regelverk som gäller i det angivna fallet.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Skydd, kompetens och tydlig ansvarsfördelning hänger ihop.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Ett allmänt standardnamn räcker inte som motivering.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  ·  Del 5 · avsnitt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Mätning och felsökning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Observation skiljs från hypotes och slutsats.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Välj mätpunkt och driftläge för att pröva en hypotes.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Bedöm resultatet med instrumentdata och kretsens funktion.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Ett högt spänningsfall kan lokalisera förhöjd resistans.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Skriv vad mätningen visar och vad som återstår.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  ·  Del 5 · avsnitt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mätning efter åtgärd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900" b="0" i="1">
                <a:solidFill>
                  <a:srgbClr val="4A4A4A"/>
                </a:solidFill>
                <a:latin typeface="Calibri"/>
              </a:rPr>
              <a:t>Källan håller 12 V. Vid 3 A får lasten 10,5 V före och 11,85 V efter åtgärd (strömmen antas oförändrad).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R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slinga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 = (U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källa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 − U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last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)/I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Före: R</a:t>
            </a:r>
            <a:r>
              <a:rPr sz="2000" b="0" i="0" baseline="-25000">
                <a:solidFill>
                  <a:srgbClr val="111111"/>
                </a:solidFill>
                <a:latin typeface="Calibri"/>
              </a:rPr>
              <a:t>slinga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= (12 − 10,5)/3 = 0,50 Ω.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Efter: R</a:t>
            </a:r>
            <a:r>
              <a:rPr sz="2000" b="0" i="0" baseline="-25000">
                <a:solidFill>
                  <a:srgbClr val="111111"/>
                </a:solidFill>
                <a:latin typeface="Calibri"/>
              </a:rPr>
              <a:t>slinga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= (12 − 11,85)/3 = 0,05 Ω.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Samma ström och mätpunkter visar tydligt minskad resistans.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Funktionsdata stödjer förbättringen. Föreskrivna anslutnings- och säkerhetskontroller ska också dokumenteras.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  ·  Del 5 · exempel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Redovisning inför examination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En bra lösning visar samband, insättning, enhet och tolkning.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Öppna fall kräver motiverade beslut med tydliga antaganden.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Den här delen är repetition. Den ordinarie tentamen är i vecka 45.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De praktiska lärandemålen bedöms i det praktiska provet.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  ·  Del 5 · avsnitt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Så går tentamensveckan till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Skriftlig tentamen online och praktiskt prov i simulatorerna.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Måndag 2 november 09.00–11.00, online: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frågestund och instruktion till det praktiska provet. Boka tid för den muntliga avstämningen.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Måndag–onsdag: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gör de tre stationerna med protokoll och en riskbedömning. Skicka dem senast onsdag 4 november kl. 20.00.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Torsdag eller fredag: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muntlig avstämning online i 15 minuter.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Skriftlig tentamen: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dag, tid, länk och tillåtna hjälpmedel meddelas av läraren. Räkna med räknare och formelsamlingen.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  ·  Del 5 · avsnitt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tillsammans: övningstentan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Öppna sidan Tentamen och gå till Övningstenta. Där finns tolv uppgifter från hela kursen.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Skriv i chatten numren på de uppgifter du vill gå igenom.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Vi går igenom metoden. Räkna först själv. Rätta sedan med ”Facit med lösningsgång” (PDF) i samma avsnitt.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nj22az.github.io/sjoskolan/tentamen.html#ovningstenta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Avslutsfråga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Vilket metodval kan du nu förklara bättre än vid lektionens start?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04672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Repetera de uppgifter där metoden var osäker. Kontrollera lärarens besked om tentamensdatum, hjälpmedel och eventuella kompletteringar.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Sammanfattning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Storheten och kretsen avgör sambandet. Redovisa samband, insättning, enhet och tolkning.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Säkerhet: utgå från arbetsmoment, energikällor och regelverk. Felsökning: skilj observation, hypotes och slutsats.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Tentamensveckan: skriftlig tentamen online, tre stationer i simulatorerna och en muntlig avstämning på 15 minuter.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Det här gör du nu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Läs del 5: teorin och de två exemplen. Tryck på ”Jag har läst del 5” längst ned på sidan.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Gör övning 3.6–3.10 på delsidan för del 5. Ledtrådar och facit finns där.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Rätta övningstentan och gör om övningarna i de veckor där du hade fel.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4. Nästa vecka: tentamensveckan. Måndag 2 november 09.00: frågestund och instruktion till det praktiska provet.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Inlämningen, uppgift 1–4, senast i dag, fredag 30 oktober. Allt finns på veckosidan.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Källor och fortsatt läsning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2"/>
              </a:rPr>
              <a:t>Sjöskolan: vecka 44, del 5 Repetition inför tentamen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3"/>
              </a:rPr>
              <a:t>Sjöskolan: Tentamen och övningstenta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4"/>
              </a:rPr>
              <a:t>Sjöskolan: Praktiskt prov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Calibri"/>
              </a:rPr>
              <a:t>Kursplanen för Elteknik och ellära (studieplanen YH03151, 18 september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5"/>
              </a:rPr>
              <a:t>OpenStax: Kirchhoffs lagar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6"/>
              </a:rPr>
              <a:t>OpenStax: enkla växelströmskretsar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7"/>
              </a:rPr>
              <a:t>Schneider Electric: skenbar effekt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8"/>
              </a:rPr>
              <a:t>SS-EN 50110-1 utgåva 4:2024, Skötsel av elektriska anläggningar (SEK Svensk Elstandard)</a:t>
            </a:r>
          </a:p>
        </p:txBody>
      </p:sp>
      <p:pic>
        <p:nvPicPr>
          <p:cNvPr id="12" name="Picture 11" descr="sidfo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Fredag · Repetition inför tentamen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2026-09-20T20:09:37.2430000Z</dcterms:created>
  <dcterms:modified xsi:type="dcterms:W3CDTF">2026-09-20T20:09:37.2430000Z</dcterms:modified>
</coreProperties>
</file>