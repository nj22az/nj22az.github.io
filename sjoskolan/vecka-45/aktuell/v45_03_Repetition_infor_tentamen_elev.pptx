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22f3000ec0ee494d" Type="http://schemas.openxmlformats.org/package/2006/relationships/metadata/core-properties" Target="docProps/core.xml"/><Relationship Id="R983d5739df4e447b" Type="http://schemas.openxmlformats.org/officeDocument/2006/relationships/officeDocument" Target="ppt/presentation.xml"/><Relationship Id="R9b3bdc70e8e34fd4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926e72af265141b0"/>
  </p:sldMasterIdLst>
  <p:sldIdLst>
    <p:sldId id="256" r:id="R771bf28afbf64d39"/>
    <p:sldId id="257" r:id="R42ceae770ad042bf"/>
    <p:sldId id="258" r:id="Ra71e5dda4246463c"/>
    <p:sldId id="259" r:id="R3c2e868473354b91"/>
    <p:sldId id="260" r:id="R130e129580c44d3f"/>
    <p:sldId id="261" r:id="R91741fe6680641aa"/>
    <p:sldId id="262" r:id="R5cae271648f9487b"/>
    <p:sldId id="263" r:id="R66d3b3f1a05b4a7f"/>
    <p:sldId id="264" r:id="Rb541744c414b4ef0"/>
    <p:sldId id="265" r:id="R5c0052f330494f22"/>
    <p:sldId id="266" r:id="Rd015c56785b34e1f"/>
    <p:sldId id="267" r:id="R3a1ee60804014b4d"/>
    <p:sldId id="268" r:id="Re5682e6b866a4ef9"/>
    <p:sldId id="269" r:id="R4bb7980f06604bcb"/>
    <p:sldId id="270" r:id="Rb88da2c58cd546e6"/>
    <p:sldId id="271" r:id="R3ba3d54df08643fe"/>
    <p:sldId id="272" r:id="R57079c24e82848d9"/>
    <p:sldId id="273" r:id="R26ca585df6684019"/>
    <p:sldId id="274" r:id="Rf66819816b0a4ce6"/>
    <p:sldId id="275" r:id="Rad7e7ec03ab44e99"/>
    <p:sldId id="276" r:id="Re0320ed016104b7d"/>
    <p:sldId id="277" r:id="R4e8caabf9ca24b39"/>
    <p:sldId id="278" r:id="Re25657e4c17d40ae"/>
    <p:sldId id="279" r:id="Rf9e17b69b3954641"/>
    <p:sldId id="280" r:id="R2bec75c395b04008"/>
    <p:sldId id="281" r:id="R4e0adc69b3454193"/>
    <p:sldId id="282" r:id="Rd9ee9ec3001549a5"/>
    <p:sldId id="283" r:id="R8bffcda1e50b4bcc"/>
    <p:sldId id="284" r:id="Rdff3b85ae7034305"/>
    <p:sldId id="285" r:id="Raa1537db77f5421a"/>
    <p:sldId id="286" r:id="R26e92ab67e3c4a3f"/>
    <p:sldId id="287" r:id="R3d5ea8a966f34289"/>
    <p:sldId id="288" r:id="Rb8713b3887fe4f60"/>
    <p:sldId id="289" r:id="Rce8656b1439f4bd5"/>
    <p:sldId id="290" r:id="R3c588bf550204384"/>
    <p:sldId id="291" r:id="R34e17d32b14f45f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3ed23510b714646" Type="http://schemas.openxmlformats.org/officeDocument/2006/relationships/tableStyles" Target="tableStyles.xml"/><Relationship Id="R130e129580c44d3f" Type="http://schemas.openxmlformats.org/officeDocument/2006/relationships/slide" Target="slides/slide5.xml"/><Relationship Id="R26ca585df6684019" Type="http://schemas.openxmlformats.org/officeDocument/2006/relationships/slide" Target="slides/slide18.xml"/><Relationship Id="R26e92ab67e3c4a3f" Type="http://schemas.openxmlformats.org/officeDocument/2006/relationships/slide" Target="slides/slide31.xml"/><Relationship Id="R2bec75c395b04008" Type="http://schemas.openxmlformats.org/officeDocument/2006/relationships/slide" Target="slides/slide25.xml"/><Relationship Id="R34e17d32b14f45ff" Type="http://schemas.openxmlformats.org/officeDocument/2006/relationships/slide" Target="slides/slide36.xml"/><Relationship Id="R3a1ee60804014b4d" Type="http://schemas.openxmlformats.org/officeDocument/2006/relationships/slide" Target="slides/slide12.xml"/><Relationship Id="R3ba3d54df08643fe" Type="http://schemas.openxmlformats.org/officeDocument/2006/relationships/slide" Target="slides/slide16.xml"/><Relationship Id="R3c2e868473354b91" Type="http://schemas.openxmlformats.org/officeDocument/2006/relationships/slide" Target="slides/slide4.xml"/><Relationship Id="R3c588bf550204384" Type="http://schemas.openxmlformats.org/officeDocument/2006/relationships/slide" Target="slides/slide35.xml"/><Relationship Id="R3d5ea8a966f34289" Type="http://schemas.openxmlformats.org/officeDocument/2006/relationships/slide" Target="slides/slide32.xml"/><Relationship Id="R42ceae770ad042bf" Type="http://schemas.openxmlformats.org/officeDocument/2006/relationships/slide" Target="slides/slide2.xml"/><Relationship Id="R4bb7980f06604bcb" Type="http://schemas.openxmlformats.org/officeDocument/2006/relationships/slide" Target="slides/slide14.xml"/><Relationship Id="R4e0adc69b3454193" Type="http://schemas.openxmlformats.org/officeDocument/2006/relationships/slide" Target="slides/slide26.xml"/><Relationship Id="R4e8caabf9ca24b39" Type="http://schemas.openxmlformats.org/officeDocument/2006/relationships/slide" Target="slides/slide22.xml"/><Relationship Id="R57079c24e82848d9" Type="http://schemas.openxmlformats.org/officeDocument/2006/relationships/slide" Target="slides/slide17.xml"/><Relationship Id="R5c0052f330494f22" Type="http://schemas.openxmlformats.org/officeDocument/2006/relationships/slide" Target="slides/slide10.xml"/><Relationship Id="R5cae271648f9487b" Type="http://schemas.openxmlformats.org/officeDocument/2006/relationships/slide" Target="slides/slide7.xml"/><Relationship Id="R66d3b3f1a05b4a7f" Type="http://schemas.openxmlformats.org/officeDocument/2006/relationships/slide" Target="slides/slide8.xml"/><Relationship Id="R771bf28afbf64d39" Type="http://schemas.openxmlformats.org/officeDocument/2006/relationships/slide" Target="slides/slide1.xml"/><Relationship Id="R8bffcda1e50b4bcc" Type="http://schemas.openxmlformats.org/officeDocument/2006/relationships/slide" Target="slides/slide28.xml"/><Relationship Id="R91741fe6680641aa" Type="http://schemas.openxmlformats.org/officeDocument/2006/relationships/slide" Target="slides/slide6.xml"/><Relationship Id="R926e72af265141b0" Type="http://schemas.openxmlformats.org/officeDocument/2006/relationships/slideMaster" Target="slideMasters/slideMaster1.xml"/><Relationship Id="R94d3ad5f532f45f6" Type="http://schemas.openxmlformats.org/officeDocument/2006/relationships/theme" Target="theme/theme1.xml"/><Relationship Id="R9730a4ecff4c4a6f" Type="http://schemas.openxmlformats.org/officeDocument/2006/relationships/viewProps" Target="viewProps.xml"/><Relationship Id="Ra71e5dda4246463c" Type="http://schemas.openxmlformats.org/officeDocument/2006/relationships/slide" Target="slides/slide3.xml"/><Relationship Id="Raa1537db77f5421a" Type="http://schemas.openxmlformats.org/officeDocument/2006/relationships/slide" Target="slides/slide30.xml"/><Relationship Id="Rad7e7ec03ab44e99" Type="http://schemas.openxmlformats.org/officeDocument/2006/relationships/slide" Target="slides/slide20.xml"/><Relationship Id="Rb541744c414b4ef0" Type="http://schemas.openxmlformats.org/officeDocument/2006/relationships/slide" Target="slides/slide9.xml"/><Relationship Id="Rb8713b3887fe4f60" Type="http://schemas.openxmlformats.org/officeDocument/2006/relationships/slide" Target="slides/slide33.xml"/><Relationship Id="Rb88da2c58cd546e6" Type="http://schemas.openxmlformats.org/officeDocument/2006/relationships/slide" Target="slides/slide15.xml"/><Relationship Id="Rce8656b1439f4bd5" Type="http://schemas.openxmlformats.org/officeDocument/2006/relationships/slide" Target="slides/slide34.xml"/><Relationship Id="Rd015c56785b34e1f" Type="http://schemas.openxmlformats.org/officeDocument/2006/relationships/slide" Target="slides/slide11.xml"/><Relationship Id="Rd9ee9ec3001549a5" Type="http://schemas.openxmlformats.org/officeDocument/2006/relationships/slide" Target="slides/slide27.xml"/><Relationship Id="Rdb0694a6141242e8" Type="http://schemas.openxmlformats.org/officeDocument/2006/relationships/presProps" Target="presProps.xml"/><Relationship Id="Rdff3b85ae7034305" Type="http://schemas.openxmlformats.org/officeDocument/2006/relationships/slide" Target="slides/slide29.xml"/><Relationship Id="Re0320ed016104b7d" Type="http://schemas.openxmlformats.org/officeDocument/2006/relationships/slide" Target="slides/slide21.xml"/><Relationship Id="Re25657e4c17d40ae" Type="http://schemas.openxmlformats.org/officeDocument/2006/relationships/slide" Target="slides/slide23.xml"/><Relationship Id="Re5682e6b866a4ef9" Type="http://schemas.openxmlformats.org/officeDocument/2006/relationships/slide" Target="slides/slide13.xml"/><Relationship Id="Rf66819816b0a4ce6" Type="http://schemas.openxmlformats.org/officeDocument/2006/relationships/slide" Target="slides/slide19.xml"/><Relationship Id="Rf9e17b69b3954641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beeb96b9d21e4076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16f05b2d5e5426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3a58caa698514c8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a218b5c359dd47aa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adf60d4aa69143c8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4f7e8a5cedd473c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485993e8b9c941a6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9a86e1a8bb624d9f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33e677dc7fae47c9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6861c26a73d4f46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1158e5c9d5c4a42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D8B64AD-9AF6-4649-BCA3-CA2DFD24719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ABE30B5F-65EF-4791-9545-F995448A8FA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6201A7F-AE0D-4948-8467-E0CFE1B4C6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B1D82E-AF14-4A74-8CB5-BBDD6A540B5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8F1AF76-1C62-4535-A8FD-D6E0AD0C61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953AF6A-2F8B-4E0F-91ED-8ABB1E57CF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B112080-0BD7-45D6-BB64-EBD9794C0B4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7FB3998-1CC3-463B-9818-BAF9A386D9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AC8E2E1-512E-493E-8B8A-2A29CAC4F0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0A491AA-6B55-4970-9C05-4330D751F0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5C60BE-88D2-4E44-A217-E624F2A1DD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5F32C21-B25D-47BE-83EE-84B766D51C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A6B752-7A54-4EB1-9E86-EEE23C15D8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9C9CC1F-7A53-4861-8A7E-123CB6FC08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216391-2303-436E-9AC9-B3A2F30B34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71AC1F-17BA-4FBC-86E5-1981057B77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AB945D8-FF5B-4D2F-821A-413EF345E24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2B8F943-8987-483A-8C8D-47A458E7E13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F198311-F516-4B15-A215-B2EEEA29D9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9D38C21-1100-46C4-BB90-5A381F2FE3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5E1CA3C-F37A-436B-B8ED-8E78ADAC60A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E8D86F6-9060-44EF-AF88-2FD74BFD65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FADD108-4C91-4486-AE7B-1E20010FB4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DBF02F3-A4BB-472D-AA31-14D7FADA85A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9E36EED9-24D1-4227-A850-1B6FBFEE28B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DB2674C-D8FE-4821-B929-2DFC44A88ED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E59D4C5-E9EF-4A12-92D1-8DAAEF24F8A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B90EB1A-77C8-4C4F-B120-C8A1849D69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396D11A-4B8F-4FDF-BF64-0FE0434A09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420776-2167-47CF-9F80-8D3990EBB5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92D4AD24-7907-437D-B2EB-62AF02FED0E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62112982-52DF-4F14-8CE6-6B79686C8A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164414F-B71B-4A64-8F17-00D79E0557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AE18BE10-5492-4000-AD1A-C6FEEA38F5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FE1E9D9-DA0F-4065-926C-EB6F2824150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36F56DB-E09C-4F6D-A8CD-65EE0B6928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7B18ADC-6298-4B89-9741-69C812E7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4AE1103-DDCA-40D0-A5C3-1C7D46FB634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72DAD34-87BD-4235-AFD1-23B6311A21D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C65BC53-77D6-430E-B091-9FF98EC670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C514288-8B83-406E-A061-695F39D028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5F089DE-2250-442E-AB4F-CE576F42DD7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4D79CB-99D3-41E6-A131-F5EA8F94AB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B38281A-34F2-4CAF-9744-7C94CB21C2D4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39B4402-D2E2-4042-A6B8-CCD2A0F3FED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127478C-038F-47F5-996D-BDEFD7EFF2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D7142B2-1C4B-456E-90B7-D0968B1DB2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EB8CE9C-E220-40DD-BA6E-8DECBC968F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B46609E-6F4B-46FE-8015-A6A7458294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DE10353-8CED-4EB7-89D2-5E4CAC1AC8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7EA8508-BE5D-42C2-B767-49A15607BC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4F56248-4564-4E13-9576-99AD175B55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04A2267-07C1-4349-A2AC-B6AE879E0C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05F086C-3654-452C-B298-D888B75112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5F0B0A1-A66B-4B50-AC83-F1F20B6883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3E2B1F5-09AA-4A68-8C11-6B8EE03E89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7FB1F7-F43C-40B8-82D2-57D1ABA49C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3740C7-AEB1-413A-9414-F30E878699D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d0a60f3ebaf4d94" Type="http://schemas.openxmlformats.org/officeDocument/2006/relationships/slideLayout" Target="../slideLayouts/slideLayout5.xml"/><Relationship Id="R0e7be69ffbfc490b" Type="http://schemas.openxmlformats.org/officeDocument/2006/relationships/slideLayout" Target="../slideLayouts/slideLayout2.xml"/><Relationship Id="R16c975aff6e44e97" Type="http://schemas.openxmlformats.org/officeDocument/2006/relationships/slideLayout" Target="../slideLayouts/slideLayout7.xml"/><Relationship Id="R4504da192f244432" Type="http://schemas.openxmlformats.org/officeDocument/2006/relationships/slideLayout" Target="../slideLayouts/slideLayout11.xml"/><Relationship Id="R53cddbf4ef1e4031" Type="http://schemas.openxmlformats.org/officeDocument/2006/relationships/theme" Target="theme/theme2.xml"/><Relationship Id="R5c9dec4acbfd43a6" Type="http://schemas.openxmlformats.org/officeDocument/2006/relationships/slideLayout" Target="../slideLayouts/slideLayout9.xml"/><Relationship Id="R6162764312394de8" Type="http://schemas.openxmlformats.org/officeDocument/2006/relationships/slideLayout" Target="../slideLayouts/slideLayout4.xml"/><Relationship Id="R651776c873d449ec" Type="http://schemas.openxmlformats.org/officeDocument/2006/relationships/slideLayout" Target="../slideLayouts/slideLayout6.xml"/><Relationship Id="R9d69e7f517fe4840" Type="http://schemas.openxmlformats.org/officeDocument/2006/relationships/slideLayout" Target="../slideLayouts/slideLayout1.xml"/><Relationship Id="Raad75fe289ea4928" Type="http://schemas.openxmlformats.org/officeDocument/2006/relationships/slideLayout" Target="../slideLayouts/slideLayout10.xml"/><Relationship Id="Rc180e36dd44d4cf6" Type="http://schemas.openxmlformats.org/officeDocument/2006/relationships/slideLayout" Target="../slideLayouts/slideLayout8.xml"/><Relationship Id="Rff1d9700fec14a1b" Type="http://schemas.openxmlformats.org/officeDocument/2006/relationships/slideLayout" Target="../slideLayouts/slideLayout3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2037B9C-4793-4B5E-9299-7C90079848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0742EA7-DACA-4C54-ADA7-8978BEC6D50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3E63F74-FA20-470C-B449-E37CF24754E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C721345-D066-4B35-BAAA-873DF17B094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25ABF5A-7007-41F8-B1B2-7AF24BAD838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d69e7f517fe4840"/>
    <p:sldLayoutId xmlns:r="http://schemas.openxmlformats.org/officeDocument/2006/relationships" id="2147483650" r:id="R0e7be69ffbfc490b"/>
    <p:sldLayoutId xmlns:r="http://schemas.openxmlformats.org/officeDocument/2006/relationships" id="2147483651" r:id="Rff1d9700fec14a1b"/>
    <p:sldLayoutId xmlns:r="http://schemas.openxmlformats.org/officeDocument/2006/relationships" id="2147483652" r:id="R6162764312394de8"/>
    <p:sldLayoutId xmlns:r="http://schemas.openxmlformats.org/officeDocument/2006/relationships" id="2147483653" r:id="R0d0a60f3ebaf4d94"/>
    <p:sldLayoutId xmlns:r="http://schemas.openxmlformats.org/officeDocument/2006/relationships" id="2147483654" r:id="R651776c873d449ec"/>
    <p:sldLayoutId xmlns:r="http://schemas.openxmlformats.org/officeDocument/2006/relationships" id="2147483655" r:id="R16c975aff6e44e97"/>
    <p:sldLayoutId xmlns:r="http://schemas.openxmlformats.org/officeDocument/2006/relationships" id="2147483656" r:id="Rc180e36dd44d4cf6"/>
    <p:sldLayoutId xmlns:r="http://schemas.openxmlformats.org/officeDocument/2006/relationships" id="2147483657" r:id="R5c9dec4acbfd43a6"/>
    <p:sldLayoutId xmlns:r="http://schemas.openxmlformats.org/officeDocument/2006/relationships" id="2147483658" r:id="Raad75fe289ea4928"/>
    <p:sldLayoutId xmlns:r="http://schemas.openxmlformats.org/officeDocument/2006/relationships" id="2147483659" r:id="R4504da192f244432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3ac4fac7ed8e4c9a" Type="http://schemas.openxmlformats.org/officeDocument/2006/relationships/image" Target="../media/image.png"/><Relationship Id="R438ad7c595544834" Type="http://schemas.openxmlformats.org/officeDocument/2006/relationships/image" Target="../media/image.jpeg"/><Relationship Id="Rcb532015d8c3482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30521027d8bc4a2d" Type="http://schemas.openxmlformats.org/officeDocument/2006/relationships/image" Target="../media/image.jpeg"/><Relationship Id="R65a9ecb87d3843e4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302e6a5cc745429f" Type="http://schemas.openxmlformats.org/officeDocument/2006/relationships/image" Target="../media/image.jpeg"/><Relationship Id="Rcb5bf22c8ebb4d16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155d605b6a174ab6" Type="http://schemas.openxmlformats.org/officeDocument/2006/relationships/slideLayout" Target="../slideLayouts/slideLayout1.xml"/><Relationship Id="R7db4bc2af5354e2d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1db9574eec734c15" Type="http://schemas.openxmlformats.org/officeDocument/2006/relationships/image" Target="../media/image.jpeg"/><Relationship Id="R92640be7d3af437f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553a2573af224cd3" Type="http://schemas.openxmlformats.org/officeDocument/2006/relationships/image" Target="../media/image.jpeg"/><Relationship Id="R67236fbdfb904a09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0e59a55a0a474a57" Type="http://schemas.openxmlformats.org/officeDocument/2006/relationships/image" Target="../media/image.jpeg"/><Relationship Id="Rdcc22c3ec14b4b9e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1fb94e5ab41a472a" Type="http://schemas.openxmlformats.org/officeDocument/2006/relationships/image" Target="../media/image.jpeg"/><Relationship Id="R7be78597d329436f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f45a3b8291114106" Type="http://schemas.openxmlformats.org/officeDocument/2006/relationships/image" Target="../media/image.jpeg"/><Relationship Id="Rf9ad233cff5b461e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6567d9e37f494be3" Type="http://schemas.openxmlformats.org/officeDocument/2006/relationships/slideLayout" Target="../slideLayouts/slideLayout1.xml"/><Relationship Id="Rbabfd0b622174701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0d4095b595c041f4" Type="http://schemas.openxmlformats.org/officeDocument/2006/relationships/slideLayout" Target="../slideLayouts/slideLayout1.xml"/><Relationship Id="R764ef6b5bd354ba2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b912756993d04a5c" Type="http://schemas.openxmlformats.org/officeDocument/2006/relationships/slideLayout" Target="../slideLayouts/slideLayout1.xml"/><Relationship Id="Rc25f033991c54410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3a622df88a7149c7" Type="http://schemas.openxmlformats.org/officeDocument/2006/relationships/slideLayout" Target="../slideLayouts/slideLayout1.xml"/><Relationship Id="Rffc15882d3e0409a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112ac76dd8d64789" Type="http://schemas.openxmlformats.org/officeDocument/2006/relationships/image" Target="../media/image.jpeg"/><Relationship Id="R1eaa529f834f4bd6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e29e328f125e477f" Type="http://schemas.openxmlformats.org/officeDocument/2006/relationships/image" Target="../media/image.jpeg"/><Relationship Id="Re4e3bfbb6cd64233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5f44af9aebbc4dc9" Type="http://schemas.openxmlformats.org/officeDocument/2006/relationships/image" Target="../media/image.jpeg"/><Relationship Id="R6a929506d7964708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43c2f9a887dd48c6" Type="http://schemas.openxmlformats.org/officeDocument/2006/relationships/image" Target="../media/image.jpeg"/><Relationship Id="Rb6608285a20f472b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0f107b6f9ccc4e6e" Type="http://schemas.openxmlformats.org/officeDocument/2006/relationships/slideLayout" Target="../slideLayouts/slideLayout1.xml"/><Relationship Id="R6c8f03ca6e7949e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a02d05bfda2144b2" Type="http://schemas.openxmlformats.org/officeDocument/2006/relationships/image" Target="../media/image.jpeg"/><Relationship Id="Rcb894069363a44c6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22bce441d52340dd" Type="http://schemas.openxmlformats.org/officeDocument/2006/relationships/slideLayout" Target="../slideLayouts/slideLayout1.xml"/><Relationship Id="R87eeb8d490654f61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5ebe9c34251d4474" Type="http://schemas.openxmlformats.org/officeDocument/2006/relationships/slideLayout" Target="../slideLayouts/slideLayout1.xml"/><Relationship Id="Rc3fb4c5e814d4b6d" Type="http://schemas.openxmlformats.org/officeDocument/2006/relationships/image" Target="../media/image.jpeg"/></Relationships>
</file>

<file path=ppt/slides/_rels/slide22.xml.rels><?xml version='1.0' encoding='UTF-8' standalone='yes'?>
<Relationships xmlns="http://schemas.openxmlformats.org/package/2006/relationships"><Relationship Id="R3224f6af97604d85" Type="http://schemas.openxmlformats.org/officeDocument/2006/relationships/slideLayout" Target="../slideLayouts/slideLayout1.xml"/><Relationship Id="R757367235fd44c3e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139a890c4c5947f2" Type="http://schemas.openxmlformats.org/officeDocument/2006/relationships/slideLayout" Target="../slideLayouts/slideLayout1.xml"/><Relationship Id="R326a819f2f37418c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1bb763490b764887" Type="http://schemas.openxmlformats.org/officeDocument/2006/relationships/image" Target="../media/image.jpeg"/><Relationship Id="R58cb5d91ec294652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674e4f749cc34eca" Type="http://schemas.openxmlformats.org/officeDocument/2006/relationships/slideLayout" Target="../slideLayouts/slideLayout1.xml"/><Relationship Id="Reac685a7cb2d411a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3f0643adc3484927" Type="http://schemas.openxmlformats.org/officeDocument/2006/relationships/slideLayout" Target="../slideLayouts/slideLayout1.xml"/><Relationship Id="R58dc747000a74702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00fa53bef98f4199" Type="http://schemas.openxmlformats.org/officeDocument/2006/relationships/slideLayout" Target="../slideLayouts/slideLayout1.xml"/><Relationship Id="R9cfa0714428e4fa9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1e07ba1c131b4b35" Type="http://schemas.openxmlformats.org/officeDocument/2006/relationships/slideLayout" Target="../slideLayouts/slideLayout1.xml"/><Relationship Id="Ra922c5b2130a42a4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1f9dc32bd27842af" Type="http://schemas.openxmlformats.org/officeDocument/2006/relationships/image" Target="../media/image.jpeg"/><Relationship Id="R7369d602c3fb4b7e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89a9e4d5782c4845" Type="http://schemas.openxmlformats.org/officeDocument/2006/relationships/image" Target="../media/image.jpeg"/><Relationship Id="Red38a93a01074c65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398968f0e4964cb7" Type="http://schemas.openxmlformats.org/officeDocument/2006/relationships/image" Target="../media/image.jpeg"/><Relationship Id="Rf89c1048e1a44a53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5c9c440a44f6499b" Type="http://schemas.openxmlformats.org/officeDocument/2006/relationships/image" Target="../media/image.jpeg"/><Relationship Id="Ra616cbafef754558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0897a0d4ba3e497c" Type="http://schemas.openxmlformats.org/officeDocument/2006/relationships/slideLayout" Target="../slideLayouts/slideLayout1.xml"/><Relationship Id="Rbf3e8c510171434b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0e654d003d0e49ee" Type="http://schemas.openxmlformats.org/officeDocument/2006/relationships/slideLayout" Target="../slideLayouts/slideLayout1.xml"/><Relationship Id="R53ba446a3c7f43cf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01ffc5e978014e4e" Type="http://schemas.openxmlformats.org/officeDocument/2006/relationships/image" Target="../media/image.jpeg"/><Relationship Id="R63964b88a52d433e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d71db78c9ba4414" Type="http://schemas.openxmlformats.org/officeDocument/2006/relationships/slideLayout" Target="../slideLayouts/slideLayout1.xml"/><Relationship Id="R0e901b8c53c3489c" Type="http://schemas.openxmlformats.org/officeDocument/2006/relationships/hyperlink" Target="https://openstax.org/books/university-physics-volume-2/pages/10-3-kirchhoffs-rules" TargetMode="External"/><Relationship Id="R0fe9e22994214f01" Type="http://schemas.openxmlformats.org/officeDocument/2006/relationships/hyperlink" Target="https://openstax.org/books/university-physics-volume-2/pages/15-2-simple-ac-circuits" TargetMode="External"/><Relationship Id="R496a9b8952b849dc" Type="http://schemas.openxmlformats.org/officeDocument/2006/relationships/image" Target="../media/image.jpeg"/><Relationship Id="R95276ddb29764fee" Type="http://schemas.openxmlformats.org/officeDocument/2006/relationships/hyperlink" Target="https://elstandard.se/documents/preview/3246401" TargetMode="External"/><Relationship Id="Raa5b949538eb4ddc" Type="http://schemas.openxmlformats.org/officeDocument/2006/relationships/hyperlink" Target="https://www.electrical-installation.org/enwiki/Installed_apparent_power_%28kVA%29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8ad7c5955448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c4fac7ed8e4c9a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6CC2784-2E7D-4F35-862E-04F6258A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FD6E629-30B2-47EE-9EB3-2E5ABFFAB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Repetition inför tentamen</a:t>
            </a:r>
          </a:p>
        </p:txBody>
      </p:sp>
      <p:sp>
        <p:nvSpPr>
          <p:cNvPr id="13" name="Blandade uppgifter från hela kursen">
            <a:extLst xmlns:a="http://schemas.openxmlformats.org/drawingml/2006/main">
              <a:ext uri="{FF2B5EF4-FFF2-40B4-BE49-F238E27FC236}">
                <a16:creationId xmlns:a16="http://schemas.microsoft.com/office/drawing/2014/main" id="{8E5654DC-78B8-4306-AD89-03C119F1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Blandade uppgifter från hela kursen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FD7E78C8-F2B9-40B1-991A-60C381707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521027d8bc4a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1DB01712-5B22-4660-82C0-126C5C35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Välja rätt samband och redovisa beräkningar tydligt.">
            <a:extLst xmlns:a="http://schemas.openxmlformats.org/drawingml/2006/main">
              <a:ext uri="{FF2B5EF4-FFF2-40B4-BE49-F238E27FC236}">
                <a16:creationId xmlns:a16="http://schemas.microsoft.com/office/drawing/2014/main" id="{05E92A64-3913-4AA5-B5BE-1E805533F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Välja rätt samband och redovisa beräkningar tydligt.</a:t>
            </a:r>
          </a:p>
        </p:txBody>
      </p:sp>
      <p:sp>
        <p:nvSpPr>
          <p:cNvPr id="4" name="Motivera instrumentval, regelval och felsökningsbeslut.">
            <a:extLst xmlns:a="http://schemas.openxmlformats.org/drawingml/2006/main">
              <a:ext uri="{FF2B5EF4-FFF2-40B4-BE49-F238E27FC236}">
                <a16:creationId xmlns:a16="http://schemas.microsoft.com/office/drawing/2014/main" id="{2B10157F-49AA-4B2F-B416-4C324C1C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instrumentval, regelval och felsökningsbeslut.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C558B3D-E977-4FFC-A03C-2A8F0911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ilket område behöver du mest träna: kretsar, AC/trefas, säkerhet">
            <a:extLst xmlns:a="http://schemas.openxmlformats.org/drawingml/2006/main">
              <a:ext uri="{FF2B5EF4-FFF2-40B4-BE49-F238E27FC236}">
                <a16:creationId xmlns:a16="http://schemas.microsoft.com/office/drawing/2014/main" id="{F83485AB-5A94-41F0-A612-9C06912C1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Vilket område behöver du mest träna: kretsar, AC/trefas, säkerhet eller mätanalys?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D321A373-90C3-4900-880E-F2EF3BBB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2e6a5cc74542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EC7D29F4-BE60-4A17-B90D-19CECD644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10A25261-746C-4570-8A58-0D85BD0E3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9888ED84-51B2-4598-8E1B-97E3B88C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3.1, 3.2 och 3.4,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C28CB4ED-EFFD-40F4-86D8-87189DD2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BD20CF9E-8583-4F4E-A911-E1A258B9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3.6, 3.7 och 3.8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206CACAE-6CDE-40DF-A60F-99BB0B7B3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763C837-03C3-4487-A387-B12E6853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b4bc2af5354e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orheten avgör formelvalet">
            <a:extLst xmlns:a="http://schemas.openxmlformats.org/drawingml/2006/main">
              <a:ext uri="{FF2B5EF4-FFF2-40B4-BE49-F238E27FC236}">
                <a16:creationId xmlns:a16="http://schemas.microsoft.com/office/drawing/2014/main" id="{3CEAECE0-8973-4B84-A25E-9C093491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Storheten avgör formelvalet</a:t>
            </a:r>
          </a:p>
        </p:txBody>
      </p:sp>
      <p:sp>
        <p:nvSpPr>
          <p:cNvPr id="10" name="DC-ström beräknas med I = U/R när kretsen är ohmsk.">
            <a:extLst xmlns:a="http://schemas.openxmlformats.org/drawingml/2006/main">
              <a:ext uri="{FF2B5EF4-FFF2-40B4-BE49-F238E27FC236}">
                <a16:creationId xmlns:a16="http://schemas.microsoft.com/office/drawing/2014/main" id="{83CFC59F-868C-4A23-B676-F5E7FD0C4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DC-ström beräknas med I = U/R när kretsen är ohmsk.</a:t>
            </a:r>
          </a:p>
        </p:txBody>
      </p:sp>
      <p:sp>
        <p:nvSpPr>
          <p:cNvPr id="11" name="Energi kräver effekt och tid. Verkningsgrad kan behövas före ener">
            <a:extLst xmlns:a="http://schemas.openxmlformats.org/drawingml/2006/main">
              <a:ext uri="{FF2B5EF4-FFF2-40B4-BE49-F238E27FC236}">
                <a16:creationId xmlns:a16="http://schemas.microsoft.com/office/drawing/2014/main" id="{BCEC0BE2-56A4-4D26-B4DD-26764770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Energi kräver effekt och tid. Verkningsgrad kan behövas före energiberäkningen.</a:t>
            </a:r>
          </a:p>
        </p:txBody>
      </p:sp>
      <p:sp>
        <p:nvSpPr>
          <p:cNvPr id="12" name="AC kräver kontroll av vågform och RMS. Trefas kräver tydliga linj">
            <a:extLst xmlns:a="http://schemas.openxmlformats.org/drawingml/2006/main">
              <a:ext uri="{FF2B5EF4-FFF2-40B4-BE49-F238E27FC236}">
                <a16:creationId xmlns:a16="http://schemas.microsoft.com/office/drawing/2014/main" id="{A92B417F-2966-45E1-9B59-E88ADD8E0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kräver kontroll av vågform och RMS. Trefas kräver tydliga linjevärden.</a:t>
            </a:r>
          </a:p>
        </p:txBody>
      </p:sp>
      <p:sp>
        <p:nvSpPr>
          <p:cNvPr id="13" name="Mät- och säkerhetsfall behöver dokumenterade villkor, inte bara e">
            <a:extLst xmlns:a="http://schemas.openxmlformats.org/drawingml/2006/main">
              <a:ext uri="{FF2B5EF4-FFF2-40B4-BE49-F238E27FC236}">
                <a16:creationId xmlns:a16="http://schemas.microsoft.com/office/drawing/2014/main" id="{3181AAB3-B93F-4936-923A-5322F4805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Mät- och säkerhetsfall behöver dokumenterade villkor, inte bara ett tal.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524847A8-8CC8-4836-97F1-40CD2D2F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b9574eec734c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CF321CB2-0131-4A26-9789-762510FA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513ECCE8-4425-463A-A86E-DA12B71D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942D96CF-8CB7-489A-85BD-07E168A8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72263518-D7D7-4F35-A9D3-BD143B1B7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BB59E2B-7040-4653-8D24-33BB2CF7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7113B2BB-8A99-4C5C-97B4-68739977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0ABCC419-1480-4981-A505-288C00CD8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F695F73B-0FB4-46F4-92F7-3B1B110C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3a2573af224c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ikström och effekt">
            <a:extLst xmlns:a="http://schemas.openxmlformats.org/drawingml/2006/main">
              <a:ext uri="{FF2B5EF4-FFF2-40B4-BE49-F238E27FC236}">
                <a16:creationId xmlns:a16="http://schemas.microsoft.com/office/drawing/2014/main" id="{EF32247A-A104-4068-BEF3-D2B2DE3D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Likström och effekt</a:t>
            </a:r>
          </a:p>
        </p:txBody>
      </p:sp>
      <p:sp>
        <p:nvSpPr>
          <p:cNvPr id="3" name="Skriv först vilken storhet som söks.&#10;Använd ett samband som passa">
            <a:extLst xmlns:a="http://schemas.openxmlformats.org/drawingml/2006/main">
              <a:ext uri="{FF2B5EF4-FFF2-40B4-BE49-F238E27FC236}">
                <a16:creationId xmlns:a16="http://schemas.microsoft.com/office/drawing/2014/main" id="{2CCEDBE7-F5BC-4E2E-B2BE-7A69427C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först vilken storhet som söks.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ett samband som passar kretsens koppling.</a:t>
            </a:r>
          </a:p>
        </p:txBody>
      </p:sp>
      <p:sp>
        <p:nvSpPr>
          <p:cNvPr id="4" name="U = RI     P = UI     E = Pt">
            <a:extLst xmlns:a="http://schemas.openxmlformats.org/drawingml/2006/main">
              <a:ext uri="{FF2B5EF4-FFF2-40B4-BE49-F238E27FC236}">
                <a16:creationId xmlns:a16="http://schemas.microsoft.com/office/drawing/2014/main" id="{87D80348-48EA-46D6-BF3E-370B9486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 = RI     P = UI     E = Pt</a:t>
            </a:r>
          </a:p>
        </p:txBody>
      </p:sp>
      <p:sp>
        <p:nvSpPr>
          <p:cNvPr id="5" name="Serie: samma ström. Parallell: samma spänning.&#10;Enheter och rimlig">
            <a:extLst xmlns:a="http://schemas.openxmlformats.org/drawingml/2006/main">
              <a:ext uri="{FF2B5EF4-FFF2-40B4-BE49-F238E27FC236}">
                <a16:creationId xmlns:a16="http://schemas.microsoft.com/office/drawing/2014/main" id="{3EEB3C2E-2611-4C78-BF05-0D776A448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Serie: samma ström. Parallell: samma spänning.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Enheter och rimlighetskontroll ingår i redovisningen.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E4CD1706-13DB-4E26-A302-7AD006A5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59a55a0a474a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irchhoff och delare">
            <a:extLst xmlns:a="http://schemas.openxmlformats.org/drawingml/2006/main">
              <a:ext uri="{FF2B5EF4-FFF2-40B4-BE49-F238E27FC236}">
                <a16:creationId xmlns:a16="http://schemas.microsoft.com/office/drawing/2014/main" id="{FB475913-19DF-4158-8B64-7720A259C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Kirchhoff och delare</a:t>
            </a:r>
          </a:p>
        </p:txBody>
      </p:sp>
      <p:sp>
        <p:nvSpPr>
          <p:cNvPr id="3" name="Nodlagen beskriver strömbalans. Slinglagen beskriver spänningsbal">
            <a:extLst xmlns:a="http://schemas.openxmlformats.org/drawingml/2006/main">
              <a:ext uri="{FF2B5EF4-FFF2-40B4-BE49-F238E27FC236}">
                <a16:creationId xmlns:a16="http://schemas.microsoft.com/office/drawing/2014/main" id="{EFE88CDC-ACE6-4AF7-8C59-06CDBD45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Nodlagen beskriver strömbalans. Slinglagen beskriver spänningsbalans.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ansluten last ändrar en spänningsdelare.</a:t>
            </a:r>
          </a:p>
        </p:txBody>
      </p:sp>
      <p:sp>
        <p:nvSpPr>
          <p:cNvPr id="4" name="ΣI = 0     ΣΔU = 0">
            <a:extLst xmlns:a="http://schemas.openxmlformats.org/drawingml/2006/main">
              <a:ext uri="{FF2B5EF4-FFF2-40B4-BE49-F238E27FC236}">
                <a16:creationId xmlns:a16="http://schemas.microsoft.com/office/drawing/2014/main" id="{312FFB71-5DCB-4B7D-B783-C5858C26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 = 0     ΣΔU = 0</a:t>
            </a:r>
          </a:p>
        </p:txBody>
      </p:sp>
      <p:sp>
        <p:nvSpPr>
          <p:cNvPr id="5" name="Negativ ström är ett tecken på riktning relativt din pil.&#10;Det är ">
            <a:extLst xmlns:a="http://schemas.openxmlformats.org/drawingml/2006/main">
              <a:ext uri="{FF2B5EF4-FFF2-40B4-BE49-F238E27FC236}">
                <a16:creationId xmlns:a16="http://schemas.microsoft.com/office/drawing/2014/main" id="{15E125D0-0D80-4016-8C8B-BC83EFB6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Negativ ström är ett tecken på riktning relativt din pil.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är inte automatiskt ett räknefel.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EEED7140-63CB-4F86-8634-69E5C32D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b94e5ab41a47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C och trefas">
            <a:extLst xmlns:a="http://schemas.openxmlformats.org/drawingml/2006/main">
              <a:ext uri="{FF2B5EF4-FFF2-40B4-BE49-F238E27FC236}">
                <a16:creationId xmlns:a16="http://schemas.microsoft.com/office/drawing/2014/main" id="{7DA693B5-3260-4A43-B893-151856132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och trefas</a:t>
            </a:r>
          </a:p>
        </p:txBody>
      </p:sp>
      <p:sp>
        <p:nvSpPr>
          <p:cNvPr id="3" name="RMS, toppvärde och medelvärde beskriver olika saker.&#10;Trefasformel">
            <a:extLst xmlns:a="http://schemas.openxmlformats.org/drawingml/2006/main">
              <a:ext uri="{FF2B5EF4-FFF2-40B4-BE49-F238E27FC236}">
                <a16:creationId xmlns:a16="http://schemas.microsoft.com/office/drawing/2014/main" id="{330B99C3-8A33-4AEE-9BF8-30139A71C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RMS, toppvärde och medelvärde beskriver olika saker.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Trefasformeln med √3 förutsätter de angivna symmetrivillkoren.</a:t>
            </a:r>
          </a:p>
        </p:txBody>
      </p:sp>
      <p:sp>
        <p:nvSpPr>
          <p:cNvPr id="4" name="|Z| = √(R² + X²)     P₃F = √3 ULIL PF">
            <a:extLst xmlns:a="http://schemas.openxmlformats.org/drawingml/2006/main">
              <a:ext uri="{FF2B5EF4-FFF2-40B4-BE49-F238E27FC236}">
                <a16:creationId xmlns:a16="http://schemas.microsoft.com/office/drawing/2014/main" id="{24C10D13-BEEC-47EA-81F5-52AB4737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X²)     P₃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PF</a:t>
            </a:r>
          </a:p>
        </p:txBody>
      </p:sp>
      <p:sp>
        <p:nvSpPr>
          <p:cNvPr id="5" name="Skriv om spänningen är linje-, fas- eller grenspänning.&#10;Skilj akt">
            <a:extLst xmlns:a="http://schemas.openxmlformats.org/drawingml/2006/main">
              <a:ext uri="{FF2B5EF4-FFF2-40B4-BE49-F238E27FC236}">
                <a16:creationId xmlns:a16="http://schemas.microsoft.com/office/drawing/2014/main" id="{2B714EAD-144B-4892-A292-7B6360598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om spänningen är linje-, fas- eller grenspänning.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 aktiv effekt från skenbar effekt.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AA03C7DA-E2C6-498D-A89E-E6FBE83D7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5a3b82911141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etodval i en delare">
            <a:extLst xmlns:a="http://schemas.openxmlformats.org/drawingml/2006/main">
              <a:ext uri="{FF2B5EF4-FFF2-40B4-BE49-F238E27FC236}">
                <a16:creationId xmlns:a16="http://schemas.microsoft.com/office/drawing/2014/main" id="{852FDBEF-6F02-464F-96B6-CB5AAC5F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metodval i en delare</a:t>
            </a:r>
          </a:p>
        </p:txBody>
      </p:sp>
      <p:sp>
        <p:nvSpPr>
          <p:cNvPr id="10" name="18 V matar 1 kΩ och 2 kΩ i serie. En last på 2 kΩ ansluts över de">
            <a:extLst xmlns:a="http://schemas.openxmlformats.org/drawingml/2006/main">
              <a:ext uri="{FF2B5EF4-FFF2-40B4-BE49-F238E27FC236}">
                <a16:creationId xmlns:a16="http://schemas.microsoft.com/office/drawing/2014/main" id="{1FBE55E1-8315-4F4E-944F-8D8BE816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18 V matar 2 kΩ och 2 kΩ i serie. En last på 2 kΩ ansluts över den nedre resistorn.</a:t>
            </a:r>
          </a:p>
        </p:txBody>
      </p:sp>
      <p:sp>
        <p:nvSpPr>
          <p:cNvPr id="11" name="Rp = R₂Rlast/(R₂ + Rlast)&#10;Uut = UinRp/(R₁ + Rp)">
            <a:extLst xmlns:a="http://schemas.openxmlformats.org/drawingml/2006/main">
              <a:ext uri="{FF2B5EF4-FFF2-40B4-BE49-F238E27FC236}">
                <a16:creationId xmlns:a16="http://schemas.microsoft.com/office/drawing/2014/main" id="{4B3B1EAE-C6C4-4B6A-B7A5-6ACD05F2E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R₂ ·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/(R₂ +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/(R₁ +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2" name="1. Rp = 2 · 2/(2 + 2) = 1 kΩ.&#10;2. Uut = 18 · 1/(1 + 1) = 9 V.&#10;3. I">
            <a:extLst xmlns:a="http://schemas.openxmlformats.org/drawingml/2006/main">
              <a:ext uri="{FF2B5EF4-FFF2-40B4-BE49-F238E27FC236}">
                <a16:creationId xmlns:a16="http://schemas.microsoft.com/office/drawing/2014/main" id="{D07A9154-F480-4B85-92B5-6C4C0E9B4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2 · 2/(2 + 2) = 1 kΩ.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18 · 1/(2 + 1) = 6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18/(2 + 1) = 6 mA. Varje nedre gren får 3 mA.</a:t>
            </a:r>
          </a:p>
        </p:txBody>
      </p:sp>
      <p:sp>
        <p:nvSpPr>
          <p:cNvPr id="13" name="Kontroll: 4,5 + 4,5 = 9 mA och fall över övre resistorn är 9 V. B">
            <a:extLst xmlns:a="http://schemas.openxmlformats.org/drawingml/2006/main">
              <a:ext uri="{FF2B5EF4-FFF2-40B4-BE49-F238E27FC236}">
                <a16:creationId xmlns:a16="http://schemas.microsoft.com/office/drawing/2014/main" id="{24B80E00-88CB-49C0-9A76-0198A022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3 + 3 = 6 mA och fallet över övre resistorn är 12 V. 12 + 6 = 18 V.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BDEB7D1B-ECAD-4AFC-9001-F04F2F2EB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pänningsdelare: 18 V över 2 kilohm och " descr="Spänningsdelare: 18 V över 2 kilohm och 2 kilohm med en last på 2 kilohm; utspänningen 6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bfd0b6221747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8AB44745-AA9D-4BFC-A71D-98A103F9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</a:t>
            </a:r>
          </a:p>
        </p:txBody>
      </p:sp>
      <p:sp>
        <p:nvSpPr>
          <p:cNvPr id="10" name="Pᵢₙ = Pᵤₜ/η     E = Pᵢₙ · t">
            <a:extLst xmlns:a="http://schemas.openxmlformats.org/drawingml/2006/main">
              <a:ext uri="{FF2B5EF4-FFF2-40B4-BE49-F238E27FC236}">
                <a16:creationId xmlns:a16="http://schemas.microsoft.com/office/drawing/2014/main" id="{658A7516-8D57-4D81-A915-8E5BE23E5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/η; E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t</a:t>
            </a:r>
          </a:p>
        </p:txBody>
      </p:sp>
      <p:sp>
        <p:nvSpPr>
          <p:cNvPr id="11" name="Pᵤₜ är mekanisk uteffekt. η som decimal ger elektrisk inmatning. ">
            <a:extLst xmlns:a="http://schemas.openxmlformats.org/drawingml/2006/main">
              <a:ext uri="{FF2B5EF4-FFF2-40B4-BE49-F238E27FC236}">
                <a16:creationId xmlns:a16="http://schemas.microsoft.com/office/drawing/2014/main" id="{57CA3F7F-5913-4D4A-A77F-E6C08D9D2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effekten på axeln. Dela med η som decimaltal för att få den tillförda effekten.</a:t>
            </a:r>
          </a:p>
        </p:txBody>
      </p:sp>
      <p:sp>
        <p:nvSpPr>
          <p:cNvPr id="12" name="Förutsättningar: Pᵤₜ = 400 W, η = 80 % = 0,80 och drifttid 3 h. K">
            <a:extLst xmlns:a="http://schemas.openxmlformats.org/drawingml/2006/main">
              <a:ext uri="{FF2B5EF4-FFF2-40B4-BE49-F238E27FC236}">
                <a16:creationId xmlns:a16="http://schemas.microsoft.com/office/drawing/2014/main" id="{F9A1D271-9E56-446C-8F56-703061EC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W, η = 80 % = 0,80 och drifttiden 3 h. Driften är jämn.</a:t>
            </a:r>
          </a:p>
        </p:txBody>
      </p:sp>
      <p:sp>
        <p:nvSpPr>
          <p:cNvPr id="13" name="Arbetsgång: Räkna inmatning först. Omvandla W till kW och multipl">
            <a:extLst xmlns:a="http://schemas.openxmlformats.org/drawingml/2006/main">
              <a:ext uri="{FF2B5EF4-FFF2-40B4-BE49-F238E27FC236}">
                <a16:creationId xmlns:a16="http://schemas.microsoft.com/office/drawing/2014/main" id="{D6330F61-AB5C-47D1-9786-2270220F3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Gör om W till kW och multiplicera med tiden – kW · h ger kWh.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76908D82-5C23-4511-9A40-0408583D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4ef6b5bd354b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90AFE673-A907-4EB3-9EC1-D72CDCE8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</a:t>
            </a:r>
          </a:p>
        </p:txBody>
      </p:sp>
      <p:sp>
        <p:nvSpPr>
          <p:cNvPr id="3" name="Energi och verkningsgrad">
            <a:extLst xmlns:a="http://schemas.openxmlformats.org/drawingml/2006/main">
              <a:ext uri="{FF2B5EF4-FFF2-40B4-BE49-F238E27FC236}">
                <a16:creationId xmlns:a16="http://schemas.microsoft.com/office/drawing/2014/main" id="{10D91BD9-4B50-444B-A98D-D96FA48A5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Energi och verkningsgrad</a:t>
            </a:r>
          </a:p>
        </p:txBody>
      </p:sp>
      <p:sp>
        <p:nvSpPr>
          <p:cNvPr id="4" name="En motor ger 400 W mekaniskt med η = 80 %. Den körs i 3 h. Beräkn">
            <a:extLst xmlns:a="http://schemas.openxmlformats.org/drawingml/2006/main">
              <a:ext uri="{FF2B5EF4-FFF2-40B4-BE49-F238E27FC236}">
                <a16:creationId xmlns:a16="http://schemas.microsoft.com/office/drawing/2014/main" id="{38F6B1D4-1514-4950-BA9D-ACFA4F07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400 W på axeln med η = 80 % och går i 3 h. Beräkna den tillförda elektriska effekten och energin.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3D0086D-8C03-42BB-B580-3D694CD5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AD1981D7-C0CF-4C5F-935F-CC6F0B478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5f033991c544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1490FBE8-2B34-4A3E-B414-D5A0AA57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3.2</a:t>
            </a:r>
          </a:p>
        </p:txBody>
      </p:sp>
      <p:sp>
        <p:nvSpPr>
          <p:cNvPr id="10" name="ΣIin = ΣIut">
            <a:extLst xmlns:a="http://schemas.openxmlformats.org/drawingml/2006/main">
              <a:ext uri="{FF2B5EF4-FFF2-40B4-BE49-F238E27FC236}">
                <a16:creationId xmlns:a16="http://schemas.microsoft.com/office/drawing/2014/main" id="{C2BAF99F-3AF4-4277-BB0F-4196D68E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ΣI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</a:p>
        </p:txBody>
      </p:sp>
      <p:sp>
        <p:nvSpPr>
          <p:cNvPr id="11" name="Summan av strömmar in i noden är lika med summan ut vid stationär">
            <a:extLst xmlns:a="http://schemas.openxmlformats.org/drawingml/2006/main">
              <a:ext uri="{FF2B5EF4-FFF2-40B4-BE49-F238E27FC236}">
                <a16:creationId xmlns:a16="http://schemas.microsoft.com/office/drawing/2014/main" id="{254E2918-FF51-40FB-9B5A-69DC49B97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in i noden är lika med strömmen ut.</a:t>
            </a:r>
          </a:p>
        </p:txBody>
      </p:sp>
      <p:sp>
        <p:nvSpPr>
          <p:cNvPr id="12" name="Förutsättningar: 4,0 A och 1,5 A in. 2,0 A och Iₓ ut. Alla riktni">
            <a:extLst xmlns:a="http://schemas.openxmlformats.org/drawingml/2006/main">
              <a:ext uri="{FF2B5EF4-FFF2-40B4-BE49-F238E27FC236}">
                <a16:creationId xmlns:a16="http://schemas.microsoft.com/office/drawing/2014/main" id="{A8026FF4-B717-48DC-970B-1BA5CD2D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4,0 A och 1,5 A in, 2,0 A och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ut. Alla riktningar är givna.</a:t>
            </a:r>
          </a:p>
        </p:txBody>
      </p:sp>
      <p:sp>
        <p:nvSpPr>
          <p:cNvPr id="13" name="Arbetsgång: Skriv nodekvationen. Summera kända inströmmar och dra">
            <a:extLst xmlns:a="http://schemas.openxmlformats.org/drawingml/2006/main">
              <a:ext uri="{FF2B5EF4-FFF2-40B4-BE49-F238E27FC236}">
                <a16:creationId xmlns:a16="http://schemas.microsoft.com/office/drawing/2014/main" id="{8B16AB62-5824-454C-9B05-6BD887641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upp ekvationen, lägg ihop strömmarna in och dra bort den kända strömmen ut.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C1C3B63C-EDF2-47ED-97C1-8B09E2DC7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c15882d3e040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2D0198FA-A98D-4272-B828-63B555F9A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3.2</a:t>
            </a:r>
          </a:p>
        </p:txBody>
      </p:sp>
      <p:sp>
        <p:nvSpPr>
          <p:cNvPr id="3" name="Nodlag">
            <a:extLst xmlns:a="http://schemas.openxmlformats.org/drawingml/2006/main">
              <a:ext uri="{FF2B5EF4-FFF2-40B4-BE49-F238E27FC236}">
                <a16:creationId xmlns:a16="http://schemas.microsoft.com/office/drawing/2014/main" id="{FEF81792-445A-4244-A0C3-97694F88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Strömlagen</a:t>
            </a:r>
          </a:p>
        </p:txBody>
      </p:sp>
      <p:sp>
        <p:nvSpPr>
          <p:cNvPr id="4" name="4,0 A och 1,5 A går in i en nod. 2,0 A och Iₓ går ut. Bestäm Iₓ.">
            <a:extLst xmlns:a="http://schemas.openxmlformats.org/drawingml/2006/main">
              <a:ext uri="{FF2B5EF4-FFF2-40B4-BE49-F238E27FC236}">
                <a16:creationId xmlns:a16="http://schemas.microsoft.com/office/drawing/2014/main" id="{50712CF0-15BE-4700-99C0-26211961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4,0 A och 1,5 A går in i en nod. 2,0 A och Iₓ går ut. Bestäm Iₓ.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D63AAD5-57BF-409E-924F-1BA0A611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8FDD75E8-55D2-4FFA-B793-2D699E009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Nod med 4,0 A och 1,5 A in samt 2,0 A oc" descr="Nod med 4,0 A och 1,5 A in samt 2,0 A och Ix ut; Ix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2ac76dd8d647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18C61780-AFB7-4285-90CD-B41A89BB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3.3</a:t>
            </a:r>
          </a:p>
        </p:txBody>
      </p:sp>
      <p:sp>
        <p:nvSpPr>
          <p:cNvPr id="10" name="Rp = R₂Rlast/(R₂ + Rlast)&#10;Uut = Uin · Rp/(R₁ + Rp)">
            <a:extLst xmlns:a="http://schemas.openxmlformats.org/drawingml/2006/main">
              <a:ext uri="{FF2B5EF4-FFF2-40B4-BE49-F238E27FC236}">
                <a16:creationId xmlns:a16="http://schemas.microsoft.com/office/drawing/2014/main" id="{0F5DCA87-2888-41A4-830B-2EDE9F20D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R₂ ·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/(R₂ +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/(R₁ +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1" name="Rp ersätter den nedre resistorn parallellt med lasten. Resistanse">
            <a:extLst xmlns:a="http://schemas.openxmlformats.org/drawingml/2006/main">
              <a:ext uri="{FF2B5EF4-FFF2-40B4-BE49-F238E27FC236}">
                <a16:creationId xmlns:a16="http://schemas.microsoft.com/office/drawing/2014/main" id="{FEB964E2-330B-4B5E-BDD9-D6FCA1B4E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ersätter den nedre resistorn och lasten, som ligger parallellt.</a:t>
            </a:r>
          </a:p>
        </p:txBody>
      </p:sp>
      <p:sp>
        <p:nvSpPr>
          <p:cNvPr id="12" name="Förutsättningar: Uin = 24 V, R₁ = 2 kΩ, R₂ = Rlast = 4 kΩ. Ideal ">
            <a:extLst xmlns:a="http://schemas.openxmlformats.org/drawingml/2006/main">
              <a:ext uri="{FF2B5EF4-FFF2-40B4-BE49-F238E27FC236}">
                <a16:creationId xmlns:a16="http://schemas.microsoft.com/office/drawing/2014/main" id="{946BB482-A111-4BAA-ADBE-1D3755636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V,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 kΩ,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 kΩ. Ideal källa och resistorer med konstant resistans.</a:t>
            </a:r>
          </a:p>
        </p:txBody>
      </p:sp>
      <p:sp>
        <p:nvSpPr>
          <p:cNvPr id="13" name="Arbetsgång: Förenkla parallellgrenen först. Använd den nya resist">
            <a:extLst xmlns:a="http://schemas.openxmlformats.org/drawingml/2006/main">
              <a:ext uri="{FF2B5EF4-FFF2-40B4-BE49-F238E27FC236}">
                <a16:creationId xmlns:a16="http://schemas.microsoft.com/office/drawing/2014/main" id="{D6DB735E-BC8A-4092-919A-DBADA63B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alla resistanser i samma enhet. Förenkla parallellkopplingen först och använd sedan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 delningsformeln.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D627D42-7A92-458B-B732-FF6D7B92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9e328f125e47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87E6810-612B-4335-B2FA-DF754FAC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3.3</a:t>
            </a:r>
          </a:p>
        </p:txBody>
      </p:sp>
      <p:sp>
        <p:nvSpPr>
          <p:cNvPr id="3" name="Spänningsdelare med last">
            <a:extLst xmlns:a="http://schemas.openxmlformats.org/drawingml/2006/main">
              <a:ext uri="{FF2B5EF4-FFF2-40B4-BE49-F238E27FC236}">
                <a16:creationId xmlns:a16="http://schemas.microsoft.com/office/drawing/2014/main" id="{B428B8F0-21FB-44BE-A727-B9523214F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Spänningsdelare med last</a:t>
            </a:r>
          </a:p>
        </p:txBody>
      </p:sp>
      <p:sp>
        <p:nvSpPr>
          <p:cNvPr id="4" name="24 V matar R₁ = 2 kΩ och R₂ = 4 kΩ i serie. En last på 4 kΩ ligge">
            <a:extLst xmlns:a="http://schemas.openxmlformats.org/drawingml/2006/main">
              <a:ext uri="{FF2B5EF4-FFF2-40B4-BE49-F238E27FC236}">
                <a16:creationId xmlns:a16="http://schemas.microsoft.com/office/drawing/2014/main" id="{C105A62E-5810-4A71-AFD1-E1DFC5D0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24 V matar R₁ = 2 kΩ och R₂ = 4 kΩ i serie. En last på 4 kΩ ligger parallellt med R₂. Beräkna utspänningen.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354EA1-E895-498F-8260-4E3EE9187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981EA019-A341-4621-903A-552D7DF1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pänningsdelare: 24 V över R1 = 2 kilohm" descr="Spänningsdelare: 24 V över R1 = 2 kilohm och R2 = 4 kilohm med en last på 4 kilohm; ut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44af9aebbc4d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F221513-B501-443A-B7EB-AD36C97F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3.4</a:t>
            </a:r>
          </a:p>
        </p:txBody>
      </p:sp>
      <p:sp>
        <p:nvSpPr>
          <p:cNvPr id="10" name="û = √2 · Urms     T = 1/f">
            <a:extLst xmlns:a="http://schemas.openxmlformats.org/drawingml/2006/main">
              <a:ext uri="{FF2B5EF4-FFF2-40B4-BE49-F238E27FC236}">
                <a16:creationId xmlns:a16="http://schemas.microsoft.com/office/drawing/2014/main" id="{A25A35A3-6971-4EB9-A434-13EB5191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RMS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T = 1/f</a:t>
            </a:r>
          </a:p>
        </p:txBody>
      </p:sp>
      <p:sp>
        <p:nvSpPr>
          <p:cNvPr id="11" name="û är toppvärde. T är period i s. Multiplicera T med 1 000 för ms.">
            <a:extLst xmlns:a="http://schemas.openxmlformats.org/drawingml/2006/main">
              <a:ext uri="{FF2B5EF4-FFF2-40B4-BE49-F238E27FC236}">
                <a16:creationId xmlns:a16="http://schemas.microsoft.com/office/drawing/2014/main" id="{975D515B-A80F-4752-8845-A634B7480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û är toppvärde. T är period i s. Multiplicera T med 1 000 för ms.</a:t>
            </a:r>
          </a:p>
        </p:txBody>
      </p:sp>
      <p:sp>
        <p:nvSpPr>
          <p:cNvPr id="12" name="Förutsättningar: Ren sinus utan DC-komponent, Urms = 24 V och f =">
            <a:extLst xmlns:a="http://schemas.openxmlformats.org/drawingml/2006/main">
              <a:ext uri="{FF2B5EF4-FFF2-40B4-BE49-F238E27FC236}">
                <a16:creationId xmlns:a16="http://schemas.microsoft.com/office/drawing/2014/main" id="{634C9E78-1985-4DA2-9FBE-D7DB92D7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sinus utan likspänningsdel,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 och f = 60 Hz.</a:t>
            </a:r>
          </a:p>
        </p:txBody>
      </p:sp>
      <p:sp>
        <p:nvSpPr>
          <p:cNvPr id="13" name="Arbetsgång: Beräkna toppvärde och period separat. Använd RMS enda">
            <a:extLst xmlns:a="http://schemas.openxmlformats.org/drawingml/2006/main">
              <a:ext uri="{FF2B5EF4-FFF2-40B4-BE49-F238E27FC236}">
                <a16:creationId xmlns:a16="http://schemas.microsoft.com/office/drawing/2014/main" id="{7179DF5E-DF09-46AD-985D-A53D73497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toppvärde och period separat. Använd RMS endast i omvandlingen, inte som toppvärde.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23B8DD34-E986-4988-AF07-1BD7933C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c2f9a887dd48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57B49338-9245-4A9D-9CFE-AEDCAED95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3.4</a:t>
            </a:r>
          </a:p>
        </p:txBody>
      </p:sp>
      <p:sp>
        <p:nvSpPr>
          <p:cNvPr id="3" name="Sinus och period">
            <a:extLst xmlns:a="http://schemas.openxmlformats.org/drawingml/2006/main">
              <a:ext uri="{FF2B5EF4-FFF2-40B4-BE49-F238E27FC236}">
                <a16:creationId xmlns:a16="http://schemas.microsoft.com/office/drawing/2014/main" id="{AFFDB706-6752-4485-8972-2C6E9BB0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Sinus och period</a:t>
            </a:r>
          </a:p>
        </p:txBody>
      </p:sp>
      <p:sp>
        <p:nvSpPr>
          <p:cNvPr id="4" name="En sinus har 24 V RMS och frekvensen 60 Hz. Beräkna toppvärde och">
            <a:extLst xmlns:a="http://schemas.openxmlformats.org/drawingml/2006/main">
              <a:ext uri="{FF2B5EF4-FFF2-40B4-BE49-F238E27FC236}">
                <a16:creationId xmlns:a16="http://schemas.microsoft.com/office/drawing/2014/main" id="{58C075A0-6D90-4486-B54F-18115ECC0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sinusspänning har effektivvärdet 24 V och frekvensen 60 Hz. Beräkna toppvärde och periodtid.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4EAA446-C063-4512-9D72-D4FC3A4A2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A80E25E3-83D4-4AB6-B35A-01FB89146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8f03ca6e7949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A2962BFA-2B6D-4E4C-B622-742A3367A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3.5</a:t>
            </a:r>
          </a:p>
        </p:txBody>
      </p:sp>
      <p:sp>
        <p:nvSpPr>
          <p:cNvPr id="10" name="|Z| = √(R² + XL²)&#10;I = U/|Z|     cos φ = R/|Z|">
            <a:extLst xmlns:a="http://schemas.openxmlformats.org/drawingml/2006/main">
              <a:ext uri="{FF2B5EF4-FFF2-40B4-BE49-F238E27FC236}">
                <a16:creationId xmlns:a16="http://schemas.microsoft.com/office/drawing/2014/main" id="{17D4DF14-9565-4902-B80F-18B4CA880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U/|Z|; cos φ = R/|Z|</a:t>
            </a:r>
          </a:p>
        </p:txBody>
      </p:sp>
      <p:sp>
        <p:nvSpPr>
          <p:cNvPr id="11" name="R är resistiv del och XL induktiv del av serieimpedansen. U och I">
            <a:extLst xmlns:a="http://schemas.openxmlformats.org/drawingml/2006/main">
              <a:ext uri="{FF2B5EF4-FFF2-40B4-BE49-F238E27FC236}">
                <a16:creationId xmlns:a16="http://schemas.microsoft.com/office/drawing/2014/main" id="{93836713-1634-496F-89B8-8689E54C2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är den resistiva och X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den induktiva delen av impedansen. U och I är effektivvärden.</a:t>
            </a:r>
          </a:p>
        </p:txBody>
      </p:sp>
      <p:sp>
        <p:nvSpPr>
          <p:cNvPr id="12" name="Förutsättningar: Serie-RL: R = 30 Ω, XL = 40 Ω och U = 100 V RMS.">
            <a:extLst xmlns:a="http://schemas.openxmlformats.org/drawingml/2006/main">
              <a:ext uri="{FF2B5EF4-FFF2-40B4-BE49-F238E27FC236}">
                <a16:creationId xmlns:a16="http://schemas.microsoft.com/office/drawing/2014/main" id="{78F67898-F42A-4031-9CA0-9019D7A0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RL i serie: R = 30 Ω, X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 Ω och U = 100 V RMS.</a:t>
            </a:r>
          </a:p>
        </p:txBody>
      </p:sp>
      <p:sp>
        <p:nvSpPr>
          <p:cNvPr id="13" name="Arbetsgång: Beräkna impedansens belopp. Använd det i båda kvotern">
            <a:extLst xmlns:a="http://schemas.openxmlformats.org/drawingml/2006/main">
              <a:ext uri="{FF2B5EF4-FFF2-40B4-BE49-F238E27FC236}">
                <a16:creationId xmlns:a16="http://schemas.microsoft.com/office/drawing/2014/main" id="{1B613147-D455-49E9-A45A-51E558497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impedansen och använd den för både ström och effektfaktor.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82EFC60-13DB-41A6-BCBB-80B9EACBC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2d05bfda2144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BD8A5CDE-247B-41BA-8828-0C9EC9624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3.5</a:t>
            </a:r>
          </a:p>
        </p:txBody>
      </p:sp>
      <p:sp>
        <p:nvSpPr>
          <p:cNvPr id="3" name="RL och effektfaktor">
            <a:extLst xmlns:a="http://schemas.openxmlformats.org/drawingml/2006/main">
              <a:ext uri="{FF2B5EF4-FFF2-40B4-BE49-F238E27FC236}">
                <a16:creationId xmlns:a16="http://schemas.microsoft.com/office/drawing/2014/main" id="{66905BE5-D472-4281-8129-105C51CC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RL och effektfaktor</a:t>
            </a:r>
          </a:p>
        </p:txBody>
      </p:sp>
      <p:sp>
        <p:nvSpPr>
          <p:cNvPr id="4" name="R = 30 Ω och XL = 40 Ω i serie över 100 V RMS. Bestäm I och cos φ">
            <a:extLst xmlns:a="http://schemas.openxmlformats.org/drawingml/2006/main">
              <a:ext uri="{FF2B5EF4-FFF2-40B4-BE49-F238E27FC236}">
                <a16:creationId xmlns:a16="http://schemas.microsoft.com/office/drawing/2014/main" id="{A3E165A5-0559-42A0-9D07-917FE508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= 30 Ω och X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 Ω i serie över 100 V RMS. Bestäm I och cos φ.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0C0D0C6-618B-44ED-88A1-6C8351C7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F15744B5-8460-45D9-822C-C56B0001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-RL med R = 30 ohm och XL = 40 ohm " descr="Serie-RL med R = 30 ohm och XL = 40 ohm vid 100 V RMS; ström och effektfaktor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eeb8d490654f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25EACBEE-9BD3-4597-ADB8-B8FF0B3CA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äkerhet och regelval&#10;Mätning och felsökning&#10;Redovisning inför ex">
            <a:extLst xmlns:a="http://schemas.openxmlformats.org/drawingml/2006/main">
              <a:ext uri="{FF2B5EF4-FFF2-40B4-BE49-F238E27FC236}">
                <a16:creationId xmlns:a16="http://schemas.microsoft.com/office/drawing/2014/main" id="{550E1FC4-05D3-4B52-B7FA-F7522B954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Säkerhet och regelval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 och felsökning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Redovisning inför examination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EE261043-7A45-4044-A5BC-3A930493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3.6–3.10.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70BA443F-8240-47C8-89AB-D37DF0BF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fb4c5e814d4b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äkerhet och regelval">
            <a:extLst xmlns:a="http://schemas.openxmlformats.org/drawingml/2006/main">
              <a:ext uri="{FF2B5EF4-FFF2-40B4-BE49-F238E27FC236}">
                <a16:creationId xmlns:a16="http://schemas.microsoft.com/office/drawing/2014/main" id="{071EFC7F-CEC8-47EC-854B-D08121D61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Säkerhet och regelval</a:t>
            </a:r>
          </a:p>
        </p:txBody>
      </p:sp>
      <p:sp>
        <p:nvSpPr>
          <p:cNvPr id="3" name="Utgå från arbetsmoment, system och energikällor.&#10;Kontrollera vilk">
            <a:extLst xmlns:a="http://schemas.openxmlformats.org/drawingml/2006/main">
              <a:ext uri="{FF2B5EF4-FFF2-40B4-BE49-F238E27FC236}">
                <a16:creationId xmlns:a16="http://schemas.microsoft.com/office/drawing/2014/main" id="{2DCB50A6-9587-421C-93F1-C1C42C38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 från arbetsmoment, system och energikällor.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Kontrollera vilket regelverk som gäller i det angivna fallet.</a:t>
            </a:r>
          </a:p>
        </p:txBody>
      </p:sp>
      <p:sp>
        <p:nvSpPr>
          <p:cNvPr id="4" name="Riskbedömning ska leda till verifierbara åtgärder">
            <a:extLst xmlns:a="http://schemas.openxmlformats.org/drawingml/2006/main">
              <a:ext uri="{FF2B5EF4-FFF2-40B4-BE49-F238E27FC236}">
                <a16:creationId xmlns:a16="http://schemas.microsoft.com/office/drawing/2014/main" id="{EE1D28AD-8A73-4104-B1FC-C80602725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Riskbedömning ska leda till verifierbara åtgärder</a:t>
            </a:r>
          </a:p>
        </p:txBody>
      </p:sp>
      <p:sp>
        <p:nvSpPr>
          <p:cNvPr id="5" name="Skydd, kompetens och tydlig ansvarsfördelning hänger ihop.&#10;Ett al">
            <a:extLst xmlns:a="http://schemas.openxmlformats.org/drawingml/2006/main">
              <a:ext uri="{FF2B5EF4-FFF2-40B4-BE49-F238E27FC236}">
                <a16:creationId xmlns:a16="http://schemas.microsoft.com/office/drawing/2014/main" id="{E34BA546-980C-4E65-BBFB-C8699C40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Skydd, kompetens och tydlig ansvarsfördelning hänger ihop.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allmänt standardnamn räcker inte som motivering.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8B95AA99-457B-4D87-B7D1-50337593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7367235fd44c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ning och felsökning">
            <a:extLst xmlns:a="http://schemas.openxmlformats.org/drawingml/2006/main">
              <a:ext uri="{FF2B5EF4-FFF2-40B4-BE49-F238E27FC236}">
                <a16:creationId xmlns:a16="http://schemas.microsoft.com/office/drawing/2014/main" id="{CA290D92-58A9-416A-B034-0A557088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Mätning och felsökning</a:t>
            </a:r>
          </a:p>
        </p:txBody>
      </p:sp>
      <p:sp>
        <p:nvSpPr>
          <p:cNvPr id="3" name="Välj mätpunkt och driftläge för att pröva en hypotes.&#10;Bedöm resul">
            <a:extLst xmlns:a="http://schemas.openxmlformats.org/drawingml/2006/main">
              <a:ext uri="{FF2B5EF4-FFF2-40B4-BE49-F238E27FC236}">
                <a16:creationId xmlns:a16="http://schemas.microsoft.com/office/drawing/2014/main" id="{111E76A3-A3CD-4153-AD31-7EF84832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mätpunkt och driftläge för att pröva en hypotes.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Bedöm resultatet med instrumentdata och kretsens funktion.</a:t>
            </a:r>
          </a:p>
        </p:txBody>
      </p:sp>
      <p:sp>
        <p:nvSpPr>
          <p:cNvPr id="4" name="Observation skiljs från hypotes och slutsats">
            <a:extLst xmlns:a="http://schemas.openxmlformats.org/drawingml/2006/main">
              <a:ext uri="{FF2B5EF4-FFF2-40B4-BE49-F238E27FC236}">
                <a16:creationId xmlns:a16="http://schemas.microsoft.com/office/drawing/2014/main" id="{4471CDDB-F8CE-4541-AB91-941A16C7F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skiljs från hypotes och slutsats</a:t>
            </a:r>
          </a:p>
        </p:txBody>
      </p:sp>
      <p:sp>
        <p:nvSpPr>
          <p:cNvPr id="5" name="Ett högt spänningsfall kan lokalisera förhöjd resistans.&#10;Skriv va">
            <a:extLst xmlns:a="http://schemas.openxmlformats.org/drawingml/2006/main">
              <a:ext uri="{FF2B5EF4-FFF2-40B4-BE49-F238E27FC236}">
                <a16:creationId xmlns:a16="http://schemas.microsoft.com/office/drawing/2014/main" id="{2057B0C5-CD64-4E83-9D69-B6F29FF19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högt spänningsfall kan lokalisera förhöjd resistans.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vad mätningen visar och vad som återstår.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665674DB-AA3D-45AF-945F-83CB61794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6a819f2f3741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dovisning inför examination">
            <a:extLst xmlns:a="http://schemas.openxmlformats.org/drawingml/2006/main">
              <a:ext uri="{FF2B5EF4-FFF2-40B4-BE49-F238E27FC236}">
                <a16:creationId xmlns:a16="http://schemas.microsoft.com/office/drawing/2014/main" id="{803F6086-CEE8-467B-BDE1-A91DBA67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Redovisning inför examination</a:t>
            </a:r>
          </a:p>
        </p:txBody>
      </p:sp>
      <p:sp>
        <p:nvSpPr>
          <p:cNvPr id="3" name="En bra lösning visar samband, insättning, enhet och tolkning.&#10;Öpp">
            <a:extLst xmlns:a="http://schemas.openxmlformats.org/drawingml/2006/main">
              <a:ext uri="{FF2B5EF4-FFF2-40B4-BE49-F238E27FC236}">
                <a16:creationId xmlns:a16="http://schemas.microsoft.com/office/drawing/2014/main" id="{B7B1FC1A-4A8A-4A33-92CF-C8092BE35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bra lösning visar samband, insättning, enhet och tolkning.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Öppna fall kräver motiverade beslut med tydliga antaganden.</a:t>
            </a:r>
          </a:p>
        </p:txBody>
      </p:sp>
      <p:sp>
        <p:nvSpPr>
          <p:cNvPr id="4" name="Detta pass är repetition, inte ordinarie tentamen">
            <a:extLst xmlns:a="http://schemas.openxmlformats.org/drawingml/2006/main">
              <a:ext uri="{FF2B5EF4-FFF2-40B4-BE49-F238E27FC236}">
                <a16:creationId xmlns:a16="http://schemas.microsoft.com/office/drawing/2014/main" id="{03CA184F-614E-4CDE-A337-B8D0E4A68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Detta pass är repetition, inte ordinarie tentamen</a:t>
            </a:r>
          </a:p>
        </p:txBody>
      </p:sp>
      <p:sp>
        <p:nvSpPr>
          <p:cNvPr id="5" name="Tentamensdatum och tillåtna hjälpmedel meddelas av läraren.&#10;Prakt">
            <a:extLst xmlns:a="http://schemas.openxmlformats.org/drawingml/2006/main">
              <a:ext uri="{FF2B5EF4-FFF2-40B4-BE49-F238E27FC236}">
                <a16:creationId xmlns:a16="http://schemas.microsoft.com/office/drawing/2014/main" id="{22F25F71-0657-4F78-8C29-454AD382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Tentamensdatum och tillåtna hjälpmedel meddelas av läraren.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Praktiska lärandemål bedöms genom de särskilda laborationerna.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DC142BD-1C54-4E2E-889A-7E69CBC4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b763490b7648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ätning efter åtgärd">
            <a:extLst xmlns:a="http://schemas.openxmlformats.org/drawingml/2006/main">
              <a:ext uri="{FF2B5EF4-FFF2-40B4-BE49-F238E27FC236}">
                <a16:creationId xmlns:a16="http://schemas.microsoft.com/office/drawing/2014/main" id="{104E0761-073B-4B9E-83D2-F47B7CE7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mätning efter åtgärd</a:t>
            </a:r>
          </a:p>
        </p:txBody>
      </p:sp>
      <p:sp>
        <p:nvSpPr>
          <p:cNvPr id="10" name="Källan håller 12 V. Vid 2 A får lasten 10 V före och 11,8 V efter">
            <a:extLst xmlns:a="http://schemas.openxmlformats.org/drawingml/2006/main">
              <a:ext uri="{FF2B5EF4-FFF2-40B4-BE49-F238E27FC236}">
                <a16:creationId xmlns:a16="http://schemas.microsoft.com/office/drawing/2014/main" id="{AFC307BE-CD13-431D-99E7-44597CAE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håller 12 V. Vid 3 A får lasten 10,5 V före och 11,85 V efter åtgärd (strömmen antas oförändrad).</a:t>
            </a:r>
          </a:p>
        </p:txBody>
      </p:sp>
      <p:sp>
        <p:nvSpPr>
          <p:cNvPr id="11" name="Rslinga = (Ukälla − Ulast)/I">
            <a:extLst xmlns:a="http://schemas.openxmlformats.org/drawingml/2006/main">
              <a:ext uri="{FF2B5EF4-FFF2-40B4-BE49-F238E27FC236}">
                <a16:creationId xmlns:a16="http://schemas.microsoft.com/office/drawing/2014/main" id="{C5690F6F-139C-4194-B2E8-CE227692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)/I</a:t>
            </a:r>
          </a:p>
        </p:txBody>
      </p:sp>
      <p:sp>
        <p:nvSpPr>
          <p:cNvPr id="12" name="1. Före: R = (12 − 10)/2 = 1 Ω.&#10;2. Efter: R = (12 − 11,8)/2 = 0,1">
            <a:extLst xmlns:a="http://schemas.openxmlformats.org/drawingml/2006/main">
              <a:ext uri="{FF2B5EF4-FFF2-40B4-BE49-F238E27FC236}">
                <a16:creationId xmlns:a16="http://schemas.microsoft.com/office/drawing/2014/main" id="{576A008C-0186-4A17-B57B-0978769F4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Före: R = (12 − 10,5)/3 = 0,50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Efter: R = (12 − 11,85)/3 = 0,05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Samma ström och mätpunkter visar tydligt minskad resistans.</a:t>
            </a:r>
          </a:p>
        </p:txBody>
      </p:sp>
      <p:sp>
        <p:nvSpPr>
          <p:cNvPr id="13" name="Funktionsdata stödjer förbättring. Föreskrivna anslutnings- och s">
            <a:extLst xmlns:a="http://schemas.openxmlformats.org/drawingml/2006/main">
              <a:ext uri="{FF2B5EF4-FFF2-40B4-BE49-F238E27FC236}">
                <a16:creationId xmlns:a16="http://schemas.microsoft.com/office/drawing/2014/main" id="{E3AE33BD-F6CC-451D-9458-77CE00E3E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Funktionsdata stödjer förbättring. Föreskrivna anslutnings- och säkerhetskontroller ska också dokumenteras.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40A7B791-D1FC-4084-A758-D851CFD7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c685a7cb2d41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1CCB60F7-CCF2-41F4-A7A9-8BF35BD5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3.6</a:t>
            </a:r>
          </a:p>
        </p:txBody>
      </p:sp>
      <p:sp>
        <p:nvSpPr>
          <p:cNvPr id="10" name="P = √3 · UL · IL · PF">
            <a:extLst xmlns:a="http://schemas.openxmlformats.org/drawingml/2006/main">
              <a:ext uri="{FF2B5EF4-FFF2-40B4-BE49-F238E27FC236}">
                <a16:creationId xmlns:a16="http://schemas.microsoft.com/office/drawing/2014/main" id="{AF78E3A3-442A-49A5-AAA6-CA79BDB8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</a:t>
            </a:r>
          </a:p>
        </p:txBody>
      </p:sp>
      <p:sp>
        <p:nvSpPr>
          <p:cNvPr id="11" name="P är total aktiv trefaseffekt i W. UL och IL är linjevärden i V o">
            <a:extLst xmlns:a="http://schemas.openxmlformats.org/drawingml/2006/main">
              <a:ext uri="{FF2B5EF4-FFF2-40B4-BE49-F238E27FC236}">
                <a16:creationId xmlns:a16="http://schemas.microsoft.com/office/drawing/2014/main" id="{A74A5907-E95C-437F-B19E-3D1D7A34D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den totala aktiva effekten i W.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linjevärden.</a:t>
            </a:r>
          </a:p>
        </p:txBody>
      </p:sp>
      <p:sp>
        <p:nvSpPr>
          <p:cNvPr id="12" name="Förutsättningar: Symmetrisk trefas, UL = 400 V, IL = 8 A och PF =">
            <a:extLst xmlns:a="http://schemas.openxmlformats.org/drawingml/2006/main">
              <a:ext uri="{FF2B5EF4-FFF2-40B4-BE49-F238E27FC236}">
                <a16:creationId xmlns:a16="http://schemas.microsoft.com/office/drawing/2014/main" id="{9F9FB7E3-3BE2-4E06-83A6-2E87263CD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Symmetrisk trefas,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8 A och PF = 0,80.</a:t>
            </a:r>
          </a:p>
        </p:txBody>
      </p:sp>
      <p:sp>
        <p:nvSpPr>
          <p:cNvPr id="13" name="Arbetsgång: Multiplicera faktorerna och omvandla W till kW. Använ">
            <a:extLst xmlns:a="http://schemas.openxmlformats.org/drawingml/2006/main">
              <a:ext uri="{FF2B5EF4-FFF2-40B4-BE49-F238E27FC236}">
                <a16:creationId xmlns:a16="http://schemas.microsoft.com/office/drawing/2014/main" id="{685D1FBE-F662-46B4-B73B-7C1D3493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faktorerna och gör om W till kW. Använd inte grenspänningen i den här formeln.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B1BB651-A058-450A-9DE3-2FA8C2C60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dc747000a747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78141FE6-2F31-4A67-B107-D539F86F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3.6</a:t>
            </a:r>
          </a:p>
        </p:txBody>
      </p:sp>
      <p:sp>
        <p:nvSpPr>
          <p:cNvPr id="3" name="Trefaseffekt">
            <a:extLst xmlns:a="http://schemas.openxmlformats.org/drawingml/2006/main">
              <a:ext uri="{FF2B5EF4-FFF2-40B4-BE49-F238E27FC236}">
                <a16:creationId xmlns:a16="http://schemas.microsoft.com/office/drawing/2014/main" id="{28648375-4A8C-45C2-A786-E21B7D43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Trefaseffekt</a:t>
            </a:r>
          </a:p>
        </p:txBody>
      </p:sp>
      <p:sp>
        <p:nvSpPr>
          <p:cNvPr id="4" name="Symmetrisk trefas: UL = 400 V, IL = 8 A och PF = 0,80. Beräkna ak">
            <a:extLst xmlns:a="http://schemas.openxmlformats.org/drawingml/2006/main">
              <a:ext uri="{FF2B5EF4-FFF2-40B4-BE49-F238E27FC236}">
                <a16:creationId xmlns:a16="http://schemas.microsoft.com/office/drawing/2014/main" id="{0628B717-DF05-454C-82E8-F7DC323E8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har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8 A och PF = 0,80. Beräkna den aktiva effekten.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EB08295-928F-40C8-BAA3-DDABD2A5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E7022722-C40A-4164-9E6F-93758897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fa0714428e4f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A1B7CD4C-3472-4596-B191-6C6B2AF1F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3.7</a:t>
            </a:r>
          </a:p>
        </p:txBody>
      </p:sp>
      <p:sp>
        <p:nvSpPr>
          <p:cNvPr id="10" name="δ = (a/100) · visning + n · upplösning">
            <a:extLst xmlns:a="http://schemas.openxmlformats.org/drawingml/2006/main">
              <a:ext uri="{FF2B5EF4-FFF2-40B4-BE49-F238E27FC236}">
                <a16:creationId xmlns:a16="http://schemas.microsoft.com/office/drawing/2014/main" id="{A330EDE2-E709-4A9F-BAB8-9F066167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 = (a/100) · visning + n · upplösning</a:t>
            </a:r>
          </a:p>
        </p:txBody>
      </p:sp>
      <p:sp>
        <p:nvSpPr>
          <p:cNvPr id="11" name="δ är felgränsens belopp. n siffror betyder n displaysteg, inte n ">
            <a:extLst xmlns:a="http://schemas.openxmlformats.org/drawingml/2006/main">
              <a:ext uri="{FF2B5EF4-FFF2-40B4-BE49-F238E27FC236}">
                <a16:creationId xmlns:a16="http://schemas.microsoft.com/office/drawing/2014/main" id="{51D28328-1139-4F4C-A33C-0C5FF453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 är felgränsen. n siffror betyder n steg i sista siffran, inte n decimaler.</a:t>
            </a:r>
          </a:p>
        </p:txBody>
      </p:sp>
      <p:sp>
        <p:nvSpPr>
          <p:cNvPr id="12" name="Förutsättningar: Visning 24,00 V, a = 1,0, n = 2 och upplösning 0">
            <a:extLst xmlns:a="http://schemas.openxmlformats.org/drawingml/2006/main">
              <a:ext uri="{FF2B5EF4-FFF2-40B4-BE49-F238E27FC236}">
                <a16:creationId xmlns:a16="http://schemas.microsoft.com/office/drawing/2014/main" id="{86AF1024-FBAA-4D51-A600-F754C6FE3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Visat värde 24,00 V, a = 1,0, n = 2 och upplösning 0,01 V.</a:t>
            </a:r>
          </a:p>
        </p:txBody>
      </p:sp>
      <p:sp>
        <p:nvSpPr>
          <p:cNvPr id="13" name="Arbetsgång: Räkna procentbidrag och sifferbidrag var för sig. Sum">
            <a:extLst xmlns:a="http://schemas.openxmlformats.org/drawingml/2006/main">
              <a:ext uri="{FF2B5EF4-FFF2-40B4-BE49-F238E27FC236}">
                <a16:creationId xmlns:a16="http://schemas.microsoft.com/office/drawing/2014/main" id="{6607FB51-56FC-4D14-87DD-23488600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procentdelen och siffrornas del var för sig, lägg ihop och skriv svaret som visat värde ± δ.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AB45810C-FC3C-45F1-9136-48E414B2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22c5b2130a42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8CC36F05-560A-4F38-8388-5D2348A14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3.7</a:t>
            </a:r>
          </a:p>
        </p:txBody>
      </p:sp>
      <p:sp>
        <p:nvSpPr>
          <p:cNvPr id="3" name="Mätgräns">
            <a:extLst xmlns:a="http://schemas.openxmlformats.org/drawingml/2006/main">
              <a:ext uri="{FF2B5EF4-FFF2-40B4-BE49-F238E27FC236}">
                <a16:creationId xmlns:a16="http://schemas.microsoft.com/office/drawing/2014/main" id="{6EB279FF-A908-4B1C-84E7-4236620C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Mätgräns</a:t>
            </a:r>
          </a:p>
        </p:txBody>
      </p:sp>
      <p:sp>
        <p:nvSpPr>
          <p:cNvPr id="4" name="24,00 V visas med specifikation ±(1,0 % + 2 siffror), upplösning ">
            <a:extLst xmlns:a="http://schemas.openxmlformats.org/drawingml/2006/main">
              <a:ext uri="{FF2B5EF4-FFF2-40B4-BE49-F238E27FC236}">
                <a16:creationId xmlns:a16="http://schemas.microsoft.com/office/drawing/2014/main" id="{2F9601D5-6D6D-46E1-94DD-D6B385201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instrument visar 24,00 V. Specifikationen är ±(1,0 % + 2 siffror) och upplösningen 0,01 V. Beräkna felgränsen.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A41D6A3-4841-483C-A779-08C2D1EC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72A24F5-4C47-4B31-B797-2200ED98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9dc32bd27842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34EBDA4-09D3-45D6-8AFB-B9F41A55A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3.8</a:t>
            </a:r>
          </a:p>
        </p:txBody>
      </p:sp>
      <p:sp>
        <p:nvSpPr>
          <p:cNvPr id="10" name="Alla energikällor ingår i arbetsberedningen">
            <a:extLst xmlns:a="http://schemas.openxmlformats.org/drawingml/2006/main">
              <a:ext uri="{FF2B5EF4-FFF2-40B4-BE49-F238E27FC236}">
                <a16:creationId xmlns:a16="http://schemas.microsoft.com/office/drawing/2014/main" id="{C953BC44-F61C-40C8-B1CA-B73170D4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Alla energikällor ingår i arbetsberedningen</a:t>
            </a:r>
          </a:p>
        </p:txBody>
      </p:sp>
      <p:sp>
        <p:nvSpPr>
          <p:cNvPr id="11" name="En batterireserv kan mata delar även när huvudmatningen hanterats">
            <a:extLst xmlns:a="http://schemas.openxmlformats.org/drawingml/2006/main">
              <a:ext uri="{FF2B5EF4-FFF2-40B4-BE49-F238E27FC236}">
                <a16:creationId xmlns:a16="http://schemas.microsoft.com/office/drawing/2014/main" id="{A4B08BAC-1EBA-464F-9DD3-C22C52A7F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batterireserv kan mata delar av anläggningen även när huvudmatningen är frånkopplad.</a:t>
            </a:r>
          </a:p>
        </p:txBody>
      </p:sp>
      <p:sp>
        <p:nvSpPr>
          <p:cNvPr id="12" name="Förutsättningar: Arbetsplanen missar batterireserven. Säker frånv">
            <a:extLst xmlns:a="http://schemas.openxmlformats.org/drawingml/2006/main">
              <a:ext uri="{FF2B5EF4-FFF2-40B4-BE49-F238E27FC236}">
                <a16:creationId xmlns:a16="http://schemas.microsoft.com/office/drawing/2014/main" id="{BBC27F38-715A-4155-951A-76D622593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Batterireserven saknas i arbetsplanen. Det är därför inte kontrollerat att hela området är spänningslöst.</a:t>
            </a:r>
          </a:p>
        </p:txBody>
      </p:sp>
      <p:sp>
        <p:nvSpPr>
          <p:cNvPr id="13" name="Arbetsgång: Beskriv brist, möjlig följd och första beslut. Ange v">
            <a:extLst xmlns:a="http://schemas.openxmlformats.org/drawingml/2006/main">
              <a:ext uri="{FF2B5EF4-FFF2-40B4-BE49-F238E27FC236}">
                <a16:creationId xmlns:a16="http://schemas.microsoft.com/office/drawing/2014/main" id="{4B5B573A-45FF-436D-864C-09BCA385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bristen, en möjlig följd och det första beslutet, och ange vad som måste läggas till innan arbetet börjar.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D84A3E88-C04D-458A-97CB-78B5FD21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a9e4d5782c48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0BF0D83F-14D2-4BB9-96A3-E0A5CD86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3.8</a:t>
            </a:r>
          </a:p>
        </p:txBody>
      </p:sp>
      <p:sp>
        <p:nvSpPr>
          <p:cNvPr id="3" name="Riskbedömning">
            <a:extLst xmlns:a="http://schemas.openxmlformats.org/drawingml/2006/main">
              <a:ext uri="{FF2B5EF4-FFF2-40B4-BE49-F238E27FC236}">
                <a16:creationId xmlns:a16="http://schemas.microsoft.com/office/drawing/2014/main" id="{4D94E5C7-94A3-48E8-A26E-857D3B875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Riskbedömning</a:t>
            </a:r>
          </a:p>
        </p:txBody>
      </p:sp>
      <p:sp>
        <p:nvSpPr>
          <p:cNvPr id="4" name="Arbetsplanen hanterar huvudmatningen men missar batterireserven. ">
            <a:extLst xmlns:a="http://schemas.openxmlformats.org/drawingml/2006/main">
              <a:ext uri="{FF2B5EF4-FFF2-40B4-BE49-F238E27FC236}">
                <a16:creationId xmlns:a16="http://schemas.microsoft.com/office/drawing/2014/main" id="{FFB8B4BE-34AC-4BB4-9E9B-12C3E3F71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Arbetsplanen tar med huvudmatningen men har missat batterireserven. Ange bristen, en möjlig konsekvens och det första beslutet.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FD60AA3-3B7A-47F0-BF0E-2450061A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1455B3DB-17F7-42BE-944C-4C73283EB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8968f0e4964c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5DA98094-4AFA-4E0B-A58B-51CAFD0D9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3.9</a:t>
            </a:r>
          </a:p>
        </p:txBody>
      </p:sp>
      <p:sp>
        <p:nvSpPr>
          <p:cNvPr id="10" name="Hållkontakt ska ge sluten väg efter START-släpp">
            <a:extLst xmlns:a="http://schemas.openxmlformats.org/drawingml/2006/main">
              <a:ext uri="{FF2B5EF4-FFF2-40B4-BE49-F238E27FC236}">
                <a16:creationId xmlns:a16="http://schemas.microsoft.com/office/drawing/2014/main" id="{4398B91A-5DDD-4851-BE42-4C0F5C3D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väg ska hålla K1 efter START-släpp?</a:t>
            </a:r>
          </a:p>
        </p:txBody>
      </p:sp>
      <p:sp>
        <p:nvSpPr>
          <p:cNvPr id="11" name="NO-hållkontakten ligger parallellt med START och ska sluta när K1">
            <a:extLst xmlns:a="http://schemas.openxmlformats.org/drawingml/2006/main">
              <a:ext uri="{FF2B5EF4-FFF2-40B4-BE49-F238E27FC236}">
                <a16:creationId xmlns:a16="http://schemas.microsoft.com/office/drawing/2014/main" id="{91D99032-E045-4D87-BD63-09CA60CC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Hållkontakten (NO) ligger parallellt med START och ska sluta när K1 drar.</a:t>
            </a:r>
          </a:p>
        </p:txBody>
      </p:sp>
      <p:sp>
        <p:nvSpPr>
          <p:cNvPr id="12" name="Förutsättningar: K1 drar under START, släpper efteråt och har rät">
            <a:extLst xmlns:a="http://schemas.openxmlformats.org/drawingml/2006/main">
              <a:ext uri="{FF2B5EF4-FFF2-40B4-BE49-F238E27FC236}">
                <a16:creationId xmlns:a16="http://schemas.microsoft.com/office/drawing/2014/main" id="{1DDDC84F-67DB-4317-B9FD-A929F6F1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K1 drar när START hålls in och släpper efteråt. Matningsspänningen är rätt under starten.</a:t>
            </a:r>
          </a:p>
        </p:txBody>
      </p:sp>
      <p:sp>
        <p:nvSpPr>
          <p:cNvPr id="13" name="Arbetsgång: Föreslå hypotes i hållvägen och en kontroll som kan p">
            <a:extLst xmlns:a="http://schemas.openxmlformats.org/drawingml/2006/main">
              <a:ext uri="{FF2B5EF4-FFF2-40B4-BE49-F238E27FC236}">
                <a16:creationId xmlns:a16="http://schemas.microsoft.com/office/drawing/2014/main" id="{46707FC2-1CC0-429A-802A-063DD9C4F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Föreslå en orsak i hållvägen och en kontroll som prövar den, enligt en säker mätplan.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8CF46304-F308-4138-BF12-09E6538B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9c440a44f649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1C45CD81-07D2-4647-8793-4E953129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3.9</a:t>
            </a:r>
          </a:p>
        </p:txBody>
      </p:sp>
      <p:sp>
        <p:nvSpPr>
          <p:cNvPr id="3" name="Hållkrets">
            <a:extLst xmlns:a="http://schemas.openxmlformats.org/drawingml/2006/main">
              <a:ext uri="{FF2B5EF4-FFF2-40B4-BE49-F238E27FC236}">
                <a16:creationId xmlns:a16="http://schemas.microsoft.com/office/drawing/2014/main" id="{A7B5BCC8-1597-47BC-B116-92EE04BCE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Hållkrets</a:t>
            </a:r>
          </a:p>
        </p:txBody>
      </p:sp>
      <p:sp>
        <p:nvSpPr>
          <p:cNvPr id="4" name="K1 drar med START men släpper vid släpp. Matningen håller rätt sp">
            <a:extLst xmlns:a="http://schemas.openxmlformats.org/drawingml/2006/main">
              <a:ext uri="{FF2B5EF4-FFF2-40B4-BE49-F238E27FC236}">
                <a16:creationId xmlns:a16="http://schemas.microsoft.com/office/drawing/2014/main" id="{DA3F2DA7-8EA0-473E-AFAC-FC3686C8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drar när START trycks in men släpper när knappen släpps. Matningen har rätt spänning under starten. Föreslå en tänkbar orsak och nästa kontroll.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49FA2FA-D3DB-4707-BCC8-7F30F76A6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3248D927-08CD-4397-B686-14907685B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3e8c51017143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86954A47-D1E9-4BFC-A2DB-577721CF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3.10</a:t>
            </a:r>
          </a:p>
        </p:txBody>
      </p:sp>
      <p:sp>
        <p:nvSpPr>
          <p:cNvPr id="10" name="Rslinga = (Ukälla − Ulast)/I">
            <a:extLst xmlns:a="http://schemas.openxmlformats.org/drawingml/2006/main">
              <a:ext uri="{FF2B5EF4-FFF2-40B4-BE49-F238E27FC236}">
                <a16:creationId xmlns:a16="http://schemas.microsoft.com/office/drawing/2014/main" id="{F7C84C99-FDA1-4667-8E3A-E9EDFDD5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)/I</a:t>
            </a:r>
          </a:p>
        </p:txBody>
      </p:sp>
      <p:sp>
        <p:nvSpPr>
          <p:cNvPr id="11" name="Slingresistans omfattar fram- och returväg mellan mätpunkterna.">
            <a:extLst xmlns:a="http://schemas.openxmlformats.org/drawingml/2006/main">
              <a:ext uri="{FF2B5EF4-FFF2-40B4-BE49-F238E27FC236}">
                <a16:creationId xmlns:a16="http://schemas.microsoft.com/office/drawing/2014/main" id="{8A7F6B54-4E45-4A8D-9AE3-5D9210E3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Slingresistansen är resistansen i fram- och returledaren tillsammans.</a:t>
            </a:r>
          </a:p>
        </p:txBody>
      </p:sp>
      <p:sp>
        <p:nvSpPr>
          <p:cNvPr id="12" name="Förutsättningar: Källan håller 24 V. Vid 4 A är lastspänningen 20">
            <a:extLst xmlns:a="http://schemas.openxmlformats.org/drawingml/2006/main">
              <a:ext uri="{FF2B5EF4-FFF2-40B4-BE49-F238E27FC236}">
                <a16:creationId xmlns:a16="http://schemas.microsoft.com/office/drawing/2014/main" id="{A5E6DD52-41BC-4F4D-B7AF-44D6A0C24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håller 24 V. Vid 4 A är spänningen vid lasten 20 V före och 23,6 V efter. Mätpunkterna är desamma.</a:t>
            </a:r>
          </a:p>
        </p:txBody>
      </p:sp>
      <p:sp>
        <p:nvSpPr>
          <p:cNvPr id="13" name="Arbetsgång: Beräkna spänningsfallet och resistansen i båda fallen">
            <a:extLst xmlns:a="http://schemas.openxmlformats.org/drawingml/2006/main">
              <a:ext uri="{FF2B5EF4-FFF2-40B4-BE49-F238E27FC236}">
                <a16:creationId xmlns:a16="http://schemas.microsoft.com/office/drawing/2014/main" id="{86D945CC-BAFC-4588-91BE-C8C042F7F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spänningsfallet och resistansen före och efter, och jämför.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AAA52CAB-4F12-4CE5-96F7-8E580655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ba446a3c7f43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F5553782-5F6B-4593-9E6B-D69349EB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3.10</a:t>
            </a:r>
          </a:p>
        </p:txBody>
      </p:sp>
      <p:sp>
        <p:nvSpPr>
          <p:cNvPr id="3" name="Felsökning med data">
            <a:extLst xmlns:a="http://schemas.openxmlformats.org/drawingml/2006/main">
              <a:ext uri="{FF2B5EF4-FFF2-40B4-BE49-F238E27FC236}">
                <a16:creationId xmlns:a16="http://schemas.microsoft.com/office/drawing/2014/main" id="{A4A1C52E-126F-42F0-86DE-6C110B36B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Felsökning med data</a:t>
            </a:r>
          </a:p>
        </p:txBody>
      </p:sp>
      <p:sp>
        <p:nvSpPr>
          <p:cNvPr id="4" name="En 24 V-källa matar en last. Vid 4 A mäts 20 V vid lasten. Efter ">
            <a:extLst xmlns:a="http://schemas.openxmlformats.org/drawingml/2006/main">
              <a:ext uri="{FF2B5EF4-FFF2-40B4-BE49-F238E27FC236}">
                <a16:creationId xmlns:a16="http://schemas.microsoft.com/office/drawing/2014/main" id="{5FCA3186-4F04-4285-B78E-88E638A5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 V-källa matar en last. Vid 4 A mäts 20 V vid lasten. Efter en åtgärd mäts 23,6 V vid samma ström. Beräkna slingresistansen före och efter.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5FDF634-0075-4A5E-BC6C-DA9001A11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90A2E070-0A81-43C2-8165-99710D164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24 V-källa matar en last med 4 A; 20 V v" descr="24 V-källa matar en last med 4 A; 20 V vid lasten före och 23,6 V efter åtgärd; slingresistans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ffc5e978014e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17285A79-8ACF-46CC-9153-AD79946F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metodval kan du nu förklara bättre än vid lektionens start">
            <a:extLst xmlns:a="http://schemas.openxmlformats.org/drawingml/2006/main">
              <a:ext uri="{FF2B5EF4-FFF2-40B4-BE49-F238E27FC236}">
                <a16:creationId xmlns:a16="http://schemas.microsoft.com/office/drawing/2014/main" id="{15973984-4213-4CE6-B2BB-5042D67F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metodval kan du nu förklara bättre än vid lektionens start?</a:t>
            </a:r>
          </a:p>
        </p:txBody>
      </p:sp>
      <p:sp>
        <p:nvSpPr>
          <p:cNvPr id="4" name="Repetera de uppgifter där metoden var osäker. Kontrollera läraren">
            <a:extLst xmlns:a="http://schemas.openxmlformats.org/drawingml/2006/main">
              <a:ext uri="{FF2B5EF4-FFF2-40B4-BE49-F238E27FC236}">
                <a16:creationId xmlns:a16="http://schemas.microsoft.com/office/drawing/2014/main" id="{1C1B8DD7-E2A8-4A5C-AC5F-391963A5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Repetera de uppgifter där metoden var osäker. Kontrollera lärarens besked om tentamensdatum, hjälpmedel och eventuella kompletteringar.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7A59C4D1-55A0-4B60-892D-01F99DDE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6a9b8952b849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67D0B9B8-3F18-4E64-9500-FA797704C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BB2E55AF-5393-47C9-9831-D868A5E1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OpenStax: Kirchhoffs lagar">
            <a:extLst xmlns:a="http://schemas.openxmlformats.org/drawingml/2006/main">
              <a:ext uri="{FF2B5EF4-FFF2-40B4-BE49-F238E27FC236}">
                <a16:creationId xmlns:a16="http://schemas.microsoft.com/office/drawing/2014/main" id="{2E715497-446F-46C0-9126-5313460E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e901b8c53c3489c"/>
              </a:rPr>
              <a:t>OpenStax: Kirchhoffs lagar</a:t>
            </a:r>
          </a:p>
        </p:txBody>
      </p:sp>
      <p:sp>
        <p:nvSpPr>
          <p:cNvPr id="5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85995F6B-36BC-4F3F-8467-393A0B20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fe9e22994214f01"/>
              </a:rPr>
              <a:t>OpenStax: enkla växelströmskretsar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FBFFBEA4-F979-480F-8695-151ED562E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a5b949538eb4ddc"/>
              </a:rPr>
              <a:t>Schneider Electric: skenbar effekt</a:t>
            </a:r>
          </a:p>
        </p:txBody>
      </p:sp>
      <p:sp>
        <p:nvSpPr>
          <p:cNvPr id="7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68AEBC36-8981-46D5-903B-BBAA7E707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5276ddb29764fee"/>
              </a:rPr>
              <a:t>SEK: SS-EN 50110-1, utgåva 4:2024</a:t>
            </a:r>
          </a:p>
        </p:txBody>
      </p:sp>
      <p:sp>
        <p:nvSpPr>
          <p:cNvPr id="9" name="22">
            <a:extLst xmlns:a="http://schemas.openxmlformats.org/drawingml/2006/main">
              <a:ext uri="{FF2B5EF4-FFF2-40B4-BE49-F238E27FC236}">
                <a16:creationId xmlns:a16="http://schemas.microsoft.com/office/drawing/2014/main" id="{E7BDE491-E931-4493-B434-10B95155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2026-09-20T20:10:43.2660000Z</dcterms:created>
  <dcterms:modified xsi:type="dcterms:W3CDTF">2026-09-20T20:10:43.2660000Z</dcterms:modified>
</coreProperties>
</file>