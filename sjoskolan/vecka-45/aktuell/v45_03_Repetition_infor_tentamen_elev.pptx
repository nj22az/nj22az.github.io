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37c34ddacd4546b1" Type="http://schemas.openxmlformats.org/officeDocument/2006/relationships/officeDocument" Target="ppt/presentation.xml"/><Relationship Id="R861db07599aa41dd" Type="http://schemas.openxmlformats.org/officeDocument/2006/relationships/extended-properties" Target="docProps/app.xml"/><Relationship Id="Rd8cf384cba124e90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a38d8fb4f6ec40e4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ed11355ea2543db" Type="http://schemas.openxmlformats.org/officeDocument/2006/relationships/theme" Target="theme/theme1.xml"/><Relationship Id="R4a30431852bc4203" Type="http://schemas.openxmlformats.org/officeDocument/2006/relationships/presProps" Target="presProps.xml"/><Relationship Id="R59b04d653c184694" Type="http://schemas.openxmlformats.org/officeDocument/2006/relationships/tableStyles" Target="tableStyles.xml"/><Relationship Id="Ra38d8fb4f6ec40e4" Type="http://schemas.openxmlformats.org/officeDocument/2006/relationships/slideMaster" Target="slideMasters/slideMaster1.xml"/><Relationship Id="Rba35c611fa944afe" Type="http://schemas.openxmlformats.org/officeDocument/2006/relationships/viewProps" Target="viewProp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e9bbca99fd0e4bfe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dbed5ff74e9b4304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8d90e2e815ac47ca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3599dc8b372340a0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57876e5b8ebd4956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d9291271a5e94ac2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0c894096355d4803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08fa3bb3d3b84b8b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8b9ffc4a04cc45db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7db49676138543fe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fd61dd6cc9ae4a5f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171AF29-9BF1-473B-AFA6-17086F16A420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E8C47869-AB2E-4353-993A-C5F3CBCD7A5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E4BDD63-2879-4553-A7D4-C8B90F66944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47559E2-D642-40B2-A622-29E6C6C0906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CBCBF1D-E8D4-4C02-B339-40A7E12B7A5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722FDD0-541F-4732-A589-6E09DA58B33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A9FD4EB-ED93-4F84-9A20-8F3AF861C5D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87B3B2F-39C7-4AB3-B336-4AA52F53712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C14936C-5A60-4749-9BA4-077B860C97E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C221E00-8DF1-4F1B-832D-71DC043B581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42DB1BD-E287-4420-8511-29126B06189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9B11597-97EC-49B5-A400-7D26520A3C0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F742E12-71EE-4A0A-A25A-482AF08CB59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B99B004-C36A-4FB2-9F9D-CE473319A95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07C9783-743E-4094-A2AE-9E44E3D473E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8C4FC59-7B72-4123-8378-0EA50884325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37F9AEE-67E4-463F-959F-E9E3A1B888F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6354C6D0-6530-44C0-8216-34BD311A97A4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6428CFC9-6708-459E-B81E-1E9C1425772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76003C71-1529-40B2-8C48-8F715F571DC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643222D-12A8-4E31-8062-7D5BCCBAB7A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97D2405-3A74-4011-A349-9548796B9D3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E78F98B1-4335-49A0-A5DC-F7821F48D4D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3911721C-4555-47B9-A29D-0F448969C4F8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C2D7DE53-B347-45DD-AFFA-3E8BE03250CE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F97C298-A28D-4A26-BDCA-B098B846E55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09775CF6-BCDA-455B-8823-96F499D329B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E36C5186-AD15-4D60-94C6-61F1173F250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C9823F44-4193-4A09-BFAF-ED3CD7668FF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8F9FE2D-754C-44B3-B95C-26D7D5C751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6BD55E16-C4C4-4E3D-A0B4-2831B64AB90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38325CBA-1C76-41B1-899E-BE2E85DBB7E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D41280AB-E4E6-40DF-AAAA-D319DDAE7A3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4AB46744-49A1-4DBC-9FD7-6DAC1E5B0DC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18BE22B4-F4D3-45EC-8704-71421CA0A1E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07804CA-1F56-49BC-A4BE-414873B51DD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CC616F8-21C9-44E4-AE61-31E60C00685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23E4261-CE3E-4ACE-850C-97041401DE2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70EF0A03-62CA-44B8-B680-52B1168AC43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2B26F306-817F-41C5-8A16-96C7343CE1C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F2F4B232-2E06-41D6-B343-B9F33434424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845369E5-14C4-43E7-8C70-94F9D8946D0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4D77C1B-88A0-480F-A3F3-2C46ED54C19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A0DD105B-4990-483D-9F9F-A9235A346E70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2A207939-C386-457A-BB29-427E4DC69A2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3222363-8D26-4BF7-AEF5-9A8D193537F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C1AD7074-23A8-4F9E-B387-FF125010E36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974EEA3-8E26-4876-9CCC-AEB28DB192D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2C1926D-3764-4E58-9CFE-1C39C0C5990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E1EA9798-D720-420B-B587-FB2D341F8B8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B280F96-07A9-471D-BB10-6FD8F834C84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65504D-A0FC-4E9E-8009-F569A5C9842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9C1D87B-E274-4EF8-9A16-0DB1EAB639A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24ED1D95-F8F3-4745-B8E4-98B6A31BFBD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893952F-F53B-42A5-B3B5-39F8406C721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B05298D-E759-46A6-B3C3-B7B73450F0E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3DC9778-2E8A-4C7F-84B7-05E3D6E2377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9066A76-6749-4154-81E1-81287255579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162cd79811f54438" Type="http://schemas.openxmlformats.org/officeDocument/2006/relationships/slideLayout" Target="../slideLayouts/slideLayout10.xml"/><Relationship Id="R170b8970d5204efa" Type="http://schemas.openxmlformats.org/officeDocument/2006/relationships/slideLayout" Target="../slideLayouts/slideLayout9.xml"/><Relationship Id="R7099d2b2aa324873" Type="http://schemas.openxmlformats.org/officeDocument/2006/relationships/theme" Target="theme/theme2.xml"/><Relationship Id="R7be85162f4ec45ce" Type="http://schemas.openxmlformats.org/officeDocument/2006/relationships/slideLayout" Target="../slideLayouts/slideLayout8.xml"/><Relationship Id="R82b356f2f0c249f8" Type="http://schemas.openxmlformats.org/officeDocument/2006/relationships/slideLayout" Target="../slideLayouts/slideLayout4.xml"/><Relationship Id="R83d3169839ae4a0d" Type="http://schemas.openxmlformats.org/officeDocument/2006/relationships/slideLayout" Target="../slideLayouts/slideLayout7.xml"/><Relationship Id="Ra1c6ad5e34ce4900" Type="http://schemas.openxmlformats.org/officeDocument/2006/relationships/slideLayout" Target="../slideLayouts/slideLayout5.xml"/><Relationship Id="Rb613688b8cb2457e" Type="http://schemas.openxmlformats.org/officeDocument/2006/relationships/slideLayout" Target="../slideLayouts/slideLayout1.xml"/><Relationship Id="Rc5987082cc9f429b" Type="http://schemas.openxmlformats.org/officeDocument/2006/relationships/slideLayout" Target="../slideLayouts/slideLayout2.xml"/><Relationship Id="Re60a86bc3ab141e2" Type="http://schemas.openxmlformats.org/officeDocument/2006/relationships/slideLayout" Target="../slideLayouts/slideLayout3.xml"/><Relationship Id="Rf39fc677f541417c" Type="http://schemas.openxmlformats.org/officeDocument/2006/relationships/slideLayout" Target="../slideLayouts/slideLayout11.xml"/><Relationship Id="Rf7c405d8b6a04f8d" Type="http://schemas.openxmlformats.org/officeDocument/2006/relationships/slideLayout" Target="../slideLayouts/slideLayout6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A772F057-7340-4065-8845-BB8E9AD557B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17DE1F7C-60E1-400E-B38F-52BF24F21A7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B15F1D9-83F8-4DB0-BD2B-BDD3E158134A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05894D5-5CF7-4EDE-B022-CF2BDFF8D01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720839A-B350-41EB-9FE9-191EB435D5E3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613688b8cb2457e"/>
    <p:sldLayoutId xmlns:r="http://schemas.openxmlformats.org/officeDocument/2006/relationships" id="2147483650" r:id="Rc5987082cc9f429b"/>
    <p:sldLayoutId xmlns:r="http://schemas.openxmlformats.org/officeDocument/2006/relationships" id="2147483651" r:id="Re60a86bc3ab141e2"/>
    <p:sldLayoutId xmlns:r="http://schemas.openxmlformats.org/officeDocument/2006/relationships" id="2147483652" r:id="R82b356f2f0c249f8"/>
    <p:sldLayoutId xmlns:r="http://schemas.openxmlformats.org/officeDocument/2006/relationships" id="2147483653" r:id="Ra1c6ad5e34ce4900"/>
    <p:sldLayoutId xmlns:r="http://schemas.openxmlformats.org/officeDocument/2006/relationships" id="2147483654" r:id="Rf7c405d8b6a04f8d"/>
    <p:sldLayoutId xmlns:r="http://schemas.openxmlformats.org/officeDocument/2006/relationships" id="2147483655" r:id="R83d3169839ae4a0d"/>
    <p:sldLayoutId xmlns:r="http://schemas.openxmlformats.org/officeDocument/2006/relationships" id="2147483656" r:id="R7be85162f4ec45ce"/>
    <p:sldLayoutId xmlns:r="http://schemas.openxmlformats.org/officeDocument/2006/relationships" id="2147483657" r:id="R170b8970d5204efa"/>
    <p:sldLayoutId xmlns:r="http://schemas.openxmlformats.org/officeDocument/2006/relationships" id="2147483658" r:id="R162cd79811f54438"/>
    <p:sldLayoutId xmlns:r="http://schemas.openxmlformats.org/officeDocument/2006/relationships" id="2147483659" r:id="Rf39fc677f541417c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nj22az.github.io/sjoskolan/vecka-45/aktuell/Del_3.html" TargetMode="External"/><Relationship Id="rId3" Type="http://schemas.openxmlformats.org/officeDocument/2006/relationships/hyperlink" Target="https://nj22az.github.io/sjoskolan/tentamen.html" TargetMode="External"/><Relationship Id="rId4" Type="http://schemas.openxmlformats.org/officeDocument/2006/relationships/hyperlink" Target="https://nj22az.github.io/sjoskolan/praktiskt-prov.html" TargetMode="External"/><Relationship Id="rId5" Type="http://schemas.openxmlformats.org/officeDocument/2006/relationships/hyperlink" Target="https://openstax.org/books/university-physics-volume-2/pages/10-3-kirchhoffs-rules" TargetMode="External"/><Relationship Id="rId6" Type="http://schemas.openxmlformats.org/officeDocument/2006/relationships/hyperlink" Target="https://openstax.org/books/university-physics-volume-2/pages/15-2-simple-ac-circuits" TargetMode="External"/><Relationship Id="rId7" Type="http://schemas.openxmlformats.org/officeDocument/2006/relationships/hyperlink" Target="https://www.electrical-installation.org/enwiki/Installed_apparent_power_%28kVA%29" TargetMode="External"/><Relationship Id="rId8" Type="http://schemas.openxmlformats.org/officeDocument/2006/relationships/hyperlink" Target="https://elstandard.se/documents/preview/3246401" TargetMode="External"/><Relationship Id="rId9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mslag_v45_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09904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6099048"/>
          </a:xfrm>
          <a:prstGeom prst="rect">
            <a:avLst/>
          </a:prstGeom>
          <a:gradFill rotWithShape="1">
            <a:gsLst>
              <a:gs pos="0">
                <a:srgbClr val="001427">
                  <a:alpha val="70000"/>
                </a:srgbClr>
              </a:gs>
              <a:gs pos="45000">
                <a:srgbClr val="001427">
                  <a:alpha val="55000"/>
                </a:srgbClr>
              </a:gs>
              <a:gs pos="75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6035040" cy="16459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Repetition inför tentamen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697480"/>
            <a:ext cx="5669280" cy="9144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0" i="0">
                <a:solidFill>
                  <a:srgbClr val="FFFFFF"/>
                </a:solidFill>
                <a:latin typeface="Calibri"/>
              </a:rPr>
              <a:t>Blandade uppgifter från hela kursen och så går tentamensveckan till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703320"/>
            <a:ext cx="5852160" cy="4114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Vecka 44 · Fredag 30 oktober · 09.00–11.00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212080"/>
            <a:ext cx="5852160" cy="3657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Del 5 av 5 · Elteknik och ellära</a:t>
            </a:r>
          </a:p>
        </p:txBody>
      </p:sp>
      <p:sp>
        <p:nvSpPr>
          <p:cNvPr id="8" name="Dag: Fredag 30 oktober"/>
          <p:cNvSpPr/>
          <p:nvPr/>
        </p:nvSpPr>
        <p:spPr>
          <a:xfrm>
            <a:off x="548640" y="411480"/>
            <a:ext cx="2944368" cy="438912"/>
          </a:xfrm>
          <a:prstGeom prst="roundRect">
            <a:avLst>
              <a:gd name="adj" fmla="val 18000"/>
            </a:avLst>
          </a:prstGeom>
          <a:solidFill>
            <a:srgbClr val="B517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Fredag 30 oktober</a:t>
            </a:r>
          </a:p>
        </p:txBody>
      </p:sp>
      <p:pic>
        <p:nvPicPr>
          <p:cNvPr id="9" name="Picture 8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Fredag · Repetition inför tentamen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Kursplanen i dag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548640" y="1453896"/>
            <a:ext cx="960120" cy="420624"/>
          </a:xfrm>
          <a:prstGeom prst="roundRect">
            <a:avLst>
              <a:gd name="adj" fmla="val 18000"/>
            </a:avLst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1600" b="1" i="0">
                <a:solidFill>
                  <a:srgbClr val="111111"/>
                </a:solidFill>
                <a:latin typeface="Calibri"/>
              </a:rPr>
              <a:t>LM-4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7360" y="1417320"/>
            <a:ext cx="6858000" cy="8686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Du kan mäta spänning, ström och resistans i likström, växelström och trefas.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67128"/>
            <a:ext cx="960120" cy="420624"/>
          </a:xfrm>
          <a:prstGeom prst="roundRect">
            <a:avLst>
              <a:gd name="adj" fmla="val 18000"/>
            </a:avLst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1600" b="1" i="0">
                <a:solidFill>
                  <a:srgbClr val="111111"/>
                </a:solidFill>
                <a:latin typeface="Calibri"/>
              </a:rPr>
              <a:t>LM-3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2130552"/>
            <a:ext cx="6858000" cy="8686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Du följer reglerna för säkert elarbete ombord när du mäter och bedömer risker.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880360"/>
            <a:ext cx="960120" cy="420624"/>
          </a:xfrm>
          <a:prstGeom prst="roundRect">
            <a:avLst>
              <a:gd name="adj" fmla="val 18000"/>
            </a:avLst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1600" b="1" i="0">
                <a:solidFill>
                  <a:srgbClr val="111111"/>
                </a:solidFill>
                <a:latin typeface="Calibri"/>
              </a:rPr>
              <a:t>LM-8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37360" y="2843784"/>
            <a:ext cx="6858000" cy="8686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Du förstår vad dina mätvärden betyder och drar rätt slutsats.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694176"/>
            <a:ext cx="8046720" cy="4114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 i="0">
                <a:solidFill>
                  <a:srgbClr val="064F91"/>
                </a:solidFill>
                <a:latin typeface="Calibri"/>
              </a:rPr>
              <a:t>Efter lektionen kan du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151376"/>
            <a:ext cx="8046720" cy="1746503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1. välja rätt samband och redovisa beräkningar tydligt.</a:t>
            </a:r>
          </a:p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2. motivera instrumentval, regelval och felsökningsbeslut.</a:t>
            </a:r>
          </a:p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3. säga hur tentamensveckan går till och vad du behöver repetera.</a:t>
            </a:r>
          </a:p>
        </p:txBody>
      </p:sp>
      <p:pic>
        <p:nvPicPr>
          <p:cNvPr id="12" name="Picture 11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Fredag · Repetition inför tentamen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Startfråga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8046720" cy="2011680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3200" b="1" i="0">
                <a:solidFill>
                  <a:srgbClr val="111111"/>
                </a:solidFill>
                <a:latin typeface="Calibri"/>
              </a:rPr>
              <a:t>Vilket område behöver du mest träna: kretsar, AC/trefas, säkerhet eller mätanalys?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74920"/>
            <a:ext cx="8046720" cy="5486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064F91"/>
                </a:solidFill>
                <a:latin typeface="Calibri"/>
              </a:rPr>
              <a:t>Skriv ditt område i chatten.</a:t>
            </a:r>
          </a:p>
        </p:txBody>
      </p:sp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Fredag · Repetition inför tentamen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Så går lektionen till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09.00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83080" y="1417320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Start och startfråga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84248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09.05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1984248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Pass 1: Likström, Kirchhoff, växelström och trefas (avsnitt 1–4) och ett exempel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51176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09.30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2551176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Övning 3.1–3.5 tillsammans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118104"/>
            <a:ext cx="8046720" cy="512064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0080" y="3118104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09.50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3118104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Paus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685032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10.00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3685032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Pass 2: Säkerhet, mätning och felsökning, redovisning och tentamensveckan (avsnitt 5–8) och ett exempel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251960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10.25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4251960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Övningstentan: vi går igenom de uppgifter som flest behöver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818888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10.45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83080" y="4818888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Avslutsfråga, sammanfattning och det här gör du nu</a:t>
            </a:r>
          </a:p>
        </p:txBody>
      </p:sp>
      <p:pic>
        <p:nvPicPr>
          <p:cNvPr id="19" name="Picture 18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Fredag · Repetition inför tentamen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Storheten avgör formelvalet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Varje samband gäller under vissa villkor.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DC-ström beräknas med I = U/R när kretsen är ohmsk.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Energi kräver effekt och tid. Verkningsgrad kan behövas före energiberäkningen.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AC kräver kontroll av vågform och RMS. Trefas kräver tydliga linjevärden.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Mät- och säkerhetsfall behöver dokumenterade villkor, inte bara ett tal.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Fredag · Repetition inför tentamen  ·  Del 5 · avsnitt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Likström och effekt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U = RI     P = UI     E = Pt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Skriv först vilken storhet som söks.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Använd ett samband som passar kretsens koppling.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Serie:</a:t>
            </a:r>
            <a:r>
              <a:rPr sz="2000" b="0" i="0">
                <a:solidFill>
                  <a:srgbClr val="111111"/>
                </a:solidFill>
                <a:latin typeface="Calibri"/>
              </a:rPr>
              <a:t> samma ström. </a:t>
            </a:r>
            <a:r>
              <a:rPr sz="2000" b="1" i="0">
                <a:solidFill>
                  <a:srgbClr val="111111"/>
                </a:solidFill>
                <a:latin typeface="Calibri"/>
              </a:rPr>
              <a:t>Parallell:</a:t>
            </a:r>
            <a:r>
              <a:rPr sz="2000" b="0" i="0">
                <a:solidFill>
                  <a:srgbClr val="111111"/>
                </a:solidFill>
                <a:latin typeface="Calibri"/>
              </a:rPr>
              <a:t> samma spänning.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Enheter och rimlighetskontroll ingår i redovisningen.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Fredag · Repetition inför tentamen  ·  Del 5 · avsnitt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Kirchhoff och delare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ΣI = 0     ΣΔU = 0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Nodlagen</a:t>
            </a:r>
            <a:r>
              <a:rPr sz="2000" b="0" i="0">
                <a:solidFill>
                  <a:srgbClr val="111111"/>
                </a:solidFill>
                <a:latin typeface="Calibri"/>
              </a:rPr>
              <a:t> beskriver strömbalans. </a:t>
            </a:r>
            <a:r>
              <a:rPr sz="2000" b="1" i="0">
                <a:solidFill>
                  <a:srgbClr val="111111"/>
                </a:solidFill>
                <a:latin typeface="Calibri"/>
              </a:rPr>
              <a:t>Slinglagen</a:t>
            </a:r>
            <a:r>
              <a:rPr sz="2000" b="0" i="0">
                <a:solidFill>
                  <a:srgbClr val="111111"/>
                </a:solidFill>
                <a:latin typeface="Calibri"/>
              </a:rPr>
              <a:t> beskriver spänningsbalans.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En ansluten last ändrar en spänningsdelare.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En negativ ström är ett tecken på riktning relativt din pil. Det är inte automatiskt ett räknefel.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Fredag · Repetition inför tentamen  ·  Del 5 · avsnitt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Exempel: metodval i en delare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7315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1">
                <a:solidFill>
                  <a:srgbClr val="4A4A4A"/>
                </a:solidFill>
                <a:latin typeface="Calibri"/>
              </a:rPr>
              <a:t>18 V matar 2 kΩ och 2 kΩ i serie. En last på 2 kΩ ansluts över den nedre resistorn.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94560"/>
            <a:ext cx="4069080" cy="3703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100" b="1" i="0">
                <a:solidFill>
                  <a:srgbClr val="064F91"/>
                </a:solidFill>
                <a:latin typeface="Calibri"/>
              </a:rPr>
              <a:t>U</a:t>
            </a:r>
            <a:r>
              <a:rPr sz="2100" b="1" i="0" baseline="-25000">
                <a:solidFill>
                  <a:srgbClr val="064F91"/>
                </a:solidFill>
                <a:latin typeface="Calibri"/>
              </a:rPr>
              <a:t>ut</a:t>
            </a:r>
            <a:r>
              <a:rPr sz="2100" b="1" i="0">
                <a:solidFill>
                  <a:srgbClr val="064F91"/>
                </a:solidFill>
                <a:latin typeface="Calibri"/>
              </a:rPr>
              <a:t> = U</a:t>
            </a:r>
            <a:r>
              <a:rPr sz="2100" b="1" i="0" baseline="-25000">
                <a:solidFill>
                  <a:srgbClr val="064F91"/>
                </a:solidFill>
                <a:latin typeface="Calibri"/>
              </a:rPr>
              <a:t>in</a:t>
            </a:r>
            <a:r>
              <a:rPr sz="2100" b="1" i="0">
                <a:solidFill>
                  <a:srgbClr val="064F91"/>
                </a:solidFill>
                <a:latin typeface="Calibri"/>
              </a:rPr>
              <a:t> · R</a:t>
            </a:r>
            <a:r>
              <a:rPr sz="2100" b="1" i="0" baseline="-25000">
                <a:solidFill>
                  <a:srgbClr val="064F91"/>
                </a:solidFill>
                <a:latin typeface="Calibri"/>
              </a:rPr>
              <a:t>p</a:t>
            </a:r>
            <a:r>
              <a:rPr sz="2100" b="1" i="0">
                <a:solidFill>
                  <a:srgbClr val="064F91"/>
                </a:solidFill>
                <a:latin typeface="Calibri"/>
              </a:rPr>
              <a:t>/(R</a:t>
            </a:r>
            <a:r>
              <a:rPr sz="2100" b="1" i="0" baseline="-25000">
                <a:solidFill>
                  <a:srgbClr val="064F91"/>
                </a:solidFill>
                <a:latin typeface="Calibri"/>
              </a:rPr>
              <a:t>1</a:t>
            </a:r>
            <a:r>
              <a:rPr sz="2100" b="1" i="0">
                <a:solidFill>
                  <a:srgbClr val="064F91"/>
                </a:solidFill>
                <a:latin typeface="Calibri"/>
              </a:rPr>
              <a:t> + R</a:t>
            </a:r>
            <a:r>
              <a:rPr sz="2100" b="1" i="0" baseline="-25000">
                <a:solidFill>
                  <a:srgbClr val="064F91"/>
                </a:solidFill>
                <a:latin typeface="Calibri"/>
              </a:rPr>
              <a:t>p</a:t>
            </a:r>
            <a:r>
              <a:rPr sz="2100" b="1" i="0">
                <a:solidFill>
                  <a:srgbClr val="064F91"/>
                </a:solidFill>
                <a:latin typeface="Calibri"/>
              </a:rPr>
              <a:t>)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1. R</a:t>
            </a:r>
            <a:r>
              <a:rPr sz="1800" b="0" i="0" baseline="-25000">
                <a:solidFill>
                  <a:srgbClr val="111111"/>
                </a:solidFill>
                <a:latin typeface="Calibri"/>
              </a:rPr>
              <a:t>p</a:t>
            </a:r>
            <a:r>
              <a:rPr sz="1800" b="0" i="0">
                <a:solidFill>
                  <a:srgbClr val="111111"/>
                </a:solidFill>
                <a:latin typeface="Calibri"/>
              </a:rPr>
              <a:t> = R</a:t>
            </a:r>
            <a:r>
              <a:rPr sz="1800" b="0" i="0" baseline="-25000">
                <a:solidFill>
                  <a:srgbClr val="111111"/>
                </a:solidFill>
                <a:latin typeface="Calibri"/>
              </a:rPr>
              <a:t>2</a:t>
            </a:r>
            <a:r>
              <a:rPr sz="1800" b="0" i="0">
                <a:solidFill>
                  <a:srgbClr val="111111"/>
                </a:solidFill>
                <a:latin typeface="Calibri"/>
              </a:rPr>
              <a:t> · R</a:t>
            </a:r>
            <a:r>
              <a:rPr sz="1800" b="0" i="0" baseline="-25000">
                <a:solidFill>
                  <a:srgbClr val="111111"/>
                </a:solidFill>
                <a:latin typeface="Calibri"/>
              </a:rPr>
              <a:t>last</a:t>
            </a:r>
            <a:r>
              <a:rPr sz="1800" b="0" i="0">
                <a:solidFill>
                  <a:srgbClr val="111111"/>
                </a:solidFill>
                <a:latin typeface="Calibri"/>
              </a:rPr>
              <a:t>/(R</a:t>
            </a:r>
            <a:r>
              <a:rPr sz="1800" b="0" i="0" baseline="-25000">
                <a:solidFill>
                  <a:srgbClr val="111111"/>
                </a:solidFill>
                <a:latin typeface="Calibri"/>
              </a:rPr>
              <a:t>2</a:t>
            </a:r>
            <a:r>
              <a:rPr sz="1800" b="0" i="0">
                <a:solidFill>
                  <a:srgbClr val="111111"/>
                </a:solidFill>
                <a:latin typeface="Calibri"/>
              </a:rPr>
              <a:t> + R</a:t>
            </a:r>
            <a:r>
              <a:rPr sz="1800" b="0" i="0" baseline="-25000">
                <a:solidFill>
                  <a:srgbClr val="111111"/>
                </a:solidFill>
                <a:latin typeface="Calibri"/>
              </a:rPr>
              <a:t>last</a:t>
            </a:r>
            <a:r>
              <a:rPr sz="1800" b="0" i="0">
                <a:solidFill>
                  <a:srgbClr val="111111"/>
                </a:solidFill>
                <a:latin typeface="Calibri"/>
              </a:rPr>
              <a:t>) = 2 · 2/(2 + 2) = 1 kΩ.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2. U</a:t>
            </a:r>
            <a:r>
              <a:rPr sz="1800" b="0" i="0" baseline="-25000">
                <a:solidFill>
                  <a:srgbClr val="111111"/>
                </a:solidFill>
                <a:latin typeface="Calibri"/>
              </a:rPr>
              <a:t>ut</a:t>
            </a:r>
            <a:r>
              <a:rPr sz="1800" b="0" i="0">
                <a:solidFill>
                  <a:srgbClr val="111111"/>
                </a:solidFill>
                <a:latin typeface="Calibri"/>
              </a:rPr>
              <a:t> = 18 · 1/(2 + 1) = 6 V.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3. I</a:t>
            </a:r>
            <a:r>
              <a:rPr sz="1800" b="0" i="0" baseline="-25000">
                <a:solidFill>
                  <a:srgbClr val="111111"/>
                </a:solidFill>
                <a:latin typeface="Calibri"/>
              </a:rPr>
              <a:t>tot</a:t>
            </a:r>
            <a:r>
              <a:rPr sz="1800" b="0" i="0">
                <a:solidFill>
                  <a:srgbClr val="111111"/>
                </a:solidFill>
                <a:latin typeface="Calibri"/>
              </a:rPr>
              <a:t> = 18/(2 + 1) = 6 mA. Varje nedre gren får 3 mA.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111111"/>
                </a:solidFill>
                <a:latin typeface="Calibri"/>
              </a:rPr>
              <a:t>Kontroll: 3 + 3 = 6 mA, och fallet över den övre resistorn är 12 V. 12 + 6 = 18 V.</a:t>
            </a:r>
          </a:p>
        </p:txBody>
      </p:sp>
      <p:pic>
        <p:nvPicPr>
          <p:cNvPr id="6" name="Figur: Spänningsdelare: 18 V matar 2 kilohm och 2 kilohm i serie. En last på 2 kilohm ligger parallellt med den nedre resistorn. Utspänningen är 6 V." descr="Spänningsdelare: 18 V matar 2 kilohm och 2 kilohm i serie. En last på 2 kilohm ligger parallellt med den nedre resistorn. Utspänningen är 6 V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2677815"/>
            <a:ext cx="3794760" cy="2645368"/>
          </a:xfrm>
          <a:prstGeom prst="rect">
            <a:avLst/>
          </a:prstGeom>
        </p:spPr>
      </p:pic>
      <p:pic>
        <p:nvPicPr>
          <p:cNvPr id="7" name="Picture 6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Fredag · Repetition inför tentamen  ·  Del 5 · exempel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AC och trefas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|Z| = √(R² + X²)     P = √3 · U</a:t>
            </a:r>
            <a:r>
              <a:rPr sz="2500" b="1" i="0" baseline="-25000">
                <a:solidFill>
                  <a:srgbClr val="064F91"/>
                </a:solidFill>
                <a:latin typeface="Calibri"/>
              </a:rPr>
              <a:t>L</a:t>
            </a:r>
            <a:r>
              <a:rPr sz="2500" b="1" i="0">
                <a:solidFill>
                  <a:srgbClr val="064F91"/>
                </a:solidFill>
                <a:latin typeface="Calibri"/>
              </a:rPr>
              <a:t> · I</a:t>
            </a:r>
            <a:r>
              <a:rPr sz="2500" b="1" i="0" baseline="-25000">
                <a:solidFill>
                  <a:srgbClr val="064F91"/>
                </a:solidFill>
                <a:latin typeface="Calibri"/>
              </a:rPr>
              <a:t>L</a:t>
            </a:r>
            <a:r>
              <a:rPr sz="2500" b="1" i="0">
                <a:solidFill>
                  <a:srgbClr val="064F91"/>
                </a:solidFill>
                <a:latin typeface="Calibri"/>
              </a:rPr>
              <a:t> · PF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RMS, toppvärde och medelvärde beskriver olika saker.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Trefasformeln med √3 förutsätter de angivna symmetrivillkoren.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Skriv om spänningen är linje-, fas- eller grenspänning.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Skilj aktiv effekt från skenbar effekt.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Fredag · Repetition inför tentamen  ·  Del 5 · avsnitt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Övningar tillsammans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5029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 i="0">
                <a:solidFill>
                  <a:srgbClr val="064F91"/>
                </a:solidFill>
                <a:latin typeface="Calibri"/>
              </a:rPr>
              <a:t>Öppna del 5 och gå till 4 Övningar.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057400"/>
            <a:ext cx="8046720" cy="56692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85800" y="2057400"/>
            <a:ext cx="173736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Övning 3.1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2057400"/>
            <a:ext cx="603504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Energi och verkningsgrad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734056"/>
            <a:ext cx="8046720" cy="56692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85800" y="2734056"/>
            <a:ext cx="173736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Övning 3.2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734056"/>
            <a:ext cx="603504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Strömlagen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410712"/>
            <a:ext cx="8046720" cy="56692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85800" y="3410712"/>
            <a:ext cx="173736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Övning 3.3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3410712"/>
            <a:ext cx="603504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Spänningsdelare med last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224528"/>
            <a:ext cx="8046720" cy="1673351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Fyra minuter per övning. Skriv ditt svar i chatten. Ledtrådar och facit finns på delsidan.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400" b="0" i="0">
                <a:solidFill>
                  <a:srgbClr val="4A4A4A"/>
                </a:solidFill>
                <a:latin typeface="Calibri"/>
              </a:rPr>
              <a:t>nj22az.github.io/sjoskolan/vecka-45/aktuell/Del_3.html</a:t>
            </a:r>
          </a:p>
        </p:txBody>
      </p:sp>
      <p:pic>
        <p:nvPicPr>
          <p:cNvPr id="15" name="Picture 1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Fredag · Repetition inför tentamen  ·  Del 5 · 4 Övningar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Övningar tillsammans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5029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 i="0">
                <a:solidFill>
                  <a:srgbClr val="064F91"/>
                </a:solidFill>
                <a:latin typeface="Calibri"/>
              </a:rPr>
              <a:t>Öppna del 5 och gå till 4 Övningar.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057400"/>
            <a:ext cx="8046720" cy="56692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85800" y="2057400"/>
            <a:ext cx="173736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Övning 3.4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2057400"/>
            <a:ext cx="603504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Sinus och period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734056"/>
            <a:ext cx="8046720" cy="56692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85800" y="2734056"/>
            <a:ext cx="173736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Övning 3.5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734056"/>
            <a:ext cx="603504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RL och effektfaktor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547872"/>
            <a:ext cx="8046720" cy="235000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Fyra minuter per övning. Skriv ditt svar i chatten. Övning 3.6–3.10 gör du själv efter lektionen.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400" b="0" i="0">
                <a:solidFill>
                  <a:srgbClr val="4A4A4A"/>
                </a:solidFill>
                <a:latin typeface="Calibri"/>
              </a:rPr>
              <a:t>nj22az.github.io/sjoskolan/vecka-45/aktuell/Del_3.html</a:t>
            </a:r>
          </a:p>
        </p:txBody>
      </p:sp>
      <p:pic>
        <p:nvPicPr>
          <p:cNvPr id="12" name="Picture 11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Fredag · Repetition inför tentamen  ·  Del 5 · 4 Övningar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09904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4160520" y="2011680"/>
            <a:ext cx="822960" cy="73152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2240280"/>
            <a:ext cx="7315200" cy="9144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4800" b="1" i="0">
                <a:solidFill>
                  <a:srgbClr val="111111"/>
                </a:solidFill>
                <a:latin typeface="Calibri"/>
              </a:rPr>
              <a:t>Paus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00400"/>
            <a:ext cx="7315200" cy="5486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2400" b="0" i="0">
                <a:solidFill>
                  <a:srgbClr val="4A4A4A"/>
                </a:solidFill>
                <a:latin typeface="Calibri"/>
              </a:rPr>
              <a:t>Vi fortsätter 10.00</a:t>
            </a:r>
          </a:p>
        </p:txBody>
      </p:sp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Fredag · Repetition inför tentamen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Säkerhet och regelval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Riskbedömning ska leda till verifierbara åtgärder.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Utgå från arbetsmoment, system och energikällor.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Kontrollera vilket regelverk som gäller i det angivna fallet.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Skydd, kompetens och tydlig ansvarsfördelning hänger ihop.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Ett allmänt standardnamn räcker inte som motivering.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Fredag · Repetition inför tentamen  ·  Del 5 · avsnitt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Mätning och felsökning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Observation skiljs från hypotes och slutsats.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Välj mätpunkt och driftläge för att pröva en hypotes.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Bedöm resultatet med instrumentdata och kretsens funktion.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Ett högt spänningsfall kan lokalisera förhöjd resistans.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Skriv vad mätningen visar och vad som återstår.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Fredag · Repetition inför tentamen  ·  Del 5 · avsnitt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Exempel: mätning efter åtgärd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1900" b="0" i="1">
                <a:solidFill>
                  <a:srgbClr val="4A4A4A"/>
                </a:solidFill>
                <a:latin typeface="Calibri"/>
              </a:rPr>
              <a:t>Källan håller 12 V. Vid 3 A får lasten 10,5 V före och 11,85 V efter åtgärd (strömmen antas oförändrad).</a:t>
            </a:r>
          </a:p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R</a:t>
            </a:r>
            <a:r>
              <a:rPr sz="2500" b="1" i="0" baseline="-25000">
                <a:solidFill>
                  <a:srgbClr val="064F91"/>
                </a:solidFill>
                <a:latin typeface="Calibri"/>
              </a:rPr>
              <a:t>slinga</a:t>
            </a:r>
            <a:r>
              <a:rPr sz="2500" b="1" i="0">
                <a:solidFill>
                  <a:srgbClr val="064F91"/>
                </a:solidFill>
                <a:latin typeface="Calibri"/>
              </a:rPr>
              <a:t> = (U</a:t>
            </a:r>
            <a:r>
              <a:rPr sz="2500" b="1" i="0" baseline="-25000">
                <a:solidFill>
                  <a:srgbClr val="064F91"/>
                </a:solidFill>
                <a:latin typeface="Calibri"/>
              </a:rPr>
              <a:t>källa</a:t>
            </a:r>
            <a:r>
              <a:rPr sz="2500" b="1" i="0">
                <a:solidFill>
                  <a:srgbClr val="064F91"/>
                </a:solidFill>
                <a:latin typeface="Calibri"/>
              </a:rPr>
              <a:t> − U</a:t>
            </a:r>
            <a:r>
              <a:rPr sz="2500" b="1" i="0" baseline="-25000">
                <a:solidFill>
                  <a:srgbClr val="064F91"/>
                </a:solidFill>
                <a:latin typeface="Calibri"/>
              </a:rPr>
              <a:t>last</a:t>
            </a:r>
            <a:r>
              <a:rPr sz="2500" b="1" i="0">
                <a:solidFill>
                  <a:srgbClr val="064F91"/>
                </a:solidFill>
                <a:latin typeface="Calibri"/>
              </a:rPr>
              <a:t>)/I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1. Före: R</a:t>
            </a:r>
            <a:r>
              <a:rPr sz="2000" b="0" i="0" baseline="-25000">
                <a:solidFill>
                  <a:srgbClr val="111111"/>
                </a:solidFill>
                <a:latin typeface="Calibri"/>
              </a:rPr>
              <a:t>slinga</a:t>
            </a:r>
            <a:r>
              <a:rPr sz="2000" b="0" i="0">
                <a:solidFill>
                  <a:srgbClr val="111111"/>
                </a:solidFill>
                <a:latin typeface="Calibri"/>
              </a:rPr>
              <a:t> = (12 − 10,5)/3 = 0,50 Ω.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2. Efter: R</a:t>
            </a:r>
            <a:r>
              <a:rPr sz="2000" b="0" i="0" baseline="-25000">
                <a:solidFill>
                  <a:srgbClr val="111111"/>
                </a:solidFill>
                <a:latin typeface="Calibri"/>
              </a:rPr>
              <a:t>slinga</a:t>
            </a:r>
            <a:r>
              <a:rPr sz="2000" b="0" i="0">
                <a:solidFill>
                  <a:srgbClr val="111111"/>
                </a:solidFill>
                <a:latin typeface="Calibri"/>
              </a:rPr>
              <a:t> = (12 − 11,85)/3 = 0,05 Ω.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3. Samma ström och mätpunkter visar tydligt minskad resistans.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Funktionsdata stödjer förbättringen. Föreskrivna anslutnings- och säkerhetskontroller ska också dokumenteras.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Fredag · Repetition inför tentamen  ·  Del 5 · exempel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Redovisning inför examination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En bra lösning visar samband, insättning, enhet och tolkning.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Öppna fall kräver motiverade beslut med tydliga antaganden.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Den här delen är repetition. Den ordinarie tentamen är i vecka 45.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De praktiska lärandemålen bedöms i det praktiska provet.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Fredag · Repetition inför tentamen  ·  Del 5 · avsnitt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Så går tentamensveckan till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Skriftlig tentamen online och praktiskt prov i simulatorerna.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Måndag 2 november 09.00–11.00, online:</a:t>
            </a:r>
            <a:r>
              <a:rPr sz="2000" b="0" i="0">
                <a:solidFill>
                  <a:srgbClr val="111111"/>
                </a:solidFill>
                <a:latin typeface="Calibri"/>
              </a:rPr>
              <a:t> frågestund och instruktion till det praktiska provet. Boka tid för den muntliga avstämningen.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Måndag–onsdag:</a:t>
            </a:r>
            <a:r>
              <a:rPr sz="2000" b="0" i="0">
                <a:solidFill>
                  <a:srgbClr val="111111"/>
                </a:solidFill>
                <a:latin typeface="Calibri"/>
              </a:rPr>
              <a:t> gör de tre stationerna med protokoll och en riskbedömning. Skicka dem senast onsdag 4 november kl. 20.00.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Torsdag eller fredag:</a:t>
            </a:r>
            <a:r>
              <a:rPr sz="2000" b="0" i="0">
                <a:solidFill>
                  <a:srgbClr val="111111"/>
                </a:solidFill>
                <a:latin typeface="Calibri"/>
              </a:rPr>
              <a:t> muntlig avstämning online i 15 minuter.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Skriftlig tentamen:</a:t>
            </a:r>
            <a:r>
              <a:rPr sz="2000" b="0" i="0">
                <a:solidFill>
                  <a:srgbClr val="111111"/>
                </a:solidFill>
                <a:latin typeface="Calibri"/>
              </a:rPr>
              <a:t> dag, tid, länk och tillåtna hjälpmedel meddelas av läraren. Räkna med räknare och formelsamlingen.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Fredag · Repetition inför tentamen  ·  Del 5 · avsnitt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Övningar tillsammans: övningstentan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8046720" cy="44348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1. Öppna sidan Tentamen och gå till Övningstenta. Där finns tolv uppgifter från hela kursen.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2. Skriv i chatten numren på de uppgifter du vill gå igenom.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3. Vi går igenom de uppgifter som flest behöver. Lösningarna finns på sidan under Visa lösning.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4A4A4A"/>
                </a:solidFill>
                <a:latin typeface="Calibri"/>
              </a:rPr>
              <a:t>nj22az.github.io/sjoskolan/tentamen.html#ovningstenta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Fredag · Repetition inför tentamen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Avslutsfråga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8046720" cy="2011680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3200" b="1" i="0">
                <a:solidFill>
                  <a:srgbClr val="111111"/>
                </a:solidFill>
                <a:latin typeface="Calibri"/>
              </a:rPr>
              <a:t>Vilket metodval kan du nu förklara bättre än vid lektionens start?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069080"/>
            <a:ext cx="8046720" cy="14630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2000" b="0" i="0">
                <a:solidFill>
                  <a:srgbClr val="4A4A4A"/>
                </a:solidFill>
                <a:latin typeface="Calibri"/>
              </a:rPr>
              <a:t>Repetera de uppgifter där metoden var osäker. Kontrollera lärarens besked om tentamensdatum, hjälpmedel och eventuella kompletteringar.</a:t>
            </a:r>
          </a:p>
        </p:txBody>
      </p:sp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Fredag · Repetition inför tentamen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Sammanfattning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8046720" cy="44348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1. Storheten och kretsen avgör sambandet. Redovisa samband, insättning, enhet och tolkning.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2. Säkerhet: utgå från arbetsmoment, energikällor och regelverk. Felsökning: skilj observation, hypotes och slutsats.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3. Tentamensveckan: skriftlig tentamen online, tre stationer i simulatorerna och en muntlig avstämning på 15 minuter.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Fredag · Repetition inför tentamen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Det här gör du nu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8046720" cy="44348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1. Läs del 5: teorin och de två exemplen. Tryck på ”Jag har läst del 5” längst ned på sidan.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2. Gör övning 3.6–3.10 på delsidan för del 5. Ledtrådar och facit finns där.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3. Rätta övningstentan och gör om övningarna i de veckor där du hade fel.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4. Nästa vecka: tentamensveckan. Måndag 2 november 09.00: frågestund och instruktion till det praktiska provet.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4A4A4A"/>
                </a:solidFill>
                <a:latin typeface="Calibri"/>
              </a:rPr>
              <a:t>Inlämningen, uppgift 1–4, senast i dag, fredag 30 oktober. Allt finns på veckosidan.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Fredag · Repetition inför tentamen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Källor och fortsatt läsning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064F91"/>
                </a:solidFill>
                <a:latin typeface="Calibri"/>
                <a:hlinkClick r:id="rId2"/>
              </a:rPr>
              <a:t>Sjöskolan: vecka 44, del 5 Repetition inför tentamen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064F91"/>
                </a:solidFill>
                <a:latin typeface="Calibri"/>
                <a:hlinkClick r:id="rId3"/>
              </a:rPr>
              <a:t>Sjöskolan: Tentamen och övningstenta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064F91"/>
                </a:solidFill>
                <a:latin typeface="Calibri"/>
                <a:hlinkClick r:id="rId4"/>
              </a:rPr>
              <a:t>Sjöskolan: Praktiskt prov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346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111111"/>
                </a:solidFill>
                <a:latin typeface="Calibri"/>
              </a:rPr>
              <a:t>Kursplanen för Elteknik och ellära (studieplanen YH03151, 18 september 2026)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2918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064F91"/>
                </a:solidFill>
                <a:latin typeface="Calibri"/>
                <a:hlinkClick r:id="rId5"/>
              </a:rPr>
              <a:t>OpenStax: Kirchhoffs lagar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749039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064F91"/>
                </a:solidFill>
                <a:latin typeface="Calibri"/>
                <a:hlinkClick r:id="rId6"/>
              </a:rPr>
              <a:t>OpenStax: enkla växelströmskretsar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2062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064F91"/>
                </a:solidFill>
                <a:latin typeface="Calibri"/>
                <a:hlinkClick r:id="rId7"/>
              </a:rPr>
              <a:t>Schneider Electric: skenbar effekt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6634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064F91"/>
                </a:solidFill>
                <a:latin typeface="Calibri"/>
                <a:hlinkClick r:id="rId8"/>
              </a:rPr>
              <a:t>SS-EN 50110-1 utgåva 4:2024, Skötsel av elektriska anläggningar (SEK Svensk Elstandard)</a:t>
            </a:r>
          </a:p>
        </p:txBody>
      </p:sp>
      <p:pic>
        <p:nvPicPr>
          <p:cNvPr id="12" name="Picture 11" descr="sidfot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Fredag · Repetition inför tentamen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2026-09-20T20:09:37.2430000Z</dcterms:created>
  <dcterms:modified xsi:type="dcterms:W3CDTF">2026-09-20T20:09:37.2430000Z</dcterms:modified>
</coreProperties>
</file>