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37c34ddacd4546b1" Type="http://schemas.openxmlformats.org/officeDocument/2006/relationships/officeDocument" Target="ppt/presentation.xml"/><Relationship Id="R861db07599aa41dd" Type="http://schemas.openxmlformats.org/officeDocument/2006/relationships/extended-properties" Target="docProps/app.xml"/><Relationship Id="Rd8cf384cba124e90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a38d8fb4f6ec40e4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ed11355ea2543db" Type="http://schemas.openxmlformats.org/officeDocument/2006/relationships/theme" Target="theme/theme1.xml"/><Relationship Id="R4a30431852bc4203" Type="http://schemas.openxmlformats.org/officeDocument/2006/relationships/presProps" Target="presProps.xml"/><Relationship Id="R59b04d653c184694" Type="http://schemas.openxmlformats.org/officeDocument/2006/relationships/tableStyles" Target="tableStyles.xml"/><Relationship Id="Ra38d8fb4f6ec40e4" Type="http://schemas.openxmlformats.org/officeDocument/2006/relationships/slideMaster" Target="slideMasters/slideMaster1.xml"/><Relationship Id="Rba35c611fa944afe" Type="http://schemas.openxmlformats.org/officeDocument/2006/relationships/viewProps" Target="viewProp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e9bbca99fd0e4bfe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dbed5ff74e9b4304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8d90e2e815ac47ca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3599dc8b372340a0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57876e5b8ebd4956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d9291271a5e94ac2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0c894096355d4803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08fa3bb3d3b84b8b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8b9ffc4a04cc45db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7db49676138543fe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fd61dd6cc9ae4a5f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171AF29-9BF1-473B-AFA6-17086F16A420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E8C47869-AB2E-4353-993A-C5F3CBCD7A5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E4BDD63-2879-4553-A7D4-C8B90F66944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47559E2-D642-40B2-A622-29E6C6C0906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CBCBF1D-E8D4-4C02-B339-40A7E12B7A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722FDD0-541F-4732-A589-6E09DA58B3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A9FD4EB-ED93-4F84-9A20-8F3AF861C5D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87B3B2F-39C7-4AB3-B336-4AA52F53712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C14936C-5A60-4749-9BA4-077B860C97E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C221E00-8DF1-4F1B-832D-71DC043B581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42DB1BD-E287-4420-8511-29126B0618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9B11597-97EC-49B5-A400-7D26520A3C0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F742E12-71EE-4A0A-A25A-482AF08CB59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B99B004-C36A-4FB2-9F9D-CE473319A95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7C9783-743E-4094-A2AE-9E44E3D473E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8C4FC59-7B72-4123-8378-0EA5088432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37F9AEE-67E4-463F-959F-E9E3A1B888F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6354C6D0-6530-44C0-8216-34BD311A97A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428CFC9-6708-459E-B81E-1E9C1425772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76003C71-1529-40B2-8C48-8F715F571DC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643222D-12A8-4E31-8062-7D5BCCBAB7A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97D2405-3A74-4011-A349-9548796B9D3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78F98B1-4335-49A0-A5DC-F7821F48D4D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911721C-4555-47B9-A29D-0F448969C4F8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C2D7DE53-B347-45DD-AFFA-3E8BE03250CE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F97C298-A28D-4A26-BDCA-B098B846E55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09775CF6-BCDA-455B-8823-96F499D329B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E36C5186-AD15-4D60-94C6-61F1173F250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C9823F44-4193-4A09-BFAF-ED3CD7668FF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F9FE2D-754C-44B3-B95C-26D7D5C75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6BD55E16-C4C4-4E3D-A0B4-2831B64AB90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38325CBA-1C76-41B1-899E-BE2E85DBB7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D41280AB-E4E6-40DF-AAAA-D319DDAE7A3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4AB46744-49A1-4DBC-9FD7-6DAC1E5B0DC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8BE22B4-F4D3-45EC-8704-71421CA0A1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07804CA-1F56-49BC-A4BE-414873B51DD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CC616F8-21C9-44E4-AE61-31E60C00685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23E4261-CE3E-4ACE-850C-97041401DE2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0EF0A03-62CA-44B8-B680-52B1168AC43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B26F306-817F-41C5-8A16-96C7343CE1C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2F4B232-2E06-41D6-B343-B9F33434424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45369E5-14C4-43E7-8C70-94F9D8946D0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4D77C1B-88A0-480F-A3F3-2C46ED54C1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A0DD105B-4990-483D-9F9F-A9235A346E70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A207939-C386-457A-BB29-427E4DC69A2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3222363-8D26-4BF7-AEF5-9A8D193537F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1AD7074-23A8-4F9E-B387-FF125010E36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974EEA3-8E26-4876-9CCC-AEB28DB192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2C1926D-3764-4E58-9CFE-1C39C0C599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1EA9798-D720-420B-B587-FB2D341F8B8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B280F96-07A9-471D-BB10-6FD8F834C84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65504D-A0FC-4E9E-8009-F569A5C9842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9C1D87B-E274-4EF8-9A16-0DB1EAB639A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24ED1D95-F8F3-4745-B8E4-98B6A31BFB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893952F-F53B-42A5-B3B5-39F8406C721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B05298D-E759-46A6-B3C3-B7B73450F0E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3DC9778-2E8A-4C7F-84B7-05E3D6E237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9066A76-6749-4154-81E1-81287255579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162cd79811f54438" Type="http://schemas.openxmlformats.org/officeDocument/2006/relationships/slideLayout" Target="../slideLayouts/slideLayout10.xml"/><Relationship Id="R170b8970d5204efa" Type="http://schemas.openxmlformats.org/officeDocument/2006/relationships/slideLayout" Target="../slideLayouts/slideLayout9.xml"/><Relationship Id="R7099d2b2aa324873" Type="http://schemas.openxmlformats.org/officeDocument/2006/relationships/theme" Target="theme/theme2.xml"/><Relationship Id="R7be85162f4ec45ce" Type="http://schemas.openxmlformats.org/officeDocument/2006/relationships/slideLayout" Target="../slideLayouts/slideLayout8.xml"/><Relationship Id="R82b356f2f0c249f8" Type="http://schemas.openxmlformats.org/officeDocument/2006/relationships/slideLayout" Target="../slideLayouts/slideLayout4.xml"/><Relationship Id="R83d3169839ae4a0d" Type="http://schemas.openxmlformats.org/officeDocument/2006/relationships/slideLayout" Target="../slideLayouts/slideLayout7.xml"/><Relationship Id="Ra1c6ad5e34ce4900" Type="http://schemas.openxmlformats.org/officeDocument/2006/relationships/slideLayout" Target="../slideLayouts/slideLayout5.xml"/><Relationship Id="Rb613688b8cb2457e" Type="http://schemas.openxmlformats.org/officeDocument/2006/relationships/slideLayout" Target="../slideLayouts/slideLayout1.xml"/><Relationship Id="Rc5987082cc9f429b" Type="http://schemas.openxmlformats.org/officeDocument/2006/relationships/slideLayout" Target="../slideLayouts/slideLayout2.xml"/><Relationship Id="Re60a86bc3ab141e2" Type="http://schemas.openxmlformats.org/officeDocument/2006/relationships/slideLayout" Target="../slideLayouts/slideLayout3.xml"/><Relationship Id="Rf39fc677f541417c" Type="http://schemas.openxmlformats.org/officeDocument/2006/relationships/slideLayout" Target="../slideLayouts/slideLayout11.xml"/><Relationship Id="Rf7c405d8b6a04f8d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A772F057-7340-4065-8845-BB8E9AD557B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7DE1F7C-60E1-400E-B38F-52BF24F21A7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B15F1D9-83F8-4DB0-BD2B-BDD3E158134A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05894D5-5CF7-4EDE-B022-CF2BDFF8D01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720839A-B350-41EB-9FE9-191EB435D5E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613688b8cb2457e"/>
    <p:sldLayoutId xmlns:r="http://schemas.openxmlformats.org/officeDocument/2006/relationships" id="2147483650" r:id="Rc5987082cc9f429b"/>
    <p:sldLayoutId xmlns:r="http://schemas.openxmlformats.org/officeDocument/2006/relationships" id="2147483651" r:id="Re60a86bc3ab141e2"/>
    <p:sldLayoutId xmlns:r="http://schemas.openxmlformats.org/officeDocument/2006/relationships" id="2147483652" r:id="R82b356f2f0c249f8"/>
    <p:sldLayoutId xmlns:r="http://schemas.openxmlformats.org/officeDocument/2006/relationships" id="2147483653" r:id="Ra1c6ad5e34ce4900"/>
    <p:sldLayoutId xmlns:r="http://schemas.openxmlformats.org/officeDocument/2006/relationships" id="2147483654" r:id="Rf7c405d8b6a04f8d"/>
    <p:sldLayoutId xmlns:r="http://schemas.openxmlformats.org/officeDocument/2006/relationships" id="2147483655" r:id="R83d3169839ae4a0d"/>
    <p:sldLayoutId xmlns:r="http://schemas.openxmlformats.org/officeDocument/2006/relationships" id="2147483656" r:id="R7be85162f4ec45ce"/>
    <p:sldLayoutId xmlns:r="http://schemas.openxmlformats.org/officeDocument/2006/relationships" id="2147483657" r:id="R170b8970d5204efa"/>
    <p:sldLayoutId xmlns:r="http://schemas.openxmlformats.org/officeDocument/2006/relationships" id="2147483658" r:id="R162cd79811f54438"/>
    <p:sldLayoutId xmlns:r="http://schemas.openxmlformats.org/officeDocument/2006/relationships" id="2147483659" r:id="Rf39fc677f541417c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nj22az.github.io/sjoskolan/vecka-45/aktuell/Del_2.html" TargetMode="External"/><Relationship Id="rId3" Type="http://schemas.openxmlformats.org/officeDocument/2006/relationships/hyperlink" Target="https://nj22az.github.io/sjoskolan/vecka-41/aktuell/Elevprotokoll.html" TargetMode="External"/><Relationship Id="rId4" Type="http://schemas.openxmlformats.org/officeDocument/2006/relationships/hyperlink" Target="https://dam-assets.fluke.com.cn/s3fs-public/2100079_6003_ENG_D_W.PDF" TargetMode="External"/><Relationship Id="rId5" Type="http://schemas.openxmlformats.org/officeDocument/2006/relationships/hyperlink" Target="https://elstandard.se/documents/preview/3246401" TargetMode="External"/><Relationship Id="rId6" Type="http://schemas.openxmlformats.org/officeDocument/2006/relationships/hyperlink" Target="https://openstax.org/books/university-physics-volume-2/pages/10-3-kirchhoffs-rules" TargetMode="External"/><Relationship Id="rId7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mslag_v45_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09904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6099048"/>
          </a:xfrm>
          <a:prstGeom prst="rect">
            <a:avLst/>
          </a:prstGeom>
          <a:gradFill rotWithShape="1">
            <a:gsLst>
              <a:gs pos="0">
                <a:srgbClr val="001427">
                  <a:alpha val="70000"/>
                </a:srgbClr>
              </a:gs>
              <a:gs pos="45000">
                <a:srgbClr val="001427">
                  <a:alpha val="55000"/>
                </a:srgbClr>
              </a:gs>
              <a:gs pos="75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1645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Analys av mätresultat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97480"/>
            <a:ext cx="5669280" cy="9144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0" i="0">
                <a:solidFill>
                  <a:srgbClr val="FFFFFF"/>
                </a:solidFill>
                <a:latin typeface="Calibri"/>
              </a:rPr>
              <a:t>Felorsak, åtgärd och kvalitetssäkring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703320"/>
            <a:ext cx="5852160" cy="4114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Vecka 44 · Tisdag 27 oktober · 16.00–17.00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212080"/>
            <a:ext cx="5852160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Del 4 av 5 · Elteknik och ellära</a:t>
            </a:r>
          </a:p>
        </p:txBody>
      </p:sp>
      <p:sp>
        <p:nvSpPr>
          <p:cNvPr id="8" name="Dag: Tisdag 27 oktober"/>
          <p:cNvSpPr/>
          <p:nvPr/>
        </p:nvSpPr>
        <p:spPr>
          <a:xfrm>
            <a:off x="548640" y="411480"/>
            <a:ext cx="2944368" cy="438912"/>
          </a:xfrm>
          <a:prstGeom prst="roundRect">
            <a:avLst>
              <a:gd name="adj" fmla="val 18000"/>
            </a:avLst>
          </a:prstGeom>
          <a:solidFill>
            <a:srgbClr val="246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Tisdag 27 oktober</a:t>
            </a:r>
          </a:p>
        </p:txBody>
      </p:sp>
      <p:pic>
        <p:nvPicPr>
          <p:cNvPr id="9" name="Picture 8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Analys av mätresultat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Kursplanen i dag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548640" y="1453896"/>
            <a:ext cx="960120" cy="420624"/>
          </a:xfrm>
          <a:prstGeom prst="roundRect">
            <a:avLst>
              <a:gd name="adj" fmla="val 18000"/>
            </a:avLst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600" b="1" i="0">
                <a:solidFill>
                  <a:srgbClr val="111111"/>
                </a:solidFill>
                <a:latin typeface="Calibri"/>
              </a:rPr>
              <a:t>LM-8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1417320"/>
            <a:ext cx="6858000" cy="8686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Du förstår vad dina mätvärden betyder och drar rätt slutsats.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67128"/>
            <a:ext cx="960120" cy="420624"/>
          </a:xfrm>
          <a:prstGeom prst="roundRect">
            <a:avLst>
              <a:gd name="adj" fmla="val 18000"/>
            </a:avLst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600" b="1" i="0">
                <a:solidFill>
                  <a:srgbClr val="111111"/>
                </a:solidFill>
                <a:latin typeface="Calibri"/>
              </a:rPr>
              <a:t>LM-7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130552"/>
            <a:ext cx="6858000" cy="8686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Du ser till att felsökning och kontroll görs rätt och skrivs ner i ett protokoll.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880360"/>
            <a:ext cx="960120" cy="420624"/>
          </a:xfrm>
          <a:prstGeom prst="roundRect">
            <a:avLst>
              <a:gd name="adj" fmla="val 18000"/>
            </a:avLst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600" b="1" i="0">
                <a:solidFill>
                  <a:srgbClr val="111111"/>
                </a:solidFill>
                <a:latin typeface="Calibri"/>
              </a:rPr>
              <a:t>LM-5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2843784"/>
            <a:ext cx="6858000" cy="8686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Du kan hitta ett fel med mätningar och ritningar.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94176"/>
            <a:ext cx="8046720" cy="4114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Efter lektionen kan du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51376"/>
            <a:ext cx="8046720" cy="1746503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1. avgöra om ett mätintervall ligger inom ett krav.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2. värdera hur starkt mätdata stödjer en felhypotes.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3. skriva en rapport som visar kontrollkedjan och kvarstående osäkerhet.</a:t>
            </a:r>
          </a:p>
        </p:txBody>
      </p:sp>
      <p:pic>
        <p:nvPicPr>
          <p:cNvPr id="12" name="Picture 11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Analys av mätresultat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Startfråga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8046720" cy="2011680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3200" b="1" i="0">
                <a:solidFill>
                  <a:srgbClr val="111111"/>
                </a:solidFill>
                <a:latin typeface="Calibri"/>
              </a:rPr>
              <a:t>Vad kan du faktiskt bevisa med ett enda korrekt spänningsvärde?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74920"/>
            <a:ext cx="8046720" cy="5486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064F91"/>
                </a:solidFill>
                <a:latin typeface="Calibri"/>
              </a:rPr>
              <a:t>Skriv ditt svar i chatten, i en mening.</a:t>
            </a:r>
          </a:p>
        </p:txBody>
      </p:sp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Analys av mätresultat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Så går lektionen till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16.00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83080" y="1417320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Start och startfråga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84248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16.05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1984248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Pass 1: Mätvärde, krav och hypoteser (avsnitt 1–4) och ett exempel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51176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16.25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551176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Övning 2.1–2.3 tillsammans på delsidan för del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18104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16.40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3118104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Pass 2: Åtgärd, protokoll och återgång (avsnitt 5–7) och ett exempel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85032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16.55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685032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Avslutsfråga, sammanfattning och det här gör du nu</a:t>
            </a:r>
          </a:p>
        </p:txBody>
      </p:sp>
      <p:pic>
        <p:nvPicPr>
          <p:cNvPr id="14" name="Picture 13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Analys av mätresultat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Mätvärde, intervall och slutsats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Slutsatsen bygger på intervallet, inte bara på talet.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Ett mätvärde gäller vissa punkter vid ett bestämt driftläge.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Felgränsen bildar ett intervall kring avläsningen.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Kravet säger vilka värden som är tillåtna. Det kallas toleransintervall.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Beslutsregeln i kursen: hela mätintervallet måste ligga inom kravet.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Analys av mätresultat  ·  Del 4 · avsnitt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Mätdata och slutsats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”24 V vid A” bevisar inte ”hela matningen är felfri”.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En mätning gäller vissa punkter vid ett visst driftläge.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Slutsatsen får inte vara mer omfattande än underlaget.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Lastström, referens, tidsförlopp och instrumentdata avgör hur resultatet kan användas.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Analys av mätresultat  ·  Del 4 · avsnitt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Jämförelse med ett krav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406908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300" b="1" i="0">
                <a:solidFill>
                  <a:srgbClr val="064F91"/>
                </a:solidFill>
                <a:latin typeface="Calibri"/>
              </a:rPr>
              <a:t>Mätintervall och toleransintervall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Jämför resultatets intervall med det angivna kravet.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Redovisa hur osäkerhet eller felgräns påverkar beslutet.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Krav 23,0–25,0 V, mätning 24,90 ±0,15 V: intervallet 24,75–25,05 V går över kravets övre gräns, så överensstämmelse kan inte visas.</a:t>
            </a:r>
          </a:p>
        </p:txBody>
      </p:sp>
      <p:pic>
        <p:nvPicPr>
          <p:cNvPr id="5" name="Figur: Kravet 23,00–25,00 V och mätintervallet 24,75–25,05 V. Mätintervallet går över kravets övre gräns." descr="Kravet 23,00–25,00 V och mätintervallet 24,75–25,05 V. Mätintervallet går över kravets övre grän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466025"/>
            <a:ext cx="3794760" cy="2291709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Analys av mätresultat  ·  Del 4 · avsnitt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Flera observationer tillsammans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Hypoteser jämförs mot alla relevanta data.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Oberoende kontroller kan stärka eller försvaga samma hypotes.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En annan felorsak kan ge ett liknande symtom.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Pröva varje hypotes mot alla mätvärden, inte bara mot det första symtomet.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Analys av mätresultat  ·  Del 4 · avsnitt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Exempel: ett mätintervall mot krav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7315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1">
                <a:solidFill>
                  <a:srgbClr val="4A4A4A"/>
                </a:solidFill>
                <a:latin typeface="Calibri"/>
              </a:rPr>
              <a:t>Krav 20,0 V ±2 %. Mätning 19,80 V ±0,15 V. Hela mätintervallet måste ligga inom kravet.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4069080" cy="3703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100" b="1" i="0">
                <a:solidFill>
                  <a:srgbClr val="064F91"/>
                </a:solidFill>
                <a:latin typeface="Calibri"/>
              </a:rPr>
              <a:t>Krav = 20,0 · (1 ± 0,02); mätintervall = 19,80 ±0,15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1. Krav: 19,60–20,40 V.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2. Mätintervall: 19,65–19,95 V.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3. Hela mätintervallet ligger inom kravet: överensstämmelse visad.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900" b="1" i="0">
                <a:solidFill>
                  <a:srgbClr val="111111"/>
                </a:solidFill>
                <a:latin typeface="Calibri"/>
              </a:rPr>
              <a:t>Med större felgräns eller en annan beslutsregel kan slutsatsen bli en annan.</a:t>
            </a:r>
          </a:p>
        </p:txBody>
      </p:sp>
      <p:pic>
        <p:nvPicPr>
          <p:cNvPr id="6" name="Figur: Kravet 19,60–20,40 V och mätintervallet 19,65–19,95 V. Hela mätintervallet ligger inom kravet." descr="Kravet 19,60–20,40 V och mätintervallet 19,65–19,95 V. Hela mätintervallet ligger inom krave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854645"/>
            <a:ext cx="3794760" cy="2291709"/>
          </a:xfrm>
          <a:prstGeom prst="rect">
            <a:avLst/>
          </a:prstGeom>
        </p:spPr>
      </p:pic>
      <p:pic>
        <p:nvPicPr>
          <p:cNvPr id="7" name="Picture 6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Analys av mätresultat  ·  Del 4 · exempel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Övningar tillsammans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Öppna del 4 och gå till 4 Övningar.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57400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2057400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2.1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057400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Mätningens räckvidd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734056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5800" y="2734056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2.2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734056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Kravjämförelse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410712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85800" y="3410712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2.3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3410712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Skillnad mellan instrument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224528"/>
            <a:ext cx="8046720" cy="1673351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Fem minuter per övning. Skriv ditt svar i chatten. Övning 2.4–2.6 gör du själv efter lektionen.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00" b="0" i="0">
                <a:solidFill>
                  <a:srgbClr val="4A4A4A"/>
                </a:solidFill>
                <a:latin typeface="Calibri"/>
              </a:rPr>
              <a:t>nj22az.github.io/sjoskolan/vecka-45/aktuell/Del_2.html</a:t>
            </a:r>
          </a:p>
        </p:txBody>
      </p:sp>
      <p:pic>
        <p:nvPicPr>
          <p:cNvPr id="15" name="Picture 1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Analys av mätresultat  ·  Del 4 · 4 Övningar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Åtgärd och rotorsak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Skada, orsak, åtgärd och förebyggande kontroll.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En utbytt komponent kan återställa funktionen tillfälligt.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Bakomliggande orsak kan finnas kvar.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En bränd anslutning kan kräva utredning av belastning, kontaktförhållanden och föreskriven montering.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Analys av mätresultat  ·  Del 4 · avsnitt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Kontrollprotokollets innehåll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Varje slutsats ska kunna följas tillbaka till data.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Ange objekt, revision, mätpunkter, driftläge och instrument.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Redovisa förväntat värde, uppmätt värde och bedömning.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Dokumentera avvikelser och vem som fattat beslut om återgång eller fortsatt utredning.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Analys av mätresultat  ·  Del 4 · avsnitt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Kvalitetssäkrad återgång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Funktionsprov, säkerhetskontroll och återlämning.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Kontrollera att felet är åtgärdat i det relevanta driftfallet.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Skydd och normal dokumentation ska vara återställda.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Ombord: avsluta arbetstillstånd och LOTO (låsning och märkning), kontrollera isolationsvaktens värde, informera vakthavande och bryggan, för in åtgärden i maskindagbok och underhållssystem.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Analys av mätresultat  ·  Del 4 · avsnitt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Exempel: fram- och returväg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7315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1">
                <a:solidFill>
                  <a:srgbClr val="4A4A4A"/>
                </a:solidFill>
                <a:latin typeface="Calibri"/>
              </a:rPr>
              <a:t>Källa 12 V, last 9 V och ström 1,5 A. Returens fall är 0,9 V. Samtidiga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4069080" cy="3703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100" b="1" i="0">
                <a:solidFill>
                  <a:srgbClr val="064F91"/>
                </a:solidFill>
                <a:latin typeface="Calibri"/>
              </a:rPr>
              <a:t>ΔU</a:t>
            </a:r>
            <a:r>
              <a:rPr sz="2100" b="1" i="0" baseline="-25000">
                <a:solidFill>
                  <a:srgbClr val="064F91"/>
                </a:solidFill>
                <a:latin typeface="Calibri"/>
              </a:rPr>
              <a:t>fram</a:t>
            </a:r>
            <a:r>
              <a:rPr sz="2100" b="1" i="0">
                <a:solidFill>
                  <a:srgbClr val="064F91"/>
                </a:solidFill>
                <a:latin typeface="Calibri"/>
              </a:rPr>
              <a:t> = U</a:t>
            </a:r>
            <a:r>
              <a:rPr sz="2100" b="1" i="0" baseline="-25000">
                <a:solidFill>
                  <a:srgbClr val="064F91"/>
                </a:solidFill>
                <a:latin typeface="Calibri"/>
              </a:rPr>
              <a:t>källa</a:t>
            </a:r>
            <a:r>
              <a:rPr sz="2100" b="1" i="0">
                <a:solidFill>
                  <a:srgbClr val="064F91"/>
                </a:solidFill>
                <a:latin typeface="Calibri"/>
              </a:rPr>
              <a:t> − U</a:t>
            </a:r>
            <a:r>
              <a:rPr sz="2100" b="1" i="0" baseline="-25000">
                <a:solidFill>
                  <a:srgbClr val="064F91"/>
                </a:solidFill>
                <a:latin typeface="Calibri"/>
              </a:rPr>
              <a:t>last</a:t>
            </a:r>
            <a:r>
              <a:rPr sz="2100" b="1" i="0">
                <a:solidFill>
                  <a:srgbClr val="064F91"/>
                </a:solidFill>
                <a:latin typeface="Calibri"/>
              </a:rPr>
              <a:t> − ΔU</a:t>
            </a:r>
            <a:r>
              <a:rPr sz="2100" b="1" i="0" baseline="-25000">
                <a:solidFill>
                  <a:srgbClr val="064F91"/>
                </a:solidFill>
                <a:latin typeface="Calibri"/>
              </a:rPr>
              <a:t>retur</a:t>
            </a:r>
            <a:r>
              <a:rPr sz="2100" b="1" i="0">
                <a:solidFill>
                  <a:srgbClr val="064F91"/>
                </a:solidFill>
                <a:latin typeface="Calibri"/>
              </a:rPr>
              <a:t>; R = ΔU/I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1. Totalt fall = 12 − 9 = 3 V.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2. Framfall = 3 − 0,9 = 2,1 V. R</a:t>
            </a:r>
            <a:r>
              <a:rPr sz="1900" b="0" i="0" baseline="-25000">
                <a:solidFill>
                  <a:srgbClr val="111111"/>
                </a:solidFill>
                <a:latin typeface="Calibri"/>
              </a:rPr>
              <a:t>fram</a:t>
            </a:r>
            <a:r>
              <a:rPr sz="1900" b="0" i="0">
                <a:solidFill>
                  <a:srgbClr val="111111"/>
                </a:solidFill>
                <a:latin typeface="Calibri"/>
              </a:rPr>
              <a:t> = 2,1/1,5 = 1,4 Ω.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3. R</a:t>
            </a:r>
            <a:r>
              <a:rPr sz="1900" b="0" i="0" baseline="-25000">
                <a:solidFill>
                  <a:srgbClr val="111111"/>
                </a:solidFill>
                <a:latin typeface="Calibri"/>
              </a:rPr>
              <a:t>retur</a:t>
            </a:r>
            <a:r>
              <a:rPr sz="1900" b="0" i="0">
                <a:solidFill>
                  <a:srgbClr val="111111"/>
                </a:solidFill>
                <a:latin typeface="Calibri"/>
              </a:rPr>
              <a:t> = 0,9/1,5 = 0,6 Ω.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900" b="1" i="0">
                <a:solidFill>
                  <a:srgbClr val="111111"/>
                </a:solidFill>
                <a:latin typeface="Calibri"/>
              </a:rPr>
              <a:t>Kontroll: (1,4 + 0,6) Ω · 1,5 A = 3 V. Beräkningen lokaliserar fall till två delar.</a:t>
            </a:r>
          </a:p>
        </p:txBody>
      </p:sp>
      <p:pic>
        <p:nvPicPr>
          <p:cNvPr id="6" name="Figur: Seriekrets: källan 12 V, lasten 9 V och strömmen 1,5 A. Framledningen tappar 2,1 V och returen 0,9 V." descr="Seriekrets: källan 12 V, lasten 9 V och strömmen 1,5 A. Framledningen tappar 2,1 V och returen 0,9 V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677815"/>
            <a:ext cx="3794760" cy="2645368"/>
          </a:xfrm>
          <a:prstGeom prst="rect">
            <a:avLst/>
          </a:prstGeom>
        </p:spPr>
      </p:pic>
      <p:pic>
        <p:nvPicPr>
          <p:cNvPr id="7" name="Picture 6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Analys av mätresultat  ·  Del 4 · exempel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Avslutsfråga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8046720" cy="2011680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3200" b="1" i="0">
                <a:solidFill>
                  <a:srgbClr val="111111"/>
                </a:solidFill>
                <a:latin typeface="Calibri"/>
              </a:rPr>
              <a:t>När behöver du skriva ”underlaget räcker inte” i stället för ”godkänt”?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69080"/>
            <a:ext cx="8046720" cy="14630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2000" b="0" i="0">
                <a:solidFill>
                  <a:srgbClr val="4A4A4A"/>
                </a:solidFill>
                <a:latin typeface="Calibri"/>
              </a:rPr>
              <a:t>Färdigställ analysen av mätdata och markera minst en osäkerhet. Gör övningstentan inför fredagens repetition.</a:t>
            </a:r>
          </a:p>
        </p:txBody>
      </p:sp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Analys av mätresultat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Sammanfattning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44348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1. En slutsats gäller bara de punkter och det driftläge som är mätta. Hela mätintervallet ska ligga inom kravet.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2. Pröva varje hypotes mot alla mätvärden. Ett byte kan återställa funktionen medan orsaken finns kvar.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3. Protokollet binder varje slutsats till data. Återgången kräver funktionsprov, säkerhetskontroll och återlämning.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Analys av mätresultat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Det här gör du nu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44348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1. Läs del 4: alla sju avsnitt och de två exemplen. Tryck på ”Jag har läst del 4” längst ned på sidan.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2. Gör övning 2.4–2.6 på delsidan för del 4. Ledtrådar och facit finns där.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3. Gör inlämning 1–3 på veckans inlämningssida.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4. Gör analysen av mätdata, inlämning 4. Den bygger på del 3 och 4.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5. Gör övningstentan utan att titta i lösningarna.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6. Fredag 09.00: del 5, Repetition inför tentamen.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4A4A4A"/>
                </a:solidFill>
                <a:latin typeface="Calibri"/>
              </a:rPr>
              <a:t>Inlämningen och analysen av mätdata senast fredag 30 oktober. Allt finns på veckosidan.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Analys av mätresultat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Källor och fortsatt läsning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2"/>
              </a:rPr>
              <a:t>Sjöskolan: vecka 44, del 4 Analys av mätresultat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111111"/>
                </a:solidFill>
                <a:latin typeface="Calibri"/>
              </a:rPr>
              <a:t>Kursplanen för Elteknik och ellära, lärandemål 5, 7 och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3"/>
              </a:rPr>
              <a:t>Sjöskolan: elevprotokoll med kolumner för plan, mätning och analys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4"/>
              </a:rPr>
              <a:t>Fluke: multimeterns funktioner och mätning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918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5"/>
              </a:rPr>
              <a:t>SS-EN 50110-1 utgåva 4:2024, Skötsel av elektriska anläggningar (SEK Svensk Elstandard)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49039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6"/>
              </a:rPr>
              <a:t>OpenStax: Kirchhoffs lagar</a:t>
            </a:r>
          </a:p>
        </p:txBody>
      </p:sp>
      <p:pic>
        <p:nvPicPr>
          <p:cNvPr id="10" name="Picture 9" descr="sidfot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Analys av mätresultat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2026-09-20T20:09:37.2430000Z</dcterms:created>
  <dcterms:modified xsi:type="dcterms:W3CDTF">2026-09-20T20:09:37.2430000Z</dcterms:modified>
</coreProperties>
</file>