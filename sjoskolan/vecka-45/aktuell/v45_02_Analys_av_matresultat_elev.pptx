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ed11355ea2543db" Type="http://schemas.openxmlformats.org/officeDocument/2006/relationships/theme" Target="theme/theme1.xml"/><Relationship Id="R4a30431852bc4203" Type="http://schemas.openxmlformats.org/officeDocument/2006/relationships/presProps" Target="presProps.xml"/><Relationship Id="R59b04d653c184694" Type="http://schemas.openxmlformats.org/officeDocument/2006/relationships/tableStyles" Target="tableStyles.xml"/><Relationship Id="Ra38d8fb4f6ec40e4" Type="http://schemas.openxmlformats.org/officeDocument/2006/relationships/slideMaster" Target="slideMasters/slideMaster1.xml"/><Relationship Id="Rba35c611fa944afe" Type="http://schemas.openxmlformats.org/officeDocument/2006/relationships/viewProps" Target="viewProp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j22az.github.io/sjoskolan/vecka-45/aktuell/Del_2.html" TargetMode="External"/><Relationship Id="rId3" Type="http://schemas.openxmlformats.org/officeDocument/2006/relationships/hyperlink" Target="https://nj22az.github.io/sjoskolan/vecka-41/aktuell/Elevprotokoll.html" TargetMode="External"/><Relationship Id="rId4" Type="http://schemas.openxmlformats.org/officeDocument/2006/relationships/hyperlink" Target="https://dam-assets.fluke.com.cn/s3fs-public/2100079_6003_ENG_D_W.PDF" TargetMode="External"/><Relationship Id="rId5" Type="http://schemas.openxmlformats.org/officeDocument/2006/relationships/hyperlink" Target="https://elstandard.se/documents/preview/3246401" TargetMode="External"/><Relationship Id="rId6" Type="http://schemas.openxmlformats.org/officeDocument/2006/relationships/hyperlink" Target="https://openstax.org/books/university-physics-volume-2/pages/10-3-kirchhoffs-rules" TargetMode="External"/><Relationship Id="rId7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mslag_v45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0990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gradFill rotWithShape="1">
            <a:gsLst>
              <a:gs pos="0">
                <a:srgbClr val="001427">
                  <a:alpha val="70000"/>
                </a:srgbClr>
              </a:gs>
              <a:gs pos="45000">
                <a:srgbClr val="001427">
                  <a:alpha val="55000"/>
                </a:srgbClr>
              </a:gs>
              <a:gs pos="75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Analys av mätresultat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566928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Calibri"/>
              </a:rPr>
              <a:t>Felorsak, åtgärd och kvalitetssäkring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71800"/>
            <a:ext cx="585216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Vecka 44 · Tisdag 27 oktober · 16.00–17.00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585216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Del 4 av 5 · Elteknik och ellära</a:t>
            </a:r>
          </a:p>
        </p:txBody>
      </p:sp>
      <p:sp>
        <p:nvSpPr>
          <p:cNvPr id="8" name="Dag: Tisdag 27 oktober"/>
          <p:cNvSpPr/>
          <p:nvPr/>
        </p:nvSpPr>
        <p:spPr>
          <a:xfrm>
            <a:off x="548640" y="411480"/>
            <a:ext cx="2944368" cy="438912"/>
          </a:xfrm>
          <a:prstGeom prst="roundRect">
            <a:avLst>
              <a:gd name="adj" fmla="val 18000"/>
            </a:avLst>
          </a:prstGeom>
          <a:solidFill>
            <a:srgbClr val="246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Tisdag 27 oktober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Kursplanen i 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1453896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17320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förstår vad dina mätvärden betyder och drar rätt slutsats.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7128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130552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ser till att felsökning och kontroll görs rätt och skrivs ner i ett protokoll.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80360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843784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kan hitta ett fel med mätningar och ritningar.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94176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Efter lektionen kan 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51376"/>
            <a:ext cx="8046720" cy="1746503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avgöra om ett mätintervall ligger inom ett krav.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värdera hur starkt mätdata stödjer en felhypotes.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skriva en rapport som visar kontrollkedjan och kvarstående osäkerhet.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Startfråga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Vad kan du faktiskt bevisa med ett enda korrekt spänningsvärde?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74920"/>
            <a:ext cx="804672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064F91"/>
                </a:solidFill>
                <a:latin typeface="Calibri"/>
              </a:rPr>
              <a:t>Skriv ditt svar i chatten, i en mening.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Så går lektionen 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16.00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141732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Start och startfråga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8424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16.05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8424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1: Mätvärde, krav och hypoteser (avsnitt 1–4) och ett exempel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51176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16.25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551176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2.1–2.3 tillsammans på delsidan för del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18104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16.40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118104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2: Åtgärd, protokoll och återgång (avsnitt 5–7) och ett exempel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85032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16.55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685032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Avslutsfråga, sammanfattning och det här gör du nu</a:t>
            </a:r>
          </a:p>
        </p:txBody>
      </p:sp>
      <p:pic>
        <p:nvPicPr>
          <p:cNvPr id="14" name="Picture 13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Mätvärde, intervall och slutsats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Slutsatsen bygger på intervallet, inte bara på talet.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Ett mätvärde gäller vissa punkter vid ett bestämt driftläge.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Felgränsen bildar ett intervall kring avläsningen.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Kravet säger vilka värden som är tillåtna. Det kallas toleransintervall.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Beslutsregeln i kursen: hela mätintervallet måste ligga inom kravet.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  ·  Del 4 · avsnitt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Mätdata och slutsats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”24 V vid A” bevisar inte ”hela matningen är felfri”.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mätning gäller vissa punkter vid ett visst driftläge.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Slutsatsen får inte vara mer omfattande än underlaget.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Lastström, referens, tidsförlopp och instrumentdata avgör hur resultatet kan användas.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  ·  Del 4 · avsnitt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Jämförelse med ett krav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300" b="1" i="0">
                <a:solidFill>
                  <a:srgbClr val="064F91"/>
                </a:solidFill>
                <a:latin typeface="Calibri"/>
              </a:rPr>
              <a:t>Mätintervall och toleransintervall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Jämför resultatets intervall med det angivna kravet.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Redovisa hur osäkerhet eller felgräns påverkar beslutet.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Krav 23,0–25,0 V, mätning 24,90 ±0,15 V: intervallet 24,75–25,05 V går över kravets övre gräns, så överensstämmelse kan inte visas.</a:t>
            </a:r>
          </a:p>
        </p:txBody>
      </p:sp>
      <p:pic>
        <p:nvPicPr>
          <p:cNvPr id="5" name="Figur: Kravet 23,00–25,00 V och mätintervallet 24,75–25,05 V. Mätintervallet går över kravets övre gräns." descr="Kravet 23,00–25,00 V och mätintervallet 24,75–25,05 V. Mätintervallet går över kravets övre grän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466025"/>
            <a:ext cx="3794760" cy="2291709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  ·  Del 4 · avsnitt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Flera observationer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Hypoteser jämförs mot alla relevanta data.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Oberoende kontroller kan stärka eller försvaga samma hypotes.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annan felorsak kan ge ett liknande symtom.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Pröva varje hypotes mot alla mätvärden, inte bara mot det första symtomet.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  ·  Del 4 · avsnitt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ett mätintervall mot krav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7315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1">
                <a:solidFill>
                  <a:srgbClr val="4A4A4A"/>
                </a:solidFill>
                <a:latin typeface="Calibri"/>
              </a:rPr>
              <a:t>Krav 20,0 V ±2 %. Mätning 19,80 V ±0,15 V. Hela mätintervallet måste ligga inom kravet.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069080" cy="3703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100" b="1" i="0">
                <a:solidFill>
                  <a:srgbClr val="064F91"/>
                </a:solidFill>
                <a:latin typeface="Calibri"/>
              </a:rPr>
              <a:t>Krav = 20,0 · (1 ± 0,02); mätintervall = 19,80 ±0,15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1. Krav: 19,60–20,40 V.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2. Mätintervall: 19,65–19,95 V.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3. Hela mätintervallet ligger inom kravet: överensstämmelse visad.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1" i="0">
                <a:solidFill>
                  <a:srgbClr val="111111"/>
                </a:solidFill>
                <a:latin typeface="Calibri"/>
              </a:rPr>
              <a:t>Med större felgräns eller en annan beslutsregel kan slutsatsen bli en annan.</a:t>
            </a:r>
          </a:p>
        </p:txBody>
      </p:sp>
      <p:pic>
        <p:nvPicPr>
          <p:cNvPr id="6" name="Figur: Kravet 19,60–20,40 V och mätintervallet 19,65–19,95 V. Hela mätintervallet ligger inom kravet." descr="Kravet 19,60–20,40 V och mätintervallet 19,65–19,95 V. Hela mätintervallet ligger inom krave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854645"/>
            <a:ext cx="3794760" cy="2291709"/>
          </a:xfrm>
          <a:prstGeom prst="rect">
            <a:avLst/>
          </a:prstGeom>
        </p:spPr>
      </p:pic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  ·  Del 4 · exempel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4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Mätningens räckvidd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Kravjämförelse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10712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3410712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410712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Skillnad mellan instrument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24528"/>
            <a:ext cx="8046720" cy="1673351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 per övning. Skriv ditt svar i chatten. Övning 2.4–2.6 gör du själv efter lektionen.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nj22az.github.io/sjoskolan/vecka-45/aktuell/Del_2.html</a:t>
            </a:r>
          </a:p>
        </p:txBody>
      </p:sp>
      <p:pic>
        <p:nvPicPr>
          <p:cNvPr id="15" name="Picture 1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  ·  Del 4 · 4 Övningar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Åtgärd och rotorsak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Skada, orsak, åtgärd och förebyggande kontroll.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utbytt komponent kan återställa funktionen tillfälligt.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Bakomliggande orsak kan finnas kvar.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bränd anslutning kan kräva utredning av belastning, kontaktförhållanden och föreskriven montering.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  ·  Del 4 · avsnitt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Kontrollprotokollets innehåll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Varje slutsats ska kunna följas tillbaka till data.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Ange objekt, revision, mätpunkter, driftläge och instrument.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Redovisa förväntat värde, uppmätt värde och bedömning.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Dokumentera avvikelser och vem som fattat beslut om återgång eller fortsatt utredning.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  ·  Del 4 · avsnitt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Kvalitetssäkrad återgång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Funktionsprov, säkerhetskontroll och återlämning.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Kontrollera att felet är åtgärdat i det relevanta driftfallet.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Skydd och normal dokumentation ska vara återställda.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Ombord: avsluta arbetstillstånd och LOTO (låsning och märkning), kontrollera isolationsvaktens värde, informera vakthavande och bryggan, för in åtgärden i maskindagbok och underhållssystem.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  ·  Del 4 · avsnitt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fram- och returväg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7315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1">
                <a:solidFill>
                  <a:srgbClr val="4A4A4A"/>
                </a:solidFill>
                <a:latin typeface="Calibri"/>
              </a:rPr>
              <a:t>Källa 12 V, last 9 V och ström 1,5 A. Returens fall är 0,9 V. Samtidiga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069080" cy="3703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100" b="1" i="0">
                <a:solidFill>
                  <a:srgbClr val="064F91"/>
                </a:solidFill>
                <a:latin typeface="Calibri"/>
              </a:rPr>
              <a:t>ΔU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fram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 = U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källa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 − U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last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 − ΔU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retur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; R = ΔU/I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1. Totalt fall = 12 − 9 = 3 V.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2. Framfall = 3 − 0,9 = 2,1 V. R</a:t>
            </a:r>
            <a:r>
              <a:rPr sz="1900" b="0" i="0" baseline="-25000">
                <a:solidFill>
                  <a:srgbClr val="111111"/>
                </a:solidFill>
                <a:latin typeface="Calibri"/>
              </a:rPr>
              <a:t>fram</a:t>
            </a:r>
            <a:r>
              <a:rPr sz="1900" b="0" i="0">
                <a:solidFill>
                  <a:srgbClr val="111111"/>
                </a:solidFill>
                <a:latin typeface="Calibri"/>
              </a:rPr>
              <a:t> = 2,1/1,5 = 1,4 Ω.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3. R</a:t>
            </a:r>
            <a:r>
              <a:rPr sz="1900" b="0" i="0" baseline="-25000">
                <a:solidFill>
                  <a:srgbClr val="111111"/>
                </a:solidFill>
                <a:latin typeface="Calibri"/>
              </a:rPr>
              <a:t>retur</a:t>
            </a:r>
            <a:r>
              <a:rPr sz="1900" b="0" i="0">
                <a:solidFill>
                  <a:srgbClr val="111111"/>
                </a:solidFill>
                <a:latin typeface="Calibri"/>
              </a:rPr>
              <a:t> = 0,9/1,5 = 0,6 Ω.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1" i="0">
                <a:solidFill>
                  <a:srgbClr val="111111"/>
                </a:solidFill>
                <a:latin typeface="Calibri"/>
              </a:rPr>
              <a:t>Kontroll: (1,4 + 0,6) Ω · 1,5 A = 3 V. Beräkningen lokaliserar fall till två delar.</a:t>
            </a:r>
          </a:p>
        </p:txBody>
      </p:sp>
      <p:pic>
        <p:nvPicPr>
          <p:cNvPr id="6" name="Figur: Seriekrets: källan 12 V, lasten 9 V och strömmen 1,5 A. Framledningen tappar 2,1 V och returen 0,9 V." descr="Seriekrets: källan 12 V, lasten 9 V och strömmen 1,5 A. Framledningen tappar 2,1 V och returen 0,9 V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677815"/>
            <a:ext cx="3794760" cy="2645368"/>
          </a:xfrm>
          <a:prstGeom prst="rect">
            <a:avLst/>
          </a:prstGeom>
        </p:spPr>
      </p:pic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  ·  Del 4 · exempel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Avslutsfråga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När behöver du skriva ”underlaget räcker inte” i stället för ”godkänt”?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804672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000" b="0" i="0">
                <a:solidFill>
                  <a:srgbClr val="4A4A4A"/>
                </a:solidFill>
                <a:latin typeface="Calibri"/>
              </a:rPr>
              <a:t>Färdigställ analysen av mätdata och markera minst en osäkerhet. Gör övningstentan inför fredagens repetition.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Sammanfattning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En slutsats gäller bara de punkter och det driftläge som är mätta. Hela mätintervallet ska ligga inom kravet.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Pröva varje hypotes mot alla mätvärden. Ett byte kan återställa funktionen medan orsaken finns kvar.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Protokollet binder varje slutsats till data. Återgången kräver funktionsprov, säkerhetskontroll och återlämning.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Det här gör du nu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Läs del 4: alla sju avsnitt och de två exemplen. Tryck på ”Jag har läst del 4” längst ned på sidan.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Gör övning 2.4–2.6 på delsidan för del 4. Övning 2.7–2.10 är extra. Ledtrådar och facit finns där.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Gör inlämning 1–3 på veckans inlämningssida.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4. Gör analysen av mätdata, inlämning 4.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5. Gör övningstentan utan att titta i lösningarna.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6. Fredag 09.00: del 5, Repetition inför tentamen.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4A4A4A"/>
                </a:solidFill>
                <a:latin typeface="Calibri"/>
              </a:rPr>
              <a:t>Inlämningen, uppgift 1–4, senast fredag 30 oktober. Allt finns på veckosidan.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Källor och fortsatt läsning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2"/>
              </a:rPr>
              <a:t>Sjöskolan: vecka 44, del 4 Analys av mätresultat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Calibri"/>
              </a:rPr>
              <a:t>Kursplanen för Elteknik och ellära, lärandemål 5, 7 och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3"/>
              </a:rPr>
              <a:t>Sjöskolan: elevprotokoll med kolumner för plan, mätning och analys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4"/>
              </a:rPr>
              <a:t>Fluke: multimeterns funktioner och mätning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5"/>
              </a:rPr>
              <a:t>SS-EN 50110-1 utgåva 4:2024, Skötsel av elektriska anläggningar (SEK Svensk Elstandard)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6"/>
              </a:rPr>
              <a:t>OpenStax: Kirchhoffs lagar</a:t>
            </a:r>
          </a:p>
        </p:txBody>
      </p:sp>
      <p:pic>
        <p:nvPicPr>
          <p:cNvPr id="10" name="Picture 9" descr="sidfo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