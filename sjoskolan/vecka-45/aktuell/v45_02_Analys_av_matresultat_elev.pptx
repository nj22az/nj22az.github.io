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1684b046829d43eb" Type="http://schemas.openxmlformats.org/package/2006/relationships/metadata/core-properties" Target="docProps/core.xml"/><Relationship Id="Re2d600cf2f8a47b4" Type="http://schemas.openxmlformats.org/officeDocument/2006/relationships/extended-properties" Target="docProps/app.xml"/><Relationship Id="Rec0997a44d164b6e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3c0c28cd8e264567"/>
  </p:sldMasterIdLst>
  <p:sldIdLst>
    <p:sldId id="256" r:id="Rded8a2ed315142d5"/>
    <p:sldId id="257" r:id="Rabaefc4017fe42ea"/>
    <p:sldId id="258" r:id="R1025dc039e6a46eb"/>
    <p:sldId id="259" r:id="Rf9c500c8e08c46e3"/>
    <p:sldId id="260" r:id="R126387c469074337"/>
    <p:sldId id="261" r:id="Rd00899854bcd4de6"/>
    <p:sldId id="262" r:id="R7986f9aa59044a56"/>
    <p:sldId id="263" r:id="R5aba1fe583a34241"/>
    <p:sldId id="264" r:id="R7bef3792edb54d5c"/>
    <p:sldId id="265" r:id="R80ee216b1ff148bb"/>
    <p:sldId id="266" r:id="R797177944525410e"/>
    <p:sldId id="267" r:id="Re6b28cca199a4891"/>
    <p:sldId id="268" r:id="R2cbd3bd3576a4d85"/>
    <p:sldId id="269" r:id="R4ad222365d07478f"/>
    <p:sldId id="270" r:id="Rc299beb09dcc4ba6"/>
    <p:sldId id="271" r:id="Re011e178a4624b06"/>
    <p:sldId id="272" r:id="R4939ee0268ee4a13"/>
    <p:sldId id="273" r:id="R9282053f36a2402f"/>
    <p:sldId id="274" r:id="R4e0b3a37cd00452f"/>
    <p:sldId id="275" r:id="R18958e0e5983480a"/>
    <p:sldId id="276" r:id="R7b94f0dd7a224ebb"/>
    <p:sldId id="277" r:id="R1a0485bf618341ed"/>
    <p:sldId id="278" r:id="R142043b46a2a4947"/>
    <p:sldId id="279" r:id="R71dbe7193bc44565"/>
    <p:sldId id="280" r:id="R80faf5cae41841e7"/>
    <p:sldId id="281" r:id="Rc7cd6a3ae35c42de"/>
    <p:sldId id="282" r:id="R47fe300d9abb4726"/>
    <p:sldId id="283" r:id="R95da5abaa2eb4376"/>
    <p:sldId id="284" r:id="R0b8165dee1454373"/>
    <p:sldId id="285" r:id="R7bdab4d06f1f4513"/>
    <p:sldId id="286" r:id="Rd72a367c569f4d38"/>
    <p:sldId id="287" r:id="Rb5f70b3756a94b80"/>
    <p:sldId id="288" r:id="Ra5c19430e8b94a6b"/>
    <p:sldId id="289" r:id="Rf2f28d5531e04d28"/>
    <p:sldId id="290" r:id="Rc8e70e0fc86849cd"/>
    <p:sldId id="291" r:id="Rc2a79c156e584b48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b8165dee1454373" Type="http://schemas.openxmlformats.org/officeDocument/2006/relationships/slide" Target="slides/slide29.xml"/><Relationship Id="R1025dc039e6a46eb" Type="http://schemas.openxmlformats.org/officeDocument/2006/relationships/slide" Target="slides/slide3.xml"/><Relationship Id="R126387c469074337" Type="http://schemas.openxmlformats.org/officeDocument/2006/relationships/slide" Target="slides/slide5.xml"/><Relationship Id="R142043b46a2a4947" Type="http://schemas.openxmlformats.org/officeDocument/2006/relationships/slide" Target="slides/slide23.xml"/><Relationship Id="R18958e0e5983480a" Type="http://schemas.openxmlformats.org/officeDocument/2006/relationships/slide" Target="slides/slide20.xml"/><Relationship Id="R1a0485bf618341ed" Type="http://schemas.openxmlformats.org/officeDocument/2006/relationships/slide" Target="slides/slide22.xml"/><Relationship Id="R2cbd3bd3576a4d85" Type="http://schemas.openxmlformats.org/officeDocument/2006/relationships/slide" Target="slides/slide13.xml"/><Relationship Id="R3c0c28cd8e264567" Type="http://schemas.openxmlformats.org/officeDocument/2006/relationships/slideMaster" Target="slideMasters/slideMaster1.xml"/><Relationship Id="R47fe300d9abb4726" Type="http://schemas.openxmlformats.org/officeDocument/2006/relationships/slide" Target="slides/slide27.xml"/><Relationship Id="R4939ee0268ee4a13" Type="http://schemas.openxmlformats.org/officeDocument/2006/relationships/slide" Target="slides/slide17.xml"/><Relationship Id="R4a8a65e9b46b4ceb" Type="http://schemas.openxmlformats.org/officeDocument/2006/relationships/theme" Target="theme/theme1.xml"/><Relationship Id="R4ad222365d07478f" Type="http://schemas.openxmlformats.org/officeDocument/2006/relationships/slide" Target="slides/slide14.xml"/><Relationship Id="R4e0b3a37cd00452f" Type="http://schemas.openxmlformats.org/officeDocument/2006/relationships/slide" Target="slides/slide19.xml"/><Relationship Id="R5aba1fe583a34241" Type="http://schemas.openxmlformats.org/officeDocument/2006/relationships/slide" Target="slides/slide8.xml"/><Relationship Id="R71dbe7193bc44565" Type="http://schemas.openxmlformats.org/officeDocument/2006/relationships/slide" Target="slides/slide24.xml"/><Relationship Id="R797177944525410e" Type="http://schemas.openxmlformats.org/officeDocument/2006/relationships/slide" Target="slides/slide11.xml"/><Relationship Id="R7986f9aa59044a56" Type="http://schemas.openxmlformats.org/officeDocument/2006/relationships/slide" Target="slides/slide7.xml"/><Relationship Id="R7b94f0dd7a224ebb" Type="http://schemas.openxmlformats.org/officeDocument/2006/relationships/slide" Target="slides/slide21.xml"/><Relationship Id="R7bdab4d06f1f4513" Type="http://schemas.openxmlformats.org/officeDocument/2006/relationships/slide" Target="slides/slide30.xml"/><Relationship Id="R7bef3792edb54d5c" Type="http://schemas.openxmlformats.org/officeDocument/2006/relationships/slide" Target="slides/slide9.xml"/><Relationship Id="R807240de8989461e" Type="http://schemas.openxmlformats.org/officeDocument/2006/relationships/presProps" Target="presProps.xml"/><Relationship Id="R80ee216b1ff148bb" Type="http://schemas.openxmlformats.org/officeDocument/2006/relationships/slide" Target="slides/slide10.xml"/><Relationship Id="R80faf5cae41841e7" Type="http://schemas.openxmlformats.org/officeDocument/2006/relationships/slide" Target="slides/slide25.xml"/><Relationship Id="R8c79e6cbfd124be5" Type="http://schemas.openxmlformats.org/officeDocument/2006/relationships/tableStyles" Target="tableStyles.xml"/><Relationship Id="R9282053f36a2402f" Type="http://schemas.openxmlformats.org/officeDocument/2006/relationships/slide" Target="slides/slide18.xml"/><Relationship Id="R95da5abaa2eb4376" Type="http://schemas.openxmlformats.org/officeDocument/2006/relationships/slide" Target="slides/slide28.xml"/><Relationship Id="Ra5c19430e8b94a6b" Type="http://schemas.openxmlformats.org/officeDocument/2006/relationships/slide" Target="slides/slide33.xml"/><Relationship Id="Rabaefc4017fe42ea" Type="http://schemas.openxmlformats.org/officeDocument/2006/relationships/slide" Target="slides/slide2.xml"/><Relationship Id="Rb5f70b3756a94b80" Type="http://schemas.openxmlformats.org/officeDocument/2006/relationships/slide" Target="slides/slide32.xml"/><Relationship Id="Rc299beb09dcc4ba6" Type="http://schemas.openxmlformats.org/officeDocument/2006/relationships/slide" Target="slides/slide15.xml"/><Relationship Id="Rc2a79c156e584b48" Type="http://schemas.openxmlformats.org/officeDocument/2006/relationships/slide" Target="slides/slide36.xml"/><Relationship Id="Rc7cd6a3ae35c42de" Type="http://schemas.openxmlformats.org/officeDocument/2006/relationships/slide" Target="slides/slide26.xml"/><Relationship Id="Rc8e70e0fc86849cd" Type="http://schemas.openxmlformats.org/officeDocument/2006/relationships/slide" Target="slides/slide35.xml"/><Relationship Id="Rd00899854bcd4de6" Type="http://schemas.openxmlformats.org/officeDocument/2006/relationships/slide" Target="slides/slide6.xml"/><Relationship Id="Rd72a367c569f4d38" Type="http://schemas.openxmlformats.org/officeDocument/2006/relationships/slide" Target="slides/slide31.xml"/><Relationship Id="Rded8a2ed315142d5" Type="http://schemas.openxmlformats.org/officeDocument/2006/relationships/slide" Target="slides/slide1.xml"/><Relationship Id="Re011e178a4624b06" Type="http://schemas.openxmlformats.org/officeDocument/2006/relationships/slide" Target="slides/slide16.xml"/><Relationship Id="Re6b28cca199a4891" Type="http://schemas.openxmlformats.org/officeDocument/2006/relationships/slide" Target="slides/slide12.xml"/><Relationship Id="Rf252819e51214e43" Type="http://schemas.openxmlformats.org/officeDocument/2006/relationships/viewProps" Target="viewProps.xml"/><Relationship Id="Rf2f28d5531e04d28" Type="http://schemas.openxmlformats.org/officeDocument/2006/relationships/slide" Target="slides/slide34.xml"/><Relationship Id="Rf9c500c8e08c46e3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9a832046657144c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4358b962fe2a41d8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eabb89eb49e84897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94600ef9ef264a26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4e33890e99234463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7161314dfc1c4028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6adb937d65dd4083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e985f6963c5045ef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aef67c00606d468e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d166f07e94404623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fb4dd141b1ec4fc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30E11AE-2A95-41D1-A194-045BBAFC67C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6342D3A-EF78-4D0C-9716-C08446B255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10331CA-A14E-4BAA-8304-9570D2777C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636193-6E3E-401F-80EB-3988058DF1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AC105D-955B-46F7-858B-D874DD319A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50EB4B-E0FD-4E7E-82B3-11A2DEBE91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708E33B-1B10-4D12-B0F1-8BE3A113A4D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FB69D3-D2CF-4B6C-8684-C21B971A5A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BE25B7B-6CE5-4072-82B6-AE4FA1F733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B7356D-D482-4371-A9AA-40F227253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DF09A9-E98B-4C73-AC46-7D908311E7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27BCF3-2E00-465F-886F-881EC9C115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BBA4C97-8C27-4AAF-9EBC-910B7C1B01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4C093A-1F98-4E10-8187-C329B40F1C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A219-BF09-4F02-B8AC-D2AD137D56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94EC4D9-7FB5-4B14-9F6A-4029FE5602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7EAC4C5-1C55-4ED8-B135-B909D704ED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8BD665A-FD00-47F0-B47B-CAF5C1BD074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ADBCA82-9A80-46B2-9FA4-8E917D9C77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33BDE2E-66EB-4390-A97C-60EB6208D4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74E87EE-1505-4B82-A7D8-A5E9CE3D8D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EFD4632-1297-4721-B3F0-282D920217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6F012F-BDD7-444E-8D66-B687F08D87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77AD2CC-33B4-4854-A087-8817DC6251B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4350789-0D57-45F0-964D-999FDEAD21E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A972EB1-157C-4CCA-BA3A-B7F798C2115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17EC992-C480-435A-89D3-72FEF35D93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CB7A526-52D2-44A0-A527-AB3EA14C1B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F65CE09-1BBD-45B2-8FBF-F177A1E6B7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D0FCE6-7CF8-4DA7-BE0D-F83B9AE258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AA7CF6C-8774-4DD9-A693-22B97D9352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DCBF22CE-B29C-40A9-8FD1-CE3221F494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04B7424-CEF7-4923-9474-88C0D968C7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00C458D1-D320-4A3D-A672-46087C4281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81FB86A-F48F-4999-B7A2-00794921CC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B5F8CA9-318B-4CA1-BA2C-48A6A3598E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08D02F-57DB-4119-9C12-FA35F52EFA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0B53FF6-F9B0-4796-B600-0E73344A52C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3676780-D4B1-43AF-9E5B-FFCB4DC4A0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0214266-78FB-496F-9A57-C9ACCC4E86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0EE245-E0AE-480B-AC7D-0267FC1B5E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56DA5AC-51AC-4363-AEE5-1619085E9A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63FEA5-B00F-4882-8C05-0741E74450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0A31EA3-2809-4981-9B82-A685074F229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C4C8AE0-B268-4928-8CFB-BD091F42C0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AC11B72-66B6-4856-AFC0-517A00255E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67FF981-E91A-490E-921C-4CFD3521AD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F0F6134-C7CF-4823-8F19-EFABFF92F4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9398DA-6A9B-4F22-A38B-30D76F2CDA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84A71C8-6716-489F-A250-09B3118554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EB9C137-7B68-43B8-80D8-CBFDA95468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2DF87EC-469C-42BE-B478-5317675C5F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060D6B7-71F4-4C13-877F-15106AFBEC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0E5A20F-60A8-4891-9742-CCD6C70E18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215614F-34FA-4425-AC2D-00B2195A32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565603A-ACA3-495C-B5B1-147C8C5099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65E382-24D7-4D79-869D-A7CC930901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7752AC-6743-4B24-BFB4-3B9EE02CAC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38852b4961f84ff5" Type="http://schemas.openxmlformats.org/officeDocument/2006/relationships/slideLayout" Target="../slideLayouts/slideLayout5.xml"/><Relationship Id="R45d94310ae8743cd" Type="http://schemas.openxmlformats.org/officeDocument/2006/relationships/slideLayout" Target="../slideLayouts/slideLayout2.xml"/><Relationship Id="R4cfacb6566f94eeb" Type="http://schemas.openxmlformats.org/officeDocument/2006/relationships/slideLayout" Target="../slideLayouts/slideLayout9.xml"/><Relationship Id="R5cf8e95971114b64" Type="http://schemas.openxmlformats.org/officeDocument/2006/relationships/slideLayout" Target="../slideLayouts/slideLayout4.xml"/><Relationship Id="R633f932060c74937" Type="http://schemas.openxmlformats.org/officeDocument/2006/relationships/slideLayout" Target="../slideLayouts/slideLayout7.xml"/><Relationship Id="R74373db461a84211" Type="http://schemas.openxmlformats.org/officeDocument/2006/relationships/slideLayout" Target="../slideLayouts/slideLayout10.xml"/><Relationship Id="Rbfa3ddfdd8544608" Type="http://schemas.openxmlformats.org/officeDocument/2006/relationships/theme" Target="theme/theme2.xml"/><Relationship Id="Rc4d67ee070e3404d" Type="http://schemas.openxmlformats.org/officeDocument/2006/relationships/slideLayout" Target="../slideLayouts/slideLayout11.xml"/><Relationship Id="Rcaa2a2df58a94b24" Type="http://schemas.openxmlformats.org/officeDocument/2006/relationships/slideLayout" Target="../slideLayouts/slideLayout6.xml"/><Relationship Id="Rcb6b414d2e964d7d" Type="http://schemas.openxmlformats.org/officeDocument/2006/relationships/slideLayout" Target="../slideLayouts/slideLayout8.xml"/><Relationship Id="Re41c78141e82424f" Type="http://schemas.openxmlformats.org/officeDocument/2006/relationships/slideLayout" Target="../slideLayouts/slideLayout1.xml"/><Relationship Id="Rf43db9e7dd4a4a01" Type="http://schemas.openxmlformats.org/officeDocument/2006/relationships/slideLayout" Target="../slideLayouts/slideLayout3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7DBD58A-E251-4898-8A01-19068630D7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79ED06C-D727-40CA-AE20-9BA9DF844E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1626C9B-2252-4851-9DE9-CCCFE49B765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8F883B4-E284-4CE9-96DB-52311372E6C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8AF527-E3BC-468E-94DB-5F3D1688A12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1c78141e82424f"/>
    <p:sldLayoutId xmlns:r="http://schemas.openxmlformats.org/officeDocument/2006/relationships" id="2147483650" r:id="R45d94310ae8743cd"/>
    <p:sldLayoutId xmlns:r="http://schemas.openxmlformats.org/officeDocument/2006/relationships" id="2147483651" r:id="Rf43db9e7dd4a4a01"/>
    <p:sldLayoutId xmlns:r="http://schemas.openxmlformats.org/officeDocument/2006/relationships" id="2147483652" r:id="R5cf8e95971114b64"/>
    <p:sldLayoutId xmlns:r="http://schemas.openxmlformats.org/officeDocument/2006/relationships" id="2147483653" r:id="R38852b4961f84ff5"/>
    <p:sldLayoutId xmlns:r="http://schemas.openxmlformats.org/officeDocument/2006/relationships" id="2147483654" r:id="Rcaa2a2df58a94b24"/>
    <p:sldLayoutId xmlns:r="http://schemas.openxmlformats.org/officeDocument/2006/relationships" id="2147483655" r:id="R633f932060c74937"/>
    <p:sldLayoutId xmlns:r="http://schemas.openxmlformats.org/officeDocument/2006/relationships" id="2147483656" r:id="Rcb6b414d2e964d7d"/>
    <p:sldLayoutId xmlns:r="http://schemas.openxmlformats.org/officeDocument/2006/relationships" id="2147483657" r:id="R4cfacb6566f94eeb"/>
    <p:sldLayoutId xmlns:r="http://schemas.openxmlformats.org/officeDocument/2006/relationships" id="2147483658" r:id="R74373db461a84211"/>
    <p:sldLayoutId xmlns:r="http://schemas.openxmlformats.org/officeDocument/2006/relationships" id="2147483659" r:id="Rc4d67ee070e3404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2dcaafdc1934c1b" Type="http://schemas.openxmlformats.org/officeDocument/2006/relationships/image" Target="../media/image.jpeg"/><Relationship Id="R1ecd301e74174bb8" Type="http://schemas.openxmlformats.org/officeDocument/2006/relationships/slideLayout" Target="../slideLayouts/slideLayout1.xml"/><Relationship Id="R72b45d318cd74f29" Type="http://schemas.openxmlformats.org/officeDocument/2006/relationships/image" Target="../media/image.png"/></Relationships>
</file>

<file path=ppt/slides/_rels/slide2.xml.rels><?xml version='1.0' encoding='UTF-8' standalone='yes'?>
<Relationships xmlns="http://schemas.openxmlformats.org/package/2006/relationships"><Relationship Id="R5bbb57d598214345" Type="http://schemas.openxmlformats.org/officeDocument/2006/relationships/image" Target="../media/image.jpeg"/><Relationship Id="Raeebed66ba73484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b4eb82a01cd54add" Type="http://schemas.openxmlformats.org/officeDocument/2006/relationships/image" Target="../media/image.jpeg"/><Relationship Id="Rc145077dbc38449a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0894b7b89a364360" Type="http://schemas.openxmlformats.org/officeDocument/2006/relationships/image" Target="../media/image.jpeg"/><Relationship Id="Raa394488b1c845e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7889e3fa23f54390" Type="http://schemas.openxmlformats.org/officeDocument/2006/relationships/image" Target="../media/image.jpeg"/><Relationship Id="Rb7fdbe989e7d464f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c651929a744b4830" Type="http://schemas.openxmlformats.org/officeDocument/2006/relationships/image" Target="../media/image.jpeg"/><Relationship Id="Rd163618c5322414b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37b5a88d97a14de8" Type="http://schemas.openxmlformats.org/officeDocument/2006/relationships/image" Target="../media/image.jpeg"/><Relationship Id="Rd3705b87cc1a46e8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4efcab7e76944f5a" Type="http://schemas.openxmlformats.org/officeDocument/2006/relationships/slideLayout" Target="../slideLayouts/slideLayout1.xml"/><Relationship Id="R8e0c01d37c564684" Type="http://schemas.openxmlformats.org/officeDocument/2006/relationships/image" Target="../media/image.jpeg"/></Relationships>
</file>

<file path=ppt/slides/_rels/slide9.xml.rels><?xml version='1.0' encoding='UTF-8' standalone='yes'?>
<Relationships xmlns="http://schemas.openxmlformats.org/package/2006/relationships"><Relationship Id="R3b69ecc26b9f42c4" Type="http://schemas.openxmlformats.org/officeDocument/2006/relationships/image" Target="../media/image.jpeg"/><Relationship Id="Re251962d71ac48ec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c1850b41c5ed4318" Type="http://schemas.openxmlformats.org/officeDocument/2006/relationships/slideLayout" Target="../slideLayouts/slideLayout1.xml"/><Relationship Id="Re2b762d195b241aa" Type="http://schemas.openxmlformats.org/officeDocument/2006/relationships/image" Target="../media/image.jpeg"/></Relationships>
</file>

<file path=ppt/slides/_rels/slide11.xml.rels><?xml version='1.0' encoding='UTF-8' standalone='yes'?>
<Relationships xmlns="http://schemas.openxmlformats.org/package/2006/relationships"><Relationship Id="R6fb54356d1794916" Type="http://schemas.openxmlformats.org/officeDocument/2006/relationships/slideLayout" Target="../slideLayouts/slideLayout1.xml"/><Relationship Id="R7eb4946f99be4c60" Type="http://schemas.openxmlformats.org/officeDocument/2006/relationships/image" Target="../media/image.jpeg"/></Relationships>
</file>

<file path=ppt/slides/_rels/slide12.xml.rels><?xml version='1.0' encoding='UTF-8' standalone='yes'?>
<Relationships xmlns="http://schemas.openxmlformats.org/package/2006/relationships"><Relationship Id="R0e7f84ce200a43b6" Type="http://schemas.openxmlformats.org/officeDocument/2006/relationships/image" Target="../media/image.jpeg"/><Relationship Id="Rb7b51e3081b2465c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849124507e6d455e" Type="http://schemas.openxmlformats.org/officeDocument/2006/relationships/image" Target="../media/image.jpeg"/><Relationship Id="Rd99a1c0a97b04cfc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008344a2ff414eb7" Type="http://schemas.openxmlformats.org/officeDocument/2006/relationships/image" Target="../media/image.jpeg"/><Relationship Id="R3aa1a516c0cd419b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5db634d6bc894bd5" Type="http://schemas.openxmlformats.org/officeDocument/2006/relationships/slideLayout" Target="../slideLayouts/slideLayout1.xml"/><Relationship Id="Re213c0a50996493f" Type="http://schemas.openxmlformats.org/officeDocument/2006/relationships/image" Target="../media/image.jpeg"/></Relationships>
</file>

<file path=ppt/slides/_rels/slide16.xml.rels><?xml version='1.0' encoding='UTF-8' standalone='yes'?>
<Relationships xmlns="http://schemas.openxmlformats.org/package/2006/relationships"><Relationship Id="R87fdf736d02742a6" Type="http://schemas.openxmlformats.org/officeDocument/2006/relationships/slideLayout" Target="../slideLayouts/slideLayout1.xml"/><Relationship Id="Rbcc2d57a877d4212" Type="http://schemas.openxmlformats.org/officeDocument/2006/relationships/image" Target="../media/image.jpeg"/></Relationships>
</file>

<file path=ppt/slides/_rels/slide17.xml.rels><?xml version='1.0' encoding='UTF-8' standalone='yes'?>
<Relationships xmlns="http://schemas.openxmlformats.org/package/2006/relationships"><Relationship Id="R2ef75d043aad4a6c" Type="http://schemas.openxmlformats.org/officeDocument/2006/relationships/slideLayout" Target="../slideLayouts/slideLayout1.xml"/><Relationship Id="R5d3496c2a29745cd" Type="http://schemas.openxmlformats.org/officeDocument/2006/relationships/image" Target="../media/image.jpe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08655b074a4a49e6" Type="http://schemas.openxmlformats.org/officeDocument/2006/relationships/slideLayout" Target="../slideLayouts/slideLayout1.xml"/><Relationship Id="R2ff901e892fd463d" Type="http://schemas.openxmlformats.org/officeDocument/2006/relationships/image" Target="../media/image.jpeg"/></Relationships>
</file>

<file path=ppt/slides/_rels/slide19.xml.rels><?xml version='1.0' encoding='UTF-8' standalone='yes'?>
<Relationships xmlns="http://schemas.openxmlformats.org/package/2006/relationships"><Relationship Id="R708bf7d475584178" Type="http://schemas.openxmlformats.org/officeDocument/2006/relationships/image" Target="../media/image.jpeg"/><Relationship Id="Ra86a8f2684fe4ab3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ca09612a13ec4957" Type="http://schemas.openxmlformats.org/officeDocument/2006/relationships/image" Target="../media/image.jpeg"/><Relationship Id="Rcdd2a7461fc647cb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7f7e0c7ae1734bb3" Type="http://schemas.openxmlformats.org/officeDocument/2006/relationships/slideLayout" Target="../slideLayouts/slideLayout1.xml"/><Relationship Id="Rd629e11070534362" Type="http://schemas.openxmlformats.org/officeDocument/2006/relationships/image" Target="../media/image.jpeg"/></Relationships>
</file>

<file path=ppt/slides/_rels/slide22.xml.rels><?xml version='1.0' encoding='UTF-8' standalone='yes'?>
<Relationships xmlns="http://schemas.openxmlformats.org/package/2006/relationships"><Relationship Id="R34cf895bd32844dd" Type="http://schemas.openxmlformats.org/officeDocument/2006/relationships/image" Target="../media/image.jpeg"/><Relationship Id="R3f3a08f1e54c4096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71eb6b6357c443a0" Type="http://schemas.openxmlformats.org/officeDocument/2006/relationships/image" Target="../media/image.jpeg"/><Relationship Id="Rc6990e3194ac4c24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4ec258ffbdb54f94" Type="http://schemas.openxmlformats.org/officeDocument/2006/relationships/slideLayout" Target="../slideLayouts/slideLayout1.xml"/><Relationship Id="Rc8757933a5714955" Type="http://schemas.openxmlformats.org/officeDocument/2006/relationships/image" Target="../media/image.jpeg"/><Relationship Id="rId3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101a3298895f484a" Type="http://schemas.openxmlformats.org/officeDocument/2006/relationships/slideLayout" Target="../slideLayouts/slideLayout1.xml"/><Relationship Id="Rcd527e4e8b464689" Type="http://schemas.openxmlformats.org/officeDocument/2006/relationships/image" Target="../media/image.jpeg"/></Relationships>
</file>

<file path=ppt/slides/_rels/slide26.xml.rels><?xml version='1.0' encoding='UTF-8' standalone='yes'?>
<Relationships xmlns="http://schemas.openxmlformats.org/package/2006/relationships"><Relationship Id="R1286cb6801e54f25" Type="http://schemas.openxmlformats.org/officeDocument/2006/relationships/slideLayout" Target="../slideLayouts/slideLayout1.xml"/><Relationship Id="R5d213cbcb1424a15" Type="http://schemas.openxmlformats.org/officeDocument/2006/relationships/image" Target="../media/image.jpeg"/></Relationships>
</file>

<file path=ppt/slides/_rels/slide27.xml.rels><?xml version='1.0' encoding='UTF-8' standalone='yes'?>
<Relationships xmlns="http://schemas.openxmlformats.org/package/2006/relationships"><Relationship Id="R5b570507e2c34164" Type="http://schemas.openxmlformats.org/officeDocument/2006/relationships/image" Target="../media/image.jpeg"/><Relationship Id="R8a259dfdd89d471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125801360cee4586" Type="http://schemas.openxmlformats.org/officeDocument/2006/relationships/slideLayout" Target="../slideLayouts/slideLayout1.xml"/><Relationship Id="R392dc832c07741c0" Type="http://schemas.openxmlformats.org/officeDocument/2006/relationships/image" Target="../media/image.jpeg"/></Relationships>
</file>

<file path=ppt/slides/_rels/slide29.xml.rels><?xml version='1.0' encoding='UTF-8' standalone='yes'?>
<Relationships xmlns="http://schemas.openxmlformats.org/package/2006/relationships"><Relationship Id="R1d02b0f018cf4676" Type="http://schemas.openxmlformats.org/officeDocument/2006/relationships/slideLayout" Target="../slideLayouts/slideLayout1.xml"/><Relationship Id="R8f9d6beb59ba4a78" Type="http://schemas.openxmlformats.org/officeDocument/2006/relationships/image" Target="../media/image.jpeg"/></Relationships>
</file>

<file path=ppt/slides/_rels/slide30.xml.rels><?xml version='1.0' encoding='UTF-8' standalone='yes'?>
<Relationships xmlns="http://schemas.openxmlformats.org/package/2006/relationships"><Relationship Id="R1bfb7c153dce45bb" Type="http://schemas.openxmlformats.org/officeDocument/2006/relationships/image" Target="../media/image.jpeg"/><Relationship Id="R3249bfead6844410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707a04d324ae4dd7" Type="http://schemas.openxmlformats.org/officeDocument/2006/relationships/image" Target="../media/image.jpeg"/><Relationship Id="Ra7ef85fb4b7046b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072c110fbd2a48f1" Type="http://schemas.openxmlformats.org/officeDocument/2006/relationships/image" Target="../media/image.jpeg"/><Relationship Id="R2f978e5685f44bb7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29b4a7ed95c942b8" Type="http://schemas.openxmlformats.org/officeDocument/2006/relationships/slideLayout" Target="../slideLayouts/slideLayout1.xml"/><Relationship Id="Rc936060d2b414ca5" Type="http://schemas.openxmlformats.org/officeDocument/2006/relationships/image" Target="../media/image.jpeg"/></Relationships>
</file>

<file path=ppt/slides/_rels/slide34.xml.rels><?xml version='1.0' encoding='UTF-8' standalone='yes'?>
<Relationships xmlns="http://schemas.openxmlformats.org/package/2006/relationships"><Relationship Id="R9a17b0e6221a49c5" Type="http://schemas.openxmlformats.org/officeDocument/2006/relationships/image" Target="../media/image.jpeg"/><Relationship Id="Rf905685ce0fe40a0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1af37a30ac264718" Type="http://schemas.openxmlformats.org/officeDocument/2006/relationships/slideLayout" Target="../slideLayouts/slideLayout1.xml"/><Relationship Id="R9c698febd9864713" Type="http://schemas.openxmlformats.org/officeDocument/2006/relationships/image" Target="../media/image.jpeg"/></Relationships>
</file>

<file path=ppt/slides/_rels/slide36.xml.rels><?xml version='1.0' encoding='UTF-8' standalone='yes'?>
<Relationships xmlns="http://schemas.openxmlformats.org/package/2006/relationships"><Relationship Id="R6162b1b542df4523" Type="http://schemas.openxmlformats.org/officeDocument/2006/relationships/image" Target="../media/image.jpeg"/><Relationship Id="R7bef77b4ce604c7c" Type="http://schemas.openxmlformats.org/officeDocument/2006/relationships/hyperlink" Target="https://elstandard.se/documents/preview/3246401" TargetMode="External"/><Relationship Id="R825998369b8b4ebe" Type="http://schemas.openxmlformats.org/officeDocument/2006/relationships/hyperlink" Target="https://dam-assets.fluke.com.cn/s3fs-public/2100079_6003_ENG_D_W.PDF" TargetMode="External"/><Relationship Id="Rc44a2d30c54c4c08" Type="http://schemas.openxmlformats.org/officeDocument/2006/relationships/slideLayout" Target="../slideLayouts/slideLayout1.xml"/><Relationship Id="Rf8b6bd038e754df0" Type="http://schemas.openxmlformats.org/officeDocument/2006/relationships/hyperlink" Target="https://openstax.org/books/university-physics-volume-2/pages/10-3-kirchhoffs-rules" TargetMode="Externa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caafdc1934c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18" name="Bildobjekt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45d318cd74f29"/>
          <a:srcRect xmlns:a="http://schemas.openxmlformats.org/drawingml/2006/main" l="0" t="194" r="0" b="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5460"/>
            <a:ext cx="9138501" cy="6068674"/>
          </a:xfrm>
          <a:prstGeom xmlns:a="http://schemas.openxmlformats.org/drawingml/2006/main" prst="rect">
            <a:avLst/>
          </a:prstGeom>
        </p:spPr>
      </p:pic>
      <p:sp>
        <p:nvSpPr>
          <p:cNvPr id="11" name="Kontrast för omslagets rubrik">
            <a:extLst xmlns:a="http://schemas.openxmlformats.org/drawingml/2006/main">
              <a:ext uri="{FF2B5EF4-FFF2-40B4-BE49-F238E27FC236}">
                <a16:creationId xmlns:a16="http://schemas.microsoft.com/office/drawing/2014/main" id="{47680BBE-BA48-4A33-88D8-ADF95F72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38501" cy="588321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1427">
                  <a:alpha val="38000"/>
                </a:srgbClr>
              </a:gs>
              <a:gs pos="42000">
                <a:srgbClr val="001427">
                  <a:alpha val="45000"/>
                </a:srgbClr>
              </a:gs>
              <a:gs pos="68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textruta 3">
            <a:extLst xmlns:a="http://schemas.openxmlformats.org/drawingml/2006/main">
              <a:ext uri="{FF2B5EF4-FFF2-40B4-BE49-F238E27FC236}">
                <a16:creationId xmlns:a16="http://schemas.microsoft.com/office/drawing/2014/main" id="{32A2E0FF-B092-443D-B2C8-3F24AFD7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704850"/>
            <a:ext cx="633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Analys av mätresultat</a:t>
            </a:r>
          </a:p>
        </p:txBody>
      </p:sp>
      <p:sp>
        <p:nvSpPr>
          <p:cNvPr id="13" name="Felorsak, åtgärd och kvalitetssäkring">
            <a:extLst xmlns:a="http://schemas.openxmlformats.org/drawingml/2006/main">
              <a:ext uri="{FF2B5EF4-FFF2-40B4-BE49-F238E27FC236}">
                <a16:creationId xmlns:a16="http://schemas.microsoft.com/office/drawing/2014/main" id="{6A54C8F6-30DC-494B-B5DD-965F26FF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18097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Felorsak, åtgärd och kvalitetssäkring</a:t>
            </a:r>
          </a:p>
        </p:txBody>
      </p:sp>
      <p:sp>
        <p:nvSpPr>
          <p:cNvPr id="14" name="1">
            <a:extLst xmlns:a="http://schemas.openxmlformats.org/drawingml/2006/main">
              <a:ext uri="{FF2B5EF4-FFF2-40B4-BE49-F238E27FC236}">
                <a16:creationId xmlns:a16="http://schemas.microsoft.com/office/drawing/2014/main" id="{76F8826A-7676-45F7-9D2E-C900D4B0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b57d5982143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Mål och startfråga">
            <a:extLst xmlns:a="http://schemas.openxmlformats.org/drawingml/2006/main">
              <a:ext uri="{FF2B5EF4-FFF2-40B4-BE49-F238E27FC236}">
                <a16:creationId xmlns:a16="http://schemas.microsoft.com/office/drawing/2014/main" id="{F4578217-3E7B-4FA0-AE64-90FCCCF3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Mål och startfråga</a:t>
            </a:r>
          </a:p>
        </p:txBody>
      </p:sp>
      <p:sp>
        <p:nvSpPr>
          <p:cNvPr id="3" name="Värdera hur starkt mätdata stödjer en felhypotes.">
            <a:extLst xmlns:a="http://schemas.openxmlformats.org/drawingml/2006/main">
              <a:ext uri="{FF2B5EF4-FFF2-40B4-BE49-F238E27FC236}">
                <a16:creationId xmlns:a16="http://schemas.microsoft.com/office/drawing/2014/main" id="{633AFFA3-BB4D-4B1F-A143-9AFC9674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Värdera hur starkt mätdata stödjer en felhypotes.</a:t>
            </a:r>
          </a:p>
        </p:txBody>
      </p:sp>
      <p:sp>
        <p:nvSpPr>
          <p:cNvPr id="4" name="Skriva en rapport som visar kontrollkedjan och kvarstående osäker">
            <a:extLst xmlns:a="http://schemas.openxmlformats.org/drawingml/2006/main">
              <a:ext uri="{FF2B5EF4-FFF2-40B4-BE49-F238E27FC236}">
                <a16:creationId xmlns:a16="http://schemas.microsoft.com/office/drawing/2014/main" id="{51AC3C52-4C0F-4093-8B41-18F5EB46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7620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Skriva en rapport som visar kontrollkedjan och kvarstående osäkerhet.</a:t>
            </a:r>
          </a:p>
        </p:txBody>
      </p:sp>
      <p:sp>
        <p:nvSpPr>
          <p:cNvPr id="5" name="Startfråga">
            <a:extLst xmlns:a="http://schemas.openxmlformats.org/drawingml/2006/main">
              <a:ext uri="{FF2B5EF4-FFF2-40B4-BE49-F238E27FC236}">
                <a16:creationId xmlns:a16="http://schemas.microsoft.com/office/drawing/2014/main" id="{6FE4E6CD-8ED9-48A2-BE6E-457BE21E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Startfråga</a:t>
            </a:r>
          </a:p>
        </p:txBody>
      </p:sp>
      <p:sp>
        <p:nvSpPr>
          <p:cNvPr id="6" name="Vad kan du faktiskt bevisa med ett enda korrekt spänningsvärde?">
            <a:extLst xmlns:a="http://schemas.openxmlformats.org/drawingml/2006/main">
              <a:ext uri="{FF2B5EF4-FFF2-40B4-BE49-F238E27FC236}">
                <a16:creationId xmlns:a16="http://schemas.microsoft.com/office/drawing/2014/main" id="{ACAD12F4-FADA-4657-990F-15B4773E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7620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Vad kan du faktiskt bevisa med ett enda korrekt spänningsvärde?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23F95A39-8BC8-46C8-9E5E-12F16C33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b82a01cd54a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0" name="Dagens två pass">
            <a:extLst xmlns:a="http://schemas.openxmlformats.org/drawingml/2006/main">
              <a:ext uri="{FF2B5EF4-FFF2-40B4-BE49-F238E27FC236}">
                <a16:creationId xmlns:a16="http://schemas.microsoft.com/office/drawing/2014/main" id="{61911E96-FB44-42DF-9E3E-0A7AC26A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Dagens två pass</a:t>
            </a:r>
          </a:p>
        </p:txBody>
      </p:sp>
      <p:sp>
        <p:nvSpPr>
          <p:cNvPr id="11" name="Pass 1: 45 minuter">
            <a:extLst xmlns:a="http://schemas.openxmlformats.org/drawingml/2006/main">
              <a:ext uri="{FF2B5EF4-FFF2-40B4-BE49-F238E27FC236}">
                <a16:creationId xmlns:a16="http://schemas.microsoft.com/office/drawing/2014/main" id="{813370A2-4C02-465B-8030-D1173FB9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1: 45 minuter</a:t>
            </a:r>
          </a:p>
        </p:txBody>
      </p:sp>
      <p:sp>
        <p:nvSpPr>
          <p:cNvPr id="12" name="5 min begrepp, 20 min teori och genomräknade exempel&#10;15 min övnin">
            <a:extLst xmlns:a="http://schemas.openxmlformats.org/drawingml/2006/main">
              <a:ext uri="{FF2B5EF4-FFF2-40B4-BE49-F238E27FC236}">
                <a16:creationId xmlns:a16="http://schemas.microsoft.com/office/drawing/2014/main" id="{E6254CB6-B4E8-44D4-9F5C-D7898941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 min begrepp, 20 min teori och genomräknade exempel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15 min övning 2.1, 2.2 och 2.4, 5 min återkoppling</a:t>
            </a:r>
          </a:p>
        </p:txBody>
      </p:sp>
      <p:sp>
        <p:nvSpPr>
          <p:cNvPr id="13" name="Pass 2: 45 minuter">
            <a:extLst xmlns:a="http://schemas.openxmlformats.org/drawingml/2006/main">
              <a:ext uri="{FF2B5EF4-FFF2-40B4-BE49-F238E27FC236}">
                <a16:creationId xmlns:a16="http://schemas.microsoft.com/office/drawing/2014/main" id="{FDA0B36E-4FEE-48B1-9EDE-5D8648D1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2: 45 minuter</a:t>
            </a:r>
          </a:p>
        </p:txBody>
      </p:sp>
      <p:sp>
        <p:nvSpPr>
          <p:cNvPr id="14" name="20 min teori och exempel, 15 min övning 6, 7, 8&#10;8 min lösningsdis">
            <a:extLst xmlns:a="http://schemas.openxmlformats.org/drawingml/2006/main">
              <a:ext uri="{FF2B5EF4-FFF2-40B4-BE49-F238E27FC236}">
                <a16:creationId xmlns:a16="http://schemas.microsoft.com/office/drawing/2014/main" id="{61714C18-E173-4FF9-80BE-CE2FB248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20 min teori och exempel, 15 min övning 2.6, 2.7 och 2.8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8 min lösningsdiskussion, 2 min avslut</a:t>
            </a:r>
          </a:p>
        </p:txBody>
      </p:sp>
      <p:sp>
        <p:nvSpPr>
          <p:cNvPr id="15" name="Stödbilderna används under arbetet. Övriga övningar: egen studiet">
            <a:extLst xmlns:a="http://schemas.openxmlformats.org/drawingml/2006/main">
              <a:ext uri="{FF2B5EF4-FFF2-40B4-BE49-F238E27FC236}">
                <a16:creationId xmlns:a16="http://schemas.microsoft.com/office/drawing/2014/main" id="{C4B669CF-E3DF-4884-A188-E62FA77E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Stödbilderna används under arbetet. Övriga övningar: egen studietid.</a:t>
            </a:r>
          </a:p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Alla tio med utförlig genomgång: cirka 110–135 min. Paus tillkommer.</a:t>
            </a:r>
          </a:p>
        </p:txBody>
      </p:sp>
      <p:sp>
        <p:nvSpPr>
          <p:cNvPr id="16" name="3">
            <a:extLst xmlns:a="http://schemas.openxmlformats.org/drawingml/2006/main">
              <a:ext uri="{FF2B5EF4-FFF2-40B4-BE49-F238E27FC236}">
                <a16:creationId xmlns:a16="http://schemas.microsoft.com/office/drawing/2014/main" id="{61327DE4-7ED5-4F77-862B-D3453DBF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4b7b89a3643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Mätvärde, intervall och slutsats">
            <a:extLst xmlns:a="http://schemas.openxmlformats.org/drawingml/2006/main">
              <a:ext uri="{FF2B5EF4-FFF2-40B4-BE49-F238E27FC236}">
                <a16:creationId xmlns:a16="http://schemas.microsoft.com/office/drawing/2014/main" id="{6B43ACBD-2B76-42A6-8693-AAD8C6DD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Mätvärde, intervall och slutsats</a:t>
            </a:r>
          </a:p>
        </p:txBody>
      </p:sp>
      <p:sp>
        <p:nvSpPr>
          <p:cNvPr id="10" name="Ett mätvärde gäller vissa punkter vid ett bestämt driftläge.">
            <a:extLst xmlns:a="http://schemas.openxmlformats.org/drawingml/2006/main">
              <a:ext uri="{FF2B5EF4-FFF2-40B4-BE49-F238E27FC236}">
                <a16:creationId xmlns:a16="http://schemas.microsoft.com/office/drawing/2014/main" id="{0D4A1121-98D8-413D-8647-338588FB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mätvärde gäller vissa punkter vid ett bestämt driftläge.</a:t>
            </a:r>
          </a:p>
        </p:txBody>
      </p:sp>
      <p:sp>
        <p:nvSpPr>
          <p:cNvPr id="11" name="Felgränsen bildar ett intervall kring avläsningen.">
            <a:extLst xmlns:a="http://schemas.openxmlformats.org/drawingml/2006/main">
              <a:ext uri="{FF2B5EF4-FFF2-40B4-BE49-F238E27FC236}">
                <a16:creationId xmlns:a16="http://schemas.microsoft.com/office/drawing/2014/main" id="{8F2EBDB8-F62F-460A-9C80-F89A8C30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Felgränsen bildar ett intervall kring avläsningen.</a:t>
            </a:r>
          </a:p>
        </p:txBody>
      </p:sp>
      <p:sp>
        <p:nvSpPr>
          <p:cNvPr id="12" name="Toleransintervallet beskriver tillåtna värden enligt uppgiftens k">
            <a:extLst xmlns:a="http://schemas.openxmlformats.org/drawingml/2006/main">
              <a:ext uri="{FF2B5EF4-FFF2-40B4-BE49-F238E27FC236}">
                <a16:creationId xmlns:a16="http://schemas.microsoft.com/office/drawing/2014/main" id="{F1FA1111-ACC8-40ED-8F51-15EC384B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Kravet säger vilka värden som är tillåtna. Det kallas toleransintervall.</a:t>
            </a:r>
          </a:p>
        </p:txBody>
      </p:sp>
      <p:sp>
        <p:nvSpPr>
          <p:cNvPr id="13" name="Beslutsregeln anger hur intervallen jämförs innan slutsatsen dras">
            <a:extLst xmlns:a="http://schemas.openxmlformats.org/drawingml/2006/main">
              <a:ext uri="{FF2B5EF4-FFF2-40B4-BE49-F238E27FC236}">
                <a16:creationId xmlns:a16="http://schemas.microsoft.com/office/drawing/2014/main" id="{9D470A4A-6136-4371-8183-7E9672D7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Beslutsregeln i kursen: hela mätintervallet måste ligga inom kravet.</a:t>
            </a:r>
          </a:p>
        </p:txBody>
      </p:sp>
      <p:sp>
        <p:nvSpPr>
          <p:cNvPr id="14" name="4">
            <a:extLst xmlns:a="http://schemas.openxmlformats.org/drawingml/2006/main">
              <a:ext uri="{FF2B5EF4-FFF2-40B4-BE49-F238E27FC236}">
                <a16:creationId xmlns:a16="http://schemas.microsoft.com/office/drawing/2014/main" id="{8975161A-A192-4906-A6CC-97FBA713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9e3fa23f543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n lösning som går att följa">
            <a:extLst xmlns:a="http://schemas.openxmlformats.org/drawingml/2006/main">
              <a:ext uri="{FF2B5EF4-FFF2-40B4-BE49-F238E27FC236}">
                <a16:creationId xmlns:a16="http://schemas.microsoft.com/office/drawing/2014/main" id="{D84819CD-50CB-47C7-A3D9-CD6F7B9E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lösning som går att följa</a:t>
            </a:r>
          </a:p>
        </p:txBody>
      </p:sp>
      <p:sp>
        <p:nvSpPr>
          <p:cNvPr id="10" name="1. Givet och sökt">
            <a:extLst xmlns:a="http://schemas.openxmlformats.org/drawingml/2006/main">
              <a:ext uri="{FF2B5EF4-FFF2-40B4-BE49-F238E27FC236}">
                <a16:creationId xmlns:a16="http://schemas.microsoft.com/office/drawing/2014/main" id="{0530077C-07E5-44A4-A00F-1C5C15FF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1. Givet och sökt</a:t>
            </a:r>
          </a:p>
        </p:txBody>
      </p:sp>
      <p:sp>
        <p:nvSpPr>
          <p:cNvPr id="11" name="Skriv av värden, enheter och vad du ska bestämma.">
            <a:extLst xmlns:a="http://schemas.openxmlformats.org/drawingml/2006/main">
              <a:ext uri="{FF2B5EF4-FFF2-40B4-BE49-F238E27FC236}">
                <a16:creationId xmlns:a16="http://schemas.microsoft.com/office/drawing/2014/main" id="{F9B24406-B4EB-4B93-AED6-76E59C95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Skriv av värden, enheter och vad du ska bestämma.</a:t>
            </a:r>
          </a:p>
        </p:txBody>
      </p:sp>
      <p:sp>
        <p:nvSpPr>
          <p:cNvPr id="12" name="2. Samband och villkor">
            <a:extLst xmlns:a="http://schemas.openxmlformats.org/drawingml/2006/main">
              <a:ext uri="{FF2B5EF4-FFF2-40B4-BE49-F238E27FC236}">
                <a16:creationId xmlns:a16="http://schemas.microsoft.com/office/drawing/2014/main" id="{BFA819B8-D86D-440A-9C1E-0992E9CF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2. Samband och villkor</a:t>
            </a:r>
          </a:p>
        </p:txBody>
      </p:sp>
      <p:sp>
        <p:nvSpPr>
          <p:cNvPr id="13" name="Välj formel eller princip. Kontrollera koppling, driftfall och an">
            <a:extLst xmlns:a="http://schemas.openxmlformats.org/drawingml/2006/main">
              <a:ext uri="{FF2B5EF4-FFF2-40B4-BE49-F238E27FC236}">
                <a16:creationId xmlns:a16="http://schemas.microsoft.com/office/drawing/2014/main" id="{AE60636C-75D1-4534-AB95-37A90931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Välj formel eller princip. Kontrollera koppling, driftfall och antaganden.</a:t>
            </a:r>
          </a:p>
        </p:txBody>
      </p:sp>
      <p:sp>
        <p:nvSpPr>
          <p:cNvPr id="14" name="3. Uträkning och kontroll">
            <a:extLst xmlns:a="http://schemas.openxmlformats.org/drawingml/2006/main">
              <a:ext uri="{FF2B5EF4-FFF2-40B4-BE49-F238E27FC236}">
                <a16:creationId xmlns:a16="http://schemas.microsoft.com/office/drawing/2014/main" id="{DAA3F7E2-E52B-4BD3-9F26-B3517D07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3. Uträkning och kontroll</a:t>
            </a:r>
          </a:p>
        </p:txBody>
      </p:sp>
      <p:sp>
        <p:nvSpPr>
          <p:cNvPr id="15" name="Omvandla enheter, sätt in värden och tolka resultatet.&#10;I resonema">
            <a:extLst xmlns:a="http://schemas.openxmlformats.org/drawingml/2006/main">
              <a:ext uri="{FF2B5EF4-FFF2-40B4-BE49-F238E27FC236}">
                <a16:creationId xmlns:a16="http://schemas.microsoft.com/office/drawing/2014/main" id="{D9468EFA-0AB7-43CC-A100-AA96D53B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Omvandla enheter, sätt in värden och tolka resultatet.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resonemangsfall: koppla observation till en motiverad slutsats.</a:t>
            </a:r>
          </a:p>
        </p:txBody>
      </p:sp>
      <p:sp>
        <p:nvSpPr>
          <p:cNvPr id="16" name="5">
            <a:extLst xmlns:a="http://schemas.openxmlformats.org/drawingml/2006/main">
              <a:ext uri="{FF2B5EF4-FFF2-40B4-BE49-F238E27FC236}">
                <a16:creationId xmlns:a16="http://schemas.microsoft.com/office/drawing/2014/main" id="{8F09B69E-4787-4DE1-BDA8-EB87BABD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1929a744b48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Mätdata och slutsats">
            <a:extLst xmlns:a="http://schemas.openxmlformats.org/drawingml/2006/main">
              <a:ext uri="{FF2B5EF4-FFF2-40B4-BE49-F238E27FC236}">
                <a16:creationId xmlns:a16="http://schemas.microsoft.com/office/drawing/2014/main" id="{6C10756D-283E-45F0-9181-051D261B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Mätdata och slutsats</a:t>
            </a:r>
          </a:p>
        </p:txBody>
      </p:sp>
      <p:sp>
        <p:nvSpPr>
          <p:cNvPr id="3" name="En mätning gäller vissa punkter vid ett visst driftläge.&#10;Slutsats">
            <a:extLst xmlns:a="http://schemas.openxmlformats.org/drawingml/2006/main">
              <a:ext uri="{FF2B5EF4-FFF2-40B4-BE49-F238E27FC236}">
                <a16:creationId xmlns:a16="http://schemas.microsoft.com/office/drawing/2014/main" id="{AF0B4E35-9487-44E9-8736-B5B53FB6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mätning gäller vissa punkter vid ett visst driftläge.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Slutsatsen får inte vara mer omfattande än underlaget.</a:t>
            </a:r>
          </a:p>
        </p:txBody>
      </p:sp>
      <p:sp>
        <p:nvSpPr>
          <p:cNvPr id="4" name="”24 V vid A” bevisar inte ”hela matningen är felfri”">
            <a:extLst xmlns:a="http://schemas.openxmlformats.org/drawingml/2006/main">
              <a:ext uri="{FF2B5EF4-FFF2-40B4-BE49-F238E27FC236}">
                <a16:creationId xmlns:a16="http://schemas.microsoft.com/office/drawing/2014/main" id="{111DCF8C-233F-4E55-87B4-223D6450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”24 V vid A” bevisar inte ”hela matningen är felfri”</a:t>
            </a:r>
          </a:p>
        </p:txBody>
      </p:sp>
      <p:sp>
        <p:nvSpPr>
          <p:cNvPr id="5" name="Lastström, referens, tidsförlopp och instrumentdata&#10;avgör hur res">
            <a:extLst xmlns:a="http://schemas.openxmlformats.org/drawingml/2006/main">
              <a:ext uri="{FF2B5EF4-FFF2-40B4-BE49-F238E27FC236}">
                <a16:creationId xmlns:a16="http://schemas.microsoft.com/office/drawing/2014/main" id="{AA92DB4B-A868-4CCC-A2E7-6E7DBFFA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Lastström, referens, tidsförlopp och instrumentdata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avgör hur resultatet kan användas.</a:t>
            </a:r>
          </a:p>
        </p:txBody>
      </p:sp>
      <p:sp>
        <p:nvSpPr>
          <p:cNvPr id="6" name="4">
            <a:extLst xmlns:a="http://schemas.openxmlformats.org/drawingml/2006/main">
              <a:ext uri="{FF2B5EF4-FFF2-40B4-BE49-F238E27FC236}">
                <a16:creationId xmlns:a16="http://schemas.microsoft.com/office/drawing/2014/main" id="{874A4130-BF25-412F-ADCC-68A30298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5a88d97a14d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Jämförelse med ett krav">
            <a:extLst xmlns:a="http://schemas.openxmlformats.org/drawingml/2006/main">
              <a:ext uri="{FF2B5EF4-FFF2-40B4-BE49-F238E27FC236}">
                <a16:creationId xmlns:a16="http://schemas.microsoft.com/office/drawing/2014/main" id="{FC921B3D-0D7D-483D-BC63-D1CB7094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Jämförelse med ett krav</a:t>
            </a:r>
          </a:p>
        </p:txBody>
      </p:sp>
      <p:sp>
        <p:nvSpPr>
          <p:cNvPr id="3" name="Jämför resultatets intervall med det angivna kravet.&#10;Redovisa hur">
            <a:extLst xmlns:a="http://schemas.openxmlformats.org/drawingml/2006/main">
              <a:ext uri="{FF2B5EF4-FFF2-40B4-BE49-F238E27FC236}">
                <a16:creationId xmlns:a16="http://schemas.microsoft.com/office/drawing/2014/main" id="{A1867369-D43A-41B5-910A-46939353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Jämför resultatets intervall med det angivna kravet.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hur osäkerhet eller felgräns påverkar beslutet.</a:t>
            </a:r>
          </a:p>
        </p:txBody>
      </p:sp>
      <p:sp>
        <p:nvSpPr>
          <p:cNvPr id="4" name="Mätintervall och toleransintervall">
            <a:extLst xmlns:a="http://schemas.openxmlformats.org/drawingml/2006/main">
              <a:ext uri="{FF2B5EF4-FFF2-40B4-BE49-F238E27FC236}">
                <a16:creationId xmlns:a16="http://schemas.microsoft.com/office/drawing/2014/main" id="{DF9B2202-231F-48A5-8A71-1054E313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Mätintervall och toleransintervall</a:t>
            </a:r>
          </a:p>
        </p:txBody>
      </p:sp>
      <p:sp>
        <p:nvSpPr>
          <p:cNvPr id="5" name="Krav 11,4–12,6 V, mätning 11,45 ±0,10 V:&#10;intervallet 11,35–11,55 ">
            <a:extLst xmlns:a="http://schemas.openxmlformats.org/drawingml/2006/main">
              <a:ext uri="{FF2B5EF4-FFF2-40B4-BE49-F238E27FC236}">
                <a16:creationId xmlns:a16="http://schemas.microsoft.com/office/drawing/2014/main" id="{2460CB28-50DE-4885-82E5-21E75879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Krav 23,0–25,0 V, mätning 24,90 ±0,15 V: intervallet 24,75–25,05 V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går över kravets övre gräns, så överensstämmelse kan inte visas.</a:t>
            </a:r>
          </a:p>
        </p:txBody>
      </p:sp>
      <p:sp>
        <p:nvSpPr>
          <p:cNvPr id="6" name="5">
            <a:extLst xmlns:a="http://schemas.openxmlformats.org/drawingml/2006/main">
              <a:ext uri="{FF2B5EF4-FFF2-40B4-BE49-F238E27FC236}">
                <a16:creationId xmlns:a16="http://schemas.microsoft.com/office/drawing/2014/main" id="{0F020642-F45B-414D-83A3-1BCA03D5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Kravintervall 23,00–25,00 V och mätinter" descr="Kravintervall 23,00–25,00 V och mätintervall 24,75–25,05 V som går över kravets övre grä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23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0c01d37c5646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Flera observationer tillsammans">
            <a:extLst xmlns:a="http://schemas.openxmlformats.org/drawingml/2006/main">
              <a:ext uri="{FF2B5EF4-FFF2-40B4-BE49-F238E27FC236}">
                <a16:creationId xmlns:a16="http://schemas.microsoft.com/office/drawing/2014/main" id="{BB439E4E-2FC9-4FED-A5DA-84BB85DE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Flera observationer tillsammans</a:t>
            </a:r>
          </a:p>
        </p:txBody>
      </p:sp>
      <p:sp>
        <p:nvSpPr>
          <p:cNvPr id="3" name="Oberoende kontroller kan stärka eller försvaga samma hypotes.&#10;En ">
            <a:extLst xmlns:a="http://schemas.openxmlformats.org/drawingml/2006/main">
              <a:ext uri="{FF2B5EF4-FFF2-40B4-BE49-F238E27FC236}">
                <a16:creationId xmlns:a16="http://schemas.microsoft.com/office/drawing/2014/main" id="{8D16CBA1-9D27-47A4-B009-D50A7F24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Oberoende kontroller kan stärka eller försvaga samma hypotes.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annan felorsak kan ge ett liknande symtom.</a:t>
            </a:r>
          </a:p>
        </p:txBody>
      </p:sp>
      <p:sp>
        <p:nvSpPr>
          <p:cNvPr id="4" name="Hypoteser jämförs mot alla relevanta data">
            <a:extLst xmlns:a="http://schemas.openxmlformats.org/drawingml/2006/main">
              <a:ext uri="{FF2B5EF4-FFF2-40B4-BE49-F238E27FC236}">
                <a16:creationId xmlns:a16="http://schemas.microsoft.com/office/drawing/2014/main" id="{7B286269-5258-43AB-BC72-2C5B9A09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Hypoteser jämförs mot alla relevanta data</a:t>
            </a:r>
          </a:p>
        </p:txBody>
      </p:sp>
      <p:sp>
        <p:nvSpPr>
          <p:cNvPr id="5" name="Normal källa, stort kabelspänningsfall och låg lastspänning&#10;stödj">
            <a:extLst xmlns:a="http://schemas.openxmlformats.org/drawingml/2006/main">
              <a:ext uri="{FF2B5EF4-FFF2-40B4-BE49-F238E27FC236}">
                <a16:creationId xmlns:a16="http://schemas.microsoft.com/office/drawing/2014/main" id="{3B746587-484A-439F-A881-C91414EB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Pröva varje hypotes mot alla mätvärden,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inte bara mot det första symtomet.</a:t>
            </a:r>
          </a:p>
        </p:txBody>
      </p:sp>
      <p:sp>
        <p:nvSpPr>
          <p:cNvPr id="6" name="6">
            <a:extLst xmlns:a="http://schemas.openxmlformats.org/drawingml/2006/main">
              <a:ext uri="{FF2B5EF4-FFF2-40B4-BE49-F238E27FC236}">
                <a16:creationId xmlns:a16="http://schemas.microsoft.com/office/drawing/2014/main" id="{551B0C9C-19EF-48ED-A9CA-5BA6F52D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9ecc26b9f42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xempel: ett mätintervall mot krav">
            <a:extLst xmlns:a="http://schemas.openxmlformats.org/drawingml/2006/main">
              <a:ext uri="{FF2B5EF4-FFF2-40B4-BE49-F238E27FC236}">
                <a16:creationId xmlns:a16="http://schemas.microsoft.com/office/drawing/2014/main" id="{F74ED8D1-0A8C-4346-8E20-49B604B8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ett mätintervall mot krav</a:t>
            </a:r>
          </a:p>
        </p:txBody>
      </p:sp>
      <p:sp>
        <p:nvSpPr>
          <p:cNvPr id="10" name="Krav 20,0 V ±2 %. Mätning 19,70 V ±0,15 V. Hela mätintervallet må">
            <a:extLst xmlns:a="http://schemas.openxmlformats.org/drawingml/2006/main">
              <a:ext uri="{FF2B5EF4-FFF2-40B4-BE49-F238E27FC236}">
                <a16:creationId xmlns:a16="http://schemas.microsoft.com/office/drawing/2014/main" id="{D544F56B-4E74-49FA-ACC7-2E7192B3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3977639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Krav 20,0 V ±2 %. Mätning 19,80 V ±0,15 V. Hela mätintervallet måste ligga inom kravet.</a:t>
            </a:r>
          </a:p>
        </p:txBody>
      </p:sp>
      <p:sp>
        <p:nvSpPr>
          <p:cNvPr id="11" name="Krav = 20,0 · (1 ± 0,02)&#10;Mätintervall = 19,70 ±0,15">
            <a:extLst xmlns:a="http://schemas.openxmlformats.org/drawingml/2006/main">
              <a:ext uri="{FF2B5EF4-FFF2-40B4-BE49-F238E27FC236}">
                <a16:creationId xmlns:a16="http://schemas.microsoft.com/office/drawing/2014/main" id="{F5BB9B07-B101-412F-83FD-EBFB484C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3977639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Krav = 20,0 · (1 ± 0,02)</a:t>
            </a:r>
          </a:p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Mätintervall = 19,80 ±0,15</a:t>
            </a:r>
          </a:p>
        </p:txBody>
      </p:sp>
      <p:sp>
        <p:nvSpPr>
          <p:cNvPr id="12" name="1. Krav: 19,60–20,40 V.&#10;2. Mätintervall: 19,55–19,85 V.&#10;3. Nedre ">
            <a:extLst xmlns:a="http://schemas.openxmlformats.org/drawingml/2006/main">
              <a:ext uri="{FF2B5EF4-FFF2-40B4-BE49-F238E27FC236}">
                <a16:creationId xmlns:a16="http://schemas.microsoft.com/office/drawing/2014/main" id="{AB02523C-0D66-4ADA-8AE4-2DB9FFC1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3977639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Krav: 19,60–20,40 V.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Mätintervall: 19,65–19,95 V.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Hela mätintervallet ligger inom kravet: överensstämmelse visad.</a:t>
            </a:r>
          </a:p>
        </p:txBody>
      </p:sp>
      <p:sp>
        <p:nvSpPr>
          <p:cNvPr id="13" name="Full överensstämmelse är inte visad med den angivna regeln. Det ä">
            <a:extLst xmlns:a="http://schemas.openxmlformats.org/drawingml/2006/main">
              <a:ext uri="{FF2B5EF4-FFF2-40B4-BE49-F238E27FC236}">
                <a16:creationId xmlns:a16="http://schemas.microsoft.com/office/drawing/2014/main" id="{331BBF5A-FBCE-4C86-8D69-23AAF568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977639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Med större felgräns eller en annan beslutsregel kan slutsatsen bli en annan.</a:t>
            </a:r>
          </a:p>
        </p:txBody>
      </p:sp>
      <p:sp>
        <p:nvSpPr>
          <p:cNvPr id="14" name="9">
            <a:extLst xmlns:a="http://schemas.openxmlformats.org/drawingml/2006/main">
              <a:ext uri="{FF2B5EF4-FFF2-40B4-BE49-F238E27FC236}">
                <a16:creationId xmlns:a16="http://schemas.microsoft.com/office/drawing/2014/main" id="{32A9BF52-377D-4DC0-BD2C-15CA66B7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pic xmlns:a="http://schemas.openxmlformats.org/drawingml/2006/main" xmlns:r="http://schemas.openxmlformats.org/officeDocument/2006/relationships">
        <p:nvPicPr>
          <p:cNvPr id="16" name="Figur: Kravintervall 19,60–20,40 V och mätinter" descr="Kravintervall 19,60–20,40 V och mätintervall 19,65–19,95 V som ligger helt inom krav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23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762d195b241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1">
            <a:extLst xmlns:a="http://schemas.openxmlformats.org/drawingml/2006/main">
              <a:ext uri="{FF2B5EF4-FFF2-40B4-BE49-F238E27FC236}">
                <a16:creationId xmlns:a16="http://schemas.microsoft.com/office/drawing/2014/main" id="{8C5880B1-6585-4C93-BAC0-09C32855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2.1</a:t>
            </a:r>
          </a:p>
        </p:txBody>
      </p:sp>
      <p:sp>
        <p:nvSpPr>
          <p:cNvPr id="10" name="Slutsatsen begränsas av mätvillkoret">
            <a:extLst xmlns:a="http://schemas.openxmlformats.org/drawingml/2006/main">
              <a:ext uri="{FF2B5EF4-FFF2-40B4-BE49-F238E27FC236}">
                <a16:creationId xmlns:a16="http://schemas.microsoft.com/office/drawing/2014/main" id="{D77DED2D-01BC-47E0-A00C-175C45CA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Slutsatsen begränsas av mätvillkoret</a:t>
            </a:r>
          </a:p>
        </p:txBody>
      </p:sp>
      <p:sp>
        <p:nvSpPr>
          <p:cNvPr id="11" name="Spänning utan last visar källans tomgångsvärde. Lastförmåga kräve">
            <a:extLst xmlns:a="http://schemas.openxmlformats.org/drawingml/2006/main">
              <a:ext uri="{FF2B5EF4-FFF2-40B4-BE49-F238E27FC236}">
                <a16:creationId xmlns:a16="http://schemas.microsoft.com/office/drawing/2014/main" id="{ACAA6173-5BC4-4DB3-B3F2-E607B4D1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Utan last går nästan ingen ström. Tänk på vad som kan ändras när lasten kopplas in.</a:t>
            </a:r>
          </a:p>
        </p:txBody>
      </p:sp>
      <p:sp>
        <p:nvSpPr>
          <p:cNvPr id="12" name="Förutsättningar: 24,0 V vid källans anslutningar, mätt utan last.">
            <a:extLst xmlns:a="http://schemas.openxmlformats.org/drawingml/2006/main">
              <a:ext uri="{FF2B5EF4-FFF2-40B4-BE49-F238E27FC236}">
                <a16:creationId xmlns:a16="http://schemas.microsoft.com/office/drawing/2014/main" id="{BE619F1A-FD32-4DE6-8250-4DA4EEEF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24,0 V vid källans anslutningar, mätt utan last.</a:t>
            </a:r>
          </a:p>
        </p:txBody>
      </p:sp>
      <p:sp>
        <p:nvSpPr>
          <p:cNvPr id="13" name="Arbetsgång: Skriv en slutsats som stöds direkt och en separat frå">
            <a:extLst xmlns:a="http://schemas.openxmlformats.org/drawingml/2006/main">
              <a:ext uri="{FF2B5EF4-FFF2-40B4-BE49-F238E27FC236}">
                <a16:creationId xmlns:a16="http://schemas.microsoft.com/office/drawing/2014/main" id="{9BF5FA8F-3108-45E3-AF99-AB7F0218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Skriv en slutsats du kan dra direkt och en fråga som kräver mer data.</a:t>
            </a:r>
          </a:p>
        </p:txBody>
      </p:sp>
      <p:sp>
        <p:nvSpPr>
          <p:cNvPr id="14" name="10">
            <a:extLst xmlns:a="http://schemas.openxmlformats.org/drawingml/2006/main">
              <a:ext uri="{FF2B5EF4-FFF2-40B4-BE49-F238E27FC236}">
                <a16:creationId xmlns:a16="http://schemas.microsoft.com/office/drawing/2014/main" id="{CEC389CC-482D-4C78-AEFE-02841AB6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4946f99be4c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1">
            <a:extLst xmlns:a="http://schemas.openxmlformats.org/drawingml/2006/main">
              <a:ext uri="{FF2B5EF4-FFF2-40B4-BE49-F238E27FC236}">
                <a16:creationId xmlns:a16="http://schemas.microsoft.com/office/drawing/2014/main" id="{2C5AEF3B-9018-46FE-9C1E-2CAE07E3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2.1</a:t>
            </a:r>
          </a:p>
        </p:txBody>
      </p:sp>
      <p:sp>
        <p:nvSpPr>
          <p:cNvPr id="3" name="Mätningens räckvidd">
            <a:extLst xmlns:a="http://schemas.openxmlformats.org/drawingml/2006/main">
              <a:ext uri="{FF2B5EF4-FFF2-40B4-BE49-F238E27FC236}">
                <a16:creationId xmlns:a16="http://schemas.microsoft.com/office/drawing/2014/main" id="{518725E4-6CB2-44CC-89F7-6B79D4BB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Mätningens räckvidd</a:t>
            </a:r>
          </a:p>
        </p:txBody>
      </p:sp>
      <p:sp>
        <p:nvSpPr>
          <p:cNvPr id="4" name="24,0 V mäts vid en källa utan last. Vilken slutsats stöds direkt,">
            <a:extLst xmlns:a="http://schemas.openxmlformats.org/drawingml/2006/main">
              <a:ext uri="{FF2B5EF4-FFF2-40B4-BE49-F238E27FC236}">
                <a16:creationId xmlns:a16="http://schemas.microsoft.com/office/drawing/2014/main" id="{F1DF8AF2-5531-48F7-AF37-AA72E88E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Du mäter 24,0 V på en källa. Ingen last är inkopplad. a) Vad vet du nu? b) Vad vet du inte än, och vad behöver du mäta för att veta det?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8C28BCCF-4F67-4D92-81A1-BA4F44C5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7">
            <a:extLst xmlns:a="http://schemas.openxmlformats.org/drawingml/2006/main">
              <a:ext uri="{FF2B5EF4-FFF2-40B4-BE49-F238E27FC236}">
                <a16:creationId xmlns:a16="http://schemas.microsoft.com/office/drawing/2014/main" id="{7BA3264D-6E65-436F-9C72-F42D8530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f84ce200a43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2">
            <a:extLst xmlns:a="http://schemas.openxmlformats.org/drawingml/2006/main">
              <a:ext uri="{FF2B5EF4-FFF2-40B4-BE49-F238E27FC236}">
                <a16:creationId xmlns:a16="http://schemas.microsoft.com/office/drawing/2014/main" id="{011001FF-7EB6-488D-B572-A1729721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2.2</a:t>
            </a:r>
          </a:p>
        </p:txBody>
      </p:sp>
      <p:sp>
        <p:nvSpPr>
          <p:cNvPr id="10" name="Krav: Unom · (1 ± p/100)&#10;Mätintervall: Um ± δ">
            <a:extLst xmlns:a="http://schemas.openxmlformats.org/drawingml/2006/main">
              <a:ext uri="{FF2B5EF4-FFF2-40B4-BE49-F238E27FC236}">
                <a16:creationId xmlns:a16="http://schemas.microsoft.com/office/drawing/2014/main" id="{7D5A7F1B-954C-4F22-B130-F7D5A57E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Krav: 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nom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· (1 ± p/100)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Mätintervall: 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± δ</a:t>
            </a:r>
          </a:p>
        </p:txBody>
      </p:sp>
      <p:sp>
        <p:nvSpPr>
          <p:cNvPr id="11" name="p är tolerans i procent, δ felgräns. Ett ja kräver att hela mätin">
            <a:extLst xmlns:a="http://schemas.openxmlformats.org/drawingml/2006/main">
              <a:ext uri="{FF2B5EF4-FFF2-40B4-BE49-F238E27FC236}">
                <a16:creationId xmlns:a16="http://schemas.microsoft.com/office/drawing/2014/main" id="{1779C190-5224-4206-8A9D-EDF1A131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 är toleransen i procent och δ felgränsen. Svaret är ja bara om hela mätintervallet ligger inom kravet.</a:t>
            </a:r>
          </a:p>
        </p:txBody>
      </p:sp>
      <p:sp>
        <p:nvSpPr>
          <p:cNvPr id="12" name="Förutsättningar: Unom = 12,0 V, p = 5, Um = 11,45 V, δ = 0,10 V. ">
            <a:extLst xmlns:a="http://schemas.openxmlformats.org/drawingml/2006/main">
              <a:ext uri="{FF2B5EF4-FFF2-40B4-BE49-F238E27FC236}">
                <a16:creationId xmlns:a16="http://schemas.microsoft.com/office/drawing/2014/main" id="{7926BCB3-289B-4889-94E9-AFADED03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U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nom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12,0 V, p = 5, U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11,45 V, δ = 0,10 V. Ett värde precis på gränsen är godkänt.</a:t>
            </a:r>
          </a:p>
        </p:txBody>
      </p:sp>
      <p:sp>
        <p:nvSpPr>
          <p:cNvPr id="13" name="Arbetsgång: Räkna båda intervallen. Jämför särskilt den lägsta mä">
            <a:extLst xmlns:a="http://schemas.openxmlformats.org/drawingml/2006/main">
              <a:ext uri="{FF2B5EF4-FFF2-40B4-BE49-F238E27FC236}">
                <a16:creationId xmlns:a16="http://schemas.microsoft.com/office/drawing/2014/main" id="{8B51DB02-A421-4F5C-96C9-BF312598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ut båda intervallen och jämför särskilt de nedre gränserna.</a:t>
            </a:r>
          </a:p>
        </p:txBody>
      </p:sp>
      <p:sp>
        <p:nvSpPr>
          <p:cNvPr id="14" name="12">
            <a:extLst xmlns:a="http://schemas.openxmlformats.org/drawingml/2006/main">
              <a:ext uri="{FF2B5EF4-FFF2-40B4-BE49-F238E27FC236}">
                <a16:creationId xmlns:a16="http://schemas.microsoft.com/office/drawing/2014/main" id="{460DB550-9AD9-47BC-A0DA-163F1805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124507e6d45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2">
            <a:extLst xmlns:a="http://schemas.openxmlformats.org/drawingml/2006/main">
              <a:ext uri="{FF2B5EF4-FFF2-40B4-BE49-F238E27FC236}">
                <a16:creationId xmlns:a16="http://schemas.microsoft.com/office/drawing/2014/main" id="{3B991982-4F7E-4B5C-980E-1749BB1D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2.2</a:t>
            </a:r>
          </a:p>
        </p:txBody>
      </p:sp>
      <p:sp>
        <p:nvSpPr>
          <p:cNvPr id="3" name="Kravjämförelse">
            <a:extLst xmlns:a="http://schemas.openxmlformats.org/drawingml/2006/main">
              <a:ext uri="{FF2B5EF4-FFF2-40B4-BE49-F238E27FC236}">
                <a16:creationId xmlns:a16="http://schemas.microsoft.com/office/drawing/2014/main" id="{458D9AC5-445E-42D6-83C5-7CE16837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Kravjämförelse</a:t>
            </a:r>
          </a:p>
        </p:txBody>
      </p:sp>
      <p:sp>
        <p:nvSpPr>
          <p:cNvPr id="4" name="Kravet är 12,0 V ±5 %. Mätningen är 11,45 V ±0,10 V. Är hela mäti">
            <a:extLst xmlns:a="http://schemas.openxmlformats.org/drawingml/2006/main">
              <a:ext uri="{FF2B5EF4-FFF2-40B4-BE49-F238E27FC236}">
                <a16:creationId xmlns:a16="http://schemas.microsoft.com/office/drawing/2014/main" id="{AE0477E6-4C2D-4B6E-99EE-41BD8D35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Kravet är 12,0 V ±5 %. Mätningen är 11,45 V ±0,10 V. Är hela mätintervallet inom kravet?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29FE81AA-1D8C-4242-9309-BFFBBBA8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8">
            <a:extLst xmlns:a="http://schemas.openxmlformats.org/drawingml/2006/main">
              <a:ext uri="{FF2B5EF4-FFF2-40B4-BE49-F238E27FC236}">
                <a16:creationId xmlns:a16="http://schemas.microsoft.com/office/drawing/2014/main" id="{9C2453BE-38B1-4D1B-B6A2-DCC76444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344a2ff414e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3">
            <a:extLst xmlns:a="http://schemas.openxmlformats.org/drawingml/2006/main">
              <a:ext uri="{FF2B5EF4-FFF2-40B4-BE49-F238E27FC236}">
                <a16:creationId xmlns:a16="http://schemas.microsoft.com/office/drawing/2014/main" id="{DB19681E-89A2-49DB-919C-308F7116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2.3</a:t>
            </a:r>
          </a:p>
        </p:txBody>
      </p:sp>
      <p:sp>
        <p:nvSpPr>
          <p:cNvPr id="10" name="Intervall = visning ± angiven gräns">
            <a:extLst xmlns:a="http://schemas.openxmlformats.org/drawingml/2006/main">
              <a:ext uri="{FF2B5EF4-FFF2-40B4-BE49-F238E27FC236}">
                <a16:creationId xmlns:a16="http://schemas.microsoft.com/office/drawing/2014/main" id="{2C11F3E0-3334-4636-ACBA-41EF7856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Intervall = visning ± angiven gräns</a:t>
            </a:r>
          </a:p>
        </p:txBody>
      </p:sp>
      <p:sp>
        <p:nvSpPr>
          <p:cNvPr id="11" name="Överlapp betyder att det finns värden som är förenliga med båda a">
            <a:extLst xmlns:a="http://schemas.openxmlformats.org/drawingml/2006/main">
              <a:ext uri="{FF2B5EF4-FFF2-40B4-BE49-F238E27FC236}">
                <a16:creationId xmlns:a16="http://schemas.microsoft.com/office/drawing/2014/main" id="{00442FD8-87F9-466F-B0DD-1F84E6D4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 intervallen överlappar finns det värden som stämmer med båda instrumenten.</a:t>
            </a:r>
          </a:p>
        </p:txBody>
      </p:sp>
      <p:sp>
        <p:nvSpPr>
          <p:cNvPr id="12" name="Förutsättningar: A: 10,00 ±0,10 V. B: 10,12 ±0,10 V. Samma stabil">
            <a:extLst xmlns:a="http://schemas.openxmlformats.org/drawingml/2006/main">
              <a:ext uri="{FF2B5EF4-FFF2-40B4-BE49-F238E27FC236}">
                <a16:creationId xmlns:a16="http://schemas.microsoft.com/office/drawing/2014/main" id="{608A4740-CBAA-4238-AF09-D8B7F8A4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A: 10,00 ±0,10 V. B: 10,12 ±0,10 V. Båda mäter samma stabila spänning i samma punkter.</a:t>
            </a:r>
          </a:p>
        </p:txBody>
      </p:sp>
      <p:sp>
        <p:nvSpPr>
          <p:cNvPr id="13" name="Arbetsgång: Beräkna intervallen och deras gemensamma del. Dra ing">
            <a:extLst xmlns:a="http://schemas.openxmlformats.org/drawingml/2006/main">
              <a:ext uri="{FF2B5EF4-FFF2-40B4-BE49-F238E27FC236}">
                <a16:creationId xmlns:a16="http://schemas.microsoft.com/office/drawing/2014/main" id="{CD785F6E-6240-4A4D-A482-24ABF9B5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ut intervallen och den del de har gemensamt. Dra ingen starkare slutsats än jämförelsen tillåter.</a:t>
            </a:r>
          </a:p>
        </p:txBody>
      </p:sp>
      <p:sp>
        <p:nvSpPr>
          <p:cNvPr id="14" name="14">
            <a:extLst xmlns:a="http://schemas.openxmlformats.org/drawingml/2006/main">
              <a:ext uri="{FF2B5EF4-FFF2-40B4-BE49-F238E27FC236}">
                <a16:creationId xmlns:a16="http://schemas.microsoft.com/office/drawing/2014/main" id="{B273E86B-7B4C-436D-84E2-A11E699C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3c0a5099649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3">
            <a:extLst xmlns:a="http://schemas.openxmlformats.org/drawingml/2006/main">
              <a:ext uri="{FF2B5EF4-FFF2-40B4-BE49-F238E27FC236}">
                <a16:creationId xmlns:a16="http://schemas.microsoft.com/office/drawing/2014/main" id="{84758F42-4345-40DB-AF22-3D9B91BF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2.3</a:t>
            </a:r>
          </a:p>
        </p:txBody>
      </p:sp>
      <p:sp>
        <p:nvSpPr>
          <p:cNvPr id="3" name="Skillnad mellan instrument">
            <a:extLst xmlns:a="http://schemas.openxmlformats.org/drawingml/2006/main">
              <a:ext uri="{FF2B5EF4-FFF2-40B4-BE49-F238E27FC236}">
                <a16:creationId xmlns:a16="http://schemas.microsoft.com/office/drawing/2014/main" id="{76D0A821-BEBA-46C4-B12B-F7A19685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Skillnad mellan instrument</a:t>
            </a:r>
          </a:p>
        </p:txBody>
      </p:sp>
      <p:sp>
        <p:nvSpPr>
          <p:cNvPr id="4" name="A visar 10,00 ±0,10 V och B visar 10,12 ±0,10 V. Är skillnaden en">
            <a:extLst xmlns:a="http://schemas.openxmlformats.org/drawingml/2006/main">
              <a:ext uri="{FF2B5EF4-FFF2-40B4-BE49-F238E27FC236}">
                <a16:creationId xmlns:a16="http://schemas.microsoft.com/office/drawing/2014/main" id="{CF5ABA87-A9A3-4BFF-994A-A30313A4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Två instrument mäter samma spänning. A visar 10,00 V ±0,10 V. B visar 10,12 V ±0,10 V. Måste ett av instrumenten vara fel?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A7B46B23-96C9-4F2A-BE86-CCE4BC42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9">
            <a:extLst xmlns:a="http://schemas.openxmlformats.org/drawingml/2006/main">
              <a:ext uri="{FF2B5EF4-FFF2-40B4-BE49-F238E27FC236}">
                <a16:creationId xmlns:a16="http://schemas.microsoft.com/office/drawing/2014/main" id="{8B3BF100-27DD-4C66-A5EB-C47A3795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2d57a877d42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4">
            <a:extLst xmlns:a="http://schemas.openxmlformats.org/drawingml/2006/main">
              <a:ext uri="{FF2B5EF4-FFF2-40B4-BE49-F238E27FC236}">
                <a16:creationId xmlns:a16="http://schemas.microsoft.com/office/drawing/2014/main" id="{CFA1A7BE-D080-4984-A22D-44CA122E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2.4</a:t>
            </a:r>
          </a:p>
        </p:txBody>
      </p:sp>
      <p:sp>
        <p:nvSpPr>
          <p:cNvPr id="10" name="ΔUtotal = Ukälla − Ulast&#10;ΔUfram = ΔUtotal − ΔUretur">
            <a:extLst xmlns:a="http://schemas.openxmlformats.org/drawingml/2006/main">
              <a:ext uri="{FF2B5EF4-FFF2-40B4-BE49-F238E27FC236}">
                <a16:creationId xmlns:a16="http://schemas.microsoft.com/office/drawing/2014/main" id="{CCAD5AA5-1840-4F78-A123-F2164319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ΔU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total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källa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− 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last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ΔU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fram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ΔU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total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− 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ΔU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retur</a:t>
            </a:r>
          </a:p>
        </p:txBody>
      </p:sp>
      <p:sp>
        <p:nvSpPr>
          <p:cNvPr id="11" name="Slingfallet består av framledningens och returens fall. Alla värd">
            <a:extLst xmlns:a="http://schemas.openxmlformats.org/drawingml/2006/main">
              <a:ext uri="{FF2B5EF4-FFF2-40B4-BE49-F238E27FC236}">
                <a16:creationId xmlns:a16="http://schemas.microsoft.com/office/drawing/2014/main" id="{0561666C-6A90-43E8-B325-61C4D010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Hela spänningsfallet är summan av fallet i framledaren och i returledaren.</a:t>
            </a:r>
          </a:p>
        </p:txBody>
      </p:sp>
      <p:sp>
        <p:nvSpPr>
          <p:cNvPr id="12" name="Förutsättningar: Källa 24 V, last 20 V, ström 2 A och returfallet">
            <a:extLst xmlns:a="http://schemas.openxmlformats.org/drawingml/2006/main">
              <a:ext uri="{FF2B5EF4-FFF2-40B4-BE49-F238E27FC236}">
                <a16:creationId xmlns:a16="http://schemas.microsoft.com/office/drawing/2014/main" id="{72FE15B7-4BA1-47DE-9EA2-E82129C2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Källa 24 V, last 20 V, ström 2 A och 1 V i returledaren. Värdena är mätta samtidigt.</a:t>
            </a:r>
          </a:p>
        </p:txBody>
      </p:sp>
      <p:sp>
        <p:nvSpPr>
          <p:cNvPr id="13" name="Arbetsgång: Räkna hela slingans fall först och dra sedan bort den">
            <a:extLst xmlns:a="http://schemas.openxmlformats.org/drawingml/2006/main">
              <a:ext uri="{FF2B5EF4-FFF2-40B4-BE49-F238E27FC236}">
                <a16:creationId xmlns:a16="http://schemas.microsoft.com/office/drawing/2014/main" id="{C78B2381-8A63-4C13-B042-59B5527E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först ut hela fallet och dra sedan bort returledarens del.</a:t>
            </a:r>
          </a:p>
        </p:txBody>
      </p:sp>
      <p:sp>
        <p:nvSpPr>
          <p:cNvPr id="14" name="16">
            <a:extLst xmlns:a="http://schemas.openxmlformats.org/drawingml/2006/main">
              <a:ext uri="{FF2B5EF4-FFF2-40B4-BE49-F238E27FC236}">
                <a16:creationId xmlns:a16="http://schemas.microsoft.com/office/drawing/2014/main" id="{2D395658-7E83-4BF2-AB5E-9647ADA8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3496c2a29745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4">
            <a:extLst xmlns:a="http://schemas.openxmlformats.org/drawingml/2006/main">
              <a:ext uri="{FF2B5EF4-FFF2-40B4-BE49-F238E27FC236}">
                <a16:creationId xmlns:a16="http://schemas.microsoft.com/office/drawing/2014/main" id="{E93934C8-432D-4477-A98A-4B0C3D28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2.4</a:t>
            </a:r>
          </a:p>
        </p:txBody>
      </p:sp>
      <p:sp>
        <p:nvSpPr>
          <p:cNvPr id="3" name="Mätning under last">
            <a:extLst xmlns:a="http://schemas.openxmlformats.org/drawingml/2006/main">
              <a:ext uri="{FF2B5EF4-FFF2-40B4-BE49-F238E27FC236}">
                <a16:creationId xmlns:a16="http://schemas.microsoft.com/office/drawing/2014/main" id="{0B678296-C956-45E0-8F18-7DC7F709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Mätning under last</a:t>
            </a:r>
          </a:p>
        </p:txBody>
      </p:sp>
      <p:sp>
        <p:nvSpPr>
          <p:cNvPr id="4" name="Källa 24 V, last 20 V och ström 2 A. Returfallet är uppmätt till ">
            <a:extLst xmlns:a="http://schemas.openxmlformats.org/drawingml/2006/main">
              <a:ext uri="{FF2B5EF4-FFF2-40B4-BE49-F238E27FC236}">
                <a16:creationId xmlns:a16="http://schemas.microsoft.com/office/drawing/2014/main" id="{F22E5301-F04F-4E45-8816-FF51BBBB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Källan har 24 V, lasten 20 V och strömmen är 2 A. Spänningsfallet i returledaren är uppmätt till 1 V. Hur stort är fallet i framledaren?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0C470657-7781-47B4-BC5E-8C792798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0">
            <a:extLst xmlns:a="http://schemas.openxmlformats.org/drawingml/2006/main">
              <a:ext uri="{FF2B5EF4-FFF2-40B4-BE49-F238E27FC236}">
                <a16:creationId xmlns:a16="http://schemas.microsoft.com/office/drawing/2014/main" id="{F56E05E1-B058-4980-8A72-3B30ECA0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eriekrets: källa 24 V, last 20 V, ström" descr="Seriekrets: källa 24 V, last 20 V, ström 2 A och 1 V fall i returen; fallet i framledningen okä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901e892fd46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5">
            <a:extLst xmlns:a="http://schemas.openxmlformats.org/drawingml/2006/main">
              <a:ext uri="{FF2B5EF4-FFF2-40B4-BE49-F238E27FC236}">
                <a16:creationId xmlns:a16="http://schemas.microsoft.com/office/drawing/2014/main" id="{CF351B8F-8258-4B61-8F1B-463BF248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2.5</a:t>
            </a:r>
          </a:p>
        </p:txBody>
      </p:sp>
      <p:sp>
        <p:nvSpPr>
          <p:cNvPr id="10" name="Rfram = ΔUfram/I     Rretur = ΔUretur/I">
            <a:extLst xmlns:a="http://schemas.openxmlformats.org/drawingml/2006/main">
              <a:ext uri="{FF2B5EF4-FFF2-40B4-BE49-F238E27FC236}">
                <a16:creationId xmlns:a16="http://schemas.microsoft.com/office/drawing/2014/main" id="{C55C321A-00ED-4815-821C-7901D2FE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fram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ΔU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fram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/I;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retur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ΔU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retur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/I</a:t>
            </a:r>
          </a:p>
        </p:txBody>
      </p:sp>
      <p:sp>
        <p:nvSpPr>
          <p:cNvPr id="11" name="Samma ström går i framledning och retur i den enkla seriekretsen.">
            <a:extLst xmlns:a="http://schemas.openxmlformats.org/drawingml/2006/main">
              <a:ext uri="{FF2B5EF4-FFF2-40B4-BE49-F238E27FC236}">
                <a16:creationId xmlns:a16="http://schemas.microsoft.com/office/drawing/2014/main" id="{B7226F53-9C19-4C18-8E01-B0D8805A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en enkel seriekrets går samma ström i fram- och returledaren.</a:t>
            </a:r>
          </a:p>
        </p:txBody>
      </p:sp>
      <p:sp>
        <p:nvSpPr>
          <p:cNvPr id="12" name="Förutsättningar: Källa 24 V, last 20 V, I = 2 A. ΔUretur = 1 V oc">
            <a:extLst xmlns:a="http://schemas.openxmlformats.org/drawingml/2006/main">
              <a:ext uri="{FF2B5EF4-FFF2-40B4-BE49-F238E27FC236}">
                <a16:creationId xmlns:a16="http://schemas.microsoft.com/office/drawing/2014/main" id="{4F4FD9CE-6C63-4897-8E56-1523D1FD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Källa 24 V, last 20 V, I = 2 A. 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ΔU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retur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1 V och 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ΔU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fram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24 − 20 − 1 V.</a:t>
            </a:r>
          </a:p>
        </p:txBody>
      </p:sp>
      <p:sp>
        <p:nvSpPr>
          <p:cNvPr id="13" name="Arbetsgång: Beräkna framfallet från grunddata. Dividera respektiv">
            <a:extLst xmlns:a="http://schemas.openxmlformats.org/drawingml/2006/main">
              <a:ext uri="{FF2B5EF4-FFF2-40B4-BE49-F238E27FC236}">
                <a16:creationId xmlns:a16="http://schemas.microsoft.com/office/drawing/2014/main" id="{55647DCD-D049-4685-8E6A-FDEA5FB7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ut fallet i framledaren och dela varje spänningsfall med strömmen.</a:t>
            </a:r>
          </a:p>
        </p:txBody>
      </p:sp>
      <p:sp>
        <p:nvSpPr>
          <p:cNvPr id="14" name="18">
            <a:extLst xmlns:a="http://schemas.openxmlformats.org/drawingml/2006/main">
              <a:ext uri="{FF2B5EF4-FFF2-40B4-BE49-F238E27FC236}">
                <a16:creationId xmlns:a16="http://schemas.microsoft.com/office/drawing/2014/main" id="{F73C493F-E50A-460C-B8E4-84711D8B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bf7d4755841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5">
            <a:extLst xmlns:a="http://schemas.openxmlformats.org/drawingml/2006/main">
              <a:ext uri="{FF2B5EF4-FFF2-40B4-BE49-F238E27FC236}">
                <a16:creationId xmlns:a16="http://schemas.microsoft.com/office/drawing/2014/main" id="{3C025435-C47D-46EE-9B22-F2EDA306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2.5</a:t>
            </a:r>
          </a:p>
        </p:txBody>
      </p:sp>
      <p:sp>
        <p:nvSpPr>
          <p:cNvPr id="3" name="Resistansfördelning">
            <a:extLst xmlns:a="http://schemas.openxmlformats.org/drawingml/2006/main">
              <a:ext uri="{FF2B5EF4-FFF2-40B4-BE49-F238E27FC236}">
                <a16:creationId xmlns:a16="http://schemas.microsoft.com/office/drawing/2014/main" id="{291CC951-4CCD-47E1-AFDC-5C7458D7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Resistansfördelning</a:t>
            </a:r>
          </a:p>
        </p:txBody>
      </p:sp>
      <p:sp>
        <p:nvSpPr>
          <p:cNvPr id="4" name="Använd fallet i uppgift 4. Beräkna framledningens och returens re">
            <a:extLst xmlns:a="http://schemas.openxmlformats.org/drawingml/2006/main">
              <a:ext uri="{FF2B5EF4-FFF2-40B4-BE49-F238E27FC236}">
                <a16:creationId xmlns:a16="http://schemas.microsoft.com/office/drawing/2014/main" id="{1A6D511D-5643-46BD-A539-75F7F9EF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Använd värdena i föregående övning. Beräkna resistansen i framledaren och i returledaren.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34C7BDE0-F1B6-46E4-A577-264EB5B9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1">
            <a:extLst xmlns:a="http://schemas.openxmlformats.org/drawingml/2006/main">
              <a:ext uri="{FF2B5EF4-FFF2-40B4-BE49-F238E27FC236}">
                <a16:creationId xmlns:a16="http://schemas.microsoft.com/office/drawing/2014/main" id="{2C6A6769-E350-496F-8538-84869A19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9612a13ec49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ass 2">
            <a:extLst xmlns:a="http://schemas.openxmlformats.org/drawingml/2006/main">
              <a:ext uri="{FF2B5EF4-FFF2-40B4-BE49-F238E27FC236}">
                <a16:creationId xmlns:a16="http://schemas.microsoft.com/office/drawing/2014/main" id="{E028888F-71E5-454B-BF8C-65629769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Pass 2</a:t>
            </a:r>
          </a:p>
        </p:txBody>
      </p:sp>
      <p:sp>
        <p:nvSpPr>
          <p:cNvPr id="3" name="Åtgärd och rotorsak&#10;Kontrollprotokollets innehåll&#10;Kvalitetssäkrad">
            <a:extLst xmlns:a="http://schemas.openxmlformats.org/drawingml/2006/main">
              <a:ext uri="{FF2B5EF4-FFF2-40B4-BE49-F238E27FC236}">
                <a16:creationId xmlns:a16="http://schemas.microsoft.com/office/drawing/2014/main" id="{06C8F50E-72CD-4F3D-A465-E294A3B9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7620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Åtgärd och rotorsak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Kontrollprotokollets innehåll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Kvalitetssäkrad återgång</a:t>
            </a:r>
          </a:p>
        </p:txBody>
      </p:sp>
      <p:sp>
        <p:nvSpPr>
          <p:cNvPr id="4" name="Teori och exempel följs av övning 6–10.&#10;Lösningar och facit ligge">
            <a:extLst xmlns:a="http://schemas.openxmlformats.org/drawingml/2006/main">
              <a:ext uri="{FF2B5EF4-FFF2-40B4-BE49-F238E27FC236}">
                <a16:creationId xmlns:a16="http://schemas.microsoft.com/office/drawing/2014/main" id="{FBA9BED0-8576-4D3F-92ED-0DFAD519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Teori och exempel följs av övning 2.6–2.10.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metod och diskutera resultaten i gruppen.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F899AB07-D0D7-479C-91F7-02B3035A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29e110705343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Åtgärd och rotorsak">
            <a:extLst xmlns:a="http://schemas.openxmlformats.org/drawingml/2006/main">
              <a:ext uri="{FF2B5EF4-FFF2-40B4-BE49-F238E27FC236}">
                <a16:creationId xmlns:a16="http://schemas.microsoft.com/office/drawing/2014/main" id="{47BE8F95-6DFC-49A8-B69E-B3B64369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Åtgärd och rotorsak</a:t>
            </a:r>
          </a:p>
        </p:txBody>
      </p:sp>
      <p:sp>
        <p:nvSpPr>
          <p:cNvPr id="3" name="En utbytt komponent kan återställa funktionen tillfälligt.&#10;Bakoml">
            <a:extLst xmlns:a="http://schemas.openxmlformats.org/drawingml/2006/main">
              <a:ext uri="{FF2B5EF4-FFF2-40B4-BE49-F238E27FC236}">
                <a16:creationId xmlns:a16="http://schemas.microsoft.com/office/drawing/2014/main" id="{35AFF66E-8549-43A8-A436-3C8C3C45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utbytt komponent kan återställa funktionen tillfälligt.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Bakomliggande orsak kan finnas kvar.</a:t>
            </a:r>
          </a:p>
        </p:txBody>
      </p:sp>
      <p:sp>
        <p:nvSpPr>
          <p:cNvPr id="4" name="Skada, orsak, åtgärd och förebyggande kontroll">
            <a:extLst xmlns:a="http://schemas.openxmlformats.org/drawingml/2006/main">
              <a:ext uri="{FF2B5EF4-FFF2-40B4-BE49-F238E27FC236}">
                <a16:creationId xmlns:a16="http://schemas.microsoft.com/office/drawing/2014/main" id="{F096AF3E-80B5-4BF4-A070-A493D5A3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Skada, orsak, åtgärd och förebyggande kontroll</a:t>
            </a:r>
          </a:p>
        </p:txBody>
      </p:sp>
      <p:sp>
        <p:nvSpPr>
          <p:cNvPr id="5" name="En bränd anslutning kan kräva utredning av belastning,&#10;kontaktför">
            <a:extLst xmlns:a="http://schemas.openxmlformats.org/drawingml/2006/main">
              <a:ext uri="{FF2B5EF4-FFF2-40B4-BE49-F238E27FC236}">
                <a16:creationId xmlns:a16="http://schemas.microsoft.com/office/drawing/2014/main" id="{5D6F1389-7D0C-405E-839B-E4014C0D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bränd anslutning kan kräva utredning av belastning,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kontaktförhållanden och föreskriven montering.</a:t>
            </a:r>
          </a:p>
        </p:txBody>
      </p:sp>
      <p:sp>
        <p:nvSpPr>
          <p:cNvPr id="6" name="13">
            <a:extLst xmlns:a="http://schemas.openxmlformats.org/drawingml/2006/main">
              <a:ext uri="{FF2B5EF4-FFF2-40B4-BE49-F238E27FC236}">
                <a16:creationId xmlns:a16="http://schemas.microsoft.com/office/drawing/2014/main" id="{492A7B65-B92A-4CEC-854B-05F78753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f895bd32844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Kontrollprotokollets innehåll">
            <a:extLst xmlns:a="http://schemas.openxmlformats.org/drawingml/2006/main">
              <a:ext uri="{FF2B5EF4-FFF2-40B4-BE49-F238E27FC236}">
                <a16:creationId xmlns:a16="http://schemas.microsoft.com/office/drawing/2014/main" id="{D288D9A3-03AE-4201-A761-40A37327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Kontrollprotokollets innehåll</a:t>
            </a:r>
          </a:p>
        </p:txBody>
      </p:sp>
      <p:sp>
        <p:nvSpPr>
          <p:cNvPr id="3" name="Ange objekt, revision, mätpunkter, driftläge och instrument.&#10;Redo">
            <a:extLst xmlns:a="http://schemas.openxmlformats.org/drawingml/2006/main">
              <a:ext uri="{FF2B5EF4-FFF2-40B4-BE49-F238E27FC236}">
                <a16:creationId xmlns:a16="http://schemas.microsoft.com/office/drawing/2014/main" id="{9D60D928-3DFF-472E-AC3B-2456AF0F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Ange objekt, revision, mätpunkter, driftläge och instrument.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förväntat värde, uppmätt värde och bedömning.</a:t>
            </a:r>
          </a:p>
        </p:txBody>
      </p:sp>
      <p:sp>
        <p:nvSpPr>
          <p:cNvPr id="4" name="Varje slutsats ska kunna följas tillbaka till data">
            <a:extLst xmlns:a="http://schemas.openxmlformats.org/drawingml/2006/main">
              <a:ext uri="{FF2B5EF4-FFF2-40B4-BE49-F238E27FC236}">
                <a16:creationId xmlns:a16="http://schemas.microsoft.com/office/drawing/2014/main" id="{A42FE0D5-7B48-4F54-8FA2-A5CDDAD2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Varje slutsats ska kunna följas tillbaka till data</a:t>
            </a:r>
          </a:p>
        </p:txBody>
      </p:sp>
      <p:sp>
        <p:nvSpPr>
          <p:cNvPr id="5" name="Dokumentera avvikelser och vem som fattat beslut&#10;om återgång elle">
            <a:extLst xmlns:a="http://schemas.openxmlformats.org/drawingml/2006/main">
              <a:ext uri="{FF2B5EF4-FFF2-40B4-BE49-F238E27FC236}">
                <a16:creationId xmlns:a16="http://schemas.microsoft.com/office/drawing/2014/main" id="{BB3982AA-AB99-4349-A9AD-214C3B1C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Dokumentera avvikelser och vem som fattat beslut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 återgång eller fortsatt utredning.</a:t>
            </a:r>
          </a:p>
        </p:txBody>
      </p:sp>
      <p:sp>
        <p:nvSpPr>
          <p:cNvPr id="6" name="14">
            <a:extLst xmlns:a="http://schemas.openxmlformats.org/drawingml/2006/main">
              <a:ext uri="{FF2B5EF4-FFF2-40B4-BE49-F238E27FC236}">
                <a16:creationId xmlns:a16="http://schemas.microsoft.com/office/drawing/2014/main" id="{BF7BDCA7-1992-43AA-B18B-5BE43030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b6b6357c443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Kvalitetssäkrad återgång">
            <a:extLst xmlns:a="http://schemas.openxmlformats.org/drawingml/2006/main">
              <a:ext uri="{FF2B5EF4-FFF2-40B4-BE49-F238E27FC236}">
                <a16:creationId xmlns:a16="http://schemas.microsoft.com/office/drawing/2014/main" id="{5D7C7059-09D1-41BD-B946-91C90E9F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Kvalitetssäkrad återgång</a:t>
            </a:r>
          </a:p>
        </p:txBody>
      </p:sp>
      <p:sp>
        <p:nvSpPr>
          <p:cNvPr id="3" name="Kontrollera att felet är åtgärdat i det relevanta driftfallet.&#10;Sk">
            <a:extLst xmlns:a="http://schemas.openxmlformats.org/drawingml/2006/main">
              <a:ext uri="{FF2B5EF4-FFF2-40B4-BE49-F238E27FC236}">
                <a16:creationId xmlns:a16="http://schemas.microsoft.com/office/drawing/2014/main" id="{91027728-F826-40BA-949A-DC1EEC99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Kontrollera att felet är åtgärdat i det relevanta driftfallet.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Skydd och normal dokumentation ska vara återställda.</a:t>
            </a:r>
          </a:p>
        </p:txBody>
      </p:sp>
      <p:sp>
        <p:nvSpPr>
          <p:cNvPr id="4" name="Funktionsprov, säkerhetskontroll och återlämning">
            <a:extLst xmlns:a="http://schemas.openxmlformats.org/drawingml/2006/main">
              <a:ext uri="{FF2B5EF4-FFF2-40B4-BE49-F238E27FC236}">
                <a16:creationId xmlns:a16="http://schemas.microsoft.com/office/drawing/2014/main" id="{84E2AD88-35F5-4138-918F-4833E204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Funktionsprov, säkerhetskontroll och återlämning</a:t>
            </a:r>
          </a:p>
        </p:txBody>
      </p:sp>
      <p:sp>
        <p:nvSpPr>
          <p:cNvPr id="5" name="Kvarstående fel eller ej utförda kontroller redovisas tydligt.&#10;”E">
            <a:extLst xmlns:a="http://schemas.openxmlformats.org/drawingml/2006/main">
              <a:ext uri="{FF2B5EF4-FFF2-40B4-BE49-F238E27FC236}">
                <a16:creationId xmlns:a16="http://schemas.microsoft.com/office/drawing/2014/main" id="{DD0FE59E-14F1-496B-9B03-BC062FF1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Ombord: avsluta arbetstillstånd och LOTO, kontrollera isolationsvaktens värde,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informera vakthavande och bryggan, för in åtgärden i maskindagbok och underhållssystem.</a:t>
            </a:r>
          </a:p>
        </p:txBody>
      </p:sp>
      <p:sp>
        <p:nvSpPr>
          <p:cNvPr id="6" name="15">
            <a:extLst xmlns:a="http://schemas.openxmlformats.org/drawingml/2006/main">
              <a:ext uri="{FF2B5EF4-FFF2-40B4-BE49-F238E27FC236}">
                <a16:creationId xmlns:a16="http://schemas.microsoft.com/office/drawing/2014/main" id="{F40F679D-0D0E-4185-AF82-9F464571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57933a57149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xempel: fram- och returväg">
            <a:extLst xmlns:a="http://schemas.openxmlformats.org/drawingml/2006/main">
              <a:ext uri="{FF2B5EF4-FFF2-40B4-BE49-F238E27FC236}">
                <a16:creationId xmlns:a16="http://schemas.microsoft.com/office/drawing/2014/main" id="{218D6CFA-F0AC-4E74-BE45-937664BB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fram- och returväg</a:t>
            </a:r>
          </a:p>
        </p:txBody>
      </p:sp>
      <p:sp>
        <p:nvSpPr>
          <p:cNvPr id="10" name="Källa 12 V, last 9 V och ström 1,5 A. Returens fall är 0,75 V. Sa">
            <a:extLst xmlns:a="http://schemas.openxmlformats.org/drawingml/2006/main">
              <a:ext uri="{FF2B5EF4-FFF2-40B4-BE49-F238E27FC236}">
                <a16:creationId xmlns:a16="http://schemas.microsoft.com/office/drawing/2014/main" id="{54CB9D49-FC04-493F-ADE4-2D3BADCE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3977639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Källa 12 V, last 9 V och ström 1,5 A. Returens fall är 0,9 V. Samtidiga data.</a:t>
            </a:r>
          </a:p>
        </p:txBody>
      </p:sp>
      <p:sp>
        <p:nvSpPr>
          <p:cNvPr id="11" name="ΔUfram = Ukälla − Ulast − ΔUretur&#10;R = ΔU/I">
            <a:extLst xmlns:a="http://schemas.openxmlformats.org/drawingml/2006/main">
              <a:ext uri="{FF2B5EF4-FFF2-40B4-BE49-F238E27FC236}">
                <a16:creationId xmlns:a16="http://schemas.microsoft.com/office/drawing/2014/main" id="{4C6AD978-A7E0-4E15-8823-68B41B80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3977639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ΔU</a:t>
            </a:r>
            <a:r>
              <a:rPr sz="17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fram</a:t>
            </a:r>
            <a:r>
              <a:rPr sz="1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 = </a:t>
            </a:r>
            <a:r>
              <a:rPr sz="1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17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källa</a:t>
            </a:r>
            <a:r>
              <a:rPr sz="1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− </a:t>
            </a:r>
            <a:r>
              <a:rPr sz="1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17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last</a:t>
            </a:r>
            <a:r>
              <a:rPr sz="1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− </a:t>
            </a:r>
            <a:r>
              <a:rPr sz="1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ΔU</a:t>
            </a:r>
            <a:r>
              <a:rPr sz="17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retur</a:t>
            </a:r>
          </a:p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 = ΔU/I</a:t>
            </a:r>
          </a:p>
        </p:txBody>
      </p:sp>
      <p:sp>
        <p:nvSpPr>
          <p:cNvPr id="12" name="1. Totalt fall = 12 − 9 = 3 V.&#10;2. Framfall = 3 − 0,75 = 2,25 V. R">
            <a:extLst xmlns:a="http://schemas.openxmlformats.org/drawingml/2006/main">
              <a:ext uri="{FF2B5EF4-FFF2-40B4-BE49-F238E27FC236}">
                <a16:creationId xmlns:a16="http://schemas.microsoft.com/office/drawing/2014/main" id="{425D21D0-E633-49A4-B597-97F4FFF2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3977639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Totalt fall = 12 − 9 = 3 V.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Framfall = 3 − 0,9 = 2,1 V. </a:t>
            </a: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195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fram</a:t>
            </a: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 = 2,1/1,5 = 1,4 Ω.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</a:t>
            </a: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195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retur</a:t>
            </a: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 = 0,9/1,5 = 0,6 Ω.</a:t>
            </a:r>
          </a:p>
        </p:txBody>
      </p:sp>
      <p:sp>
        <p:nvSpPr>
          <p:cNvPr id="13" name="Kontroll: (1,5 + 0,5) Ω · 1,5 A = 3 V. Beräkningen lokaliserar fa">
            <a:extLst xmlns:a="http://schemas.openxmlformats.org/drawingml/2006/main">
              <a:ext uri="{FF2B5EF4-FFF2-40B4-BE49-F238E27FC236}">
                <a16:creationId xmlns:a16="http://schemas.microsoft.com/office/drawing/2014/main" id="{7E05B7F0-C892-4B99-856D-BC6865DE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977639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Kontroll: (1,4 + 0,6) Ω · 1,5 A = 3 V. Beräkningen lokaliserar fall till två delar.</a:t>
            </a:r>
          </a:p>
        </p:txBody>
      </p:sp>
      <p:sp>
        <p:nvSpPr>
          <p:cNvPr id="14" name="24">
            <a:extLst xmlns:a="http://schemas.openxmlformats.org/drawingml/2006/main">
              <a:ext uri="{FF2B5EF4-FFF2-40B4-BE49-F238E27FC236}">
                <a16:creationId xmlns:a16="http://schemas.microsoft.com/office/drawing/2014/main" id="{C8ECE793-C303-41F6-B92A-627518F4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pic xmlns:a="http://schemas.openxmlformats.org/drawingml/2006/main" xmlns:r="http://schemas.openxmlformats.org/officeDocument/2006/relationships">
        <p:nvPicPr>
          <p:cNvPr id="16" name="Figur: Seriekrets: källa 12 V, last 9 V, ström " descr="Seriekrets: källa 12 V, last 9 V, ström 1,5 A; framledningen tappar 2,1 V och returen 0,9 V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270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27e4e8b4646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6">
            <a:extLst xmlns:a="http://schemas.openxmlformats.org/drawingml/2006/main">
              <a:ext uri="{FF2B5EF4-FFF2-40B4-BE49-F238E27FC236}">
                <a16:creationId xmlns:a16="http://schemas.microsoft.com/office/drawing/2014/main" id="{73EE5B9D-BC74-43DB-B0FF-FDB00105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2.6</a:t>
            </a:r>
          </a:p>
        </p:txBody>
      </p:sp>
      <p:sp>
        <p:nvSpPr>
          <p:cNvPr id="10" name="Ukälla = Ulast + ΔUkabel">
            <a:extLst xmlns:a="http://schemas.openxmlformats.org/drawingml/2006/main">
              <a:ext uri="{FF2B5EF4-FFF2-40B4-BE49-F238E27FC236}">
                <a16:creationId xmlns:a16="http://schemas.microsoft.com/office/drawing/2014/main" id="{571EC26A-B872-44F0-A122-A4938A99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källa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last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+ ΔU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kabel</a:t>
            </a:r>
          </a:p>
        </p:txBody>
      </p:sp>
      <p:sp>
        <p:nvSpPr>
          <p:cNvPr id="11" name="Spänningar mätta under samma belastning kan lokalisera var en för">
            <a:extLst xmlns:a="http://schemas.openxmlformats.org/drawingml/2006/main">
              <a:ext uri="{FF2B5EF4-FFF2-40B4-BE49-F238E27FC236}">
                <a16:creationId xmlns:a16="http://schemas.microsoft.com/office/drawing/2014/main" id="{CAC54773-9280-4634-A3D9-54365118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Spänningar som mäts under samma belastning visar var förlusten uppstår.</a:t>
            </a:r>
          </a:p>
        </p:txBody>
      </p:sp>
      <p:sp>
        <p:nvSpPr>
          <p:cNvPr id="12" name="Förutsättningar: Källan håller 24 V, motorn får 18 V och kabelväg">
            <a:extLst xmlns:a="http://schemas.openxmlformats.org/drawingml/2006/main">
              <a:ext uri="{FF2B5EF4-FFF2-40B4-BE49-F238E27FC236}">
                <a16:creationId xmlns:a16="http://schemas.microsoft.com/office/drawing/2014/main" id="{0AEABBD5-D9CA-4E83-99D7-4D2B9E77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Källan håller 24 V, motorn får 18 V och i kabeln faller 6 V under last.</a:t>
            </a:r>
          </a:p>
        </p:txBody>
      </p:sp>
      <p:sp>
        <p:nvSpPr>
          <p:cNvPr id="13" name="Arbetsgång: Jämför vilken av de två hypoteserna som passar alla m">
            <a:extLst xmlns:a="http://schemas.openxmlformats.org/drawingml/2006/main">
              <a:ext uri="{FF2B5EF4-FFF2-40B4-BE49-F238E27FC236}">
                <a16:creationId xmlns:a16="http://schemas.microsoft.com/office/drawing/2014/main" id="{6423DEBF-E69C-4548-A931-21BD244A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Jämför vilken av förklaringarna som stämmer med alla mätvärden, och ange vad nästa kontroll ska ta reda på.</a:t>
            </a:r>
          </a:p>
        </p:txBody>
      </p:sp>
      <p:sp>
        <p:nvSpPr>
          <p:cNvPr id="14" name="25">
            <a:extLst xmlns:a="http://schemas.openxmlformats.org/drawingml/2006/main">
              <a:ext uri="{FF2B5EF4-FFF2-40B4-BE49-F238E27FC236}">
                <a16:creationId xmlns:a16="http://schemas.microsoft.com/office/drawing/2014/main" id="{E3A7CF50-FABB-4607-BD47-3EF4EE50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13cbcb1424a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6">
            <a:extLst xmlns:a="http://schemas.openxmlformats.org/drawingml/2006/main">
              <a:ext uri="{FF2B5EF4-FFF2-40B4-BE49-F238E27FC236}">
                <a16:creationId xmlns:a16="http://schemas.microsoft.com/office/drawing/2014/main" id="{26F11DE0-B2F1-4C8D-809A-F2C9C1FF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2.6</a:t>
            </a:r>
          </a:p>
        </p:txBody>
      </p:sp>
      <p:sp>
        <p:nvSpPr>
          <p:cNvPr id="3" name="Två felhypoteser">
            <a:extLst xmlns:a="http://schemas.openxmlformats.org/drawingml/2006/main">
              <a:ext uri="{FF2B5EF4-FFF2-40B4-BE49-F238E27FC236}">
                <a16:creationId xmlns:a16="http://schemas.microsoft.com/office/drawing/2014/main" id="{847B79BF-A098-416E-A486-004B48FB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Två felhypoteser</a:t>
            </a:r>
          </a:p>
        </p:txBody>
      </p:sp>
      <p:sp>
        <p:nvSpPr>
          <p:cNvPr id="4" name="Pumpen går långsamt. Källan håller 24 V, motorn får 18 V och kabe">
            <a:extLst xmlns:a="http://schemas.openxmlformats.org/drawingml/2006/main">
              <a:ext uri="{FF2B5EF4-FFF2-40B4-BE49-F238E27FC236}">
                <a16:creationId xmlns:a16="http://schemas.microsoft.com/office/drawing/2014/main" id="{D8CF39D0-5ADD-4118-A448-E626DFB4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pump går långsamt. Källan håller 24 V, motorn får 18 V och i kabeln faller 6 V under last. Vilket stämmer bäst: en svag källa eller för hög resistans i kabeln?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25BA9D6A-E11C-45FC-9B2B-B58188CC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6">
            <a:extLst xmlns:a="http://schemas.openxmlformats.org/drawingml/2006/main">
              <a:ext uri="{FF2B5EF4-FFF2-40B4-BE49-F238E27FC236}">
                <a16:creationId xmlns:a16="http://schemas.microsoft.com/office/drawing/2014/main" id="{8D2047C2-1A6B-4F4A-80C6-0575FF1D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570507e2c341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7">
            <a:extLst xmlns:a="http://schemas.openxmlformats.org/drawingml/2006/main">
              <a:ext uri="{FF2B5EF4-FFF2-40B4-BE49-F238E27FC236}">
                <a16:creationId xmlns:a16="http://schemas.microsoft.com/office/drawing/2014/main" id="{617009BB-F873-491E-84F2-A1175895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2.7</a:t>
            </a:r>
          </a:p>
        </p:txBody>
      </p:sp>
      <p:sp>
        <p:nvSpPr>
          <p:cNvPr id="10" name="Utlöst skydd kan vara korrekt reaktion på kvarstående fel">
            <a:extLst xmlns:a="http://schemas.openxmlformats.org/drawingml/2006/main">
              <a:ext uri="{FF2B5EF4-FFF2-40B4-BE49-F238E27FC236}">
                <a16:creationId xmlns:a16="http://schemas.microsoft.com/office/drawing/2014/main" id="{F0C0CBCB-7DF6-4975-91B6-6D205B1F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Utlöst skydd kan vara korrekt reaktion på kvarstående fel</a:t>
            </a:r>
          </a:p>
        </p:txBody>
      </p:sp>
      <p:sp>
        <p:nvSpPr>
          <p:cNvPr id="11" name="Ett återkommande symtom kan bero på belastning, felström, inställ">
            <a:extLst xmlns:a="http://schemas.openxmlformats.org/drawingml/2006/main">
              <a:ext uri="{FF2B5EF4-FFF2-40B4-BE49-F238E27FC236}">
                <a16:creationId xmlns:a16="http://schemas.microsoft.com/office/drawing/2014/main" id="{6B7BE99C-751D-4C4A-8046-7DEDCA13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fel som kommer tillbaka kan bero på belastningen, en felström, inställningen eller att fel skydd är valt.</a:t>
            </a:r>
          </a:p>
        </p:txBody>
      </p:sp>
      <p:sp>
        <p:nvSpPr>
          <p:cNvPr id="12" name="Förutsättningar: Skyddet har bytts två gånger och löser igen. Ing">
            <a:extLst xmlns:a="http://schemas.openxmlformats.org/drawingml/2006/main">
              <a:ext uri="{FF2B5EF4-FFF2-40B4-BE49-F238E27FC236}">
                <a16:creationId xmlns:a16="http://schemas.microsoft.com/office/drawing/2014/main" id="{09A3BBA1-8C49-4253-96E0-FC2C940A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Skyddet har bytts två gånger och löser ut igen. Ingen har utrett orsaken.</a:t>
            </a:r>
          </a:p>
        </p:txBody>
      </p:sp>
      <p:sp>
        <p:nvSpPr>
          <p:cNvPr id="13" name="Arbetsgång: Förklara varför komponentbyte inte räcker som diagnos">
            <a:extLst xmlns:a="http://schemas.openxmlformats.org/drawingml/2006/main">
              <a:ext uri="{FF2B5EF4-FFF2-40B4-BE49-F238E27FC236}">
                <a16:creationId xmlns:a16="http://schemas.microsoft.com/office/drawing/2014/main" id="{FA365A68-BCB9-4BB3-9A70-6A8BE905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Förklara varför ett byte inte är en diagnos och ange vilken information som bör samlas in.</a:t>
            </a:r>
          </a:p>
        </p:txBody>
      </p:sp>
      <p:sp>
        <p:nvSpPr>
          <p:cNvPr id="14" name="27">
            <a:extLst xmlns:a="http://schemas.openxmlformats.org/drawingml/2006/main">
              <a:ext uri="{FF2B5EF4-FFF2-40B4-BE49-F238E27FC236}">
                <a16:creationId xmlns:a16="http://schemas.microsoft.com/office/drawing/2014/main" id="{42063279-7712-4428-9CD1-2EF223D4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2dc832c07741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7">
            <a:extLst xmlns:a="http://schemas.openxmlformats.org/drawingml/2006/main">
              <a:ext uri="{FF2B5EF4-FFF2-40B4-BE49-F238E27FC236}">
                <a16:creationId xmlns:a16="http://schemas.microsoft.com/office/drawing/2014/main" id="{1C2D0D43-4CF8-45BA-9000-DC9DF486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2.7</a:t>
            </a:r>
          </a:p>
        </p:txBody>
      </p:sp>
      <p:sp>
        <p:nvSpPr>
          <p:cNvPr id="3" name="Åtgärd utan orsak">
            <a:extLst xmlns:a="http://schemas.openxmlformats.org/drawingml/2006/main">
              <a:ext uri="{FF2B5EF4-FFF2-40B4-BE49-F238E27FC236}">
                <a16:creationId xmlns:a16="http://schemas.microsoft.com/office/drawing/2014/main" id="{B79ABBEE-0351-4C77-B119-3BAECBD0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Åtgärd utan orsak</a:t>
            </a:r>
          </a:p>
        </p:txBody>
      </p:sp>
      <p:sp>
        <p:nvSpPr>
          <p:cNvPr id="4" name="Ett skydd har bytts två gånger och löser igen. Varför är ännu ett">
            <a:extLst xmlns:a="http://schemas.openxmlformats.org/drawingml/2006/main">
              <a:ext uri="{FF2B5EF4-FFF2-40B4-BE49-F238E27FC236}">
                <a16:creationId xmlns:a16="http://schemas.microsoft.com/office/drawing/2014/main" id="{8D6570BA-7DF4-4ACC-A43A-12D3F123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skydd har bytts två gånger och löser ut igen. Varför räcker det inte att byta det en gång till?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D190C904-8738-4F05-9575-CC09912E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7">
            <a:extLst xmlns:a="http://schemas.openxmlformats.org/drawingml/2006/main">
              <a:ext uri="{FF2B5EF4-FFF2-40B4-BE49-F238E27FC236}">
                <a16:creationId xmlns:a16="http://schemas.microsoft.com/office/drawing/2014/main" id="{55B805CC-1D7A-4570-A7EC-1533ECFF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d6beb59ba4a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8">
            <a:extLst xmlns:a="http://schemas.openxmlformats.org/drawingml/2006/main">
              <a:ext uri="{FF2B5EF4-FFF2-40B4-BE49-F238E27FC236}">
                <a16:creationId xmlns:a16="http://schemas.microsoft.com/office/drawing/2014/main" id="{130C6FE4-8D31-4B73-82D1-C46D6823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2.8</a:t>
            </a:r>
          </a:p>
        </p:txBody>
      </p:sp>
      <p:sp>
        <p:nvSpPr>
          <p:cNvPr id="10" name="Spårbar rapport binder objekt till åtgärd och prov">
            <a:extLst xmlns:a="http://schemas.openxmlformats.org/drawingml/2006/main">
              <a:ext uri="{FF2B5EF4-FFF2-40B4-BE49-F238E27FC236}">
                <a16:creationId xmlns:a16="http://schemas.microsoft.com/office/drawing/2014/main" id="{07E2956F-D743-43B6-BC2E-D0D08D29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Spårbar rapport binder objekt till åtgärd och prov</a:t>
            </a:r>
          </a:p>
        </p:txBody>
      </p:sp>
      <p:sp>
        <p:nvSpPr>
          <p:cNvPr id="11" name="Någon annan ska kunna se vilken del som ändrades, varför och vad ">
            <a:extLst xmlns:a="http://schemas.openxmlformats.org/drawingml/2006/main">
              <a:ext uri="{FF2B5EF4-FFF2-40B4-BE49-F238E27FC236}">
                <a16:creationId xmlns:a16="http://schemas.microsoft.com/office/drawing/2014/main" id="{02FF52A2-12D5-45C7-98E9-B9EDC76D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Någon annan ska kunna se vad som ändrades, varför och vad kontrollen efteråt visade.</a:t>
            </a:r>
          </a:p>
        </p:txBody>
      </p:sp>
      <p:sp>
        <p:nvSpPr>
          <p:cNvPr id="12" name="Förutsättningar: Rapporten innehåller enbart ”bytte kabel, funger">
            <a:extLst xmlns:a="http://schemas.openxmlformats.org/drawingml/2006/main">
              <a:ext uri="{FF2B5EF4-FFF2-40B4-BE49-F238E27FC236}">
                <a16:creationId xmlns:a16="http://schemas.microsoft.com/office/drawing/2014/main" id="{BE391275-6503-4FC7-B4EF-C6199C69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Rapporten innehåller bara ”bytte kabel, fungerar”.</a:t>
            </a:r>
          </a:p>
        </p:txBody>
      </p:sp>
      <p:sp>
        <p:nvSpPr>
          <p:cNvPr id="13" name="Arbetsgång: Föreslå tre konkreta kompletteringar, exempelvis obje">
            <a:extLst xmlns:a="http://schemas.openxmlformats.org/drawingml/2006/main">
              <a:ext uri="{FF2B5EF4-FFF2-40B4-BE49-F238E27FC236}">
                <a16:creationId xmlns:a16="http://schemas.microsoft.com/office/drawing/2014/main" id="{AD0BD375-1814-4BD5-A181-D99EB736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Tänk dig att en kollega läser rapporten om ett år. Vad behöver hen veta om kabeln, om arbetet och om provet efteråt?</a:t>
            </a:r>
          </a:p>
        </p:txBody>
      </p:sp>
      <p:sp>
        <p:nvSpPr>
          <p:cNvPr id="14" name="29">
            <a:extLst xmlns:a="http://schemas.openxmlformats.org/drawingml/2006/main">
              <a:ext uri="{FF2B5EF4-FFF2-40B4-BE49-F238E27FC236}">
                <a16:creationId xmlns:a16="http://schemas.microsoft.com/office/drawing/2014/main" id="{B74DB5BB-08A5-454A-8A6D-B652A3D1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b7c153dce45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8">
            <a:extLst xmlns:a="http://schemas.openxmlformats.org/drawingml/2006/main">
              <a:ext uri="{FF2B5EF4-FFF2-40B4-BE49-F238E27FC236}">
                <a16:creationId xmlns:a16="http://schemas.microsoft.com/office/drawing/2014/main" id="{DF6FA05B-744B-462B-8272-8081AEE3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2.8</a:t>
            </a:r>
          </a:p>
        </p:txBody>
      </p:sp>
      <p:sp>
        <p:nvSpPr>
          <p:cNvPr id="3" name="Dokumentation">
            <a:extLst xmlns:a="http://schemas.openxmlformats.org/drawingml/2006/main">
              <a:ext uri="{FF2B5EF4-FFF2-40B4-BE49-F238E27FC236}">
                <a16:creationId xmlns:a16="http://schemas.microsoft.com/office/drawing/2014/main" id="{52E71F85-39B2-4CBF-8778-84D5D185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Dokumentation</a:t>
            </a:r>
          </a:p>
        </p:txBody>
      </p:sp>
      <p:sp>
        <p:nvSpPr>
          <p:cNvPr id="4" name="Rapporten säger ”bytte kabel, fungerar”. Ange tre kompletteringar">
            <a:extLst xmlns:a="http://schemas.openxmlformats.org/drawingml/2006/main">
              <a:ext uri="{FF2B5EF4-FFF2-40B4-BE49-F238E27FC236}">
                <a16:creationId xmlns:a16="http://schemas.microsoft.com/office/drawing/2014/main" id="{408A848C-2A33-4F86-B56F-AD51BC2A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Rapporten säger ”bytte kabel, fungerar”. Ange tre saker som bör läggas till så att någon annan kan följa vad som gjorts.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59769E45-2CD0-4E7B-88AA-0720874E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8">
            <a:extLst xmlns:a="http://schemas.openxmlformats.org/drawingml/2006/main">
              <a:ext uri="{FF2B5EF4-FFF2-40B4-BE49-F238E27FC236}">
                <a16:creationId xmlns:a16="http://schemas.microsoft.com/office/drawing/2014/main" id="{3A59F68C-0026-4F84-B778-D04796C3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a04d324ae4d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9">
            <a:extLst xmlns:a="http://schemas.openxmlformats.org/drawingml/2006/main">
              <a:ext uri="{FF2B5EF4-FFF2-40B4-BE49-F238E27FC236}">
                <a16:creationId xmlns:a16="http://schemas.microsoft.com/office/drawing/2014/main" id="{F9FF6284-721A-4738-A61D-F5A20646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2.9</a:t>
            </a:r>
          </a:p>
        </p:txBody>
      </p:sp>
      <p:sp>
        <p:nvSpPr>
          <p:cNvPr id="10" name="Verifierat driftfall ska anges i slutsatsen">
            <a:extLst xmlns:a="http://schemas.openxmlformats.org/drawingml/2006/main">
              <a:ext uri="{FF2B5EF4-FFF2-40B4-BE49-F238E27FC236}">
                <a16:creationId xmlns:a16="http://schemas.microsoft.com/office/drawing/2014/main" id="{6CC76634-1500-4C63-866C-7D8BABDA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Verifierat driftfall ska anges i slutsatsen</a:t>
            </a:r>
          </a:p>
        </p:txBody>
      </p:sp>
      <p:sp>
        <p:nvSpPr>
          <p:cNvPr id="11" name="Ett lyckat normaldriftsprov ger inte automatiskt kunskap om reser">
            <a:extLst xmlns:a="http://schemas.openxmlformats.org/drawingml/2006/main">
              <a:ext uri="{FF2B5EF4-FFF2-40B4-BE49-F238E27FC236}">
                <a16:creationId xmlns:a16="http://schemas.microsoft.com/office/drawing/2014/main" id="{05A4E25F-F04B-43FD-BA45-6526EABA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Att funktionen fungerar i normal drift säger inget om hur den fungerar på reservmatning.</a:t>
            </a:r>
          </a:p>
        </p:txBody>
      </p:sp>
      <p:sp>
        <p:nvSpPr>
          <p:cNvPr id="12" name="Förutsättningar: Funktionen har provats i normaldrift. Ingen rese">
            <a:extLst xmlns:a="http://schemas.openxmlformats.org/drawingml/2006/main">
              <a:ext uri="{FF2B5EF4-FFF2-40B4-BE49-F238E27FC236}">
                <a16:creationId xmlns:a16="http://schemas.microsoft.com/office/drawing/2014/main" id="{A9A460DC-19C8-45A2-946B-11784FAB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Funktionen har provats i normal drift. Ingen kontroll på reservmatning är redovisad.</a:t>
            </a:r>
          </a:p>
        </p:txBody>
      </p:sp>
      <p:sp>
        <p:nvSpPr>
          <p:cNvPr id="13" name="Arbetsgång: Formulera vad som är verifierat och vad som återstår.">
            <a:extLst xmlns:a="http://schemas.openxmlformats.org/drawingml/2006/main">
              <a:ext uri="{FF2B5EF4-FFF2-40B4-BE49-F238E27FC236}">
                <a16:creationId xmlns:a16="http://schemas.microsoft.com/office/drawing/2014/main" id="{F9C42CFB-94C9-45FE-9F82-4EF55EC3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Skriv vad som är kontrollerat och vad som återstår, utan att godkänna allt.</a:t>
            </a:r>
          </a:p>
        </p:txBody>
      </p:sp>
      <p:sp>
        <p:nvSpPr>
          <p:cNvPr id="14" name="31">
            <a:extLst xmlns:a="http://schemas.openxmlformats.org/drawingml/2006/main">
              <a:ext uri="{FF2B5EF4-FFF2-40B4-BE49-F238E27FC236}">
                <a16:creationId xmlns:a16="http://schemas.microsoft.com/office/drawing/2014/main" id="{9D6C0C77-7031-4F50-AB42-4EA78511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c110fbd2a48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9">
            <a:extLst xmlns:a="http://schemas.openxmlformats.org/drawingml/2006/main">
              <a:ext uri="{FF2B5EF4-FFF2-40B4-BE49-F238E27FC236}">
                <a16:creationId xmlns:a16="http://schemas.microsoft.com/office/drawing/2014/main" id="{C41A37B7-B866-4B45-B617-5655F1CC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2.9</a:t>
            </a:r>
          </a:p>
        </p:txBody>
      </p:sp>
      <p:sp>
        <p:nvSpPr>
          <p:cNvPr id="3" name="Förändrade driftvillkor">
            <a:extLst xmlns:a="http://schemas.openxmlformats.org/drawingml/2006/main">
              <a:ext uri="{FF2B5EF4-FFF2-40B4-BE49-F238E27FC236}">
                <a16:creationId xmlns:a16="http://schemas.microsoft.com/office/drawing/2014/main" id="{98448842-430D-495E-93E5-F92B3183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Förändrade driftvillkor</a:t>
            </a:r>
          </a:p>
        </p:txBody>
      </p:sp>
      <p:sp>
        <p:nvSpPr>
          <p:cNvPr id="4" name="En funktion är kontrollerad i normaldrift men inte på reservmatni">
            <a:extLst xmlns:a="http://schemas.openxmlformats.org/drawingml/2006/main">
              <a:ext uri="{FF2B5EF4-FFF2-40B4-BE49-F238E27FC236}">
                <a16:creationId xmlns:a16="http://schemas.microsoft.com/office/drawing/2014/main" id="{F8328CDA-6D22-476F-8B89-922B93D8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funktion är provad med vanlig matning. Den är inte provad på reservmatning. Skriv slutsatsen i en eller två meningar: vad är kontrollerat, och vad är inte kontrollerat?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02C77958-8F92-4674-807C-6C1688D5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9">
            <a:extLst xmlns:a="http://schemas.openxmlformats.org/drawingml/2006/main">
              <a:ext uri="{FF2B5EF4-FFF2-40B4-BE49-F238E27FC236}">
                <a16:creationId xmlns:a16="http://schemas.microsoft.com/office/drawing/2014/main" id="{4329A4CB-6D79-44F2-91A0-58D7417F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6060d2b414c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10">
            <a:extLst xmlns:a="http://schemas.openxmlformats.org/drawingml/2006/main">
              <a:ext uri="{FF2B5EF4-FFF2-40B4-BE49-F238E27FC236}">
                <a16:creationId xmlns:a16="http://schemas.microsoft.com/office/drawing/2014/main" id="{46E8AB7A-3403-4067-9BEF-32908C12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2.10</a:t>
            </a:r>
          </a:p>
        </p:txBody>
      </p:sp>
      <p:sp>
        <p:nvSpPr>
          <p:cNvPr id="10" name="Rföre = ΔUföre/I     Refter = ΔUefter/I">
            <a:extLst xmlns:a="http://schemas.openxmlformats.org/drawingml/2006/main">
              <a:ext uri="{FF2B5EF4-FFF2-40B4-BE49-F238E27FC236}">
                <a16:creationId xmlns:a16="http://schemas.microsoft.com/office/drawing/2014/main" id="{42C7D446-2FBB-431A-8A3B-11C46DF5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före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ΔU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före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/I;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efter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ΔU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efter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/I</a:t>
            </a:r>
          </a:p>
        </p:txBody>
      </p:sp>
      <p:sp>
        <p:nvSpPr>
          <p:cNvPr id="11" name="Resistans kan jämföras direkt när ström, mätpunkter och övriga vi">
            <a:extLst xmlns:a="http://schemas.openxmlformats.org/drawingml/2006/main">
              <a:ext uri="{FF2B5EF4-FFF2-40B4-BE49-F238E27FC236}">
                <a16:creationId xmlns:a16="http://schemas.microsoft.com/office/drawing/2014/main" id="{52C33D34-AE5B-4ADD-B84E-58C11181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Resistanserna kan jämföras direkt eftersom ström och mätpunkter är desamma.</a:t>
            </a:r>
          </a:p>
        </p:txBody>
      </p:sp>
      <p:sp>
        <p:nvSpPr>
          <p:cNvPr id="12" name="Förutsättningar: Före 6 V vid 3 A, efter 0,3 V vid 3 A. Lasten fu">
            <a:extLst xmlns:a="http://schemas.openxmlformats.org/drawingml/2006/main">
              <a:ext uri="{FF2B5EF4-FFF2-40B4-BE49-F238E27FC236}">
                <a16:creationId xmlns:a16="http://schemas.microsoft.com/office/drawing/2014/main" id="{C2AB15FC-1083-47D3-A7A3-302FB856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Före: 6 V vid 3 A. Efter: 0,3 V vid 3 A. Lasten fungerar efter åtgärden.</a:t>
            </a:r>
          </a:p>
        </p:txBody>
      </p:sp>
      <p:sp>
        <p:nvSpPr>
          <p:cNvPr id="13" name="Arbetsgång: Räkna båda resistanserna och beskriv vad de stödjer. ">
            <a:extLst xmlns:a="http://schemas.openxmlformats.org/drawingml/2006/main">
              <a:ext uri="{FF2B5EF4-FFF2-40B4-BE49-F238E27FC236}">
                <a16:creationId xmlns:a16="http://schemas.microsoft.com/office/drawing/2014/main" id="{D08E4F81-18A0-4092-BAA7-D79821A8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ut båda och beskriv vad de visar. Ange också vilken föreskriven kontroll av anslutning eller säkerhet som återstår.</a:t>
            </a:r>
          </a:p>
        </p:txBody>
      </p:sp>
      <p:sp>
        <p:nvSpPr>
          <p:cNvPr id="14" name="33">
            <a:extLst xmlns:a="http://schemas.openxmlformats.org/drawingml/2006/main">
              <a:ext uri="{FF2B5EF4-FFF2-40B4-BE49-F238E27FC236}">
                <a16:creationId xmlns:a16="http://schemas.microsoft.com/office/drawing/2014/main" id="{3503FE09-F664-4634-9998-B7565C53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7b0e6221a49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10">
            <a:extLst xmlns:a="http://schemas.openxmlformats.org/drawingml/2006/main">
              <a:ext uri="{FF2B5EF4-FFF2-40B4-BE49-F238E27FC236}">
                <a16:creationId xmlns:a16="http://schemas.microsoft.com/office/drawing/2014/main" id="{22A4C666-09F8-481A-BF48-102E8BD2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2.10</a:t>
            </a:r>
          </a:p>
        </p:txBody>
      </p:sp>
      <p:sp>
        <p:nvSpPr>
          <p:cNvPr id="3" name="Samlad slutsats">
            <a:extLst xmlns:a="http://schemas.openxmlformats.org/drawingml/2006/main">
              <a:ext uri="{FF2B5EF4-FFF2-40B4-BE49-F238E27FC236}">
                <a16:creationId xmlns:a16="http://schemas.microsoft.com/office/drawing/2014/main" id="{50830360-269C-48D3-B052-DEA150C6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Samlad slutsats</a:t>
            </a:r>
          </a:p>
        </p:txBody>
      </p:sp>
      <p:sp>
        <p:nvSpPr>
          <p:cNvPr id="4" name="Före åtgärd: 6 V kabelfall vid 3 A. Efter åtgärd: 0,3 V vid 3 A. ">
            <a:extLst xmlns:a="http://schemas.openxmlformats.org/drawingml/2006/main">
              <a:ext uri="{FF2B5EF4-FFF2-40B4-BE49-F238E27FC236}">
                <a16:creationId xmlns:a16="http://schemas.microsoft.com/office/drawing/2014/main" id="{8926B32D-F49A-4FDC-9E10-969AFCAF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Före åtgärden föll 6 V i kabeln vid 3 A. Efter åtgärden faller 0,3 V vid samma ström, och lasten fungerar. Skriv en teknisk slutsats och en kontroll som återstår.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32153D9C-EC35-4BF5-AA79-25839592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20">
            <a:extLst xmlns:a="http://schemas.openxmlformats.org/drawingml/2006/main">
              <a:ext uri="{FF2B5EF4-FFF2-40B4-BE49-F238E27FC236}">
                <a16:creationId xmlns:a16="http://schemas.microsoft.com/office/drawing/2014/main" id="{FC907A90-409D-4813-B0C9-F8FB9F9E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98febd98647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Avslut och eget arbete">
            <a:extLst xmlns:a="http://schemas.openxmlformats.org/drawingml/2006/main">
              <a:ext uri="{FF2B5EF4-FFF2-40B4-BE49-F238E27FC236}">
                <a16:creationId xmlns:a16="http://schemas.microsoft.com/office/drawing/2014/main" id="{788D0AE2-57C4-4FC6-BE3E-64A43533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Avslut och eget arbete</a:t>
            </a:r>
          </a:p>
        </p:txBody>
      </p:sp>
      <p:sp>
        <p:nvSpPr>
          <p:cNvPr id="3" name="När behöver du skriva ”underlaget räcker inte” i stället för ”god">
            <a:extLst xmlns:a="http://schemas.openxmlformats.org/drawingml/2006/main">
              <a:ext uri="{FF2B5EF4-FFF2-40B4-BE49-F238E27FC236}">
                <a16:creationId xmlns:a16="http://schemas.microsoft.com/office/drawing/2014/main" id="{CF876D3E-8CF4-4E61-8509-D90F2929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När behöver du skriva ”underlaget räcker inte” i stället för ”godkänt”?</a:t>
            </a:r>
          </a:p>
        </p:txBody>
      </p:sp>
      <p:sp>
        <p:nvSpPr>
          <p:cNvPr id="4" name="Färdigställ felsökningsrapporten och markera minst en osäkerhet. ">
            <a:extLst xmlns:a="http://schemas.openxmlformats.org/drawingml/2006/main">
              <a:ext uri="{FF2B5EF4-FFF2-40B4-BE49-F238E27FC236}">
                <a16:creationId xmlns:a16="http://schemas.microsoft.com/office/drawing/2014/main" id="{FA880DF5-F51C-440E-AC3E-C01E94C1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76200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Färdigställ felsökningsrapporten och markera minst en osäkerhet. Förbered fredagens blandade repetitionsuppgifter.</a:t>
            </a:r>
          </a:p>
        </p:txBody>
      </p:sp>
      <p:sp>
        <p:nvSpPr>
          <p:cNvPr id="5" name="21">
            <a:extLst xmlns:a="http://schemas.openxmlformats.org/drawingml/2006/main">
              <a:ext uri="{FF2B5EF4-FFF2-40B4-BE49-F238E27FC236}">
                <a16:creationId xmlns:a16="http://schemas.microsoft.com/office/drawing/2014/main" id="{0276EED5-DD48-48A3-A574-FD9EAC85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2b1b542df45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Källor och fortsatt läsning">
            <a:extLst xmlns:a="http://schemas.openxmlformats.org/drawingml/2006/main">
              <a:ext uri="{FF2B5EF4-FFF2-40B4-BE49-F238E27FC236}">
                <a16:creationId xmlns:a16="http://schemas.microsoft.com/office/drawing/2014/main" id="{42FE66BA-D163-4907-81EF-ED25D0A8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Källor och fortsatt läsning</a:t>
            </a:r>
          </a:p>
        </p:txBody>
      </p:sp>
      <p:sp>
        <p:nvSpPr>
          <p:cNvPr id="3" name="Studieplanen YH03151, 18 september 2026&#10;Sjöskolans kursmaterial o">
            <a:extLst xmlns:a="http://schemas.openxmlformats.org/drawingml/2006/main">
              <a:ext uri="{FF2B5EF4-FFF2-40B4-BE49-F238E27FC236}">
                <a16:creationId xmlns:a16="http://schemas.microsoft.com/office/drawing/2014/main" id="{28276E25-FEF3-42F5-AC2F-9711A5C4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Studieplanen YH03151, 18 september 2026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Sjöskolans kursmaterial och originalmall</a:t>
            </a:r>
          </a:p>
        </p:txBody>
      </p:sp>
      <p:sp>
        <p:nvSpPr>
          <p:cNvPr id="4" name="Fluke: multimeterns funktioner och mätning">
            <a:extLst xmlns:a="http://schemas.openxmlformats.org/drawingml/2006/main">
              <a:ext uri="{FF2B5EF4-FFF2-40B4-BE49-F238E27FC236}">
                <a16:creationId xmlns:a16="http://schemas.microsoft.com/office/drawing/2014/main" id="{8B48BDD0-C80F-445C-A051-3CD7E2F5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825998369b8b4ebe"/>
              </a:rPr>
              <a:t>Fluke: multimeterns funktioner och mätning</a:t>
            </a:r>
          </a:p>
        </p:txBody>
      </p:sp>
      <p:sp>
        <p:nvSpPr>
          <p:cNvPr id="5" name="SEK: SS-EN 50110-1, utgåva 4:2024">
            <a:extLst xmlns:a="http://schemas.openxmlformats.org/drawingml/2006/main">
              <a:ext uri="{FF2B5EF4-FFF2-40B4-BE49-F238E27FC236}">
                <a16:creationId xmlns:a16="http://schemas.microsoft.com/office/drawing/2014/main" id="{BB37CB70-3F11-4B9D-9802-775352F7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7bef77b4ce604c7c"/>
              </a:rPr>
              <a:t>SEK: SS-EN 50110-1, utgåva 4:2024</a:t>
            </a:r>
          </a:p>
        </p:txBody>
      </p:sp>
      <p:sp>
        <p:nvSpPr>
          <p:cNvPr id="6" name="OpenStax: Kirchhoffs lagar">
            <a:extLst xmlns:a="http://schemas.openxmlformats.org/drawingml/2006/main">
              <a:ext uri="{FF2B5EF4-FFF2-40B4-BE49-F238E27FC236}">
                <a16:creationId xmlns:a16="http://schemas.microsoft.com/office/drawing/2014/main" id="{BEAB2DA9-CDA5-4073-978F-1418EA59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8b6bd038e754df0"/>
              </a:rPr>
              <a:t>OpenStax: Kirchhoffs lagar</a:t>
            </a:r>
          </a:p>
        </p:txBody>
      </p:sp>
      <p:sp>
        <p:nvSpPr>
          <p:cNvPr id="8" name="22">
            <a:extLst xmlns:a="http://schemas.openxmlformats.org/drawingml/2006/main">
              <a:ext uri="{FF2B5EF4-FFF2-40B4-BE49-F238E27FC236}">
                <a16:creationId xmlns:a16="http://schemas.microsoft.com/office/drawing/2014/main" id="{6FBE3192-5598-4BF8-B7F6-A286DCAB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36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2026-09-20T20:10:37.1950000Z</dcterms:created>
  <dcterms:modified xsi:type="dcterms:W3CDTF">2026-09-20T20:10:37.1950000Z</dcterms:modified>
</coreProperties>
</file>