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Type="http://schemas.openxmlformats.org/package/2006/relationships/metadata/core-properties" Target="/docProps/core.xml" Id="Re100e12f4b89435b"/><Relationship Type="http://schemas.openxmlformats.org/officeDocument/2006/relationships/extended-properties" Target="/docProps/app.xml" Id="Ra4002a91ff9d4261"/><Relationship Type="http://schemas.openxmlformats.org/officeDocument/2006/relationships/officeDocument" Target="/ppt/presentation.xml" Id="R59db09c03a354be0"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d8a36d399e428e"/>
  </p:sldMasterIdLst>
  <p:sldIdLst>
    <p:sldId xmlns:r="http://schemas.openxmlformats.org/officeDocument/2006/relationships" id="256" r:id="R7c4a46e258a34043"/>
    <p:sldId xmlns:r="http://schemas.openxmlformats.org/officeDocument/2006/relationships" id="257" r:id="Rd406fb27878f4b6e"/>
    <p:sldId xmlns:r="http://schemas.openxmlformats.org/officeDocument/2006/relationships" id="258" r:id="Ra00ca4ab780e4396"/>
    <p:sldId xmlns:r="http://schemas.openxmlformats.org/officeDocument/2006/relationships" id="259" r:id="R0da091d3ee8f45d2"/>
    <p:sldId xmlns:r="http://schemas.openxmlformats.org/officeDocument/2006/relationships" id="260" r:id="R6f062d5edcc347e5"/>
    <p:sldId xmlns:r="http://schemas.openxmlformats.org/officeDocument/2006/relationships" id="261" r:id="Re54104f5492742f1"/>
    <p:sldId xmlns:r="http://schemas.openxmlformats.org/officeDocument/2006/relationships" id="262" r:id="R19b1f8c7221f47ac"/>
    <p:sldId xmlns:r="http://schemas.openxmlformats.org/officeDocument/2006/relationships" id="263" r:id="Rec66e4ec9d10468d"/>
    <p:sldId xmlns:r="http://schemas.openxmlformats.org/officeDocument/2006/relationships" id="264" r:id="Rd465d1cdd0a445f9"/>
    <p:sldId xmlns:r="http://schemas.openxmlformats.org/officeDocument/2006/relationships" id="265" r:id="R0586742a10f74d22"/>
    <p:sldId xmlns:r="http://schemas.openxmlformats.org/officeDocument/2006/relationships" id="266" r:id="R2b1635443a0f421a"/>
    <p:sldId xmlns:r="http://schemas.openxmlformats.org/officeDocument/2006/relationships" id="267" r:id="R893aa1deb3ba44b1"/>
    <p:sldId xmlns:r="http://schemas.openxmlformats.org/officeDocument/2006/relationships" id="268" r:id="Rba0c1aef708d4289"/>
    <p:sldId xmlns:r="http://schemas.openxmlformats.org/officeDocument/2006/relationships" id="269" r:id="Rf4a3383a144d4fad"/>
    <p:sldId xmlns:r="http://schemas.openxmlformats.org/officeDocument/2006/relationships" id="270" r:id="Rf65e76e43f0e4f9b"/>
    <p:sldId xmlns:r="http://schemas.openxmlformats.org/officeDocument/2006/relationships" id="271" r:id="R6591d53bf01d4f2e"/>
    <p:sldId xmlns:r="http://schemas.openxmlformats.org/officeDocument/2006/relationships" id="272" r:id="R999f0675478f4568"/>
    <p:sldId xmlns:r="http://schemas.openxmlformats.org/officeDocument/2006/relationships" id="273" r:id="R3637bdec1a7c405c"/>
    <p:sldId xmlns:r="http://schemas.openxmlformats.org/officeDocument/2006/relationships" id="274" r:id="R235b2c499ee3441b"/>
    <p:sldId xmlns:r="http://schemas.openxmlformats.org/officeDocument/2006/relationships" id="275" r:id="R0dd3eceba8c24895"/>
    <p:sldId xmlns:r="http://schemas.openxmlformats.org/officeDocument/2006/relationships" id="276" r:id="Ra127c154754a4809"/>
    <p:sldId xmlns:r="http://schemas.openxmlformats.org/officeDocument/2006/relationships" id="277" r:id="Raf0ba97e7bcd42c1"/>
    <p:sldId xmlns:r="http://schemas.openxmlformats.org/officeDocument/2006/relationships" id="278" r:id="Rcbb9e16319ad4d81"/>
    <p:sldId xmlns:r="http://schemas.openxmlformats.org/officeDocument/2006/relationships" id="279" r:id="Rf99b00e113bf49a8"/>
    <p:sldId xmlns:r="http://schemas.openxmlformats.org/officeDocument/2006/relationships" id="280" r:id="R982c5d2f17c54bd3"/>
    <p:sldId xmlns:r="http://schemas.openxmlformats.org/officeDocument/2006/relationships" id="281" r:id="R95ff395caa42430a"/>
    <p:sldId xmlns:r="http://schemas.openxmlformats.org/officeDocument/2006/relationships" id="282" r:id="R1dda80d094ed4c3b"/>
    <p:sldId xmlns:r="http://schemas.openxmlformats.org/officeDocument/2006/relationships" id="283" r:id="R9045958872884cdb"/>
    <p:sldId xmlns:r="http://schemas.openxmlformats.org/officeDocument/2006/relationships" id="284" r:id="R5bb1e23e3eb844f1"/>
    <p:sldId xmlns:r="http://schemas.openxmlformats.org/officeDocument/2006/relationships" id="285" r:id="R56a200abb369494d"/>
    <p:sldId xmlns:r="http://schemas.openxmlformats.org/officeDocument/2006/relationships" id="286" r:id="R042c38c02f4d4c71"/>
    <p:sldId xmlns:r="http://schemas.openxmlformats.org/officeDocument/2006/relationships" id="287" r:id="R0e58fb8ceff045f3"/>
    <p:sldId xmlns:r="http://schemas.openxmlformats.org/officeDocument/2006/relationships" id="288" r:id="R0be29781dfae4d80"/>
    <p:sldId xmlns:r="http://schemas.openxmlformats.org/officeDocument/2006/relationships" id="289" r:id="R9a6d010bf7f7427c"/>
    <p:sldId xmlns:r="http://schemas.openxmlformats.org/officeDocument/2006/relationships" id="290" r:id="Rf8eee8ebfee6428f"/>
    <p:sldId xmlns:r="http://schemas.openxmlformats.org/officeDocument/2006/relationships" id="291" r:id="R18f453ae4f20429a"/>
    <p:sldId xmlns:r="http://schemas.openxmlformats.org/officeDocument/2006/relationships" id="292" r:id="R7a03890f7f834ea8"/>
    <p:sldId xmlns:r="http://schemas.openxmlformats.org/officeDocument/2006/relationships" id="293" r:id="R23f8fd781c454d85"/>
    <p:sldId xmlns:r="http://schemas.openxmlformats.org/officeDocument/2006/relationships" id="294" r:id="R66e1251f6a2d456f"/>
    <p:sldId xmlns:r="http://schemas.openxmlformats.org/officeDocument/2006/relationships" id="295" r:id="R99a9c39fe1dc487c"/>
    <p:sldId xmlns:r="http://schemas.openxmlformats.org/officeDocument/2006/relationships" id="296" r:id="Raebe7c9a5adb4aa0"/>
    <p:sldId xmlns:r="http://schemas.openxmlformats.org/officeDocument/2006/relationships" id="297" r:id="R700b617c80954bd3"/>
    <p:sldId xmlns:r="http://schemas.openxmlformats.org/officeDocument/2006/relationships" id="298" r:id="R2002b6a7b9d7473e"/>
    <p:sldId xmlns:r="http://schemas.openxmlformats.org/officeDocument/2006/relationships" id="299" r:id="Re23d77529ab54b4b"/>
    <p:sldId xmlns:r="http://schemas.openxmlformats.org/officeDocument/2006/relationships" id="300" r:id="Rca3ed7b509424291"/>
    <p:sldId xmlns:r="http://schemas.openxmlformats.org/officeDocument/2006/relationships" id="301" r:id="R15c3419779a0424d"/>
    <p:sldId xmlns:r="http://schemas.openxmlformats.org/officeDocument/2006/relationships" id="302" r:id="R1916b61c25134d81"/>
    <p:sldId xmlns:r="http://schemas.openxmlformats.org/officeDocument/2006/relationships" id="303" r:id="R338a79b714ab4877"/>
    <p:sldId xmlns:r="http://schemas.openxmlformats.org/officeDocument/2006/relationships" id="304" r:id="Rcbee8021c52c4e7f"/>
    <p:sldId xmlns:r="http://schemas.openxmlformats.org/officeDocument/2006/relationships" id="305" r:id="R706a6300a3e24ffa"/>
    <p:sldId xmlns:r="http://schemas.openxmlformats.org/officeDocument/2006/relationships" id="306" r:id="R568db496de224ab5"/>
    <p:sldId xmlns:r="http://schemas.openxmlformats.org/officeDocument/2006/relationships" id="307" r:id="R7c0d48b4d5a44610"/>
    <p:sldId xmlns:r="http://schemas.openxmlformats.org/officeDocument/2006/relationships" id="308" r:id="R69da85dc69ee4f61"/>
    <p:sldId xmlns:r="http://schemas.openxmlformats.org/officeDocument/2006/relationships" id="309" r:id="R146eb276b303456c"/>
    <p:sldId xmlns:r="http://schemas.openxmlformats.org/officeDocument/2006/relationships" id="310" r:id="R01f06a51d4414e03"/>
    <p:sldId xmlns:r="http://schemas.openxmlformats.org/officeDocument/2006/relationships" id="311" r:id="Rcad3517f77b2451b"/>
    <p:sldId xmlns:r="http://schemas.openxmlformats.org/officeDocument/2006/relationships" id="312" r:id="Re9401551376942d6"/>
    <p:sldId xmlns:r="http://schemas.openxmlformats.org/officeDocument/2006/relationships" id="313" r:id="R514912837a1d428d"/>
    <p:sldId xmlns:r="http://schemas.openxmlformats.org/officeDocument/2006/relationships" id="314" r:id="Rbc46b25bb401475f"/>
    <p:sldId xmlns:r="http://schemas.openxmlformats.org/officeDocument/2006/relationships" id="315" r:id="R37d3ca48de954bcb"/>
    <p:sldId xmlns:r="http://schemas.openxmlformats.org/officeDocument/2006/relationships" id="316" r:id="R5b469118d1724b70"/>
    <p:sldId xmlns:r="http://schemas.openxmlformats.org/officeDocument/2006/relationships" id="317" r:id="Rbdb0d39810f24fc5"/>
    <p:sldId xmlns:r="http://schemas.openxmlformats.org/officeDocument/2006/relationships" id="318" r:id="R35a2389e117b4b9e"/>
    <p:sldId xmlns:r="http://schemas.openxmlformats.org/officeDocument/2006/relationships" id="319" r:id="Ra4a50a10a5614586"/>
    <p:sldId xmlns:r="http://schemas.openxmlformats.org/officeDocument/2006/relationships" id="320" r:id="Rdf7d596ab4b848f1"/>
    <p:sldId xmlns:r="http://schemas.openxmlformats.org/officeDocument/2006/relationships" id="321" r:id="Ref1f7f4b026d4eb6"/>
    <p:sldId xmlns:r="http://schemas.openxmlformats.org/officeDocument/2006/relationships" id="322" r:id="Rd50d2febdfe14cec"/>
    <p:sldId xmlns:r="http://schemas.openxmlformats.org/officeDocument/2006/relationships" id="323" r:id="Rea71a738248f4f8f"/>
    <p:sldId xmlns:r="http://schemas.openxmlformats.org/officeDocument/2006/relationships" id="324" r:id="R565114e695074e4d"/>
    <p:sldId xmlns:r="http://schemas.openxmlformats.org/officeDocument/2006/relationships" id="325" r:id="Rfeb3f6d20f68489a"/>
    <p:sldId xmlns:r="http://schemas.openxmlformats.org/officeDocument/2006/relationships" id="326" r:id="Rfa5b041663a1475e"/>
    <p:sldId xmlns:r="http://schemas.openxmlformats.org/officeDocument/2006/relationships" id="327" r:id="R2ad7f73d146d41fb"/>
    <p:sldId xmlns:r="http://schemas.openxmlformats.org/officeDocument/2006/relationships" id="328" r:id="Rf64e24b6d310400f"/>
    <p:sldId xmlns:r="http://schemas.openxmlformats.org/officeDocument/2006/relationships" id="329" r:id="Rccf43aef391c427f"/>
    <p:sldId xmlns:r="http://schemas.openxmlformats.org/officeDocument/2006/relationships" id="330" r:id="R494923c373ed438a"/>
    <p:sldId xmlns:r="http://schemas.openxmlformats.org/officeDocument/2006/relationships" id="331" r:id="R9f5c0ade8d624a27"/>
    <p:sldId xmlns:r="http://schemas.openxmlformats.org/officeDocument/2006/relationships" id="332" r:id="R9ab4c15f91904352"/>
    <p:sldId xmlns:r="http://schemas.openxmlformats.org/officeDocument/2006/relationships" id="333" r:id="R1138136c62154bc8"/>
    <p:sldId xmlns:r="http://schemas.openxmlformats.org/officeDocument/2006/relationships" id="334" r:id="R726351e2219a4d2d"/>
    <p:sldId xmlns:r="http://schemas.openxmlformats.org/officeDocument/2006/relationships" id="335" r:id="R8bd3c07e618a408e"/>
    <p:sldId xmlns:r="http://schemas.openxmlformats.org/officeDocument/2006/relationships" id="336" r:id="Rbe780b944dd54dd0"/>
    <p:sldId xmlns:r="http://schemas.openxmlformats.org/officeDocument/2006/relationships" id="337" r:id="R9c3ac5266f9c4082"/>
    <p:sldId xmlns:r="http://schemas.openxmlformats.org/officeDocument/2006/relationships" id="338" r:id="R3267be7948b64650"/>
    <p:sldId xmlns:r="http://schemas.openxmlformats.org/officeDocument/2006/relationships" id="339" r:id="Ra5a2529c37404207"/>
    <p:sldId xmlns:r="http://schemas.openxmlformats.org/officeDocument/2006/relationships" id="340" r:id="R8e8fe213f0974f0e"/>
    <p:sldId xmlns:r="http://schemas.openxmlformats.org/officeDocument/2006/relationships" id="341" r:id="R5ac8001b8e314cff"/>
    <p:sldId xmlns:r="http://schemas.openxmlformats.org/officeDocument/2006/relationships" id="342" r:id="R7099536771a347cd"/>
    <p:sldId xmlns:r="http://schemas.openxmlformats.org/officeDocument/2006/relationships" id="343" r:id="R35d7f51423844f01"/>
    <p:sldId xmlns:r="http://schemas.openxmlformats.org/officeDocument/2006/relationships" id="344" r:id="Rd42591fc3f104f59"/>
    <p:sldId xmlns:r="http://schemas.openxmlformats.org/officeDocument/2006/relationships" id="345" r:id="R814cbcdaf13e410f"/>
    <p:sldId xmlns:r="http://schemas.openxmlformats.org/officeDocument/2006/relationships" id="346" r:id="R748c62fe0315498c"/>
    <p:sldId xmlns:r="http://schemas.openxmlformats.org/officeDocument/2006/relationships" id="347" r:id="R4efaebe3a388465b"/>
    <p:sldId xmlns:r="http://schemas.openxmlformats.org/officeDocument/2006/relationships" id="348" r:id="R1a5c9a3baffd4075"/>
    <p:sldId xmlns:r="http://schemas.openxmlformats.org/officeDocument/2006/relationships" id="349" r:id="R687d74d41f484f1c"/>
    <p:sldId xmlns:r="http://schemas.openxmlformats.org/officeDocument/2006/relationships" id="350" r:id="Rd4c4b38e19474a2e"/>
    <p:sldId xmlns:r="http://schemas.openxmlformats.org/officeDocument/2006/relationships" id="351" r:id="R15d4c6d14ad34a73"/>
    <p:sldId xmlns:r="http://schemas.openxmlformats.org/officeDocument/2006/relationships" id="352" r:id="R3fa38cae116a430c"/>
    <p:sldId xmlns:r="http://schemas.openxmlformats.org/officeDocument/2006/relationships" id="353" r:id="R334ffcb9fdb547ae"/>
    <p:sldId xmlns:r="http://schemas.openxmlformats.org/officeDocument/2006/relationships" id="354" r:id="Rf7f4317319474508"/>
    <p:sldId xmlns:r="http://schemas.openxmlformats.org/officeDocument/2006/relationships" id="355" r:id="Rb8e974bd62644517"/>
    <p:sldId xmlns:r="http://schemas.openxmlformats.org/officeDocument/2006/relationships" id="356" r:id="Rea75ed2261bc492d"/>
    <p:sldId xmlns:r="http://schemas.openxmlformats.org/officeDocument/2006/relationships" id="357" r:id="R0e821d4419b84805"/>
    <p:sldId xmlns:r="http://schemas.openxmlformats.org/officeDocument/2006/relationships" id="358" r:id="R01d4373bca41474e"/>
    <p:sldId xmlns:r="http://schemas.openxmlformats.org/officeDocument/2006/relationships" id="359" r:id="R7fc6fbba280d41e8"/>
    <p:sldId xmlns:r="http://schemas.openxmlformats.org/officeDocument/2006/relationships" id="360" r:id="R9fbf532f4cce4573"/>
    <p:sldId xmlns:r="http://schemas.openxmlformats.org/officeDocument/2006/relationships" id="361" r:id="Rc2a92ec5b40e44c6"/>
  </p:sldIdLst>
  <p:sldSz cx="9144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<?xml version='1.0' encoding='UTF-8' standalone='yes'?>
<Relationships xmlns="http://schemas.openxmlformats.org/package/2006/relationships"><Relationship Type="http://schemas.openxmlformats.org/officeDocument/2006/relationships/theme" Target="/ppt/theme/theme1.xml" Id="Rf16b9b3390d04c5b"/><Relationship Type="http://schemas.openxmlformats.org/officeDocument/2006/relationships/slideMaster" Target="/ppt/slideMasters/slideMaster1.xml" Id="Rbed8a36d399e428e"/><Relationship Type="http://schemas.openxmlformats.org/officeDocument/2006/relationships/presProps" Target="/ppt/presProps.xml" Id="R2bb660a1a9bd4515"/><Relationship Type="http://schemas.openxmlformats.org/officeDocument/2006/relationships/tableStyles" Target="/ppt/tableStyles.xml" Id="R788bdc942e934bb3"/><Relationship Type="http://schemas.openxmlformats.org/officeDocument/2006/relationships/slide" Target="/ppt/slides/slide1.xml" Id="R7c4a46e258a34043"/><Relationship Type="http://schemas.openxmlformats.org/officeDocument/2006/relationships/slide" Target="/ppt/slides/slide2.xml" Id="Rd406fb27878f4b6e"/><Relationship Type="http://schemas.openxmlformats.org/officeDocument/2006/relationships/slide" Target="/ppt/slides/slide3.xml" Id="Ra00ca4ab780e4396"/><Relationship Type="http://schemas.openxmlformats.org/officeDocument/2006/relationships/slide" Target="/ppt/slides/slide4.xml" Id="R0da091d3ee8f45d2"/><Relationship Type="http://schemas.openxmlformats.org/officeDocument/2006/relationships/slide" Target="/ppt/slides/slide5.xml" Id="R6f062d5edcc347e5"/><Relationship Type="http://schemas.openxmlformats.org/officeDocument/2006/relationships/slide" Target="/ppt/slides/slide6.xml" Id="Re54104f5492742f1"/><Relationship Type="http://schemas.openxmlformats.org/officeDocument/2006/relationships/slide" Target="/ppt/slides/slide7.xml" Id="R19b1f8c7221f47ac"/><Relationship Type="http://schemas.openxmlformats.org/officeDocument/2006/relationships/slide" Target="/ppt/slides/slide8.xml" Id="Rec66e4ec9d10468d"/><Relationship Type="http://schemas.openxmlformats.org/officeDocument/2006/relationships/slide" Target="/ppt/slides/slide9.xml" Id="Rd465d1cdd0a445f9"/><Relationship Type="http://schemas.openxmlformats.org/officeDocument/2006/relationships/slide" Target="/ppt/slides/slide10.xml" Id="R0586742a10f74d22"/><Relationship Type="http://schemas.openxmlformats.org/officeDocument/2006/relationships/slide" Target="/ppt/slides/slide11.xml" Id="R2b1635443a0f421a"/><Relationship Type="http://schemas.openxmlformats.org/officeDocument/2006/relationships/slide" Target="/ppt/slides/slide12.xml" Id="R893aa1deb3ba44b1"/><Relationship Type="http://schemas.openxmlformats.org/officeDocument/2006/relationships/slide" Target="/ppt/slides/slide13.xml" Id="Rba0c1aef708d4289"/><Relationship Type="http://schemas.openxmlformats.org/officeDocument/2006/relationships/slide" Target="/ppt/slides/slide14.xml" Id="Rf4a3383a144d4fad"/><Relationship Type="http://schemas.openxmlformats.org/officeDocument/2006/relationships/slide" Target="/ppt/slides/slide15.xml" Id="Rf65e76e43f0e4f9b"/><Relationship Type="http://schemas.openxmlformats.org/officeDocument/2006/relationships/slide" Target="/ppt/slides/slide16.xml" Id="R6591d53bf01d4f2e"/><Relationship Type="http://schemas.openxmlformats.org/officeDocument/2006/relationships/slide" Target="/ppt/slides/slide17.xml" Id="R999f0675478f4568"/><Relationship Type="http://schemas.openxmlformats.org/officeDocument/2006/relationships/slide" Target="/ppt/slides/slide18.xml" Id="R3637bdec1a7c405c"/><Relationship Type="http://schemas.openxmlformats.org/officeDocument/2006/relationships/slide" Target="/ppt/slides/slide19.xml" Id="R235b2c499ee3441b"/><Relationship Type="http://schemas.openxmlformats.org/officeDocument/2006/relationships/slide" Target="/ppt/slides/slide20.xml" Id="R0dd3eceba8c24895"/><Relationship Type="http://schemas.openxmlformats.org/officeDocument/2006/relationships/slide" Target="/ppt/slides/slide21.xml" Id="Ra127c154754a4809"/><Relationship Type="http://schemas.openxmlformats.org/officeDocument/2006/relationships/slide" Target="/ppt/slides/slide22.xml" Id="Raf0ba97e7bcd42c1"/><Relationship Type="http://schemas.openxmlformats.org/officeDocument/2006/relationships/slide" Target="/ppt/slides/slide23.xml" Id="Rcbb9e16319ad4d81"/><Relationship Type="http://schemas.openxmlformats.org/officeDocument/2006/relationships/slide" Target="/ppt/slides/slide24.xml" Id="Rf99b00e113bf49a8"/><Relationship Type="http://schemas.openxmlformats.org/officeDocument/2006/relationships/slide" Target="/ppt/slides/slide25.xml" Id="R982c5d2f17c54bd3"/><Relationship Type="http://schemas.openxmlformats.org/officeDocument/2006/relationships/slide" Target="/ppt/slides/slide26.xml" Id="R95ff395caa42430a"/><Relationship Type="http://schemas.openxmlformats.org/officeDocument/2006/relationships/slide" Target="/ppt/slides/slide27.xml" Id="R1dda80d094ed4c3b"/><Relationship Type="http://schemas.openxmlformats.org/officeDocument/2006/relationships/slide" Target="/ppt/slides/slide28.xml" Id="R9045958872884cdb"/><Relationship Type="http://schemas.openxmlformats.org/officeDocument/2006/relationships/slide" Target="/ppt/slides/slide29.xml" Id="R5bb1e23e3eb844f1"/><Relationship Type="http://schemas.openxmlformats.org/officeDocument/2006/relationships/slide" Target="/ppt/slides/slide30.xml" Id="R56a200abb369494d"/><Relationship Type="http://schemas.openxmlformats.org/officeDocument/2006/relationships/slide" Target="/ppt/slides/slide31.xml" Id="R042c38c02f4d4c71"/><Relationship Type="http://schemas.openxmlformats.org/officeDocument/2006/relationships/slide" Target="/ppt/slides/slide32.xml" Id="R0e58fb8ceff045f3"/><Relationship Type="http://schemas.openxmlformats.org/officeDocument/2006/relationships/slide" Target="/ppt/slides/slide33.xml" Id="R0be29781dfae4d80"/><Relationship Type="http://schemas.openxmlformats.org/officeDocument/2006/relationships/slide" Target="/ppt/slides/slide34.xml" Id="R9a6d010bf7f7427c"/><Relationship Type="http://schemas.openxmlformats.org/officeDocument/2006/relationships/slide" Target="/ppt/slides/slide35.xml" Id="Rf8eee8ebfee6428f"/><Relationship Type="http://schemas.openxmlformats.org/officeDocument/2006/relationships/slide" Target="/ppt/slides/slide36.xml" Id="R18f453ae4f20429a"/><Relationship Type="http://schemas.openxmlformats.org/officeDocument/2006/relationships/slide" Target="/ppt/slides/slide37.xml" Id="R7a03890f7f834ea8"/><Relationship Type="http://schemas.openxmlformats.org/officeDocument/2006/relationships/slide" Target="/ppt/slides/slide38.xml" Id="R23f8fd781c454d85"/><Relationship Type="http://schemas.openxmlformats.org/officeDocument/2006/relationships/slide" Target="/ppt/slides/slide39.xml" Id="R66e1251f6a2d456f"/><Relationship Type="http://schemas.openxmlformats.org/officeDocument/2006/relationships/slide" Target="/ppt/slides/slide40.xml" Id="R99a9c39fe1dc487c"/><Relationship Type="http://schemas.openxmlformats.org/officeDocument/2006/relationships/slide" Target="/ppt/slides/slide41.xml" Id="Raebe7c9a5adb4aa0"/><Relationship Type="http://schemas.openxmlformats.org/officeDocument/2006/relationships/slide" Target="/ppt/slides/slide42.xml" Id="R700b617c80954bd3"/><Relationship Type="http://schemas.openxmlformats.org/officeDocument/2006/relationships/slide" Target="/ppt/slides/slide43.xml" Id="R2002b6a7b9d7473e"/><Relationship Type="http://schemas.openxmlformats.org/officeDocument/2006/relationships/slide" Target="/ppt/slides/slide44.xml" Id="Re23d77529ab54b4b"/><Relationship Type="http://schemas.openxmlformats.org/officeDocument/2006/relationships/slide" Target="/ppt/slides/slide45.xml" Id="Rca3ed7b509424291"/><Relationship Type="http://schemas.openxmlformats.org/officeDocument/2006/relationships/slide" Target="/ppt/slides/slide46.xml" Id="R15c3419779a0424d"/><Relationship Type="http://schemas.openxmlformats.org/officeDocument/2006/relationships/slide" Target="/ppt/slides/slide47.xml" Id="R1916b61c25134d81"/><Relationship Type="http://schemas.openxmlformats.org/officeDocument/2006/relationships/slide" Target="/ppt/slides/slide48.xml" Id="R338a79b714ab4877"/><Relationship Type="http://schemas.openxmlformats.org/officeDocument/2006/relationships/slide" Target="/ppt/slides/slide49.xml" Id="Rcbee8021c52c4e7f"/><Relationship Type="http://schemas.openxmlformats.org/officeDocument/2006/relationships/slide" Target="/ppt/slides/slide50.xml" Id="R706a6300a3e24ffa"/><Relationship Type="http://schemas.openxmlformats.org/officeDocument/2006/relationships/slide" Target="/ppt/slides/slide51.xml" Id="R568db496de224ab5"/><Relationship Type="http://schemas.openxmlformats.org/officeDocument/2006/relationships/slide" Target="/ppt/slides/slide52.xml" Id="R7c0d48b4d5a44610"/><Relationship Type="http://schemas.openxmlformats.org/officeDocument/2006/relationships/slide" Target="/ppt/slides/slide53.xml" Id="R69da85dc69ee4f61"/><Relationship Type="http://schemas.openxmlformats.org/officeDocument/2006/relationships/slide" Target="/ppt/slides/slide54.xml" Id="R146eb276b303456c"/><Relationship Type="http://schemas.openxmlformats.org/officeDocument/2006/relationships/slide" Target="/ppt/slides/slide55.xml" Id="R01f06a51d4414e03"/><Relationship Type="http://schemas.openxmlformats.org/officeDocument/2006/relationships/slide" Target="/ppt/slides/slide56.xml" Id="Rcad3517f77b2451b"/><Relationship Type="http://schemas.openxmlformats.org/officeDocument/2006/relationships/slide" Target="/ppt/slides/slide57.xml" Id="Re9401551376942d6"/><Relationship Type="http://schemas.openxmlformats.org/officeDocument/2006/relationships/slide" Target="/ppt/slides/slide58.xml" Id="R514912837a1d428d"/><Relationship Type="http://schemas.openxmlformats.org/officeDocument/2006/relationships/slide" Target="/ppt/slides/slide59.xml" Id="Rbc46b25bb401475f"/><Relationship Type="http://schemas.openxmlformats.org/officeDocument/2006/relationships/slide" Target="/ppt/slides/slide60.xml" Id="R37d3ca48de954bcb"/><Relationship Type="http://schemas.openxmlformats.org/officeDocument/2006/relationships/slide" Target="/ppt/slides/slide61.xml" Id="R5b469118d1724b70"/><Relationship Type="http://schemas.openxmlformats.org/officeDocument/2006/relationships/slide" Target="/ppt/slides/slide62.xml" Id="Rbdb0d39810f24fc5"/><Relationship Type="http://schemas.openxmlformats.org/officeDocument/2006/relationships/slide" Target="/ppt/slides/slide63.xml" Id="R35a2389e117b4b9e"/><Relationship Type="http://schemas.openxmlformats.org/officeDocument/2006/relationships/slide" Target="/ppt/slides/slide64.xml" Id="Ra4a50a10a5614586"/><Relationship Type="http://schemas.openxmlformats.org/officeDocument/2006/relationships/slide" Target="/ppt/slides/slide65.xml" Id="Rdf7d596ab4b848f1"/><Relationship Type="http://schemas.openxmlformats.org/officeDocument/2006/relationships/slide" Target="/ppt/slides/slide66.xml" Id="Ref1f7f4b026d4eb6"/><Relationship Type="http://schemas.openxmlformats.org/officeDocument/2006/relationships/slide" Target="/ppt/slides/slide67.xml" Id="Rd50d2febdfe14cec"/><Relationship Type="http://schemas.openxmlformats.org/officeDocument/2006/relationships/slide" Target="/ppt/slides/slide68.xml" Id="Rea71a738248f4f8f"/><Relationship Type="http://schemas.openxmlformats.org/officeDocument/2006/relationships/slide" Target="/ppt/slides/slide69.xml" Id="R565114e695074e4d"/><Relationship Type="http://schemas.openxmlformats.org/officeDocument/2006/relationships/slide" Target="/ppt/slides/slide70.xml" Id="Rfeb3f6d20f68489a"/><Relationship Type="http://schemas.openxmlformats.org/officeDocument/2006/relationships/slide" Target="/ppt/slides/slide71.xml" Id="Rfa5b041663a1475e"/><Relationship Type="http://schemas.openxmlformats.org/officeDocument/2006/relationships/slide" Target="/ppt/slides/slide72.xml" Id="R2ad7f73d146d41fb"/><Relationship Type="http://schemas.openxmlformats.org/officeDocument/2006/relationships/slide" Target="/ppt/slides/slide73.xml" Id="Rf64e24b6d310400f"/><Relationship Type="http://schemas.openxmlformats.org/officeDocument/2006/relationships/slide" Target="/ppt/slides/slide74.xml" Id="Rccf43aef391c427f"/><Relationship Type="http://schemas.openxmlformats.org/officeDocument/2006/relationships/slide" Target="/ppt/slides/slide75.xml" Id="R494923c373ed438a"/><Relationship Type="http://schemas.openxmlformats.org/officeDocument/2006/relationships/slide" Target="/ppt/slides/slide76.xml" Id="R9f5c0ade8d624a27"/><Relationship Type="http://schemas.openxmlformats.org/officeDocument/2006/relationships/slide" Target="/ppt/slides/slide77.xml" Id="R9ab4c15f91904352"/><Relationship Type="http://schemas.openxmlformats.org/officeDocument/2006/relationships/slide" Target="/ppt/slides/slide78.xml" Id="R1138136c62154bc8"/><Relationship Type="http://schemas.openxmlformats.org/officeDocument/2006/relationships/slide" Target="/ppt/slides/slide79.xml" Id="R726351e2219a4d2d"/><Relationship Type="http://schemas.openxmlformats.org/officeDocument/2006/relationships/slide" Target="/ppt/slides/slide80.xml" Id="R8bd3c07e618a408e"/><Relationship Type="http://schemas.openxmlformats.org/officeDocument/2006/relationships/slide" Target="/ppt/slides/slide81.xml" Id="Rbe780b944dd54dd0"/><Relationship Type="http://schemas.openxmlformats.org/officeDocument/2006/relationships/slide" Target="/ppt/slides/slide82.xml" Id="R9c3ac5266f9c4082"/><Relationship Type="http://schemas.openxmlformats.org/officeDocument/2006/relationships/slide" Target="/ppt/slides/slide83.xml" Id="R3267be7948b64650"/><Relationship Type="http://schemas.openxmlformats.org/officeDocument/2006/relationships/slide" Target="/ppt/slides/slide84.xml" Id="Ra5a2529c37404207"/><Relationship Type="http://schemas.openxmlformats.org/officeDocument/2006/relationships/slide" Target="/ppt/slides/slide85.xml" Id="R8e8fe213f0974f0e"/><Relationship Type="http://schemas.openxmlformats.org/officeDocument/2006/relationships/slide" Target="/ppt/slides/slide86.xml" Id="R5ac8001b8e314cff"/><Relationship Type="http://schemas.openxmlformats.org/officeDocument/2006/relationships/slide" Target="/ppt/slides/slide87.xml" Id="R7099536771a347cd"/><Relationship Type="http://schemas.openxmlformats.org/officeDocument/2006/relationships/slide" Target="/ppt/slides/slide88.xml" Id="R35d7f51423844f01"/><Relationship Type="http://schemas.openxmlformats.org/officeDocument/2006/relationships/slide" Target="/ppt/slides/slide89.xml" Id="Rd42591fc3f104f59"/><Relationship Type="http://schemas.openxmlformats.org/officeDocument/2006/relationships/slide" Target="/ppt/slides/slide90.xml" Id="R814cbcdaf13e410f"/><Relationship Type="http://schemas.openxmlformats.org/officeDocument/2006/relationships/slide" Target="/ppt/slides/slide91.xml" Id="R748c62fe0315498c"/><Relationship Type="http://schemas.openxmlformats.org/officeDocument/2006/relationships/slide" Target="/ppt/slides/slide92.xml" Id="R4efaebe3a388465b"/><Relationship Type="http://schemas.openxmlformats.org/officeDocument/2006/relationships/slide" Target="/ppt/slides/slide93.xml" Id="R1a5c9a3baffd4075"/><Relationship Type="http://schemas.openxmlformats.org/officeDocument/2006/relationships/slide" Target="/ppt/slides/slide94.xml" Id="R687d74d41f484f1c"/><Relationship Type="http://schemas.openxmlformats.org/officeDocument/2006/relationships/slide" Target="/ppt/slides/slide95.xml" Id="Rd4c4b38e19474a2e"/><Relationship Type="http://schemas.openxmlformats.org/officeDocument/2006/relationships/slide" Target="/ppt/slides/slide96.xml" Id="R15d4c6d14ad34a73"/><Relationship Type="http://schemas.openxmlformats.org/officeDocument/2006/relationships/slide" Target="/ppt/slides/slide97.xml" Id="R3fa38cae116a430c"/><Relationship Type="http://schemas.openxmlformats.org/officeDocument/2006/relationships/slide" Target="/ppt/slides/slide98.xml" Id="R334ffcb9fdb547ae"/><Relationship Type="http://schemas.openxmlformats.org/officeDocument/2006/relationships/slide" Target="/ppt/slides/slide99.xml" Id="Rf7f4317319474508"/><Relationship Type="http://schemas.openxmlformats.org/officeDocument/2006/relationships/slide" Target="/ppt/slides/slide100.xml" Id="Rb8e974bd62644517"/><Relationship Type="http://schemas.openxmlformats.org/officeDocument/2006/relationships/slide" Target="/ppt/slides/slide101.xml" Id="Rea75ed2261bc492d"/><Relationship Type="http://schemas.openxmlformats.org/officeDocument/2006/relationships/slide" Target="/ppt/slides/slide102.xml" Id="R0e821d4419b84805"/><Relationship Type="http://schemas.openxmlformats.org/officeDocument/2006/relationships/slide" Target="/ppt/slides/slide103.xml" Id="R01d4373bca41474e"/><Relationship Type="http://schemas.openxmlformats.org/officeDocument/2006/relationships/slide" Target="/ppt/slides/slide104.xml" Id="R7fc6fbba280d41e8"/><Relationship Type="http://schemas.openxmlformats.org/officeDocument/2006/relationships/slide" Target="/ppt/slides/slide105.xml" Id="R9fbf532f4cce4573"/><Relationship Type="http://schemas.openxmlformats.org/officeDocument/2006/relationships/slide" Target="/ppt/slides/slide106.xml" Id="Rc2a92ec5b40e44c6"/></Relationships>
</file>

<file path=ppt/slideLayouts/_rels/slideLayout1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5c7234e42b0a4e82"/></Relationships>
</file>

<file path=ppt/slideLayouts/_rels/slideLayout2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17f94b3d4b6e46ff"/></Relationships>
</file>

<file path=ppt/slideLayouts/_rels/slideLayout3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40148e1d1cb944bf"/></Relationships>
</file>

<file path=ppt/slideLayouts/_rels/slideLayout4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00552a3d2da14747"/></Relationships>
</file>

<file path=ppt/slideLayouts/_rels/slideLayout5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7d5c57550cc24628"/></Relationships>
</file>

<file path=ppt/slideLayouts/_rels/slideLayout6.xml.rels><?xml version='1.0' encoding='UTF-8' standalone='yes'?>
<Relationships xmlns="http://schemas.openxmlformats.org/package/2006/relationships"><Relationship Type="http://schemas.openxmlformats.org/officeDocument/2006/relationships/slideMaster" Target="/ppt/slideMasters/slideMaster1.xml" Id="R3f5ee969dfd94e0e"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FBF90C4-7650-4C8A-B1C9-B242539D8F1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590800"/>
            <a:ext cx="7315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6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012DFC9-E7C1-4780-A36B-6AFC9411970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771900"/>
            <a:ext cx="64008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4271FCEB-10A5-4769-830D-49E36C1D24F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14400" y="2857500"/>
            <a:ext cx="73152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315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20BDE311-076E-46CC-826E-CDA9EC20BA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5A1C6290-CD29-454C-B903-DE722F15890B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81153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243E3236-D9F0-468E-B067-97394DC2C5A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E647305C-79D7-42C5-A764-3A8F2EBDABD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29B5950C-5C64-4B6B-96BE-6382291298A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8577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575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E5E232C5-F45B-47F8-BE13-6E07CDB10E2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514350" y="533400"/>
            <a:ext cx="81153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475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7D60357-8CAC-4F87-AEDB-53321D9498F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514350" y="1905000"/>
            <a:ext cx="37719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1688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171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1pPr>
            <a:lvl2pPr marL="400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2pPr>
            <a:lvl3pPr marL="628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3pPr>
            <a:lvl4pPr marL="857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4pPr>
            <a:lvl5pPr marL="10858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5pPr>
            <a:lvl6pPr marL="13144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6pPr>
            <a:lvl7pPr marL="15430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7pPr>
            <a:lvl8pPr marL="17716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8pPr>
            <a:lvl9pPr marL="2000250" indent="-171450">
              <a:lnSpc>
                <a:spcPct val="110000"/>
              </a:lnSpc>
              <a:spcBef>
                <a:spcPts val="0"/>
              </a:spcBef>
              <a:spcAft>
                <a:spcPts val="9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Type="http://schemas.openxmlformats.org/officeDocument/2006/relationships/theme" Target="/ppt/slideMasters/theme/theme2.xml" Id="R1d8de09d1d7b4340"/><Relationship Type="http://schemas.openxmlformats.org/officeDocument/2006/relationships/slideLayout" Target="/ppt/slideLayouts/slideLayout1.xml" Id="R1ec6f0fa348f45ec"/><Relationship Type="http://schemas.openxmlformats.org/officeDocument/2006/relationships/slideLayout" Target="/ppt/slideLayouts/slideLayout2.xml" Id="R6daee2550d224e53"/><Relationship Type="http://schemas.openxmlformats.org/officeDocument/2006/relationships/slideLayout" Target="/ppt/slideLayouts/slideLayout3.xml" Id="R27b08a1e66d146fa"/><Relationship Type="http://schemas.openxmlformats.org/officeDocument/2006/relationships/slideLayout" Target="/ppt/slideLayouts/slideLayout4.xml" Id="R0ea9c18748424631"/><Relationship Type="http://schemas.openxmlformats.org/officeDocument/2006/relationships/slideLayout" Target="/ppt/slideLayouts/slideLayout5.xml" Id="R89feaab09a3d4cf1"/><Relationship Type="http://schemas.openxmlformats.org/officeDocument/2006/relationships/slideLayout" Target="/ppt/slideLayouts/slideLayout6.xml" Id="R2ecd832bfc264699"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ec6f0fa348f45ec"/>
    <p:sldLayoutId xmlns:r="http://schemas.openxmlformats.org/officeDocument/2006/relationships" id="2147483650" r:id="R6daee2550d224e53"/>
    <p:sldLayoutId xmlns:r="http://schemas.openxmlformats.org/officeDocument/2006/relationships" id="2147483651" r:id="R27b08a1e66d146fa"/>
    <p:sldLayoutId xmlns:r="http://schemas.openxmlformats.org/officeDocument/2006/relationships" id="2147483652" r:id="R0ea9c18748424631"/>
    <p:sldLayoutId xmlns:r="http://schemas.openxmlformats.org/officeDocument/2006/relationships" id="2147483653" r:id="R89feaab09a3d4cf1"/>
    <p:sldLayoutId xmlns:r="http://schemas.openxmlformats.org/officeDocument/2006/relationships" id="2147483654" r:id="R2ecd832bfc26469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540775a2a2c4d5a"/></Relationships>
</file>

<file path=ppt/slides/_rels/slide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21ae9e4ab1141eb"/></Relationships>
</file>

<file path=ppt/slides/_rels/slide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fd936fba76646fd"/></Relationships>
</file>

<file path=ppt/slides/_rels/slide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8e53f66692f4a55"/></Relationships>
</file>

<file path=ppt/slides/_rels/slide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62786d504a9496f"/></Relationships>
</file>

<file path=ppt/slides/_rels/slide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42d44cbff2f4a3d"/></Relationships>
</file>

<file path=ppt/slides/_rels/slide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c31c988ab0543fa"/></Relationships>
</file>

<file path=ppt/slides/_rels/slide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57138c53e394c56"/></Relationships>
</file>

<file path=ppt/slides/_rels/slide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26959e41aee4cef"/><Relationship Type="http://schemas.openxmlformats.org/officeDocument/2006/relationships/image" Target="/ppt/media/image.png" Id="R2e894f3120c4483e"/></Relationships>
</file>

<file path=ppt/slides/_rels/slide1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0ee077338304554"/></Relationships>
</file>

<file path=ppt/slides/_rels/slide1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450c84e4b244252"/><Relationship Type="http://schemas.openxmlformats.org/officeDocument/2006/relationships/image" Target="/ppt/media/image2.png" Id="R3d6a448122434863"/></Relationships>
</file>

<file path=ppt/slides/_rels/slide1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4329828438a49c0"/></Relationships>
</file>

<file path=ppt/slides/_rels/slide1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db43b1bbe8f45b7"/></Relationships>
</file>

<file path=ppt/slides/_rels/slide1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b7c41fd48b94f79"/><Relationship Type="http://schemas.openxmlformats.org/officeDocument/2006/relationships/image" Target="/ppt/media/image3.png" Id="R9f39972452954267"/></Relationships>
</file>

<file path=ppt/slides/_rels/slide1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b9c74d3c892441a"/></Relationships>
</file>

<file path=ppt/slides/_rels/slide1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81cdebe5bc7416a"/><Relationship Type="http://schemas.openxmlformats.org/officeDocument/2006/relationships/image" Target="/ppt/media/image4.png" Id="R169a68160df5492b"/></Relationships>
</file>

<file path=ppt/slides/_rels/slide1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cf73352b5bb4f83"/></Relationships>
</file>

<file path=ppt/slides/_rels/slide1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913089a8d7c4657"/></Relationships>
</file>

<file path=ppt/slides/_rels/slide1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4742337ac824ee0"/><Relationship Type="http://schemas.openxmlformats.org/officeDocument/2006/relationships/image" Target="/ppt/media/image5.png" Id="R9d1c974b0d804f46"/></Relationships>
</file>

<file path=ppt/slides/_rels/slide2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5f90fcdb360440d"/></Relationships>
</file>

<file path=ppt/slides/_rels/slide2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19db206f5fd49b7"/></Relationships>
</file>

<file path=ppt/slides/_rels/slide2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4ad01500c524bf7"/><Relationship Type="http://schemas.openxmlformats.org/officeDocument/2006/relationships/image" Target="/ppt/media/image6.png" Id="R6c4565e48477401a"/></Relationships>
</file>

<file path=ppt/slides/_rels/slide2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40905b707724d4e"/></Relationships>
</file>

<file path=ppt/slides/_rels/slide2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4a71adfe6ad4429"/><Relationship Type="http://schemas.openxmlformats.org/officeDocument/2006/relationships/image" Target="/ppt/media/image7.png" Id="Rbb637d6e72f340ce"/></Relationships>
</file>

<file path=ppt/slides/_rels/slide2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05ccfd9d9a04295"/></Relationships>
</file>

<file path=ppt/slides/_rels/slide2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e4ea94cf1ea4afc"/><Relationship Type="http://schemas.openxmlformats.org/officeDocument/2006/relationships/image" Target="/ppt/media/image8.png" Id="Rc843d9e83a8f4414"/></Relationships>
</file>

<file path=ppt/slides/_rels/slide2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768c437270b42ef"/></Relationships>
</file>

<file path=ppt/slides/_rels/slide2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52f5a9daa3e40a7"/></Relationships>
</file>

<file path=ppt/slides/_rels/slide2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46556b0274d496d"/><Relationship Type="http://schemas.openxmlformats.org/officeDocument/2006/relationships/image" Target="/ppt/media/image9.png" Id="Rf87abc38f49046e4"/></Relationships>
</file>

<file path=ppt/slides/_rels/slide3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c59739b9b3248da"/></Relationships>
</file>

<file path=ppt/slides/_rels/slide3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85c9e24726b482f"/></Relationships>
</file>

<file path=ppt/slides/_rels/slide3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a1640b8df454059"/></Relationships>
</file>

<file path=ppt/slides/_rels/slide3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76ac6e6ac9b4101"/></Relationships>
</file>

<file path=ppt/slides/_rels/slide3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08cb254a0284c42"/></Relationships>
</file>

<file path=ppt/slides/_rels/slide3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32951a220a741cb"/><Relationship Type="http://schemas.openxmlformats.org/officeDocument/2006/relationships/image" Target="/ppt/media/image10.png" Id="R4674a7ad44cc4744"/></Relationships>
</file>

<file path=ppt/slides/_rels/slide3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ab390243ee148ef"/></Relationships>
</file>

<file path=ppt/slides/_rels/slide3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f0ba7ecdab94a85"/></Relationships>
</file>

<file path=ppt/slides/_rels/slide3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06302fe3bec4137"/></Relationships>
</file>

<file path=ppt/slides/_rels/slide3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ca04b04d5344fcf"/></Relationships>
</file>

<file path=ppt/slides/_rels/slide4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c3d40a2270942dd"/></Relationships>
</file>

<file path=ppt/slides/_rels/slide4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df9ed482fe647ad"/><Relationship Type="http://schemas.openxmlformats.org/officeDocument/2006/relationships/image" Target="/ppt/media/image11.png" Id="Rb2788fc6b4684a9b"/><Relationship Type="http://schemas.openxmlformats.org/officeDocument/2006/relationships/image" Target="/ppt/media/image12.png" Id="Rc0ad8720c29545a3"/></Relationships>
</file>

<file path=ppt/slides/_rels/slide4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eda828d1c6b4668"/></Relationships>
</file>

<file path=ppt/slides/_rels/slide4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ca871e4e92e4243"/></Relationships>
</file>

<file path=ppt/slides/_rels/slide4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8190e387aae45cb"/><Relationship Type="http://schemas.openxmlformats.org/officeDocument/2006/relationships/image" Target="/ppt/media/image13.png" Id="Rd7b0141f29064d63"/><Relationship Type="http://schemas.openxmlformats.org/officeDocument/2006/relationships/image" Target="/ppt/media/image14.png" Id="R95a0bedd62954c81"/></Relationships>
</file>

<file path=ppt/slides/_rels/slide4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85735a174c54b11"/></Relationships>
</file>

<file path=ppt/slides/_rels/slide4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b88d0adfbff4e99"/></Relationships>
</file>

<file path=ppt/slides/_rels/slide4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843e9c270c54607"/><Relationship Type="http://schemas.openxmlformats.org/officeDocument/2006/relationships/image" Target="/ppt/media/image15.png" Id="Rd4edfaa3983c4540"/><Relationship Type="http://schemas.openxmlformats.org/officeDocument/2006/relationships/image" Target="/ppt/media/image16.png" Id="R17596392c37f4308"/></Relationships>
</file>

<file path=ppt/slides/_rels/slide4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248a0c921684a1a"/></Relationships>
</file>

<file path=ppt/slides/_rels/slide4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1ebfd2cec5946f0"/><Relationship Type="http://schemas.openxmlformats.org/officeDocument/2006/relationships/image" Target="/ppt/media/image17.png" Id="Rf9cec6598330423d"/></Relationships>
</file>

<file path=ppt/slides/_rels/slide5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54f73ef59454dbf"/></Relationships>
</file>

<file path=ppt/slides/_rels/slide5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61db6ebeae94cf4"/></Relationships>
</file>

<file path=ppt/slides/_rels/slide5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a107d6b68ac4963"/><Relationship Type="http://schemas.openxmlformats.org/officeDocument/2006/relationships/image" Target="/ppt/media/image18.png" Id="R15307b4a43544b4a"/></Relationships>
</file>

<file path=ppt/slides/_rels/slide5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6b507e8f94f4ef8"/><Relationship Type="http://schemas.openxmlformats.org/officeDocument/2006/relationships/image" Target="/ppt/media/image19.png" Id="R06f2532b459a43f3"/></Relationships>
</file>

<file path=ppt/slides/_rels/slide5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738b6be719f48e8"/></Relationships>
</file>

<file path=ppt/slides/_rels/slide5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7c9f0bdee474619"/><Relationship Type="http://schemas.openxmlformats.org/officeDocument/2006/relationships/image" Target="/ppt/media/image20.png" Id="R639e43e8d3be4469"/></Relationships>
</file>

<file path=ppt/slides/_rels/slide5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3bdf01a66a043ed"/><Relationship Type="http://schemas.openxmlformats.org/officeDocument/2006/relationships/image" Target="/ppt/media/image21.png" Id="R91151fb0aa99498d"/></Relationships>
</file>

<file path=ppt/slides/_rels/slide5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6c0d7bcf1a54a84"/></Relationships>
</file>

<file path=ppt/slides/_rels/slide5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854dc2c2e084f45"/><Relationship Type="http://schemas.openxmlformats.org/officeDocument/2006/relationships/image" Target="/ppt/media/image22.png" Id="Rd633f46ba68d4ad8"/></Relationships>
</file>

<file path=ppt/slides/_rels/slide5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ca500e518254f3b"/><Relationship Type="http://schemas.openxmlformats.org/officeDocument/2006/relationships/image" Target="/ppt/media/image23.png" Id="Re16b06960866423d"/></Relationships>
</file>

<file path=ppt/slides/_rels/slide6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6e802f257f444b8"/></Relationships>
</file>

<file path=ppt/slides/_rels/slide6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bebfd9fe84b48db"/><Relationship Type="http://schemas.openxmlformats.org/officeDocument/2006/relationships/image" Target="/ppt/media/image24.png" Id="Rf27507508a394204"/></Relationships>
</file>

<file path=ppt/slides/_rels/slide6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f35f887c49f4383"/><Relationship Type="http://schemas.openxmlformats.org/officeDocument/2006/relationships/image" Target="/ppt/media/image25.png" Id="R4aafe1ec9363481d"/></Relationships>
</file>

<file path=ppt/slides/_rels/slide6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1f64c4e5134469e"/></Relationships>
</file>

<file path=ppt/slides/_rels/slide6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f1bc1f678014f32"/><Relationship Type="http://schemas.openxmlformats.org/officeDocument/2006/relationships/image" Target="/ppt/media/image26.png" Id="Re0e395be51fd4218"/></Relationships>
</file>

<file path=ppt/slides/_rels/slide6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a981dd2c87a4d91"/><Relationship Type="http://schemas.openxmlformats.org/officeDocument/2006/relationships/image" Target="/ppt/media/image27.png" Id="R0236d704eee84fca"/></Relationships>
</file>

<file path=ppt/slides/_rels/slide6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61ecd8e49a647ac"/></Relationships>
</file>

<file path=ppt/slides/_rels/slide6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a1b9c138332435a"/><Relationship Type="http://schemas.openxmlformats.org/officeDocument/2006/relationships/image" Target="/ppt/media/image28.png" Id="R5dad1cfbff094959"/><Relationship Type="http://schemas.openxmlformats.org/officeDocument/2006/relationships/image" Target="/ppt/media/image29.png" Id="Rca652fb3359f4ad7"/></Relationships>
</file>

<file path=ppt/slides/_rels/slide6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96e5415669541f0"/></Relationships>
</file>

<file path=ppt/slides/_rels/slide6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422eefe7642497f"/></Relationships>
</file>

<file path=ppt/slides/_rels/slide7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d43c107e87344d8"/></Relationships>
</file>

<file path=ppt/slides/_rels/slide7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353130c690340ae"/></Relationships>
</file>

<file path=ppt/slides/_rels/slide7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101f4892f5f846ca"/></Relationships>
</file>

<file path=ppt/slides/_rels/slide7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cf17df369604637"/></Relationships>
</file>

<file path=ppt/slides/_rels/slide7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a79a9b1d5e44f77"/></Relationships>
</file>

<file path=ppt/slides/_rels/slide7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d819422465a4e11"/></Relationships>
</file>

<file path=ppt/slides/_rels/slide7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068723111f74220"/></Relationships>
</file>

<file path=ppt/slides/_rels/slide7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bb2dda6bc0648a5"/></Relationships>
</file>

<file path=ppt/slides/_rels/slide7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a1cf264e320b4501"/></Relationships>
</file>

<file path=ppt/slides/_rels/slide7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ac4a99eac69436b"/></Relationships>
</file>

<file path=ppt/slides/_rels/slide8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9e9bbcc3a6a4dd3"/></Relationships>
</file>

<file path=ppt/slides/_rels/slide8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ff0c4f2050640f5"/></Relationships>
</file>

<file path=ppt/slides/_rels/slide8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9fd1175c6ce4e2a"/></Relationships>
</file>

<file path=ppt/slides/_rels/slide8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68b1fcd174004245"/></Relationships>
</file>

<file path=ppt/slides/_rels/slide8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707b66cba794a33"/></Relationships>
</file>

<file path=ppt/slides/_rels/slide8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544d55b79ee641e8"/></Relationships>
</file>

<file path=ppt/slides/_rels/slide8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dda42dfb06f480e"/></Relationships>
</file>

<file path=ppt/slides/_rels/slide8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9e85b70c80245c3"/></Relationships>
</file>

<file path=ppt/slides/_rels/slide8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9a9330684384736"/></Relationships>
</file>

<file path=ppt/slides/_rels/slide8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9f63be99974402b"/></Relationships>
</file>

<file path=ppt/slides/_rels/slide9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91d03bf8a4b4432"/></Relationships>
</file>

<file path=ppt/slides/_rels/slide9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3d1c1a629c74c07"/></Relationships>
</file>

<file path=ppt/slides/_rels/slide9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4f4b609dbf5f48d1"/></Relationships>
</file>

<file path=ppt/slides/_rels/slide9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d00d0a0ca55a4e2e"/></Relationships>
</file>

<file path=ppt/slides/_rels/slide9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cf8422fd39f43a2"/></Relationships>
</file>

<file path=ppt/slides/_rels/slide9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f86c3deb41eb4cef"/></Relationships>
</file>

<file path=ppt/slides/_rels/slide9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347cef9bdec34c65"/></Relationships>
</file>

<file path=ppt/slides/_rels/slide97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0f0b419c0ae4ddf"/></Relationships>
</file>

<file path=ppt/slides/_rels/slide98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854b20563464fbc"/></Relationships>
</file>

<file path=ppt/slides/_rels/slide99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8ec9285abd024c99"/></Relationships>
</file>

<file path=ppt/slides/_rels/slide100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c783b74404d84c72"/></Relationships>
</file>

<file path=ppt/slides/_rels/slide101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e3ae47f52dd84af7"/></Relationships>
</file>

<file path=ppt/slides/_rels/slide102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7940da5a9a1b4a5e"/></Relationships>
</file>

<file path=ppt/slides/_rels/slide103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0a26a66abaa94e9a"/></Relationships>
</file>

<file path=ppt/slides/_rels/slide104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2b1a80fc869d4469"/></Relationships>
</file>

<file path=ppt/slides/_rels/slide105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b6dcff57e9004e1f"/></Relationships>
</file>

<file path=ppt/slides/_rels/slide106.xml.rels><?xml version='1.0' encoding='UTF-8' standalone='yes'?>
<Relationships xmlns="http://schemas.openxmlformats.org/package/2006/relationships"><Relationship Type="http://schemas.openxmlformats.org/officeDocument/2006/relationships/slideLayout" Target="/ppt/slideLayouts/slideLayout6.xml" Id="R9eecebc0c1a0431e"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463E7694-9EBA-4D79-992A-E2E8A2A60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952500"/>
            <a:ext cx="8229600" cy="5400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31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315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Elens grunder och elsäkerhet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8189552F-9C06-4F39-9CB3-2E303B01B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 1 · Fristående veckopaket · Svensk version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E101A0C8-8ADA-40DE-97BA-79E0BBA82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051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Följ en sluten likströmskrets, skilj spänning från ström, räkna med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9886023D-3B48-4D14-88FE-7EC7DB18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290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Ohms lag och motivera ett säkert beslut i ett givet fall.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59F7F969-F52E-4FA1-8026-5EBBFFA25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671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2A07B1D0-D766-4062-8A7E-3BCC7214D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4AE72CB-A66E-4989-8AD9-1299BBE4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1</a:t>
            </a:r>
          </a:p>
        </p:txBody>
      </p:sp>
    </p:spTree>
    <p:extLst>
      <p:ext uri="{BB962C8B-B14F-4D97-AF65-F5344CB8AC3E}">
        <p14:creationId xmlns:p14="http://schemas.microsoft.com/office/powerpoint/2010/main" val="296272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98FD16F-2310-4AAE-A149-6CC5EFC84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Veckans arbete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2A2626F5-B89A-471B-A2E5-16BDD65E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Varje modul är ett fristående veckopaket med ett föreslaget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D690A2B8-7BB5-4C60-93D6-F2BC3BFD2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arbetsomfång på 20 timmar. Det är en pedagogisk arbetsbudget, inte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6BC8F6D1-A6A0-4B51-922C-9D07549C4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ett fastställt timtal eller elva obligatoriska kalenderveckor. Lärarens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44FBACB2-D67A-4F59-BE7F-A1B664F41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tidsplan i kugghjulsmenyn styr faktisk fördelning; alla delar finns även</a:t>
            </a:r>
          </a:p>
        </p:txBody>
      </p:sp>
      <p:sp>
        <p:nvSpPr>
          <p:cNvPr id="6" name="body-0-4">
            <a:extLst xmlns:a="http://schemas.openxmlformats.org/drawingml/2006/main">
              <a:ext uri="{FF2B5EF4-FFF2-40B4-BE49-F238E27FC236}">
                <a16:creationId xmlns:a16="http://schemas.microsoft.com/office/drawing/2014/main" id="{EBA4E641-4F18-4588-88F2-A79F588D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utan schema.</a:t>
            </a:r>
          </a:p>
        </p:txBody>
      </p:sp>
      <p:sp>
        <p:nvSpPr>
          <p:cNvPr id="7" name="body-1-0">
            <a:extLst xmlns:a="http://schemas.openxmlformats.org/drawingml/2006/main">
              <a:ext uri="{FF2B5EF4-FFF2-40B4-BE49-F238E27FC236}">
                <a16:creationId xmlns:a16="http://schemas.microsoft.com/office/drawing/2014/main" id="{48A16FB8-501A-4C75-B918-8F1F557DF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Teori och begrepp · 4 h. Läs kärnteorin och förkunskapsrepetitionen.</a:t>
            </a:r>
          </a:p>
        </p:txBody>
      </p:sp>
      <p:sp>
        <p:nvSpPr>
          <p:cNvPr id="8" name="body-1-1">
            <a:extLst xmlns:a="http://schemas.openxmlformats.org/drawingml/2006/main">
              <a:ext uri="{FF2B5EF4-FFF2-40B4-BE49-F238E27FC236}">
                <a16:creationId xmlns:a16="http://schemas.microsoft.com/office/drawing/2014/main" id="{4CBDD1B6-7976-404D-9A69-69BBF9574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Skriv egna definitioner och rita kapitlets principbild.</a:t>
            </a:r>
          </a:p>
        </p:txBody>
      </p:sp>
      <p:sp>
        <p:nvSpPr>
          <p:cNvPr id="9" name="body-2-0">
            <a:extLst xmlns:a="http://schemas.openxmlformats.org/drawingml/2006/main">
              <a:ext uri="{FF2B5EF4-FFF2-40B4-BE49-F238E27FC236}">
                <a16:creationId xmlns:a16="http://schemas.microsoft.com/office/drawing/2014/main" id="{7500073B-8E08-43F0-B7B9-3585EB9CF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48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Räkneexempel och egen träning · 4 h. Lös exemplen utan facit,</a:t>
            </a:r>
          </a:p>
        </p:txBody>
      </p:sp>
      <p:sp>
        <p:nvSpPr>
          <p:cNvPr id="10" name="body-2-1">
            <a:extLst xmlns:a="http://schemas.openxmlformats.org/drawingml/2006/main">
              <a:ext uri="{FF2B5EF4-FFF2-40B4-BE49-F238E27FC236}">
                <a16:creationId xmlns:a16="http://schemas.microsoft.com/office/drawing/2014/main" id="{C5AC6B35-A38D-4F4D-A97D-20456CD8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1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kontrollera metod och enhet, och gör de självrättande frågorna.</a:t>
            </a:r>
          </a:p>
        </p:txBody>
      </p:sp>
      <p:sp>
        <p:nvSpPr>
          <p:cNvPr id="11" name="body-3-0">
            <a:extLst xmlns:a="http://schemas.openxmlformats.org/drawingml/2006/main">
              <a:ext uri="{FF2B5EF4-FFF2-40B4-BE49-F238E27FC236}">
                <a16:creationId xmlns:a16="http://schemas.microsoft.com/office/drawing/2014/main" id="{84F1F937-8D5C-4905-AC5A-12D520201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Simulering och felvariation · 4 h. Följ veckans protokoll. Förutsäg före</a:t>
            </a:r>
          </a:p>
        </p:txBody>
      </p:sp>
      <p:sp>
        <p:nvSpPr>
          <p:cNvPr id="12" name="body-3-1">
            <a:extLst xmlns:a="http://schemas.openxmlformats.org/drawingml/2006/main">
              <a:ext uri="{FF2B5EF4-FFF2-40B4-BE49-F238E27FC236}">
                <a16:creationId xmlns:a16="http://schemas.microsoft.com/office/drawing/2014/main" id="{DA1109F9-AAB7-4A5F-8E6C-6A55AE4C3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33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varje körning och jämför minst tre tillstånd.</a:t>
            </a:r>
          </a:p>
        </p:txBody>
      </p:sp>
      <p:sp>
        <p:nvSpPr>
          <p:cNvPr id="13" name="body-4-0">
            <a:extLst xmlns:a="http://schemas.openxmlformats.org/drawingml/2006/main">
              <a:ext uri="{FF2B5EF4-FFF2-40B4-BE49-F238E27FC236}">
                <a16:creationId xmlns:a16="http://schemas.microsoft.com/office/drawing/2014/main" id="{48D7E8A3-C822-4C6F-AE41-E3328263D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72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Veckofall och redovisning · 6 h. Bearbeta fallet, gör en jämförelse med</a:t>
            </a:r>
          </a:p>
        </p:txBody>
      </p:sp>
      <p:sp>
        <p:nvSpPr>
          <p:cNvPr id="1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E1315D33-4DCC-48A0-9570-DD34830D2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E4CE67-ECBD-4CE1-BF58-A950B9E1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2</a:t>
            </a:r>
          </a:p>
        </p:txBody>
      </p:sp>
    </p:spTree>
    <p:extLst>
      <p:ext uri="{BB962C8B-B14F-4D97-AF65-F5344CB8AC3E}">
        <p14:creationId xmlns:p14="http://schemas.microsoft.com/office/powerpoint/2010/main" val="210137028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1E210F26-14FB-4604-B46C-52149B44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Veckans arbete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8FBF9E0E-DF85-47A4-A704-F968EECC4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ändrade villkor och skriv ett sammanhängande underlag.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43FC43B5-1EBD-4702-8BA0-99A2B55AF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Återkoppling och riktad repetition · 2 h. Använd felaktiga svar för att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B835B034-915F-4853-903B-CF23E9000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välja exakt teoriavsnitt. Gör nya försök och förbättra slutsatsen.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13DECD9-3DB7-4B9A-97F1-B1CFD403A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3EBEDC2-E738-474A-AE3F-E8821ECB4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3</a:t>
            </a:r>
          </a:p>
        </p:txBody>
      </p:sp>
    </p:spTree>
    <p:extLst>
      <p:ext uri="{BB962C8B-B14F-4D97-AF65-F5344CB8AC3E}">
        <p14:creationId xmlns:p14="http://schemas.microsoft.com/office/powerpoint/2010/main" val="105869456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AEEAB81F-C12F-4FA2-BD58-8F05572ED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Kursplan och bedömning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943A7476-1D1E-4C48-B9F9-7A061D0B41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Styrande källa är kursplanen Elteknik och ellära, 45 YHP, beslutad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113453B2-311B-4A60-9477-BA9C5DB4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2026-08-20. Undervisningsspråk är svenska. Mål 1–5 kontrolleras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60F62899-8F76-43A4-8082-1EC6AE671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genom skriftlig tentamen och mål 6–9 genom praktiska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2C2E20DC-61A3-4A4C-9233-31BACC5A8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laborationsövningar. Kursläraren har valt simuleringar för all</a:t>
            </a:r>
          </a:p>
        </p:txBody>
      </p:sp>
      <p:sp>
        <p:nvSpPr>
          <p:cNvPr id="6" name="body-0-4">
            <a:extLst xmlns:a="http://schemas.openxmlformats.org/drawingml/2006/main">
              <a:ext uri="{FF2B5EF4-FFF2-40B4-BE49-F238E27FC236}">
                <a16:creationId xmlns:a16="http://schemas.microsoft.com/office/drawing/2014/main" id="{3B396A2B-FDC8-44A6-9438-9ABCD8AB1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undervisning. Kursplanens krav på praktiska laborationsövningar</a:t>
            </a:r>
          </a:p>
        </p:txBody>
      </p:sp>
      <p:sp>
        <p:nvSpPr>
          <p:cNvPr id="7" name="body-0-5">
            <a:extLst xmlns:a="http://schemas.openxmlformats.org/drawingml/2006/main">
              <a:ext uri="{FF2B5EF4-FFF2-40B4-BE49-F238E27FC236}">
                <a16:creationId xmlns:a16="http://schemas.microsoft.com/office/drawing/2014/main" id="{DF6C278E-D264-46E2-8847-69E944812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markeras vid berörda mål, moduler och simulatorer.</a:t>
            </a:r>
          </a:p>
        </p:txBody>
      </p:sp>
      <p:sp>
        <p:nvSpPr>
          <p:cNvPr id="8" name="body-1-0">
            <a:extLst xmlns:a="http://schemas.openxmlformats.org/drawingml/2006/main">
              <a:ext uri="{FF2B5EF4-FFF2-40B4-BE49-F238E27FC236}">
                <a16:creationId xmlns:a16="http://schemas.microsoft.com/office/drawing/2014/main" id="{E1275866-25C2-4258-8407-970E764D8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LM-1: beskriva vanligt förekommande elektriska komponenter,</a:t>
            </a:r>
          </a:p>
        </p:txBody>
      </p:sp>
      <p:sp>
        <p:nvSpPr>
          <p:cNvPr id="9" name="body-1-1">
            <a:extLst xmlns:a="http://schemas.openxmlformats.org/drawingml/2006/main">
              <a:ext uri="{FF2B5EF4-FFF2-40B4-BE49-F238E27FC236}">
                <a16:creationId xmlns:a16="http://schemas.microsoft.com/office/drawing/2014/main" id="{7BFF010E-C7F3-46E8-82C4-0497184F3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skyddsutrustning och mätinstrument.</a:t>
            </a:r>
          </a:p>
        </p:txBody>
      </p:sp>
      <p:sp>
        <p:nvSpPr>
          <p:cNvPr id="10" name="body-2-0">
            <a:extLst xmlns:a="http://schemas.openxmlformats.org/drawingml/2006/main">
              <a:ext uri="{FF2B5EF4-FFF2-40B4-BE49-F238E27FC236}">
                <a16:creationId xmlns:a16="http://schemas.microsoft.com/office/drawing/2014/main" id="{146AC97A-7EBF-45B4-8224-2A0039663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1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LM-2: redogöra för grundläggande elsäkerhet, risker vid arbete med</a:t>
            </a:r>
          </a:p>
        </p:txBody>
      </p:sp>
      <p:sp>
        <p:nvSpPr>
          <p:cNvPr id="11" name="body-2-1">
            <a:extLst xmlns:a="http://schemas.openxmlformats.org/drawingml/2006/main">
              <a:ext uri="{FF2B5EF4-FFF2-40B4-BE49-F238E27FC236}">
                <a16:creationId xmlns:a16="http://schemas.microsoft.com/office/drawing/2014/main" id="{2D8B542E-70C1-44ED-A35C-06814545A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elektriska system samt hur skyddsutrustning och säkra arbetsrutiner</a:t>
            </a:r>
          </a:p>
        </p:txBody>
      </p:sp>
      <p:sp>
        <p:nvSpPr>
          <p:cNvPr id="12" name="body-2-2">
            <a:extLst xmlns:a="http://schemas.openxmlformats.org/drawingml/2006/main">
              <a:ext uri="{FF2B5EF4-FFF2-40B4-BE49-F238E27FC236}">
                <a16:creationId xmlns:a16="http://schemas.microsoft.com/office/drawing/2014/main" id="{85584E54-1871-401E-AB94-1435C6929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används i låg- och högspänningssystem.</a:t>
            </a:r>
          </a:p>
        </p:txBody>
      </p:sp>
      <p:sp>
        <p:nvSpPr>
          <p:cNvPr id="13" name="body-3-0">
            <a:extLst xmlns:a="http://schemas.openxmlformats.org/drawingml/2006/main">
              <a:ext uri="{FF2B5EF4-FFF2-40B4-BE49-F238E27FC236}">
                <a16:creationId xmlns:a16="http://schemas.microsoft.com/office/drawing/2014/main" id="{22C93AFB-C7A0-45A9-9589-73698BADD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LM-6: tillämpa grundläggande elsäkerhetsrutiner vid mätning, kontroll</a:t>
            </a:r>
          </a:p>
        </p:txBody>
      </p:sp>
      <p:sp>
        <p:nvSpPr>
          <p:cNvPr id="14" name="body-3-1">
            <a:extLst xmlns:a="http://schemas.openxmlformats.org/drawingml/2006/main">
              <a:ext uri="{FF2B5EF4-FFF2-40B4-BE49-F238E27FC236}">
                <a16:creationId xmlns:a16="http://schemas.microsoft.com/office/drawing/2014/main" id="{403EF2A1-51B7-40C5-8861-F4AEB8D7B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felsökning av elektriska system.</a:t>
            </a:r>
          </a:p>
        </p:txBody>
      </p:sp>
      <p:sp>
        <p:nvSpPr>
          <p:cNvPr id="1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16F80313-9DA0-4B12-8FDE-9A53E1FF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6DD2C4-C7D6-433D-BA4F-B8545E2C7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4</a:t>
            </a:r>
          </a:p>
        </p:txBody>
      </p:sp>
    </p:spTree>
    <p:extLst>
      <p:ext uri="{BB962C8B-B14F-4D97-AF65-F5344CB8AC3E}">
        <p14:creationId xmlns:p14="http://schemas.microsoft.com/office/powerpoint/2010/main" val="73354133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Red module relationship frame">
            <a:extLst xmlns:a="http://schemas.openxmlformats.org/drawingml/2006/main">
              <a:ext uri="{FF2B5EF4-FFF2-40B4-BE49-F238E27FC236}">
                <a16:creationId xmlns:a16="http://schemas.microsoft.com/office/drawing/2014/main" id="{4569B92A-0985-4D09-BC78-493A1C9E7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28600"/>
            <a:ext cx="8496300" cy="573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A11B1B"/>
            </a:solidFill>
            <a:prstDash val="solid"/>
          </a:ln>
        </p:spPr>
      </p:sp>
      <p:sp>
        <p:nvSpPr>
          <p:cNvPr id="2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E091051C-5B07-48EA-A72A-B9A475A0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A11B1B"/>
                </a:solidFill>
                <a:latin typeface="DejaVu Sans"/>
                <a:ea typeface="DejaVu Sans"/>
                <a:cs typeface="DejaVu Sans"/>
              </a:rPr>
              <a:t>Samband med andra moduler</a:t>
            </a:r>
          </a:p>
        </p:txBody>
      </p:sp>
      <p:sp>
        <p:nvSpPr>
          <p:cNvPr id="3" name="body-0-0">
            <a:extLst xmlns:a="http://schemas.openxmlformats.org/drawingml/2006/main">
              <a:ext uri="{FF2B5EF4-FFF2-40B4-BE49-F238E27FC236}">
                <a16:creationId xmlns:a16="http://schemas.microsoft.com/office/drawing/2014/main" id="{242D478B-086A-4F8D-BDA5-D03DD727C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rPr>
              <a:t>Modul 2 · Effekt, Kirchhoff och multimeter. Samma strömväg används</a:t>
            </a:r>
          </a:p>
        </p:txBody>
      </p:sp>
      <p:sp>
        <p:nvSpPr>
          <p:cNvPr id="4" name="body-0-1">
            <a:extLst xmlns:a="http://schemas.openxmlformats.org/drawingml/2006/main">
              <a:ext uri="{FF2B5EF4-FFF2-40B4-BE49-F238E27FC236}">
                <a16:creationId xmlns:a16="http://schemas.microsoft.com/office/drawing/2014/main" id="{8E0F23B5-13D5-4B8B-AAF8-0F187BC72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rPr>
              <a:t>när du senare följer förgreningar, effekt och mätaranslutning.</a:t>
            </a:r>
          </a:p>
        </p:txBody>
      </p:sp>
      <p:sp>
        <p:nvSpPr>
          <p:cNvPr id="5" name="body-1-0">
            <a:extLst xmlns:a="http://schemas.openxmlformats.org/drawingml/2006/main">
              <a:ext uri="{FF2B5EF4-FFF2-40B4-BE49-F238E27FC236}">
                <a16:creationId xmlns:a16="http://schemas.microsoft.com/office/drawing/2014/main" id="{85FDD96A-5596-4B8D-BA0C-9D544B7B1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rPr>
              <a:t>Modul 3 · Frånskiljning och mätteknik. Säker mätning kräver också</a:t>
            </a:r>
          </a:p>
        </p:txBody>
      </p:sp>
      <p:sp>
        <p:nvSpPr>
          <p:cNvPr id="6" name="body-1-1">
            <a:extLst xmlns:a="http://schemas.openxmlformats.org/drawingml/2006/main">
              <a:ext uri="{FF2B5EF4-FFF2-40B4-BE49-F238E27FC236}">
                <a16:creationId xmlns:a16="http://schemas.microsoft.com/office/drawing/2014/main" id="{3D897748-FEA9-4579-8C0D-DA12BDD8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A11B1B"/>
                </a:solidFill>
                <a:latin typeface="DejaVu Sans"/>
                <a:ea typeface="DejaVu Sans"/>
                <a:cs typeface="DejaVu Sans"/>
              </a:rPr>
              <a:t>planerad arbetsgräns och funktionskontroll av instrumentet.</a:t>
            </a:r>
          </a:p>
        </p:txBody>
      </p:sp>
      <p:sp>
        <p:nvSpPr>
          <p:cNvPr id="7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5EB8560C-1067-45A4-A8FD-30FAED7AC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B29186D-ABA7-440F-BF52-14B69F9E9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5</a:t>
            </a:r>
          </a:p>
        </p:txBody>
      </p:sp>
    </p:spTree>
    <p:extLst>
      <p:ext uri="{BB962C8B-B14F-4D97-AF65-F5344CB8AC3E}">
        <p14:creationId xmlns:p14="http://schemas.microsoft.com/office/powerpoint/2010/main" val="195253446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E25F43B3-E1A6-422B-B33C-1120CE1CF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Förkunskaper som behövs här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8E605488-6617-47CA-BB14-D281788E2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Inga tidigare elberäkningar förutsätts. Du behöver division,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4B24E026-8E68-4FA2-9C9F-EBCE56EA7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multiplikation och förståelse för en sluten slinga. Läs spänning, ström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89B237F5-4DDE-4165-A13F-535926C9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resistans som tre skilda storheter.</a:t>
            </a:r>
          </a:p>
        </p:txBody>
      </p:sp>
      <p:sp>
        <p:nvSpPr>
          <p:cNvPr id="5" name="body-1-0">
            <a:extLst xmlns:a="http://schemas.openxmlformats.org/drawingml/2006/main">
              <a:ext uri="{FF2B5EF4-FFF2-40B4-BE49-F238E27FC236}">
                <a16:creationId xmlns:a16="http://schemas.microsoft.com/office/drawing/2014/main" id="{B920A543-9A15-4207-A0CF-7039077DF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Spänning mäts mellan två punkter. Ström går genom en gren och</a:t>
            </a:r>
          </a:p>
        </p:txBody>
      </p:sp>
      <p:sp>
        <p:nvSpPr>
          <p:cNvPr id="6" name="body-1-1">
            <a:extLst xmlns:a="http://schemas.openxmlformats.org/drawingml/2006/main">
              <a:ext uri="{FF2B5EF4-FFF2-40B4-BE49-F238E27FC236}">
                <a16:creationId xmlns:a16="http://schemas.microsoft.com/office/drawing/2014/main" id="{9663FDB5-464A-4D16-9D90-609B15FBE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behöver en sluten returväg. Resistans beskriver hur mycket kretsen</a:t>
            </a:r>
          </a:p>
        </p:txBody>
      </p:sp>
      <p:sp>
        <p:nvSpPr>
          <p:cNvPr id="7" name="body-1-2">
            <a:extLst xmlns:a="http://schemas.openxmlformats.org/drawingml/2006/main">
              <a:ext uri="{FF2B5EF4-FFF2-40B4-BE49-F238E27FC236}">
                <a16:creationId xmlns:a16="http://schemas.microsoft.com/office/drawing/2014/main" id="{B795147A-D79B-4C8E-9797-E19BD21D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begränsar strömmen vid den angivna driftpunkten.</a:t>
            </a:r>
          </a:p>
        </p:txBody>
      </p:sp>
      <p:sp>
        <p:nvSpPr>
          <p:cNvPr id="8" name="body-2-0">
            <a:extLst xmlns:a="http://schemas.openxmlformats.org/drawingml/2006/main">
              <a:ext uri="{FF2B5EF4-FFF2-40B4-BE49-F238E27FC236}">
                <a16:creationId xmlns:a16="http://schemas.microsoft.com/office/drawing/2014/main" id="{C40DFA53-50DA-4925-AC8D-326A06FF0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 serie går samma ström genom alla komponenter. Parallella grenar har</a:t>
            </a:r>
          </a:p>
        </p:txBody>
      </p:sp>
      <p:sp>
        <p:nvSpPr>
          <p:cNvPr id="9" name="body-2-1">
            <a:extLst xmlns:a="http://schemas.openxmlformats.org/drawingml/2006/main">
              <a:ext uri="{FF2B5EF4-FFF2-40B4-BE49-F238E27FC236}">
                <a16:creationId xmlns:a16="http://schemas.microsoft.com/office/drawing/2014/main" id="{AF55C640-639B-4CB1-9978-384D7A4D7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48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samma spänning men kan ha olika ström. Försök inte avgöra</a:t>
            </a:r>
          </a:p>
        </p:txBody>
      </p:sp>
      <p:sp>
        <p:nvSpPr>
          <p:cNvPr id="10" name="body-2-2">
            <a:extLst xmlns:a="http://schemas.openxmlformats.org/drawingml/2006/main">
              <a:ext uri="{FF2B5EF4-FFF2-40B4-BE49-F238E27FC236}">
                <a16:creationId xmlns:a16="http://schemas.microsoft.com/office/drawing/2014/main" id="{050E933B-9AC5-4241-9CAB-695FE221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1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strömflödet från en enda spänningsmätning.</a:t>
            </a:r>
          </a:p>
        </p:txBody>
      </p:sp>
      <p:sp>
        <p:nvSpPr>
          <p:cNvPr id="11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EEA6D6FE-1B2C-4DA3-AD41-3DE6F859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E5D1145-D366-4DB7-AA66-1403D26B1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6</a:t>
            </a:r>
          </a:p>
        </p:txBody>
      </p:sp>
    </p:spTree>
    <p:extLst>
      <p:ext uri="{BB962C8B-B14F-4D97-AF65-F5344CB8AC3E}">
        <p14:creationId xmlns:p14="http://schemas.microsoft.com/office/powerpoint/2010/main" val="70387198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19B87D9C-7035-4B1D-8E62-1107C6B33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Begrepp och storheter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1BC9FD05-6B2D-4241-A689-702383068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Spänning U: Potentialskillnad mellan två angivna punkter, mäts i volt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5E203E38-DEAF-49EA-A458-7E8D8E0CD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(V).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CC047EF5-8E26-4D77-B516-708F560F5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Ström I: Laddningsflöde genom en gren, mäts i ampere (A). Stationär</a:t>
            </a:r>
          </a:p>
        </p:txBody>
      </p:sp>
      <p:sp>
        <p:nvSpPr>
          <p:cNvPr id="5" name="body-1-1">
            <a:extLst xmlns:a="http://schemas.openxmlformats.org/drawingml/2006/main">
              <a:ext uri="{FF2B5EF4-FFF2-40B4-BE49-F238E27FC236}">
                <a16:creationId xmlns:a16="http://schemas.microsoft.com/office/drawing/2014/main" id="{170D4C14-1D7F-40B9-9D3A-AC9D85869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ström kräver en fullständig strömväg.</a:t>
            </a:r>
          </a:p>
        </p:txBody>
      </p:sp>
      <p:sp>
        <p:nvSpPr>
          <p:cNvPr id="6" name="body-2-0">
            <a:extLst xmlns:a="http://schemas.openxmlformats.org/drawingml/2006/main">
              <a:ext uri="{FF2B5EF4-FFF2-40B4-BE49-F238E27FC236}">
                <a16:creationId xmlns:a16="http://schemas.microsoft.com/office/drawing/2014/main" id="{6998FBF4-0B4F-4966-8F4F-BCD45EE0C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Resistans R: Förhållandet mellan spänning och ström i angivet driftfall,</a:t>
            </a:r>
          </a:p>
        </p:txBody>
      </p:sp>
      <p:sp>
        <p:nvSpPr>
          <p:cNvPr id="7" name="body-2-1">
            <a:extLst xmlns:a="http://schemas.openxmlformats.org/drawingml/2006/main">
              <a:ext uri="{FF2B5EF4-FFF2-40B4-BE49-F238E27FC236}">
                <a16:creationId xmlns:a16="http://schemas.microsoft.com/office/drawing/2014/main" id="{E5EAB040-0C5D-422A-BD04-737F1592B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mäts i ohm (Ω).</a:t>
            </a:r>
          </a:p>
        </p:txBody>
      </p:sp>
      <p:sp>
        <p:nvSpPr>
          <p:cNvPr id="8" name="body-3-0">
            <a:extLst xmlns:a="http://schemas.openxmlformats.org/drawingml/2006/main">
              <a:ext uri="{FF2B5EF4-FFF2-40B4-BE49-F238E27FC236}">
                <a16:creationId xmlns:a16="http://schemas.microsoft.com/office/drawing/2014/main" id="{44FE5881-2D73-4EC6-A4C6-9B0C3B260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Nod och gren: En nod förbinder ledare; en gren är en väg mellan noder.</a:t>
            </a:r>
          </a:p>
        </p:txBody>
      </p:sp>
      <p:sp>
        <p:nvSpPr>
          <p:cNvPr id="9" name="body-3-1">
            <a:extLst xmlns:a="http://schemas.openxmlformats.org/drawingml/2006/main">
              <a:ext uri="{FF2B5EF4-FFF2-40B4-BE49-F238E27FC236}">
                <a16:creationId xmlns:a16="http://schemas.microsoft.com/office/drawing/2014/main" id="{7B23464A-752D-45AC-9185-B74167603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ideal förbindningsledning har försumbart spänningsfall.</a:t>
            </a:r>
          </a:p>
        </p:txBody>
      </p:sp>
      <p:sp>
        <p:nvSpPr>
          <p:cNvPr id="10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1D42708C-E1D2-47A0-9299-851C91FE1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1F7B869-981C-464A-B944-26DFA3E04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7</a:t>
            </a:r>
          </a:p>
        </p:txBody>
      </p:sp>
    </p:spTree>
    <p:extLst>
      <p:ext uri="{BB962C8B-B14F-4D97-AF65-F5344CB8AC3E}">
        <p14:creationId xmlns:p14="http://schemas.microsoft.com/office/powerpoint/2010/main" val="115140126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F6F26D4D-252A-4B0D-964F-480C16EE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1. Följ hela strömvägen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C33152C0-A943-4E14-93A0-6BF276D8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arbetslampa behöver både en väg från batteriets pluspol och en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A2198B04-91E7-491F-B0BD-8B2CC9F40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väg tillbaka till minus. I principbilderna representeras batteriet av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2A0CFB40-D894-4E34-9DC0-76114667E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symbolen för en ideal likspänningskälla . Verkliga batterier har bland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689AF7E1-C8AA-4345-894A-3EC2DF360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annat inre resistans; den ingår inte i grundmodellen.</a:t>
            </a:r>
          </a:p>
        </p:txBody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16B7FF8C-B1D5-466A-AEF6-5370293D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24110D7-AA25-45E4-A5F7-16DC4253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8</a:t>
            </a:r>
          </a:p>
        </p:txBody>
      </p:sp>
    </p:spTree>
    <p:extLst>
      <p:ext uri="{BB962C8B-B14F-4D97-AF65-F5344CB8AC3E}">
        <p14:creationId xmlns:p14="http://schemas.microsoft.com/office/powerpoint/2010/main" val="1217902922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A250E6E0-4856-49AC-A9A1-B44330ADA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1. Följ hela strömvägen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41B0939-AB84-40E9-BCD8-9CB65DEEA9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894f3120c4483e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E0A0AEED-D76F-4B47-B625-93CC633C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Bara den övre ledaren finns. Lampans undre anslutning och batteriets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657A5127-882D-49B7-8D40-F9C19EBBA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minuspol saknar förbindelse. Returledaren saknas, så ingen stationär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2879CE93-73C1-4D17-9928-294B539D7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AA63418-E74A-4DAA-8B09-8C42AC9F6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9</a:t>
            </a:r>
          </a:p>
        </p:txBody>
      </p:sp>
    </p:spTree>
    <p:extLst>
      <p:ext uri="{BB962C8B-B14F-4D97-AF65-F5344CB8AC3E}">
        <p14:creationId xmlns:p14="http://schemas.microsoft.com/office/powerpoint/2010/main" val="143198814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25ACB093-5380-41A0-8B0D-D70244746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1. Följ hela strömvägen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65FAE4C1-7E6F-4CC4-87B5-A0B4B9DBA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ström går genom lampan.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833769A9-ABDE-4166-8910-477E55C59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När källa, ledare och last bildar en hel slinga kan stationär ström gå.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E8ED711F-4EA7-4AAC-8E28-D935B13F4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Lampan är en last: den omvandlar elektrisk energi till ljus och värme.</a:t>
            </a:r>
          </a:p>
        </p:txBody>
      </p:sp>
      <p:sp>
        <p:nvSpPr>
          <p:cNvPr id="5" name="body-1-2">
            <a:extLst xmlns:a="http://schemas.openxmlformats.org/drawingml/2006/main">
              <a:ext uri="{FF2B5EF4-FFF2-40B4-BE49-F238E27FC236}">
                <a16:creationId xmlns:a16="http://schemas.microsoft.com/office/drawing/2014/main" id="{C32D9CCB-3D2B-4A52-9754-04CFE3F83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brytare öppnar eller sluter strömvägen.</a:t>
            </a:r>
          </a:p>
        </p:txBody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8B201C07-55AE-40C5-9CA6-8C1700BC1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FB164D-B864-441C-802B-29753A0A2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10</a:t>
            </a:r>
          </a:p>
        </p:txBody>
      </p:sp>
    </p:spTree>
    <p:extLst>
      <p:ext uri="{BB962C8B-B14F-4D97-AF65-F5344CB8AC3E}">
        <p14:creationId xmlns:p14="http://schemas.microsoft.com/office/powerpoint/2010/main" val="124066679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3A82D5F2-9346-4713-B9C2-2B0FAB517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1. Följ hela strömvägen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951370-0CF8-48D9-9981-0D5ABE8B9EB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6a448122434863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0363DF75-C10D-425E-9844-787B13FD6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Brytarkontakterna sitter ihop. Konventionell ström går från plus via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1A5401DE-37DC-463E-8166-F0F0C6D3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brytaren och lampan tillbaka till minus. Pilarna visar samma ström i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CBC1A158-BC4F-462D-8BF9-2025CDC66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104F98-4785-4D0F-A60A-A0CC420DC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11</a:t>
            </a:r>
          </a:p>
        </p:txBody>
      </p:sp>
    </p:spTree>
    <p:extLst>
      <p:ext uri="{BB962C8B-B14F-4D97-AF65-F5344CB8AC3E}">
        <p14:creationId xmlns:p14="http://schemas.microsoft.com/office/powerpoint/2010/main" val="618604912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150E7354-7B92-4AF9-8851-90191B744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1. Följ hela strömvägen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9814AA7A-B038-45C7-95A5-DF1AE8A59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hela den yttre slingan.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C8E63940-B592-4150-8F08-7C02F22EF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Ström är laddning som passerar per tidsenhet. Enheten är ampere, A. I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40326177-76E2-4C9A-90DF-BA4FEB8D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enkel stationär krets utan förgreningar är strömmen lika stor före</a:t>
            </a:r>
          </a:p>
        </p:txBody>
      </p:sp>
      <p:sp>
        <p:nvSpPr>
          <p:cNvPr id="5" name="body-1-2">
            <a:extLst xmlns:a="http://schemas.openxmlformats.org/drawingml/2006/main">
              <a:ext uri="{FF2B5EF4-FFF2-40B4-BE49-F238E27FC236}">
                <a16:creationId xmlns:a16="http://schemas.microsoft.com/office/drawing/2014/main" id="{5A8653DF-87B8-4768-8E72-186048855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efter lampan. Strömmen förbrukas inte i lasten. Vi följer</a:t>
            </a:r>
          </a:p>
        </p:txBody>
      </p:sp>
      <p:sp>
        <p:nvSpPr>
          <p:cNvPr id="6" name="body-1-3">
            <a:extLst xmlns:a="http://schemas.openxmlformats.org/drawingml/2006/main">
              <a:ext uri="{FF2B5EF4-FFF2-40B4-BE49-F238E27FC236}">
                <a16:creationId xmlns:a16="http://schemas.microsoft.com/office/drawing/2014/main" id="{6E89A474-1481-4A37-82E8-FE6882357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konventionell strömriktning från plus till minus i den yttre kretsen.</a:t>
            </a:r>
          </a:p>
        </p:txBody>
      </p:sp>
      <p:sp>
        <p:nvSpPr>
          <p:cNvPr id="7" name="body-1-4">
            <a:extLst xmlns:a="http://schemas.openxmlformats.org/drawingml/2006/main">
              <a:ext uri="{FF2B5EF4-FFF2-40B4-BE49-F238E27FC236}">
                <a16:creationId xmlns:a16="http://schemas.microsoft.com/office/drawing/2014/main" id="{717BFBE2-6020-4348-B690-D72F45091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Elektronerna i en metall rör sig åt motsatt håll.</a:t>
            </a:r>
          </a:p>
        </p:txBody>
      </p:sp>
      <p:sp>
        <p:nvSpPr>
          <p:cNvPr id="8" name="body-2-0">
            <a:extLst xmlns:a="http://schemas.openxmlformats.org/drawingml/2006/main">
              <a:ext uri="{FF2B5EF4-FFF2-40B4-BE49-F238E27FC236}">
                <a16:creationId xmlns:a16="http://schemas.microsoft.com/office/drawing/2014/main" id="{591C29C5-F584-4D5F-B72E-C831CFE89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Återledaren ingår i den normala strömvägen. Skyddsledare och</a:t>
            </a:r>
          </a:p>
        </p:txBody>
      </p:sp>
      <p:sp>
        <p:nvSpPr>
          <p:cNvPr id="9" name="body-2-1">
            <a:extLst xmlns:a="http://schemas.openxmlformats.org/drawingml/2006/main">
              <a:ext uri="{FF2B5EF4-FFF2-40B4-BE49-F238E27FC236}">
                <a16:creationId xmlns:a16="http://schemas.microsoft.com/office/drawing/2014/main" id="{9C44AE2B-4DAD-4CC7-8AB1-09005308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48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fartygsskrov har andra funktioner. Skrovet är inte automatiskt</a:t>
            </a:r>
          </a:p>
        </p:txBody>
      </p:sp>
      <p:sp>
        <p:nvSpPr>
          <p:cNvPr id="10" name="body-2-2">
            <a:extLst xmlns:a="http://schemas.openxmlformats.org/drawingml/2006/main">
              <a:ext uri="{FF2B5EF4-FFF2-40B4-BE49-F238E27FC236}">
                <a16:creationId xmlns:a16="http://schemas.microsoft.com/office/drawing/2014/main" id="{E117DA84-151A-4A42-B7D9-B2950D923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1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detsamma som batteriets minus.</a:t>
            </a:r>
          </a:p>
        </p:txBody>
      </p:sp>
      <p:sp>
        <p:nvSpPr>
          <p:cNvPr id="11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2845582F-6CF0-4B57-8C01-78E4677AB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2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C9C04AE-AC24-48ED-A76A-2AA4261D0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12</a:t>
            </a:r>
          </a:p>
        </p:txBody>
      </p:sp>
    </p:spTree>
    <p:extLst>
      <p:ext uri="{BB962C8B-B14F-4D97-AF65-F5344CB8AC3E}">
        <p14:creationId xmlns:p14="http://schemas.microsoft.com/office/powerpoint/2010/main" val="179418139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8AE59541-EE41-4E93-BEAF-9DB9ADA5E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2. Skilj spänning från ström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96C27ED0-D73D-4189-987D-437324BE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Spänning är skillnaden i elektrisk potential mellan två bestämda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7584F0C2-A120-4220-A8B9-6E7F9F8ED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punkter. Enheten är volt, V. En voltmeter har därför två anslutningar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440F4193-8285-419E-9A2E-38D62B71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kopplas mellan de punkter som ska jämföras. I bilden ligger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D2681747-6E44-4DF1-A687-EDAFFE1E9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mätaren parallellt med resistorn, mellan A och B.</a:t>
            </a:r>
          </a:p>
        </p:txBody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F337E509-E9BE-44FA-813B-6D8951BDB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E50BCA7-6DD8-4EBE-9135-D017D956E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13</a:t>
            </a:r>
          </a:p>
        </p:txBody>
      </p:sp>
    </p:spTree>
    <p:extLst>
      <p:ext uri="{BB962C8B-B14F-4D97-AF65-F5344CB8AC3E}">
        <p14:creationId xmlns:p14="http://schemas.microsoft.com/office/powerpoint/2010/main" val="14704961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934E20A4-8151-4DC5-A62B-774355C97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2. Skilj spänning från ström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4AD693-56F3-4603-BB31-BC386F445EB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39972452954267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C8378628-9E66-4B8C-8ABB-F22EA097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voltmeter är parallellkopplad mellan A och B, samma två noder som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59A0DBFF-1495-4C46-8BAE-52820464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resistorn. Batteriet modelleras som en ideal 12 V-källa.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00331D5B-7064-440D-8883-0C8E354D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B2E3536-EFD0-4B3F-B2DC-8C4DD033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14</a:t>
            </a:r>
          </a:p>
        </p:txBody>
      </p:sp>
    </p:spTree>
    <p:extLst>
      <p:ext uri="{BB962C8B-B14F-4D97-AF65-F5344CB8AC3E}">
        <p14:creationId xmlns:p14="http://schemas.microsoft.com/office/powerpoint/2010/main" val="411731189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9F376DD0-9CE9-4483-B818-8C729472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2. Skilj spänning från ström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76A6CA0F-D657-457F-A455-2733D8E33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Ett batteri kan ha 12 V mellan polerna även när brytaren är öppen och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017CAA36-565C-48DC-8742-4245C6948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lastströmmen är noll. Ett spänningsvärde på en anslutning bevisar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443C22CE-38BE-4B45-8DBE-49D44E882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därför inte att en last har en hel strömväg.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831AE76F-F137-4EE1-82BF-E368A1B1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F3F297-CAEA-4A6D-87E7-39EE3D8E3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15</a:t>
            </a:r>
          </a:p>
        </p:txBody>
      </p:sp>
    </p:spTree>
    <p:extLst>
      <p:ext uri="{BB962C8B-B14F-4D97-AF65-F5344CB8AC3E}">
        <p14:creationId xmlns:p14="http://schemas.microsoft.com/office/powerpoint/2010/main" val="212240738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3C54180E-50B8-4201-A106-F9DC0C17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2. Skilj spänning från ström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8B4A0DA-5035-49DF-9A0D-5F3377CEC0A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69a68160df5492b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6F0C73C7-660A-493E-8FB7-B377C6C3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Brytararmen är tydligt lyft från vänster kontakt. Det vita gapet bryter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69DF5A39-F9EB-451A-B69C-58B33C40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slingan. Ingen stationär ström går någonstans i seriekretsen och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B33F6EB4-E234-4930-9976-9D751F1C1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001BDE1-79E8-45E8-8999-840377524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16</a:t>
            </a:r>
          </a:p>
        </p:txBody>
      </p:sp>
    </p:spTree>
    <p:extLst>
      <p:ext uri="{BB962C8B-B14F-4D97-AF65-F5344CB8AC3E}">
        <p14:creationId xmlns:p14="http://schemas.microsoft.com/office/powerpoint/2010/main" val="1352724834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B1B9E599-7907-4687-AEA9-079FC34A0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2. Skilj spänning från ström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B21A5746-C369-45C5-ADC1-BBF23C4A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lampan är släckt. Batteriet har fortfarande 12 V mellan polerna.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CBA51C14-0C7D-4875-8B4C-267EE8D45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12 V på en märkning är ett nominellt värde. Verklig spänning kan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C91F2DC1-138F-4C5D-82C5-1E5B7D9A1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variera med driftläge. I modulens första modeller använder vi ideala</a:t>
            </a:r>
          </a:p>
        </p:txBody>
      </p:sp>
      <p:sp>
        <p:nvSpPr>
          <p:cNvPr id="5" name="body-1-2">
            <a:extLst xmlns:a="http://schemas.openxmlformats.org/drawingml/2006/main">
              <a:ext uri="{FF2B5EF4-FFF2-40B4-BE49-F238E27FC236}">
                <a16:creationId xmlns:a16="http://schemas.microsoft.com/office/drawing/2014/main" id="{88F8E986-B6F6-47FC-9FB1-7CE5306D9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källor för att kunna skilja principerna åt.</a:t>
            </a:r>
          </a:p>
        </p:txBody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B6C21D71-0F56-43A4-B024-DB801B3EF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B6EE36-9315-4D32-9F42-714C74989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17</a:t>
            </a:r>
          </a:p>
        </p:txBody>
      </p:sp>
    </p:spTree>
    <p:extLst>
      <p:ext uri="{BB962C8B-B14F-4D97-AF65-F5344CB8AC3E}">
        <p14:creationId xmlns:p14="http://schemas.microsoft.com/office/powerpoint/2010/main" val="190088860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AF47D091-751B-4D87-93C6-BBBD7E257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3. Resistans, resistor och enheter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27F3746C-AD4B-4CE1-B433-9B98F7B66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resistor är komponenten; resistans är egenskapen som anges i ohm,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202C3F59-0B0D-4AFA-B74E-663A4D4D6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Ω. För beräkningen ersätter vi lampan med en ohmsk resistor vars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1229F05E-8E2A-4A3D-9A7F-21F7D0535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resistans är oförändrad vid den angivna driftpunkten. En verklig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DEA758AF-B067-47A7-B21A-1F05D2336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lampas resistans kan ändras med temperaturen.</a:t>
            </a:r>
          </a:p>
        </p:txBody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1E29FCB1-7CCC-4C56-A9C4-B8618B7BA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E5CBCE4-4EA2-43EC-8C0F-A12C7051B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18</a:t>
            </a:r>
          </a:p>
        </p:txBody>
      </p:sp>
    </p:spTree>
    <p:extLst>
      <p:ext uri="{BB962C8B-B14F-4D97-AF65-F5344CB8AC3E}">
        <p14:creationId xmlns:p14="http://schemas.microsoft.com/office/powerpoint/2010/main" val="131373308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FD3BC303-117B-46A2-BF6E-24B60E010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3. Resistans, resistor och enheter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28D208-1B75-49E0-A8F8-D097A663CCF7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c974b0d804f46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953E93BC-9158-4E3B-866E-12BB5121C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separata kretsar har vardera en ideal 12 V-källa. En resistor på 1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771138DF-721A-44C8-BB2D-F3F42D3F5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kiloohm ger 12 milliampere. Två kiloohm ger 6 milliampere.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8AB728EB-6A85-4766-9C4F-A62F32479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772D89E-0B30-4152-82A5-6874AF4A6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19</a:t>
            </a:r>
          </a:p>
        </p:txBody>
      </p:sp>
    </p:spTree>
    <p:extLst>
      <p:ext uri="{BB962C8B-B14F-4D97-AF65-F5344CB8AC3E}">
        <p14:creationId xmlns:p14="http://schemas.microsoft.com/office/powerpoint/2010/main" val="165641977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4F35EEE-144C-4AED-81C7-EFCAE3A6B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3. Resistans, resistor och enheter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30945335-C56F-489C-8B9B-FA2EEF5D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Jämför de två separata kretsarna. Båda har 12 V. När resistansen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08705450-4A7A-4861-A9AC-B85314F82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fördubblas från 1 kΩ till 2 kΩ halveras strömmen från 12 mA till 6 mA.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B1C5122A-7207-43BA-BC05-092D4BAD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Det är samma samband som skrivs med Ohms lag i formelguiden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A164B105-FA72-4E8F-B5F6-A6A52D2A1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nedan.</a:t>
            </a:r>
          </a:p>
        </p:txBody>
      </p:sp>
      <p:sp>
        <p:nvSpPr>
          <p:cNvPr id="6" name="body-1-0">
            <a:extLst xmlns:a="http://schemas.openxmlformats.org/drawingml/2006/main">
              <a:ext uri="{FF2B5EF4-FFF2-40B4-BE49-F238E27FC236}">
                <a16:creationId xmlns:a16="http://schemas.microsoft.com/office/drawing/2014/main" id="{034D2E42-DED0-4C35-B88D-89E746193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Kilo betyder tusen: 1 kΩ motsvarar 1 000 Ω.</a:t>
            </a:r>
          </a:p>
        </p:txBody>
      </p:sp>
      <p:sp>
        <p:nvSpPr>
          <p:cNvPr id="7" name="body-2-0">
            <a:extLst xmlns:a="http://schemas.openxmlformats.org/drawingml/2006/main">
              <a:ext uri="{FF2B5EF4-FFF2-40B4-BE49-F238E27FC236}">
                <a16:creationId xmlns:a16="http://schemas.microsoft.com/office/drawing/2014/main" id="{45358B04-4BDB-4249-9D83-D83C5830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Milli betyder en tusendel: 1 mA motsvarar 0,001 A.</a:t>
            </a:r>
          </a:p>
        </p:txBody>
      </p:sp>
      <p:sp>
        <p:nvSpPr>
          <p:cNvPr id="8" name="body-3-0">
            <a:extLst xmlns:a="http://schemas.openxmlformats.org/drawingml/2006/main">
              <a:ext uri="{FF2B5EF4-FFF2-40B4-BE49-F238E27FC236}">
                <a16:creationId xmlns:a16="http://schemas.microsoft.com/office/drawing/2014/main" id="{6F9AE8DA-73A4-4CE7-AFFB-A818DDD98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U betecknar spänning, I ström och R resistans. Storhetsbokstav och</a:t>
            </a:r>
          </a:p>
        </p:txBody>
      </p:sp>
      <p:sp>
        <p:nvSpPr>
          <p:cNvPr id="9" name="body-3-1">
            <a:extLst xmlns:a="http://schemas.openxmlformats.org/drawingml/2006/main">
              <a:ext uri="{FF2B5EF4-FFF2-40B4-BE49-F238E27FC236}">
                <a16:creationId xmlns:a16="http://schemas.microsoft.com/office/drawing/2014/main" id="{CB109F3F-53AC-4871-BDE7-0E0848E3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enhet är olika saker.</a:t>
            </a:r>
          </a:p>
        </p:txBody>
      </p:sp>
      <p:sp>
        <p:nvSpPr>
          <p:cNvPr id="10" name="body-4-0">
            <a:extLst xmlns:a="http://schemas.openxmlformats.org/drawingml/2006/main">
              <a:ext uri="{FF2B5EF4-FFF2-40B4-BE49-F238E27FC236}">
                <a16:creationId xmlns:a16="http://schemas.microsoft.com/office/drawing/2014/main" id="{E3DAD237-231B-4160-9C05-1A4219311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Skriv om givna värden till volt, ampere och ohm innan du sätter in</a:t>
            </a:r>
          </a:p>
        </p:txBody>
      </p:sp>
      <p:sp>
        <p:nvSpPr>
          <p:cNvPr id="11" name="body-4-1">
            <a:extLst xmlns:a="http://schemas.openxmlformats.org/drawingml/2006/main">
              <a:ext uri="{FF2B5EF4-FFF2-40B4-BE49-F238E27FC236}">
                <a16:creationId xmlns:a16="http://schemas.microsoft.com/office/drawing/2014/main" id="{933A06B1-EF8A-4F72-8F8C-9AC52E42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dem i grundsambanden. Behåll enheten i slutsvaret.</a:t>
            </a:r>
          </a:p>
        </p:txBody>
      </p:sp>
      <p:sp>
        <p:nvSpPr>
          <p:cNvPr id="12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0831291E-A8A1-4C3B-BEEC-D0A2A98F7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B1922CE-88B7-443A-8619-2A0CDA0CA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20</a:t>
            </a:r>
          </a:p>
        </p:txBody>
      </p:sp>
    </p:spTree>
    <p:extLst>
      <p:ext uri="{BB962C8B-B14F-4D97-AF65-F5344CB8AC3E}">
        <p14:creationId xmlns:p14="http://schemas.microsoft.com/office/powerpoint/2010/main" val="1186131667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1C66A278-96F6-4091-AE68-72EFF5A74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4. Serie och parallell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482958C1-C349-4FE1-819D-161E2B94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 serie finns en enda strömväg. Samma ström passerar båda lasterna,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B444E7AD-3808-4B93-B870-78B57EDCE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resistansen summeras och spänningen fördelas mellan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1B88C5BD-5692-4727-BAFC-3FC957AD4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komponenterna. Principbilden använder två identiska 12 Ω-resistorer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822B8882-C9DE-4430-AB37-A0D349C7F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en ideal 24 V-källa.</a:t>
            </a:r>
          </a:p>
        </p:txBody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F5258E85-2C91-4F2F-B628-DEFF7C2E4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42058FA-D679-4980-B94A-068CCE203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21</a:t>
            </a:r>
          </a:p>
        </p:txBody>
      </p:sp>
    </p:spTree>
    <p:extLst>
      <p:ext uri="{BB962C8B-B14F-4D97-AF65-F5344CB8AC3E}">
        <p14:creationId xmlns:p14="http://schemas.microsoft.com/office/powerpoint/2010/main" val="1007300399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5AD2BC1E-584F-4036-A5A2-1A874EE7C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4. Serie och parallell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4D784A-88F9-4569-8D8D-0D3B7104268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4565e48477401a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CB7B3B01-8CB3-4F00-8B1A-BAC71957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resistorer på 12 ohm ligger i serie med en 24 V-källa. Total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AAD546F2-62D3-4232-83DB-C370F3622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resistans är 24 ohm och strömmen är 1 ampere.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24584A3-2BFF-416C-9E05-DEF126E33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BFD1C2A-8858-45F8-94B3-78FB7A086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22</a:t>
            </a:r>
          </a:p>
        </p:txBody>
      </p:sp>
    </p:spTree>
    <p:extLst>
      <p:ext uri="{BB962C8B-B14F-4D97-AF65-F5344CB8AC3E}">
        <p14:creationId xmlns:p14="http://schemas.microsoft.com/office/powerpoint/2010/main" val="1623721524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E561243F-0B66-4C57-B16C-24BF55D3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4. Serie och parallell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4CB7B3BA-2EBA-41DB-A685-3728C6F3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 parallell ligger grenarna mellan samma två noder. Varje gren har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97DF2264-16E1-498E-B7C8-6BFF4692E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därför samma spänning. Grenströmmarna kan vara olika; källans ström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550B7906-9DE0-43EB-8744-4C6312F3B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är summan av dem. I bilden är lasterna lika, så båda tar 2 A och källan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5FEB436C-32FA-479C-9BD5-CB2CABE40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ger 4 A.</a:t>
            </a:r>
          </a:p>
        </p:txBody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804DAB0C-3456-4805-AA0B-0F41EFC3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7D6E560-17DC-4A42-BD72-E5FC5B5F6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23</a:t>
            </a:r>
          </a:p>
        </p:txBody>
      </p:sp>
    </p:spTree>
    <p:extLst>
      <p:ext uri="{BB962C8B-B14F-4D97-AF65-F5344CB8AC3E}">
        <p14:creationId xmlns:p14="http://schemas.microsoft.com/office/powerpoint/2010/main" val="1598424070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6FD2670C-0B5F-4250-9AB2-062B158E1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4. Serie och parallell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49FAE2-0C34-4F4D-81E0-2CD1A27B1AD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37d6e72f340ce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0AD841D4-17C9-4E71-84C5-7D16EEA62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resistorer på 12 ohm ligger i separata grenar mellan samma två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149C5E4C-6DE4-46BB-AB22-A91E059D9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noder i en ideal 24 V-krets. Varje gren tar 2 ampere och källan ger 4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6E86E959-1F2F-466B-8CD6-94C9A436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C278BA2-0438-49B5-9D7F-0CBBCEE0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24</a:t>
            </a:r>
          </a:p>
        </p:txBody>
      </p:sp>
    </p:spTree>
    <p:extLst>
      <p:ext uri="{BB962C8B-B14F-4D97-AF65-F5344CB8AC3E}">
        <p14:creationId xmlns:p14="http://schemas.microsoft.com/office/powerpoint/2010/main" val="340982871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6F82997-8A52-4C5D-8230-DE8FD71E1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4. Serie och parallell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9931D568-0F34-423C-8438-3DA7D8BEE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ampere.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F41A826D-9B9D-426C-B7CF-BEEB0B9EA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Ett avbrott i en gren kan släcka den grenens lampa medan den andra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00E00C99-A60D-441B-B972-8D1AB9E51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fortfarande lyser. Ett avbrott i den gemensamma returen kan däremot</a:t>
            </a:r>
          </a:p>
        </p:txBody>
      </p:sp>
      <p:sp>
        <p:nvSpPr>
          <p:cNvPr id="5" name="body-1-2">
            <a:extLst xmlns:a="http://schemas.openxmlformats.org/drawingml/2006/main">
              <a:ext uri="{FF2B5EF4-FFF2-40B4-BE49-F238E27FC236}">
                <a16:creationId xmlns:a16="http://schemas.microsoft.com/office/drawing/2014/main" id="{64B09F78-6544-4C89-8F52-9EE429CB4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bryta båda vägarna. Följ varje gren genom hela kretsen innan du drar</a:t>
            </a:r>
          </a:p>
        </p:txBody>
      </p:sp>
      <p:sp>
        <p:nvSpPr>
          <p:cNvPr id="6" name="body-1-3">
            <a:extLst xmlns:a="http://schemas.openxmlformats.org/drawingml/2006/main">
              <a:ext uri="{FF2B5EF4-FFF2-40B4-BE49-F238E27FC236}">
                <a16:creationId xmlns:a16="http://schemas.microsoft.com/office/drawing/2014/main" id="{71E27540-8171-40F9-AD60-50787DF2D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slutsatsen.</a:t>
            </a:r>
          </a:p>
        </p:txBody>
      </p:sp>
      <p:sp>
        <p:nvSpPr>
          <p:cNvPr id="7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B805C20-4CEF-450A-B3A6-7F73678A8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46EA95B-9E9B-40AA-821D-F79BF285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25</a:t>
            </a:r>
          </a:p>
        </p:txBody>
      </p:sp>
    </p:spTree>
    <p:extLst>
      <p:ext uri="{BB962C8B-B14F-4D97-AF65-F5344CB8AC3E}">
        <p14:creationId xmlns:p14="http://schemas.microsoft.com/office/powerpoint/2010/main" val="2144442216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9418821B-7D1E-4436-8E91-1B2A79057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4. Serie och parallell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82B535-41E6-4144-8846-5E4974311D0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43d9e83a8f4414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884ED468-7E39-4172-82F7-2FBE8C2E1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lampor har varsin gren. En öppen brytare i den högra grenen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ECC5D547-77B7-4ACA-8A4A-858C99DA8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släcker endast den lampan i idealmodellen. Den gemensamma returen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5630B047-F12B-4BFA-881B-50C9A7F6A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DCD578C-3A4C-4507-B3F5-DCA083BA5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26</a:t>
            </a:r>
          </a:p>
        </p:txBody>
      </p:sp>
    </p:spTree>
    <p:extLst>
      <p:ext uri="{BB962C8B-B14F-4D97-AF65-F5344CB8AC3E}">
        <p14:creationId xmlns:p14="http://schemas.microsoft.com/office/powerpoint/2010/main" val="1631624980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E0C05178-CAF3-4233-A549-4CE9D9178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4. Serie och parallell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5B78F348-A71E-4A95-A101-2C74C2729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är hel.</a:t>
            </a:r>
          </a:p>
        </p:txBody>
      </p:sp>
      <p:sp>
        <p:nvSpPr>
          <p:cNvPr id="3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6F1CB219-8EDA-46E2-91E4-B8B90D166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2E7C4C1-D56A-4807-B13B-53C075DD3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27</a:t>
            </a:r>
          </a:p>
        </p:txBody>
      </p:sp>
    </p:spTree>
    <p:extLst>
      <p:ext uri="{BB962C8B-B14F-4D97-AF65-F5344CB8AC3E}">
        <p14:creationId xmlns:p14="http://schemas.microsoft.com/office/powerpoint/2010/main" val="1134933177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55D063E4-7237-4179-A2CB-B21564CA8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5. Funktion är inte samma sak som säkerhet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5DA832A5-0CA8-4545-8740-3BED4E3C1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lampa kan lysa även om en anslutning blir varm eller ett skyddande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E38D0DD5-8F4D-4D4A-BD52-EFDF96D12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lager är skadat. En extra kontaktresistans kan omvandla energi till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3BBC8067-F91C-4F8E-83A3-11018B15C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värme under belastning. Att lasten fungerar visar inte att isolation,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44CB604A-7CD6-418E-83CF-4E1E3012F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kapsling eller överströmsskydd har kontrollerats.</a:t>
            </a:r>
          </a:p>
        </p:txBody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4702A25E-F464-4111-B3C7-523A25F74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5333EA-D710-4D48-84DF-4EDB5E4B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28</a:t>
            </a:r>
          </a:p>
        </p:txBody>
      </p:sp>
    </p:spTree>
    <p:extLst>
      <p:ext uri="{BB962C8B-B14F-4D97-AF65-F5344CB8AC3E}">
        <p14:creationId xmlns:p14="http://schemas.microsoft.com/office/powerpoint/2010/main" val="226438495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05E61F3C-3D55-4D62-94E6-866BDA814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5. Funktion är inte samma sak som säkerhet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E239B1-5D22-4C56-8D0E-01F13E1E614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7abc38f49046e4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E4657981-099B-41A3-909D-BF5AAA63D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extra kontaktresistans i serie kan omvandla energi till värme även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D2B62F65-2C37-4162-9149-B4FC75AE9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när lampans krets är sluten. Denna principbild anger inget säkert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2194F18E-054B-40F6-A9F4-7E2528B84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69661F-1433-41EC-878D-2220D0CD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29</a:t>
            </a:r>
          </a:p>
        </p:txBody>
      </p:sp>
    </p:spTree>
    <p:extLst>
      <p:ext uri="{BB962C8B-B14F-4D97-AF65-F5344CB8AC3E}">
        <p14:creationId xmlns:p14="http://schemas.microsoft.com/office/powerpoint/2010/main" val="92611326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FE6CE5AE-B3E6-4653-9EC9-A678271E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5. Funktion är inte samma sak som säkerhet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7FEC1223-161D-4598-AA29-F39A93DC5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temperatur- eller skyddsvärde.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C5E6D692-E25E-4684-AF2F-8DF3261A2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Isolation skiljer elektriskt ledande delar åt.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BCF23D3D-B5BE-42B1-98B6-6BF72210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En kapsling är utrustningens hölje och har de skyddsegenskaper som</a:t>
            </a:r>
          </a:p>
        </p:txBody>
      </p:sp>
      <p:sp>
        <p:nvSpPr>
          <p:cNvPr id="5" name="body-2-1">
            <a:extLst xmlns:a="http://schemas.openxmlformats.org/drawingml/2006/main">
              <a:ext uri="{FF2B5EF4-FFF2-40B4-BE49-F238E27FC236}">
                <a16:creationId xmlns:a16="http://schemas.microsoft.com/office/drawing/2014/main" id="{8EB8ECA6-DF68-4DB4-B753-AEC774579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dess utförande anger.</a:t>
            </a:r>
          </a:p>
        </p:txBody>
      </p:sp>
      <p:sp>
        <p:nvSpPr>
          <p:cNvPr id="6" name="body-3-0">
            <a:extLst xmlns:a="http://schemas.openxmlformats.org/drawingml/2006/main">
              <a:ext uri="{FF2B5EF4-FFF2-40B4-BE49-F238E27FC236}">
                <a16:creationId xmlns:a16="http://schemas.microsoft.com/office/drawing/2014/main" id="{2DB7E0F7-0571-4EDF-A91C-F8502707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En säkring kan bryta vid överström enligt sina villkor; den ersätter</a:t>
            </a:r>
          </a:p>
        </p:txBody>
      </p:sp>
      <p:sp>
        <p:nvSpPr>
          <p:cNvPr id="7" name="body-3-1">
            <a:extLst xmlns:a="http://schemas.openxmlformats.org/drawingml/2006/main">
              <a:ext uri="{FF2B5EF4-FFF2-40B4-BE49-F238E27FC236}">
                <a16:creationId xmlns:a16="http://schemas.microsoft.com/office/drawing/2014/main" id="{20DAFE60-3BB1-45B4-A1CE-01F3CE88F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inte alla andra skydd.</a:t>
            </a:r>
          </a:p>
        </p:txBody>
      </p:sp>
      <p:sp>
        <p:nvSpPr>
          <p:cNvPr id="8" name="body-4-0">
            <a:extLst xmlns:a="http://schemas.openxmlformats.org/drawingml/2006/main">
              <a:ext uri="{FF2B5EF4-FFF2-40B4-BE49-F238E27FC236}">
                <a16:creationId xmlns:a16="http://schemas.microsoft.com/office/drawing/2014/main" id="{1AEAC575-3BF8-4249-9EA8-D1581275C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Även ett lågspänningsbatteri kan ge stor felström med värme- och</a:t>
            </a:r>
          </a:p>
        </p:txBody>
      </p:sp>
      <p:sp>
        <p:nvSpPr>
          <p:cNvPr id="9" name="body-4-1">
            <a:extLst xmlns:a="http://schemas.openxmlformats.org/drawingml/2006/main">
              <a:ext uri="{FF2B5EF4-FFF2-40B4-BE49-F238E27FC236}">
                <a16:creationId xmlns:a16="http://schemas.microsoft.com/office/drawing/2014/main" id="{866A8DA5-AF6E-43B5-A8C5-A12CFFDE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brandrisk. Grundmodellen är ingen säkerhetsverifiering av en verklig</a:t>
            </a:r>
          </a:p>
        </p:txBody>
      </p:sp>
      <p:sp>
        <p:nvSpPr>
          <p:cNvPr id="10" name="body-4-2">
            <a:extLst xmlns:a="http://schemas.openxmlformats.org/drawingml/2006/main">
              <a:ext uri="{FF2B5EF4-FFF2-40B4-BE49-F238E27FC236}">
                <a16:creationId xmlns:a16="http://schemas.microsoft.com/office/drawing/2014/main" id="{CBDE6B98-3D69-4A54-95CD-E818DAE78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anläggning.</a:t>
            </a:r>
          </a:p>
        </p:txBody>
      </p:sp>
      <p:sp>
        <p:nvSpPr>
          <p:cNvPr id="11" name="body-5-0">
            <a:extLst xmlns:a="http://schemas.openxmlformats.org/drawingml/2006/main">
              <a:ext uri="{FF2B5EF4-FFF2-40B4-BE49-F238E27FC236}">
                <a16:creationId xmlns:a16="http://schemas.microsoft.com/office/drawing/2014/main" id="{E2817FB8-1CF8-4CC8-B72E-50AEB1FF5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38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Skriv riskbedömningen som en sammanhängande kedja: fara → möjlig</a:t>
            </a:r>
          </a:p>
        </p:txBody>
      </p:sp>
      <p:sp>
        <p:nvSpPr>
          <p:cNvPr id="12" name="body-5-1">
            <a:extLst xmlns:a="http://schemas.openxmlformats.org/drawingml/2006/main">
              <a:ext uri="{FF2B5EF4-FFF2-40B4-BE49-F238E27FC236}">
                <a16:creationId xmlns:a16="http://schemas.microsoft.com/office/drawing/2014/main" id="{3ACDAC63-BCB1-4CAC-AC71-168467527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6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händelse → följd → åtgärd → verifiering . Ange även vem som ansvarar.</a:t>
            </a:r>
          </a:p>
        </p:txBody>
      </p:sp>
      <p:sp>
        <p:nvSpPr>
          <p:cNvPr id="13" name="body-5-2">
            <a:extLst xmlns:a="http://schemas.openxmlformats.org/drawingml/2006/main">
              <a:ext uri="{FF2B5EF4-FFF2-40B4-BE49-F238E27FC236}">
                <a16:creationId xmlns:a16="http://schemas.microsoft.com/office/drawing/2014/main" id="{4E85B811-8BD5-447E-8FAE-31ABEEF95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Sätt inte ett påhittat sannolikhetstal där underlag saknas. Personlig</a:t>
            </a:r>
          </a:p>
        </p:txBody>
      </p:sp>
      <p:sp>
        <p:nvSpPr>
          <p:cNvPr id="1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958B6C1-6A3A-44A3-AEE8-37926EF9C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A0B43E-3A6E-4874-8AD2-E318C5F21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30</a:t>
            </a:r>
          </a:p>
        </p:txBody>
      </p:sp>
    </p:spTree>
    <p:extLst>
      <p:ext uri="{BB962C8B-B14F-4D97-AF65-F5344CB8AC3E}">
        <p14:creationId xmlns:p14="http://schemas.microsoft.com/office/powerpoint/2010/main" val="810578707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319EF18-DAA6-420C-BDB0-7DF88EA0D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5. Funktion är inte samma sak som säkerhet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4AB618E1-AEE7-4082-ACC2-53F27B182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skyddsutrustning gör inte skadad utrustning lämplig att använda.</a:t>
            </a:r>
          </a:p>
        </p:txBody>
      </p:sp>
      <p:sp>
        <p:nvSpPr>
          <p:cNvPr id="3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2D5D2F7A-D926-4904-9114-FFA96AF70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4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A7EA3F8-2376-448F-BA39-91F1A2DD0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31</a:t>
            </a:r>
          </a:p>
        </p:txBody>
      </p:sp>
    </p:spTree>
    <p:extLst>
      <p:ext uri="{BB962C8B-B14F-4D97-AF65-F5344CB8AC3E}">
        <p14:creationId xmlns:p14="http://schemas.microsoft.com/office/powerpoint/2010/main" val="60244999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1997171-C9E8-4B35-81EC-11993A108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6. Beslutsfall A: den skadade arbetslampan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2E32594F-CBF5-4DDB-9354-E1142AAF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Givet underlag: en bärbar arbetslampa vid en gångväg på däck är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C1752AE0-87C5-4C69-8FD6-FBB2DFF95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ansluten till 230 V AC. Sladdens ytterhölje är sprucket, lampan lyser,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24F1935C-618D-4C13-9E2F-B8DC72187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däcket är fuktigt och personer passerar. Skadans djup, skyddens skick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E858DF07-EE49-49A3-850D-12CAD521A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matningens krets är inte verifierade. Detta är ett distansfall för</a:t>
            </a:r>
          </a:p>
        </p:txBody>
      </p:sp>
      <p:sp>
        <p:nvSpPr>
          <p:cNvPr id="6" name="body-0-4">
            <a:extLst xmlns:a="http://schemas.openxmlformats.org/drawingml/2006/main">
              <a:ext uri="{FF2B5EF4-FFF2-40B4-BE49-F238E27FC236}">
                <a16:creationId xmlns:a16="http://schemas.microsoft.com/office/drawing/2014/main" id="{E9A587A5-268C-42A2-A055-AB3E07E42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analys; du ska inte undersöka verklig spänningssatt utrustning.</a:t>
            </a:r>
          </a:p>
        </p:txBody>
      </p:sp>
      <p:sp>
        <p:nvSpPr>
          <p:cNvPr id="7" name="body-1-0">
            <a:extLst xmlns:a="http://schemas.openxmlformats.org/drawingml/2006/main">
              <a:ext uri="{FF2B5EF4-FFF2-40B4-BE49-F238E27FC236}">
                <a16:creationId xmlns:a16="http://schemas.microsoft.com/office/drawing/2014/main" id="{063DF2E7-DB49-4A2E-B5FC-F7E3B741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Skilj uppgifterna i fallet från en hypotes. ”Ytterhöljet är sprucket” är en</a:t>
            </a:r>
          </a:p>
        </p:txBody>
      </p:sp>
      <p:sp>
        <p:nvSpPr>
          <p:cNvPr id="8" name="body-1-1">
            <a:extLst xmlns:a="http://schemas.openxmlformats.org/drawingml/2006/main">
              <a:ext uri="{FF2B5EF4-FFF2-40B4-BE49-F238E27FC236}">
                <a16:creationId xmlns:a16="http://schemas.microsoft.com/office/drawing/2014/main" id="{17FF035E-65E2-4237-B47B-AE8C2EADC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observation. ”Sladden har klämts” är en möjlig förklaring, inte ett</a:t>
            </a:r>
          </a:p>
        </p:txBody>
      </p:sp>
      <p:sp>
        <p:nvSpPr>
          <p:cNvPr id="9" name="body-1-2">
            <a:extLst xmlns:a="http://schemas.openxmlformats.org/drawingml/2006/main">
              <a:ext uri="{FF2B5EF4-FFF2-40B4-BE49-F238E27FC236}">
                <a16:creationId xmlns:a16="http://schemas.microsoft.com/office/drawing/2014/main" id="{BB1F7EF7-B1BC-494A-BA0A-6B1A17BF1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fastställt förlopp. ”Alla skydd fungerar” saknar underlag.</a:t>
            </a:r>
          </a:p>
        </p:txBody>
      </p:sp>
      <p:sp>
        <p:nvSpPr>
          <p:cNvPr id="10" name="body-2-0">
            <a:extLst xmlns:a="http://schemas.openxmlformats.org/drawingml/2006/main">
              <a:ext uri="{FF2B5EF4-FFF2-40B4-BE49-F238E27FC236}">
                <a16:creationId xmlns:a16="http://schemas.microsoft.com/office/drawing/2014/main" id="{12E09395-840B-4D47-BB5B-076DD80AC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1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 fallet finns inget underlag för fortsatt användning. Användningen ska</a:t>
            </a:r>
          </a:p>
        </p:txBody>
      </p:sp>
      <p:sp>
        <p:nvSpPr>
          <p:cNvPr id="11" name="body-2-1">
            <a:extLst xmlns:a="http://schemas.openxmlformats.org/drawingml/2006/main">
              <a:ext uri="{FF2B5EF4-FFF2-40B4-BE49-F238E27FC236}">
                <a16:creationId xmlns:a16="http://schemas.microsoft.com/office/drawing/2014/main" id="{691898AE-26A9-4B35-931F-A3B35DD5A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upphöra och återanvändning hindras. Elektrisk hantering kräver säker</a:t>
            </a:r>
          </a:p>
        </p:txBody>
      </p:sp>
      <p:sp>
        <p:nvSpPr>
          <p:cNvPr id="12" name="body-2-2">
            <a:extLst xmlns:a="http://schemas.openxmlformats.org/drawingml/2006/main">
              <a:ext uri="{FF2B5EF4-FFF2-40B4-BE49-F238E27FC236}">
                <a16:creationId xmlns:a16="http://schemas.microsoft.com/office/drawing/2014/main" id="{ECA7B14C-3211-4098-A34E-F6FFB9931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metod, rätt identifiering och relevant kompetens. En AV-knapp eller en</a:t>
            </a:r>
          </a:p>
        </p:txBody>
      </p:sp>
      <p:sp>
        <p:nvSpPr>
          <p:cNvPr id="13" name="body-2-3">
            <a:extLst xmlns:a="http://schemas.openxmlformats.org/drawingml/2006/main">
              <a:ext uri="{FF2B5EF4-FFF2-40B4-BE49-F238E27FC236}">
                <a16:creationId xmlns:a16="http://schemas.microsoft.com/office/drawing/2014/main" id="{449A2288-E341-44D8-B61E-FE4C3D0EF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434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lapp är inte i sig ett bevis på frånskiljning. Samtidigt måste ljus och</a:t>
            </a:r>
          </a:p>
        </p:txBody>
      </p:sp>
      <p:sp>
        <p:nvSpPr>
          <p:cNvPr id="14" name="body-2-4">
            <a:extLst xmlns:a="http://schemas.openxmlformats.org/drawingml/2006/main">
              <a:ext uri="{FF2B5EF4-FFF2-40B4-BE49-F238E27FC236}">
                <a16:creationId xmlns:a16="http://schemas.microsoft.com/office/drawing/2014/main" id="{285EDDE3-84D5-49CB-9766-32BA0833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673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tillträde hanteras.</a:t>
            </a:r>
          </a:p>
        </p:txBody>
      </p:sp>
      <p:sp>
        <p:nvSpPr>
          <p:cNvPr id="1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38E69856-BF07-4C5A-B865-9FAAED2DA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92E21E7-7B40-4222-AFB4-6DC918D73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32</a:t>
            </a:r>
          </a:p>
        </p:txBody>
      </p:sp>
    </p:spTree>
    <p:extLst>
      <p:ext uri="{BB962C8B-B14F-4D97-AF65-F5344CB8AC3E}">
        <p14:creationId xmlns:p14="http://schemas.microsoft.com/office/powerpoint/2010/main" val="609320559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A9A89D56-5246-4E06-B673-321663DC0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6. Beslutsfall A: den skadade arbetslampan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99B443C1-034C-4424-820D-065FBCB6F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Beskriv vilka personer som kan exponeras och genom vilket förlopp.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7EB5C6EA-8AEB-425D-834A-595BDD6A1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Ange vad som är känt, vad som är osäkert och vilket underlag som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ADE308CE-E975-43AC-A5C9-2D932E89E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behövs.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F1456F60-D8F5-4025-92E8-892360F4F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Skriv ett beslut, en ansvarig och en kontrollerbar uppföljning.</a:t>
            </a:r>
          </a:p>
        </p:txBody>
      </p:sp>
      <p:sp>
        <p:nvSpPr>
          <p:cNvPr id="6" name="body-3-0">
            <a:extLst xmlns:a="http://schemas.openxmlformats.org/drawingml/2006/main">
              <a:ext uri="{FF2B5EF4-FFF2-40B4-BE49-F238E27FC236}">
                <a16:creationId xmlns:a16="http://schemas.microsoft.com/office/drawing/2014/main" id="{01374F0E-A4C5-4578-8882-F87704DB5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Skilj genomförd åtgärd från planerad kontroll.</a:t>
            </a:r>
          </a:p>
        </p:txBody>
      </p:sp>
      <p:sp>
        <p:nvSpPr>
          <p:cNvPr id="7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92D73815-0208-471D-8E5C-34753E050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B621612-5B7F-4991-AD88-684D5CCFE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33</a:t>
            </a:r>
          </a:p>
        </p:txBody>
      </p:sp>
    </p:spTree>
    <p:extLst>
      <p:ext uri="{BB962C8B-B14F-4D97-AF65-F5344CB8AC3E}">
        <p14:creationId xmlns:p14="http://schemas.microsoft.com/office/powerpoint/2010/main" val="84905733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C9CF0E60-FF46-4C8A-BEE4-00464AB37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7. Beslutsfall B: ljus och länsning samtidigt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14A55C42-6D7C-43C6-A072-04E376602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Den skadade lampan är nu tagen ur bruk genom säker hantering.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7B3DB377-72A4-4D8C-A3C5-C50934CF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Gångvägen behövs i ytterligare 90 minuter. Samma grupp försörjer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CE709B81-3016-4016-AD5F-7FCB37377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också en pump vars aktuella driftbehov behöver klarläggas. En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15B99DE5-5544-4DE1-91C7-875FAF0B5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länspump för bort vatten från avsedda utrymmen; dess betydelse</a:t>
            </a:r>
          </a:p>
        </p:txBody>
      </p:sp>
      <p:sp>
        <p:nvSpPr>
          <p:cNvPr id="6" name="body-0-4">
            <a:extLst xmlns:a="http://schemas.openxmlformats.org/drawingml/2006/main">
              <a:ext uri="{FF2B5EF4-FFF2-40B4-BE49-F238E27FC236}">
                <a16:creationId xmlns:a16="http://schemas.microsoft.com/office/drawing/2014/main" id="{6EC22731-BED1-47E7-9A42-FD8358560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beror på uppgift och driftläge.</a:t>
            </a:r>
          </a:p>
        </p:txBody>
      </p:sp>
      <p:sp>
        <p:nvSpPr>
          <p:cNvPr id="7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6ACC5667-6045-4E54-9225-6172F7FA8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3FD35B2-E5AC-47D3-96C5-FCC7EDCDD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34</a:t>
            </a:r>
          </a:p>
        </p:txBody>
      </p:sp>
    </p:spTree>
    <p:extLst>
      <p:ext uri="{BB962C8B-B14F-4D97-AF65-F5344CB8AC3E}">
        <p14:creationId xmlns:p14="http://schemas.microsoft.com/office/powerpoint/2010/main" val="718231318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66A295D4-9159-4231-B526-18B85E4F8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7. Beslutsfall B: ljus och länsning samtidigt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04A1A6-FDC7-4D6E-A634-4CCA3C54A50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74a7ad44cc4744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BC133BB5-FBA8-4273-A6E9-F27460E60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Ett funktionsschema visar hur en gemensam matning förgrenas till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EE8A7CD9-7026-420A-8513-7295689B1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arbetsbelysning och länspump. En frånkoppling före förgreningen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3E76D150-7268-412D-B90C-AD7D5FDF8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89E52AA-ADD8-4C4C-ADE3-119E71CEA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35</a:t>
            </a:r>
          </a:p>
        </p:txBody>
      </p:sp>
    </p:spTree>
    <p:extLst>
      <p:ext uri="{BB962C8B-B14F-4D97-AF65-F5344CB8AC3E}">
        <p14:creationId xmlns:p14="http://schemas.microsoft.com/office/powerpoint/2010/main" val="595449625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36E3AED4-A122-48C0-BFAF-010335E20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7. Beslutsfall B: ljus och länsning samtidigt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D90BE02E-B352-4F01-8941-178C33D67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påverkar båda. Detta är inte ett installationsschema.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32938834-3788-47B9-B9F6-25E612784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Reservlampa A kan tändas, men miljölämplighet och drifttid är okända.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8879265F-693D-414B-810E-21C959C9C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För reservlampa B anger övningsunderlaget lämplighet för fallets miljö</a:t>
            </a:r>
          </a:p>
        </p:txBody>
      </p:sp>
      <p:sp>
        <p:nvSpPr>
          <p:cNvPr id="5" name="body-1-2">
            <a:extLst xmlns:a="http://schemas.openxmlformats.org/drawingml/2006/main">
              <a:ext uri="{FF2B5EF4-FFF2-40B4-BE49-F238E27FC236}">
                <a16:creationId xmlns:a16="http://schemas.microsoft.com/office/drawing/2014/main" id="{C3470517-83AE-4CA8-B9EE-D5FEB9902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minst två timmars drifttid i valt läge. B:s aktuella skick, laddning,</a:t>
            </a:r>
          </a:p>
        </p:txBody>
      </p:sp>
      <p:sp>
        <p:nvSpPr>
          <p:cNvPr id="6" name="body-1-3">
            <a:extLst xmlns:a="http://schemas.openxmlformats.org/drawingml/2006/main">
              <a:ext uri="{FF2B5EF4-FFF2-40B4-BE49-F238E27FC236}">
                <a16:creationId xmlns:a16="http://schemas.microsoft.com/office/drawing/2014/main" id="{F56CCA64-148B-48F5-A5FD-A9FC9B9F6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placering och belysning av gångvägen ska fortfarande kontrolleras. Att</a:t>
            </a:r>
          </a:p>
        </p:txBody>
      </p:sp>
      <p:sp>
        <p:nvSpPr>
          <p:cNvPr id="7" name="body-1-4">
            <a:extLst xmlns:a="http://schemas.openxmlformats.org/drawingml/2006/main">
              <a:ext uri="{FF2B5EF4-FFF2-40B4-BE49-F238E27FC236}">
                <a16:creationId xmlns:a16="http://schemas.microsoft.com/office/drawing/2014/main" id="{3C761FE9-F670-4602-B2A1-5C08340F5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den kan lysa är inte den enda kontrollen.</a:t>
            </a:r>
          </a:p>
        </p:txBody>
      </p:sp>
      <p:sp>
        <p:nvSpPr>
          <p:cNvPr id="8" name="body-2-0">
            <a:extLst xmlns:a="http://schemas.openxmlformats.org/drawingml/2006/main">
              <a:ext uri="{FF2B5EF4-FFF2-40B4-BE49-F238E27FC236}">
                <a16:creationId xmlns:a16="http://schemas.microsoft.com/office/drawing/2014/main" id="{D3E61BB5-D7D3-4F8C-ACA6-17A792BCC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Välj därför inte enbart efter att en lampa går att tända. Ange vilket</a:t>
            </a:r>
          </a:p>
        </p:txBody>
      </p:sp>
      <p:sp>
        <p:nvSpPr>
          <p:cNvPr id="9" name="body-2-1">
            <a:extLst xmlns:a="http://schemas.openxmlformats.org/drawingml/2006/main">
              <a:ext uri="{FF2B5EF4-FFF2-40B4-BE49-F238E27FC236}">
                <a16:creationId xmlns:a16="http://schemas.microsoft.com/office/drawing/2014/main" id="{129399BF-8D73-4971-94F2-1AEF5D82E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48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underlag som talar för B och vad som återstår före användning.</a:t>
            </a:r>
          </a:p>
        </p:txBody>
      </p:sp>
      <p:sp>
        <p:nvSpPr>
          <p:cNvPr id="10" name="body-2-2">
            <a:extLst xmlns:a="http://schemas.openxmlformats.org/drawingml/2006/main">
              <a:ext uri="{FF2B5EF4-FFF2-40B4-BE49-F238E27FC236}">
                <a16:creationId xmlns:a16="http://schemas.microsoft.com/office/drawing/2014/main" id="{11422EAF-C6F4-4B18-BB7E-7B1196853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971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Samordna påverkan på pumpen med driftfunktionen.</a:t>
            </a:r>
          </a:p>
        </p:txBody>
      </p:sp>
      <p:sp>
        <p:nvSpPr>
          <p:cNvPr id="11" name="body-2-3">
            <a:extLst xmlns:a="http://schemas.openxmlformats.org/drawingml/2006/main">
              <a:ext uri="{FF2B5EF4-FFF2-40B4-BE49-F238E27FC236}">
                <a16:creationId xmlns:a16="http://schemas.microsoft.com/office/drawing/2014/main" id="{EDB8965F-384F-4AC9-A678-DFCD6D99B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95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Funktionsschemat är inte en instruktion för frånskiljning eller ändrad</a:t>
            </a:r>
          </a:p>
        </p:txBody>
      </p:sp>
      <p:sp>
        <p:nvSpPr>
          <p:cNvPr id="12" name="body-2-4">
            <a:extLst xmlns:a="http://schemas.openxmlformats.org/drawingml/2006/main">
              <a:ext uri="{FF2B5EF4-FFF2-40B4-BE49-F238E27FC236}">
                <a16:creationId xmlns:a16="http://schemas.microsoft.com/office/drawing/2014/main" id="{92C7CBAC-2718-4638-8641-941FCC662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19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koppling.</a:t>
            </a:r>
          </a:p>
        </p:txBody>
      </p:sp>
      <p:sp>
        <p:nvSpPr>
          <p:cNvPr id="13" name="body-3-0">
            <a:extLst xmlns:a="http://schemas.openxmlformats.org/drawingml/2006/main">
              <a:ext uri="{FF2B5EF4-FFF2-40B4-BE49-F238E27FC236}">
                <a16:creationId xmlns:a16="http://schemas.microsoft.com/office/drawing/2014/main" id="{D560B0B5-0BD8-40A2-81E2-9DD6A9948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57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Ett tillfälligt beslut behöver ansvarig, tidsgräns och villkor för</a:t>
            </a:r>
          </a:p>
        </p:txBody>
      </p:sp>
      <p:sp>
        <p:nvSpPr>
          <p:cNvPr id="14" name="body-3-1">
            <a:extLst xmlns:a="http://schemas.openxmlformats.org/drawingml/2006/main">
              <a:ext uri="{FF2B5EF4-FFF2-40B4-BE49-F238E27FC236}">
                <a16:creationId xmlns:a16="http://schemas.microsoft.com/office/drawing/2014/main" id="{A95F5F73-7E00-4C53-B67A-9574EEB67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81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omprövning. Flyttad lampa, ändrat driftläge eller mer vatten kan kräva</a:t>
            </a:r>
          </a:p>
        </p:txBody>
      </p:sp>
      <p:sp>
        <p:nvSpPr>
          <p:cNvPr id="1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7594AA03-566B-47FD-99C5-B88DD377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FDD97F5-68BA-4D2C-AE25-EC4D402BF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36</a:t>
            </a:r>
          </a:p>
        </p:txBody>
      </p:sp>
    </p:spTree>
    <p:extLst>
      <p:ext uri="{BB962C8B-B14F-4D97-AF65-F5344CB8AC3E}">
        <p14:creationId xmlns:p14="http://schemas.microsoft.com/office/powerpoint/2010/main" val="1986586622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FC4FBFB1-358D-43A7-ADD1-8D3F3706C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7. Beslutsfall B: ljus och länsning samtidigt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0849A13F-6AEC-4983-8298-2718F14E3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ny kontroll. En ficklampa är inte automatiskt en ersättning för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4070A49B-D2EF-4CBA-B8A1-E5442FD4B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föreskriven nödbelysning.</a:t>
            </a:r>
          </a:p>
        </p:txBody>
      </p:sp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9FF53E0D-0CD3-439E-BEA5-EFC315398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9882D7-EB84-4099-AED4-E148C936E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37</a:t>
            </a:r>
          </a:p>
        </p:txBody>
      </p:sp>
    </p:spTree>
    <p:extLst>
      <p:ext uri="{BB962C8B-B14F-4D97-AF65-F5344CB8AC3E}">
        <p14:creationId xmlns:p14="http://schemas.microsoft.com/office/powerpoint/2010/main" val="1240777017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90976DFB-FD98-4734-A7BE-E31D61C52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8. Dokumentera så att någon annan kan följa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1AE5B846-B696-45CC-9AF3-3C233981A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arbetet</a:t>
            </a:r>
          </a:p>
        </p:txBody>
      </p:sp>
      <p:sp>
        <p:nvSpPr>
          <p:cNvPr id="3" name="body-0-0">
            <a:extLst xmlns:a="http://schemas.openxmlformats.org/drawingml/2006/main">
              <a:ext uri="{FF2B5EF4-FFF2-40B4-BE49-F238E27FC236}">
                <a16:creationId xmlns:a16="http://schemas.microsoft.com/office/drawing/2014/main" id="{08C8A451-6F19-478D-B405-C7B8E29F4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Ett användbart protokoll anger objekt, plats, driftläge och mätpunkter.</a:t>
            </a:r>
          </a:p>
        </p:txBody>
      </p:sp>
      <p:sp>
        <p:nvSpPr>
          <p:cNvPr id="4" name="body-0-1">
            <a:extLst xmlns:a="http://schemas.openxmlformats.org/drawingml/2006/main">
              <a:ext uri="{FF2B5EF4-FFF2-40B4-BE49-F238E27FC236}">
                <a16:creationId xmlns:a16="http://schemas.microsoft.com/office/drawing/2014/main" id="{AEFAB188-BC28-4B7B-B706-05EE9F5B0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Skriv förutsägelse före mätningen, därefter observerat värde med</a:t>
            </a:r>
          </a:p>
        </p:txBody>
      </p:sp>
      <p:sp>
        <p:nvSpPr>
          <p:cNvPr id="5" name="body-0-2">
            <a:extLst xmlns:a="http://schemas.openxmlformats.org/drawingml/2006/main">
              <a:ext uri="{FF2B5EF4-FFF2-40B4-BE49-F238E27FC236}">
                <a16:creationId xmlns:a16="http://schemas.microsoft.com/office/drawing/2014/main" id="{1BAA5A30-B740-45E6-89CC-3564A2062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enhet, möjlig förklaring och slutsats. Ange vilka kontroller som har</a:t>
            </a:r>
          </a:p>
        </p:txBody>
      </p:sp>
      <p:sp>
        <p:nvSpPr>
          <p:cNvPr id="6" name="body-0-3">
            <a:extLst xmlns:a="http://schemas.openxmlformats.org/drawingml/2006/main">
              <a:ext uri="{FF2B5EF4-FFF2-40B4-BE49-F238E27FC236}">
                <a16:creationId xmlns:a16="http://schemas.microsoft.com/office/drawing/2014/main" id="{55A2B206-7846-46E2-98BD-16E596054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utförts och vilka som fortfarande planeras.</a:t>
            </a:r>
          </a:p>
        </p:txBody>
      </p:sp>
      <p:sp>
        <p:nvSpPr>
          <p:cNvPr id="7" name="body-1-0">
            <a:extLst xmlns:a="http://schemas.openxmlformats.org/drawingml/2006/main">
              <a:ext uri="{FF2B5EF4-FFF2-40B4-BE49-F238E27FC236}">
                <a16:creationId xmlns:a16="http://schemas.microsoft.com/office/drawing/2014/main" id="{9980F26D-FA25-4472-907D-15661EFFF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718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”12,0 V vid batteriet, 11,9 V över lampan, lampan lyser” är ett</a:t>
            </a:r>
          </a:p>
        </p:txBody>
      </p:sp>
      <p:sp>
        <p:nvSpPr>
          <p:cNvPr id="8" name="body-1-1">
            <a:extLst xmlns:a="http://schemas.openxmlformats.org/drawingml/2006/main">
              <a:ext uri="{FF2B5EF4-FFF2-40B4-BE49-F238E27FC236}">
                <a16:creationId xmlns:a16="http://schemas.microsoft.com/office/drawing/2014/main" id="{63FCC24B-7415-4655-B7A5-0FB9D6AB9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956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observationsunderlag. Det bevisar inte att isolation och alla skydd är</a:t>
            </a:r>
          </a:p>
        </p:txBody>
      </p:sp>
      <p:sp>
        <p:nvSpPr>
          <p:cNvPr id="9" name="body-1-2">
            <a:extLst xmlns:a="http://schemas.openxmlformats.org/drawingml/2006/main">
              <a:ext uri="{FF2B5EF4-FFF2-40B4-BE49-F238E27FC236}">
                <a16:creationId xmlns:a16="http://schemas.microsoft.com/office/drawing/2014/main" id="{2601BE9C-BB3C-4FD7-BEA6-00BA8C50F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6195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kontrollerade. Ordet ”klart” skapar inget tekniskt bevis.</a:t>
            </a:r>
          </a:p>
        </p:txBody>
      </p:sp>
      <p:sp>
        <p:nvSpPr>
          <p:cNvPr id="10" name="body-2-0">
            <a:extLst xmlns:a="http://schemas.openxmlformats.org/drawingml/2006/main">
              <a:ext uri="{FF2B5EF4-FFF2-40B4-BE49-F238E27FC236}">
                <a16:creationId xmlns:a16="http://schemas.microsoft.com/office/drawing/2014/main" id="{10D6C856-69E4-4B14-A234-E5F2EA325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576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Lämna ett tydligt besked mellan berörda funktioner: objekt, plats,</a:t>
            </a:r>
          </a:p>
        </p:txBody>
      </p:sp>
      <p:sp>
        <p:nvSpPr>
          <p:cNvPr id="11" name="body-2-1">
            <a:extLst xmlns:a="http://schemas.openxmlformats.org/drawingml/2006/main">
              <a:ext uri="{FF2B5EF4-FFF2-40B4-BE49-F238E27FC236}">
                <a16:creationId xmlns:a16="http://schemas.microsoft.com/office/drawing/2014/main" id="{39E10D40-7551-4ADD-818B-9DD85719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815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observation, aktuell status och vem som följer upp. Rollnamn varierar</a:t>
            </a:r>
          </a:p>
        </p:txBody>
      </p:sp>
      <p:sp>
        <p:nvSpPr>
          <p:cNvPr id="12" name="body-2-2">
            <a:extLst xmlns:a="http://schemas.openxmlformats.org/drawingml/2006/main">
              <a:ext uri="{FF2B5EF4-FFF2-40B4-BE49-F238E27FC236}">
                <a16:creationId xmlns:a16="http://schemas.microsoft.com/office/drawing/2014/main" id="{D1DB7A20-4C55-4414-8651-E1D0C1611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7053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mellan organisationer. Kontrollera att mottagaren har uppfattat det</a:t>
            </a:r>
          </a:p>
        </p:txBody>
      </p:sp>
      <p:sp>
        <p:nvSpPr>
          <p:cNvPr id="13" name="body-2-3">
            <a:extLst xmlns:a="http://schemas.openxmlformats.org/drawingml/2006/main">
              <a:ext uri="{FF2B5EF4-FFF2-40B4-BE49-F238E27FC236}">
                <a16:creationId xmlns:a16="http://schemas.microsoft.com/office/drawing/2014/main" id="{BC49A9C2-0B55-43B9-9E29-1A6008908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292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väsentliga.</a:t>
            </a:r>
          </a:p>
        </p:txBody>
      </p:sp>
      <p:sp>
        <p:nvSpPr>
          <p:cNvPr id="1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A8E22C6B-FB76-49B8-B848-1C075780F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EFC358C-A459-4A5C-BC8D-2C5B06E89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38</a:t>
            </a:r>
          </a:p>
        </p:txBody>
      </p:sp>
    </p:spTree>
    <p:extLst>
      <p:ext uri="{BB962C8B-B14F-4D97-AF65-F5344CB8AC3E}">
        <p14:creationId xmlns:p14="http://schemas.microsoft.com/office/powerpoint/2010/main" val="1474805712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FD0CE71B-41C2-4604-A50C-8EA23366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8. Dokumentera så att någon annan kan följa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C5CDFEC5-D8ED-4221-82BC-4BE4636AD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arbetet</a:t>
            </a:r>
          </a:p>
        </p:txBody>
      </p:sp>
      <p:sp>
        <p:nvSpPr>
          <p:cNvPr id="3" name="body-0-0">
            <a:extLst xmlns:a="http://schemas.openxmlformats.org/drawingml/2006/main">
              <a:ext uri="{FF2B5EF4-FFF2-40B4-BE49-F238E27FC236}">
                <a16:creationId xmlns:a16="http://schemas.microsoft.com/office/drawing/2014/main" id="{103DE4B3-C49A-4405-8B25-384B24E4A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Vid olycka eller tillbud: skydda hjälpare från den elektriska faran och</a:t>
            </a:r>
          </a:p>
        </p:txBody>
      </p:sp>
      <p:sp>
        <p:nvSpPr>
          <p:cNvPr id="4" name="body-0-1">
            <a:extLst xmlns:a="http://schemas.openxmlformats.org/drawingml/2006/main">
              <a:ext uri="{FF2B5EF4-FFF2-40B4-BE49-F238E27FC236}">
                <a16:creationId xmlns:a16="http://schemas.microsoft.com/office/drawing/2014/main" id="{667CD8C9-766A-4241-ADB5-7B139B33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larma enligt fartygets rutiner. Vid akut nödläge används 112 där</a:t>
            </a:r>
          </a:p>
        </p:txBody>
      </p:sp>
      <p:sp>
        <p:nvSpPr>
          <p:cNvPr id="5" name="body-0-2">
            <a:extLst xmlns:a="http://schemas.openxmlformats.org/drawingml/2006/main">
              <a:ext uri="{FF2B5EF4-FFF2-40B4-BE49-F238E27FC236}">
                <a16:creationId xmlns:a16="http://schemas.microsoft.com/office/drawing/2014/main" id="{A1AA3D9C-E839-4818-87EA-00ABECEA7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098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kontakt är möjlig. Följ larmoperatörens och sjukvårdens anvisningar.</a:t>
            </a:r>
          </a:p>
        </p:txBody>
      </p:sp>
      <p:sp>
        <p:nvSpPr>
          <p:cNvPr id="6" name="body-0-3">
            <a:extLst xmlns:a="http://schemas.openxmlformats.org/drawingml/2006/main">
              <a:ext uri="{FF2B5EF4-FFF2-40B4-BE49-F238E27FC236}">
                <a16:creationId xmlns:a16="http://schemas.microsoft.com/office/drawing/2014/main" id="{C3A3A392-4EFB-4E62-B73B-899A348FA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336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Rapportera händelser och tillbud sakligt när det akuta läget är</a:t>
            </a:r>
          </a:p>
        </p:txBody>
      </p:sp>
      <p:sp>
        <p:nvSpPr>
          <p:cNvPr id="7" name="body-0-4">
            <a:extLst xmlns:a="http://schemas.openxmlformats.org/drawingml/2006/main">
              <a:ext uri="{FF2B5EF4-FFF2-40B4-BE49-F238E27FC236}">
                <a16:creationId xmlns:a16="http://schemas.microsoft.com/office/drawing/2014/main" id="{34A97D7F-245F-48BD-8AB3-E9D0F4618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575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hanterat. Denna distanslektion ersätter inte praktisk första hjälpen.</a:t>
            </a:r>
          </a:p>
        </p:txBody>
      </p:sp>
      <p:sp>
        <p:nvSpPr>
          <p:cNvPr id="8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5C89B5D3-77B1-4ABD-8D2A-BEEB7232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65F60D1-299F-4577-91A6-AE661F0EB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39</a:t>
            </a:r>
          </a:p>
        </p:txBody>
      </p:sp>
    </p:spTree>
    <p:extLst>
      <p:ext uri="{BB962C8B-B14F-4D97-AF65-F5344CB8AC3E}">
        <p14:creationId xmlns:p14="http://schemas.microsoft.com/office/powerpoint/2010/main" val="198697134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D8F4E8C5-5D86-4DA5-A600-84E09E1A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9. Räkneexempel: från kiloohm till milliampere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6FC1E9F5-293E-4014-9B4E-9E14397B4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Givet: en ideal källa på 12 V och en ohmsk resistor på 2 kΩ. Sökt: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E8FB05E2-1651-42F3-8B75-C9222E81B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strömmen genom resistorn. Omvandla först resistansen till 2 000 Ω.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EF3DD160-ABB4-47C4-BB34-F74796D75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Välj sedan strömformen av Ohms lag.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97BD008F-D34F-4E96-802E-A8B6F630E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5C1493F-0B54-4026-BBF2-3DE9B9391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40</a:t>
            </a:r>
          </a:p>
        </p:txBody>
      </p:sp>
    </p:spTree>
    <p:extLst>
      <p:ext uri="{BB962C8B-B14F-4D97-AF65-F5344CB8AC3E}">
        <p14:creationId xmlns:p14="http://schemas.microsoft.com/office/powerpoint/2010/main" val="1942427299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C3D91702-2AD9-4410-AF32-4892E932A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9. Räkneexempel: från kiloohm till milliampere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31243E-B92C-4F54-B658-13649F79BB3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2788fc6b4684a9b"/>
          <a:stretch xmlns:a="http://schemas.openxmlformats.org/drawingml/2006/main"/>
        </p:blipFill>
        <p:spPr>
          <a:xfrm xmlns:a="http://schemas.openxmlformats.org/drawingml/2006/main">
            <a:off x="1551093" y="1152525"/>
            <a:ext cx="6041813" cy="6096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F0186F-F716-49F5-B581-0C3BF77A49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ad8720c29545a3"/>
          <a:stretch xmlns:a="http://schemas.openxmlformats.org/drawingml/2006/main"/>
        </p:blipFill>
        <p:spPr>
          <a:xfrm xmlns:a="http://schemas.openxmlformats.org/drawingml/2006/main">
            <a:off x="945696" y="193357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71F6437F-30AC-4CD6-83C3-CDEEDD1A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1470BE-565B-4434-A04E-E62FC076D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41</a:t>
            </a:r>
          </a:p>
        </p:txBody>
      </p:sp>
    </p:spTree>
    <p:extLst>
      <p:ext uri="{BB962C8B-B14F-4D97-AF65-F5344CB8AC3E}">
        <p14:creationId xmlns:p14="http://schemas.microsoft.com/office/powerpoint/2010/main" val="304510766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9822A3C3-4F24-4AEB-8DF4-52AFE789C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9. Räkneexempel: från kiloohm till milliampere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514060A9-F182-426A-83CF-6FB0E0FE6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separata kretsar har vardera en ideal 12 V-källa. En resistor på 1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E0D5C2AF-7979-4281-BC1B-3B079CCB3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kiloohm ger 12 milliampere. Två kiloohm ger 6 milliampere.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306C6955-BBB5-4EEA-ACE1-DB00C144D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U: volt (V). R: ohm (Ω). I: ampere (A) eller milliampere (mA).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A464A783-6156-44B0-9B04-E1C3B2FE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Gäller när: Ohmsk, resistiv likströmsmodell vid angiven driftpunkt.</a:t>
            </a:r>
          </a:p>
        </p:txBody>
      </p:sp>
      <p:sp>
        <p:nvSpPr>
          <p:cNvPr id="6" name="body-2-1">
            <a:extLst xmlns:a="http://schemas.openxmlformats.org/drawingml/2006/main">
              <a:ext uri="{FF2B5EF4-FFF2-40B4-BE49-F238E27FC236}">
                <a16:creationId xmlns:a16="http://schemas.microsoft.com/office/drawing/2014/main" id="{F59532A8-764B-424C-A49B-9993A4930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Ledningarna antas ideala.</a:t>
            </a:r>
          </a:p>
        </p:txBody>
      </p:sp>
      <p:sp>
        <p:nvSpPr>
          <p:cNvPr id="7" name="body-3-0">
            <a:extLst xmlns:a="http://schemas.openxmlformats.org/drawingml/2006/main">
              <a:ext uri="{FF2B5EF4-FFF2-40B4-BE49-F238E27FC236}">
                <a16:creationId xmlns:a16="http://schemas.microsoft.com/office/drawing/2014/main" id="{9720535E-F358-4CD3-802E-04A65223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Rimlighetskontroll: vid samma spänning och halverad resistans, 1 kΩ,</a:t>
            </a:r>
          </a:p>
        </p:txBody>
      </p:sp>
      <p:sp>
        <p:nvSpPr>
          <p:cNvPr id="8" name="body-3-1">
            <a:extLst xmlns:a="http://schemas.openxmlformats.org/drawingml/2006/main">
              <a:ext uri="{FF2B5EF4-FFF2-40B4-BE49-F238E27FC236}">
                <a16:creationId xmlns:a16="http://schemas.microsoft.com/office/drawing/2014/main" id="{02E70D24-139C-4048-950F-25B12905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ska strömmen fördubblas till 12 mA. Den jämförelsen syns i figuren.</a:t>
            </a:r>
          </a:p>
        </p:txBody>
      </p:sp>
      <p:sp>
        <p:nvSpPr>
          <p:cNvPr id="9" name="body-4-0">
            <a:extLst xmlns:a="http://schemas.openxmlformats.org/drawingml/2006/main">
              <a:ext uri="{FF2B5EF4-FFF2-40B4-BE49-F238E27FC236}">
                <a16:creationId xmlns:a16="http://schemas.microsoft.com/office/drawing/2014/main" id="{AC148B94-DBA3-480F-9E8A-BE2142CF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Eget försök med samma metod: 12 V över 3 kΩ. Skriv om resistansen,</a:t>
            </a:r>
          </a:p>
        </p:txBody>
      </p:sp>
      <p:sp>
        <p:nvSpPr>
          <p:cNvPr id="10" name="body-4-1">
            <a:extLst xmlns:a="http://schemas.openxmlformats.org/drawingml/2006/main">
              <a:ext uri="{FF2B5EF4-FFF2-40B4-BE49-F238E27FC236}">
                <a16:creationId xmlns:a16="http://schemas.microsoft.com/office/drawing/2014/main" id="{15300D57-E195-49C5-BBA9-1F5A65B64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välj samband och ange ström i A och mA. Facit finns efter modulens</a:t>
            </a:r>
          </a:p>
        </p:txBody>
      </p:sp>
      <p:sp>
        <p:nvSpPr>
          <p:cNvPr id="11" name="body-4-2">
            <a:extLst xmlns:a="http://schemas.openxmlformats.org/drawingml/2006/main">
              <a:ext uri="{FF2B5EF4-FFF2-40B4-BE49-F238E27FC236}">
                <a16:creationId xmlns:a16="http://schemas.microsoft.com/office/drawing/2014/main" id="{5F88F285-2577-4D9B-B463-D7800025F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uppgifter.</a:t>
            </a:r>
          </a:p>
        </p:txBody>
      </p:sp>
      <p:sp>
        <p:nvSpPr>
          <p:cNvPr id="12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56B73D16-6E05-40D1-9D09-8A3601D4B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AFCD1C2-C355-4FCF-9C71-C0EC2EEF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42</a:t>
            </a:r>
          </a:p>
        </p:txBody>
      </p:sp>
    </p:spTree>
    <p:extLst>
      <p:ext uri="{BB962C8B-B14F-4D97-AF65-F5344CB8AC3E}">
        <p14:creationId xmlns:p14="http://schemas.microsoft.com/office/powerpoint/2010/main" val="805100187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F86067A1-7C45-4F14-AA5E-954AC3599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10. Räkneexempel: en ny likströmslast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407A65F7-9607-47A8-9310-5B5D9E7BF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När grundmetoden fungerar ändrar vi talen. En last har resistansen 9 Ω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379E4A1D-6439-4090-B45A-83C4BFF61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matas med 18 V. Vi söker strömmen och använder samma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42E18BC1-F26B-4BB8-A96A-F4F63F06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 som i föregående exempel.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508ED898-2321-4EF6-99AD-CD8CE8C424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88CF2AD-2520-47B0-86ED-29A3657B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43</a:t>
            </a:r>
          </a:p>
        </p:txBody>
      </p:sp>
    </p:spTree>
    <p:extLst>
      <p:ext uri="{BB962C8B-B14F-4D97-AF65-F5344CB8AC3E}">
        <p14:creationId xmlns:p14="http://schemas.microsoft.com/office/powerpoint/2010/main" val="922522389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E1E9CFD9-A716-4803-BBD7-4AB6FF557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10. Räkneexempel: en ny likströmslast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B4355F5-9AAF-4D14-A504-0B7A89D6161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7b0141f29064d63"/>
          <a:stretch xmlns:a="http://schemas.openxmlformats.org/drawingml/2006/main"/>
        </p:blipFill>
        <p:spPr>
          <a:xfrm xmlns:a="http://schemas.openxmlformats.org/drawingml/2006/main">
            <a:off x="2959947" y="1152525"/>
            <a:ext cx="3224107" cy="6096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20BDF9-20D8-407F-A8A2-5966A1B6E4C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a0bedd62954c81"/>
          <a:stretch xmlns:a="http://schemas.openxmlformats.org/drawingml/2006/main"/>
        </p:blipFill>
        <p:spPr>
          <a:xfrm xmlns:a="http://schemas.openxmlformats.org/drawingml/2006/main">
            <a:off x="945696" y="193357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4B66F7F6-510D-4796-8AD3-B805C8C0D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FF5B6E7-C084-4921-8A62-A8B57C301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44</a:t>
            </a:r>
          </a:p>
        </p:txBody>
      </p:sp>
    </p:spTree>
    <p:extLst>
      <p:ext uri="{BB962C8B-B14F-4D97-AF65-F5344CB8AC3E}">
        <p14:creationId xmlns:p14="http://schemas.microsoft.com/office/powerpoint/2010/main" val="115637567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369856D9-6C41-4C20-9780-BA99FC5DC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10. Räkneexempel: en ny likströmslast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00F2916A-D2DB-4011-AB84-D4C93B2D1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ideal 18 V-källa driver 2 A genom en ohmsk resistor på 9 ohm vid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535D8506-626E-452F-ABCA-EC3E595CD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den angivna driftpunkten.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7F76E904-F2CF-478C-8962-D93025EC9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U: volt (V). R: ohm (Ω). I: ampere (A).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B594BD82-C719-4A95-B62D-675D6294E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Gäller när: Ohmsk, resistiv likströmsmodell vid angiven driftpunkt.</a:t>
            </a:r>
          </a:p>
        </p:txBody>
      </p:sp>
      <p:sp>
        <p:nvSpPr>
          <p:cNvPr id="6" name="body-2-1">
            <a:extLst xmlns:a="http://schemas.openxmlformats.org/drawingml/2006/main">
              <a:ext uri="{FF2B5EF4-FFF2-40B4-BE49-F238E27FC236}">
                <a16:creationId xmlns:a16="http://schemas.microsoft.com/office/drawing/2014/main" id="{CADF7654-6C4B-42C9-9A26-B0E6CE83F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Ledningarna antas ideala.</a:t>
            </a:r>
          </a:p>
        </p:txBody>
      </p:sp>
      <p:sp>
        <p:nvSpPr>
          <p:cNvPr id="7" name="body-3-0">
            <a:extLst xmlns:a="http://schemas.openxmlformats.org/drawingml/2006/main">
              <a:ext uri="{FF2B5EF4-FFF2-40B4-BE49-F238E27FC236}">
                <a16:creationId xmlns:a16="http://schemas.microsoft.com/office/drawing/2014/main" id="{080E9AF6-B9C3-4807-88D2-B6931F54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Kontrollera lösningen genom att multiplicera den beräknade strömmen</a:t>
            </a:r>
          </a:p>
        </p:txBody>
      </p:sp>
      <p:sp>
        <p:nvSpPr>
          <p:cNvPr id="8" name="body-3-1">
            <a:extLst xmlns:a="http://schemas.openxmlformats.org/drawingml/2006/main">
              <a:ext uri="{FF2B5EF4-FFF2-40B4-BE49-F238E27FC236}">
                <a16:creationId xmlns:a16="http://schemas.microsoft.com/office/drawing/2014/main" id="{EBE46097-149B-4299-B915-19C7FC3AF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med den givna resistansen. Produkten ska återge källans spänning.</a:t>
            </a:r>
          </a:p>
        </p:txBody>
      </p:sp>
      <p:sp>
        <p:nvSpPr>
          <p:cNvPr id="9" name="body-3-2">
            <a:extLst xmlns:a="http://schemas.openxmlformats.org/drawingml/2006/main">
              <a:ext uri="{FF2B5EF4-FFF2-40B4-BE49-F238E27FC236}">
                <a16:creationId xmlns:a16="http://schemas.microsoft.com/office/drawing/2014/main" id="{2614E868-725E-4819-B1C6-B83068C50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Förklara alltid vilken driftpunkt och modell du använder.</a:t>
            </a:r>
          </a:p>
        </p:txBody>
      </p:sp>
      <p:sp>
        <p:nvSpPr>
          <p:cNvPr id="10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F4DA8540-38E3-4878-874D-BDB4DEC2F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361AB1E-3311-480C-B885-068C8E6D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45</a:t>
            </a:r>
          </a:p>
        </p:txBody>
      </p:sp>
    </p:spTree>
    <p:extLst>
      <p:ext uri="{BB962C8B-B14F-4D97-AF65-F5344CB8AC3E}">
        <p14:creationId xmlns:p14="http://schemas.microsoft.com/office/powerpoint/2010/main" val="1157023977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080FA8D6-7B54-460A-9615-FD70F8036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11. Räkneexempel: två lika parallella grenar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5EC4A60A-BDB8-4823-BA20-FC60C8498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Veckofallet använder två resistorer på 12 Ω anslutna parallellt till 24 V.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9495B0BB-8AEA-4465-B19F-4D5F53994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Båda grenarna har hela källspänningen. Beräkna först varje gren och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E7E0EFFF-EACD-49CD-BF2B-2DB6307F6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summera sedan strömmarna.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B9EAC187-5094-498B-B9AA-A894C05D2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76FB32B-C45F-4869-A6C2-231BB4D6E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46</a:t>
            </a:r>
          </a:p>
        </p:txBody>
      </p:sp>
    </p:spTree>
    <p:extLst>
      <p:ext uri="{BB962C8B-B14F-4D97-AF65-F5344CB8AC3E}">
        <p14:creationId xmlns:p14="http://schemas.microsoft.com/office/powerpoint/2010/main" val="488233149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3C900140-0791-4310-B713-B48912462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11. Räkneexempel: två lika parallella grenar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9B3ED73-5B9C-4F0E-9E9B-F99984F5E3A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dfaa3983c4540"/>
          <a:stretch xmlns:a="http://schemas.openxmlformats.org/drawingml/2006/main"/>
        </p:blipFill>
        <p:spPr>
          <a:xfrm xmlns:a="http://schemas.openxmlformats.org/drawingml/2006/main">
            <a:off x="1378857" y="1152525"/>
            <a:ext cx="6386286" cy="6096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FD34E1-6F4E-4971-8366-25E284D1A8F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7596392c37f4308"/>
          <a:stretch xmlns:a="http://schemas.openxmlformats.org/drawingml/2006/main"/>
        </p:blipFill>
        <p:spPr>
          <a:xfrm xmlns:a="http://schemas.openxmlformats.org/drawingml/2006/main">
            <a:off x="945696" y="193357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ADA07031-58E0-4321-8211-8A362F5C9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6E06A5C-F3E6-4E5B-885B-94A899115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47</a:t>
            </a:r>
          </a:p>
        </p:txBody>
      </p:sp>
    </p:spTree>
    <p:extLst>
      <p:ext uri="{BB962C8B-B14F-4D97-AF65-F5344CB8AC3E}">
        <p14:creationId xmlns:p14="http://schemas.microsoft.com/office/powerpoint/2010/main" val="1026079945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93679426-26C9-4C23-B123-1A29E5BCE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11. Räkneexempel: två lika parallella grenar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909DBAD4-3425-4D50-909F-28C1105DB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resistorer på 12 ohm ligger i separata grenar mellan samma två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CB55B332-6315-4DEA-84C4-635BD2F61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noder i en ideal 24 V-krets. Varje gren tar 2 ampere och källan ger 4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89DF7DBE-CD70-4CFC-9A76-DD1A5ACF6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ampere.</a:t>
            </a:r>
          </a:p>
        </p:txBody>
      </p:sp>
      <p:sp>
        <p:nvSpPr>
          <p:cNvPr id="5" name="body-1-0">
            <a:extLst xmlns:a="http://schemas.openxmlformats.org/drawingml/2006/main">
              <a:ext uri="{FF2B5EF4-FFF2-40B4-BE49-F238E27FC236}">
                <a16:creationId xmlns:a16="http://schemas.microsoft.com/office/drawing/2014/main" id="{BC11BEF8-1947-46DB-99A2-2007D2A19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Grenströmmar och totalström anges i ampere (A).</a:t>
            </a:r>
          </a:p>
        </p:txBody>
      </p:sp>
      <p:sp>
        <p:nvSpPr>
          <p:cNvPr id="6" name="body-2-0">
            <a:extLst xmlns:a="http://schemas.openxmlformats.org/drawingml/2006/main">
              <a:ext uri="{FF2B5EF4-FFF2-40B4-BE49-F238E27FC236}">
                <a16:creationId xmlns:a16="http://schemas.microsoft.com/office/drawing/2014/main" id="{22E7E492-C404-41E3-B501-897E2961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Gäller när: Ohmsk, resistiv likströmsmodell vid angiven driftpunkt.</a:t>
            </a:r>
          </a:p>
        </p:txBody>
      </p:sp>
      <p:sp>
        <p:nvSpPr>
          <p:cNvPr id="7" name="body-2-1">
            <a:extLst xmlns:a="http://schemas.openxmlformats.org/drawingml/2006/main">
              <a:ext uri="{FF2B5EF4-FFF2-40B4-BE49-F238E27FC236}">
                <a16:creationId xmlns:a16="http://schemas.microsoft.com/office/drawing/2014/main" id="{21481347-7F1A-4E0B-8AB2-59B5AEDB6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Ledningarna antas ideala.</a:t>
            </a:r>
          </a:p>
        </p:txBody>
      </p:sp>
      <p:sp>
        <p:nvSpPr>
          <p:cNvPr id="8" name="body-3-0">
            <a:extLst xmlns:a="http://schemas.openxmlformats.org/drawingml/2006/main">
              <a:ext uri="{FF2B5EF4-FFF2-40B4-BE49-F238E27FC236}">
                <a16:creationId xmlns:a16="http://schemas.microsoft.com/office/drawing/2014/main" id="{177CF871-23C4-4857-AE65-4BA0674D6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Jämför med seriefiguren: två 12 Ω-resistorer i serie vid 24 V ger en</a:t>
            </a:r>
          </a:p>
        </p:txBody>
      </p:sp>
      <p:sp>
        <p:nvSpPr>
          <p:cNvPr id="9" name="body-3-1">
            <a:extLst xmlns:a="http://schemas.openxmlformats.org/drawingml/2006/main">
              <a:ext uri="{FF2B5EF4-FFF2-40B4-BE49-F238E27FC236}">
                <a16:creationId xmlns:a16="http://schemas.microsoft.com/office/drawing/2014/main" id="{540BA4D0-B080-4644-A554-F89EE6017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total resistans på 24 Ω och en gemensam ström på 1 A. Samma</a:t>
            </a:r>
          </a:p>
        </p:txBody>
      </p:sp>
      <p:sp>
        <p:nvSpPr>
          <p:cNvPr id="10" name="body-3-2">
            <a:extLst xmlns:a="http://schemas.openxmlformats.org/drawingml/2006/main">
              <a:ext uri="{FF2B5EF4-FFF2-40B4-BE49-F238E27FC236}">
                <a16:creationId xmlns:a16="http://schemas.microsoft.com/office/drawing/2014/main" id="{89C4D212-6929-4839-9852-5306F7607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86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komponenter och samma källa ger olika resultat när kopplingen</a:t>
            </a:r>
          </a:p>
        </p:txBody>
      </p:sp>
      <p:sp>
        <p:nvSpPr>
          <p:cNvPr id="11" name="body-3-3">
            <a:extLst xmlns:a="http://schemas.openxmlformats.org/drawingml/2006/main">
              <a:ext uri="{FF2B5EF4-FFF2-40B4-BE49-F238E27FC236}">
                <a16:creationId xmlns:a16="http://schemas.microsoft.com/office/drawing/2014/main" id="{C7C3AFF7-0C93-4F1B-A49A-722A0F348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410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ändras. Rita därför strömvägarna före beräkningen.</a:t>
            </a:r>
          </a:p>
        </p:txBody>
      </p:sp>
      <p:sp>
        <p:nvSpPr>
          <p:cNvPr id="12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5460460D-0EB1-435B-943F-6F8693F47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3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D044322-C2D5-461E-A40F-59252D72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48</a:t>
            </a:r>
          </a:p>
        </p:txBody>
      </p:sp>
    </p:spTree>
    <p:extLst>
      <p:ext uri="{BB962C8B-B14F-4D97-AF65-F5344CB8AC3E}">
        <p14:creationId xmlns:p14="http://schemas.microsoft.com/office/powerpoint/2010/main" val="1591343101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E43CCFF8-CFC5-4293-8505-D28760E15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11. Räkneexempel: två lika parallella grenar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DBD55-840E-4D72-B752-35DF35B759F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cec6598330423d"/>
          <a:stretch xmlns:a="http://schemas.openxmlformats.org/drawingml/2006/main"/>
        </p:blipFill>
        <p:spPr>
          <a:xfrm xmlns:a="http://schemas.openxmlformats.org/drawingml/2006/main">
            <a:off x="945696" y="1152525"/>
            <a:ext cx="7252607" cy="3714750"/>
          </a:xfrm>
          <a:prstGeom xmlns:a="http://schemas.openxmlformats.org/drawingml/2006/main" prst="rect">
            <a:avLst/>
          </a:prstGeom>
        </p:spPr>
      </p:pic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8B83B2AF-F37F-413B-AEB9-24A7673C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387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resistorer på 12 ohm ligger i serie med en 24 V-källa. Total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B693DBBA-30CC-4734-A96E-6E7247F3C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625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resistans är 24 ohm och strömmen är 1 ampere.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B996A62-1993-4406-85F9-023C4CD8B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00C8808-BF11-4A86-8559-F6E29D7B2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49</a:t>
            </a:r>
          </a:p>
        </p:txBody>
      </p:sp>
    </p:spTree>
    <p:extLst>
      <p:ext uri="{BB962C8B-B14F-4D97-AF65-F5344CB8AC3E}">
        <p14:creationId xmlns:p14="http://schemas.microsoft.com/office/powerpoint/2010/main" val="1656140033"/>
      </p:ext>
    </p:extLst>
  </p:cSld>
</p:sld>
</file>

<file path=ppt/slides/slide5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65842BF1-27AF-40DC-A04C-EC26A0F3D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12. Inför övningarna och källor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084B0B13-F1BC-48EF-A93D-BA2080E3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Kan du följa både framledning och retur?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4CB97843-2ED8-47DC-A728-F8D5E0B39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Kan du förklara varför ett spänningsvärde inte bevisar strömflöde?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EC9461AA-4D9D-4146-A50A-189BDE00B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Kan du skilja serie från parallell och omvandla kΩ och mA?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423BB2CC-0C3E-47D3-B176-6EA0D7CE6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Kan du skilja observation från hypotes och skriva en verifierbar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EE0EB197-6479-4DEF-9950-8B204092E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riskrad?</a:t>
            </a:r>
          </a:p>
        </p:txBody>
      </p:sp>
      <p:sp>
        <p:nvSpPr>
          <p:cNvPr id="7" name="body-4-0">
            <a:extLst xmlns:a="http://schemas.openxmlformats.org/drawingml/2006/main">
              <a:ext uri="{FF2B5EF4-FFF2-40B4-BE49-F238E27FC236}">
                <a16:creationId xmlns:a16="http://schemas.microsoft.com/office/drawing/2014/main" id="{C860DCCD-A0E1-4987-B2B9-5BA4D7066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28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Därefter följer veckofallet, självrättande kontroller, simulatorprotokoll</a:t>
            </a:r>
          </a:p>
        </p:txBody>
      </p:sp>
      <p:sp>
        <p:nvSpPr>
          <p:cNvPr id="8" name="body-4-1">
            <a:extLst xmlns:a="http://schemas.openxmlformats.org/drawingml/2006/main">
              <a:ext uri="{FF2B5EF4-FFF2-40B4-BE49-F238E27FC236}">
                <a16:creationId xmlns:a16="http://schemas.microsoft.com/office/drawing/2014/main" id="{8ABF5408-7A9A-4FB8-A421-538438311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din skriftliga redovisning. Resonemang och laborationsunderlag</a:t>
            </a:r>
          </a:p>
        </p:txBody>
      </p:sp>
      <p:sp>
        <p:nvSpPr>
          <p:cNvPr id="9" name="body-4-2">
            <a:extLst xmlns:a="http://schemas.openxmlformats.org/drawingml/2006/main">
              <a:ext uri="{FF2B5EF4-FFF2-40B4-BE49-F238E27FC236}">
                <a16:creationId xmlns:a16="http://schemas.microsoft.com/office/drawing/2014/main" id="{35B1E702-C179-4BAD-A3F4-0333B9487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kräver lärargranskning.</a:t>
            </a:r>
          </a:p>
        </p:txBody>
      </p:sp>
      <p:sp>
        <p:nvSpPr>
          <p:cNvPr id="10" name="body-5-0">
            <a:extLst xmlns:a="http://schemas.openxmlformats.org/drawingml/2006/main">
              <a:ext uri="{FF2B5EF4-FFF2-40B4-BE49-F238E27FC236}">
                <a16:creationId xmlns:a16="http://schemas.microsoft.com/office/drawing/2014/main" id="{57B81779-0049-494E-98BE-DF6B964A6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314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Allmänna säkerhetsprinciper stöds av material från Elsäkerhetsverket,</a:t>
            </a:r>
          </a:p>
        </p:txBody>
      </p:sp>
      <p:sp>
        <p:nvSpPr>
          <p:cNvPr id="11" name="body-5-1">
            <a:extLst xmlns:a="http://schemas.openxmlformats.org/drawingml/2006/main">
              <a:ext uri="{FF2B5EF4-FFF2-40B4-BE49-F238E27FC236}">
                <a16:creationId xmlns:a16="http://schemas.microsoft.com/office/drawing/2014/main" id="{823D502A-0558-4C4C-BEAC-284A9287B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38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Arbetsmiljöverket och Transportstyrelsen. Fallens beslut är pedagogiska</a:t>
            </a:r>
          </a:p>
        </p:txBody>
      </p:sp>
      <p:sp>
        <p:nvSpPr>
          <p:cNvPr id="12" name="body-5-2">
            <a:extLst xmlns:a="http://schemas.openxmlformats.org/drawingml/2006/main">
              <a:ext uri="{FF2B5EF4-FFF2-40B4-BE49-F238E27FC236}">
                <a16:creationId xmlns:a16="http://schemas.microsoft.com/office/drawing/2014/main" id="{E785D166-C506-4795-B481-0057479C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6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tillämpningar av givna uppgifter. Tillämpliga rutiner beror på det</a:t>
            </a:r>
          </a:p>
        </p:txBody>
      </p:sp>
      <p:sp>
        <p:nvSpPr>
          <p:cNvPr id="13" name="body-5-3">
            <a:extLst xmlns:a="http://schemas.openxmlformats.org/drawingml/2006/main">
              <a:ext uri="{FF2B5EF4-FFF2-40B4-BE49-F238E27FC236}">
                <a16:creationId xmlns:a16="http://schemas.microsoft.com/office/drawing/2014/main" id="{0029185B-15F3-4A1A-A999-A4067AC5E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aktuella fartyget och uppgiften.</a:t>
            </a:r>
          </a:p>
        </p:txBody>
      </p:sp>
      <p:sp>
        <p:nvSpPr>
          <p:cNvPr id="1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398B4094-4AB5-45F3-AEBF-6A5939653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158C15-FDFF-4BC1-A02C-FB6607F29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50</a:t>
            </a:r>
          </a:p>
        </p:txBody>
      </p:sp>
    </p:spTree>
    <p:extLst>
      <p:ext uri="{BB962C8B-B14F-4D97-AF65-F5344CB8AC3E}">
        <p14:creationId xmlns:p14="http://schemas.microsoft.com/office/powerpoint/2010/main" val="1840485026"/>
      </p:ext>
    </p:extLst>
  </p:cSld>
</p:sld>
</file>

<file path=ppt/slides/slide5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64EE617E-5DF0-45A8-AD94-CC3CBE22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12. Inför övningarna och källor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D9922235-FDCA-4876-9FC8-6FC02F2930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Schematiska symboler: ma-laforge/ElectricalDiagrams , MIT-licens. Läs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DBA7CB4F-C6E7-418D-94EB-309E8D38A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licensen . Kretsar, märkning och svenska bildförklaringar är omritade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42395CB6-DD74-467E-964B-AB7F3E8D3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för denna modul. Ursprungsmaterialet finns i källarkivet.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D9042CC-D5DA-458D-AAFB-39FA14BAB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E5DD5F1-09D9-4B63-8FA5-ECC0FDE77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51</a:t>
            </a:r>
          </a:p>
        </p:txBody>
      </p:sp>
    </p:spTree>
    <p:extLst>
      <p:ext uri="{BB962C8B-B14F-4D97-AF65-F5344CB8AC3E}">
        <p14:creationId xmlns:p14="http://schemas.microsoft.com/office/powerpoint/2010/main" val="1968937459"/>
      </p:ext>
    </p:extLst>
  </p:cSld>
</p:sld>
</file>

<file path=ppt/slides/slide5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688069EE-5AED-4AA7-B557-49E95E4D2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Tre omskrivningar av samma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175E6CB9-5C6A-4641-9CA0-6343D591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99654-6389-4F1B-8118-027DAE25A94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307b4a43544b4a"/>
          <a:stretch xmlns:a="http://schemas.openxmlformats.org/drawingml/2006/main"/>
        </p:blipFill>
        <p:spPr>
          <a:xfrm xmlns:a="http://schemas.openxmlformats.org/drawingml/2006/main">
            <a:off x="3544711" y="1562100"/>
            <a:ext cx="2054578" cy="609600"/>
          </a:xfrm>
          <a:prstGeom xmlns:a="http://schemas.openxmlformats.org/drawingml/2006/main" prst="rect">
            <a:avLst/>
          </a:prstGeom>
        </p:spPr>
      </p:pic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346D2A37-01AB-42F1-AFD7-925B0A0B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C9ADA59-E19A-4366-A6F1-60DAE2176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52</a:t>
            </a:r>
          </a:p>
        </p:txBody>
      </p:sp>
    </p:spTree>
    <p:extLst>
      <p:ext uri="{BB962C8B-B14F-4D97-AF65-F5344CB8AC3E}">
        <p14:creationId xmlns:p14="http://schemas.microsoft.com/office/powerpoint/2010/main" val="225471531"/>
      </p:ext>
    </p:extLst>
  </p:cSld>
</p:sld>
</file>

<file path=ppt/slides/slide5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D8D6D63A-8BA4-4729-9195-49A33D4A5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Tre omskrivningar av samma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B8A1DAD0-15AF-463F-AA6B-6D292FCE3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DA17FB-46DB-4842-BDE6-B3CF2713673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f2532b459a43f3"/>
          <a:stretch xmlns:a="http://schemas.openxmlformats.org/drawingml/2006/main"/>
        </p:blipFill>
        <p:spPr>
          <a:xfrm xmlns:a="http://schemas.openxmlformats.org/drawingml/2006/main">
            <a:off x="947854" y="1562100"/>
            <a:ext cx="7248293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82351A5D-F4CE-4855-BA74-1DD80EE7D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voltmeter är parallellkopplad mellan A och B, samma två noder som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F7EDDD7-5C24-4C20-AF28-1C5F6121F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3C06B8F-AAD3-4116-B6C8-A4795AAAE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53</a:t>
            </a:r>
          </a:p>
        </p:txBody>
      </p:sp>
    </p:spTree>
    <p:extLst>
      <p:ext uri="{BB962C8B-B14F-4D97-AF65-F5344CB8AC3E}">
        <p14:creationId xmlns:p14="http://schemas.microsoft.com/office/powerpoint/2010/main" val="337789143"/>
      </p:ext>
    </p:extLst>
  </p:cSld>
</p:sld>
</file>

<file path=ppt/slides/slide5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E7EE73A9-5CF9-4CE0-BF1A-402E35BA9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Tre omskrivningar av samma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5334A374-DCAC-492F-83C2-2762711C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samband.</a:t>
            </a:r>
          </a:p>
        </p:txBody>
      </p:sp>
      <p:sp>
        <p:nvSpPr>
          <p:cNvPr id="3" name="body-0-0">
            <a:extLst xmlns:a="http://schemas.openxmlformats.org/drawingml/2006/main">
              <a:ext uri="{FF2B5EF4-FFF2-40B4-BE49-F238E27FC236}">
                <a16:creationId xmlns:a16="http://schemas.microsoft.com/office/drawing/2014/main" id="{B825EC4F-32DA-4805-9810-3641A2E88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resistorn. Batteriet modelleras som en ideal 12 V-källa.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09EFB86F-C807-4D82-83E4-F75209C38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U: volt (V). R: ohm (Ω). I: ampere (A).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1619B67D-2320-4D4E-B639-07FAE6DD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4585A1D-7277-4425-928B-F95E7D6B6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54</a:t>
            </a:r>
          </a:p>
        </p:txBody>
      </p:sp>
    </p:spTree>
    <p:extLst>
      <p:ext uri="{BB962C8B-B14F-4D97-AF65-F5344CB8AC3E}">
        <p14:creationId xmlns:p14="http://schemas.microsoft.com/office/powerpoint/2010/main" val="1577213325"/>
      </p:ext>
    </p:extLst>
  </p:cSld>
</p:sld>
</file>

<file path=ppt/slides/slide5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B9EC9546-30EB-47E8-8312-5572B33D1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Tre omskrivningar av samma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98087142-CD45-4292-84B6-4EF58F90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F5074D8-4F4F-4F03-8F0D-951C6D05012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9e43e8d3be4469"/>
          <a:stretch xmlns:a="http://schemas.openxmlformats.org/drawingml/2006/main"/>
        </p:blipFill>
        <p:spPr>
          <a:xfrm xmlns:a="http://schemas.openxmlformats.org/drawingml/2006/main">
            <a:off x="4085771" y="1562100"/>
            <a:ext cx="972457" cy="609600"/>
          </a:xfrm>
          <a:prstGeom xmlns:a="http://schemas.openxmlformats.org/drawingml/2006/main" prst="rect">
            <a:avLst/>
          </a:prstGeom>
        </p:spPr>
      </p:pic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70FFE7EE-8173-4A27-99C0-2A5051D60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B219A5E-F33B-4214-91B8-873049724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55</a:t>
            </a:r>
          </a:p>
        </p:txBody>
      </p:sp>
    </p:spTree>
    <p:extLst>
      <p:ext uri="{BB962C8B-B14F-4D97-AF65-F5344CB8AC3E}">
        <p14:creationId xmlns:p14="http://schemas.microsoft.com/office/powerpoint/2010/main" val="2146022250"/>
      </p:ext>
    </p:extLst>
  </p:cSld>
</p:sld>
</file>

<file path=ppt/slides/slide5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DFEAC2FA-5A68-4594-9FC7-0059D07F6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Tre omskrivningar av samma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ED997B0E-C730-4CAE-AC25-0EF0D4423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9938656-9113-4E36-8B4F-442076FE9B7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1151fb0aa99498d"/>
          <a:stretch xmlns:a="http://schemas.openxmlformats.org/drawingml/2006/main"/>
        </p:blipFill>
        <p:spPr>
          <a:xfrm xmlns:a="http://schemas.openxmlformats.org/drawingml/2006/main">
            <a:off x="947854" y="1562100"/>
            <a:ext cx="7248293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C9926287-74CD-4695-BF33-2EC1E0F36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separata kretsar har vardera en ideal 12 V-källa. En resistor på 1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4100A68E-6E08-4653-8286-B1BFED696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D886353-CD84-4D11-9A43-226D8DEF5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56</a:t>
            </a:r>
          </a:p>
        </p:txBody>
      </p:sp>
    </p:spTree>
    <p:extLst>
      <p:ext uri="{BB962C8B-B14F-4D97-AF65-F5344CB8AC3E}">
        <p14:creationId xmlns:p14="http://schemas.microsoft.com/office/powerpoint/2010/main" val="59424068"/>
      </p:ext>
    </p:extLst>
  </p:cSld>
</p:sld>
</file>

<file path=ppt/slides/slide5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5457799F-54A3-469E-9452-659B47D79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Tre omskrivningar av samma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209139FD-B965-4801-B7AA-932D0AB4E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samband.</a:t>
            </a:r>
          </a:p>
        </p:txBody>
      </p:sp>
      <p:sp>
        <p:nvSpPr>
          <p:cNvPr id="3" name="body-0-0">
            <a:extLst xmlns:a="http://schemas.openxmlformats.org/drawingml/2006/main">
              <a:ext uri="{FF2B5EF4-FFF2-40B4-BE49-F238E27FC236}">
                <a16:creationId xmlns:a16="http://schemas.microsoft.com/office/drawing/2014/main" id="{17478D08-123A-4DD7-B096-D2DECEE4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kiloohm ger 12 milliampere. Två kiloohm ger 6 milliampere.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1613CB25-8CAB-4900-AAC7-EE3A2EAE4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I: ampere (A). U: volt (V). R: ohm (Ω).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64F59BB-7B29-4B9A-9D2C-D287A5E91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27CD979-F196-49C5-9B2C-B4E391164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57</a:t>
            </a:r>
          </a:p>
        </p:txBody>
      </p:sp>
    </p:spTree>
    <p:extLst>
      <p:ext uri="{BB962C8B-B14F-4D97-AF65-F5344CB8AC3E}">
        <p14:creationId xmlns:p14="http://schemas.microsoft.com/office/powerpoint/2010/main" val="1526245452"/>
      </p:ext>
    </p:extLst>
  </p:cSld>
</p:sld>
</file>

<file path=ppt/slides/slide5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C6C647A3-49C3-4290-BD12-5B45255A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Tre omskrivningar av samma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ABDE0838-A18F-4AC8-B70C-B840A12F8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BBEEE6-175D-49DD-9F82-A272EFFF765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33f46ba68d4ad8"/>
          <a:stretch xmlns:a="http://schemas.openxmlformats.org/drawingml/2006/main"/>
        </p:blipFill>
        <p:spPr>
          <a:xfrm xmlns:a="http://schemas.openxmlformats.org/drawingml/2006/main">
            <a:off x="3998686" y="1562100"/>
            <a:ext cx="1146629" cy="609600"/>
          </a:xfrm>
          <a:prstGeom xmlns:a="http://schemas.openxmlformats.org/drawingml/2006/main" prst="rect">
            <a:avLst/>
          </a:prstGeom>
        </p:spPr>
      </p:pic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21EB5ACB-657F-4ECD-8140-0A1EA296F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B2D388A-84AA-4ABA-A0A1-368DAA5B6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58</a:t>
            </a:r>
          </a:p>
        </p:txBody>
      </p:sp>
    </p:spTree>
    <p:extLst>
      <p:ext uri="{BB962C8B-B14F-4D97-AF65-F5344CB8AC3E}">
        <p14:creationId xmlns:p14="http://schemas.microsoft.com/office/powerpoint/2010/main" val="1209474594"/>
      </p:ext>
    </p:extLst>
  </p:cSld>
</p:sld>
</file>

<file path=ppt/slides/slide5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09335F67-C46A-47C5-A827-B8EEF963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Tre omskrivningar av samma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AB3B21FA-8765-412F-B0FD-F0342EA82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620058A-0BF6-4F53-AAAC-EC52019C5F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6b06960866423d"/>
          <a:stretch xmlns:a="http://schemas.openxmlformats.org/drawingml/2006/main"/>
        </p:blipFill>
        <p:spPr>
          <a:xfrm xmlns:a="http://schemas.openxmlformats.org/drawingml/2006/main">
            <a:off x="947854" y="1562100"/>
            <a:ext cx="7248293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3C64C3A3-1362-48A7-81F9-7BC03F4DF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ideal 12 V-källa driver den uppmätta strömmen 6 mA genom en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BE44BA6F-3CAD-4EB6-9A31-3AA369300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1E2B952-E85E-4132-98D3-80EEA3B85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59</a:t>
            </a:r>
          </a:p>
        </p:txBody>
      </p:sp>
    </p:spTree>
    <p:extLst>
      <p:ext uri="{BB962C8B-B14F-4D97-AF65-F5344CB8AC3E}">
        <p14:creationId xmlns:p14="http://schemas.microsoft.com/office/powerpoint/2010/main" val="1526178191"/>
      </p:ext>
    </p:extLst>
  </p:cSld>
</p:sld>
</file>

<file path=ppt/slides/slide6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8A693551-C3A3-44A5-9FDA-8A5E544E9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Tre omskrivningar av samma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4821E5C0-2FA6-45BA-9E00-4A94997AD1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samband.</a:t>
            </a:r>
          </a:p>
        </p:txBody>
      </p:sp>
      <p:sp>
        <p:nvSpPr>
          <p:cNvPr id="3" name="body-0-0">
            <a:extLst xmlns:a="http://schemas.openxmlformats.org/drawingml/2006/main">
              <a:ext uri="{FF2B5EF4-FFF2-40B4-BE49-F238E27FC236}">
                <a16:creationId xmlns:a16="http://schemas.microsoft.com/office/drawing/2014/main" id="{78759934-3D18-4B7F-9493-5891631A1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okänd resistor. Spänning och ström gäller samma driftpunkt.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A9BA4139-EC17-40BB-A936-3EC91EA85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R: ohm (Ω). U: volt (V). I: ampere (A).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29AD0D39-0F60-4C8D-A96F-C55BA67D6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384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Gäller när: Använd angiven resistans och driftpunkt; verkliga lampors</a:t>
            </a:r>
          </a:p>
        </p:txBody>
      </p:sp>
      <p:sp>
        <p:nvSpPr>
          <p:cNvPr id="6" name="body-2-1">
            <a:extLst xmlns:a="http://schemas.openxmlformats.org/drawingml/2006/main">
              <a:ext uri="{FF2B5EF4-FFF2-40B4-BE49-F238E27FC236}">
                <a16:creationId xmlns:a16="http://schemas.microsoft.com/office/drawing/2014/main" id="{4154AB71-4606-4667-B083-EBC9DF10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622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resistans kan ändras med temperaturen.</a:t>
            </a:r>
          </a:p>
        </p:txBody>
      </p:sp>
      <p:sp>
        <p:nvSpPr>
          <p:cNvPr id="7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F58E8D96-0714-42BF-97E1-579FC48A4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102F51E-80CD-4DE4-AD71-28A9020F2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60</a:t>
            </a:r>
          </a:p>
        </p:txBody>
      </p:sp>
    </p:spTree>
    <p:extLst>
      <p:ext uri="{BB962C8B-B14F-4D97-AF65-F5344CB8AC3E}">
        <p14:creationId xmlns:p14="http://schemas.microsoft.com/office/powerpoint/2010/main" val="1832308478"/>
      </p:ext>
    </p:extLst>
  </p:cSld>
</p:sld>
</file>

<file path=ppt/slides/slide6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AF148815-62E1-404E-A1CC-ADC8364F3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Ersättningsresistans för två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61553943-7CAD-4DAC-9CA1-BE7EBE1B0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positiva resistanser.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2EA27A-EF2A-4065-A0AF-8A35169B6A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27507508a394204"/>
          <a:stretch xmlns:a="http://schemas.openxmlformats.org/drawingml/2006/main"/>
        </p:blipFill>
        <p:spPr>
          <a:xfrm xmlns:a="http://schemas.openxmlformats.org/drawingml/2006/main">
            <a:off x="2306320" y="1562100"/>
            <a:ext cx="453136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B75752E8-25C6-4A11-A30F-94E738716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8B22DCA-E9CB-43F1-84B4-35C7169D0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61</a:t>
            </a:r>
          </a:p>
        </p:txBody>
      </p:sp>
    </p:spTree>
    <p:extLst>
      <p:ext uri="{BB962C8B-B14F-4D97-AF65-F5344CB8AC3E}">
        <p14:creationId xmlns:p14="http://schemas.microsoft.com/office/powerpoint/2010/main" val="1203449568"/>
      </p:ext>
    </p:extLst>
  </p:cSld>
</p:sld>
</file>

<file path=ppt/slides/slide6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2904A8CD-80E6-4FAC-A503-D31190B4A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Ersättningsresistans för två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6610A931-524F-4710-91B6-0363DF28E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positiva resistanser.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747892-3698-4638-81BF-4092C96A8B5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aafe1ec9363481d"/>
          <a:stretch xmlns:a="http://schemas.openxmlformats.org/drawingml/2006/main"/>
        </p:blipFill>
        <p:spPr>
          <a:xfrm xmlns:a="http://schemas.openxmlformats.org/drawingml/2006/main">
            <a:off x="947854" y="1562100"/>
            <a:ext cx="7248293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A4D26DC3-8697-40D9-895F-9A76883FC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resistorer på 12 ohm ligger i serie med en 24 V-källa. Total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0FBBF09E-642D-4FD1-8637-6B7B37721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0B196ED-5372-448E-BA9D-5CF5A7148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62</a:t>
            </a:r>
          </a:p>
        </p:txBody>
      </p:sp>
    </p:spTree>
    <p:extLst>
      <p:ext uri="{BB962C8B-B14F-4D97-AF65-F5344CB8AC3E}">
        <p14:creationId xmlns:p14="http://schemas.microsoft.com/office/powerpoint/2010/main" val="1186332887"/>
      </p:ext>
    </p:extLst>
  </p:cSld>
</p:sld>
</file>

<file path=ppt/slides/slide6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F25B111C-742D-4B1D-83B3-30AE33A33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Ersättningsresistans för två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949A2157-FDE3-4285-B93B-BDC503360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positiva resistanser.</a:t>
            </a:r>
          </a:p>
        </p:txBody>
      </p:sp>
      <p:sp>
        <p:nvSpPr>
          <p:cNvPr id="3" name="body-0-0">
            <a:extLst xmlns:a="http://schemas.openxmlformats.org/drawingml/2006/main">
              <a:ext uri="{FF2B5EF4-FFF2-40B4-BE49-F238E27FC236}">
                <a16:creationId xmlns:a16="http://schemas.microsoft.com/office/drawing/2014/main" id="{A6E0B37C-558A-41CF-9368-3C3690563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resistans är 24 ohm och strömmen är 1 ampere.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9181E2CF-6560-4E49-BD0A-3D017CA44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002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Resistanser anges i ohm (Ω). Samma ström går genom serielasterna.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C6EA4CA-DC64-4414-8686-C69CD526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C4DDAA9-0E3F-46EC-85C8-8EC4C9BDB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63</a:t>
            </a:r>
          </a:p>
        </p:txBody>
      </p:sp>
    </p:spTree>
    <p:extLst>
      <p:ext uri="{BB962C8B-B14F-4D97-AF65-F5344CB8AC3E}">
        <p14:creationId xmlns:p14="http://schemas.microsoft.com/office/powerpoint/2010/main" val="1580575421"/>
      </p:ext>
    </p:extLst>
  </p:cSld>
</p:sld>
</file>

<file path=ppt/slides/slide6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2AB5FFAC-6C58-4FA3-8053-1AC82B487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Ersättningsresistans för två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A3D3D539-7A49-4022-A826-25C85B32B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positiva resistanser.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A49204-7D47-418D-B02D-DBF00022099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395be51fd4218"/>
          <a:stretch xmlns:a="http://schemas.openxmlformats.org/drawingml/2006/main"/>
        </p:blipFill>
        <p:spPr>
          <a:xfrm xmlns:a="http://schemas.openxmlformats.org/drawingml/2006/main">
            <a:off x="3136900" y="1562100"/>
            <a:ext cx="2870200" cy="609600"/>
          </a:xfrm>
          <a:prstGeom xmlns:a="http://schemas.openxmlformats.org/drawingml/2006/main" prst="rect">
            <a:avLst/>
          </a:prstGeom>
        </p:spPr>
      </p:pic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2EA6C505-C3E0-4E89-B9A3-4137B6398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68B9271-4971-46A0-9F58-2178C6C4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64</a:t>
            </a:r>
          </a:p>
        </p:txBody>
      </p:sp>
    </p:spTree>
    <p:extLst>
      <p:ext uri="{BB962C8B-B14F-4D97-AF65-F5344CB8AC3E}">
        <p14:creationId xmlns:p14="http://schemas.microsoft.com/office/powerpoint/2010/main" val="1621323503"/>
      </p:ext>
    </p:extLst>
  </p:cSld>
</p:sld>
</file>

<file path=ppt/slides/slide6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FF0A76BB-2F4F-4CA8-B9E8-8A1B9E329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Ersättningsresistans för två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6B3ADE91-1E68-4861-B615-D44BF1B3A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positiva resistanser.</a:t>
            </a:r>
          </a:p>
        </p:txBody>
      </p:sp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0998079-1497-4334-A3B1-09949BC58A4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36d704eee84fca"/>
          <a:stretch xmlns:a="http://schemas.openxmlformats.org/drawingml/2006/main"/>
        </p:blipFill>
        <p:spPr>
          <a:xfrm xmlns:a="http://schemas.openxmlformats.org/drawingml/2006/main">
            <a:off x="947854" y="1562100"/>
            <a:ext cx="7248293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52B0066B-449F-4E54-9436-C68116DF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4483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resistorer på 12 ohm ligger i separata grenar mellan samma två</a:t>
            </a:r>
          </a:p>
        </p:txBody>
      </p:sp>
      <p:sp>
        <p:nvSpPr>
          <p:cNvPr id="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4B8A8BA-24C0-4C3D-A0F2-E7923D845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40DD279-35E1-469C-8630-0764A3A5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65</a:t>
            </a:r>
          </a:p>
        </p:txBody>
      </p:sp>
    </p:spTree>
    <p:extLst>
      <p:ext uri="{BB962C8B-B14F-4D97-AF65-F5344CB8AC3E}">
        <p14:creationId xmlns:p14="http://schemas.microsoft.com/office/powerpoint/2010/main" val="427392335"/>
      </p:ext>
    </p:extLst>
  </p:cSld>
</p:sld>
</file>

<file path=ppt/slides/slide6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67572BA1-4A6C-44DB-92EA-F8D65658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Ersättningsresistans för två</a:t>
            </a:r>
          </a:p>
        </p:txBody>
      </p:sp>
      <p:sp>
        <p:nvSpPr>
          <p:cNvPr id="2" name="section-title-1">
            <a:extLst xmlns:a="http://schemas.openxmlformats.org/drawingml/2006/main">
              <a:ext uri="{FF2B5EF4-FFF2-40B4-BE49-F238E27FC236}">
                <a16:creationId xmlns:a16="http://schemas.microsoft.com/office/drawing/2014/main" id="{22D46CE4-3943-45FE-AA9E-0821F98A4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790575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positiva resistanser.</a:t>
            </a:r>
          </a:p>
        </p:txBody>
      </p:sp>
      <p:sp>
        <p:nvSpPr>
          <p:cNvPr id="3" name="body-0-0">
            <a:extLst xmlns:a="http://schemas.openxmlformats.org/drawingml/2006/main">
              <a:ext uri="{FF2B5EF4-FFF2-40B4-BE49-F238E27FC236}">
                <a16:creationId xmlns:a16="http://schemas.microsoft.com/office/drawing/2014/main" id="{3D4F003A-BC6C-4CB5-91B2-8CB02B378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621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noder i en ideal 24 V-krets. Varje gren tar 2 ampere och källan ger 4</a:t>
            </a:r>
          </a:p>
        </p:txBody>
      </p:sp>
      <p:sp>
        <p:nvSpPr>
          <p:cNvPr id="4" name="body-0-1">
            <a:extLst xmlns:a="http://schemas.openxmlformats.org/drawingml/2006/main">
              <a:ext uri="{FF2B5EF4-FFF2-40B4-BE49-F238E27FC236}">
                <a16:creationId xmlns:a16="http://schemas.microsoft.com/office/drawing/2014/main" id="{77F5F6EE-2C07-4901-B8B1-D1311A4F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859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ampere.</a:t>
            </a:r>
          </a:p>
        </p:txBody>
      </p:sp>
      <p:sp>
        <p:nvSpPr>
          <p:cNvPr id="5" name="body-1-0">
            <a:extLst xmlns:a="http://schemas.openxmlformats.org/drawingml/2006/main">
              <a:ext uri="{FF2B5EF4-FFF2-40B4-BE49-F238E27FC236}">
                <a16:creationId xmlns:a16="http://schemas.microsoft.com/office/drawing/2014/main" id="{D40595AE-7F63-47DA-960F-BDB08222D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241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Resistanser anges i ohm (Ω). De parallella grenarna har samma</a:t>
            </a:r>
          </a:p>
        </p:txBody>
      </p:sp>
      <p:sp>
        <p:nvSpPr>
          <p:cNvPr id="6" name="body-1-1">
            <a:extLst xmlns:a="http://schemas.openxmlformats.org/drawingml/2006/main">
              <a:ext uri="{FF2B5EF4-FFF2-40B4-BE49-F238E27FC236}">
                <a16:creationId xmlns:a16="http://schemas.microsoft.com/office/drawing/2014/main" id="{2E09F6BD-F64F-468D-A085-4E4CCD9FE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479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spänning.</a:t>
            </a:r>
          </a:p>
        </p:txBody>
      </p:sp>
      <p:sp>
        <p:nvSpPr>
          <p:cNvPr id="7" name="body-2-0">
            <a:extLst xmlns:a="http://schemas.openxmlformats.org/drawingml/2006/main">
              <a:ext uri="{FF2B5EF4-FFF2-40B4-BE49-F238E27FC236}">
                <a16:creationId xmlns:a16="http://schemas.microsoft.com/office/drawing/2014/main" id="{0DBE9C42-26C7-40DF-9206-7B4817978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8610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Gäller när: Parallelluttrycket kräver att båda resistorerna ligger mellan</a:t>
            </a:r>
          </a:p>
        </p:txBody>
      </p:sp>
      <p:sp>
        <p:nvSpPr>
          <p:cNvPr id="8" name="body-2-1">
            <a:extLst xmlns:a="http://schemas.openxmlformats.org/drawingml/2006/main">
              <a:ext uri="{FF2B5EF4-FFF2-40B4-BE49-F238E27FC236}">
                <a16:creationId xmlns:a16="http://schemas.microsoft.com/office/drawing/2014/main" id="{F0C9F3AA-2720-4FF7-81D6-818DC0EDE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09950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samma två noder.</a:t>
            </a:r>
          </a:p>
        </p:txBody>
      </p:sp>
      <p:sp>
        <p:nvSpPr>
          <p:cNvPr id="9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E9B176BC-2BB5-4668-8451-A1F4B9461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5828101-8984-481D-8DC5-8BB1955B8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66</a:t>
            </a:r>
          </a:p>
        </p:txBody>
      </p:sp>
    </p:spTree>
    <p:extLst>
      <p:ext uri="{BB962C8B-B14F-4D97-AF65-F5344CB8AC3E}">
        <p14:creationId xmlns:p14="http://schemas.microsoft.com/office/powerpoint/2010/main" val="1425054553"/>
      </p:ext>
    </p:extLst>
  </p:cSld>
</p:sld>
</file>

<file path=ppt/slides/slide6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2662D4FB-B537-4D6C-B0D1-20E7A271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Effekt i en resistiv likströmslast.</a:t>
            </a:r>
          </a:p>
        </p:txBody>
      </p:sp>
      <p:pic>
        <p:nvPic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97529D-022F-49FB-A6EE-B21E804B477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dad1cfbff094959"/>
          <a:stretch xmlns:a="http://schemas.openxmlformats.org/drawingml/2006/main"/>
        </p:blipFill>
        <p:spPr>
          <a:xfrm xmlns:a="http://schemas.openxmlformats.org/drawingml/2006/main">
            <a:off x="3578578" y="1152525"/>
            <a:ext cx="1986844" cy="609600"/>
          </a:xfrm>
          <a:prstGeom xmlns:a="http://schemas.openxmlformats.org/drawingml/2006/main" prst="rect">
            <a:avLst/>
          </a:prstGeom>
        </p:spPr>
      </p:pic>
      <p:pic>
        <p:nvPic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7C0171-FA09-47F2-9C7E-134C8F0BC1D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a652fb3359f4ad7"/>
          <a:stretch xmlns:a="http://schemas.openxmlformats.org/drawingml/2006/main"/>
        </p:blipFill>
        <p:spPr>
          <a:xfrm xmlns:a="http://schemas.openxmlformats.org/drawingml/2006/main">
            <a:off x="947854" y="1933575"/>
            <a:ext cx="7248293" cy="3714750"/>
          </a:xfrm>
          <a:prstGeom xmlns:a="http://schemas.openxmlformats.org/drawingml/2006/main" prst="rect">
            <a:avLst/>
          </a:prstGeom>
        </p:spPr>
      </p:pic>
      <p:sp>
        <p:nvSpPr>
          <p:cNvPr id="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79150B3F-27DC-47C8-9218-15588172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ABA50D2-DDEC-4E98-B52D-460528E73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67</a:t>
            </a:r>
          </a:p>
        </p:txBody>
      </p:sp>
    </p:spTree>
    <p:extLst>
      <p:ext uri="{BB962C8B-B14F-4D97-AF65-F5344CB8AC3E}">
        <p14:creationId xmlns:p14="http://schemas.microsoft.com/office/powerpoint/2010/main" val="1054855398"/>
      </p:ext>
    </p:extLst>
  </p:cSld>
</p:sld>
</file>

<file path=ppt/slides/slide6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C5F33380-B471-4309-9C97-F9DC9743B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Formelguide: Effekt i en resistiv likströmslast.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BF9A15F5-158B-4787-ABBD-2111CEDEE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ideal 24 V-källa driver 2 A genom en resistiv last på 12 ohm.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789765DC-9809-498E-86A4-C7C06295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Lastens elektriska effekt är 48 watt i denna driftpunkt.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E01C5C27-8C21-4838-AC5C-1EA246299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P: watt (W). U: volt (V). I: ampere (A).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49947C14-9188-4C44-A129-2AF5AED06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Gäller när: Spänning och ström ska avse samma last och samma</a:t>
            </a:r>
          </a:p>
        </p:txBody>
      </p:sp>
      <p:sp>
        <p:nvSpPr>
          <p:cNvPr id="6" name="body-2-1">
            <a:extLst xmlns:a="http://schemas.openxmlformats.org/drawingml/2006/main">
              <a:ext uri="{FF2B5EF4-FFF2-40B4-BE49-F238E27FC236}">
                <a16:creationId xmlns:a16="http://schemas.microsoft.com/office/drawing/2014/main" id="{A188110F-9858-4F12-B4DF-5B2642055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driftpunkt i den resistiva likströmsmodellen.</a:t>
            </a:r>
          </a:p>
        </p:txBody>
      </p:sp>
      <p:sp>
        <p:nvSpPr>
          <p:cNvPr id="7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A2B91925-3A67-4738-AF06-2F8FD582F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F7A8E51-940E-4A30-AC24-0F61B112F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68</a:t>
            </a:r>
          </a:p>
        </p:txBody>
      </p:sp>
    </p:spTree>
    <p:extLst>
      <p:ext uri="{BB962C8B-B14F-4D97-AF65-F5344CB8AC3E}">
        <p14:creationId xmlns:p14="http://schemas.microsoft.com/office/powerpoint/2010/main" val="1044154791"/>
      </p:ext>
    </p:extLst>
  </p:cSld>
</p:sld>
</file>

<file path=ppt/slides/slide6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46DD92DF-6CED-4471-83DF-6C6AF6970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Vanliga fel och egen kontroll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F353B936-386E-4700-9D87-43BE04EC3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Vanliga fel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0136B563-D1D9-449F-8894-BBFBF2BC0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Behandla inte spänning som något som flyter; ström går och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66D946D8-0393-48B5-9423-925A629A3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spänning mäts mellan punkter.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696D5261-4377-42F6-883D-413EBFCA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90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Anslut inte strömingången direkt över en cell i en spänningsövning.</a:t>
            </a:r>
          </a:p>
        </p:txBody>
      </p:sp>
      <p:sp>
        <p:nvSpPr>
          <p:cNvPr id="6" name="body-3-0">
            <a:extLst xmlns:a="http://schemas.openxmlformats.org/drawingml/2006/main">
              <a:ext uri="{FF2B5EF4-FFF2-40B4-BE49-F238E27FC236}">
                <a16:creationId xmlns:a16="http://schemas.microsoft.com/office/drawing/2014/main" id="{24141441-8B2D-45C6-9746-8F0685BA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28925"/>
            <a:ext cx="822960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Du är redo att försöka när…</a:t>
            </a:r>
          </a:p>
        </p:txBody>
      </p:sp>
      <p:sp>
        <p:nvSpPr>
          <p:cNvPr id="7" name="body-4-0">
            <a:extLst xmlns:a="http://schemas.openxmlformats.org/drawingml/2006/main">
              <a:ext uri="{FF2B5EF4-FFF2-40B4-BE49-F238E27FC236}">
                <a16:creationId xmlns:a16="http://schemas.microsoft.com/office/drawing/2014/main" id="{9B81A572-D926-4CF4-BDFA-B18C9D9D0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051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Jag kan rita hela returvägen och skilja serie från parallell.</a:t>
            </a:r>
          </a:p>
        </p:txBody>
      </p:sp>
      <p:sp>
        <p:nvSpPr>
          <p:cNvPr id="8" name="body-5-0">
            <a:extLst xmlns:a="http://schemas.openxmlformats.org/drawingml/2006/main">
              <a:ext uri="{FF2B5EF4-FFF2-40B4-BE49-F238E27FC236}">
                <a16:creationId xmlns:a16="http://schemas.microsoft.com/office/drawing/2014/main" id="{11F28CF5-D39C-42FB-A3B0-9826CEE17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433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Jag kan skriva om Ohms lag och ange svarets enhet.</a:t>
            </a:r>
          </a:p>
        </p:txBody>
      </p:sp>
      <p:sp>
        <p:nvSpPr>
          <p:cNvPr id="9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5550A7FD-B029-4558-912F-99084AFE7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AD5D4DFF-EA93-445D-BAFF-374319260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69</a:t>
            </a:r>
          </a:p>
        </p:txBody>
      </p:sp>
    </p:spTree>
    <p:extLst>
      <p:ext uri="{BB962C8B-B14F-4D97-AF65-F5344CB8AC3E}">
        <p14:creationId xmlns:p14="http://schemas.microsoft.com/office/powerpoint/2010/main" val="2990849"/>
      </p:ext>
    </p:extLst>
  </p:cSld>
</p:sld>
</file>

<file path=ppt/slides/slide7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E15AC4F1-C1DE-45AA-A9CA-7594D24D5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Belysningen i förrådet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01F9883D-7B33-4382-9C04-F0398A913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Ett simulerat 24 V-system matar en resistiv arbetslampa på 12 Ω.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E8185BC9-CE33-41CA-A743-75C941C7F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Ledningarna antas först ideala. Du ska förklara normal drift, jämföra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1FDE64B3-DA1C-4C7E-AF4A-CF9BD2EBD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kopplingar och skilja en bruten retur från en spänningslös källa.</a:t>
            </a:r>
          </a:p>
        </p:txBody>
      </p:sp>
      <p:sp>
        <p:nvSpPr>
          <p:cNvPr id="5" name="body-1-0">
            <a:extLst xmlns:a="http://schemas.openxmlformats.org/drawingml/2006/main">
              <a:ext uri="{FF2B5EF4-FFF2-40B4-BE49-F238E27FC236}">
                <a16:creationId xmlns:a16="http://schemas.microsoft.com/office/drawing/2014/main" id="{F444A3CD-22F2-4AA3-8873-1364E30EF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Redovisning</a:t>
            </a:r>
          </a:p>
        </p:txBody>
      </p:sp>
      <p:sp>
        <p:nvSpPr>
          <p:cNvPr id="6" name="body-2-0">
            <a:extLst xmlns:a="http://schemas.openxmlformats.org/drawingml/2006/main">
              <a:ext uri="{FF2B5EF4-FFF2-40B4-BE49-F238E27FC236}">
                <a16:creationId xmlns:a16="http://schemas.microsoft.com/office/drawing/2014/main" id="{6D74442B-0F95-411B-821C-309FD5226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14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1. Rita normal krets och en krets med bruten retur. Markera minst tre</a:t>
            </a:r>
          </a:p>
        </p:txBody>
      </p:sp>
      <p:sp>
        <p:nvSpPr>
          <p:cNvPr id="7" name="body-2-1">
            <a:extLst xmlns:a="http://schemas.openxmlformats.org/drawingml/2006/main">
              <a:ext uri="{FF2B5EF4-FFF2-40B4-BE49-F238E27FC236}">
                <a16:creationId xmlns:a16="http://schemas.microsoft.com/office/drawing/2014/main" id="{A122F07B-B23B-4180-805F-4A308B3AA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384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mätpunkter.</a:t>
            </a:r>
          </a:p>
        </p:txBody>
      </p:sp>
      <p:sp>
        <p:nvSpPr>
          <p:cNvPr id="8" name="body-3-0">
            <a:extLst xmlns:a="http://schemas.openxmlformats.org/drawingml/2006/main">
              <a:ext uri="{FF2B5EF4-FFF2-40B4-BE49-F238E27FC236}">
                <a16:creationId xmlns:a16="http://schemas.microsoft.com/office/drawing/2014/main" id="{08074A3D-66E4-4FA3-873D-5E9E2174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76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2. Redovisa serie- och parallellfallet i en jämförelsetabell. Förklara</a:t>
            </a:r>
          </a:p>
        </p:txBody>
      </p:sp>
      <p:sp>
        <p:nvSpPr>
          <p:cNvPr id="9" name="body-3-1">
            <a:extLst xmlns:a="http://schemas.openxmlformats.org/drawingml/2006/main">
              <a:ext uri="{FF2B5EF4-FFF2-40B4-BE49-F238E27FC236}">
                <a16:creationId xmlns:a16="http://schemas.microsoft.com/office/drawing/2014/main" id="{B6B6FE55-23D5-4364-9E76-3753814D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004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varför samma batterispänning inte ger samma totalström.</a:t>
            </a:r>
          </a:p>
        </p:txBody>
      </p:sp>
      <p:sp>
        <p:nvSpPr>
          <p:cNvPr id="10" name="body-4-0">
            <a:extLst xmlns:a="http://schemas.openxmlformats.org/drawingml/2006/main">
              <a:ext uri="{FF2B5EF4-FFF2-40B4-BE49-F238E27FC236}">
                <a16:creationId xmlns:a16="http://schemas.microsoft.com/office/drawing/2014/main" id="{312E1F73-169E-4524-A116-ABC259C94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38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3. Skriv en riskrad med fara, åtgärd och hur åtgärden kontrolleras.</a:t>
            </a:r>
          </a:p>
        </p:txBody>
      </p:sp>
      <p:sp>
        <p:nvSpPr>
          <p:cNvPr id="11" name="body-5-0">
            <a:extLst xmlns:a="http://schemas.openxmlformats.org/drawingml/2006/main">
              <a:ext uri="{FF2B5EF4-FFF2-40B4-BE49-F238E27FC236}">
                <a16:creationId xmlns:a16="http://schemas.microsoft.com/office/drawing/2014/main" id="{11059358-CED9-46A3-A49F-4CFC2A48B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676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4. Besvara också beslutsfall A och B: observation, möjlig händelse,</a:t>
            </a:r>
          </a:p>
        </p:txBody>
      </p:sp>
      <p:sp>
        <p:nvSpPr>
          <p:cNvPr id="12" name="body-5-1">
            <a:extLst xmlns:a="http://schemas.openxmlformats.org/drawingml/2006/main">
              <a:ext uri="{FF2B5EF4-FFF2-40B4-BE49-F238E27FC236}">
                <a16:creationId xmlns:a16="http://schemas.microsoft.com/office/drawing/2014/main" id="{D38AB2D3-8277-461F-9690-36F7FF17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000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beslut, ansvar och verifiering. Skilj genomförd åtgärd från planerad</a:t>
            </a:r>
          </a:p>
        </p:txBody>
      </p:sp>
      <p:sp>
        <p:nvSpPr>
          <p:cNvPr id="13" name="body-5-2">
            <a:extLst xmlns:a="http://schemas.openxmlformats.org/drawingml/2006/main">
              <a:ext uri="{FF2B5EF4-FFF2-40B4-BE49-F238E27FC236}">
                <a16:creationId xmlns:a16="http://schemas.microsoft.com/office/drawing/2014/main" id="{C13B8EA4-DC65-4FC4-B1F5-AD81B882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3244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kontroll.</a:t>
            </a:r>
          </a:p>
        </p:txBody>
      </p:sp>
      <p:sp>
        <p:nvSpPr>
          <p:cNvPr id="1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C26647F4-A839-43FA-A21D-DE1F573A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CC986CB-5C1C-470C-B2F1-9008BF834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70</a:t>
            </a:r>
          </a:p>
        </p:txBody>
      </p:sp>
    </p:spTree>
    <p:extLst>
      <p:ext uri="{BB962C8B-B14F-4D97-AF65-F5344CB8AC3E}">
        <p14:creationId xmlns:p14="http://schemas.microsoft.com/office/powerpoint/2010/main" val="1696113845"/>
      </p:ext>
    </p:extLst>
  </p:cSld>
</p:sld>
</file>

<file path=ppt/slides/slide7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BDD7F9A1-E533-48A1-9168-D2B2EE180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Belysningen i förrådet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27C4DF3C-4E58-44D8-BC01-5D67F842D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4718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025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Andra genomgången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08C65A81-899E-4E94-A25B-5B7B2D3D5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628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en andra genomgång med ett ändrat givet värde eller ett annat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A2DC1B9C-A541-4686-A7AA-FC74D20E2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52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fel. Skriv vad som bör ändras och vad som bör vara oförändrat innan</a:t>
            </a:r>
          </a:p>
        </p:txBody>
      </p:sp>
      <p:sp>
        <p:nvSpPr>
          <p:cNvPr id="5" name="body-1-2">
            <a:extLst xmlns:a="http://schemas.openxmlformats.org/drawingml/2006/main">
              <a:ext uri="{FF2B5EF4-FFF2-40B4-BE49-F238E27FC236}">
                <a16:creationId xmlns:a16="http://schemas.microsoft.com/office/drawing/2014/main" id="{724F434F-9037-4C9F-977C-E4DBB2CB7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764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du räknar eller simulerar. Motivera skillnaden och ange modellens</a:t>
            </a:r>
          </a:p>
        </p:txBody>
      </p:sp>
      <p:sp>
        <p:nvSpPr>
          <p:cNvPr id="6" name="body-1-3">
            <a:extLst xmlns:a="http://schemas.openxmlformats.org/drawingml/2006/main">
              <a:ext uri="{FF2B5EF4-FFF2-40B4-BE49-F238E27FC236}">
                <a16:creationId xmlns:a16="http://schemas.microsoft.com/office/drawing/2014/main" id="{DE96EED1-EA84-4F12-A7EB-5A44A9C62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003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begränsning.</a:t>
            </a:r>
          </a:p>
        </p:txBody>
      </p:sp>
      <p:sp>
        <p:nvSpPr>
          <p:cNvPr id="7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38E03471-F9D5-4D85-983A-4B2352B8E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ED66159-1D71-4AD3-9A3A-A6C474F40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71</a:t>
            </a:r>
          </a:p>
        </p:txBody>
      </p:sp>
    </p:spTree>
    <p:extLst>
      <p:ext uri="{BB962C8B-B14F-4D97-AF65-F5344CB8AC3E}">
        <p14:creationId xmlns:p14="http://schemas.microsoft.com/office/powerpoint/2010/main" val="758581135"/>
      </p:ext>
    </p:extLst>
  </p:cSld>
</p:sld>
</file>

<file path=ppt/slides/slide7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2263CAB5-885D-42F5-94C4-921575559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1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ADE81B56-B95F-4284-8EB8-F4B0B2D0D6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24 V-lampa har bruten retur. Vilket påstående stämmer?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3552D763-6865-4D0B-88B2-62CAB7C7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A. En fullständig väg för stationär ström saknas.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1A16562A-48C7-4E7A-AC84-EFC443DAE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B. Spänning på en anslutning bevisar strömflöde.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59A3BA4B-8B5E-418B-BCB7-9A63BAA53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C. Resistansen måste vara noll.</a:t>
            </a:r>
          </a:p>
        </p:txBody>
      </p:sp>
      <p:sp>
        <p:nvSpPr>
          <p:cNvPr id="6" name="body-4-0">
            <a:extLst xmlns:a="http://schemas.openxmlformats.org/drawingml/2006/main">
              <a:ext uri="{FF2B5EF4-FFF2-40B4-BE49-F238E27FC236}">
                <a16:creationId xmlns:a16="http://schemas.microsoft.com/office/drawing/2014/main" id="{13277F5D-6842-48D6-9EC8-028205108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7" name="body-4-1">
            <a:extLst xmlns:a="http://schemas.openxmlformats.org/drawingml/2006/main">
              <a:ext uri="{FF2B5EF4-FFF2-40B4-BE49-F238E27FC236}">
                <a16:creationId xmlns:a16="http://schemas.microsoft.com/office/drawing/2014/main" id="{5E68E97E-1A51-4C59-B3E4-2538F19AF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28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sp>
        <p:nvSpPr>
          <p:cNvPr id="8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E63D6081-3CDA-4C70-AF34-6D041F905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D745307-405A-442D-9FE3-307BCDCB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72</a:t>
            </a:r>
          </a:p>
        </p:txBody>
      </p:sp>
    </p:spTree>
    <p:extLst>
      <p:ext uri="{BB962C8B-B14F-4D97-AF65-F5344CB8AC3E}">
        <p14:creationId xmlns:p14="http://schemas.microsoft.com/office/powerpoint/2010/main" val="653748957"/>
      </p:ext>
    </p:extLst>
  </p:cSld>
</p:sld>
</file>

<file path=ppt/slides/slide7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BB964D4A-5CB8-496D-AE6D-FAE633672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2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56470EED-1E20-4A41-A260-00550F352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Vilken storhet är gemensam för parallella grenar?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4DC3130E-B037-45E5-A2D3-38CCD0A99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A. Ström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12A0224E-1594-4982-B251-59C7B1FA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B. Resistans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5C9AF1BD-427D-49CE-BB24-68A28FBD5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C. Spänning</a:t>
            </a:r>
          </a:p>
        </p:txBody>
      </p:sp>
      <p:sp>
        <p:nvSpPr>
          <p:cNvPr id="6" name="body-4-0">
            <a:extLst xmlns:a="http://schemas.openxmlformats.org/drawingml/2006/main">
              <a:ext uri="{FF2B5EF4-FFF2-40B4-BE49-F238E27FC236}">
                <a16:creationId xmlns:a16="http://schemas.microsoft.com/office/drawing/2014/main" id="{B2A59D59-F2E9-494B-B1D4-016A1ABEF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7" name="body-4-1">
            <a:extLst xmlns:a="http://schemas.openxmlformats.org/drawingml/2006/main">
              <a:ext uri="{FF2B5EF4-FFF2-40B4-BE49-F238E27FC236}">
                <a16:creationId xmlns:a16="http://schemas.microsoft.com/office/drawing/2014/main" id="{F9FAAC28-C212-4634-9293-7AC24C021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28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sp>
        <p:nvSpPr>
          <p:cNvPr id="8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93DD1296-AAE9-4F65-B22A-4EDAA469E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D7CCBABA-186D-4BBC-B7B2-20230951E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73</a:t>
            </a:r>
          </a:p>
        </p:txBody>
      </p:sp>
    </p:spTree>
    <p:extLst>
      <p:ext uri="{BB962C8B-B14F-4D97-AF65-F5344CB8AC3E}">
        <p14:creationId xmlns:p14="http://schemas.microsoft.com/office/powerpoint/2010/main" val="1379718067"/>
      </p:ext>
    </p:extLst>
  </p:cSld>
</p:sld>
</file>

<file path=ppt/slides/slide7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470B763C-F255-4813-855D-81FB6FD71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3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E923E6B2-3B82-4B0C-89F1-1D58AC8A5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resistor på 12 Ω matas med 24 V DC. Bestäm strömmen.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BF45439E-D474-42C3-810C-49A03A3BD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Svara med värde och enhet (A). Redovisa metod och rimlighetskontroll.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D0492B8E-2FD8-4AD2-A1CB-0D5EA003D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5" name="body-2-1">
            <a:extLst xmlns:a="http://schemas.openxmlformats.org/drawingml/2006/main">
              <a:ext uri="{FF2B5EF4-FFF2-40B4-BE49-F238E27FC236}">
                <a16:creationId xmlns:a16="http://schemas.microsoft.com/office/drawing/2014/main" id="{E75E9786-CFA4-4238-ACDB-96AF816F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2165E697-2895-4E3E-BE75-C7902703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C79D598-7920-4172-9A7E-384B405FD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74</a:t>
            </a:r>
          </a:p>
        </p:txBody>
      </p:sp>
    </p:spTree>
    <p:extLst>
      <p:ext uri="{BB962C8B-B14F-4D97-AF65-F5344CB8AC3E}">
        <p14:creationId xmlns:p14="http://schemas.microsoft.com/office/powerpoint/2010/main" val="1489176663"/>
      </p:ext>
    </p:extLst>
  </p:cSld>
</p:sld>
</file>

<file path=ppt/slides/slide7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C25F77FD-002E-49A0-81F4-36BBA6678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4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4E36F31C-85BE-442F-AF6B-A7A7E3F9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serieresistorer är 8 Ω och 16 Ω. Bestäm total resistans.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9AE53A83-04FA-449D-A5F6-99831E20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Svara med värde och enhet (Ω). Redovisa metod och rimlighetskontroll.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873CE075-815B-445C-91E2-A4AE367B1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5" name="body-2-1">
            <a:extLst xmlns:a="http://schemas.openxmlformats.org/drawingml/2006/main">
              <a:ext uri="{FF2B5EF4-FFF2-40B4-BE49-F238E27FC236}">
                <a16:creationId xmlns:a16="http://schemas.microsoft.com/office/drawing/2014/main" id="{7549E635-30FA-4B54-B417-9B2F183E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3094D8A-D0ED-46A7-BDD5-12DF3301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77C05B-D782-40F6-AA71-F3BED3473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75</a:t>
            </a:r>
          </a:p>
        </p:txBody>
      </p:sp>
    </p:spTree>
    <p:extLst>
      <p:ext uri="{BB962C8B-B14F-4D97-AF65-F5344CB8AC3E}">
        <p14:creationId xmlns:p14="http://schemas.microsoft.com/office/powerpoint/2010/main" val="552628051"/>
      </p:ext>
    </p:extLst>
  </p:cSld>
</p:sld>
</file>

<file path=ppt/slides/slide7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1F8F8BC9-B39D-428E-92F3-6F62BD31C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Träningsinlämning 5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86BBFA7C-9CB4-4E19-85C6-F66B5CFA4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Träningsinlämning: en 24 V-lampa tar 0,4 A. Beräkna resistansen i drift.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2424CEC1-8F0A-496E-B323-E20577161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Svara med värde och enhet (Ω). Redovisa metod och rimlighetskontroll.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4CB91D07-70A3-44B5-8A14-B72C28E54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5" name="body-2-1">
            <a:extLst xmlns:a="http://schemas.openxmlformats.org/drawingml/2006/main">
              <a:ext uri="{FF2B5EF4-FFF2-40B4-BE49-F238E27FC236}">
                <a16:creationId xmlns:a16="http://schemas.microsoft.com/office/drawing/2014/main" id="{7D85A67C-78D4-461E-B68A-FEDCE1D32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7A4FCD0D-D49A-46F1-97FE-34D5747F0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0D9AA86-2541-4534-B7EB-B81AEB00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76</a:t>
            </a:r>
          </a:p>
        </p:txBody>
      </p:sp>
    </p:spTree>
    <p:extLst>
      <p:ext uri="{BB962C8B-B14F-4D97-AF65-F5344CB8AC3E}">
        <p14:creationId xmlns:p14="http://schemas.microsoft.com/office/powerpoint/2010/main" val="2027850496"/>
      </p:ext>
    </p:extLst>
  </p:cSld>
</p:sld>
</file>

<file path=ppt/slides/slide7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C6EA68F7-9DE1-440B-88CD-F83B2596B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6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1D2D1BEB-E712-483C-94BE-8A4AE9D96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Veckofall: vilken ström går genom 12 Ω vid 24 V?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B3CC3C8F-CE76-438A-A4FF-EF10A3F6F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Svara med värde och enhet (A). Redovisa metod och rimlighetskontroll.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0BF06E05-79D8-4881-9C99-84079EE70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5" name="body-2-1">
            <a:extLst xmlns:a="http://schemas.openxmlformats.org/drawingml/2006/main">
              <a:ext uri="{FF2B5EF4-FFF2-40B4-BE49-F238E27FC236}">
                <a16:creationId xmlns:a16="http://schemas.microsoft.com/office/drawing/2014/main" id="{F26871DF-2E69-4519-93C2-D4C35EFB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07C0C917-6B13-4406-9CE2-0659096FE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8E2E14C-ADF3-4FE6-8239-55D899ED4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77</a:t>
            </a:r>
          </a:p>
        </p:txBody>
      </p:sp>
    </p:spTree>
    <p:extLst>
      <p:ext uri="{BB962C8B-B14F-4D97-AF65-F5344CB8AC3E}">
        <p14:creationId xmlns:p14="http://schemas.microsoft.com/office/powerpoint/2010/main" val="833048530"/>
      </p:ext>
    </p:extLst>
  </p:cSld>
</p:sld>
</file>

<file path=ppt/slides/slide7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B4E7E823-BBF8-45B8-A8E5-879F2CBE2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7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970432A0-3E15-47D4-9EF2-D8D1F0D3C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Veckofall: hur stor är lampans effekt vid 24 V och 2 A?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C1E9CCDE-C705-48DB-AA71-9E3C3FC34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Svara med värde och enhet (W). Redovisa metod och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CD09996D-6D0A-42DE-99CC-FB98A755A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rimlighetskontroll.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44047055-A2DF-438A-82AC-CB39E1497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6" name="body-2-1">
            <a:extLst xmlns:a="http://schemas.openxmlformats.org/drawingml/2006/main">
              <a:ext uri="{FF2B5EF4-FFF2-40B4-BE49-F238E27FC236}">
                <a16:creationId xmlns:a16="http://schemas.microsoft.com/office/drawing/2014/main" id="{9E1A8861-D86C-418B-96AD-4A71DF9E3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sp>
        <p:nvSpPr>
          <p:cNvPr id="7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2A2D5CFC-6F58-40FA-9D39-215C87A4D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2856BFFD-9ABD-44C6-9759-58E7F3965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78</a:t>
            </a:r>
          </a:p>
        </p:txBody>
      </p:sp>
    </p:spTree>
    <p:extLst>
      <p:ext uri="{BB962C8B-B14F-4D97-AF65-F5344CB8AC3E}">
        <p14:creationId xmlns:p14="http://schemas.microsoft.com/office/powerpoint/2010/main" val="111789727"/>
      </p:ext>
    </p:extLst>
  </p:cSld>
</p:sld>
</file>

<file path=ppt/slides/slide7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EAFC4AFF-4ED4-4899-9806-F508ED996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8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0EC290F3-A81C-4EC2-822A-A02CA1CBA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identiska 12 Ω-laster seriekopplas till 24 V. Hur stor blir strömmen?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4D99D078-583E-4BF7-B6A7-6E3AC6DDE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Svara med värde och enhet (A). Redovisa metod och rimlighetskontroll.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1D014F45-FFCC-4807-80EE-9FE26CF86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5" name="body-2-1">
            <a:extLst xmlns:a="http://schemas.openxmlformats.org/drawingml/2006/main">
              <a:ext uri="{FF2B5EF4-FFF2-40B4-BE49-F238E27FC236}">
                <a16:creationId xmlns:a16="http://schemas.microsoft.com/office/drawing/2014/main" id="{784A3F66-D288-4734-8FBE-299891BC9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497E06F7-B799-48D4-8C26-DFF21095C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E26FDFCD-5E84-4497-A016-6391B0F65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79</a:t>
            </a:r>
          </a:p>
        </p:txBody>
      </p:sp>
    </p:spTree>
    <p:extLst>
      <p:ext uri="{BB962C8B-B14F-4D97-AF65-F5344CB8AC3E}">
        <p14:creationId xmlns:p14="http://schemas.microsoft.com/office/powerpoint/2010/main" val="1223481855"/>
      </p:ext>
    </p:extLst>
  </p:cSld>
</p:sld>
</file>

<file path=ppt/slides/slide8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B91969E5-A6D7-41E5-A05F-E98C9A1D5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9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F8E9BAFD-7CD9-4437-B973-5C36D6405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Två identiska 12 Ω-laster parallellkopplas till 24 V. Vilken totalström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C1A51E3E-5CC7-43B4-B700-DB27377B8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lämnar källan?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DC40C4B0-9906-45F0-9C01-AF1006329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Svara med värde och enhet (A). Redovisa metod och rimlighetskontroll.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7DE8E62C-6405-419C-ADC7-44857F0B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6" name="body-2-1">
            <a:extLst xmlns:a="http://schemas.openxmlformats.org/drawingml/2006/main">
              <a:ext uri="{FF2B5EF4-FFF2-40B4-BE49-F238E27FC236}">
                <a16:creationId xmlns:a16="http://schemas.microsoft.com/office/drawing/2014/main" id="{FD00D32D-D298-4158-85E0-659E96245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sp>
        <p:nvSpPr>
          <p:cNvPr id="7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ED81395D-4300-4CF5-AA6B-BFFF81625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6A36739-D443-47B2-89B8-90FB2511E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80</a:t>
            </a:r>
          </a:p>
        </p:txBody>
      </p:sp>
    </p:spTree>
    <p:extLst>
      <p:ext uri="{BB962C8B-B14F-4D97-AF65-F5344CB8AC3E}">
        <p14:creationId xmlns:p14="http://schemas.microsoft.com/office/powerpoint/2010/main" val="1398708948"/>
      </p:ext>
    </p:extLst>
  </p:cSld>
</p:sld>
</file>

<file path=ppt/slides/slide8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79156DE-4928-4646-AA3D-249F6152A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10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ABE191D1-B1B2-49C1-8319-5E8BB6CD0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Returen öppnas. Vad visar en ideal strömmätning i lampgrenen?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B8CBF4F8-59A4-4A4C-8035-51FC4E5EC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A. 0 A.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67D1A202-5CB0-48BD-8A43-8F386B4C2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B. 2 A.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F53E36F3-7BA4-4B2A-8209-3B11B7C17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C. 24 A.</a:t>
            </a:r>
          </a:p>
        </p:txBody>
      </p:sp>
      <p:sp>
        <p:nvSpPr>
          <p:cNvPr id="6" name="body-4-0">
            <a:extLst xmlns:a="http://schemas.openxmlformats.org/drawingml/2006/main">
              <a:ext uri="{FF2B5EF4-FFF2-40B4-BE49-F238E27FC236}">
                <a16:creationId xmlns:a16="http://schemas.microsoft.com/office/drawing/2014/main" id="{ED5EEAB8-8E64-45F1-AE0A-5C2267412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7" name="body-4-1">
            <a:extLst xmlns:a="http://schemas.openxmlformats.org/drawingml/2006/main">
              <a:ext uri="{FF2B5EF4-FFF2-40B4-BE49-F238E27FC236}">
                <a16:creationId xmlns:a16="http://schemas.microsoft.com/office/drawing/2014/main" id="{B1A1AD27-D8CD-420B-AA97-D815A06F2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28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sp>
        <p:nvSpPr>
          <p:cNvPr id="8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F5C9082D-0A85-4589-ACE8-A10FECC4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B00A7F8-0BE6-4947-B858-066F9FD01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81</a:t>
            </a:r>
          </a:p>
        </p:txBody>
      </p:sp>
    </p:spTree>
    <p:extLst>
      <p:ext uri="{BB962C8B-B14F-4D97-AF65-F5344CB8AC3E}">
        <p14:creationId xmlns:p14="http://schemas.microsoft.com/office/powerpoint/2010/main" val="296943800"/>
      </p:ext>
    </p:extLst>
  </p:cSld>
</p:sld>
</file>

<file path=ppt/slides/slide8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D44D7C74-D3B0-41E0-A436-7587A11D7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11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6CC67586-3CEF-493C-82E6-EECAFD99E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Vilken uppgift är en kontrollerbar säkerhetsåtgärd?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4CEA9196-6847-472A-9718-62CF2861C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A. Var försiktig.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DAF7DFE5-D386-46C3-B97A-D46C456A7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B. Kontrollera att angiven källa är frånkopplad och dokumentera</a:t>
            </a:r>
          </a:p>
        </p:txBody>
      </p:sp>
      <p:sp>
        <p:nvSpPr>
          <p:cNvPr id="5" name="body-2-1">
            <a:extLst xmlns:a="http://schemas.openxmlformats.org/drawingml/2006/main">
              <a:ext uri="{FF2B5EF4-FFF2-40B4-BE49-F238E27FC236}">
                <a16:creationId xmlns:a16="http://schemas.microsoft.com/office/drawing/2014/main" id="{6B627810-A296-4BCC-AA02-009BA410D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kontrollen.</a:t>
            </a:r>
          </a:p>
        </p:txBody>
      </p:sp>
      <p:sp>
        <p:nvSpPr>
          <p:cNvPr id="6" name="body-3-0">
            <a:extLst xmlns:a="http://schemas.openxmlformats.org/drawingml/2006/main">
              <a:ext uri="{FF2B5EF4-FFF2-40B4-BE49-F238E27FC236}">
                <a16:creationId xmlns:a16="http://schemas.microsoft.com/office/drawing/2014/main" id="{B63A4136-6080-4120-BF73-BBD14E90C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C. Arbeta fort.</a:t>
            </a:r>
          </a:p>
        </p:txBody>
      </p:sp>
      <p:sp>
        <p:nvSpPr>
          <p:cNvPr id="7" name="body-4-0">
            <a:extLst xmlns:a="http://schemas.openxmlformats.org/drawingml/2006/main">
              <a:ext uri="{FF2B5EF4-FFF2-40B4-BE49-F238E27FC236}">
                <a16:creationId xmlns:a16="http://schemas.microsoft.com/office/drawing/2014/main" id="{3B05BD01-83BE-410A-9F6A-4B783390F8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28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8" name="body-4-1">
            <a:extLst xmlns:a="http://schemas.openxmlformats.org/drawingml/2006/main">
              <a:ext uri="{FF2B5EF4-FFF2-40B4-BE49-F238E27FC236}">
                <a16:creationId xmlns:a16="http://schemas.microsoft.com/office/drawing/2014/main" id="{A59E0FB0-68D5-4251-885B-452A85F41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sp>
        <p:nvSpPr>
          <p:cNvPr id="9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B8D8C910-2E95-4640-AF34-11341C411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5C524EB-833A-44A6-BCA6-C8E4EF9B3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82</a:t>
            </a:r>
          </a:p>
        </p:txBody>
      </p:sp>
    </p:spTree>
    <p:extLst>
      <p:ext uri="{BB962C8B-B14F-4D97-AF65-F5344CB8AC3E}">
        <p14:creationId xmlns:p14="http://schemas.microsoft.com/office/powerpoint/2010/main" val="311669664"/>
      </p:ext>
    </p:extLst>
  </p:cSld>
</p:sld>
</file>

<file path=ppt/slides/slide8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F97061BC-ADE0-4B4A-90A3-B84709A726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12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363AFE42-F5BB-497A-9FD0-1CDC4379E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arbetslampa lyser men sladdens ytterhölje är sprucket i en fuktig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CAD609A7-44CB-4EC1-8ABE-90F16DD2B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gångväg. Vilken slutsats stöds av fallet?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B35E3597-6E2C-4BAD-81F9-C51A50150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A. Lampan är säker eftersom den lyser.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6F85BBA6-FE75-459D-B2C3-79402CC66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B. Det saknas underlag för fortsatt användning; användningen ska</a:t>
            </a:r>
          </a:p>
        </p:txBody>
      </p:sp>
      <p:sp>
        <p:nvSpPr>
          <p:cNvPr id="6" name="body-2-1">
            <a:extLst xmlns:a="http://schemas.openxmlformats.org/drawingml/2006/main">
              <a:ext uri="{FF2B5EF4-FFF2-40B4-BE49-F238E27FC236}">
                <a16:creationId xmlns:a16="http://schemas.microsoft.com/office/drawing/2014/main" id="{523E6F51-FF61-4943-92AE-697BDB3E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upphöra och riskerna hanteras.</a:t>
            </a:r>
          </a:p>
        </p:txBody>
      </p:sp>
      <p:sp>
        <p:nvSpPr>
          <p:cNvPr id="7" name="body-3-0">
            <a:extLst xmlns:a="http://schemas.openxmlformats.org/drawingml/2006/main">
              <a:ext uri="{FF2B5EF4-FFF2-40B4-BE49-F238E27FC236}">
                <a16:creationId xmlns:a16="http://schemas.microsoft.com/office/drawing/2014/main" id="{6A4A462C-6C60-4241-BACD-2B50151D7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C. Säkringen har säkert provats.</a:t>
            </a:r>
          </a:p>
        </p:txBody>
      </p:sp>
      <p:sp>
        <p:nvSpPr>
          <p:cNvPr id="8" name="body-4-0">
            <a:extLst xmlns:a="http://schemas.openxmlformats.org/drawingml/2006/main">
              <a:ext uri="{FF2B5EF4-FFF2-40B4-BE49-F238E27FC236}">
                <a16:creationId xmlns:a16="http://schemas.microsoft.com/office/drawing/2014/main" id="{F4048AC7-574C-4955-82A1-9FC91242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9" name="body-4-1">
            <a:extLst xmlns:a="http://schemas.openxmlformats.org/drawingml/2006/main">
              <a:ext uri="{FF2B5EF4-FFF2-40B4-BE49-F238E27FC236}">
                <a16:creationId xmlns:a16="http://schemas.microsoft.com/office/drawing/2014/main" id="{1C3031A1-C682-49B6-8263-4B650F6E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sp>
        <p:nvSpPr>
          <p:cNvPr id="10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4A3BA8EE-C000-485B-9FBF-E3D4456E8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19763A6-02CB-4DC1-965F-28FD93A49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83</a:t>
            </a:r>
          </a:p>
        </p:txBody>
      </p:sp>
    </p:spTree>
    <p:extLst>
      <p:ext uri="{BB962C8B-B14F-4D97-AF65-F5344CB8AC3E}">
        <p14:creationId xmlns:p14="http://schemas.microsoft.com/office/powerpoint/2010/main" val="1008498814"/>
      </p:ext>
    </p:extLst>
  </p:cSld>
</p:sld>
</file>

<file path=ppt/slides/slide8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11409FBF-98A3-4823-B5D6-620B083AC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13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33CEA610-E19E-439D-9D69-12A0C1366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Vilken mening är en observation i lampfallet?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FC401DD2-645B-494A-9098-5F048C555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A. Sladdens ytterhölje är sprucket.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DA759DB6-E827-49C6-B6F2-CEBA74978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B. Sladden måste ha klämts.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6F256706-069B-49C4-9EF6-66175C89A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C. Alla skydd fungerar.</a:t>
            </a:r>
          </a:p>
        </p:txBody>
      </p:sp>
      <p:sp>
        <p:nvSpPr>
          <p:cNvPr id="6" name="body-4-0">
            <a:extLst xmlns:a="http://schemas.openxmlformats.org/drawingml/2006/main">
              <a:ext uri="{FF2B5EF4-FFF2-40B4-BE49-F238E27FC236}">
                <a16:creationId xmlns:a16="http://schemas.microsoft.com/office/drawing/2014/main" id="{4E525D77-0AD7-480E-925D-CB3BE6CD4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9051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7" name="body-4-1">
            <a:extLst xmlns:a="http://schemas.openxmlformats.org/drawingml/2006/main">
              <a:ext uri="{FF2B5EF4-FFF2-40B4-BE49-F238E27FC236}">
                <a16:creationId xmlns:a16="http://schemas.microsoft.com/office/drawing/2014/main" id="{950EC16E-B9A9-4F94-93FD-7187C6F2D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28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sp>
        <p:nvSpPr>
          <p:cNvPr id="8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461F51C8-4BB7-4973-82C1-606EEB1A2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65B37DA8-6596-4FA0-AD6D-4F12D805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84</a:t>
            </a:r>
          </a:p>
        </p:txBody>
      </p:sp>
    </p:spTree>
    <p:extLst>
      <p:ext uri="{BB962C8B-B14F-4D97-AF65-F5344CB8AC3E}">
        <p14:creationId xmlns:p14="http://schemas.microsoft.com/office/powerpoint/2010/main" val="152450127"/>
      </p:ext>
    </p:extLst>
  </p:cSld>
</p:sld>
</file>

<file path=ppt/slides/slide8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ED9FEABD-3630-44DB-9E3E-3382CFA7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14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C994AEF9-46A3-4478-B1D5-D22748D17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Reservlampa B har angiven miljölämplighet och minst två timmars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26BC8896-FAFF-4666-AA44-230701797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drifttid. Gångvägen behövs i 90 minuter. Vilket nästa steg är rimligt?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8871FF65-25CE-4512-90F9-ECA0D184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A. Använd B utan fler kontroller.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A096EFF5-71C3-498F-8D28-093365A83A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B. Kontrollera även skick, laddning, placering och faktisk belysning före</a:t>
            </a:r>
          </a:p>
        </p:txBody>
      </p:sp>
      <p:sp>
        <p:nvSpPr>
          <p:cNvPr id="6" name="body-2-1">
            <a:extLst xmlns:a="http://schemas.openxmlformats.org/drawingml/2006/main">
              <a:ext uri="{FF2B5EF4-FFF2-40B4-BE49-F238E27FC236}">
                <a16:creationId xmlns:a16="http://schemas.microsoft.com/office/drawing/2014/main" id="{D6501C08-4CAF-4676-8830-D03BA5E9E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beslut.</a:t>
            </a:r>
          </a:p>
        </p:txBody>
      </p:sp>
      <p:sp>
        <p:nvSpPr>
          <p:cNvPr id="7" name="body-3-0">
            <a:extLst xmlns:a="http://schemas.openxmlformats.org/drawingml/2006/main">
              <a:ext uri="{FF2B5EF4-FFF2-40B4-BE49-F238E27FC236}">
                <a16:creationId xmlns:a16="http://schemas.microsoft.com/office/drawing/2014/main" id="{203D5006-94A6-44C5-A69A-FF5C619D7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C. Välj alltid A eftersom den kan tändas.</a:t>
            </a:r>
          </a:p>
        </p:txBody>
      </p:sp>
      <p:sp>
        <p:nvSpPr>
          <p:cNvPr id="8" name="body-4-0">
            <a:extLst xmlns:a="http://schemas.openxmlformats.org/drawingml/2006/main">
              <a:ext uri="{FF2B5EF4-FFF2-40B4-BE49-F238E27FC236}">
                <a16:creationId xmlns:a16="http://schemas.microsoft.com/office/drawing/2014/main" id="{2794AA56-A315-4C50-B64B-C08D842F3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52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9" name="body-4-1">
            <a:extLst xmlns:a="http://schemas.openxmlformats.org/drawingml/2006/main">
              <a:ext uri="{FF2B5EF4-FFF2-40B4-BE49-F238E27FC236}">
                <a16:creationId xmlns:a16="http://schemas.microsoft.com/office/drawing/2014/main" id="{F3DA51FE-ABE2-4E91-9FDC-080573567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76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sp>
        <p:nvSpPr>
          <p:cNvPr id="10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57B1230F-1F2F-4F08-A29D-6E046137E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1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5AEC8CA-E7CF-4F30-9BC9-2C3BCE483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85</a:t>
            </a:r>
          </a:p>
        </p:txBody>
      </p:sp>
    </p:spTree>
    <p:extLst>
      <p:ext uri="{BB962C8B-B14F-4D97-AF65-F5344CB8AC3E}">
        <p14:creationId xmlns:p14="http://schemas.microsoft.com/office/powerpoint/2010/main" val="2070716315"/>
      </p:ext>
    </p:extLst>
  </p:cSld>
</p:sld>
</file>

<file path=ppt/slides/slide8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892CD862-E8C9-43E6-8814-0E1A38760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Övning 15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9440FEB9-8BF8-4DDE-817D-D4864475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Eget försök: en ohmsk resistor på 3 kΩ matas med 12 V. Ange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49067CCD-DBB8-430C-8ECA-61BB5B969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strömmen i mA.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D69B4EC5-8FD2-4390-B2A1-1D5D37AFC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Svara med värde och enhet (mA). Redovisa metod och</a:t>
            </a:r>
          </a:p>
        </p:txBody>
      </p:sp>
      <p:sp>
        <p:nvSpPr>
          <p:cNvPr id="5" name="body-1-1">
            <a:extLst xmlns:a="http://schemas.openxmlformats.org/drawingml/2006/main">
              <a:ext uri="{FF2B5EF4-FFF2-40B4-BE49-F238E27FC236}">
                <a16:creationId xmlns:a16="http://schemas.microsoft.com/office/drawing/2014/main" id="{20CF2D67-4BB5-48E2-B30E-26D7FB011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rimlighetskontroll.</a:t>
            </a:r>
          </a:p>
        </p:txBody>
      </p:sp>
      <p:sp>
        <p:nvSpPr>
          <p:cNvPr id="6" name="body-2-0">
            <a:extLst xmlns:a="http://schemas.openxmlformats.org/drawingml/2006/main">
              <a:ext uri="{FF2B5EF4-FFF2-40B4-BE49-F238E27FC236}">
                <a16:creationId xmlns:a16="http://schemas.microsoft.com/office/drawing/2014/main" id="{76831C12-EFC5-4053-9BF9-8532AA237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Gör först ett eget försök. Facit och hänvisning för repetition finns sist i</a:t>
            </a:r>
          </a:p>
        </p:txBody>
      </p:sp>
      <p:sp>
        <p:nvSpPr>
          <p:cNvPr id="7" name="body-2-1">
            <a:extLst xmlns:a="http://schemas.openxmlformats.org/drawingml/2006/main">
              <a:ext uri="{FF2B5EF4-FFF2-40B4-BE49-F238E27FC236}">
                <a16:creationId xmlns:a16="http://schemas.microsoft.com/office/drawing/2014/main" id="{E413D35B-1356-4F19-932A-356BA2699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modulen.</a:t>
            </a:r>
          </a:p>
        </p:txBody>
      </p:sp>
      <p:sp>
        <p:nvSpPr>
          <p:cNvPr id="8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A9D0FCE0-E0A2-48C7-AA53-D5FE1EE37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3EBB9097-416E-44D4-BDED-1353974DC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86</a:t>
            </a:r>
          </a:p>
        </p:txBody>
      </p:sp>
    </p:spTree>
    <p:extLst>
      <p:ext uri="{BB962C8B-B14F-4D97-AF65-F5344CB8AC3E}">
        <p14:creationId xmlns:p14="http://schemas.microsoft.com/office/powerpoint/2010/main" val="131652843"/>
      </p:ext>
    </p:extLst>
  </p:cSld>
</p:sld>
</file>

<file path=ppt/slides/slide8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C536D21-CC02-4083-A085-21D48939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Laborationsprotokoll: Belysningen i förrådet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70A7836A-E7B0-459B-8A28-A5C02A29E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All laborationsundervisning genomförs med simuleringar enligt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0E0A3CEB-5740-4AED-93F0-7E5B1E047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kurslärarens beslut. 3D-simuleringen är interaktiv i webbappen. Här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BE9763DD-A60C-491E-B012-D3918204D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följer hela arbetsinstruktionen.</a:t>
            </a:r>
          </a:p>
        </p:txBody>
      </p:sp>
      <p:sp>
        <p:nvSpPr>
          <p:cNvPr id="5" name="body-1-0">
            <a:extLst xmlns:a="http://schemas.openxmlformats.org/drawingml/2006/main">
              <a:ext uri="{FF2B5EF4-FFF2-40B4-BE49-F238E27FC236}">
                <a16:creationId xmlns:a16="http://schemas.microsoft.com/office/drawing/2014/main" id="{B97A4C2E-C5AE-4694-AEF9-374C4B4B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1. Ställ in 24 V och 12 Ω. Rita hela returvägen och skriv din</a:t>
            </a:r>
          </a:p>
        </p:txBody>
      </p:sp>
      <p:sp>
        <p:nvSpPr>
          <p:cNvPr id="6" name="body-1-1">
            <a:extLst xmlns:a="http://schemas.openxmlformats.org/drawingml/2006/main">
              <a:ext uri="{FF2B5EF4-FFF2-40B4-BE49-F238E27FC236}">
                <a16:creationId xmlns:a16="http://schemas.microsoft.com/office/drawing/2014/main" id="{D30E08CA-5A63-491A-916A-B1EB0593F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strömprognos.</a:t>
            </a:r>
          </a:p>
        </p:txBody>
      </p:sp>
      <p:sp>
        <p:nvSpPr>
          <p:cNvPr id="7" name="body-2-0">
            <a:extLst xmlns:a="http://schemas.openxmlformats.org/drawingml/2006/main">
              <a:ext uri="{FF2B5EF4-FFF2-40B4-BE49-F238E27FC236}">
                <a16:creationId xmlns:a16="http://schemas.microsoft.com/office/drawing/2014/main" id="{575B38A6-22BA-420E-B455-DC8519C70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2. Mät matning, lastspänning och ström med sluten krets. Spara värde</a:t>
            </a:r>
          </a:p>
        </p:txBody>
      </p:sp>
      <p:sp>
        <p:nvSpPr>
          <p:cNvPr id="8" name="body-2-1">
            <a:extLst xmlns:a="http://schemas.openxmlformats.org/drawingml/2006/main">
              <a:ext uri="{FF2B5EF4-FFF2-40B4-BE49-F238E27FC236}">
                <a16:creationId xmlns:a16="http://schemas.microsoft.com/office/drawing/2014/main" id="{A9E4948B-205C-45A8-B12D-6B75F0A8A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324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enhet.</a:t>
            </a:r>
          </a:p>
        </p:txBody>
      </p:sp>
      <p:sp>
        <p:nvSpPr>
          <p:cNvPr id="9" name="body-3-0">
            <a:extLst xmlns:a="http://schemas.openxmlformats.org/drawingml/2006/main">
              <a:ext uri="{FF2B5EF4-FFF2-40B4-BE49-F238E27FC236}">
                <a16:creationId xmlns:a16="http://schemas.microsoft.com/office/drawing/2014/main" id="{AAB3C59E-5FEB-4119-9022-FB3AE9EA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3. Öppna returen i simulatorn. Jämför strömmen med normalfallet.</a:t>
            </a:r>
          </a:p>
        </p:txBody>
      </p:sp>
      <p:sp>
        <p:nvSpPr>
          <p:cNvPr id="10" name="body-4-0">
            <a:extLst xmlns:a="http://schemas.openxmlformats.org/drawingml/2006/main">
              <a:ext uri="{FF2B5EF4-FFF2-40B4-BE49-F238E27FC236}">
                <a16:creationId xmlns:a16="http://schemas.microsoft.com/office/drawing/2014/main" id="{1B79B566-98EF-4E10-A12C-0C2FA54D7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4. Ändra resistansen till 24 Ω och jämför prognos och mätning. Återställ</a:t>
            </a:r>
          </a:p>
        </p:txBody>
      </p:sp>
      <p:sp>
        <p:nvSpPr>
          <p:cNvPr id="11" name="body-4-1">
            <a:extLst xmlns:a="http://schemas.openxmlformats.org/drawingml/2006/main">
              <a:ext uri="{FF2B5EF4-FFF2-40B4-BE49-F238E27FC236}">
                <a16:creationId xmlns:a16="http://schemas.microsoft.com/office/drawing/2014/main" id="{CD2FDBB5-C7C2-421F-B6CC-8A5A19777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upprepa.</a:t>
            </a:r>
          </a:p>
        </p:txBody>
      </p:sp>
      <p:sp>
        <p:nvSpPr>
          <p:cNvPr id="12" name="body-5-0">
            <a:extLst xmlns:a="http://schemas.openxmlformats.org/drawingml/2006/main">
              <a:ext uri="{FF2B5EF4-FFF2-40B4-BE49-F238E27FC236}">
                <a16:creationId xmlns:a16="http://schemas.microsoft.com/office/drawing/2014/main" id="{D941F4F7-10B0-462E-980A-9AA91E9B7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6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Protokollkolumner: tillstånd, förutsägelse, inställning, mätpunkter,</a:t>
            </a:r>
          </a:p>
        </p:txBody>
      </p:sp>
      <p:sp>
        <p:nvSpPr>
          <p:cNvPr id="13" name="body-5-1">
            <a:extLst xmlns:a="http://schemas.openxmlformats.org/drawingml/2006/main">
              <a:ext uri="{FF2B5EF4-FFF2-40B4-BE49-F238E27FC236}">
                <a16:creationId xmlns:a16="http://schemas.microsoft.com/office/drawing/2014/main" id="{7946B1D0-CEE0-4571-AD67-CE2BEADF8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värde och enhet, förklaring, begränsning.</a:t>
            </a:r>
          </a:p>
        </p:txBody>
      </p:sp>
      <p:sp>
        <p:nvSpPr>
          <p:cNvPr id="1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9F61C6FE-821A-4E37-8B6D-D0552AC1E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F816686-86A0-491D-B955-899964BC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87</a:t>
            </a:r>
          </a:p>
        </p:txBody>
      </p:sp>
    </p:spTree>
    <p:extLst>
      <p:ext uri="{BB962C8B-B14F-4D97-AF65-F5344CB8AC3E}">
        <p14:creationId xmlns:p14="http://schemas.microsoft.com/office/powerpoint/2010/main" val="888523408"/>
      </p:ext>
    </p:extLst>
  </p:cSld>
</p:sld>
</file>

<file path=ppt/slides/slide8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F333AC57-61E8-445B-AF02-B58367BF4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Laborationsprotokoll: Belysningen i förrådet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84300958-8504-438C-BDAF-14B2F55DE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Webbsimulator: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AF3F2A94-8E23-478B-A036-201F60F4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D7DF93AA-4118-43F0-9621-2126C0610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Ingen verklig nätspänning eller högspänning krävs i detta</a:t>
            </a:r>
          </a:p>
        </p:txBody>
      </p:sp>
      <p:sp>
        <p:nvSpPr>
          <p:cNvPr id="5" name="body-1-1">
            <a:extLst xmlns:a="http://schemas.openxmlformats.org/drawingml/2006/main">
              <a:ext uri="{FF2B5EF4-FFF2-40B4-BE49-F238E27FC236}">
                <a16:creationId xmlns:a16="http://schemas.microsoft.com/office/drawing/2014/main" id="{14E63DE5-6E0D-44D0-8CFE-6BF04848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distansupplägg.</a:t>
            </a:r>
          </a:p>
        </p:txBody>
      </p:sp>
      <p:sp>
        <p:nvSpPr>
          <p:cNvPr id="6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C9488362-BF65-49CD-BCC5-460E9A58A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7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1689316-BFD4-4C08-85DC-85223E27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88</a:t>
            </a:r>
          </a:p>
        </p:txBody>
      </p:sp>
    </p:spTree>
    <p:extLst>
      <p:ext uri="{BB962C8B-B14F-4D97-AF65-F5344CB8AC3E}">
        <p14:creationId xmlns:p14="http://schemas.microsoft.com/office/powerpoint/2010/main" val="910202634"/>
      </p:ext>
    </p:extLst>
  </p:cSld>
</p:sld>
</file>

<file path=ppt/slides/slide8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3502ADC0-0573-48DC-BD81-59541169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Redovisning och slutkontroll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AB04A109-80C5-47FC-BCB8-AE2498C14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Skriv metod, antaganden, resultat och slutsats. Jämför ditt första och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D949AA7D-2EBA-47FC-AF61-ACF6413D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andra försök.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7D728A6F-832C-42AA-A896-6FA98DBF0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Alla objektiva frågor har ett eget försök; kvarstående fel har en</a:t>
            </a:r>
          </a:p>
        </p:txBody>
      </p:sp>
      <p:sp>
        <p:nvSpPr>
          <p:cNvPr id="5" name="body-1-1">
            <a:extLst xmlns:a="http://schemas.openxmlformats.org/drawingml/2006/main">
              <a:ext uri="{FF2B5EF4-FFF2-40B4-BE49-F238E27FC236}">
                <a16:creationId xmlns:a16="http://schemas.microsoft.com/office/drawing/2014/main" id="{8C15F4AE-CE7B-4403-9CCD-ACF969C46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angiven repetitionsåtgärd.</a:t>
            </a:r>
          </a:p>
        </p:txBody>
      </p:sp>
      <p:sp>
        <p:nvSpPr>
          <p:cNvPr id="6" name="body-2-0">
            <a:extLst xmlns:a="http://schemas.openxmlformats.org/drawingml/2006/main">
              <a:ext uri="{FF2B5EF4-FFF2-40B4-BE49-F238E27FC236}">
                <a16:creationId xmlns:a16="http://schemas.microsoft.com/office/drawing/2014/main" id="{5436F463-2AE9-467D-B749-BAA1A8A7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Protokollet visar prognos, inställning, observation, enhet och</a:t>
            </a:r>
          </a:p>
        </p:txBody>
      </p:sp>
      <p:sp>
        <p:nvSpPr>
          <p:cNvPr id="7" name="body-2-1">
            <a:extLst xmlns:a="http://schemas.openxmlformats.org/drawingml/2006/main">
              <a:ext uri="{FF2B5EF4-FFF2-40B4-BE49-F238E27FC236}">
                <a16:creationId xmlns:a16="http://schemas.microsoft.com/office/drawing/2014/main" id="{4B302EB8-3EFC-4653-AA13-01F048F1E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00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förklaring för minst tre tillstånd.</a:t>
            </a:r>
          </a:p>
        </p:txBody>
      </p:sp>
      <p:sp>
        <p:nvSpPr>
          <p:cNvPr id="8" name="body-3-0">
            <a:extLst xmlns:a="http://schemas.openxmlformats.org/drawingml/2006/main">
              <a:ext uri="{FF2B5EF4-FFF2-40B4-BE49-F238E27FC236}">
                <a16:creationId xmlns:a16="http://schemas.microsoft.com/office/drawing/2014/main" id="{ECCD6199-FE77-4B77-A74C-9652178AA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Veckofallet är redovisat med metod, antaganden, jämförelse och</a:t>
            </a:r>
          </a:p>
        </p:txBody>
      </p:sp>
      <p:sp>
        <p:nvSpPr>
          <p:cNvPr id="9" name="body-3-1">
            <a:extLst xmlns:a="http://schemas.openxmlformats.org/drawingml/2006/main">
              <a:ext uri="{FF2B5EF4-FFF2-40B4-BE49-F238E27FC236}">
                <a16:creationId xmlns:a16="http://schemas.microsoft.com/office/drawing/2014/main" id="{BA5B9D38-489E-4C1D-B4E9-B54D8DB42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762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slutsats.</a:t>
            </a:r>
          </a:p>
        </p:txBody>
      </p:sp>
      <p:sp>
        <p:nvSpPr>
          <p:cNvPr id="10" name="body-4-0">
            <a:extLst xmlns:a="http://schemas.openxmlformats.org/drawingml/2006/main">
              <a:ext uri="{FF2B5EF4-FFF2-40B4-BE49-F238E27FC236}">
                <a16:creationId xmlns:a16="http://schemas.microsoft.com/office/drawing/2014/main" id="{A2B926A7-FF9E-40F0-95CB-703E69352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200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• Resonemang och laborationsunderlag är klara för lärargranskning;</a:t>
            </a:r>
          </a:p>
        </p:txBody>
      </p:sp>
      <p:sp>
        <p:nvSpPr>
          <p:cNvPr id="11" name="body-4-1">
            <a:extLst xmlns:a="http://schemas.openxmlformats.org/drawingml/2006/main">
              <a:ext uri="{FF2B5EF4-FFF2-40B4-BE49-F238E27FC236}">
                <a16:creationId xmlns:a16="http://schemas.microsoft.com/office/drawing/2014/main" id="{498429B1-CAB0-4AC2-A06A-797DB4B5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24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automatisk rättning är inte ett betyg.</a:t>
            </a:r>
          </a:p>
        </p:txBody>
      </p:sp>
      <p:sp>
        <p:nvSpPr>
          <p:cNvPr id="12" name="body-5-0">
            <a:extLst xmlns:a="http://schemas.openxmlformats.org/drawingml/2006/main">
              <a:ext uri="{FF2B5EF4-FFF2-40B4-BE49-F238E27FC236}">
                <a16:creationId xmlns:a16="http://schemas.microsoft.com/office/drawing/2014/main" id="{7E08A015-BECC-4F24-BFD5-717023365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6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Skriftligt resonemang och laborationsunderlag kräver lärargranskning.</a:t>
            </a:r>
          </a:p>
        </p:txBody>
      </p:sp>
      <p:sp>
        <p:nvSpPr>
          <p:cNvPr id="13" name="body-5-1">
            <a:extLst xmlns:a="http://schemas.openxmlformats.org/drawingml/2006/main">
              <a:ext uri="{FF2B5EF4-FFF2-40B4-BE49-F238E27FC236}">
                <a16:creationId xmlns:a16="http://schemas.microsoft.com/office/drawing/2014/main" id="{BF56FEED-FE3B-48BD-B92D-DCC41409D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28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Automatisk rättning och läsprogress ger inte ett formellt betyg.</a:t>
            </a:r>
          </a:p>
        </p:txBody>
      </p:sp>
      <p:sp>
        <p:nvSpPr>
          <p:cNvPr id="14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08A303E8-DC5C-4C2A-A7F7-E5A80FBC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5" name="page-number">
            <a:extLst xmlns:a="http://schemas.openxmlformats.org/drawingml/2006/main">
              <a:ext uri="{FF2B5EF4-FFF2-40B4-BE49-F238E27FC236}">
                <a16:creationId xmlns:a16="http://schemas.microsoft.com/office/drawing/2014/main" id="{76242C6B-7689-4F7C-AFE8-DAC338689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89</a:t>
            </a:r>
          </a:p>
        </p:txBody>
      </p:sp>
    </p:spTree>
    <p:extLst>
      <p:ext uri="{BB962C8B-B14F-4D97-AF65-F5344CB8AC3E}">
        <p14:creationId xmlns:p14="http://schemas.microsoft.com/office/powerpoint/2010/main" val="324669987"/>
      </p:ext>
    </p:extLst>
  </p:cSld>
</p:sld>
</file>

<file path=ppt/slides/slide9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82D14633-0CB7-4F91-ACB2-A757614BB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1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CDA1901B-AF42-4E8B-A38F-E894A484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A. En fullständig väg för stationär ström saknas.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BD908FBA-B506-468E-ABB6-72E83F39A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Ström behöver en sluten väg genom lasten tillbaka till källan.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1B243694-0B2D-4F08-B946-532E470D9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1. Följ hela strömvägen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6647C512-A408-4B33-82B0-6D0E02024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B707DB85-3102-4EF3-8636-9AC289EF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odule-1-v2-circuit</a:t>
            </a:r>
          </a:p>
        </p:txBody>
      </p:sp>
      <p:sp>
        <p:nvSpPr>
          <p:cNvPr id="7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83079C5C-AE8C-4739-9185-9F134796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4911C0E-CD2A-45FD-83D1-5F1953FFD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90</a:t>
            </a:r>
          </a:p>
        </p:txBody>
      </p:sp>
    </p:spTree>
    <p:extLst>
      <p:ext uri="{BB962C8B-B14F-4D97-AF65-F5344CB8AC3E}">
        <p14:creationId xmlns:p14="http://schemas.microsoft.com/office/powerpoint/2010/main" val="1182493638"/>
      </p:ext>
    </p:extLst>
  </p:cSld>
</p:sld>
</file>

<file path=ppt/slides/slide9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F8E8120A-0B79-4FE6-A1C2-1150D2E61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2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17CDF4A9-D156-4AA2-9022-4733E3458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C. Spänning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D4D98299-EC54-4636-B9CA-CC7171396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Parallella grenar är anslutna mellan samma två noder och har därför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7FD22692-48B4-40A1-8B39-5A37B016D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samma spänning.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A53A3CA4-C334-4BA3-8E51-7785D18B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4. Serie och parallell</a:t>
            </a:r>
          </a:p>
        </p:txBody>
      </p:sp>
      <p:sp>
        <p:nvSpPr>
          <p:cNvPr id="6" name="body-3-0">
            <a:extLst xmlns:a="http://schemas.openxmlformats.org/drawingml/2006/main">
              <a:ext uri="{FF2B5EF4-FFF2-40B4-BE49-F238E27FC236}">
                <a16:creationId xmlns:a16="http://schemas.microsoft.com/office/drawing/2014/main" id="{B9E1C2B7-6474-4190-966C-188F5D827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7" name="body-3-1">
            <a:extLst xmlns:a="http://schemas.openxmlformats.org/drawingml/2006/main">
              <a:ext uri="{FF2B5EF4-FFF2-40B4-BE49-F238E27FC236}">
                <a16:creationId xmlns:a16="http://schemas.microsoft.com/office/drawing/2014/main" id="{03E6567E-A17E-496A-9C49-8D54E30E0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odule-1-v2-connections</a:t>
            </a:r>
          </a:p>
        </p:txBody>
      </p:sp>
      <p:sp>
        <p:nvSpPr>
          <p:cNvPr id="8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7DC0D2B4-8125-4574-9303-2BB9E98D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659CD6D-A9B1-4D84-BBFB-B597E711D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91</a:t>
            </a:r>
          </a:p>
        </p:txBody>
      </p:sp>
    </p:spTree>
    <p:extLst>
      <p:ext uri="{BB962C8B-B14F-4D97-AF65-F5344CB8AC3E}">
        <p14:creationId xmlns:p14="http://schemas.microsoft.com/office/powerpoint/2010/main" val="443028894"/>
      </p:ext>
    </p:extLst>
  </p:cSld>
</p:sld>
</file>

<file path=ppt/slides/slide9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40D30473-546D-42EE-BCFB-D95548E44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3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4E10DE1E-45B1-493C-8757-A3F18B96C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2 A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E9F0ECFB-0943-4386-8793-2B2F88294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 = U/R = 24/12 = 2 A.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0E0A0DAB-4983-4721-B2CB-87CB3F05C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9. Räkneexempel: från kiloohm till milliampere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4B2FC8E7-F536-49F6-A685-0954EC852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AFB49017-2EAA-4290-B1B0-BB5E662E5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odule-1-v2-ohm-example</a:t>
            </a:r>
          </a:p>
        </p:txBody>
      </p:sp>
      <p:sp>
        <p:nvSpPr>
          <p:cNvPr id="7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46B78EA0-71E8-41BE-BC75-76CB4702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3045371-1AA7-4CF7-B54E-5CA3F9463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92</a:t>
            </a:r>
          </a:p>
        </p:txBody>
      </p:sp>
    </p:spTree>
    <p:extLst>
      <p:ext uri="{BB962C8B-B14F-4D97-AF65-F5344CB8AC3E}">
        <p14:creationId xmlns:p14="http://schemas.microsoft.com/office/powerpoint/2010/main" val="206667168"/>
      </p:ext>
    </p:extLst>
  </p:cSld>
</p:sld>
</file>

<file path=ppt/slides/slide9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28E37A09-0040-44C4-AC7D-EDDEAF84E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4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5C81ED96-283B-430A-87BC-BD6E1AA4A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24 Ω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63562F66-F8CE-4C52-BB09-C6B32019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Serieresistanser adderas: 8 + 16 = 24 Ω.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479E37FD-CA07-4E17-9B19-21D9FFC7B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4. Serie och parallell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CF7BC10D-EAED-4B43-867B-413BB5B76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F31133EC-BE0E-4F3F-958D-88C7B5CC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odule-1-v2-connections</a:t>
            </a:r>
          </a:p>
        </p:txBody>
      </p:sp>
      <p:sp>
        <p:nvSpPr>
          <p:cNvPr id="7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A9C75D4A-B4DB-4786-8B33-C515A78D1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AECCB84-E4F5-4315-AFAE-469AE74E7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93</a:t>
            </a:r>
          </a:p>
        </p:txBody>
      </p:sp>
    </p:spTree>
    <p:extLst>
      <p:ext uri="{BB962C8B-B14F-4D97-AF65-F5344CB8AC3E}">
        <p14:creationId xmlns:p14="http://schemas.microsoft.com/office/powerpoint/2010/main" val="1814319091"/>
      </p:ext>
    </p:extLst>
  </p:cSld>
</p:sld>
</file>

<file path=ppt/slides/slide9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9D86C7C3-0B54-45FB-A740-9D307A820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5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3DBC60EA-D436-45B7-8E54-03948F87B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60 Ω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AEDF6DED-365E-4B5D-AADF-05CE51747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 = U/I = 24/0,4 = 60 Ω.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A361D634-5B46-475E-B047-F61D3708E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Ohms lag: bestäm resistansen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EC8CAF7A-1605-463C-B892-7ED0D081F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https://nj22az.github.io/sjoskolan/vecka-37/revision/#module/1/learn/fo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D1998DF2-04C5-4807-B013-79B8FC1D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rmula-1-0</a:t>
            </a:r>
          </a:p>
        </p:txBody>
      </p:sp>
      <p:sp>
        <p:nvSpPr>
          <p:cNvPr id="7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303C8FB4-2247-40BB-BF2A-E9190A790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88D93233-7908-422B-BB33-733F5A073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94</a:t>
            </a:r>
          </a:p>
        </p:txBody>
      </p:sp>
    </p:spTree>
    <p:extLst>
      <p:ext uri="{BB962C8B-B14F-4D97-AF65-F5344CB8AC3E}">
        <p14:creationId xmlns:p14="http://schemas.microsoft.com/office/powerpoint/2010/main" val="308279268"/>
      </p:ext>
    </p:extLst>
  </p:cSld>
</p:sld>
</file>

<file path=ppt/slides/slide9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D8E84B3B-AFCC-4E86-BA95-4499F8333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6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20818869-309E-4070-98D1-5DD93528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2 A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0B2BC517-DAF8-4C34-9BF8-80F221268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Välj Ohms lag. Dividera 24 V med 12 Ω. Strömmen blir 2 A.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1A691769-22A6-4DA2-BA35-A01F9257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9. Räkneexempel: från kiloohm till milliampere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7E2E75D5-185B-4261-96ED-65A5495BD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B3D62E2E-3221-4996-9442-0F8BF890B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odule-1-v2-ohm-example</a:t>
            </a:r>
          </a:p>
        </p:txBody>
      </p:sp>
      <p:sp>
        <p:nvSpPr>
          <p:cNvPr id="7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49004A27-4EC6-488F-81C5-B00F8151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E6BC649-3FDE-4257-8F8E-E7390C92A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95</a:t>
            </a:r>
          </a:p>
        </p:txBody>
      </p:sp>
    </p:spTree>
    <p:extLst>
      <p:ext uri="{BB962C8B-B14F-4D97-AF65-F5344CB8AC3E}">
        <p14:creationId xmlns:p14="http://schemas.microsoft.com/office/powerpoint/2010/main" val="296553183"/>
      </p:ext>
    </p:extLst>
  </p:cSld>
</p:sld>
</file>

<file path=ppt/slides/slide9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CE66296-71D5-4374-99F3-D996A274C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7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6EF60719-FE48-4D3A-8F5D-0099F948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48 W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694A3E94-57A8-4CB0-8CCF-6314B7333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Multiplicera spänningen 24 V med strömmen 2 A. Effekten blir 48 W.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A4D938CF-86F5-4554-BF52-C5AF4AC13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Effekt i en resistiv likströmslast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8B09E888-DB33-4A09-8559-ED4ED7E4A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https://nj22az.github.io/sjoskolan/vecka-37/revision/#module/1/learn/fo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B96FF21C-D7A0-4A7C-AAAD-EC74F82FB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rmula-1-2</a:t>
            </a:r>
          </a:p>
        </p:txBody>
      </p:sp>
      <p:sp>
        <p:nvSpPr>
          <p:cNvPr id="7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81B0120-8167-44F6-A7E9-22F37D8E0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3D9E8A6-CA10-4407-97B5-3532A381F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96</a:t>
            </a:r>
          </a:p>
        </p:txBody>
      </p:sp>
    </p:spTree>
    <p:extLst>
      <p:ext uri="{BB962C8B-B14F-4D97-AF65-F5344CB8AC3E}">
        <p14:creationId xmlns:p14="http://schemas.microsoft.com/office/powerpoint/2010/main" val="591295553"/>
      </p:ext>
    </p:extLst>
  </p:cSld>
</p:sld>
</file>

<file path=ppt/slides/slide9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91A7864-1224-474C-8F3C-16C1B9FF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8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578E983B-2194-4D65-95C6-B9899B4F0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1 A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E5053EB1-49C7-41BE-A240-BC30B3D1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Serieresistansen är 24 Ω. Spänningen 24 V ger då 1 A.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0C10E00D-BDA4-4F28-827C-D46FC762D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4. Serie och parallell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2265DB01-0386-4F4B-8690-D4CF84CC3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9F937CFF-1B5A-4FEA-ADDD-CB43D965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odule-1-v2-connections</a:t>
            </a:r>
          </a:p>
        </p:txBody>
      </p:sp>
      <p:sp>
        <p:nvSpPr>
          <p:cNvPr id="7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171CF8C6-6DA4-417C-9569-5FC2625F6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0DEC9676-8D27-42A7-9CDE-B0D560A30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97</a:t>
            </a:r>
          </a:p>
        </p:txBody>
      </p:sp>
    </p:spTree>
    <p:extLst>
      <p:ext uri="{BB962C8B-B14F-4D97-AF65-F5344CB8AC3E}">
        <p14:creationId xmlns:p14="http://schemas.microsoft.com/office/powerpoint/2010/main" val="1221647347"/>
      </p:ext>
    </p:extLst>
  </p:cSld>
</p:sld>
</file>

<file path=ppt/slides/slide9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940F1793-90B0-4FCB-A4F6-9DC94C1D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9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75418AF8-52B4-4CD2-BE86-CE3D639C4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4 A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32D284BB-293B-432B-9C69-546DAD460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Varje gren tar 2 A. Två grenar ger tillsammans 4 A.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8107C6F3-AD48-4121-BAA1-34D2128DDC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4. Serie och parallell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F69CC6C4-4EF6-4452-8FF7-4B1A4CC02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062F8806-01CE-4B12-BD81-52A0DED4D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odule-1-v2-connections</a:t>
            </a:r>
          </a:p>
        </p:txBody>
      </p:sp>
      <p:sp>
        <p:nvSpPr>
          <p:cNvPr id="7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3C684B25-1925-4BAF-AE8F-6785F1D40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D0A5EC0-F7A6-4F97-ACE1-569D6D85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98</a:t>
            </a:r>
          </a:p>
        </p:txBody>
      </p:sp>
    </p:spTree>
    <p:extLst>
      <p:ext uri="{BB962C8B-B14F-4D97-AF65-F5344CB8AC3E}">
        <p14:creationId xmlns:p14="http://schemas.microsoft.com/office/powerpoint/2010/main" val="640041371"/>
      </p:ext>
    </p:extLst>
  </p:cSld>
</p:sld>
</file>

<file path=ppt/slides/slide9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FE8E8A9B-29CF-47DD-8EAA-F35947EAE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10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B5FED3E6-FF80-4559-A0BE-52D1992D8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A. 0 A.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58C9C39C-53F1-4065-8FB5-6ECEBA82B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öppen krets saknar sluten väg för stationär ström.</a:t>
            </a:r>
          </a:p>
        </p:txBody>
      </p:sp>
      <p:sp>
        <p:nvSpPr>
          <p:cNvPr id="4" name="body-2-0">
            <a:extLst xmlns:a="http://schemas.openxmlformats.org/drawingml/2006/main">
              <a:ext uri="{FF2B5EF4-FFF2-40B4-BE49-F238E27FC236}">
                <a16:creationId xmlns:a16="http://schemas.microsoft.com/office/drawing/2014/main" id="{3456A519-399A-4B4D-B11A-E03D3690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028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1. Följ hela strömvägen</a:t>
            </a:r>
          </a:p>
        </p:txBody>
      </p:sp>
      <p:sp>
        <p:nvSpPr>
          <p:cNvPr id="5" name="body-3-0">
            <a:extLst xmlns:a="http://schemas.openxmlformats.org/drawingml/2006/main">
              <a:ext uri="{FF2B5EF4-FFF2-40B4-BE49-F238E27FC236}">
                <a16:creationId xmlns:a16="http://schemas.microsoft.com/office/drawing/2014/main" id="{95EB4D66-E5CD-4F21-A3F6-D3350444B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669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6" name="body-3-1">
            <a:extLst xmlns:a="http://schemas.openxmlformats.org/drawingml/2006/main">
              <a:ext uri="{FF2B5EF4-FFF2-40B4-BE49-F238E27FC236}">
                <a16:creationId xmlns:a16="http://schemas.microsoft.com/office/drawing/2014/main" id="{56F25BA0-D21E-4A75-95FD-BEE136B6E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odule-1-v2-circuit</a:t>
            </a:r>
          </a:p>
        </p:txBody>
      </p:sp>
      <p:sp>
        <p:nvSpPr>
          <p:cNvPr id="7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A6F0E3A4-7F5A-4AEA-BD1B-21FEA8B00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8" name="page-number">
            <a:extLst xmlns:a="http://schemas.openxmlformats.org/drawingml/2006/main">
              <a:ext uri="{FF2B5EF4-FFF2-40B4-BE49-F238E27FC236}">
                <a16:creationId xmlns:a16="http://schemas.microsoft.com/office/drawing/2014/main" id="{41D61BD1-6743-45F8-965C-1161EEE1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99</a:t>
            </a:r>
          </a:p>
        </p:txBody>
      </p:sp>
    </p:spTree>
    <p:extLst>
      <p:ext uri="{BB962C8B-B14F-4D97-AF65-F5344CB8AC3E}">
        <p14:creationId xmlns:p14="http://schemas.microsoft.com/office/powerpoint/2010/main" val="814581180"/>
      </p:ext>
    </p:extLst>
  </p:cSld>
</p:sld>
</file>

<file path=ppt/slides/slide10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10E77F8D-03AB-4D11-BA28-447B089FB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11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FD752647-0A1A-40C6-B6C4-1DE7D30FE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B. Kontrollera att angiven källa är frånkopplad och dokumentera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5F324D80-D479-4889-8FD2-3F99A559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kontrollen.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71E6F5AF-2C1F-4A52-9326-6E5114E2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En åtgärd måste ange vad som görs och hur resultatet kontrolleras.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7BDD3594-1112-4EFE-BEA7-68F902028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5. Funktion är inte samma sak som säkerhet</a:t>
            </a:r>
          </a:p>
        </p:txBody>
      </p:sp>
      <p:sp>
        <p:nvSpPr>
          <p:cNvPr id="6" name="body-3-0">
            <a:extLst xmlns:a="http://schemas.openxmlformats.org/drawingml/2006/main">
              <a:ext uri="{FF2B5EF4-FFF2-40B4-BE49-F238E27FC236}">
                <a16:creationId xmlns:a16="http://schemas.microsoft.com/office/drawing/2014/main" id="{AD6EF8CD-2804-4A85-8BB9-706C896B0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7" name="body-3-1">
            <a:extLst xmlns:a="http://schemas.openxmlformats.org/drawingml/2006/main">
              <a:ext uri="{FF2B5EF4-FFF2-40B4-BE49-F238E27FC236}">
                <a16:creationId xmlns:a16="http://schemas.microsoft.com/office/drawing/2014/main" id="{DE0A748A-385C-4F76-9F4C-045E22796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odule-1-v2-safety</a:t>
            </a:r>
          </a:p>
        </p:txBody>
      </p:sp>
      <p:sp>
        <p:nvSpPr>
          <p:cNvPr id="8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D0AA734B-2C49-4EA8-BF10-2FC10FA9E9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994B95FA-95BE-4896-ABB2-6E893514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100</a:t>
            </a:r>
          </a:p>
        </p:txBody>
      </p:sp>
    </p:spTree>
    <p:extLst>
      <p:ext uri="{BB962C8B-B14F-4D97-AF65-F5344CB8AC3E}">
        <p14:creationId xmlns:p14="http://schemas.microsoft.com/office/powerpoint/2010/main" val="322343691"/>
      </p:ext>
    </p:extLst>
  </p:cSld>
</p:sld>
</file>

<file path=ppt/slides/slide10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578B1725-1C6E-4D2B-AC96-80FE29C54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12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58BD158D-8F4F-419C-980A-9F98DD62B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B. Det saknas underlag för fortsatt användning; användningen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0648CC1B-D90C-44A4-8927-E3CDC2165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ska upphöra och riskerna hanteras.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1A28BB29-111A-4B4A-A5E8-348551E4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Funktion bevisar inte att skydden är hela. Skadans djup och skyddens</a:t>
            </a:r>
          </a:p>
        </p:txBody>
      </p:sp>
      <p:sp>
        <p:nvSpPr>
          <p:cNvPr id="5" name="body-1-1">
            <a:extLst xmlns:a="http://schemas.openxmlformats.org/drawingml/2006/main">
              <a:ext uri="{FF2B5EF4-FFF2-40B4-BE49-F238E27FC236}">
                <a16:creationId xmlns:a16="http://schemas.microsoft.com/office/drawing/2014/main" id="{0CAEF7E4-F423-4BC4-920C-6ACE24B73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skick är inte verifierade.</a:t>
            </a:r>
          </a:p>
        </p:txBody>
      </p:sp>
      <p:sp>
        <p:nvSpPr>
          <p:cNvPr id="6" name="body-2-0">
            <a:extLst xmlns:a="http://schemas.openxmlformats.org/drawingml/2006/main">
              <a:ext uri="{FF2B5EF4-FFF2-40B4-BE49-F238E27FC236}">
                <a16:creationId xmlns:a16="http://schemas.microsoft.com/office/drawing/2014/main" id="{89D146B9-E763-4CD2-A299-CCDD37AF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6. Beslutsfall A: den skadade arbetslampan</a:t>
            </a:r>
          </a:p>
        </p:txBody>
      </p:sp>
      <p:sp>
        <p:nvSpPr>
          <p:cNvPr id="7" name="body-3-0">
            <a:extLst xmlns:a="http://schemas.openxmlformats.org/drawingml/2006/main">
              <a:ext uri="{FF2B5EF4-FFF2-40B4-BE49-F238E27FC236}">
                <a16:creationId xmlns:a16="http://schemas.microsoft.com/office/drawing/2014/main" id="{354AE22C-3268-4FCD-AB5A-2E978A983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8" name="body-3-1">
            <a:extLst xmlns:a="http://schemas.openxmlformats.org/drawingml/2006/main">
              <a:ext uri="{FF2B5EF4-FFF2-40B4-BE49-F238E27FC236}">
                <a16:creationId xmlns:a16="http://schemas.microsoft.com/office/drawing/2014/main" id="{AE51E9A6-B31F-459D-9A94-4EBF7D3FF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odule-1-v2-case-a</a:t>
            </a:r>
          </a:p>
        </p:txBody>
      </p:sp>
      <p:sp>
        <p:nvSpPr>
          <p:cNvPr id="9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B55C6D0F-CEB3-426A-8177-27950F33E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BFA883FE-2B91-4413-BD80-7D1B23C00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101</a:t>
            </a:r>
          </a:p>
        </p:txBody>
      </p:sp>
    </p:spTree>
    <p:extLst>
      <p:ext uri="{BB962C8B-B14F-4D97-AF65-F5344CB8AC3E}">
        <p14:creationId xmlns:p14="http://schemas.microsoft.com/office/powerpoint/2010/main" val="507878011"/>
      </p:ext>
    </p:extLst>
  </p:cSld>
</p:sld>
</file>

<file path=ppt/slides/slide10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3AC5212E-19E5-4739-98FF-EE04BFD0F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13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C1418B12-02B3-4241-A306-8BF184DF8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A. Sladdens ytterhölje är sprucket.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93D56AA3-9A5D-46DE-BA7B-00723564B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Det spruckna ytterhöljet är en given uppgift. Orsak och skyddsfunktion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5F0BDC95-1E7D-46C3-96BB-3CFC7C9F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är ännu inte verifierade.</a:t>
            </a:r>
          </a:p>
        </p:txBody>
      </p:sp>
      <p:sp>
        <p:nvSpPr>
          <p:cNvPr id="5" name="body-2-0">
            <a:extLst xmlns:a="http://schemas.openxmlformats.org/drawingml/2006/main">
              <a:ext uri="{FF2B5EF4-FFF2-40B4-BE49-F238E27FC236}">
                <a16:creationId xmlns:a16="http://schemas.microsoft.com/office/drawing/2014/main" id="{C036CE9E-8FDB-470E-A531-24FC4D60C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352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6. Beslutsfall A: den skadade arbetslampan</a:t>
            </a:r>
          </a:p>
        </p:txBody>
      </p:sp>
      <p:sp>
        <p:nvSpPr>
          <p:cNvPr id="6" name="body-3-0">
            <a:extLst xmlns:a="http://schemas.openxmlformats.org/drawingml/2006/main">
              <a:ext uri="{FF2B5EF4-FFF2-40B4-BE49-F238E27FC236}">
                <a16:creationId xmlns:a16="http://schemas.microsoft.com/office/drawing/2014/main" id="{B4D791E2-FCCB-477F-A93B-D9861EADF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908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7" name="body-3-1">
            <a:extLst xmlns:a="http://schemas.openxmlformats.org/drawingml/2006/main">
              <a:ext uri="{FF2B5EF4-FFF2-40B4-BE49-F238E27FC236}">
                <a16:creationId xmlns:a16="http://schemas.microsoft.com/office/drawing/2014/main" id="{E521EFD1-2F93-481E-9956-CF3283D5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odule-1-v2-case-a</a:t>
            </a:r>
          </a:p>
        </p:txBody>
      </p:sp>
      <p:sp>
        <p:nvSpPr>
          <p:cNvPr id="8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AC2DA028-A096-4F18-B0B8-8DF466FA7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9" name="page-number">
            <a:extLst xmlns:a="http://schemas.openxmlformats.org/drawingml/2006/main">
              <a:ext uri="{FF2B5EF4-FFF2-40B4-BE49-F238E27FC236}">
                <a16:creationId xmlns:a16="http://schemas.microsoft.com/office/drawing/2014/main" id="{19C7BC3F-8163-4538-90AD-50665995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102</a:t>
            </a:r>
          </a:p>
        </p:txBody>
      </p:sp>
    </p:spTree>
    <p:extLst>
      <p:ext uri="{BB962C8B-B14F-4D97-AF65-F5344CB8AC3E}">
        <p14:creationId xmlns:p14="http://schemas.microsoft.com/office/powerpoint/2010/main" val="670502484"/>
      </p:ext>
    </p:extLst>
  </p:cSld>
</p:sld>
</file>

<file path=ppt/slides/slide10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7A507608-518C-434E-9A53-74566030E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14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82A4886E-0E09-4707-9A81-F1DC6F6A7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B. Kontrollera även skick, laddning, placering och faktisk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AE97EBF9-09A0-4B7F-BFB2-C8599303F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belysning före beslut.</a:t>
            </a:r>
          </a:p>
        </p:txBody>
      </p:sp>
      <p:sp>
        <p:nvSpPr>
          <p:cNvPr id="4" name="body-1-0">
            <a:extLst xmlns:a="http://schemas.openxmlformats.org/drawingml/2006/main">
              <a:ext uri="{FF2B5EF4-FFF2-40B4-BE49-F238E27FC236}">
                <a16:creationId xmlns:a16="http://schemas.microsoft.com/office/drawing/2014/main" id="{D9C1D43B-6810-4485-8859-A89919FC7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B har relevant dokumenterat underlag, men den aktuella utrustningen</a:t>
            </a:r>
          </a:p>
        </p:txBody>
      </p:sp>
      <p:sp>
        <p:nvSpPr>
          <p:cNvPr id="5" name="body-1-1">
            <a:extLst xmlns:a="http://schemas.openxmlformats.org/drawingml/2006/main">
              <a:ext uri="{FF2B5EF4-FFF2-40B4-BE49-F238E27FC236}">
                <a16:creationId xmlns:a16="http://schemas.microsoft.com/office/drawing/2014/main" id="{4B3CAEA3-E1E3-435A-B864-A3ED2C39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och användningssituationen behöver fortfarande kontrolleras.</a:t>
            </a:r>
          </a:p>
        </p:txBody>
      </p:sp>
      <p:sp>
        <p:nvSpPr>
          <p:cNvPr id="6" name="body-2-0">
            <a:extLst xmlns:a="http://schemas.openxmlformats.org/drawingml/2006/main">
              <a:ext uri="{FF2B5EF4-FFF2-40B4-BE49-F238E27FC236}">
                <a16:creationId xmlns:a16="http://schemas.microsoft.com/office/drawing/2014/main" id="{0813BA71-C555-4389-B22A-C534D587A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7. Beslutsfall B: ljus och länsning samtidigt</a:t>
            </a:r>
          </a:p>
        </p:txBody>
      </p:sp>
      <p:sp>
        <p:nvSpPr>
          <p:cNvPr id="7" name="body-3-0">
            <a:extLst xmlns:a="http://schemas.openxmlformats.org/drawingml/2006/main">
              <a:ext uri="{FF2B5EF4-FFF2-40B4-BE49-F238E27FC236}">
                <a16:creationId xmlns:a16="http://schemas.microsoft.com/office/drawing/2014/main" id="{8421A741-0168-44A0-A3C6-F9F06D984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8" name="body-3-1">
            <a:extLst xmlns:a="http://schemas.openxmlformats.org/drawingml/2006/main">
              <a:ext uri="{FF2B5EF4-FFF2-40B4-BE49-F238E27FC236}">
                <a16:creationId xmlns:a16="http://schemas.microsoft.com/office/drawing/2014/main" id="{A0CAA297-4168-4345-979D-70CB1215D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odule-1-v2-case-b</a:t>
            </a:r>
          </a:p>
        </p:txBody>
      </p:sp>
      <p:sp>
        <p:nvSpPr>
          <p:cNvPr id="9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7F07B572-3D6A-4F62-AD24-BD7D59603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CAC56E12-0804-49BA-AD3D-0DCC7BE97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103</a:t>
            </a:r>
          </a:p>
        </p:txBody>
      </p:sp>
    </p:spTree>
    <p:extLst>
      <p:ext uri="{BB962C8B-B14F-4D97-AF65-F5344CB8AC3E}">
        <p14:creationId xmlns:p14="http://schemas.microsoft.com/office/powerpoint/2010/main" val="755468841"/>
      </p:ext>
    </p:extLst>
  </p:cSld>
</p:sld>
</file>

<file path=ppt/slides/slide10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ED89E567-FA8F-40FC-A43B-A205A3593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Facit och repetition · uppgift 15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54799CB9-2B96-4AB3-83B3-2E0F19B20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Svar: 4 mA</a:t>
            </a:r>
          </a:p>
        </p:txBody>
      </p:sp>
      <p:sp>
        <p:nvSpPr>
          <p:cNvPr id="3" name="body-1-0">
            <a:extLst xmlns:a="http://schemas.openxmlformats.org/drawingml/2006/main">
              <a:ext uri="{FF2B5EF4-FFF2-40B4-BE49-F238E27FC236}">
                <a16:creationId xmlns:a16="http://schemas.microsoft.com/office/drawing/2014/main" id="{FF0E7D56-DC81-4C18-973E-2A192BA4B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590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3 kΩ motsvarar 3 000 Ω. Dividera 12 V med 3 000 Ω: strömmen är</a:t>
            </a:r>
          </a:p>
        </p:txBody>
      </p:sp>
      <p:sp>
        <p:nvSpPr>
          <p:cNvPr id="4" name="body-1-1">
            <a:extLst xmlns:a="http://schemas.openxmlformats.org/drawingml/2006/main">
              <a:ext uri="{FF2B5EF4-FFF2-40B4-BE49-F238E27FC236}">
                <a16:creationId xmlns:a16="http://schemas.microsoft.com/office/drawing/2014/main" id="{20B25AB6-4E48-4922-A185-5EA059813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914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0,004 A, alltså 4 mA. Fördubbla gärna svaret till 8 mA i ett</a:t>
            </a:r>
          </a:p>
        </p:txBody>
      </p:sp>
      <p:sp>
        <p:nvSpPr>
          <p:cNvPr id="5" name="body-1-2">
            <a:extLst xmlns:a="http://schemas.openxmlformats.org/drawingml/2006/main">
              <a:ext uri="{FF2B5EF4-FFF2-40B4-BE49-F238E27FC236}">
                <a16:creationId xmlns:a16="http://schemas.microsoft.com/office/drawing/2014/main" id="{9285C68C-9DC0-403E-B7C8-AC199A24E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kontrollförsök och undersök varför det inte passar givna värden.</a:t>
            </a:r>
          </a:p>
        </p:txBody>
      </p:sp>
      <p:sp>
        <p:nvSpPr>
          <p:cNvPr id="6" name="body-2-0">
            <a:extLst xmlns:a="http://schemas.openxmlformats.org/drawingml/2006/main">
              <a:ext uri="{FF2B5EF4-FFF2-40B4-BE49-F238E27FC236}">
                <a16:creationId xmlns:a16="http://schemas.microsoft.com/office/drawing/2014/main" id="{540E08C2-A8A8-4D17-BF99-D69E89CC7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76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Repetera: 9. Räkneexempel: från kiloohm till milliampere</a:t>
            </a:r>
          </a:p>
        </p:txBody>
      </p:sp>
      <p:sp>
        <p:nvSpPr>
          <p:cNvPr id="7" name="body-3-0">
            <a:extLst xmlns:a="http://schemas.openxmlformats.org/drawingml/2006/main">
              <a:ext uri="{FF2B5EF4-FFF2-40B4-BE49-F238E27FC236}">
                <a16:creationId xmlns:a16="http://schemas.microsoft.com/office/drawing/2014/main" id="{B921DECF-8AF6-4FBB-9844-D6BDA5585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1146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https://nj22az.github.io/sjoskolan/vecka-37/revision/#module/1/learn/m</a:t>
            </a:r>
          </a:p>
        </p:txBody>
      </p:sp>
      <p:sp>
        <p:nvSpPr>
          <p:cNvPr id="8" name="body-3-1">
            <a:extLst xmlns:a="http://schemas.openxmlformats.org/drawingml/2006/main">
              <a:ext uri="{FF2B5EF4-FFF2-40B4-BE49-F238E27FC236}">
                <a16:creationId xmlns:a16="http://schemas.microsoft.com/office/drawing/2014/main" id="{B896828F-4B45-4D2E-A939-5EB51AB25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438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odule-1-v2-ohm-example</a:t>
            </a:r>
          </a:p>
        </p:txBody>
      </p:sp>
      <p:sp>
        <p:nvSpPr>
          <p:cNvPr id="9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1EA7BE14-E259-41BA-8752-6D042DB22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F155091B-64EA-44E3-B10E-0107F8164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104</a:t>
            </a:r>
          </a:p>
        </p:txBody>
      </p:sp>
    </p:spTree>
    <p:extLst>
      <p:ext uri="{BB962C8B-B14F-4D97-AF65-F5344CB8AC3E}">
        <p14:creationId xmlns:p14="http://schemas.microsoft.com/office/powerpoint/2010/main" val="1707356381"/>
      </p:ext>
    </p:extLst>
  </p:cSld>
</p:sld>
</file>

<file path=ppt/slides/slide10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F4710C06-61BB-4F33-9551-EE9540C3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Symbolbibliotek och licens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EF43B92D-E9DA-4CA6-B2A3-481F907B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Kretssymbolerna är bearbetade från ma-laforge/ElectricalDiagrams.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E4D2567D-A50F-45E4-BF90-9C557BC76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Kretsar, svenska etiketter och illustrationernas sammanhang har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65D0F176-F6D8-43C6-B59E-797473B37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anpassats för kursen. https://github.com/ma-laforge/ElectricalDiagrams</a:t>
            </a:r>
          </a:p>
        </p:txBody>
      </p:sp>
      <p:sp>
        <p:nvSpPr>
          <p:cNvPr id="5" name="body-1-0">
            <a:extLst xmlns:a="http://schemas.openxmlformats.org/drawingml/2006/main">
              <a:ext uri="{FF2B5EF4-FFF2-40B4-BE49-F238E27FC236}">
                <a16:creationId xmlns:a16="http://schemas.microsoft.com/office/drawing/2014/main" id="{8A3D8780-51B9-41DE-A12B-4A030403E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238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MIT License Copyright (c) 2016 ma-laforge Permission is hereby</a:t>
            </a:r>
          </a:p>
        </p:txBody>
      </p:sp>
      <p:sp>
        <p:nvSpPr>
          <p:cNvPr id="6" name="body-1-1">
            <a:extLst xmlns:a="http://schemas.openxmlformats.org/drawingml/2006/main">
              <a:ext uri="{FF2B5EF4-FFF2-40B4-BE49-F238E27FC236}">
                <a16:creationId xmlns:a16="http://schemas.microsoft.com/office/drawing/2014/main" id="{063A2D7F-2E20-4E7C-AC75-C96DC12B4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562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granted, free of charge, to any person obtaining a copy of this software</a:t>
            </a:r>
          </a:p>
        </p:txBody>
      </p:sp>
      <p:sp>
        <p:nvSpPr>
          <p:cNvPr id="7" name="body-1-2">
            <a:extLst xmlns:a="http://schemas.openxmlformats.org/drawingml/2006/main">
              <a:ext uri="{FF2B5EF4-FFF2-40B4-BE49-F238E27FC236}">
                <a16:creationId xmlns:a16="http://schemas.microsoft.com/office/drawing/2014/main" id="{9C3F3905-FD6C-4594-A11B-C61FE0A7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886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and associated documentation files (the "Software"), to deal in the</a:t>
            </a:r>
          </a:p>
        </p:txBody>
      </p:sp>
      <p:sp>
        <p:nvSpPr>
          <p:cNvPr id="8" name="body-1-3">
            <a:extLst xmlns:a="http://schemas.openxmlformats.org/drawingml/2006/main">
              <a:ext uri="{FF2B5EF4-FFF2-40B4-BE49-F238E27FC236}">
                <a16:creationId xmlns:a16="http://schemas.microsoft.com/office/drawing/2014/main" id="{EFE6B1A9-04EC-47C2-BF3F-FBFFF8200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209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Software without restriction, including without limitation the rights to</a:t>
            </a:r>
          </a:p>
        </p:txBody>
      </p:sp>
      <p:sp>
        <p:nvSpPr>
          <p:cNvPr id="9" name="body-1-4">
            <a:extLst xmlns:a="http://schemas.openxmlformats.org/drawingml/2006/main">
              <a:ext uri="{FF2B5EF4-FFF2-40B4-BE49-F238E27FC236}">
                <a16:creationId xmlns:a16="http://schemas.microsoft.com/office/drawing/2014/main" id="{0D8510A4-E0F5-4516-A244-B5E1639F7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533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use, copy, modify, merge, publish, distribute, sublicense, and/or sell</a:t>
            </a:r>
          </a:p>
        </p:txBody>
      </p:sp>
      <p:sp>
        <p:nvSpPr>
          <p:cNvPr id="10" name="body-1-5">
            <a:extLst xmlns:a="http://schemas.openxmlformats.org/drawingml/2006/main">
              <a:ext uri="{FF2B5EF4-FFF2-40B4-BE49-F238E27FC236}">
                <a16:creationId xmlns:a16="http://schemas.microsoft.com/office/drawing/2014/main" id="{2BE8317F-265E-4D51-92B4-197E1567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57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copies of the Software, and to permit persons to whom the Software is</a:t>
            </a:r>
          </a:p>
        </p:txBody>
      </p:sp>
      <p:sp>
        <p:nvSpPr>
          <p:cNvPr id="11" name="body-1-6">
            <a:extLst xmlns:a="http://schemas.openxmlformats.org/drawingml/2006/main">
              <a:ext uri="{FF2B5EF4-FFF2-40B4-BE49-F238E27FC236}">
                <a16:creationId xmlns:a16="http://schemas.microsoft.com/office/drawing/2014/main" id="{70153176-CF31-4D96-A6A7-DEF072476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1814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furnished to do so, subject to the following conditions: The above</a:t>
            </a:r>
          </a:p>
        </p:txBody>
      </p:sp>
      <p:sp>
        <p:nvSpPr>
          <p:cNvPr id="12" name="body-1-7">
            <a:extLst xmlns:a="http://schemas.openxmlformats.org/drawingml/2006/main">
              <a:ext uri="{FF2B5EF4-FFF2-40B4-BE49-F238E27FC236}">
                <a16:creationId xmlns:a16="http://schemas.microsoft.com/office/drawing/2014/main" id="{D3DEFF91-3AEA-49F4-95CD-510582DC0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5053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copyright notice and this permission notice shall be included in all</a:t>
            </a:r>
          </a:p>
        </p:txBody>
      </p:sp>
      <p:sp>
        <p:nvSpPr>
          <p:cNvPr id="13" name="body-1-8">
            <a:extLst xmlns:a="http://schemas.openxmlformats.org/drawingml/2006/main">
              <a:ext uri="{FF2B5EF4-FFF2-40B4-BE49-F238E27FC236}">
                <a16:creationId xmlns:a16="http://schemas.microsoft.com/office/drawing/2014/main" id="{745A591D-7B17-4287-9BD3-6264716B7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8291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copies or substantial portions of the Software. THE SOFTWARE IS</a:t>
            </a:r>
          </a:p>
        </p:txBody>
      </p:sp>
      <p:sp>
        <p:nvSpPr>
          <p:cNvPr id="14" name="body-1-9">
            <a:extLst xmlns:a="http://schemas.openxmlformats.org/drawingml/2006/main">
              <a:ext uri="{FF2B5EF4-FFF2-40B4-BE49-F238E27FC236}">
                <a16:creationId xmlns:a16="http://schemas.microsoft.com/office/drawing/2014/main" id="{92D69A76-FA09-4C7A-A3FC-220B8ACC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1530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PROVIDED "AS IS", WITHOUT WARRANTY OF ANY KIND, EXPRESS OR</a:t>
            </a:r>
          </a:p>
        </p:txBody>
      </p:sp>
      <p:sp>
        <p:nvSpPr>
          <p:cNvPr id="15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326A9DDB-0663-425F-95C6-8CF75F32E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6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065D5D6-2918-4E94-956E-A9AC40421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105</a:t>
            </a:r>
          </a:p>
        </p:txBody>
      </p:sp>
    </p:spTree>
    <p:extLst>
      <p:ext uri="{BB962C8B-B14F-4D97-AF65-F5344CB8AC3E}">
        <p14:creationId xmlns:p14="http://schemas.microsoft.com/office/powerpoint/2010/main" val="1984456828"/>
      </p:ext>
    </p:extLst>
  </p:cSld>
</p:sld>
</file>

<file path=ppt/slides/slide10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section-title-0">
            <a:extLst xmlns:a="http://schemas.openxmlformats.org/drawingml/2006/main">
              <a:ext uri="{FF2B5EF4-FFF2-40B4-BE49-F238E27FC236}">
                <a16:creationId xmlns:a16="http://schemas.microsoft.com/office/drawing/2014/main" id="{C3EC625B-611F-430A-99BD-848622109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81000"/>
            <a:ext cx="8229600" cy="41148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2400" b="1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Symbolbibliotek och licens</a:t>
            </a:r>
          </a:p>
        </p:txBody>
      </p:sp>
      <p:sp>
        <p:nvSpPr>
          <p:cNvPr id="2" name="body-0-0">
            <a:extLst xmlns:a="http://schemas.openxmlformats.org/drawingml/2006/main">
              <a:ext uri="{FF2B5EF4-FFF2-40B4-BE49-F238E27FC236}">
                <a16:creationId xmlns:a16="http://schemas.microsoft.com/office/drawing/2014/main" id="{3291A1CA-FC9D-41CF-8E58-7415840F9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1525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IMPLIED, INCLUDING BUT NOT LIMITED TO THE WARRANTIES OF</a:t>
            </a:r>
          </a:p>
        </p:txBody>
      </p:sp>
      <p:sp>
        <p:nvSpPr>
          <p:cNvPr id="3" name="body-0-1">
            <a:extLst xmlns:a="http://schemas.openxmlformats.org/drawingml/2006/main">
              <a:ext uri="{FF2B5EF4-FFF2-40B4-BE49-F238E27FC236}">
                <a16:creationId xmlns:a16="http://schemas.microsoft.com/office/drawing/2014/main" id="{2F002F3A-02C6-4457-98EE-8C238F6E8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4763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MERCHANTABILITY, FITNESS FOR A PARTICULAR PURPOSE AND</a:t>
            </a:r>
          </a:p>
        </p:txBody>
      </p:sp>
      <p:sp>
        <p:nvSpPr>
          <p:cNvPr id="4" name="body-0-2">
            <a:extLst xmlns:a="http://schemas.openxmlformats.org/drawingml/2006/main">
              <a:ext uri="{FF2B5EF4-FFF2-40B4-BE49-F238E27FC236}">
                <a16:creationId xmlns:a16="http://schemas.microsoft.com/office/drawing/2014/main" id="{1015D737-94E4-4C73-AA3C-471460C7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8002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NONINFRINGEMENT. IN NO EVENT SHALL THE AUTHORS OR COPYRIGHT</a:t>
            </a:r>
          </a:p>
        </p:txBody>
      </p:sp>
      <p:sp>
        <p:nvSpPr>
          <p:cNvPr id="5" name="body-0-3">
            <a:extLst xmlns:a="http://schemas.openxmlformats.org/drawingml/2006/main">
              <a:ext uri="{FF2B5EF4-FFF2-40B4-BE49-F238E27FC236}">
                <a16:creationId xmlns:a16="http://schemas.microsoft.com/office/drawing/2014/main" id="{A5DC3185-39F6-4FFC-A4D0-A76649D8F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1240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HOLDERS BE LIABLE FOR ANY CLAIM, DAMAGES OR OTHER LIABILITY,</a:t>
            </a:r>
          </a:p>
        </p:txBody>
      </p:sp>
      <p:sp>
        <p:nvSpPr>
          <p:cNvPr id="6" name="body-0-4">
            <a:extLst xmlns:a="http://schemas.openxmlformats.org/drawingml/2006/main">
              <a:ext uri="{FF2B5EF4-FFF2-40B4-BE49-F238E27FC236}">
                <a16:creationId xmlns:a16="http://schemas.microsoft.com/office/drawing/2014/main" id="{DB5D2C57-E053-47CB-A6D7-938C1DAB4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4479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WHETHER IN AN ACTION OF CONTRACT, TORT OR OTHERWISE, ARISING</a:t>
            </a:r>
          </a:p>
        </p:txBody>
      </p:sp>
      <p:sp>
        <p:nvSpPr>
          <p:cNvPr id="7" name="body-0-5">
            <a:extLst xmlns:a="http://schemas.openxmlformats.org/drawingml/2006/main">
              <a:ext uri="{FF2B5EF4-FFF2-40B4-BE49-F238E27FC236}">
                <a16:creationId xmlns:a16="http://schemas.microsoft.com/office/drawing/2014/main" id="{348A231D-3FAD-49A9-AA37-AE765723E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77177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FROM, OUT OF OR IN CONNECTION WITH THE SOFTWARE OR THE USE</a:t>
            </a:r>
          </a:p>
        </p:txBody>
      </p:sp>
      <p:sp>
        <p:nvSpPr>
          <p:cNvPr id="8" name="body-0-6">
            <a:extLst xmlns:a="http://schemas.openxmlformats.org/drawingml/2006/main">
              <a:ext uri="{FF2B5EF4-FFF2-40B4-BE49-F238E27FC236}">
                <a16:creationId xmlns:a16="http://schemas.microsoft.com/office/drawing/2014/main" id="{F0ACEF8E-E6D3-437A-92B4-D0B0FF961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3095625"/>
            <a:ext cx="8229600" cy="3086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defRPr>
            </a:pPr>
            <a:r>
              <a:rPr sz="1800" b="0">
                <a:solidFill>
                  <a:srgbClr val="000000"/>
                </a:solidFill>
                <a:latin typeface="DejaVu Sans"/>
                <a:ea typeface="DejaVu Sans"/>
                <a:cs typeface="DejaVu Sans"/>
              </a:rPr>
              <a:t>OR OTHER DEALINGS IN THE SOFTWARE.</a:t>
            </a:r>
          </a:p>
        </p:txBody>
      </p:sp>
      <p:sp>
        <p:nvSpPr>
          <p:cNvPr id="9" name="course-footer">
            <a:extLst xmlns:a="http://schemas.openxmlformats.org/drawingml/2006/main">
              <a:ext uri="{FF2B5EF4-FFF2-40B4-BE49-F238E27FC236}">
                <a16:creationId xmlns:a16="http://schemas.microsoft.com/office/drawing/2014/main" id="{1967A934-BA34-47CE-8F4A-41AC8A5D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00800"/>
            <a:ext cx="666750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006B2E"/>
                </a:solidFill>
                <a:latin typeface="DejaVu Sans"/>
                <a:ea typeface="DejaVu Sans"/>
                <a:cs typeface="DejaVu Sans"/>
              </a:rPr>
              <a:t>Elteknik och ellära · Nils Johansson</a:t>
            </a:r>
          </a:p>
        </p:txBody>
      </p:sp>
      <p:sp>
        <p:nvSpPr>
          <p:cNvPr id="10" name="page-number">
            <a:extLst xmlns:a="http://schemas.openxmlformats.org/drawingml/2006/main">
              <a:ext uri="{FF2B5EF4-FFF2-40B4-BE49-F238E27FC236}">
                <a16:creationId xmlns:a16="http://schemas.microsoft.com/office/drawing/2014/main" id="{547A1ED7-61D3-454E-9CB8-5F37E5665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6486525"/>
            <a:ext cx="1428750" cy="18002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>
            <a:def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defRPr>
            </a:pPr>
            <a:r>
              <a:rPr sz="1050" b="0">
                <a:solidFill>
                  <a:srgbClr val="4B5D73"/>
                </a:solidFill>
                <a:latin typeface="DejaVu Sans"/>
                <a:ea typeface="DejaVu Sans"/>
                <a:cs typeface="DejaVu Sans"/>
              </a:rPr>
              <a:t>Modul 1 · 106</a:t>
            </a:r>
          </a:p>
        </p:txBody>
      </p:sp>
    </p:spTree>
    <p:extLst>
      <p:ext uri="{BB962C8B-B14F-4D97-AF65-F5344CB8AC3E}">
        <p14:creationId xmlns:p14="http://schemas.microsoft.com/office/powerpoint/2010/main" val="56061270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2026-10-16T09:56:47.9200000Z</dcterms:created>
  <dcterms:modified xsi:type="dcterms:W3CDTF">2026-10-16T09:56:47.9200000Z</dcterms:modified>
</coreProperties>
</file>