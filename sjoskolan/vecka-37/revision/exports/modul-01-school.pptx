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d745e2f29eb94d7b"/><Relationship Type="http://schemas.openxmlformats.org/officeDocument/2006/relationships/extended-properties" Target="/docProps/app.xml" Id="R6791978241914f17"/><Relationship Type="http://schemas.openxmlformats.org/officeDocument/2006/relationships/officeDocument" Target="/ppt/presentation.xml" Id="R867354e7051e4b68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e5048809f84e4a"/>
  </p:sldMasterIdLst>
  <p:sldIdLst>
    <p:sldId xmlns:r="http://schemas.openxmlformats.org/officeDocument/2006/relationships" id="256" r:id="R93f5b811395444d3"/>
    <p:sldId xmlns:r="http://schemas.openxmlformats.org/officeDocument/2006/relationships" id="257" r:id="Rcc73a021cce14c03"/>
    <p:sldId xmlns:r="http://schemas.openxmlformats.org/officeDocument/2006/relationships" id="258" r:id="R662711cef7cc4d89"/>
    <p:sldId xmlns:r="http://schemas.openxmlformats.org/officeDocument/2006/relationships" id="259" r:id="R3d84ca729f934003"/>
    <p:sldId xmlns:r="http://schemas.openxmlformats.org/officeDocument/2006/relationships" id="260" r:id="R583a160ccaba4d11"/>
    <p:sldId xmlns:r="http://schemas.openxmlformats.org/officeDocument/2006/relationships" id="261" r:id="R91d4acb68dd54b4a"/>
    <p:sldId xmlns:r="http://schemas.openxmlformats.org/officeDocument/2006/relationships" id="262" r:id="R6a1089d9f60e4148"/>
    <p:sldId xmlns:r="http://schemas.openxmlformats.org/officeDocument/2006/relationships" id="263" r:id="Ra153697a51d34cc7"/>
    <p:sldId xmlns:r="http://schemas.openxmlformats.org/officeDocument/2006/relationships" id="264" r:id="R787d041d30614ea6"/>
    <p:sldId xmlns:r="http://schemas.openxmlformats.org/officeDocument/2006/relationships" id="265" r:id="Rdc8b2c54f5cb4b58"/>
    <p:sldId xmlns:r="http://schemas.openxmlformats.org/officeDocument/2006/relationships" id="266" r:id="R553e2a22a1444af2"/>
    <p:sldId xmlns:r="http://schemas.openxmlformats.org/officeDocument/2006/relationships" id="267" r:id="R8fb4c0755e3047d2"/>
    <p:sldId xmlns:r="http://schemas.openxmlformats.org/officeDocument/2006/relationships" id="268" r:id="Ra6924302d2ba4be3"/>
    <p:sldId xmlns:r="http://schemas.openxmlformats.org/officeDocument/2006/relationships" id="269" r:id="R1f8a4db1f5194fa5"/>
    <p:sldId xmlns:r="http://schemas.openxmlformats.org/officeDocument/2006/relationships" id="270" r:id="Rab42a27e9ae1461a"/>
    <p:sldId xmlns:r="http://schemas.openxmlformats.org/officeDocument/2006/relationships" id="271" r:id="R104efa3ca3094b3b"/>
    <p:sldId xmlns:r="http://schemas.openxmlformats.org/officeDocument/2006/relationships" id="272" r:id="R8927fb618fdc4ce4"/>
    <p:sldId xmlns:r="http://schemas.openxmlformats.org/officeDocument/2006/relationships" id="273" r:id="Rfd0bdeabb9ff4ae3"/>
    <p:sldId xmlns:r="http://schemas.openxmlformats.org/officeDocument/2006/relationships" id="274" r:id="R09978576213e412b"/>
    <p:sldId xmlns:r="http://schemas.openxmlformats.org/officeDocument/2006/relationships" id="275" r:id="R413575ba69ba445b"/>
    <p:sldId xmlns:r="http://schemas.openxmlformats.org/officeDocument/2006/relationships" id="276" r:id="Re1c67809deb24d10"/>
    <p:sldId xmlns:r="http://schemas.openxmlformats.org/officeDocument/2006/relationships" id="277" r:id="Rfda3d2b3f4db49fd"/>
    <p:sldId xmlns:r="http://schemas.openxmlformats.org/officeDocument/2006/relationships" id="278" r:id="R60c4fef190e94e6b"/>
    <p:sldId xmlns:r="http://schemas.openxmlformats.org/officeDocument/2006/relationships" id="279" r:id="Rbd27920162af4b41"/>
    <p:sldId xmlns:r="http://schemas.openxmlformats.org/officeDocument/2006/relationships" id="280" r:id="R7f1956ecb5834fcc"/>
    <p:sldId xmlns:r="http://schemas.openxmlformats.org/officeDocument/2006/relationships" id="281" r:id="Rb8221a7e1dbb4ce0"/>
    <p:sldId xmlns:r="http://schemas.openxmlformats.org/officeDocument/2006/relationships" id="282" r:id="Re6704435b1bd4fac"/>
    <p:sldId xmlns:r="http://schemas.openxmlformats.org/officeDocument/2006/relationships" id="283" r:id="Rd007a646548845a1"/>
    <p:sldId xmlns:r="http://schemas.openxmlformats.org/officeDocument/2006/relationships" id="284" r:id="R2058f0ac487542ff"/>
    <p:sldId xmlns:r="http://schemas.openxmlformats.org/officeDocument/2006/relationships" id="285" r:id="R03f9bbd2bc8c4309"/>
    <p:sldId xmlns:r="http://schemas.openxmlformats.org/officeDocument/2006/relationships" id="286" r:id="Re2eb8cbd956d494e"/>
    <p:sldId xmlns:r="http://schemas.openxmlformats.org/officeDocument/2006/relationships" id="287" r:id="R3cf1c47153844122"/>
    <p:sldId xmlns:r="http://schemas.openxmlformats.org/officeDocument/2006/relationships" id="288" r:id="Ra2477e12e6b84425"/>
    <p:sldId xmlns:r="http://schemas.openxmlformats.org/officeDocument/2006/relationships" id="289" r:id="R66a020762480443e"/>
    <p:sldId xmlns:r="http://schemas.openxmlformats.org/officeDocument/2006/relationships" id="290" r:id="R5298d53a144d445e"/>
    <p:sldId xmlns:r="http://schemas.openxmlformats.org/officeDocument/2006/relationships" id="291" r:id="Rf94f2100e2414b1e"/>
    <p:sldId xmlns:r="http://schemas.openxmlformats.org/officeDocument/2006/relationships" id="292" r:id="R348be304e4964d97"/>
    <p:sldId xmlns:r="http://schemas.openxmlformats.org/officeDocument/2006/relationships" id="293" r:id="Rd45c493f57ea4040"/>
    <p:sldId xmlns:r="http://schemas.openxmlformats.org/officeDocument/2006/relationships" id="294" r:id="R7f45dc9ecb8a45c7"/>
    <p:sldId xmlns:r="http://schemas.openxmlformats.org/officeDocument/2006/relationships" id="295" r:id="Ref50eaa9ed024ab7"/>
    <p:sldId xmlns:r="http://schemas.openxmlformats.org/officeDocument/2006/relationships" id="296" r:id="Rf0d9f17f780b48b4"/>
    <p:sldId xmlns:r="http://schemas.openxmlformats.org/officeDocument/2006/relationships" id="297" r:id="Rcb03d6485d524e23"/>
    <p:sldId xmlns:r="http://schemas.openxmlformats.org/officeDocument/2006/relationships" id="298" r:id="R954faac000d840f1"/>
    <p:sldId xmlns:r="http://schemas.openxmlformats.org/officeDocument/2006/relationships" id="299" r:id="Rf3ea5f267ec7466d"/>
    <p:sldId xmlns:r="http://schemas.openxmlformats.org/officeDocument/2006/relationships" id="300" r:id="Rf7caebff53b84e14"/>
    <p:sldId xmlns:r="http://schemas.openxmlformats.org/officeDocument/2006/relationships" id="301" r:id="R501b93d0974d4db4"/>
    <p:sldId xmlns:r="http://schemas.openxmlformats.org/officeDocument/2006/relationships" id="302" r:id="R2558b7cdb509433b"/>
    <p:sldId xmlns:r="http://schemas.openxmlformats.org/officeDocument/2006/relationships" id="303" r:id="R85052b2d9cf44078"/>
    <p:sldId xmlns:r="http://schemas.openxmlformats.org/officeDocument/2006/relationships" id="304" r:id="R21464c2842284f5b"/>
    <p:sldId xmlns:r="http://schemas.openxmlformats.org/officeDocument/2006/relationships" id="305" r:id="R1c374f95b2614aea"/>
    <p:sldId xmlns:r="http://schemas.openxmlformats.org/officeDocument/2006/relationships" id="306" r:id="R42a4e31321d847b6"/>
    <p:sldId xmlns:r="http://schemas.openxmlformats.org/officeDocument/2006/relationships" id="307" r:id="Ree3ee655c10a4fde"/>
    <p:sldId xmlns:r="http://schemas.openxmlformats.org/officeDocument/2006/relationships" id="308" r:id="Rb6bf7de44d344928"/>
    <p:sldId xmlns:r="http://schemas.openxmlformats.org/officeDocument/2006/relationships" id="309" r:id="R55aaa1cbbc12452e"/>
    <p:sldId xmlns:r="http://schemas.openxmlformats.org/officeDocument/2006/relationships" id="310" r:id="Rbda9b630d892401f"/>
    <p:sldId xmlns:r="http://schemas.openxmlformats.org/officeDocument/2006/relationships" id="311" r:id="R511781e0b31143f5"/>
    <p:sldId xmlns:r="http://schemas.openxmlformats.org/officeDocument/2006/relationships" id="312" r:id="R12ba3a3c529b44dd"/>
    <p:sldId xmlns:r="http://schemas.openxmlformats.org/officeDocument/2006/relationships" id="313" r:id="Rd992c52fc717458c"/>
    <p:sldId xmlns:r="http://schemas.openxmlformats.org/officeDocument/2006/relationships" id="314" r:id="Rdd7fed92ca954893"/>
    <p:sldId xmlns:r="http://schemas.openxmlformats.org/officeDocument/2006/relationships" id="315" r:id="R6af064251d8f4f98"/>
    <p:sldId xmlns:r="http://schemas.openxmlformats.org/officeDocument/2006/relationships" id="316" r:id="R2e9d1722cf5c46c2"/>
    <p:sldId xmlns:r="http://schemas.openxmlformats.org/officeDocument/2006/relationships" id="317" r:id="Ra33e5aa9fbc14909"/>
    <p:sldId xmlns:r="http://schemas.openxmlformats.org/officeDocument/2006/relationships" id="318" r:id="Re955b0edebf34850"/>
    <p:sldId xmlns:r="http://schemas.openxmlformats.org/officeDocument/2006/relationships" id="319" r:id="Re94613bddd964725"/>
    <p:sldId xmlns:r="http://schemas.openxmlformats.org/officeDocument/2006/relationships" id="320" r:id="Rb4837cc65afe4313"/>
    <p:sldId xmlns:r="http://schemas.openxmlformats.org/officeDocument/2006/relationships" id="321" r:id="R8fd64be272704ea1"/>
    <p:sldId xmlns:r="http://schemas.openxmlformats.org/officeDocument/2006/relationships" id="322" r:id="Rbf76c03cdb2b4420"/>
    <p:sldId xmlns:r="http://schemas.openxmlformats.org/officeDocument/2006/relationships" id="323" r:id="Rbbabec8a0de64b26"/>
    <p:sldId xmlns:r="http://schemas.openxmlformats.org/officeDocument/2006/relationships" id="324" r:id="R2ce7f985852f4927"/>
    <p:sldId xmlns:r="http://schemas.openxmlformats.org/officeDocument/2006/relationships" id="325" r:id="R3d5d4d62cd994f46"/>
    <p:sldId xmlns:r="http://schemas.openxmlformats.org/officeDocument/2006/relationships" id="326" r:id="R9ca19b7f91724696"/>
    <p:sldId xmlns:r="http://schemas.openxmlformats.org/officeDocument/2006/relationships" id="327" r:id="Rfe48d782392a41df"/>
    <p:sldId xmlns:r="http://schemas.openxmlformats.org/officeDocument/2006/relationships" id="328" r:id="R44a793b1cccf4e6c"/>
    <p:sldId xmlns:r="http://schemas.openxmlformats.org/officeDocument/2006/relationships" id="329" r:id="R95ec294888e441bc"/>
    <p:sldId xmlns:r="http://schemas.openxmlformats.org/officeDocument/2006/relationships" id="330" r:id="R51b8f76a821242a0"/>
    <p:sldId xmlns:r="http://schemas.openxmlformats.org/officeDocument/2006/relationships" id="331" r:id="R3c9b7bc20a27483b"/>
    <p:sldId xmlns:r="http://schemas.openxmlformats.org/officeDocument/2006/relationships" id="332" r:id="Ra4988475c5e145cc"/>
    <p:sldId xmlns:r="http://schemas.openxmlformats.org/officeDocument/2006/relationships" id="333" r:id="Rebf5f92e994343b6"/>
    <p:sldId xmlns:r="http://schemas.openxmlformats.org/officeDocument/2006/relationships" id="334" r:id="R1d1dfd717ee84621"/>
    <p:sldId xmlns:r="http://schemas.openxmlformats.org/officeDocument/2006/relationships" id="335" r:id="Rd2ab7260b0e741ec"/>
    <p:sldId xmlns:r="http://schemas.openxmlformats.org/officeDocument/2006/relationships" id="336" r:id="Ra8edfb63f2ee4419"/>
    <p:sldId xmlns:r="http://schemas.openxmlformats.org/officeDocument/2006/relationships" id="337" r:id="R3d3b5b9ac8c24659"/>
    <p:sldId xmlns:r="http://schemas.openxmlformats.org/officeDocument/2006/relationships" id="338" r:id="R38f69f79f6b6460c"/>
    <p:sldId xmlns:r="http://schemas.openxmlformats.org/officeDocument/2006/relationships" id="339" r:id="R173b2407a17546d1"/>
    <p:sldId xmlns:r="http://schemas.openxmlformats.org/officeDocument/2006/relationships" id="340" r:id="R5b42b40e038b4955"/>
    <p:sldId xmlns:r="http://schemas.openxmlformats.org/officeDocument/2006/relationships" id="341" r:id="R9141eb5180004186"/>
    <p:sldId xmlns:r="http://schemas.openxmlformats.org/officeDocument/2006/relationships" id="342" r:id="Rb316800130ab4e4f"/>
    <p:sldId xmlns:r="http://schemas.openxmlformats.org/officeDocument/2006/relationships" id="343" r:id="R0c721b07021c4fdd"/>
    <p:sldId xmlns:r="http://schemas.openxmlformats.org/officeDocument/2006/relationships" id="344" r:id="R9ec11a9e27844078"/>
    <p:sldId xmlns:r="http://schemas.openxmlformats.org/officeDocument/2006/relationships" id="345" r:id="R72bce80665ca45e5"/>
    <p:sldId xmlns:r="http://schemas.openxmlformats.org/officeDocument/2006/relationships" id="346" r:id="R8acdda389540401f"/>
    <p:sldId xmlns:r="http://schemas.openxmlformats.org/officeDocument/2006/relationships" id="347" r:id="Rcd14e4f497c54806"/>
    <p:sldId xmlns:r="http://schemas.openxmlformats.org/officeDocument/2006/relationships" id="348" r:id="R104130524f10416e"/>
    <p:sldId xmlns:r="http://schemas.openxmlformats.org/officeDocument/2006/relationships" id="349" r:id="Rc511d7403ec4426c"/>
    <p:sldId xmlns:r="http://schemas.openxmlformats.org/officeDocument/2006/relationships" id="350" r:id="R59a0a93cc56c437c"/>
    <p:sldId xmlns:r="http://schemas.openxmlformats.org/officeDocument/2006/relationships" id="351" r:id="R10f49b01d6564675"/>
    <p:sldId xmlns:r="http://schemas.openxmlformats.org/officeDocument/2006/relationships" id="352" r:id="Rd974e76d202048bc"/>
    <p:sldId xmlns:r="http://schemas.openxmlformats.org/officeDocument/2006/relationships" id="353" r:id="Ra50b86452d2542eb"/>
    <p:sldId xmlns:r="http://schemas.openxmlformats.org/officeDocument/2006/relationships" id="354" r:id="R23628d9282f847e9"/>
    <p:sldId xmlns:r="http://schemas.openxmlformats.org/officeDocument/2006/relationships" id="355" r:id="R651cf27d58634778"/>
    <p:sldId xmlns:r="http://schemas.openxmlformats.org/officeDocument/2006/relationships" id="356" r:id="R387365da057b410c"/>
    <p:sldId xmlns:r="http://schemas.openxmlformats.org/officeDocument/2006/relationships" id="357" r:id="Rd7fa3f81aaa84672"/>
    <p:sldId xmlns:r="http://schemas.openxmlformats.org/officeDocument/2006/relationships" id="358" r:id="R54d9dfcc8e5949c5"/>
    <p:sldId xmlns:r="http://schemas.openxmlformats.org/officeDocument/2006/relationships" id="359" r:id="R51fce8a6d97443cb"/>
    <p:sldId xmlns:r="http://schemas.openxmlformats.org/officeDocument/2006/relationships" id="360" r:id="R3a1f59c667394433"/>
    <p:sldId xmlns:r="http://schemas.openxmlformats.org/officeDocument/2006/relationships" id="361" r:id="R9ddc563193b54a78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5d1d86380b694492"/><Relationship Type="http://schemas.openxmlformats.org/officeDocument/2006/relationships/slideMaster" Target="/ppt/slideMasters/slideMaster1.xml" Id="R86e5048809f84e4a"/><Relationship Type="http://schemas.openxmlformats.org/officeDocument/2006/relationships/presProps" Target="/ppt/presProps.xml" Id="R1e750392fca14b33"/><Relationship Type="http://schemas.openxmlformats.org/officeDocument/2006/relationships/tableStyles" Target="/ppt/tableStyles.xml" Id="R8c27833e78d84cb2"/><Relationship Type="http://schemas.openxmlformats.org/officeDocument/2006/relationships/slide" Target="/ppt/slides/slide1.xml" Id="R93f5b811395444d3"/><Relationship Type="http://schemas.openxmlformats.org/officeDocument/2006/relationships/slide" Target="/ppt/slides/slide2.xml" Id="Rcc73a021cce14c03"/><Relationship Type="http://schemas.openxmlformats.org/officeDocument/2006/relationships/slide" Target="/ppt/slides/slide3.xml" Id="R662711cef7cc4d89"/><Relationship Type="http://schemas.openxmlformats.org/officeDocument/2006/relationships/slide" Target="/ppt/slides/slide4.xml" Id="R3d84ca729f934003"/><Relationship Type="http://schemas.openxmlformats.org/officeDocument/2006/relationships/slide" Target="/ppt/slides/slide5.xml" Id="R583a160ccaba4d11"/><Relationship Type="http://schemas.openxmlformats.org/officeDocument/2006/relationships/slide" Target="/ppt/slides/slide6.xml" Id="R91d4acb68dd54b4a"/><Relationship Type="http://schemas.openxmlformats.org/officeDocument/2006/relationships/slide" Target="/ppt/slides/slide7.xml" Id="R6a1089d9f60e4148"/><Relationship Type="http://schemas.openxmlformats.org/officeDocument/2006/relationships/slide" Target="/ppt/slides/slide8.xml" Id="Ra153697a51d34cc7"/><Relationship Type="http://schemas.openxmlformats.org/officeDocument/2006/relationships/slide" Target="/ppt/slides/slide9.xml" Id="R787d041d30614ea6"/><Relationship Type="http://schemas.openxmlformats.org/officeDocument/2006/relationships/slide" Target="/ppt/slides/slide10.xml" Id="Rdc8b2c54f5cb4b58"/><Relationship Type="http://schemas.openxmlformats.org/officeDocument/2006/relationships/slide" Target="/ppt/slides/slide11.xml" Id="R553e2a22a1444af2"/><Relationship Type="http://schemas.openxmlformats.org/officeDocument/2006/relationships/slide" Target="/ppt/slides/slide12.xml" Id="R8fb4c0755e3047d2"/><Relationship Type="http://schemas.openxmlformats.org/officeDocument/2006/relationships/slide" Target="/ppt/slides/slide13.xml" Id="Ra6924302d2ba4be3"/><Relationship Type="http://schemas.openxmlformats.org/officeDocument/2006/relationships/slide" Target="/ppt/slides/slide14.xml" Id="R1f8a4db1f5194fa5"/><Relationship Type="http://schemas.openxmlformats.org/officeDocument/2006/relationships/slide" Target="/ppt/slides/slide15.xml" Id="Rab42a27e9ae1461a"/><Relationship Type="http://schemas.openxmlformats.org/officeDocument/2006/relationships/slide" Target="/ppt/slides/slide16.xml" Id="R104efa3ca3094b3b"/><Relationship Type="http://schemas.openxmlformats.org/officeDocument/2006/relationships/slide" Target="/ppt/slides/slide17.xml" Id="R8927fb618fdc4ce4"/><Relationship Type="http://schemas.openxmlformats.org/officeDocument/2006/relationships/slide" Target="/ppt/slides/slide18.xml" Id="Rfd0bdeabb9ff4ae3"/><Relationship Type="http://schemas.openxmlformats.org/officeDocument/2006/relationships/slide" Target="/ppt/slides/slide19.xml" Id="R09978576213e412b"/><Relationship Type="http://schemas.openxmlformats.org/officeDocument/2006/relationships/slide" Target="/ppt/slides/slide20.xml" Id="R413575ba69ba445b"/><Relationship Type="http://schemas.openxmlformats.org/officeDocument/2006/relationships/slide" Target="/ppt/slides/slide21.xml" Id="Re1c67809deb24d10"/><Relationship Type="http://schemas.openxmlformats.org/officeDocument/2006/relationships/slide" Target="/ppt/slides/slide22.xml" Id="Rfda3d2b3f4db49fd"/><Relationship Type="http://schemas.openxmlformats.org/officeDocument/2006/relationships/slide" Target="/ppt/slides/slide23.xml" Id="R60c4fef190e94e6b"/><Relationship Type="http://schemas.openxmlformats.org/officeDocument/2006/relationships/slide" Target="/ppt/slides/slide24.xml" Id="Rbd27920162af4b41"/><Relationship Type="http://schemas.openxmlformats.org/officeDocument/2006/relationships/slide" Target="/ppt/slides/slide25.xml" Id="R7f1956ecb5834fcc"/><Relationship Type="http://schemas.openxmlformats.org/officeDocument/2006/relationships/slide" Target="/ppt/slides/slide26.xml" Id="Rb8221a7e1dbb4ce0"/><Relationship Type="http://schemas.openxmlformats.org/officeDocument/2006/relationships/slide" Target="/ppt/slides/slide27.xml" Id="Re6704435b1bd4fac"/><Relationship Type="http://schemas.openxmlformats.org/officeDocument/2006/relationships/slide" Target="/ppt/slides/slide28.xml" Id="Rd007a646548845a1"/><Relationship Type="http://schemas.openxmlformats.org/officeDocument/2006/relationships/slide" Target="/ppt/slides/slide29.xml" Id="R2058f0ac487542ff"/><Relationship Type="http://schemas.openxmlformats.org/officeDocument/2006/relationships/slide" Target="/ppt/slides/slide30.xml" Id="R03f9bbd2bc8c4309"/><Relationship Type="http://schemas.openxmlformats.org/officeDocument/2006/relationships/slide" Target="/ppt/slides/slide31.xml" Id="Re2eb8cbd956d494e"/><Relationship Type="http://schemas.openxmlformats.org/officeDocument/2006/relationships/slide" Target="/ppt/slides/slide32.xml" Id="R3cf1c47153844122"/><Relationship Type="http://schemas.openxmlformats.org/officeDocument/2006/relationships/slide" Target="/ppt/slides/slide33.xml" Id="Ra2477e12e6b84425"/><Relationship Type="http://schemas.openxmlformats.org/officeDocument/2006/relationships/slide" Target="/ppt/slides/slide34.xml" Id="R66a020762480443e"/><Relationship Type="http://schemas.openxmlformats.org/officeDocument/2006/relationships/slide" Target="/ppt/slides/slide35.xml" Id="R5298d53a144d445e"/><Relationship Type="http://schemas.openxmlformats.org/officeDocument/2006/relationships/slide" Target="/ppt/slides/slide36.xml" Id="Rf94f2100e2414b1e"/><Relationship Type="http://schemas.openxmlformats.org/officeDocument/2006/relationships/slide" Target="/ppt/slides/slide37.xml" Id="R348be304e4964d97"/><Relationship Type="http://schemas.openxmlformats.org/officeDocument/2006/relationships/slide" Target="/ppt/slides/slide38.xml" Id="Rd45c493f57ea4040"/><Relationship Type="http://schemas.openxmlformats.org/officeDocument/2006/relationships/slide" Target="/ppt/slides/slide39.xml" Id="R7f45dc9ecb8a45c7"/><Relationship Type="http://schemas.openxmlformats.org/officeDocument/2006/relationships/slide" Target="/ppt/slides/slide40.xml" Id="Ref50eaa9ed024ab7"/><Relationship Type="http://schemas.openxmlformats.org/officeDocument/2006/relationships/slide" Target="/ppt/slides/slide41.xml" Id="Rf0d9f17f780b48b4"/><Relationship Type="http://schemas.openxmlformats.org/officeDocument/2006/relationships/slide" Target="/ppt/slides/slide42.xml" Id="Rcb03d6485d524e23"/><Relationship Type="http://schemas.openxmlformats.org/officeDocument/2006/relationships/slide" Target="/ppt/slides/slide43.xml" Id="R954faac000d840f1"/><Relationship Type="http://schemas.openxmlformats.org/officeDocument/2006/relationships/slide" Target="/ppt/slides/slide44.xml" Id="Rf3ea5f267ec7466d"/><Relationship Type="http://schemas.openxmlformats.org/officeDocument/2006/relationships/slide" Target="/ppt/slides/slide45.xml" Id="Rf7caebff53b84e14"/><Relationship Type="http://schemas.openxmlformats.org/officeDocument/2006/relationships/slide" Target="/ppt/slides/slide46.xml" Id="R501b93d0974d4db4"/><Relationship Type="http://schemas.openxmlformats.org/officeDocument/2006/relationships/slide" Target="/ppt/slides/slide47.xml" Id="R2558b7cdb509433b"/><Relationship Type="http://schemas.openxmlformats.org/officeDocument/2006/relationships/slide" Target="/ppt/slides/slide48.xml" Id="R85052b2d9cf44078"/><Relationship Type="http://schemas.openxmlformats.org/officeDocument/2006/relationships/slide" Target="/ppt/slides/slide49.xml" Id="R21464c2842284f5b"/><Relationship Type="http://schemas.openxmlformats.org/officeDocument/2006/relationships/slide" Target="/ppt/slides/slide50.xml" Id="R1c374f95b2614aea"/><Relationship Type="http://schemas.openxmlformats.org/officeDocument/2006/relationships/slide" Target="/ppt/slides/slide51.xml" Id="R42a4e31321d847b6"/><Relationship Type="http://schemas.openxmlformats.org/officeDocument/2006/relationships/slide" Target="/ppt/slides/slide52.xml" Id="Ree3ee655c10a4fde"/><Relationship Type="http://schemas.openxmlformats.org/officeDocument/2006/relationships/slide" Target="/ppt/slides/slide53.xml" Id="Rb6bf7de44d344928"/><Relationship Type="http://schemas.openxmlformats.org/officeDocument/2006/relationships/slide" Target="/ppt/slides/slide54.xml" Id="R55aaa1cbbc12452e"/><Relationship Type="http://schemas.openxmlformats.org/officeDocument/2006/relationships/slide" Target="/ppt/slides/slide55.xml" Id="Rbda9b630d892401f"/><Relationship Type="http://schemas.openxmlformats.org/officeDocument/2006/relationships/slide" Target="/ppt/slides/slide56.xml" Id="R511781e0b31143f5"/><Relationship Type="http://schemas.openxmlformats.org/officeDocument/2006/relationships/slide" Target="/ppt/slides/slide57.xml" Id="R12ba3a3c529b44dd"/><Relationship Type="http://schemas.openxmlformats.org/officeDocument/2006/relationships/slide" Target="/ppt/slides/slide58.xml" Id="Rd992c52fc717458c"/><Relationship Type="http://schemas.openxmlformats.org/officeDocument/2006/relationships/slide" Target="/ppt/slides/slide59.xml" Id="Rdd7fed92ca954893"/><Relationship Type="http://schemas.openxmlformats.org/officeDocument/2006/relationships/slide" Target="/ppt/slides/slide60.xml" Id="R6af064251d8f4f98"/><Relationship Type="http://schemas.openxmlformats.org/officeDocument/2006/relationships/slide" Target="/ppt/slides/slide61.xml" Id="R2e9d1722cf5c46c2"/><Relationship Type="http://schemas.openxmlformats.org/officeDocument/2006/relationships/slide" Target="/ppt/slides/slide62.xml" Id="Ra33e5aa9fbc14909"/><Relationship Type="http://schemas.openxmlformats.org/officeDocument/2006/relationships/slide" Target="/ppt/slides/slide63.xml" Id="Re955b0edebf34850"/><Relationship Type="http://schemas.openxmlformats.org/officeDocument/2006/relationships/slide" Target="/ppt/slides/slide64.xml" Id="Re94613bddd964725"/><Relationship Type="http://schemas.openxmlformats.org/officeDocument/2006/relationships/slide" Target="/ppt/slides/slide65.xml" Id="Rb4837cc65afe4313"/><Relationship Type="http://schemas.openxmlformats.org/officeDocument/2006/relationships/slide" Target="/ppt/slides/slide66.xml" Id="R8fd64be272704ea1"/><Relationship Type="http://schemas.openxmlformats.org/officeDocument/2006/relationships/slide" Target="/ppt/slides/slide67.xml" Id="Rbf76c03cdb2b4420"/><Relationship Type="http://schemas.openxmlformats.org/officeDocument/2006/relationships/slide" Target="/ppt/slides/slide68.xml" Id="Rbbabec8a0de64b26"/><Relationship Type="http://schemas.openxmlformats.org/officeDocument/2006/relationships/slide" Target="/ppt/slides/slide69.xml" Id="R2ce7f985852f4927"/><Relationship Type="http://schemas.openxmlformats.org/officeDocument/2006/relationships/slide" Target="/ppt/slides/slide70.xml" Id="R3d5d4d62cd994f46"/><Relationship Type="http://schemas.openxmlformats.org/officeDocument/2006/relationships/slide" Target="/ppt/slides/slide71.xml" Id="R9ca19b7f91724696"/><Relationship Type="http://schemas.openxmlformats.org/officeDocument/2006/relationships/slide" Target="/ppt/slides/slide72.xml" Id="Rfe48d782392a41df"/><Relationship Type="http://schemas.openxmlformats.org/officeDocument/2006/relationships/slide" Target="/ppt/slides/slide73.xml" Id="R44a793b1cccf4e6c"/><Relationship Type="http://schemas.openxmlformats.org/officeDocument/2006/relationships/slide" Target="/ppt/slides/slide74.xml" Id="R95ec294888e441bc"/><Relationship Type="http://schemas.openxmlformats.org/officeDocument/2006/relationships/slide" Target="/ppt/slides/slide75.xml" Id="R51b8f76a821242a0"/><Relationship Type="http://schemas.openxmlformats.org/officeDocument/2006/relationships/slide" Target="/ppt/slides/slide76.xml" Id="R3c9b7bc20a27483b"/><Relationship Type="http://schemas.openxmlformats.org/officeDocument/2006/relationships/slide" Target="/ppt/slides/slide77.xml" Id="Ra4988475c5e145cc"/><Relationship Type="http://schemas.openxmlformats.org/officeDocument/2006/relationships/slide" Target="/ppt/slides/slide78.xml" Id="Rebf5f92e994343b6"/><Relationship Type="http://schemas.openxmlformats.org/officeDocument/2006/relationships/slide" Target="/ppt/slides/slide79.xml" Id="R1d1dfd717ee84621"/><Relationship Type="http://schemas.openxmlformats.org/officeDocument/2006/relationships/slide" Target="/ppt/slides/slide80.xml" Id="Rd2ab7260b0e741ec"/><Relationship Type="http://schemas.openxmlformats.org/officeDocument/2006/relationships/slide" Target="/ppt/slides/slide81.xml" Id="Ra8edfb63f2ee4419"/><Relationship Type="http://schemas.openxmlformats.org/officeDocument/2006/relationships/slide" Target="/ppt/slides/slide82.xml" Id="R3d3b5b9ac8c24659"/><Relationship Type="http://schemas.openxmlformats.org/officeDocument/2006/relationships/slide" Target="/ppt/slides/slide83.xml" Id="R38f69f79f6b6460c"/><Relationship Type="http://schemas.openxmlformats.org/officeDocument/2006/relationships/slide" Target="/ppt/slides/slide84.xml" Id="R173b2407a17546d1"/><Relationship Type="http://schemas.openxmlformats.org/officeDocument/2006/relationships/slide" Target="/ppt/slides/slide85.xml" Id="R5b42b40e038b4955"/><Relationship Type="http://schemas.openxmlformats.org/officeDocument/2006/relationships/slide" Target="/ppt/slides/slide86.xml" Id="R9141eb5180004186"/><Relationship Type="http://schemas.openxmlformats.org/officeDocument/2006/relationships/slide" Target="/ppt/slides/slide87.xml" Id="Rb316800130ab4e4f"/><Relationship Type="http://schemas.openxmlformats.org/officeDocument/2006/relationships/slide" Target="/ppt/slides/slide88.xml" Id="R0c721b07021c4fdd"/><Relationship Type="http://schemas.openxmlformats.org/officeDocument/2006/relationships/slide" Target="/ppt/slides/slide89.xml" Id="R9ec11a9e27844078"/><Relationship Type="http://schemas.openxmlformats.org/officeDocument/2006/relationships/slide" Target="/ppt/slides/slide90.xml" Id="R72bce80665ca45e5"/><Relationship Type="http://schemas.openxmlformats.org/officeDocument/2006/relationships/slide" Target="/ppt/slides/slide91.xml" Id="R8acdda389540401f"/><Relationship Type="http://schemas.openxmlformats.org/officeDocument/2006/relationships/slide" Target="/ppt/slides/slide92.xml" Id="Rcd14e4f497c54806"/><Relationship Type="http://schemas.openxmlformats.org/officeDocument/2006/relationships/slide" Target="/ppt/slides/slide93.xml" Id="R104130524f10416e"/><Relationship Type="http://schemas.openxmlformats.org/officeDocument/2006/relationships/slide" Target="/ppt/slides/slide94.xml" Id="Rc511d7403ec4426c"/><Relationship Type="http://schemas.openxmlformats.org/officeDocument/2006/relationships/slide" Target="/ppt/slides/slide95.xml" Id="R59a0a93cc56c437c"/><Relationship Type="http://schemas.openxmlformats.org/officeDocument/2006/relationships/slide" Target="/ppt/slides/slide96.xml" Id="R10f49b01d6564675"/><Relationship Type="http://schemas.openxmlformats.org/officeDocument/2006/relationships/slide" Target="/ppt/slides/slide97.xml" Id="Rd974e76d202048bc"/><Relationship Type="http://schemas.openxmlformats.org/officeDocument/2006/relationships/slide" Target="/ppt/slides/slide98.xml" Id="Ra50b86452d2542eb"/><Relationship Type="http://schemas.openxmlformats.org/officeDocument/2006/relationships/slide" Target="/ppt/slides/slide99.xml" Id="R23628d9282f847e9"/><Relationship Type="http://schemas.openxmlformats.org/officeDocument/2006/relationships/slide" Target="/ppt/slides/slide100.xml" Id="R651cf27d58634778"/><Relationship Type="http://schemas.openxmlformats.org/officeDocument/2006/relationships/slide" Target="/ppt/slides/slide101.xml" Id="R387365da057b410c"/><Relationship Type="http://schemas.openxmlformats.org/officeDocument/2006/relationships/slide" Target="/ppt/slides/slide102.xml" Id="Rd7fa3f81aaa84672"/><Relationship Type="http://schemas.openxmlformats.org/officeDocument/2006/relationships/slide" Target="/ppt/slides/slide103.xml" Id="R54d9dfcc8e5949c5"/><Relationship Type="http://schemas.openxmlformats.org/officeDocument/2006/relationships/slide" Target="/ppt/slides/slide104.xml" Id="R51fce8a6d97443cb"/><Relationship Type="http://schemas.openxmlformats.org/officeDocument/2006/relationships/slide" Target="/ppt/slides/slide105.xml" Id="R3a1f59c667394433"/><Relationship Type="http://schemas.openxmlformats.org/officeDocument/2006/relationships/slide" Target="/ppt/slides/slide106.xml" Id="R9ddc563193b54a78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496902331ce4e1a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c06bc7b6dfb4094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c12b3098da924190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c9a49d8edaac4b99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e2eb6d4d988402d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d66de9222c34ec1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F3E082-5427-4667-9579-7C5ABA05F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08D7EB-31C9-4027-ACDC-DB62B7685D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CAA377-472D-49CB-A44A-3271384752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31C8D0-4A3B-4634-B63F-D2F5F7D82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E94741-F34B-4746-BE18-1859BC28C2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6F53FE-C273-4E77-B092-60F2F53928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7DC1B1-9D5C-43DC-99B3-9E303991D5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251580-AFA5-4951-B8A9-F8D6F0D2DE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AE0E37-4420-41BD-A64B-26CB2F3BD0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0EDE31-40F6-443C-861D-4DB8866446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f253ff32c4904f83"/><Relationship Type="http://schemas.openxmlformats.org/officeDocument/2006/relationships/slideLayout" Target="/ppt/slideLayouts/slideLayout1.xml" Id="Red9cee9d569344cb"/><Relationship Type="http://schemas.openxmlformats.org/officeDocument/2006/relationships/slideLayout" Target="/ppt/slideLayouts/slideLayout2.xml" Id="Rb188caa87ae64071"/><Relationship Type="http://schemas.openxmlformats.org/officeDocument/2006/relationships/slideLayout" Target="/ppt/slideLayouts/slideLayout3.xml" Id="Rcd96d19197174000"/><Relationship Type="http://schemas.openxmlformats.org/officeDocument/2006/relationships/slideLayout" Target="/ppt/slideLayouts/slideLayout4.xml" Id="Ra7788724b0374927"/><Relationship Type="http://schemas.openxmlformats.org/officeDocument/2006/relationships/slideLayout" Target="/ppt/slideLayouts/slideLayout5.xml" Id="Rb5345ecc8b144eb5"/><Relationship Type="http://schemas.openxmlformats.org/officeDocument/2006/relationships/slideLayout" Target="/ppt/slideLayouts/slideLayout6.xml" Id="R4816e00b059a4eeb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9cee9d569344cb"/>
    <p:sldLayoutId xmlns:r="http://schemas.openxmlformats.org/officeDocument/2006/relationships" id="2147483650" r:id="Rb188caa87ae64071"/>
    <p:sldLayoutId xmlns:r="http://schemas.openxmlformats.org/officeDocument/2006/relationships" id="2147483651" r:id="Rcd96d19197174000"/>
    <p:sldLayoutId xmlns:r="http://schemas.openxmlformats.org/officeDocument/2006/relationships" id="2147483652" r:id="Ra7788724b0374927"/>
    <p:sldLayoutId xmlns:r="http://schemas.openxmlformats.org/officeDocument/2006/relationships" id="2147483653" r:id="Rb5345ecc8b144eb5"/>
    <p:sldLayoutId xmlns:r="http://schemas.openxmlformats.org/officeDocument/2006/relationships" id="2147483654" r:id="R4816e00b059a4e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303261a744a43e6"/><Relationship Type="http://schemas.openxmlformats.org/officeDocument/2006/relationships/image" Target="/ppt/media/image.jpeg" Id="R864d82d5df974a64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c725f5cd6ed4f8f"/><Relationship Type="http://schemas.openxmlformats.org/officeDocument/2006/relationships/image" Target="/ppt/media/image2.jpeg" Id="R4e489f22500f4a16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14fbc9918104b5e"/><Relationship Type="http://schemas.openxmlformats.org/officeDocument/2006/relationships/image" Target="/ppt/media/image3.jpeg" Id="R7191bf93c0e2488f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9fadb69ff0247f0"/><Relationship Type="http://schemas.openxmlformats.org/officeDocument/2006/relationships/image" Target="/ppt/media/image4.jpeg" Id="R22f6f20ee08a40d8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b71bf75ef7e4eed"/><Relationship Type="http://schemas.openxmlformats.org/officeDocument/2006/relationships/image" Target="/ppt/media/image5.jpeg" Id="Rdc1243d6aa3e4b41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b0e187bcb584d79"/><Relationship Type="http://schemas.openxmlformats.org/officeDocument/2006/relationships/image" Target="/ppt/media/image6.jpeg" Id="R59c445f386b542cd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ed3edeb39404932"/><Relationship Type="http://schemas.openxmlformats.org/officeDocument/2006/relationships/image" Target="/ppt/media/image7.jpeg" Id="R3c3a67db25e3402c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f19d740833d43ed"/><Relationship Type="http://schemas.openxmlformats.org/officeDocument/2006/relationships/image" Target="/ppt/media/image8.jpeg" Id="R843434c794bf48a2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1bd612932d2402c"/><Relationship Type="http://schemas.openxmlformats.org/officeDocument/2006/relationships/image" Target="/ppt/media/image.png" Id="Rb590b97385304f3e"/><Relationship Type="http://schemas.openxmlformats.org/officeDocument/2006/relationships/image" Target="/ppt/media/image9.jpeg" Id="Rba3f248e44ab4542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d53f471a9c84ac9"/><Relationship Type="http://schemas.openxmlformats.org/officeDocument/2006/relationships/image" Target="/ppt/media/image10.jpeg" Id="R315ff1dc6d6f4157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71ab89b247e4d74"/><Relationship Type="http://schemas.openxmlformats.org/officeDocument/2006/relationships/image" Target="/ppt/media/image2.png" Id="Ra1e240dc27ae4c47"/><Relationship Type="http://schemas.openxmlformats.org/officeDocument/2006/relationships/image" Target="/ppt/media/image11.jpeg" Id="Re2490303d1694fd5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c9ebab48b924254"/><Relationship Type="http://schemas.openxmlformats.org/officeDocument/2006/relationships/image" Target="/ppt/media/image12.jpeg" Id="R81de1d2d9fe04854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7c6d75bcd7c46f8"/><Relationship Type="http://schemas.openxmlformats.org/officeDocument/2006/relationships/image" Target="/ppt/media/image13.jpeg" Id="Ra12061ac57d64f32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b07c3918240479d"/><Relationship Type="http://schemas.openxmlformats.org/officeDocument/2006/relationships/image" Target="/ppt/media/image3.png" Id="R747700186b4b4ec1"/><Relationship Type="http://schemas.openxmlformats.org/officeDocument/2006/relationships/image" Target="/ppt/media/image14.jpeg" Id="Rf76813c3e63848d2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e4297145ad34370"/><Relationship Type="http://schemas.openxmlformats.org/officeDocument/2006/relationships/image" Target="/ppt/media/image15.jpeg" Id="R1b330f1d19244967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49b890179d5489d"/><Relationship Type="http://schemas.openxmlformats.org/officeDocument/2006/relationships/image" Target="/ppt/media/image4.png" Id="Raa28d19d27654890"/><Relationship Type="http://schemas.openxmlformats.org/officeDocument/2006/relationships/image" Target="/ppt/media/image16.jpeg" Id="R7854c0e186904595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2d4a83a82fd416c"/><Relationship Type="http://schemas.openxmlformats.org/officeDocument/2006/relationships/image" Target="/ppt/media/image17.jpeg" Id="R41e3ec85645e483f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17e52fccb874740"/><Relationship Type="http://schemas.openxmlformats.org/officeDocument/2006/relationships/image" Target="/ppt/media/image18.jpeg" Id="R9555ec10d67e4b14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8dbbe2ff87140d0"/><Relationship Type="http://schemas.openxmlformats.org/officeDocument/2006/relationships/image" Target="/ppt/media/image5.png" Id="R9522d2ee42a849f1"/><Relationship Type="http://schemas.openxmlformats.org/officeDocument/2006/relationships/image" Target="/ppt/media/image19.jpeg" Id="R2827645b8d4d4c6a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2a160ca1f944fa"/><Relationship Type="http://schemas.openxmlformats.org/officeDocument/2006/relationships/image" Target="/ppt/media/image20.jpeg" Id="Re8466400577e4a9d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5f1691437604ae9"/><Relationship Type="http://schemas.openxmlformats.org/officeDocument/2006/relationships/image" Target="/ppt/media/image21.jpeg" Id="Re298b15776d342fd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4b236e3941c4860"/><Relationship Type="http://schemas.openxmlformats.org/officeDocument/2006/relationships/image" Target="/ppt/media/image6.png" Id="Rbd4214ce7c3c4d15"/><Relationship Type="http://schemas.openxmlformats.org/officeDocument/2006/relationships/image" Target="/ppt/media/image22.jpeg" Id="R392f4a1481b64ab7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44a68458f15400c"/><Relationship Type="http://schemas.openxmlformats.org/officeDocument/2006/relationships/image" Target="/ppt/media/image23.jpeg" Id="Rd77121b609be4141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449ea0e530d41a4"/><Relationship Type="http://schemas.openxmlformats.org/officeDocument/2006/relationships/image" Target="/ppt/media/image7.png" Id="R0a38413bf2d64aa5"/><Relationship Type="http://schemas.openxmlformats.org/officeDocument/2006/relationships/image" Target="/ppt/media/image24.jpeg" Id="R288dcae8bbb54754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7c52c9e89934c3a"/><Relationship Type="http://schemas.openxmlformats.org/officeDocument/2006/relationships/image" Target="/ppt/media/image25.jpeg" Id="R53a71e722da04721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b04df26c02d4e25"/><Relationship Type="http://schemas.openxmlformats.org/officeDocument/2006/relationships/image" Target="/ppt/media/image8.png" Id="Rb5fe6685f6844340"/><Relationship Type="http://schemas.openxmlformats.org/officeDocument/2006/relationships/image" Target="/ppt/media/image26.jpeg" Id="R993ec7d7ad2a4d01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79a5110dc02456b"/><Relationship Type="http://schemas.openxmlformats.org/officeDocument/2006/relationships/image" Target="/ppt/media/image27.jpeg" Id="R4b09d74d81034974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96634a084a6464d"/><Relationship Type="http://schemas.openxmlformats.org/officeDocument/2006/relationships/image" Target="/ppt/media/image28.jpeg" Id="Rdc840820e3f640b0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7676707d83b4eaf"/><Relationship Type="http://schemas.openxmlformats.org/officeDocument/2006/relationships/image" Target="/ppt/media/image9.png" Id="R36eb38c23784472f"/><Relationship Type="http://schemas.openxmlformats.org/officeDocument/2006/relationships/image" Target="/ppt/media/image29.jpeg" Id="Ra26d42867b524789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34d11df15714e4a"/><Relationship Type="http://schemas.openxmlformats.org/officeDocument/2006/relationships/image" Target="/ppt/media/image30.jpeg" Id="Re9c01da7fe984450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b2a437d86944210"/><Relationship Type="http://schemas.openxmlformats.org/officeDocument/2006/relationships/image" Target="/ppt/media/image31.jpeg" Id="Rb3170cb5547c4c1e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c74ae734c3d406b"/><Relationship Type="http://schemas.openxmlformats.org/officeDocument/2006/relationships/image" Target="/ppt/media/image32.jpeg" Id="R6bffcc1c339543f4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94e726314b3447d"/><Relationship Type="http://schemas.openxmlformats.org/officeDocument/2006/relationships/image" Target="/ppt/media/image33.jpeg" Id="R1ecf801410ee4832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4e3730c6bbf412c"/><Relationship Type="http://schemas.openxmlformats.org/officeDocument/2006/relationships/image" Target="/ppt/media/image34.jpeg" Id="R41dd4c3daf7a4b74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aa935e134b64cb3"/><Relationship Type="http://schemas.openxmlformats.org/officeDocument/2006/relationships/image" Target="/ppt/media/image10.png" Id="R4e897223aec449d4"/><Relationship Type="http://schemas.openxmlformats.org/officeDocument/2006/relationships/image" Target="/ppt/media/image35.jpeg" Id="Rdc82f385f11e4bc7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d7907a57fdd41ec"/><Relationship Type="http://schemas.openxmlformats.org/officeDocument/2006/relationships/image" Target="/ppt/media/image36.jpeg" Id="Rb9b55b4461a5487b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050a5c411204b94"/><Relationship Type="http://schemas.openxmlformats.org/officeDocument/2006/relationships/image" Target="/ppt/media/image37.jpeg" Id="R4a6a96a958324bbb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256cb62c9084ebf"/><Relationship Type="http://schemas.openxmlformats.org/officeDocument/2006/relationships/image" Target="/ppt/media/image38.jpeg" Id="R866b9d7fa5184f58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d1a65af4ba049ae"/><Relationship Type="http://schemas.openxmlformats.org/officeDocument/2006/relationships/image" Target="/ppt/media/image39.jpeg" Id="R0ad369f48cc1497b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51d365d99a445f3"/><Relationship Type="http://schemas.openxmlformats.org/officeDocument/2006/relationships/image" Target="/ppt/media/image40.jpeg" Id="R4db21f09fc28421a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0e0effceacb40d8"/><Relationship Type="http://schemas.openxmlformats.org/officeDocument/2006/relationships/image" Target="/ppt/media/image11.png" Id="R1e2dcc2c0cdc4568"/><Relationship Type="http://schemas.openxmlformats.org/officeDocument/2006/relationships/image" Target="/ppt/media/image12.png" Id="R2f4d06f0bd1f4e70"/><Relationship Type="http://schemas.openxmlformats.org/officeDocument/2006/relationships/image" Target="/ppt/media/image41.jpeg" Id="R94ec61c65f484694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452acf24eda4e24"/><Relationship Type="http://schemas.openxmlformats.org/officeDocument/2006/relationships/image" Target="/ppt/media/image42.jpeg" Id="R09ea03f0ad75402a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16c5549d5d94a19"/><Relationship Type="http://schemas.openxmlformats.org/officeDocument/2006/relationships/image" Target="/ppt/media/image43.jpeg" Id="Reabf5ca3c5d44c29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d87369287da4cda"/><Relationship Type="http://schemas.openxmlformats.org/officeDocument/2006/relationships/image" Target="/ppt/media/image13.png" Id="Rcdbc002ac03140c9"/><Relationship Type="http://schemas.openxmlformats.org/officeDocument/2006/relationships/image" Target="/ppt/media/image14.png" Id="R9e136f29d886477e"/><Relationship Type="http://schemas.openxmlformats.org/officeDocument/2006/relationships/image" Target="/ppt/media/image44.jpeg" Id="Rcd57afdd5b2d45b1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7624ce4e7174327"/><Relationship Type="http://schemas.openxmlformats.org/officeDocument/2006/relationships/image" Target="/ppt/media/image45.jpeg" Id="R5b2ef7701f7d43e4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d9a0a48a28642ed"/><Relationship Type="http://schemas.openxmlformats.org/officeDocument/2006/relationships/image" Target="/ppt/media/image46.jpeg" Id="Rbb4d95d9412f4137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61a531990c54b17"/><Relationship Type="http://schemas.openxmlformats.org/officeDocument/2006/relationships/image" Target="/ppt/media/image15.png" Id="Rc6c964040b974c2b"/><Relationship Type="http://schemas.openxmlformats.org/officeDocument/2006/relationships/image" Target="/ppt/media/image16.png" Id="Rd694e4941fbe4a1d"/><Relationship Type="http://schemas.openxmlformats.org/officeDocument/2006/relationships/image" Target="/ppt/media/image47.jpeg" Id="Rea295abfd12448c6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ba87bed98644910"/><Relationship Type="http://schemas.openxmlformats.org/officeDocument/2006/relationships/image" Target="/ppt/media/image48.jpeg" Id="R707b618d00f24bc1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64d77d4e2f74207"/><Relationship Type="http://schemas.openxmlformats.org/officeDocument/2006/relationships/image" Target="/ppt/media/image17.png" Id="R0956e62294564079"/><Relationship Type="http://schemas.openxmlformats.org/officeDocument/2006/relationships/image" Target="/ppt/media/image49.jpeg" Id="R7981b997811646b0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0447ae410d14d5a"/><Relationship Type="http://schemas.openxmlformats.org/officeDocument/2006/relationships/image" Target="/ppt/media/image50.jpeg" Id="Rbcc8558927e8460c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716f804a0ef4d61"/><Relationship Type="http://schemas.openxmlformats.org/officeDocument/2006/relationships/image" Target="/ppt/media/image51.jpeg" Id="Re5a507f346df4a49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1b322f97f9747ac"/><Relationship Type="http://schemas.openxmlformats.org/officeDocument/2006/relationships/image" Target="/ppt/media/image18.png" Id="Rd49ea2d7c6504143"/><Relationship Type="http://schemas.openxmlformats.org/officeDocument/2006/relationships/image" Target="/ppt/media/image52.jpeg" Id="Refd36a28749b45b1"/></Relationships>
</file>

<file path=ppt/slides/_rels/slide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6b0eab034104903"/><Relationship Type="http://schemas.openxmlformats.org/officeDocument/2006/relationships/image" Target="/ppt/media/image19.png" Id="Rcaf1578337c746ae"/><Relationship Type="http://schemas.openxmlformats.org/officeDocument/2006/relationships/image" Target="/ppt/media/image53.jpeg" Id="R4ad514d9d3a84861"/></Relationships>
</file>

<file path=ppt/slides/_rels/slide5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22fba151a840b6"/><Relationship Type="http://schemas.openxmlformats.org/officeDocument/2006/relationships/image" Target="/ppt/media/image54.jpeg" Id="R5f23e9c333174aa1"/></Relationships>
</file>

<file path=ppt/slides/_rels/slide5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b0ee1648c054d9d"/><Relationship Type="http://schemas.openxmlformats.org/officeDocument/2006/relationships/image" Target="/ppt/media/image20.png" Id="Rd4453b6c6d4244e1"/><Relationship Type="http://schemas.openxmlformats.org/officeDocument/2006/relationships/image" Target="/ppt/media/image55.jpeg" Id="R255bc507245f451c"/></Relationships>
</file>

<file path=ppt/slides/_rels/slide5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d93d7f7819149de"/><Relationship Type="http://schemas.openxmlformats.org/officeDocument/2006/relationships/image" Target="/ppt/media/image21.png" Id="R97ecd17855614637"/><Relationship Type="http://schemas.openxmlformats.org/officeDocument/2006/relationships/image" Target="/ppt/media/image56.jpeg" Id="R9daca160d32843a1"/></Relationships>
</file>

<file path=ppt/slides/_rels/slide5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4190df3712e4dfe"/><Relationship Type="http://schemas.openxmlformats.org/officeDocument/2006/relationships/image" Target="/ppt/media/image57.jpeg" Id="R642858964c2a4fcb"/></Relationships>
</file>

<file path=ppt/slides/_rels/slide5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c4651cd23c34680"/><Relationship Type="http://schemas.openxmlformats.org/officeDocument/2006/relationships/image" Target="/ppt/media/image22.png" Id="R05943cb8d2b1482b"/><Relationship Type="http://schemas.openxmlformats.org/officeDocument/2006/relationships/image" Target="/ppt/media/image58.jpeg" Id="R03c9976b72f34e61"/></Relationships>
</file>

<file path=ppt/slides/_rels/slide5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b2c1fa085f24af6"/><Relationship Type="http://schemas.openxmlformats.org/officeDocument/2006/relationships/image" Target="/ppt/media/image23.png" Id="R75203c5b46d04bc8"/><Relationship Type="http://schemas.openxmlformats.org/officeDocument/2006/relationships/image" Target="/ppt/media/image59.jpeg" Id="R734e790645734907"/></Relationships>
</file>

<file path=ppt/slides/_rels/slide6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42e7affc0a64aac"/><Relationship Type="http://schemas.openxmlformats.org/officeDocument/2006/relationships/image" Target="/ppt/media/image60.jpeg" Id="Radb6ddafba4e4b8a"/></Relationships>
</file>

<file path=ppt/slides/_rels/slide6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e40d856484e42db"/><Relationship Type="http://schemas.openxmlformats.org/officeDocument/2006/relationships/image" Target="/ppt/media/image24.png" Id="R525c66ff9c564faf"/><Relationship Type="http://schemas.openxmlformats.org/officeDocument/2006/relationships/image" Target="/ppt/media/image61.jpeg" Id="R3a36764146044df6"/></Relationships>
</file>

<file path=ppt/slides/_rels/slide6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259a7935e1b4ded"/><Relationship Type="http://schemas.openxmlformats.org/officeDocument/2006/relationships/image" Target="/ppt/media/image25.png" Id="Raf345a50af524885"/><Relationship Type="http://schemas.openxmlformats.org/officeDocument/2006/relationships/image" Target="/ppt/media/image62.jpeg" Id="Rd2d966d2540f4de3"/></Relationships>
</file>

<file path=ppt/slides/_rels/slide6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fa4fdf6f7a64fc1"/><Relationship Type="http://schemas.openxmlformats.org/officeDocument/2006/relationships/image" Target="/ppt/media/image63.jpeg" Id="Rfa657c5cb98d407a"/></Relationships>
</file>

<file path=ppt/slides/_rels/slide6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4ab59069e6b46c9"/><Relationship Type="http://schemas.openxmlformats.org/officeDocument/2006/relationships/image" Target="/ppt/media/image26.png" Id="R46761b9bedaf4a1a"/><Relationship Type="http://schemas.openxmlformats.org/officeDocument/2006/relationships/image" Target="/ppt/media/image64.jpeg" Id="Rda8c4119a1d24715"/></Relationships>
</file>

<file path=ppt/slides/_rels/slide6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d7919faca04483f"/><Relationship Type="http://schemas.openxmlformats.org/officeDocument/2006/relationships/image" Target="/ppt/media/image27.png" Id="R66637f10eaef4d46"/><Relationship Type="http://schemas.openxmlformats.org/officeDocument/2006/relationships/image" Target="/ppt/media/image65.jpeg" Id="Rea30be471e444f89"/></Relationships>
</file>

<file path=ppt/slides/_rels/slide6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bb6bd0e4a8e4bc7"/><Relationship Type="http://schemas.openxmlformats.org/officeDocument/2006/relationships/image" Target="/ppt/media/image66.jpeg" Id="Rfee01c3df2be47b6"/></Relationships>
</file>

<file path=ppt/slides/_rels/slide6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57f9d22c82e4488"/><Relationship Type="http://schemas.openxmlformats.org/officeDocument/2006/relationships/image" Target="/ppt/media/image28.png" Id="Rb5c6f621ca094857"/><Relationship Type="http://schemas.openxmlformats.org/officeDocument/2006/relationships/image" Target="/ppt/media/image29.png" Id="R0d1f9b35a2384324"/><Relationship Type="http://schemas.openxmlformats.org/officeDocument/2006/relationships/image" Target="/ppt/media/image67.jpeg" Id="R3d7dd35843f14a8b"/></Relationships>
</file>

<file path=ppt/slides/_rels/slide6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0edbb61c6584c81"/><Relationship Type="http://schemas.openxmlformats.org/officeDocument/2006/relationships/image" Target="/ppt/media/image68.jpeg" Id="Rc32e8267d9954c7e"/></Relationships>
</file>

<file path=ppt/slides/_rels/slide6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c60f636634f4660"/><Relationship Type="http://schemas.openxmlformats.org/officeDocument/2006/relationships/image" Target="/ppt/media/image69.jpeg" Id="R6f198b95d1364b01"/></Relationships>
</file>

<file path=ppt/slides/_rels/slide7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37b64d0f2e343ce"/><Relationship Type="http://schemas.openxmlformats.org/officeDocument/2006/relationships/image" Target="/ppt/media/image70.jpeg" Id="R065bad3437cd4970"/></Relationships>
</file>

<file path=ppt/slides/_rels/slide7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7ab1074ba5d4752"/><Relationship Type="http://schemas.openxmlformats.org/officeDocument/2006/relationships/image" Target="/ppt/media/image71.jpeg" Id="R6dfbc34944cc49cb"/></Relationships>
</file>

<file path=ppt/slides/_rels/slide7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e11df62339a410c"/><Relationship Type="http://schemas.openxmlformats.org/officeDocument/2006/relationships/image" Target="/ppt/media/image72.jpeg" Id="R60f0512fa52e4e54"/></Relationships>
</file>

<file path=ppt/slides/_rels/slide7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a1f8a187b5a4c22"/><Relationship Type="http://schemas.openxmlformats.org/officeDocument/2006/relationships/image" Target="/ppt/media/image73.jpeg" Id="Rcf6f251161944511"/></Relationships>
</file>

<file path=ppt/slides/_rels/slide7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8d8c820243545b6"/><Relationship Type="http://schemas.openxmlformats.org/officeDocument/2006/relationships/image" Target="/ppt/media/image74.jpeg" Id="Rc8dc89d08df041a1"/></Relationships>
</file>

<file path=ppt/slides/_rels/slide7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86f44914e56421b"/><Relationship Type="http://schemas.openxmlformats.org/officeDocument/2006/relationships/image" Target="/ppt/media/image75.jpeg" Id="Rb5568992523147f6"/></Relationships>
</file>

<file path=ppt/slides/_rels/slide7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9afed18fbf48ff"/><Relationship Type="http://schemas.openxmlformats.org/officeDocument/2006/relationships/image" Target="/ppt/media/image76.jpeg" Id="Rd8f5e1e9b6774173"/></Relationships>
</file>

<file path=ppt/slides/_rels/slide7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5be98cff9504c82"/><Relationship Type="http://schemas.openxmlformats.org/officeDocument/2006/relationships/image" Target="/ppt/media/image77.jpeg" Id="R18f28e476358492b"/></Relationships>
</file>

<file path=ppt/slides/_rels/slide7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0af59056e614e78"/><Relationship Type="http://schemas.openxmlformats.org/officeDocument/2006/relationships/image" Target="/ppt/media/image78.jpeg" Id="R5cd3b987713b4302"/></Relationships>
</file>

<file path=ppt/slides/_rels/slide7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04fdeaa548a4f81"/><Relationship Type="http://schemas.openxmlformats.org/officeDocument/2006/relationships/image" Target="/ppt/media/image79.jpeg" Id="Re7e91b9152f445f2"/></Relationships>
</file>

<file path=ppt/slides/_rels/slide8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20a375f9bd3415f"/><Relationship Type="http://schemas.openxmlformats.org/officeDocument/2006/relationships/image" Target="/ppt/media/image80.jpeg" Id="R8b396385666848a5"/></Relationships>
</file>

<file path=ppt/slides/_rels/slide8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1749d24a6564a20"/><Relationship Type="http://schemas.openxmlformats.org/officeDocument/2006/relationships/image" Target="/ppt/media/image81.jpeg" Id="R69eae6c679444bf4"/></Relationships>
</file>

<file path=ppt/slides/_rels/slide8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5bb51b84e404a2f"/><Relationship Type="http://schemas.openxmlformats.org/officeDocument/2006/relationships/image" Target="/ppt/media/image82.jpeg" Id="Ree801c9dd23f44a2"/></Relationships>
</file>

<file path=ppt/slides/_rels/slide8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3afbc5691a942f6"/><Relationship Type="http://schemas.openxmlformats.org/officeDocument/2006/relationships/image" Target="/ppt/media/image83.jpeg" Id="Rfb69b525b1014159"/></Relationships>
</file>

<file path=ppt/slides/_rels/slide8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ef40a0257d64fac"/><Relationship Type="http://schemas.openxmlformats.org/officeDocument/2006/relationships/image" Target="/ppt/media/image84.jpeg" Id="R9faa2006acaa4c5e"/></Relationships>
</file>

<file path=ppt/slides/_rels/slide8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8fd86aeee8d4929"/><Relationship Type="http://schemas.openxmlformats.org/officeDocument/2006/relationships/image" Target="/ppt/media/image85.jpeg" Id="R1e06f9a7c37d4051"/></Relationships>
</file>

<file path=ppt/slides/_rels/slide8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fe5b6ddd514e6d"/><Relationship Type="http://schemas.openxmlformats.org/officeDocument/2006/relationships/image" Target="/ppt/media/image86.jpeg" Id="Rc9ce771992224695"/></Relationships>
</file>

<file path=ppt/slides/_rels/slide8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2bc1fa316a3491d"/><Relationship Type="http://schemas.openxmlformats.org/officeDocument/2006/relationships/image" Target="/ppt/media/image87.jpeg" Id="R31f209241f45403b"/></Relationships>
</file>

<file path=ppt/slides/_rels/slide8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f1d4a28aec04113"/><Relationship Type="http://schemas.openxmlformats.org/officeDocument/2006/relationships/image" Target="/ppt/media/image88.jpeg" Id="R1742ded6b9d44af2"/></Relationships>
</file>

<file path=ppt/slides/_rels/slide8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827b772dab3482d"/><Relationship Type="http://schemas.openxmlformats.org/officeDocument/2006/relationships/image" Target="/ppt/media/image89.jpeg" Id="R1edfd9a58ae241f5"/></Relationships>
</file>

<file path=ppt/slides/_rels/slide9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d203255d2994b32"/><Relationship Type="http://schemas.openxmlformats.org/officeDocument/2006/relationships/image" Target="/ppt/media/image90.jpeg" Id="R0b4d24a35e724686"/></Relationships>
</file>

<file path=ppt/slides/_rels/slide9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59d01b275214016"/><Relationship Type="http://schemas.openxmlformats.org/officeDocument/2006/relationships/image" Target="/ppt/media/image91.jpeg" Id="Rd432234c27834335"/></Relationships>
</file>

<file path=ppt/slides/_rels/slide9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3816838edf74874"/><Relationship Type="http://schemas.openxmlformats.org/officeDocument/2006/relationships/image" Target="/ppt/media/image92.jpeg" Id="R54c02ae78f9745a5"/></Relationships>
</file>

<file path=ppt/slides/_rels/slide9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825b3c694bb4640"/><Relationship Type="http://schemas.openxmlformats.org/officeDocument/2006/relationships/image" Target="/ppt/media/image93.jpeg" Id="R82560f6d13944d13"/></Relationships>
</file>

<file path=ppt/slides/_rels/slide9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66898486e1646c1"/><Relationship Type="http://schemas.openxmlformats.org/officeDocument/2006/relationships/image" Target="/ppt/media/image94.jpeg" Id="R27996849c2b14bbe"/></Relationships>
</file>

<file path=ppt/slides/_rels/slide9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aec332c434a4990"/><Relationship Type="http://schemas.openxmlformats.org/officeDocument/2006/relationships/image" Target="/ppt/media/image95.jpeg" Id="R31cf93ba459745c0"/></Relationships>
</file>

<file path=ppt/slides/_rels/slide9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5ea58741d2e406d"/><Relationship Type="http://schemas.openxmlformats.org/officeDocument/2006/relationships/image" Target="/ppt/media/image96.jpeg" Id="Re0e6a826f3554f14"/></Relationships>
</file>

<file path=ppt/slides/_rels/slide9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ee39435fde5407c"/><Relationship Type="http://schemas.openxmlformats.org/officeDocument/2006/relationships/image" Target="/ppt/media/image97.jpeg" Id="Rd2e18a287fec41fb"/></Relationships>
</file>

<file path=ppt/slides/_rels/slide9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a66ebccd865437f"/><Relationship Type="http://schemas.openxmlformats.org/officeDocument/2006/relationships/image" Target="/ppt/media/image98.jpeg" Id="R9762c2348b1f4eb6"/></Relationships>
</file>

<file path=ppt/slides/_rels/slide9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455a954a7244cb6"/><Relationship Type="http://schemas.openxmlformats.org/officeDocument/2006/relationships/image" Target="/ppt/media/image99.jpeg" Id="Rc89699eb6b5044fa"/></Relationships>
</file>

<file path=ppt/slides/_rels/slide10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35e188d1f17498e"/><Relationship Type="http://schemas.openxmlformats.org/officeDocument/2006/relationships/image" Target="/ppt/media/image100.jpeg" Id="R5667e2c82f37452c"/></Relationships>
</file>

<file path=ppt/slides/_rels/slide10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2ff6f7df80c48a4"/><Relationship Type="http://schemas.openxmlformats.org/officeDocument/2006/relationships/image" Target="/ppt/media/image101.jpeg" Id="Re719d8adc70e4fe8"/></Relationships>
</file>

<file path=ppt/slides/_rels/slide10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bd9945bb6b14601"/><Relationship Type="http://schemas.openxmlformats.org/officeDocument/2006/relationships/image" Target="/ppt/media/image102.jpeg" Id="R5e42dab1b2354ff2"/></Relationships>
</file>

<file path=ppt/slides/_rels/slide10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76b9414f7eb4ce0"/><Relationship Type="http://schemas.openxmlformats.org/officeDocument/2006/relationships/image" Target="/ppt/media/image103.jpeg" Id="R3a3852fb1f6a427d"/></Relationships>
</file>

<file path=ppt/slides/_rels/slide10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3c1358216f24837"/><Relationship Type="http://schemas.openxmlformats.org/officeDocument/2006/relationships/image" Target="/ppt/media/image104.jpeg" Id="R25c801e41f274c3c"/></Relationships>
</file>

<file path=ppt/slides/_rels/slide10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b75bcbd6c4c4972"/><Relationship Type="http://schemas.openxmlformats.org/officeDocument/2006/relationships/image" Target="/ppt/media/image105.jpeg" Id="R205d7375858c42ca"/></Relationships>
</file>

<file path=ppt/slides/_rels/slide10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07367d30262454e"/><Relationship Type="http://schemas.openxmlformats.org/officeDocument/2006/relationships/image" Target="/ppt/media/image106.jpeg" Id="Rb2f67fe37f2d4d13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0C8A0C98-BE5E-4C57-8333-FB0E9D3A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822960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Elens grunder och elsäkerhet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2688C8DE-0011-4548-B5F1-B7687424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 1 · Fristående veckopaket · Svensk version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1BA8DF63-3DCA-449C-B162-81489E1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Följ en sluten likströmskrets, skilj spänning från ström, räkna med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EF93AD1C-8800-4073-8167-4F68F556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Ohms lag och motivera ett säkert beslut i ett givet fall.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E3C5F215-3421-4A66-A3BC-136C1AC6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9942C-8144-4658-B97C-64BBA3FCDB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d82d5df974a64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C0E2D9-9B5B-4AAF-ADDB-7422E4E2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</a:t>
            </a:r>
          </a:p>
        </p:txBody>
      </p:sp>
    </p:spTree>
    <p:extLst>
      <p:ext uri="{BB962C8B-B14F-4D97-AF65-F5344CB8AC3E}">
        <p14:creationId xmlns:p14="http://schemas.microsoft.com/office/powerpoint/2010/main" val="103558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5540C99-ADA5-4B60-A78D-8ED08803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Veckans arbete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B327288-75AA-4741-A2D9-2D8924D5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Varje modul är ett fristående veckopaket med ett föreslaget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9862B214-6D26-448D-AB2F-19D4AB10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arbetsomfång på 20 timmar. Det är en pedagogisk arbetsbudget, inte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19A2E788-CE44-4D6F-B5D3-B1AC651D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fastställt timtal eller elva obligatoriska kalenderveckor. Lärarens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E3062728-E7BA-4E35-964C-BC12B911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tidsplan i kugghjulsmenyn styr faktisk fördelning; alla delar finns även</a:t>
            </a:r>
          </a:p>
        </p:txBody>
      </p:sp>
      <p:sp>
        <p:nvSpPr>
          <p:cNvPr id="6" name="body-0-4">
            <a:extLst xmlns:a="http://schemas.openxmlformats.org/drawingml/2006/main">
              <a:ext uri="{FF2B5EF4-FFF2-40B4-BE49-F238E27FC236}">
                <a16:creationId xmlns:a16="http://schemas.microsoft.com/office/drawing/2014/main" id="{D2123A53-BD4B-4621-97DA-412BF6FA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utan schema.</a:t>
            </a:r>
          </a:p>
        </p:txBody>
      </p:sp>
      <p:sp>
        <p:nvSpPr>
          <p:cNvPr id="7" name="body-1-0">
            <a:extLst xmlns:a="http://schemas.openxmlformats.org/drawingml/2006/main">
              <a:ext uri="{FF2B5EF4-FFF2-40B4-BE49-F238E27FC236}">
                <a16:creationId xmlns:a16="http://schemas.microsoft.com/office/drawing/2014/main" id="{A01C3681-7405-40CB-A877-BEF45851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Teori och begrepp · 4 h. Läs kärnteorin och förkunskapsrepetitionen.</a:t>
            </a:r>
          </a:p>
        </p:txBody>
      </p:sp>
      <p:sp>
        <p:nvSpPr>
          <p:cNvPr id="8" name="body-1-1">
            <a:extLst xmlns:a="http://schemas.openxmlformats.org/drawingml/2006/main">
              <a:ext uri="{FF2B5EF4-FFF2-40B4-BE49-F238E27FC236}">
                <a16:creationId xmlns:a16="http://schemas.microsoft.com/office/drawing/2014/main" id="{66C6B85A-7B3C-466C-9DBA-2951839B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Skriv egna definitioner och rita kapitlets principbild.</a:t>
            </a:r>
          </a:p>
        </p:txBody>
      </p:sp>
      <p:sp>
        <p:nvSpPr>
          <p:cNvPr id="9" name="body-2-0">
            <a:extLst xmlns:a="http://schemas.openxmlformats.org/drawingml/2006/main">
              <a:ext uri="{FF2B5EF4-FFF2-40B4-BE49-F238E27FC236}">
                <a16:creationId xmlns:a16="http://schemas.microsoft.com/office/drawing/2014/main" id="{7A643832-8138-4B44-829B-98B25DB0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Räkneexempel och egen träning · 4 h. Lös exemplen utan facit,</a:t>
            </a:r>
          </a:p>
        </p:txBody>
      </p:sp>
      <p:sp>
        <p:nvSpPr>
          <p:cNvPr id="10" name="body-2-1">
            <a:extLst xmlns:a="http://schemas.openxmlformats.org/drawingml/2006/main">
              <a:ext uri="{FF2B5EF4-FFF2-40B4-BE49-F238E27FC236}">
                <a16:creationId xmlns:a16="http://schemas.microsoft.com/office/drawing/2014/main" id="{C24D7F38-2552-4AD4-B29E-37A05E34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kontrollera metod och enhet, och gör de självrättande frågorna.</a:t>
            </a:r>
          </a:p>
        </p:txBody>
      </p:sp>
      <p:sp>
        <p:nvSpPr>
          <p:cNvPr id="11" name="body-3-0">
            <a:extLst xmlns:a="http://schemas.openxmlformats.org/drawingml/2006/main">
              <a:ext uri="{FF2B5EF4-FFF2-40B4-BE49-F238E27FC236}">
                <a16:creationId xmlns:a16="http://schemas.microsoft.com/office/drawing/2014/main" id="{FF3D45D2-127F-472A-BCA5-A1200DE8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Simulering och felvariation · 4 h. Följ veckans protokoll. Förutsäg före</a:t>
            </a:r>
          </a:p>
        </p:txBody>
      </p:sp>
      <p:sp>
        <p:nvSpPr>
          <p:cNvPr id="12" name="body-3-1">
            <a:extLst xmlns:a="http://schemas.openxmlformats.org/drawingml/2006/main">
              <a:ext uri="{FF2B5EF4-FFF2-40B4-BE49-F238E27FC236}">
                <a16:creationId xmlns:a16="http://schemas.microsoft.com/office/drawing/2014/main" id="{169471CF-EF39-46EB-8D23-6AC05F59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varje körning och jämför minst tre tillstånd.</a:t>
            </a:r>
          </a:p>
        </p:txBody>
      </p:sp>
      <p:sp>
        <p:nvSpPr>
          <p:cNvPr id="13" name="body-4-0">
            <a:extLst xmlns:a="http://schemas.openxmlformats.org/drawingml/2006/main">
              <a:ext uri="{FF2B5EF4-FFF2-40B4-BE49-F238E27FC236}">
                <a16:creationId xmlns:a16="http://schemas.microsoft.com/office/drawing/2014/main" id="{8EB1F5E9-4A40-425E-9140-6D70C8FD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Veckofall och redovisning · 6 h. Bearbeta fallet, gör en jämförelse med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7EAD3-F72E-40C3-8F3A-FB924F3DE5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89f22500f4a16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C95BA2-9715-4E6C-8CBF-8603D55A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2</a:t>
            </a:r>
          </a:p>
        </p:txBody>
      </p:sp>
    </p:spTree>
    <p:extLst>
      <p:ext uri="{BB962C8B-B14F-4D97-AF65-F5344CB8AC3E}">
        <p14:creationId xmlns:p14="http://schemas.microsoft.com/office/powerpoint/2010/main" val="18176472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0BE6D6B8-65CC-40AF-976E-4AA2EC8D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Veckans arbete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C9EE2D5A-5756-42A8-AA8A-62B1116B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ändrade villkor och skriv ett sammanhängande underlag.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9A4A5515-C573-4936-B622-70E9C971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Återkoppling och riktad repetition · 2 h. Använd felaktiga svar för att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C900D04B-0452-415D-B38C-D70CA1B5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välja exakt teoriavsnitt. Gör nya försök och förbättra slutsatsen.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9EF3E-210D-4C88-B685-3956AE92B6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1bf93c0e2488f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5DFA71-93A5-4E19-8159-BA140E0E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3</a:t>
            </a:r>
          </a:p>
        </p:txBody>
      </p:sp>
    </p:spTree>
    <p:extLst>
      <p:ext uri="{BB962C8B-B14F-4D97-AF65-F5344CB8AC3E}">
        <p14:creationId xmlns:p14="http://schemas.microsoft.com/office/powerpoint/2010/main" val="1465544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49888F0-2631-4701-B966-16C02864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Kursplan och bedömning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BE13E7D1-EDB5-4A20-B5C0-65F2970B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Styrande källa är kursplanen Elteknik och ellära, 45 YHP, beslutad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49B17A11-C871-49F0-9B35-AFC77F68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2026-08-20. Undervisningsspråk är svenska. Mål 1–5 kontrolleras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8FB5D8F1-7904-49F5-A7B2-A6D016F1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genom skriftlig tentamen och mål 6–9 genom praktiska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D1EC8F57-4D3A-41E8-A183-DB94FC62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laborationsövningar. Kursläraren har valt simuleringar för all</a:t>
            </a:r>
          </a:p>
        </p:txBody>
      </p:sp>
      <p:sp>
        <p:nvSpPr>
          <p:cNvPr id="6" name="body-0-4">
            <a:extLst xmlns:a="http://schemas.openxmlformats.org/drawingml/2006/main">
              <a:ext uri="{FF2B5EF4-FFF2-40B4-BE49-F238E27FC236}">
                <a16:creationId xmlns:a16="http://schemas.microsoft.com/office/drawing/2014/main" id="{FDA80E34-0251-4AB0-BB91-9672BE90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undervisning. Kursplanens krav på praktiska laborationsövningar</a:t>
            </a:r>
          </a:p>
        </p:txBody>
      </p:sp>
      <p:sp>
        <p:nvSpPr>
          <p:cNvPr id="7" name="body-0-5">
            <a:extLst xmlns:a="http://schemas.openxmlformats.org/drawingml/2006/main">
              <a:ext uri="{FF2B5EF4-FFF2-40B4-BE49-F238E27FC236}">
                <a16:creationId xmlns:a16="http://schemas.microsoft.com/office/drawing/2014/main" id="{922C03C5-5B85-4D3F-B010-D039F0D8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markeras vid berörda mål, moduler och simulatorer.</a:t>
            </a:r>
          </a:p>
        </p:txBody>
      </p:sp>
      <p:sp>
        <p:nvSpPr>
          <p:cNvPr id="8" name="body-1-0">
            <a:extLst xmlns:a="http://schemas.openxmlformats.org/drawingml/2006/main">
              <a:ext uri="{FF2B5EF4-FFF2-40B4-BE49-F238E27FC236}">
                <a16:creationId xmlns:a16="http://schemas.microsoft.com/office/drawing/2014/main" id="{D1AC3A05-FD55-471D-9392-EE45E18B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LM-1: beskriva vanligt förekommande elektriska komponenter,</a:t>
            </a:r>
          </a:p>
        </p:txBody>
      </p:sp>
      <p:sp>
        <p:nvSpPr>
          <p:cNvPr id="9" name="body-1-1">
            <a:extLst xmlns:a="http://schemas.openxmlformats.org/drawingml/2006/main">
              <a:ext uri="{FF2B5EF4-FFF2-40B4-BE49-F238E27FC236}">
                <a16:creationId xmlns:a16="http://schemas.microsoft.com/office/drawing/2014/main" id="{FEF0EEB1-0C25-4054-B112-C0CB2D9A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skyddsutrustning och mätinstrument.</a:t>
            </a:r>
          </a:p>
        </p:txBody>
      </p:sp>
      <p:sp>
        <p:nvSpPr>
          <p:cNvPr id="10" name="body-2-0">
            <a:extLst xmlns:a="http://schemas.openxmlformats.org/drawingml/2006/main">
              <a:ext uri="{FF2B5EF4-FFF2-40B4-BE49-F238E27FC236}">
                <a16:creationId xmlns:a16="http://schemas.microsoft.com/office/drawing/2014/main" id="{78AD5129-1C65-4996-9ADB-F20A7B66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LM-2: redogöra för grundläggande elsäkerhet, risker vid arbete med</a:t>
            </a:r>
          </a:p>
        </p:txBody>
      </p:sp>
      <p:sp>
        <p:nvSpPr>
          <p:cNvPr id="11" name="body-2-1">
            <a:extLst xmlns:a="http://schemas.openxmlformats.org/drawingml/2006/main">
              <a:ext uri="{FF2B5EF4-FFF2-40B4-BE49-F238E27FC236}">
                <a16:creationId xmlns:a16="http://schemas.microsoft.com/office/drawing/2014/main" id="{BF0D2BCE-F673-402B-9A13-CEF05FCD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elektriska system samt hur skyddsutrustning och säkra arbetsrutiner</a:t>
            </a:r>
          </a:p>
        </p:txBody>
      </p:sp>
      <p:sp>
        <p:nvSpPr>
          <p:cNvPr id="12" name="body-2-2">
            <a:extLst xmlns:a="http://schemas.openxmlformats.org/drawingml/2006/main">
              <a:ext uri="{FF2B5EF4-FFF2-40B4-BE49-F238E27FC236}">
                <a16:creationId xmlns:a16="http://schemas.microsoft.com/office/drawing/2014/main" id="{C9D4DDF2-0C38-4FE9-9050-0CC3B2C8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används i låg- och högspänningssystem.</a:t>
            </a:r>
          </a:p>
        </p:txBody>
      </p:sp>
      <p:sp>
        <p:nvSpPr>
          <p:cNvPr id="13" name="body-3-0">
            <a:extLst xmlns:a="http://schemas.openxmlformats.org/drawingml/2006/main">
              <a:ext uri="{FF2B5EF4-FFF2-40B4-BE49-F238E27FC236}">
                <a16:creationId xmlns:a16="http://schemas.microsoft.com/office/drawing/2014/main" id="{AE68EE62-4CFF-47B8-A101-312C68A7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LM-6: tillämpa grundläggande elsäkerhetsrutiner vid mätning, kontroll</a:t>
            </a:r>
          </a:p>
        </p:txBody>
      </p:sp>
      <p:sp>
        <p:nvSpPr>
          <p:cNvPr id="14" name="body-3-1">
            <a:extLst xmlns:a="http://schemas.openxmlformats.org/drawingml/2006/main">
              <a:ext uri="{FF2B5EF4-FFF2-40B4-BE49-F238E27FC236}">
                <a16:creationId xmlns:a16="http://schemas.microsoft.com/office/drawing/2014/main" id="{D79C41AD-401E-4D31-A8D3-BC2010D9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felsökning av elektriska system.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E5B7F-D62C-4F31-B1B4-72CA853C4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6f20ee08a40d8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608AB2-879F-4D26-9E3C-589619B9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4</a:t>
            </a:r>
          </a:p>
        </p:txBody>
      </p:sp>
    </p:spTree>
    <p:extLst>
      <p:ext uri="{BB962C8B-B14F-4D97-AF65-F5344CB8AC3E}">
        <p14:creationId xmlns:p14="http://schemas.microsoft.com/office/powerpoint/2010/main" val="1318712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d module relationship frame">
            <a:extLst xmlns:a="http://schemas.openxmlformats.org/drawingml/2006/main">
              <a:ext uri="{FF2B5EF4-FFF2-40B4-BE49-F238E27FC236}">
                <a16:creationId xmlns:a16="http://schemas.microsoft.com/office/drawing/2014/main" id="{9BCCCFAB-B85D-49AB-B3BF-5EBA50F1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96300" cy="573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11B1B"/>
            </a:solidFill>
            <a:prstDash val="solid"/>
          </a:ln>
        </p:spPr>
      </p:sp>
      <p:sp>
        <p:nvSpPr>
          <p:cNvPr id="2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DB72B70-139B-41AA-B6BE-8B5B6D12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11B1B"/>
                </a:solidFill>
                <a:latin typeface="DejaVu Sans"/>
                <a:ea typeface="DejaVu Sans"/>
                <a:cs typeface="DejaVu Sans"/>
              </a:rPr>
              <a:t>Samband med andra moduler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496A9CDF-3D64-43AE-8F11-CEA8BEE5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rPr>
              <a:t>Modul 2 · Effekt, Kirchhoff och multimeter. Samma strömväg används</a:t>
            </a:r>
          </a:p>
        </p:txBody>
      </p:sp>
      <p:sp>
        <p:nvSpPr>
          <p:cNvPr id="4" name="body-0-1">
            <a:extLst xmlns:a="http://schemas.openxmlformats.org/drawingml/2006/main">
              <a:ext uri="{FF2B5EF4-FFF2-40B4-BE49-F238E27FC236}">
                <a16:creationId xmlns:a16="http://schemas.microsoft.com/office/drawing/2014/main" id="{FFA818E4-8A02-4EA3-B01B-4468DD9C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rPr>
              <a:t>när du senare följer förgreningar, effekt och mätaranslutning.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44F4F42C-FBC4-4519-BACA-DE1DAD04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rPr>
              <a:t>Modul 3 · Frånskiljning och mätteknik. Säker mätning kräver också</a:t>
            </a:r>
          </a:p>
        </p:txBody>
      </p:sp>
      <p:sp>
        <p:nvSpPr>
          <p:cNvPr id="6" name="body-1-1">
            <a:extLst xmlns:a="http://schemas.openxmlformats.org/drawingml/2006/main">
              <a:ext uri="{FF2B5EF4-FFF2-40B4-BE49-F238E27FC236}">
                <a16:creationId xmlns:a16="http://schemas.microsoft.com/office/drawing/2014/main" id="{B9553C6E-D13D-46CF-9F1C-96B9708B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rPr>
              <a:t>planerad arbetsgräns och funktionskontroll av instrumentet.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6983A-5901-4E2D-ADA0-B44F330BD0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243d6aa3e4b4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49C7FA-E474-40AB-964F-3E5516E5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5</a:t>
            </a:r>
          </a:p>
        </p:txBody>
      </p:sp>
    </p:spTree>
    <p:extLst>
      <p:ext uri="{BB962C8B-B14F-4D97-AF65-F5344CB8AC3E}">
        <p14:creationId xmlns:p14="http://schemas.microsoft.com/office/powerpoint/2010/main" val="2017878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ADA5573-E161-4943-A197-BCF52883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Förkunskaper som behövs här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29E0AD57-C5B7-4D66-A1FD-077CD5B3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Inga tidigare elberäkningar förutsätts. Du behöver division,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9DB6D7D6-0BE5-4654-AFA4-CA929A1E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multiplikation och förståelse för en sluten slinga. Läs spänning, ström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2551395C-F317-485D-B7E1-4A52676E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resistans som tre skilda storheter.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D72F5229-4479-4E97-9EBC-48818C2C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Spänning mäts mellan två punkter. Ström går genom en gren och</a:t>
            </a:r>
          </a:p>
        </p:txBody>
      </p:sp>
      <p:sp>
        <p:nvSpPr>
          <p:cNvPr id="6" name="body-1-1">
            <a:extLst xmlns:a="http://schemas.openxmlformats.org/drawingml/2006/main">
              <a:ext uri="{FF2B5EF4-FFF2-40B4-BE49-F238E27FC236}">
                <a16:creationId xmlns:a16="http://schemas.microsoft.com/office/drawing/2014/main" id="{2B2FC762-65E8-445D-912B-D7E5C66D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behöver en sluten returväg. Resistans beskriver hur mycket kretsen</a:t>
            </a:r>
          </a:p>
        </p:txBody>
      </p:sp>
      <p:sp>
        <p:nvSpPr>
          <p:cNvPr id="7" name="body-1-2">
            <a:extLst xmlns:a="http://schemas.openxmlformats.org/drawingml/2006/main">
              <a:ext uri="{FF2B5EF4-FFF2-40B4-BE49-F238E27FC236}">
                <a16:creationId xmlns:a16="http://schemas.microsoft.com/office/drawing/2014/main" id="{AEC03EDF-C718-49F9-917C-33FB5A64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begränsar strömmen vid den angivna driftpunkten.</a:t>
            </a:r>
          </a:p>
        </p:txBody>
      </p:sp>
      <p:sp>
        <p:nvSpPr>
          <p:cNvPr id="8" name="body-2-0">
            <a:extLst xmlns:a="http://schemas.openxmlformats.org/drawingml/2006/main">
              <a:ext uri="{FF2B5EF4-FFF2-40B4-BE49-F238E27FC236}">
                <a16:creationId xmlns:a16="http://schemas.microsoft.com/office/drawing/2014/main" id="{8E48EC13-2B7D-4D5F-9CCC-8ECD6010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 serie går samma ström genom alla komponenter. Parallella grenar har</a:t>
            </a:r>
          </a:p>
        </p:txBody>
      </p:sp>
      <p:sp>
        <p:nvSpPr>
          <p:cNvPr id="9" name="body-2-1">
            <a:extLst xmlns:a="http://schemas.openxmlformats.org/drawingml/2006/main">
              <a:ext uri="{FF2B5EF4-FFF2-40B4-BE49-F238E27FC236}">
                <a16:creationId xmlns:a16="http://schemas.microsoft.com/office/drawing/2014/main" id="{58440FC4-829F-47CE-920F-98402F57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samma spänning men kan ha olika ström. Försök inte avgöra</a:t>
            </a:r>
          </a:p>
        </p:txBody>
      </p:sp>
      <p:sp>
        <p:nvSpPr>
          <p:cNvPr id="10" name="body-2-2">
            <a:extLst xmlns:a="http://schemas.openxmlformats.org/drawingml/2006/main">
              <a:ext uri="{FF2B5EF4-FFF2-40B4-BE49-F238E27FC236}">
                <a16:creationId xmlns:a16="http://schemas.microsoft.com/office/drawing/2014/main" id="{5250FB61-78BE-420C-A233-D5E5C9E4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strömflödet från en enda spänningsmätning.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40EF7-4074-4A02-9055-8C38405732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445f386b542cd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610236-29D8-4286-A10A-AD07BC42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6</a:t>
            </a:r>
          </a:p>
        </p:txBody>
      </p:sp>
    </p:spTree>
    <p:extLst>
      <p:ext uri="{BB962C8B-B14F-4D97-AF65-F5344CB8AC3E}">
        <p14:creationId xmlns:p14="http://schemas.microsoft.com/office/powerpoint/2010/main" val="8489687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AE046C2-CBD6-4A8B-83FD-5B321842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Begrepp och storheter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6C230F02-B4DB-4C66-896C-65DE9BAD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Spänning U: Potentialskillnad mellan två angivna punkter, mäts i volt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193CA23A-A842-408E-B643-9C1F4910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(V).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976A8261-761C-49D3-BAD2-E76AC87A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 I: Laddningsflöde genom en gren, mäts i ampere (A). Stationär</a:t>
            </a:r>
          </a:p>
        </p:txBody>
      </p:sp>
      <p:sp>
        <p:nvSpPr>
          <p:cNvPr id="5" name="body-1-1">
            <a:extLst xmlns:a="http://schemas.openxmlformats.org/drawingml/2006/main">
              <a:ext uri="{FF2B5EF4-FFF2-40B4-BE49-F238E27FC236}">
                <a16:creationId xmlns:a16="http://schemas.microsoft.com/office/drawing/2014/main" id="{57D29E77-601C-43FF-8733-7E03A225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 kräver en fullständig strömväg.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CCAE5DD4-D719-4DB9-AEA5-EF5EFFAD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 R: Förhållandet mellan spänning och ström i angivet driftfall,</a:t>
            </a:r>
          </a:p>
        </p:txBody>
      </p:sp>
      <p:sp>
        <p:nvSpPr>
          <p:cNvPr id="7" name="body-2-1">
            <a:extLst xmlns:a="http://schemas.openxmlformats.org/drawingml/2006/main">
              <a:ext uri="{FF2B5EF4-FFF2-40B4-BE49-F238E27FC236}">
                <a16:creationId xmlns:a16="http://schemas.microsoft.com/office/drawing/2014/main" id="{06CE7C3D-28FC-4104-BB7E-1301B741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mäts i ohm (Ω).</a:t>
            </a:r>
          </a:p>
        </p:txBody>
      </p:sp>
      <p:sp>
        <p:nvSpPr>
          <p:cNvPr id="8" name="body-3-0">
            <a:extLst xmlns:a="http://schemas.openxmlformats.org/drawingml/2006/main">
              <a:ext uri="{FF2B5EF4-FFF2-40B4-BE49-F238E27FC236}">
                <a16:creationId xmlns:a16="http://schemas.microsoft.com/office/drawing/2014/main" id="{A51D1F44-44DB-4D63-BB6A-3F27A850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Nod och gren: En nod förbinder ledare; en gren är en väg mellan noder.</a:t>
            </a:r>
          </a:p>
        </p:txBody>
      </p:sp>
      <p:sp>
        <p:nvSpPr>
          <p:cNvPr id="9" name="body-3-1">
            <a:extLst xmlns:a="http://schemas.openxmlformats.org/drawingml/2006/main">
              <a:ext uri="{FF2B5EF4-FFF2-40B4-BE49-F238E27FC236}">
                <a16:creationId xmlns:a16="http://schemas.microsoft.com/office/drawing/2014/main" id="{458BD7B5-A99E-4F6B-8EC7-3A30CB4E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ideal förbindningsledning har försumbart spänningsfall.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C586C-5BF2-46C5-9DA1-245D68E07B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a67db25e3402c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F29F5B-4601-4740-AFAC-75A1473A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7</a:t>
            </a:r>
          </a:p>
        </p:txBody>
      </p:sp>
    </p:spTree>
    <p:extLst>
      <p:ext uri="{BB962C8B-B14F-4D97-AF65-F5344CB8AC3E}">
        <p14:creationId xmlns:p14="http://schemas.microsoft.com/office/powerpoint/2010/main" val="877408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D18688A-D896-46CD-9224-5C22D079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Följ hela strömvägen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E9263F85-8013-4448-A5BB-166F4C69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arbetslampa behöver både en väg från batteriets pluspol och en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7AB29CFA-A44A-41E4-B003-DBC4CC42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väg tillbaka till minus. I principbilderna representeras batteriet av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F3A9F0E6-9577-4D86-B6A4-431E0667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symbolen för en ideal likspänningskälla . Verkliga batterier har bland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3741A9D5-061A-4F4A-AC56-0C5EDB4F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annat inre resistans; den ingår inte i grundmodellen.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09134-1CBB-46BE-BF8E-B28D1D45A2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434c794bf48a2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7EED9F-C917-4373-A2F2-F5B97639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8</a:t>
            </a:r>
          </a:p>
        </p:txBody>
      </p:sp>
    </p:spTree>
    <p:extLst>
      <p:ext uri="{BB962C8B-B14F-4D97-AF65-F5344CB8AC3E}">
        <p14:creationId xmlns:p14="http://schemas.microsoft.com/office/powerpoint/2010/main" val="1892009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5C60CEFE-44B5-40C7-84C1-FF840F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Följ hela strömvägen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EC36D-3279-41D1-AC17-F47031F88A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0b97385304f3e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E883E13D-45CB-4BA6-92DB-8C6A1F87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Bara den övre ledaren finns. Lampans undre anslutning och batteriets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F46309E1-87D3-43F7-B1AC-B9CA4EBD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minuspol saknar förbindelse. Returledaren saknas, så ingen stationär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0053D-64E0-438B-B521-97B4BB6299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f248e44ab4542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8EE159-18FD-4AC0-B59A-8708CFD5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9</a:t>
            </a:r>
          </a:p>
        </p:txBody>
      </p:sp>
    </p:spTree>
    <p:extLst>
      <p:ext uri="{BB962C8B-B14F-4D97-AF65-F5344CB8AC3E}">
        <p14:creationId xmlns:p14="http://schemas.microsoft.com/office/powerpoint/2010/main" val="1331941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8D59EF7-E359-4A0A-9A61-A495888F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Följ hela strömvägen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AA0F6668-D8D9-4CC1-ACBD-753EF970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 går genom lampan.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AC8A4E56-FC0E-49E0-9FC8-54941EE3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När källa, ledare och last bildar en hel slinga kan stationär ström gå.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C5E667E2-6365-452A-BC7D-27F73BC1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Lampan är en last: den omvandlar elektrisk energi till ljus och värme.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28220E76-8345-465C-B96E-713CDB3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brytare öppnar eller sluter strömvägen.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9C857-F6A0-4362-89DE-2A466B3186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ff1dc6d6f4157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4846364-452C-4B47-9115-D33588A9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10</a:t>
            </a:r>
          </a:p>
        </p:txBody>
      </p:sp>
    </p:spTree>
    <p:extLst>
      <p:ext uri="{BB962C8B-B14F-4D97-AF65-F5344CB8AC3E}">
        <p14:creationId xmlns:p14="http://schemas.microsoft.com/office/powerpoint/2010/main" val="19983443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BC8D4EBB-0582-402D-8738-9A58B75A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Följ hela strömvägen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35D75-DC55-45A0-B5FB-E351DBFE9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240dc27ae4c47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EFECFD36-2DC6-4891-AEFB-AD902D92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Brytarkontakterna sitter ihop. Konventionell ström går från plus via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872EE665-5A45-48F4-B3D8-95F401EC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brytaren och lampan tillbaka till minus. Pilarna visar samma ström i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DD17A-7A91-4BC1-B3FF-BA6E2D8776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90303d1694fd5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4E1005-D77E-457F-81BD-04EF164A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11</a:t>
            </a:r>
          </a:p>
        </p:txBody>
      </p:sp>
    </p:spTree>
    <p:extLst>
      <p:ext uri="{BB962C8B-B14F-4D97-AF65-F5344CB8AC3E}">
        <p14:creationId xmlns:p14="http://schemas.microsoft.com/office/powerpoint/2010/main" val="2052675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060B62B-7C96-4E64-B5A8-06C77283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Följ hela strömvägen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34E4E5B2-0F8F-4272-B5AD-5F1CE6F1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hela den yttre slingan.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32D58361-F14E-4F97-89D1-B392CDA7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 är laddning som passerar per tidsenhet. Enheten är ampere, A. I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D7C760EA-A61C-4602-B32D-DF04A0AA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enkel stationär krets utan förgreningar är strömmen lika stor före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64848B0F-2E8E-4819-A715-4FFA8C6B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efter lampan. Strömmen förbrukas inte i lasten. Vi följer</a:t>
            </a:r>
          </a:p>
        </p:txBody>
      </p:sp>
      <p:sp>
        <p:nvSpPr>
          <p:cNvPr id="6" name="body-1-3">
            <a:extLst xmlns:a="http://schemas.openxmlformats.org/drawingml/2006/main">
              <a:ext uri="{FF2B5EF4-FFF2-40B4-BE49-F238E27FC236}">
                <a16:creationId xmlns:a16="http://schemas.microsoft.com/office/drawing/2014/main" id="{AEEA2D61-E52C-43F5-8CC6-D287D601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konventionell strömriktning från plus till minus i den yttre kretsen.</a:t>
            </a:r>
          </a:p>
        </p:txBody>
      </p:sp>
      <p:sp>
        <p:nvSpPr>
          <p:cNvPr id="7" name="body-1-4">
            <a:extLst xmlns:a="http://schemas.openxmlformats.org/drawingml/2006/main">
              <a:ext uri="{FF2B5EF4-FFF2-40B4-BE49-F238E27FC236}">
                <a16:creationId xmlns:a16="http://schemas.microsoft.com/office/drawing/2014/main" id="{934C5157-B168-40F1-9A2A-2DA453EE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Elektronerna i en metall rör sig åt motsatt håll.</a:t>
            </a:r>
          </a:p>
        </p:txBody>
      </p:sp>
      <p:sp>
        <p:nvSpPr>
          <p:cNvPr id="8" name="body-2-0">
            <a:extLst xmlns:a="http://schemas.openxmlformats.org/drawingml/2006/main">
              <a:ext uri="{FF2B5EF4-FFF2-40B4-BE49-F238E27FC236}">
                <a16:creationId xmlns:a16="http://schemas.microsoft.com/office/drawing/2014/main" id="{EB4D89A7-BAB4-46FE-9450-63892732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Återledaren ingår i den normala strömvägen. Skyddsledare och</a:t>
            </a:r>
          </a:p>
        </p:txBody>
      </p:sp>
      <p:sp>
        <p:nvSpPr>
          <p:cNvPr id="9" name="body-2-1">
            <a:extLst xmlns:a="http://schemas.openxmlformats.org/drawingml/2006/main">
              <a:ext uri="{FF2B5EF4-FFF2-40B4-BE49-F238E27FC236}">
                <a16:creationId xmlns:a16="http://schemas.microsoft.com/office/drawing/2014/main" id="{74D4900B-A216-4654-AFEE-625A90F6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fartygsskrov har andra funktioner. Skrovet är inte automatiskt</a:t>
            </a:r>
          </a:p>
        </p:txBody>
      </p:sp>
      <p:sp>
        <p:nvSpPr>
          <p:cNvPr id="10" name="body-2-2">
            <a:extLst xmlns:a="http://schemas.openxmlformats.org/drawingml/2006/main">
              <a:ext uri="{FF2B5EF4-FFF2-40B4-BE49-F238E27FC236}">
                <a16:creationId xmlns:a16="http://schemas.microsoft.com/office/drawing/2014/main" id="{6541A602-FD98-4892-A889-EB8A7FD7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detsamma som batteriets minus.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3BBC4-F8E5-4249-822F-14927F655C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e1d2d9fe04854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9EE10A-0860-4A4B-83F7-E4268148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12</a:t>
            </a:r>
          </a:p>
        </p:txBody>
      </p:sp>
    </p:spTree>
    <p:extLst>
      <p:ext uri="{BB962C8B-B14F-4D97-AF65-F5344CB8AC3E}">
        <p14:creationId xmlns:p14="http://schemas.microsoft.com/office/powerpoint/2010/main" val="8372855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AB78D72-0F4A-41CA-86BE-50060825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Skilj spänning från ström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C298AAB7-A1D0-46C0-8377-257D8D3D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Spänning är skillnaden i elektrisk potential mellan två bestämda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A25ABAEE-CA5C-4DB0-831C-308DA996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punkter. Enheten är volt, V. En voltmeter har därför två anslutningar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5B4F77DE-D1A7-4DAF-B458-78AD9C1B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kopplas mellan de punkter som ska jämföras. I bilden ligger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E6C9DE27-0835-4F29-A76F-4AA5523B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mätaren parallellt med resistorn, mellan A och B.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C9298-9915-430A-8DDC-6E92E50AF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061ac57d64f32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BE567D-5883-40BB-A002-6CE18D9E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13</a:t>
            </a:r>
          </a:p>
        </p:txBody>
      </p:sp>
    </p:spTree>
    <p:extLst>
      <p:ext uri="{BB962C8B-B14F-4D97-AF65-F5344CB8AC3E}">
        <p14:creationId xmlns:p14="http://schemas.microsoft.com/office/powerpoint/2010/main" val="16209238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3A85151-E424-4FF3-8EB4-23A586B7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Skilj spänning från ström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99326-3D96-4C82-A7C3-080CB8F5C8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700186b4b4ec1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E923F547-DBA2-4B86-8682-CAEDA27C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voltmeter är parallellkopplad mellan A och B, samma två noder som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DE1C3B8F-301E-4ABE-9738-CA21A85F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resistorn. Batteriet modelleras som en ideal 12 V-källa.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E1445-A3A8-44E9-B2F1-ABB185F342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813c3e63848d2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502DCA6-222C-4E21-BC23-23047525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14</a:t>
            </a:r>
          </a:p>
        </p:txBody>
      </p:sp>
    </p:spTree>
    <p:extLst>
      <p:ext uri="{BB962C8B-B14F-4D97-AF65-F5344CB8AC3E}">
        <p14:creationId xmlns:p14="http://schemas.microsoft.com/office/powerpoint/2010/main" val="7947729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4BA6BD00-0E2C-4CC2-A7FE-F070446B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Skilj spänning från ström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A11F75C-0E59-4932-8342-537EE728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batteri kan ha 12 V mellan polerna även när brytaren är öppen och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41C3D7A0-E2C0-4198-BB48-BD6CA45B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lastströmmen är noll. Ett spänningsvärde på en anslutning bevisar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319D6288-A3C1-479F-8E97-2D2268DA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därför inte att en last har en hel strömväg.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36821-6D80-4492-8922-35654B185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30f1d19244967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E365A2-F6BA-449C-B488-295454BE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15</a:t>
            </a:r>
          </a:p>
        </p:txBody>
      </p:sp>
    </p:spTree>
    <p:extLst>
      <p:ext uri="{BB962C8B-B14F-4D97-AF65-F5344CB8AC3E}">
        <p14:creationId xmlns:p14="http://schemas.microsoft.com/office/powerpoint/2010/main" val="7936424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88CEB43-B6BB-4644-B542-FA193C3B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Skilj spänning från ström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11699-9DBE-4B5F-A38F-04E4BAC0DB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8d19d27654890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36283C05-4320-4F25-B8D1-61228AC0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Brytararmen är tydligt lyft från vänster kontakt. Det vita gapet bryter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0FAD8E2F-BA8A-4CE5-986B-A05E82CF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slingan. Ingen stationär ström går någonstans i seriekretsen och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FFB41-10B9-4CD4-87DE-3F4D553AA0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4c0e186904595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A1577C-68FC-4FE7-B6BF-61391BD5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16</a:t>
            </a:r>
          </a:p>
        </p:txBody>
      </p:sp>
    </p:spTree>
    <p:extLst>
      <p:ext uri="{BB962C8B-B14F-4D97-AF65-F5344CB8AC3E}">
        <p14:creationId xmlns:p14="http://schemas.microsoft.com/office/powerpoint/2010/main" val="1762229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8020465-C633-4A3A-A1AA-6A41DF62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Skilj spänning från ström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31D8EFF-C79E-4C37-B84A-8A4EE6BC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lampan är släckt. Batteriet har fortfarande 12 V mellan polerna.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37B561AA-D186-454E-9D43-63A6F029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12 V på en märkning är ett nominellt värde. Verklig spänning kan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5C60A537-E68C-493A-868D-C676F3F3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variera med driftläge. I modulens första modeller använder vi ideala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F3FF92D4-731D-41F7-80D5-20520602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källor för att kunna skilja principerna åt.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9B9D9-13C0-4F71-8957-ACA95B2E87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3ec85645e483f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C9C925-FFC2-4B1F-A11E-BAD28DF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17</a:t>
            </a:r>
          </a:p>
        </p:txBody>
      </p:sp>
    </p:spTree>
    <p:extLst>
      <p:ext uri="{BB962C8B-B14F-4D97-AF65-F5344CB8AC3E}">
        <p14:creationId xmlns:p14="http://schemas.microsoft.com/office/powerpoint/2010/main" val="3064769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BA07D35-5467-4AAA-955B-413F9808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3. Resistans, resistor och enheter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B259FC65-5DEA-452C-9A01-9847D1BF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resistor är komponenten; resistans är egenskapen som anges i ohm,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AE33C828-D824-4FC9-8E95-5FED919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Ω. För beräkningen ersätter vi lampan med en ohmsk resistor vars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F55E59F5-6209-4DF4-978B-A886CDF5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 är oförändrad vid den angivna driftpunkten. En verklig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1DD75D89-60BE-49EC-B58F-96387F9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lampas resistans kan ändras med temperaturen.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3FAF8-2E1F-4352-9933-324C581CB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5ec10d67e4b14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1DE1EA-204F-408B-823D-EEA58552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18</a:t>
            </a:r>
          </a:p>
        </p:txBody>
      </p:sp>
    </p:spTree>
    <p:extLst>
      <p:ext uri="{BB962C8B-B14F-4D97-AF65-F5344CB8AC3E}">
        <p14:creationId xmlns:p14="http://schemas.microsoft.com/office/powerpoint/2010/main" val="11881353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44E072C-88EE-45BD-A25B-08FDDAA7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3. Resistans, resistor och enheter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20978-C340-466A-AF75-9DACEDBDBD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2d2ee42a849f1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C971A990-B14F-44EE-812E-FFE09A49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separata kretsar har vardera en ideal 12 V-källa. En resistor på 1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FEA500AD-881C-401A-8D46-FDF5B2EB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kiloohm ger 12 milliampere. Två kiloohm ger 6 milliampere.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268A9-2392-4B8E-A5F2-597BB73742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7645b8d4d4c6a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5F8537-35BF-4F72-9AF6-03BA4793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19</a:t>
            </a:r>
          </a:p>
        </p:txBody>
      </p:sp>
    </p:spTree>
    <p:extLst>
      <p:ext uri="{BB962C8B-B14F-4D97-AF65-F5344CB8AC3E}">
        <p14:creationId xmlns:p14="http://schemas.microsoft.com/office/powerpoint/2010/main" val="20277791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B5A7385-4EE4-4667-8561-CAC5AF82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3. Resistans, resistor och enheter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49E24912-6D33-4BFF-99EF-C6C71F74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Jämför de två separata kretsarna. Båda har 12 V. När resistansen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B59C2552-912E-4B06-BE4B-5A1CE24D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fördubblas från 1 kΩ till 2 kΩ halveras strömmen från 12 mA till 6 mA.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D02EB538-92DC-4218-AC4E-6BBE5685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Det är samma samband som skrivs med Ohms lag i formelguiden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DD3A95D5-0D68-4A34-846D-F0EE6C8A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nedan.</a:t>
            </a:r>
          </a:p>
        </p:txBody>
      </p:sp>
      <p:sp>
        <p:nvSpPr>
          <p:cNvPr id="6" name="body-1-0">
            <a:extLst xmlns:a="http://schemas.openxmlformats.org/drawingml/2006/main">
              <a:ext uri="{FF2B5EF4-FFF2-40B4-BE49-F238E27FC236}">
                <a16:creationId xmlns:a16="http://schemas.microsoft.com/office/drawing/2014/main" id="{4B7544CD-B885-4DF6-ABE7-B19C4CF3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Kilo betyder tusen: 1 kΩ motsvarar 1 000 Ω.</a:t>
            </a:r>
          </a:p>
        </p:txBody>
      </p:sp>
      <p:sp>
        <p:nvSpPr>
          <p:cNvPr id="7" name="body-2-0">
            <a:extLst xmlns:a="http://schemas.openxmlformats.org/drawingml/2006/main">
              <a:ext uri="{FF2B5EF4-FFF2-40B4-BE49-F238E27FC236}">
                <a16:creationId xmlns:a16="http://schemas.microsoft.com/office/drawing/2014/main" id="{514FACD4-87A8-4174-B9CE-970B3319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Milli betyder en tusendel: 1 mA motsvarar 0,001 A.</a:t>
            </a:r>
          </a:p>
        </p:txBody>
      </p:sp>
      <p:sp>
        <p:nvSpPr>
          <p:cNvPr id="8" name="body-3-0">
            <a:extLst xmlns:a="http://schemas.openxmlformats.org/drawingml/2006/main">
              <a:ext uri="{FF2B5EF4-FFF2-40B4-BE49-F238E27FC236}">
                <a16:creationId xmlns:a16="http://schemas.microsoft.com/office/drawing/2014/main" id="{206B505F-3884-4238-88BF-5857C74A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U betecknar spänning, I ström och R resistans. Storhetsbokstav och</a:t>
            </a:r>
          </a:p>
        </p:txBody>
      </p:sp>
      <p:sp>
        <p:nvSpPr>
          <p:cNvPr id="9" name="body-3-1">
            <a:extLst xmlns:a="http://schemas.openxmlformats.org/drawingml/2006/main">
              <a:ext uri="{FF2B5EF4-FFF2-40B4-BE49-F238E27FC236}">
                <a16:creationId xmlns:a16="http://schemas.microsoft.com/office/drawing/2014/main" id="{E0F8C68C-562F-4A1A-AB70-993E4366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enhet är olika saker.</a:t>
            </a:r>
          </a:p>
        </p:txBody>
      </p:sp>
      <p:sp>
        <p:nvSpPr>
          <p:cNvPr id="10" name="body-4-0">
            <a:extLst xmlns:a="http://schemas.openxmlformats.org/drawingml/2006/main">
              <a:ext uri="{FF2B5EF4-FFF2-40B4-BE49-F238E27FC236}">
                <a16:creationId xmlns:a16="http://schemas.microsoft.com/office/drawing/2014/main" id="{18C74077-F688-4FAB-8D3B-0571829C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Skriv om givna värden till volt, ampere och ohm innan du sätter in</a:t>
            </a:r>
          </a:p>
        </p:txBody>
      </p:sp>
      <p:sp>
        <p:nvSpPr>
          <p:cNvPr id="11" name="body-4-1">
            <a:extLst xmlns:a="http://schemas.openxmlformats.org/drawingml/2006/main">
              <a:ext uri="{FF2B5EF4-FFF2-40B4-BE49-F238E27FC236}">
                <a16:creationId xmlns:a16="http://schemas.microsoft.com/office/drawing/2014/main" id="{16C0E52E-94F9-44F0-A4BB-531562D3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dem i grundsambanden. Behåll enheten i slutsvaret.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95399-9E91-400C-878A-35924C19E8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66400577e4a9d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E3FADA-6EB0-4F98-AB44-91E4CF1B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20</a:t>
            </a:r>
          </a:p>
        </p:txBody>
      </p:sp>
    </p:spTree>
    <p:extLst>
      <p:ext uri="{BB962C8B-B14F-4D97-AF65-F5344CB8AC3E}">
        <p14:creationId xmlns:p14="http://schemas.microsoft.com/office/powerpoint/2010/main" val="5837932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7F02B96-58C2-4FC9-B98A-E0852F4C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EE866D7-6558-4FAA-8D2F-8C68E4D5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 serie finns en enda strömväg. Samma ström passerar båda lasterna,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111FAEBB-8A52-43A0-BE57-7FBDB4D7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resistansen summeras och spänningen fördelas mellan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64EB9D02-8051-4FB0-9754-DB4ABAAC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komponenterna. Principbilden använder två identiska 12 Ω-resistorer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5671DDBD-294B-464E-A6AE-B419428B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en ideal 24 V-källa.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23CB8-FD94-478C-9649-4362500D90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8b15776d342fd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9F7687-7F3B-4FD7-8981-420A0DA9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21</a:t>
            </a:r>
          </a:p>
        </p:txBody>
      </p:sp>
    </p:spTree>
    <p:extLst>
      <p:ext uri="{BB962C8B-B14F-4D97-AF65-F5344CB8AC3E}">
        <p14:creationId xmlns:p14="http://schemas.microsoft.com/office/powerpoint/2010/main" val="4984823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D2688536-30B4-4482-89BD-ADF82264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82AA7-B754-4024-8CA0-125A856E2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214ce7c3c4d15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C67207D7-788D-439C-A327-9043C228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resistorer på 12 ohm ligger i serie med en 24 V-källa. Total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89AA1E2B-A4D6-4479-A350-EAD42DE6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 är 24 ohm och strömmen är 1 ampere.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DB097-9BA3-4949-B8F5-9D32E4EC70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f4a1481b64ab7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A21D87-F8C6-49BB-9A8E-B4FB57D7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22</a:t>
            </a:r>
          </a:p>
        </p:txBody>
      </p:sp>
    </p:spTree>
    <p:extLst>
      <p:ext uri="{BB962C8B-B14F-4D97-AF65-F5344CB8AC3E}">
        <p14:creationId xmlns:p14="http://schemas.microsoft.com/office/powerpoint/2010/main" val="2270951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DE4F498-6282-458A-A167-33D4BD1E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FB60CFD0-AEA5-43A6-AE18-EDF95F91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 parallell ligger grenarna mellan samma två noder. Varje gren har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5B1250A9-4C41-4AD4-99ED-8F8A51F5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därför samma spänning. Grenströmmarna kan vara olika; källans ström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7896BBE8-05D5-4772-8BEF-F08A1B9E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är summan av dem. I bilden är lasterna lika, så båda tar 2 A och källan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7D0F25C8-B43D-4157-A637-2CF8B589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ger 4 A.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772D3-CAD0-4392-A25E-C7FB9226E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121b609be414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2347B8-66DD-4267-8FDE-5F440C12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23</a:t>
            </a:r>
          </a:p>
        </p:txBody>
      </p:sp>
    </p:spTree>
    <p:extLst>
      <p:ext uri="{BB962C8B-B14F-4D97-AF65-F5344CB8AC3E}">
        <p14:creationId xmlns:p14="http://schemas.microsoft.com/office/powerpoint/2010/main" val="12071592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D6B05D9-88C9-4D06-AC8E-68B466D2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F42AF-605A-4D73-966F-6738D402F1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8413bf2d64aa5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C9F59299-08D3-41B6-8310-3CA65B56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resistorer på 12 ohm ligger i separata grenar mellan samma två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1657A7E3-D1DC-42B8-B54F-E5B90913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noder i en ideal 24 V-krets. Varje gren tar 2 ampere och källan ger 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E06FB-1FCF-4225-9C30-2DE7884D5A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dcae8bbb54754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4322DC-16CB-436D-80A4-413F8717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24</a:t>
            </a:r>
          </a:p>
        </p:txBody>
      </p:sp>
    </p:spTree>
    <p:extLst>
      <p:ext uri="{BB962C8B-B14F-4D97-AF65-F5344CB8AC3E}">
        <p14:creationId xmlns:p14="http://schemas.microsoft.com/office/powerpoint/2010/main" val="17144448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8A5D73C-C9C6-4D0D-859F-DEFEE073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B1789AE1-EDD3-43D1-BDFF-6306D006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ampere.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275974F9-B122-4846-A5D6-E19ABEFD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avbrott i en gren kan släcka den grenens lampa medan den andra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947436B7-F4B5-436F-BD7D-CF24C70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fortfarande lyser. Ett avbrott i den gemensamma returen kan däremot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13C17429-8501-4234-AE26-6E1AADDF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bryta båda vägarna. Följ varje gren genom hela kretsen innan du drar</a:t>
            </a:r>
          </a:p>
        </p:txBody>
      </p:sp>
      <p:sp>
        <p:nvSpPr>
          <p:cNvPr id="6" name="body-1-3">
            <a:extLst xmlns:a="http://schemas.openxmlformats.org/drawingml/2006/main">
              <a:ext uri="{FF2B5EF4-FFF2-40B4-BE49-F238E27FC236}">
                <a16:creationId xmlns:a16="http://schemas.microsoft.com/office/drawing/2014/main" id="{FA76A25E-A86E-41A2-833E-42E9B9A9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slutsatsen.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0286F-606B-4499-B504-016051D29D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71e722da0472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945F00-7F89-4DE8-8E40-97DC2474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25</a:t>
            </a:r>
          </a:p>
        </p:txBody>
      </p:sp>
    </p:spTree>
    <p:extLst>
      <p:ext uri="{BB962C8B-B14F-4D97-AF65-F5344CB8AC3E}">
        <p14:creationId xmlns:p14="http://schemas.microsoft.com/office/powerpoint/2010/main" val="4043408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39F695D-B9C9-4205-A3F7-F496A3A8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7DB85-83DE-4C08-A98F-89D5422076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e6685f6844340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66E04C73-AE16-41CE-9A9F-C6BEC3C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lampor har varsin gren. En öppen brytare i den högra grenen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3C3A9C7B-440B-4BCB-8C2D-72FB7E99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släcker endast den lampan i idealmodellen. Den gemensamma returen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B7058-3FDD-4B30-82BE-3D697CA5FC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ec7d7ad2a4d0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CB4716-676E-4D48-8395-01F31305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26</a:t>
            </a:r>
          </a:p>
        </p:txBody>
      </p:sp>
    </p:spTree>
    <p:extLst>
      <p:ext uri="{BB962C8B-B14F-4D97-AF65-F5344CB8AC3E}">
        <p14:creationId xmlns:p14="http://schemas.microsoft.com/office/powerpoint/2010/main" val="9734442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5F1BD33-468C-4F49-891C-075ED130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FCF57CC6-0C09-4291-95E1-D7BF89B9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är hel.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1D8DA-AF0E-4188-B246-C02F25050E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9d74d81034974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0A6F1E-F0F0-4821-ABB2-B82ED4DA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27</a:t>
            </a:r>
          </a:p>
        </p:txBody>
      </p:sp>
    </p:spTree>
    <p:extLst>
      <p:ext uri="{BB962C8B-B14F-4D97-AF65-F5344CB8AC3E}">
        <p14:creationId xmlns:p14="http://schemas.microsoft.com/office/powerpoint/2010/main" val="4108849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78899CD-1EA1-4B3E-94D1-F64EC416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5. Funktion är inte samma sak som säkerhet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4B0936DF-DF2B-4032-8B6F-4D1B32F5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lampa kan lysa även om en anslutning blir varm eller ett skyddande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9DBF918E-FEE1-4A36-B891-F524E56B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lager är skadat. En extra kontaktresistans kan omvandla energi till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179EA3B9-A863-4DAA-9E66-A2516FEB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värme under belastning. Att lasten fungerar visar inte att isolation,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696F0F1B-96D5-479B-AAB1-C1254D0C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kapsling eller överströmsskydd har kontrollerats.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F45C8-CC2F-43AC-950A-04B2AAF000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40820e3f640b0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CDF6C2-BEDD-4B62-AAD9-8F0E0D3C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28</a:t>
            </a:r>
          </a:p>
        </p:txBody>
      </p:sp>
    </p:spTree>
    <p:extLst>
      <p:ext uri="{BB962C8B-B14F-4D97-AF65-F5344CB8AC3E}">
        <p14:creationId xmlns:p14="http://schemas.microsoft.com/office/powerpoint/2010/main" val="9412493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BD501C6A-92FA-4DCF-AEB0-7CAEC5B4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5. Funktion är inte samma sak som säkerhet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D04D1-2878-4767-B6C2-E828BD49C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b38c23784472f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AA65CC2F-9881-4A07-AB7F-6F7111D4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extra kontaktresistans i serie kan omvandla energi till värme även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AA3F5372-7139-4B57-B6EF-827BA2CC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när lampans krets är sluten. Denna principbild anger inget säkert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D072-83A0-40C3-BFA9-5176421D43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d42867b524789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8AE8BD-5B19-4C3F-A95B-FEA86ED2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29</a:t>
            </a:r>
          </a:p>
        </p:txBody>
      </p:sp>
    </p:spTree>
    <p:extLst>
      <p:ext uri="{BB962C8B-B14F-4D97-AF65-F5344CB8AC3E}">
        <p14:creationId xmlns:p14="http://schemas.microsoft.com/office/powerpoint/2010/main" val="7810002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43E4F1E0-0589-445E-8420-48F82D4F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5. Funktion är inte samma sak som säkerhet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FAFCDAD2-2EA9-49BC-BF82-B4054566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temperatur- eller skyddsvärde.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C5707BEE-5EA4-4034-8FCE-26802DBB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Isolation skiljer elektriskt ledande delar åt.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BAAF621C-FCA3-478D-A4BA-511986CE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En kapsling är utrustningens hölje och har de skyddsegenskaper som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9E9449C0-9706-4336-9708-6195FD67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dess utförande anger.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A5FFA29A-2B4E-4C21-BC75-CF3C12B9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En säkring kan bryta vid överström enligt sina villkor; den ersätter</a:t>
            </a:r>
          </a:p>
        </p:txBody>
      </p:sp>
      <p:sp>
        <p:nvSpPr>
          <p:cNvPr id="7" name="body-3-1">
            <a:extLst xmlns:a="http://schemas.openxmlformats.org/drawingml/2006/main">
              <a:ext uri="{FF2B5EF4-FFF2-40B4-BE49-F238E27FC236}">
                <a16:creationId xmlns:a16="http://schemas.microsoft.com/office/drawing/2014/main" id="{C2F201CF-0826-42E3-A240-08339750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inte alla andra skydd.</a:t>
            </a:r>
          </a:p>
        </p:txBody>
      </p:sp>
      <p:sp>
        <p:nvSpPr>
          <p:cNvPr id="8" name="body-4-0">
            <a:extLst xmlns:a="http://schemas.openxmlformats.org/drawingml/2006/main">
              <a:ext uri="{FF2B5EF4-FFF2-40B4-BE49-F238E27FC236}">
                <a16:creationId xmlns:a16="http://schemas.microsoft.com/office/drawing/2014/main" id="{93BDBF84-5CFE-4812-934D-911A1EFA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Även ett lågspänningsbatteri kan ge stor felström med värme- och</a:t>
            </a:r>
          </a:p>
        </p:txBody>
      </p:sp>
      <p:sp>
        <p:nvSpPr>
          <p:cNvPr id="9" name="body-4-1">
            <a:extLst xmlns:a="http://schemas.openxmlformats.org/drawingml/2006/main">
              <a:ext uri="{FF2B5EF4-FFF2-40B4-BE49-F238E27FC236}">
                <a16:creationId xmlns:a16="http://schemas.microsoft.com/office/drawing/2014/main" id="{332D50F6-2C9F-45CC-9946-4232BC12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brandrisk. Grundmodellen är ingen säkerhetsverifiering av en verklig</a:t>
            </a:r>
          </a:p>
        </p:txBody>
      </p:sp>
      <p:sp>
        <p:nvSpPr>
          <p:cNvPr id="10" name="body-4-2">
            <a:extLst xmlns:a="http://schemas.openxmlformats.org/drawingml/2006/main">
              <a:ext uri="{FF2B5EF4-FFF2-40B4-BE49-F238E27FC236}">
                <a16:creationId xmlns:a16="http://schemas.microsoft.com/office/drawing/2014/main" id="{616FA606-D26A-459D-8B8E-E5AF03CC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anläggning.</a:t>
            </a:r>
          </a:p>
        </p:txBody>
      </p:sp>
      <p:sp>
        <p:nvSpPr>
          <p:cNvPr id="11" name="body-5-0">
            <a:extLst xmlns:a="http://schemas.openxmlformats.org/drawingml/2006/main">
              <a:ext uri="{FF2B5EF4-FFF2-40B4-BE49-F238E27FC236}">
                <a16:creationId xmlns:a16="http://schemas.microsoft.com/office/drawing/2014/main" id="{1107369C-1E63-46F6-9936-1184305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38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Skriv riskbedömningen som en sammanhängande kedja: fara → möjlig</a:t>
            </a:r>
          </a:p>
        </p:txBody>
      </p:sp>
      <p:sp>
        <p:nvSpPr>
          <p:cNvPr id="12" name="body-5-1">
            <a:extLst xmlns:a="http://schemas.openxmlformats.org/drawingml/2006/main">
              <a:ext uri="{FF2B5EF4-FFF2-40B4-BE49-F238E27FC236}">
                <a16:creationId xmlns:a16="http://schemas.microsoft.com/office/drawing/2014/main" id="{0F21EA13-A9C6-44B4-A428-980699D2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händelse → följd → åtgärd → verifiering . Ange även vem som ansvarar.</a:t>
            </a:r>
          </a:p>
        </p:txBody>
      </p:sp>
      <p:sp>
        <p:nvSpPr>
          <p:cNvPr id="13" name="body-5-2">
            <a:extLst xmlns:a="http://schemas.openxmlformats.org/drawingml/2006/main">
              <a:ext uri="{FF2B5EF4-FFF2-40B4-BE49-F238E27FC236}">
                <a16:creationId xmlns:a16="http://schemas.microsoft.com/office/drawing/2014/main" id="{77EB0FA7-5E0D-477F-8F3A-9A2EA653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Sätt inte ett påhittat sannolikhetstal där underlag saknas. Personlig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D26B4-CC71-42DC-B9A2-0D09178162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01da7fe984450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51156C-58CE-4A56-BC58-BEB2DC20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30</a:t>
            </a:r>
          </a:p>
        </p:txBody>
      </p:sp>
    </p:spTree>
    <p:extLst>
      <p:ext uri="{BB962C8B-B14F-4D97-AF65-F5344CB8AC3E}">
        <p14:creationId xmlns:p14="http://schemas.microsoft.com/office/powerpoint/2010/main" val="6850858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04A40CD8-439C-4BFB-8EBF-36F349D5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5. Funktion är inte samma sak som säkerhet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D051851B-5FEF-4F20-8DC9-D8F586C1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skyddsutrustning gör inte skadad utrustning lämplig att använda.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77369-686E-4B4E-A449-1F3372B1E9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70cb5547c4c1e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08D44C-DD69-4DC1-A410-2F62288C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31</a:t>
            </a:r>
          </a:p>
        </p:txBody>
      </p:sp>
    </p:spTree>
    <p:extLst>
      <p:ext uri="{BB962C8B-B14F-4D97-AF65-F5344CB8AC3E}">
        <p14:creationId xmlns:p14="http://schemas.microsoft.com/office/powerpoint/2010/main" val="10220744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818E35D-87BC-4A5E-A015-C0955BD2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6. Beslutsfall A: den skadade arbetslampan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B095604C-5B92-44CC-AB45-306E0CAF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Givet underlag: en bärbar arbetslampa vid en gångväg på däck är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7A318D29-3A4E-43DE-B6F9-B9E53DF1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ansluten till 230 V AC. Sladdens ytterhölje är sprucket, lampan lyser,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C1101D25-ACA1-4AD9-AA49-7CFA96AA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däcket är fuktigt och personer passerar. Skadans djup, skyddens skick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E06D631F-9D7D-46A6-89B8-F44B7E18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matningens krets är inte verifierade. Detta är ett distansfall för</a:t>
            </a:r>
          </a:p>
        </p:txBody>
      </p:sp>
      <p:sp>
        <p:nvSpPr>
          <p:cNvPr id="6" name="body-0-4">
            <a:extLst xmlns:a="http://schemas.openxmlformats.org/drawingml/2006/main">
              <a:ext uri="{FF2B5EF4-FFF2-40B4-BE49-F238E27FC236}">
                <a16:creationId xmlns:a16="http://schemas.microsoft.com/office/drawing/2014/main" id="{3E6258AF-9553-4514-A8C2-3BF75770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analys; du ska inte undersöka verklig spänningssatt utrustning.</a:t>
            </a:r>
          </a:p>
        </p:txBody>
      </p:sp>
      <p:sp>
        <p:nvSpPr>
          <p:cNvPr id="7" name="body-1-0">
            <a:extLst xmlns:a="http://schemas.openxmlformats.org/drawingml/2006/main">
              <a:ext uri="{FF2B5EF4-FFF2-40B4-BE49-F238E27FC236}">
                <a16:creationId xmlns:a16="http://schemas.microsoft.com/office/drawing/2014/main" id="{ABDFAACC-62B5-4519-8464-D3479122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Skilj uppgifterna i fallet från en hypotes. ”Ytterhöljet är sprucket” är en</a:t>
            </a:r>
          </a:p>
        </p:txBody>
      </p:sp>
      <p:sp>
        <p:nvSpPr>
          <p:cNvPr id="8" name="body-1-1">
            <a:extLst xmlns:a="http://schemas.openxmlformats.org/drawingml/2006/main">
              <a:ext uri="{FF2B5EF4-FFF2-40B4-BE49-F238E27FC236}">
                <a16:creationId xmlns:a16="http://schemas.microsoft.com/office/drawing/2014/main" id="{A6B23212-AD1D-4BC4-BE4D-680978F6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observation. ”Sladden har klämts” är en möjlig förklaring, inte ett</a:t>
            </a:r>
          </a:p>
        </p:txBody>
      </p:sp>
      <p:sp>
        <p:nvSpPr>
          <p:cNvPr id="9" name="body-1-2">
            <a:extLst xmlns:a="http://schemas.openxmlformats.org/drawingml/2006/main">
              <a:ext uri="{FF2B5EF4-FFF2-40B4-BE49-F238E27FC236}">
                <a16:creationId xmlns:a16="http://schemas.microsoft.com/office/drawing/2014/main" id="{E35A1734-FA23-4AC4-84E4-4B1A9A07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fastställt förlopp. ”Alla skydd fungerar” saknar underlag.</a:t>
            </a:r>
          </a:p>
        </p:txBody>
      </p:sp>
      <p:sp>
        <p:nvSpPr>
          <p:cNvPr id="10" name="body-2-0">
            <a:extLst xmlns:a="http://schemas.openxmlformats.org/drawingml/2006/main">
              <a:ext uri="{FF2B5EF4-FFF2-40B4-BE49-F238E27FC236}">
                <a16:creationId xmlns:a16="http://schemas.microsoft.com/office/drawing/2014/main" id="{B76AC5E7-FE99-42B8-BBF2-66BF58A9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 fallet finns inget underlag för fortsatt användning. Användningen ska</a:t>
            </a:r>
          </a:p>
        </p:txBody>
      </p:sp>
      <p:sp>
        <p:nvSpPr>
          <p:cNvPr id="11" name="body-2-1">
            <a:extLst xmlns:a="http://schemas.openxmlformats.org/drawingml/2006/main">
              <a:ext uri="{FF2B5EF4-FFF2-40B4-BE49-F238E27FC236}">
                <a16:creationId xmlns:a16="http://schemas.microsoft.com/office/drawing/2014/main" id="{48C01231-F5A0-46B0-967E-90751978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upphöra och återanvändning hindras. Elektrisk hantering kräver säker</a:t>
            </a:r>
          </a:p>
        </p:txBody>
      </p:sp>
      <p:sp>
        <p:nvSpPr>
          <p:cNvPr id="12" name="body-2-2">
            <a:extLst xmlns:a="http://schemas.openxmlformats.org/drawingml/2006/main">
              <a:ext uri="{FF2B5EF4-FFF2-40B4-BE49-F238E27FC236}">
                <a16:creationId xmlns:a16="http://schemas.microsoft.com/office/drawing/2014/main" id="{9066B4EF-2571-4070-AD50-86BB1501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metod, rätt identifiering och relevant kompetens. En AV-knapp eller en</a:t>
            </a:r>
          </a:p>
        </p:txBody>
      </p:sp>
      <p:sp>
        <p:nvSpPr>
          <p:cNvPr id="13" name="body-2-3">
            <a:extLst xmlns:a="http://schemas.openxmlformats.org/drawingml/2006/main">
              <a:ext uri="{FF2B5EF4-FFF2-40B4-BE49-F238E27FC236}">
                <a16:creationId xmlns:a16="http://schemas.microsoft.com/office/drawing/2014/main" id="{26D974C6-A630-437A-B2CD-28FA82B2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434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lapp är inte i sig ett bevis på frånskiljning. Samtidigt måste ljus och</a:t>
            </a:r>
          </a:p>
        </p:txBody>
      </p:sp>
      <p:sp>
        <p:nvSpPr>
          <p:cNvPr id="14" name="body-2-4">
            <a:extLst xmlns:a="http://schemas.openxmlformats.org/drawingml/2006/main">
              <a:ext uri="{FF2B5EF4-FFF2-40B4-BE49-F238E27FC236}">
                <a16:creationId xmlns:a16="http://schemas.microsoft.com/office/drawing/2014/main" id="{52A53651-F202-4D40-8C4F-59A5C47B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tillträde hanteras.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0406F-2740-4DE7-9960-35CE98672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fcc1c339543f4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B5C0C5-97EE-479A-8520-CDAF4AC9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32</a:t>
            </a:r>
          </a:p>
        </p:txBody>
      </p:sp>
    </p:spTree>
    <p:extLst>
      <p:ext uri="{BB962C8B-B14F-4D97-AF65-F5344CB8AC3E}">
        <p14:creationId xmlns:p14="http://schemas.microsoft.com/office/powerpoint/2010/main" val="14639064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2E3900E-9DF3-43E1-B1D0-8B69CFEC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6. Beslutsfall A: den skadade arbetslampan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1D8C3A3-E1AF-433C-BBEB-1BB68DAD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Beskriv vilka personer som kan exponeras och genom vilket förlopp.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719B0B3A-5EAC-4178-A45E-56FF529E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Ange vad som är känt, vad som är osäkert och vilket underlag som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1F432B2A-5F7E-41B0-ADDE-5FA6250E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behövs.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F7E215DA-68AB-4BC2-8B28-4C9F149B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Skriv ett beslut, en ansvarig och en kontrollerbar uppföljning.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021446A4-DA1C-45B6-A935-0891EC9A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Skilj genomförd åtgärd från planerad kontroll.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F0ED7-73B0-4015-889D-04F36677CE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f801410ee4832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F6537C-8A20-43DF-9D1A-860D2D34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33</a:t>
            </a:r>
          </a:p>
        </p:txBody>
      </p:sp>
    </p:spTree>
    <p:extLst>
      <p:ext uri="{BB962C8B-B14F-4D97-AF65-F5344CB8AC3E}">
        <p14:creationId xmlns:p14="http://schemas.microsoft.com/office/powerpoint/2010/main" val="121260397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B4F8448-B08D-4B90-9DAA-6654EC22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7. Beslutsfall B: ljus och länsning samtidigt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2808567-4F40-4881-9ED0-8EAC259C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Den skadade lampan är nu tagen ur bruk genom säker hantering.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63D2555E-11BF-4190-9818-E684FDA5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Gångvägen behövs i ytterligare 90 minuter. Samma grupp försörjer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E064DFFF-2304-4DB0-9C76-29B0607F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också en pump vars aktuella driftbehov behöver klarläggas. En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15F632CF-CF8C-41D6-9140-6474A806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länspump för bort vatten från avsedda utrymmen; dess betydelse</a:t>
            </a:r>
          </a:p>
        </p:txBody>
      </p:sp>
      <p:sp>
        <p:nvSpPr>
          <p:cNvPr id="6" name="body-0-4">
            <a:extLst xmlns:a="http://schemas.openxmlformats.org/drawingml/2006/main">
              <a:ext uri="{FF2B5EF4-FFF2-40B4-BE49-F238E27FC236}">
                <a16:creationId xmlns:a16="http://schemas.microsoft.com/office/drawing/2014/main" id="{84E6AF54-1FAB-4E89-845E-C92AA70B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beror på uppgift och driftläge.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308FF-ED36-477E-9647-CB0DD49EE3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d4c3daf7a4b74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0C6896-5AA2-46FF-9E8C-D509A3D0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34</a:t>
            </a:r>
          </a:p>
        </p:txBody>
      </p:sp>
    </p:spTree>
    <p:extLst>
      <p:ext uri="{BB962C8B-B14F-4D97-AF65-F5344CB8AC3E}">
        <p14:creationId xmlns:p14="http://schemas.microsoft.com/office/powerpoint/2010/main" val="97478944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4913B287-09F7-469F-A814-8F25BE22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7. Beslutsfall B: ljus och länsning samtidigt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DD174-C384-44AC-A8AC-A4F55C54FA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97223aec449d4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31902EC9-9DFA-45F2-B42E-A83F0F45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funktionsschema visar hur en gemensam matning förgrenas till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18D44A8F-550A-4163-918D-66376866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arbetsbelysning och länspump. En frånkoppling före förgreningen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706B3-E420-49F6-8144-2849B5DB5A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2f385f11e4bc7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9A1AFD-8A27-4ADE-B335-DF44A8D9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35</a:t>
            </a:r>
          </a:p>
        </p:txBody>
      </p:sp>
    </p:spTree>
    <p:extLst>
      <p:ext uri="{BB962C8B-B14F-4D97-AF65-F5344CB8AC3E}">
        <p14:creationId xmlns:p14="http://schemas.microsoft.com/office/powerpoint/2010/main" val="114292618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0E5EB03-0AB4-446D-8D75-B5504A45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7. Beslutsfall B: ljus och länsning samtidigt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75E26963-8419-44B2-AA36-BA2E654D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påverkar båda. Detta är inte ett installationsschema.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94EAED16-9406-482E-9519-8DB4D349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Reservlampa A kan tändas, men miljölämplighet och drifttid är okända.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32A540DD-2349-4AD1-8226-D3FEA584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 reservlampa B anger övningsunderlaget lämplighet för fallets miljö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7E1D68DF-AD90-4047-80B8-C88A3576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minst två timmars drifttid i valt läge. B:s aktuella skick, laddning,</a:t>
            </a:r>
          </a:p>
        </p:txBody>
      </p:sp>
      <p:sp>
        <p:nvSpPr>
          <p:cNvPr id="6" name="body-1-3">
            <a:extLst xmlns:a="http://schemas.openxmlformats.org/drawingml/2006/main">
              <a:ext uri="{FF2B5EF4-FFF2-40B4-BE49-F238E27FC236}">
                <a16:creationId xmlns:a16="http://schemas.microsoft.com/office/drawing/2014/main" id="{0F050772-2C16-4BA5-ACFF-C329F53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placering och belysning av gångvägen ska fortfarande kontrolleras. Att</a:t>
            </a:r>
          </a:p>
        </p:txBody>
      </p:sp>
      <p:sp>
        <p:nvSpPr>
          <p:cNvPr id="7" name="body-1-4">
            <a:extLst xmlns:a="http://schemas.openxmlformats.org/drawingml/2006/main">
              <a:ext uri="{FF2B5EF4-FFF2-40B4-BE49-F238E27FC236}">
                <a16:creationId xmlns:a16="http://schemas.microsoft.com/office/drawing/2014/main" id="{4C0B4CEF-F04C-49F8-95EB-E1164A98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den kan lysa är inte den enda kontrollen.</a:t>
            </a:r>
          </a:p>
        </p:txBody>
      </p:sp>
      <p:sp>
        <p:nvSpPr>
          <p:cNvPr id="8" name="body-2-0">
            <a:extLst xmlns:a="http://schemas.openxmlformats.org/drawingml/2006/main">
              <a:ext uri="{FF2B5EF4-FFF2-40B4-BE49-F238E27FC236}">
                <a16:creationId xmlns:a16="http://schemas.microsoft.com/office/drawing/2014/main" id="{F94B888F-831F-42E9-88DD-87F1DAA7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Välj därför inte enbart efter att en lampa går att tända. Ange vilket</a:t>
            </a:r>
          </a:p>
        </p:txBody>
      </p:sp>
      <p:sp>
        <p:nvSpPr>
          <p:cNvPr id="9" name="body-2-1">
            <a:extLst xmlns:a="http://schemas.openxmlformats.org/drawingml/2006/main">
              <a:ext uri="{FF2B5EF4-FFF2-40B4-BE49-F238E27FC236}">
                <a16:creationId xmlns:a16="http://schemas.microsoft.com/office/drawing/2014/main" id="{2204A182-0144-45B2-A692-A1DEDA56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underlag som talar för B och vad som återstår före användning.</a:t>
            </a:r>
          </a:p>
        </p:txBody>
      </p:sp>
      <p:sp>
        <p:nvSpPr>
          <p:cNvPr id="10" name="body-2-2">
            <a:extLst xmlns:a="http://schemas.openxmlformats.org/drawingml/2006/main">
              <a:ext uri="{FF2B5EF4-FFF2-40B4-BE49-F238E27FC236}">
                <a16:creationId xmlns:a16="http://schemas.microsoft.com/office/drawing/2014/main" id="{A8F4D207-E550-4C48-A5D9-F0AAA2A2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Samordna påverkan på pumpen med driftfunktionen.</a:t>
            </a:r>
          </a:p>
        </p:txBody>
      </p:sp>
      <p:sp>
        <p:nvSpPr>
          <p:cNvPr id="11" name="body-2-3">
            <a:extLst xmlns:a="http://schemas.openxmlformats.org/drawingml/2006/main">
              <a:ext uri="{FF2B5EF4-FFF2-40B4-BE49-F238E27FC236}">
                <a16:creationId xmlns:a16="http://schemas.microsoft.com/office/drawing/2014/main" id="{9C8B29EC-F14B-4645-BE73-48922484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Funktionsschemat är inte en instruktion för frånskiljning eller ändrad</a:t>
            </a:r>
          </a:p>
        </p:txBody>
      </p:sp>
      <p:sp>
        <p:nvSpPr>
          <p:cNvPr id="12" name="body-2-4">
            <a:extLst xmlns:a="http://schemas.openxmlformats.org/drawingml/2006/main">
              <a:ext uri="{FF2B5EF4-FFF2-40B4-BE49-F238E27FC236}">
                <a16:creationId xmlns:a16="http://schemas.microsoft.com/office/drawing/2014/main" id="{A947B30F-F2ED-4DF0-8CC0-4953C54A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koppling.</a:t>
            </a:r>
          </a:p>
        </p:txBody>
      </p:sp>
      <p:sp>
        <p:nvSpPr>
          <p:cNvPr id="13" name="body-3-0">
            <a:extLst xmlns:a="http://schemas.openxmlformats.org/drawingml/2006/main">
              <a:ext uri="{FF2B5EF4-FFF2-40B4-BE49-F238E27FC236}">
                <a16:creationId xmlns:a16="http://schemas.microsoft.com/office/drawing/2014/main" id="{A9C21B04-8035-4386-A53B-8867D735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tillfälligt beslut behöver ansvarig, tidsgräns och villkor för</a:t>
            </a:r>
          </a:p>
        </p:txBody>
      </p:sp>
      <p:sp>
        <p:nvSpPr>
          <p:cNvPr id="14" name="body-3-1">
            <a:extLst xmlns:a="http://schemas.openxmlformats.org/drawingml/2006/main">
              <a:ext uri="{FF2B5EF4-FFF2-40B4-BE49-F238E27FC236}">
                <a16:creationId xmlns:a16="http://schemas.microsoft.com/office/drawing/2014/main" id="{A2A78078-5FFB-4E50-8880-C1DD6B5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omprövning. Flyttad lampa, ändrat driftläge eller mer vatten kan kräva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A677F-F877-49A7-ADF7-CA74B0FEF9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55b4461a5487b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BE9A32-E6AE-43D5-BD91-2EF18729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36</a:t>
            </a:r>
          </a:p>
        </p:txBody>
      </p:sp>
    </p:spTree>
    <p:extLst>
      <p:ext uri="{BB962C8B-B14F-4D97-AF65-F5344CB8AC3E}">
        <p14:creationId xmlns:p14="http://schemas.microsoft.com/office/powerpoint/2010/main" val="13489014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438A375D-2436-4A38-9D7C-8A9801F3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7. Beslutsfall B: ljus och länsning samtidigt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144A96C-35E6-4C79-8175-5BF6D19A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ny kontroll. En ficklampa är inte automatiskt en ersättning för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7093DAE6-2D45-4B42-8D86-EC58BFBE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föreskriven nödbelysning.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5A404-0D22-4036-8E3F-8A3808D582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a96a958324bbb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0B367B-CEE4-48D9-8C82-94C4BE98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37</a:t>
            </a:r>
          </a:p>
        </p:txBody>
      </p:sp>
    </p:spTree>
    <p:extLst>
      <p:ext uri="{BB962C8B-B14F-4D97-AF65-F5344CB8AC3E}">
        <p14:creationId xmlns:p14="http://schemas.microsoft.com/office/powerpoint/2010/main" val="82743610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4243CFC-2CBA-42A4-B7F4-2F491637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8. Dokumentera så att någon annan kan följa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ACD4B381-0042-49B9-9756-1845EE66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arbetet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57D2E948-46CF-4911-819D-86E8AA29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användbart protokoll anger objekt, plats, driftläge och mätpunkter.</a:t>
            </a:r>
          </a:p>
        </p:txBody>
      </p:sp>
      <p:sp>
        <p:nvSpPr>
          <p:cNvPr id="4" name="body-0-1">
            <a:extLst xmlns:a="http://schemas.openxmlformats.org/drawingml/2006/main">
              <a:ext uri="{FF2B5EF4-FFF2-40B4-BE49-F238E27FC236}">
                <a16:creationId xmlns:a16="http://schemas.microsoft.com/office/drawing/2014/main" id="{82454F49-58AD-4019-ACAD-58989DEC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Skriv förutsägelse före mätningen, därefter observerat värde med</a:t>
            </a:r>
          </a:p>
        </p:txBody>
      </p:sp>
      <p:sp>
        <p:nvSpPr>
          <p:cNvPr id="5" name="body-0-2">
            <a:extLst xmlns:a="http://schemas.openxmlformats.org/drawingml/2006/main">
              <a:ext uri="{FF2B5EF4-FFF2-40B4-BE49-F238E27FC236}">
                <a16:creationId xmlns:a16="http://schemas.microsoft.com/office/drawing/2014/main" id="{04A1D88C-28EC-427E-BDB2-8D2522E2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enhet, möjlig förklaring och slutsats. Ange vilka kontroller som har</a:t>
            </a:r>
          </a:p>
        </p:txBody>
      </p:sp>
      <p:sp>
        <p:nvSpPr>
          <p:cNvPr id="6" name="body-0-3">
            <a:extLst xmlns:a="http://schemas.openxmlformats.org/drawingml/2006/main">
              <a:ext uri="{FF2B5EF4-FFF2-40B4-BE49-F238E27FC236}">
                <a16:creationId xmlns:a16="http://schemas.microsoft.com/office/drawing/2014/main" id="{4EFCADEC-EB26-4819-BE77-EC63222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utförts och vilka som fortfarande planeras.</a:t>
            </a:r>
          </a:p>
        </p:txBody>
      </p:sp>
      <p:sp>
        <p:nvSpPr>
          <p:cNvPr id="7" name="body-1-0">
            <a:extLst xmlns:a="http://schemas.openxmlformats.org/drawingml/2006/main">
              <a:ext uri="{FF2B5EF4-FFF2-40B4-BE49-F238E27FC236}">
                <a16:creationId xmlns:a16="http://schemas.microsoft.com/office/drawing/2014/main" id="{56EC14B3-37C2-48AB-904D-36549F85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”12,0 V vid batteriet, 11,9 V över lampan, lampan lyser” är ett</a:t>
            </a:r>
          </a:p>
        </p:txBody>
      </p:sp>
      <p:sp>
        <p:nvSpPr>
          <p:cNvPr id="8" name="body-1-1">
            <a:extLst xmlns:a="http://schemas.openxmlformats.org/drawingml/2006/main">
              <a:ext uri="{FF2B5EF4-FFF2-40B4-BE49-F238E27FC236}">
                <a16:creationId xmlns:a16="http://schemas.microsoft.com/office/drawing/2014/main" id="{A40287C1-8E71-4630-AFA4-D46D2435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observationsunderlag. Det bevisar inte att isolation och alla skydd är</a:t>
            </a:r>
          </a:p>
        </p:txBody>
      </p:sp>
      <p:sp>
        <p:nvSpPr>
          <p:cNvPr id="9" name="body-1-2">
            <a:extLst xmlns:a="http://schemas.openxmlformats.org/drawingml/2006/main">
              <a:ext uri="{FF2B5EF4-FFF2-40B4-BE49-F238E27FC236}">
                <a16:creationId xmlns:a16="http://schemas.microsoft.com/office/drawing/2014/main" id="{12587D3E-A346-435D-87C4-1894018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kontrollerade. Ordet ”klart” skapar inget tekniskt bevis.</a:t>
            </a:r>
          </a:p>
        </p:txBody>
      </p:sp>
      <p:sp>
        <p:nvSpPr>
          <p:cNvPr id="10" name="body-2-0">
            <a:extLst xmlns:a="http://schemas.openxmlformats.org/drawingml/2006/main">
              <a:ext uri="{FF2B5EF4-FFF2-40B4-BE49-F238E27FC236}">
                <a16:creationId xmlns:a16="http://schemas.microsoft.com/office/drawing/2014/main" id="{AB36CDA4-B7E5-465C-B5F3-AC624939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Lämna ett tydligt besked mellan berörda funktioner: objekt, plats,</a:t>
            </a:r>
          </a:p>
        </p:txBody>
      </p:sp>
      <p:sp>
        <p:nvSpPr>
          <p:cNvPr id="11" name="body-2-1">
            <a:extLst xmlns:a="http://schemas.openxmlformats.org/drawingml/2006/main">
              <a:ext uri="{FF2B5EF4-FFF2-40B4-BE49-F238E27FC236}">
                <a16:creationId xmlns:a16="http://schemas.microsoft.com/office/drawing/2014/main" id="{A3C7812D-B5C2-465E-B0FC-8FB4B4CF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observation, aktuell status och vem som följer upp. Rollnamn varierar</a:t>
            </a:r>
          </a:p>
        </p:txBody>
      </p:sp>
      <p:sp>
        <p:nvSpPr>
          <p:cNvPr id="12" name="body-2-2">
            <a:extLst xmlns:a="http://schemas.openxmlformats.org/drawingml/2006/main">
              <a:ext uri="{FF2B5EF4-FFF2-40B4-BE49-F238E27FC236}">
                <a16:creationId xmlns:a16="http://schemas.microsoft.com/office/drawing/2014/main" id="{FA075358-DD94-42B1-B3EA-1F554647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mellan organisationer. Kontrollera att mottagaren har uppfattat det</a:t>
            </a:r>
          </a:p>
        </p:txBody>
      </p:sp>
      <p:sp>
        <p:nvSpPr>
          <p:cNvPr id="13" name="body-2-3">
            <a:extLst xmlns:a="http://schemas.openxmlformats.org/drawingml/2006/main">
              <a:ext uri="{FF2B5EF4-FFF2-40B4-BE49-F238E27FC236}">
                <a16:creationId xmlns:a16="http://schemas.microsoft.com/office/drawing/2014/main" id="{99B108AC-EE37-458D-B3CB-D6E8C114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väsentliga.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4A6E4-5D19-4EF9-A673-86E8B7ACA3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b9d7fa5184f58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E779BB-DA3C-4A25-8A11-874E35C0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38</a:t>
            </a:r>
          </a:p>
        </p:txBody>
      </p:sp>
    </p:spTree>
    <p:extLst>
      <p:ext uri="{BB962C8B-B14F-4D97-AF65-F5344CB8AC3E}">
        <p14:creationId xmlns:p14="http://schemas.microsoft.com/office/powerpoint/2010/main" val="59353692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16E5683-F5E3-4374-8A31-A5F33DF9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8. Dokumentera så att någon annan kan följa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D25C2D75-533E-476D-B8CD-FD84480B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arbetet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8F0327C6-903D-46A1-ACCE-0D43377A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Vid olycka eller tillbud: skydda hjälpare från den elektriska faran och</a:t>
            </a:r>
          </a:p>
        </p:txBody>
      </p:sp>
      <p:sp>
        <p:nvSpPr>
          <p:cNvPr id="4" name="body-0-1">
            <a:extLst xmlns:a="http://schemas.openxmlformats.org/drawingml/2006/main">
              <a:ext uri="{FF2B5EF4-FFF2-40B4-BE49-F238E27FC236}">
                <a16:creationId xmlns:a16="http://schemas.microsoft.com/office/drawing/2014/main" id="{F5CA5B75-0DEB-499F-B4EC-9DD5F50E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larma enligt fartygets rutiner. Vid akut nödläge används 112 där</a:t>
            </a:r>
          </a:p>
        </p:txBody>
      </p:sp>
      <p:sp>
        <p:nvSpPr>
          <p:cNvPr id="5" name="body-0-2">
            <a:extLst xmlns:a="http://schemas.openxmlformats.org/drawingml/2006/main">
              <a:ext uri="{FF2B5EF4-FFF2-40B4-BE49-F238E27FC236}">
                <a16:creationId xmlns:a16="http://schemas.microsoft.com/office/drawing/2014/main" id="{5FEAB320-FD73-401C-8B93-00334028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kontakt är möjlig. Följ larmoperatörens och sjukvårdens anvisningar.</a:t>
            </a:r>
          </a:p>
        </p:txBody>
      </p:sp>
      <p:sp>
        <p:nvSpPr>
          <p:cNvPr id="6" name="body-0-3">
            <a:extLst xmlns:a="http://schemas.openxmlformats.org/drawingml/2006/main">
              <a:ext uri="{FF2B5EF4-FFF2-40B4-BE49-F238E27FC236}">
                <a16:creationId xmlns:a16="http://schemas.microsoft.com/office/drawing/2014/main" id="{D92E3AF9-209C-4EB0-86BD-97EB1B04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Rapportera händelser och tillbud sakligt när det akuta läget är</a:t>
            </a:r>
          </a:p>
        </p:txBody>
      </p:sp>
      <p:sp>
        <p:nvSpPr>
          <p:cNvPr id="7" name="body-0-4">
            <a:extLst xmlns:a="http://schemas.openxmlformats.org/drawingml/2006/main">
              <a:ext uri="{FF2B5EF4-FFF2-40B4-BE49-F238E27FC236}">
                <a16:creationId xmlns:a16="http://schemas.microsoft.com/office/drawing/2014/main" id="{2E3B28B2-A6DB-4066-BFCE-693FBF78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hanterat. Denna distanslektion ersätter inte praktisk första hjälpen.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F526D-46A6-487E-8AD6-B5B13577D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369f48cc1497b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F524C7-6407-4A43-85B5-794D8D12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39</a:t>
            </a:r>
          </a:p>
        </p:txBody>
      </p:sp>
    </p:spTree>
    <p:extLst>
      <p:ext uri="{BB962C8B-B14F-4D97-AF65-F5344CB8AC3E}">
        <p14:creationId xmlns:p14="http://schemas.microsoft.com/office/powerpoint/2010/main" val="148780793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8C7D092-5238-43D1-B622-90FE8661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9. Räkneexempel: från kiloohm till milliampere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2B916D81-6477-4C86-A437-0E0D329E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Givet: en ideal källa på 12 V och en ohmsk resistor på 2 kΩ. Sökt: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7357BFA3-16D5-46C8-9595-CDCBB200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strömmen genom resistorn. Omvandla först resistansen till 2 000 Ω.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94229099-546C-457A-AA3C-79D5C9BC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Välj sedan strömformen av Ohms lag.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6C8A0-B865-44A5-BA64-D489A3012C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21f09fc28421a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15EBA72-217B-4BB0-98A7-A58325E6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40</a:t>
            </a:r>
          </a:p>
        </p:txBody>
      </p:sp>
    </p:spTree>
    <p:extLst>
      <p:ext uri="{BB962C8B-B14F-4D97-AF65-F5344CB8AC3E}">
        <p14:creationId xmlns:p14="http://schemas.microsoft.com/office/powerpoint/2010/main" val="31287598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85966BC-FD04-4F1F-81DA-CE605787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9. Räkneexempel: från kiloohm till milliampere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3109E-B6E8-4DE8-8BBE-1B30F918AA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dcc2c0cdc4568"/>
          <a:stretch xmlns:a="http://schemas.openxmlformats.org/drawingml/2006/main"/>
        </p:blipFill>
        <p:spPr>
          <a:xfrm xmlns:a="http://schemas.openxmlformats.org/drawingml/2006/main">
            <a:off x="1551093" y="1152525"/>
            <a:ext cx="6041813" cy="6096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8235F-501E-4A33-8685-B1354078A6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d06f0bd1f4e70"/>
          <a:stretch xmlns:a="http://schemas.openxmlformats.org/drawingml/2006/main"/>
        </p:blipFill>
        <p:spPr>
          <a:xfrm xmlns:a="http://schemas.openxmlformats.org/drawingml/2006/main">
            <a:off x="945696" y="1933575"/>
            <a:ext cx="7252607" cy="37147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FB1F4-2DAC-4E2C-8DB0-FAE5FEF1A2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c61c65f484694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12C8E0-0164-4F41-8620-DEB546CD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41</a:t>
            </a:r>
          </a:p>
        </p:txBody>
      </p:sp>
    </p:spTree>
    <p:extLst>
      <p:ext uri="{BB962C8B-B14F-4D97-AF65-F5344CB8AC3E}">
        <p14:creationId xmlns:p14="http://schemas.microsoft.com/office/powerpoint/2010/main" val="56188514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6EC7972-71D3-4365-9C0D-46DF968F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9. Räkneexempel: från kiloohm till milliampere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4747E7A-63E9-4447-9AEC-1BCA1A80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separata kretsar har vardera en ideal 12 V-källa. En resistor på 1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4AC4AC46-5B4A-40A5-8316-F7A3B9F5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kiloohm ger 12 milliampere. Två kiloohm ger 6 milliampere.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3D912F05-2CAF-4F3D-87B6-7A5071BB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U: volt (V). R: ohm (Ω). I: ampere (A) eller milliampere (mA).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D175A55E-B82F-407D-8511-42E4DC49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Gäller när: Ohmsk, resistiv likströmsmodell vid angiven driftpunkt.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330002DF-CEA0-45B6-BD71-83C34AE5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Ledningarna antas ideala.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830BAEFF-28A4-44E7-84ED-AE4B5A66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Rimlighetskontroll: vid samma spänning och halverad resistans, 1 kΩ,</a:t>
            </a:r>
          </a:p>
        </p:txBody>
      </p:sp>
      <p:sp>
        <p:nvSpPr>
          <p:cNvPr id="8" name="body-3-1">
            <a:extLst xmlns:a="http://schemas.openxmlformats.org/drawingml/2006/main">
              <a:ext uri="{FF2B5EF4-FFF2-40B4-BE49-F238E27FC236}">
                <a16:creationId xmlns:a16="http://schemas.microsoft.com/office/drawing/2014/main" id="{639CFB61-5128-4558-B5E5-7D9804B4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ska strömmen fördubblas till 12 mA. Den jämförelsen syns i figuren.</a:t>
            </a:r>
          </a:p>
        </p:txBody>
      </p:sp>
      <p:sp>
        <p:nvSpPr>
          <p:cNvPr id="9" name="body-4-0">
            <a:extLst xmlns:a="http://schemas.openxmlformats.org/drawingml/2006/main">
              <a:ext uri="{FF2B5EF4-FFF2-40B4-BE49-F238E27FC236}">
                <a16:creationId xmlns:a16="http://schemas.microsoft.com/office/drawing/2014/main" id="{0F0BC09C-1638-4480-B504-F6810F2E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Eget försök med samma metod: 12 V över 3 kΩ. Skriv om resistansen,</a:t>
            </a:r>
          </a:p>
        </p:txBody>
      </p:sp>
      <p:sp>
        <p:nvSpPr>
          <p:cNvPr id="10" name="body-4-1">
            <a:extLst xmlns:a="http://schemas.openxmlformats.org/drawingml/2006/main">
              <a:ext uri="{FF2B5EF4-FFF2-40B4-BE49-F238E27FC236}">
                <a16:creationId xmlns:a16="http://schemas.microsoft.com/office/drawing/2014/main" id="{13FBAF8F-3062-4D7C-8691-41533CEB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välj samband och ange ström i A och mA. Facit finns efter modulens</a:t>
            </a:r>
          </a:p>
        </p:txBody>
      </p:sp>
      <p:sp>
        <p:nvSpPr>
          <p:cNvPr id="11" name="body-4-2">
            <a:extLst xmlns:a="http://schemas.openxmlformats.org/drawingml/2006/main">
              <a:ext uri="{FF2B5EF4-FFF2-40B4-BE49-F238E27FC236}">
                <a16:creationId xmlns:a16="http://schemas.microsoft.com/office/drawing/2014/main" id="{2029EEDE-8C11-45D7-8339-7F536382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uppgifter.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C5B28-2965-4EF1-B788-BB38CE94CA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a03f0ad75402a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40A06A-2729-4CB9-9238-392AA0CB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42</a:t>
            </a:r>
          </a:p>
        </p:txBody>
      </p:sp>
    </p:spTree>
    <p:extLst>
      <p:ext uri="{BB962C8B-B14F-4D97-AF65-F5344CB8AC3E}">
        <p14:creationId xmlns:p14="http://schemas.microsoft.com/office/powerpoint/2010/main" val="141671239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37AE0D7-1BB8-4296-BAA3-CBDFB4DF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10. Räkneexempel: en ny likströmslast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B7D80027-5694-4837-9730-B038096B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När grundmetoden fungerar ändrar vi talen. En last har resistansen 9 Ω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68159FE2-24AC-4DC4-88B8-345BDC30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matas med 18 V. Vi söker strömmen och använder samma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56255BC0-A802-47CD-B6E7-B5D5B3FD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 som i föregående exempel.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7782A-DD07-4F87-847C-B9E19BF1B4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f5ca3c5d44c29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2915B38-0F31-49E1-B007-9A52C58D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43</a:t>
            </a:r>
          </a:p>
        </p:txBody>
      </p:sp>
    </p:spTree>
    <p:extLst>
      <p:ext uri="{BB962C8B-B14F-4D97-AF65-F5344CB8AC3E}">
        <p14:creationId xmlns:p14="http://schemas.microsoft.com/office/powerpoint/2010/main" val="74379384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640648D-DD3F-47BF-BBCB-8AA8F9A3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10. Räkneexempel: en ny likströmslast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77451-79E7-4FB1-99A0-88F23A34A1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c002ac03140c9"/>
          <a:stretch xmlns:a="http://schemas.openxmlformats.org/drawingml/2006/main"/>
        </p:blipFill>
        <p:spPr>
          <a:xfrm xmlns:a="http://schemas.openxmlformats.org/drawingml/2006/main">
            <a:off x="2959947" y="1152525"/>
            <a:ext cx="3224107" cy="6096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C9689-5CFA-41E0-9A65-B4661AC434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36f29d886477e"/>
          <a:stretch xmlns:a="http://schemas.openxmlformats.org/drawingml/2006/main"/>
        </p:blipFill>
        <p:spPr>
          <a:xfrm xmlns:a="http://schemas.openxmlformats.org/drawingml/2006/main">
            <a:off x="945696" y="1933575"/>
            <a:ext cx="7252607" cy="37147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281A2-3716-4BDB-8791-8E87BB1F3D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7afdd5b2d45b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98EE0E-D3B9-402B-86B7-407CA71E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44</a:t>
            </a:r>
          </a:p>
        </p:txBody>
      </p:sp>
    </p:spTree>
    <p:extLst>
      <p:ext uri="{BB962C8B-B14F-4D97-AF65-F5344CB8AC3E}">
        <p14:creationId xmlns:p14="http://schemas.microsoft.com/office/powerpoint/2010/main" val="34839804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077E1BB-47BC-447C-BD60-4B660DE6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10. Räkneexempel: en ny likströmslast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AD7D8C8E-E337-457A-8B83-A036CCEE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ideal 18 V-källa driver 2 A genom en ohmsk resistor på 9 ohm vid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79323705-7EF1-4942-A280-C03D0A29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den angivna driftpunkten.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A3ACCD49-CBDB-4638-8A1C-B1E31193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U: volt (V). R: ohm (Ω). I: ampere (A).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214E2E3E-B6DE-4BFB-BA2A-06867F97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Gäller när: Ohmsk, resistiv likströmsmodell vid angiven driftpunkt.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9AA168E7-52C4-488F-861C-19B404ED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Ledningarna antas ideala.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1FE81775-8F24-4F4F-94A8-569072BF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Kontrollera lösningen genom att multiplicera den beräknade strömmen</a:t>
            </a:r>
          </a:p>
        </p:txBody>
      </p:sp>
      <p:sp>
        <p:nvSpPr>
          <p:cNvPr id="8" name="body-3-1">
            <a:extLst xmlns:a="http://schemas.openxmlformats.org/drawingml/2006/main">
              <a:ext uri="{FF2B5EF4-FFF2-40B4-BE49-F238E27FC236}">
                <a16:creationId xmlns:a16="http://schemas.microsoft.com/office/drawing/2014/main" id="{9E860669-3291-4F85-A4CB-8F5405D7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med den givna resistansen. Produkten ska återge källans spänning.</a:t>
            </a:r>
          </a:p>
        </p:txBody>
      </p:sp>
      <p:sp>
        <p:nvSpPr>
          <p:cNvPr id="9" name="body-3-2">
            <a:extLst xmlns:a="http://schemas.openxmlformats.org/drawingml/2006/main">
              <a:ext uri="{FF2B5EF4-FFF2-40B4-BE49-F238E27FC236}">
                <a16:creationId xmlns:a16="http://schemas.microsoft.com/office/drawing/2014/main" id="{6D77A6ED-4B7E-485A-B834-2C9717D5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Förklara alltid vilken driftpunkt och modell du använder.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3CE1A-A887-4E87-8FE9-D49B212377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ef7701f7d43e4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88CEB71-3B27-4384-8C0B-2024C03A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45</a:t>
            </a:r>
          </a:p>
        </p:txBody>
      </p:sp>
    </p:spTree>
    <p:extLst>
      <p:ext uri="{BB962C8B-B14F-4D97-AF65-F5344CB8AC3E}">
        <p14:creationId xmlns:p14="http://schemas.microsoft.com/office/powerpoint/2010/main" val="68847107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95B01B7-A88F-4DE9-8C4E-2A67FA51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11. Räkneexempel: två lika parallella grenar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FE5D937D-DF76-4356-85D8-5C19FA4B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Veckofallet använder två resistorer på 12 Ω anslutna parallellt till 24 V.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491654D5-B506-48B4-967E-2C2EDA13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Båda grenarna har hela källspänningen. Beräkna först varje gren och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FFFE0CE1-DC7E-4585-B125-338EE11E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summera sedan strömmarna.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AD312-9F4E-4B38-9E14-41FC61D607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d95d9412f4137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EDC3F9-5C87-46CF-B0AC-A084634F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46</a:t>
            </a:r>
          </a:p>
        </p:txBody>
      </p:sp>
    </p:spTree>
    <p:extLst>
      <p:ext uri="{BB962C8B-B14F-4D97-AF65-F5344CB8AC3E}">
        <p14:creationId xmlns:p14="http://schemas.microsoft.com/office/powerpoint/2010/main" val="186180752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D82976AB-6EAF-4434-8303-768DD305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11. Räkneexempel: två lika parallella grenar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26466-FD60-4F7A-99A3-00E097126B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964040b974c2b"/>
          <a:stretch xmlns:a="http://schemas.openxmlformats.org/drawingml/2006/main"/>
        </p:blipFill>
        <p:spPr>
          <a:xfrm xmlns:a="http://schemas.openxmlformats.org/drawingml/2006/main">
            <a:off x="1378857" y="1152525"/>
            <a:ext cx="6386286" cy="6096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44439-16FB-49F2-9A54-52F281F06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4e4941fbe4a1d"/>
          <a:stretch xmlns:a="http://schemas.openxmlformats.org/drawingml/2006/main"/>
        </p:blipFill>
        <p:spPr>
          <a:xfrm xmlns:a="http://schemas.openxmlformats.org/drawingml/2006/main">
            <a:off x="945696" y="1933575"/>
            <a:ext cx="7252607" cy="37147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8654A-68BC-408A-A209-37FF3453DE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95abfd12448c6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A1D5C2-079A-451A-8D48-75A54844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47</a:t>
            </a:r>
          </a:p>
        </p:txBody>
      </p:sp>
    </p:spTree>
    <p:extLst>
      <p:ext uri="{BB962C8B-B14F-4D97-AF65-F5344CB8AC3E}">
        <p14:creationId xmlns:p14="http://schemas.microsoft.com/office/powerpoint/2010/main" val="93702499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33871637-072B-4336-ACBA-34394FF9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11. Räkneexempel: två lika parallella grenar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F163555C-207F-4522-9E13-6DFBB136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resistorer på 12 ohm ligger i separata grenar mellan samma två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36309A33-FBA7-4BC5-8EE5-BB5E4DBE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noder i en ideal 24 V-krets. Varje gren tar 2 ampere och källan ger 4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9F9BF800-AE61-43BE-9D7B-0EA32CC1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ampere.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A64EAA60-376D-4C45-8B9F-6F7EBC74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Grenströmmar och totalström anges i ampere (A).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439E2C8D-37F9-4F8E-A0D5-EAB7145C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Gäller när: Ohmsk, resistiv likströmsmodell vid angiven driftpunkt.</a:t>
            </a:r>
          </a:p>
        </p:txBody>
      </p:sp>
      <p:sp>
        <p:nvSpPr>
          <p:cNvPr id="7" name="body-2-1">
            <a:extLst xmlns:a="http://schemas.openxmlformats.org/drawingml/2006/main">
              <a:ext uri="{FF2B5EF4-FFF2-40B4-BE49-F238E27FC236}">
                <a16:creationId xmlns:a16="http://schemas.microsoft.com/office/drawing/2014/main" id="{E18D0A8E-F1BB-4411-AFC7-17DB2797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Ledningarna antas ideala.</a:t>
            </a:r>
          </a:p>
        </p:txBody>
      </p:sp>
      <p:sp>
        <p:nvSpPr>
          <p:cNvPr id="8" name="body-3-0">
            <a:extLst xmlns:a="http://schemas.openxmlformats.org/drawingml/2006/main">
              <a:ext uri="{FF2B5EF4-FFF2-40B4-BE49-F238E27FC236}">
                <a16:creationId xmlns:a16="http://schemas.microsoft.com/office/drawing/2014/main" id="{EA6B75B9-5136-49C1-9190-4B0E3FD1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Jämför med seriefiguren: två 12 Ω-resistorer i serie vid 24 V ger en</a:t>
            </a:r>
          </a:p>
        </p:txBody>
      </p:sp>
      <p:sp>
        <p:nvSpPr>
          <p:cNvPr id="9" name="body-3-1">
            <a:extLst xmlns:a="http://schemas.openxmlformats.org/drawingml/2006/main">
              <a:ext uri="{FF2B5EF4-FFF2-40B4-BE49-F238E27FC236}">
                <a16:creationId xmlns:a16="http://schemas.microsoft.com/office/drawing/2014/main" id="{FEA75126-4F4E-4991-AE6C-C49829E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total resistans på 24 Ω och en gemensam ström på 1 A. Samma</a:t>
            </a:r>
          </a:p>
        </p:txBody>
      </p:sp>
      <p:sp>
        <p:nvSpPr>
          <p:cNvPr id="10" name="body-3-2">
            <a:extLst xmlns:a="http://schemas.openxmlformats.org/drawingml/2006/main">
              <a:ext uri="{FF2B5EF4-FFF2-40B4-BE49-F238E27FC236}">
                <a16:creationId xmlns:a16="http://schemas.microsoft.com/office/drawing/2014/main" id="{6D058AF9-C198-4303-8466-B4FE0CA9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86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komponenter och samma källa ger olika resultat när kopplingen</a:t>
            </a:r>
          </a:p>
        </p:txBody>
      </p:sp>
      <p:sp>
        <p:nvSpPr>
          <p:cNvPr id="11" name="body-3-3">
            <a:extLst xmlns:a="http://schemas.openxmlformats.org/drawingml/2006/main">
              <a:ext uri="{FF2B5EF4-FFF2-40B4-BE49-F238E27FC236}">
                <a16:creationId xmlns:a16="http://schemas.microsoft.com/office/drawing/2014/main" id="{FCFC070A-20D4-402D-A424-18536E77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ändras. Rita därför strömvägarna före beräkningen.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2BA46-D245-4365-8B97-9F3BB8F59B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b618d00f24bc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8DE330-9289-4AFF-A845-E9602E76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48</a:t>
            </a:r>
          </a:p>
        </p:txBody>
      </p:sp>
    </p:spTree>
    <p:extLst>
      <p:ext uri="{BB962C8B-B14F-4D97-AF65-F5344CB8AC3E}">
        <p14:creationId xmlns:p14="http://schemas.microsoft.com/office/powerpoint/2010/main" val="43599065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A9E50DF-B8F2-4BBB-9935-3E0897FA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11. Räkneexempel: två lika parallella grenar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04126-DAA7-402E-BAC4-781B98F529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6e62294564079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16EBB8CC-3396-4EE6-99D7-804617DA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resistorer på 12 ohm ligger i serie med en 24 V-källa. Total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0570D50E-EFD3-468C-A7D0-43F5F9E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 är 24 ohm och strömmen är 1 ampere.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89E90-5AAB-4063-B456-BB6F53C937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1b997811646b0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22CAA6-9865-49F0-BCCA-C9E086EC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49</a:t>
            </a:r>
          </a:p>
        </p:txBody>
      </p:sp>
    </p:spTree>
    <p:extLst>
      <p:ext uri="{BB962C8B-B14F-4D97-AF65-F5344CB8AC3E}">
        <p14:creationId xmlns:p14="http://schemas.microsoft.com/office/powerpoint/2010/main" val="147339339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2A06036-2553-446B-B110-BC103F2F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12. Inför övningarna och källor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7A9364A7-6C13-4540-8BC9-7A18E98F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Kan du följa både framledning och retur?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7E304AA6-FB97-4C05-B8FD-73CC39FE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Kan du förklara varför ett spänningsvärde inte bevisar strömflöde?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A7EF3F33-395D-48F1-AA0D-FED772EC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Kan du skilja serie från parallell och omvandla kΩ och mA?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2AB5F614-9DA5-4D79-B197-76F159E3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Kan du skilja observation från hypotes och skriva en verifierbar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9E167E92-B84C-4B5E-9722-0A6FF2EA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riskrad?</a:t>
            </a:r>
          </a:p>
        </p:txBody>
      </p:sp>
      <p:sp>
        <p:nvSpPr>
          <p:cNvPr id="7" name="body-4-0">
            <a:extLst xmlns:a="http://schemas.openxmlformats.org/drawingml/2006/main">
              <a:ext uri="{FF2B5EF4-FFF2-40B4-BE49-F238E27FC236}">
                <a16:creationId xmlns:a16="http://schemas.microsoft.com/office/drawing/2014/main" id="{963918DF-E1E8-4C72-8D3C-195E73BE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Därefter följer veckofallet, självrättande kontroller, simulatorprotokoll</a:t>
            </a:r>
          </a:p>
        </p:txBody>
      </p:sp>
      <p:sp>
        <p:nvSpPr>
          <p:cNvPr id="8" name="body-4-1">
            <a:extLst xmlns:a="http://schemas.openxmlformats.org/drawingml/2006/main">
              <a:ext uri="{FF2B5EF4-FFF2-40B4-BE49-F238E27FC236}">
                <a16:creationId xmlns:a16="http://schemas.microsoft.com/office/drawing/2014/main" id="{E7FFBF73-5FF1-4412-8DF3-59C6D237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din skriftliga redovisning. Resonemang och laborationsunderlag</a:t>
            </a:r>
          </a:p>
        </p:txBody>
      </p:sp>
      <p:sp>
        <p:nvSpPr>
          <p:cNvPr id="9" name="body-4-2">
            <a:extLst xmlns:a="http://schemas.openxmlformats.org/drawingml/2006/main">
              <a:ext uri="{FF2B5EF4-FFF2-40B4-BE49-F238E27FC236}">
                <a16:creationId xmlns:a16="http://schemas.microsoft.com/office/drawing/2014/main" id="{BF3E1029-E493-440D-A2EE-3D37275B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kräver lärargranskning.</a:t>
            </a:r>
          </a:p>
        </p:txBody>
      </p:sp>
      <p:sp>
        <p:nvSpPr>
          <p:cNvPr id="10" name="body-5-0">
            <a:extLst xmlns:a="http://schemas.openxmlformats.org/drawingml/2006/main">
              <a:ext uri="{FF2B5EF4-FFF2-40B4-BE49-F238E27FC236}">
                <a16:creationId xmlns:a16="http://schemas.microsoft.com/office/drawing/2014/main" id="{2A1F4E19-D81C-4DDC-85DF-A4EE2989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14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Allmänna säkerhetsprinciper stöds av material från Elsäkerhetsverket,</a:t>
            </a:r>
          </a:p>
        </p:txBody>
      </p:sp>
      <p:sp>
        <p:nvSpPr>
          <p:cNvPr id="11" name="body-5-1">
            <a:extLst xmlns:a="http://schemas.openxmlformats.org/drawingml/2006/main">
              <a:ext uri="{FF2B5EF4-FFF2-40B4-BE49-F238E27FC236}">
                <a16:creationId xmlns:a16="http://schemas.microsoft.com/office/drawing/2014/main" id="{B27F30C9-450A-448A-BC1B-4A3CED08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38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Arbetsmiljöverket och Transportstyrelsen. Fallens beslut är pedagogiska</a:t>
            </a:r>
          </a:p>
        </p:txBody>
      </p:sp>
      <p:sp>
        <p:nvSpPr>
          <p:cNvPr id="12" name="body-5-2">
            <a:extLst xmlns:a="http://schemas.openxmlformats.org/drawingml/2006/main">
              <a:ext uri="{FF2B5EF4-FFF2-40B4-BE49-F238E27FC236}">
                <a16:creationId xmlns:a16="http://schemas.microsoft.com/office/drawing/2014/main" id="{BA3EBEBF-2C26-4108-ABF5-D921751C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tillämpningar av givna uppgifter. Tillämpliga rutiner beror på det</a:t>
            </a:r>
          </a:p>
        </p:txBody>
      </p:sp>
      <p:sp>
        <p:nvSpPr>
          <p:cNvPr id="13" name="body-5-3">
            <a:extLst xmlns:a="http://schemas.openxmlformats.org/drawingml/2006/main">
              <a:ext uri="{FF2B5EF4-FFF2-40B4-BE49-F238E27FC236}">
                <a16:creationId xmlns:a16="http://schemas.microsoft.com/office/drawing/2014/main" id="{92C5F5A8-23FB-4AF5-961A-1579DB12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aktuella fartyget och uppgiften.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E8B3E-241F-4146-9709-552D5A3EDE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8558927e8460c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5EEB40-4E74-474D-9527-1A193EEC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50</a:t>
            </a:r>
          </a:p>
        </p:txBody>
      </p:sp>
    </p:spTree>
    <p:extLst>
      <p:ext uri="{BB962C8B-B14F-4D97-AF65-F5344CB8AC3E}">
        <p14:creationId xmlns:p14="http://schemas.microsoft.com/office/powerpoint/2010/main" val="68850375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48723DAC-7BDE-4851-ADAC-5725711E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12. Inför övningarna och källor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7019D571-C0A2-4EA4-A0FA-D1DABDE2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Schematiska symboler: ma-laforge/ElectricalDiagrams , MIT-licens. Läs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14CD784F-457D-477A-8E59-F6EBE418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licensen . Kretsar, märkning och svenska bildförklaringar är omritade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5BBD8D71-FAC4-4ACA-8974-113C9B12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 denna modul. Ursprungsmaterialet finns i källarkivet.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755E1-3DBB-4FC2-9435-493430D597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507f346df4a49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B2B388-48DF-48DA-ACFA-3963F160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51</a:t>
            </a:r>
          </a:p>
        </p:txBody>
      </p:sp>
    </p:spTree>
    <p:extLst>
      <p:ext uri="{BB962C8B-B14F-4D97-AF65-F5344CB8AC3E}">
        <p14:creationId xmlns:p14="http://schemas.microsoft.com/office/powerpoint/2010/main" val="87473397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3AF4A16F-83DB-409F-BDFB-F9AC6798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8DDC3EF4-36AE-4A70-A30F-D1F6F0E3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386FB-5AF4-4DDF-AC3E-DDA2FCDEE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ea2d7c6504143"/>
          <a:stretch xmlns:a="http://schemas.openxmlformats.org/drawingml/2006/main"/>
        </p:blipFill>
        <p:spPr>
          <a:xfrm xmlns:a="http://schemas.openxmlformats.org/drawingml/2006/main">
            <a:off x="3544711" y="1562100"/>
            <a:ext cx="2054578" cy="6096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27204-4FD8-45A1-B2BC-2D2835385B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36a28749b45b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5818AB-489E-463F-94A2-5AB90991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52</a:t>
            </a:r>
          </a:p>
        </p:txBody>
      </p:sp>
    </p:spTree>
    <p:extLst>
      <p:ext uri="{BB962C8B-B14F-4D97-AF65-F5344CB8AC3E}">
        <p14:creationId xmlns:p14="http://schemas.microsoft.com/office/powerpoint/2010/main" val="64624267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08B2C9A8-C9FC-4A6E-AA51-4AC19AE7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8BDFFEB4-2660-4FCF-AC57-9362FBB8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0A76A-C721-4ECB-A740-719615DBA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1578337c746ae"/>
          <a:stretch xmlns:a="http://schemas.openxmlformats.org/drawingml/2006/main"/>
        </p:blipFill>
        <p:spPr>
          <a:xfrm xmlns:a="http://schemas.openxmlformats.org/drawingml/2006/main">
            <a:off x="947854" y="1562100"/>
            <a:ext cx="724829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C3E77393-66B2-4BF5-AC9B-6DACE37D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voltmeter är parallellkopplad mellan A och B, samma två noder som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35FE8-3989-43EA-937F-ED04D5CBDD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514d9d3a8486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DD93BD-D7C6-4DEC-8375-21BED8B5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53</a:t>
            </a:r>
          </a:p>
        </p:txBody>
      </p:sp>
    </p:spTree>
    <p:extLst>
      <p:ext uri="{BB962C8B-B14F-4D97-AF65-F5344CB8AC3E}">
        <p14:creationId xmlns:p14="http://schemas.microsoft.com/office/powerpoint/2010/main" val="209864956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292D662-EEAF-4311-96BF-216BF4B1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D8F24C6A-BF9B-41D2-AB1C-DEEFB40A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12DC800D-D0C2-4D23-A44D-28425F5C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resistorn. Batteriet modelleras som en ideal 12 V-källa.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2C03E656-570C-4474-B6ED-94AA408C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U: volt (V). R: ohm (Ω). I: ampere (A).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EE3BA-D6E4-4D7B-B813-B3ED3ECBB3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3e9c333174aa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BE5F82-6D3C-4C21-AD8B-FE0B0998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54</a:t>
            </a:r>
          </a:p>
        </p:txBody>
      </p:sp>
    </p:spTree>
    <p:extLst>
      <p:ext uri="{BB962C8B-B14F-4D97-AF65-F5344CB8AC3E}">
        <p14:creationId xmlns:p14="http://schemas.microsoft.com/office/powerpoint/2010/main" val="159288218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DE1143DD-846A-4069-96BD-38F5561B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2C6F65DD-D69A-4F46-B4BD-A5FBD7BD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3910D-C636-483E-819C-527373FE5F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53b6c6d4244e1"/>
          <a:stretch xmlns:a="http://schemas.openxmlformats.org/drawingml/2006/main"/>
        </p:blipFill>
        <p:spPr>
          <a:xfrm xmlns:a="http://schemas.openxmlformats.org/drawingml/2006/main">
            <a:off x="4085771" y="1562100"/>
            <a:ext cx="972457" cy="6096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E08D0-FFE3-40F3-8ECE-56582B057B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bc507245f451c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3B0FE1-DC88-4EA8-9902-19C2D037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55</a:t>
            </a:r>
          </a:p>
        </p:txBody>
      </p:sp>
    </p:spTree>
    <p:extLst>
      <p:ext uri="{BB962C8B-B14F-4D97-AF65-F5344CB8AC3E}">
        <p14:creationId xmlns:p14="http://schemas.microsoft.com/office/powerpoint/2010/main" val="125638651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C23349D-504E-4828-90D9-2BDAD94C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3A8177EE-8A4A-4AD4-A4E2-E03CDF9F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B177A-86B8-49D7-A2E3-3F8EC1D25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cd17855614637"/>
          <a:stretch xmlns:a="http://schemas.openxmlformats.org/drawingml/2006/main"/>
        </p:blipFill>
        <p:spPr>
          <a:xfrm xmlns:a="http://schemas.openxmlformats.org/drawingml/2006/main">
            <a:off x="947854" y="1562100"/>
            <a:ext cx="724829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47DF0C51-D145-465B-9AE5-9F1C164B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separata kretsar har vardera en ideal 12 V-källa. En resistor på 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E9034-F752-4133-A4BF-4F56A7DB63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ca160d32843a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F1BE11-924D-4FBB-B4E1-DCB008F5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56</a:t>
            </a:r>
          </a:p>
        </p:txBody>
      </p:sp>
    </p:spTree>
    <p:extLst>
      <p:ext uri="{BB962C8B-B14F-4D97-AF65-F5344CB8AC3E}">
        <p14:creationId xmlns:p14="http://schemas.microsoft.com/office/powerpoint/2010/main" val="88650912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94DD2A7-F051-47BD-B407-D535D86A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A57F391C-7254-4995-BB6C-D1C59D1A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8441FD5A-C3C4-4271-861B-082860C4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kiloohm ger 12 milliampere. Två kiloohm ger 6 milliampere.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9FF1A79B-D0C7-4787-A1C3-F7826EE4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I: ampere (A). U: volt (V). R: ohm (Ω).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55C9F-E921-429B-9530-6BBF7B0B00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858964c2a4fcb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89E03E-3B54-4671-9609-759D315C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57</a:t>
            </a:r>
          </a:p>
        </p:txBody>
      </p:sp>
    </p:spTree>
    <p:extLst>
      <p:ext uri="{BB962C8B-B14F-4D97-AF65-F5344CB8AC3E}">
        <p14:creationId xmlns:p14="http://schemas.microsoft.com/office/powerpoint/2010/main" val="167550623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D3010F7-7870-41E5-8D3C-2039EFF8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5ED86471-9EB6-44BB-9593-DC14FC97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F1503-5E10-4EAA-9308-A38126362F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43cb8d2b1482b"/>
          <a:stretch xmlns:a="http://schemas.openxmlformats.org/drawingml/2006/main"/>
        </p:blipFill>
        <p:spPr>
          <a:xfrm xmlns:a="http://schemas.openxmlformats.org/drawingml/2006/main">
            <a:off x="3998686" y="1562100"/>
            <a:ext cx="1146629" cy="6096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1245D-D4F4-4EBE-9431-E0B35F0AC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9976b72f34e6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F39D47-97CD-4962-9CBB-9925A233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58</a:t>
            </a:r>
          </a:p>
        </p:txBody>
      </p:sp>
    </p:spTree>
    <p:extLst>
      <p:ext uri="{BB962C8B-B14F-4D97-AF65-F5344CB8AC3E}">
        <p14:creationId xmlns:p14="http://schemas.microsoft.com/office/powerpoint/2010/main" val="1563163411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61EAA8F-FCF7-42D8-8A8B-B1F5AE7A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859F9E9A-3606-4A90-BCCF-FAD7BCE0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794DC-484F-4C3A-A33E-1B4A9B90CA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03c5b46d04bc8"/>
          <a:stretch xmlns:a="http://schemas.openxmlformats.org/drawingml/2006/main"/>
        </p:blipFill>
        <p:spPr>
          <a:xfrm xmlns:a="http://schemas.openxmlformats.org/drawingml/2006/main">
            <a:off x="947854" y="1562100"/>
            <a:ext cx="724829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27DB62AC-798B-4012-B96C-EA052383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ideal 12 V-källa driver den uppmätta strömmen 6 mA genom en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4C3F1-5578-4355-980B-EB674D79E9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e790645734907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3C50A7-C9FC-43D5-91D5-89DC1CAC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59</a:t>
            </a:r>
          </a:p>
        </p:txBody>
      </p:sp>
    </p:spTree>
    <p:extLst>
      <p:ext uri="{BB962C8B-B14F-4D97-AF65-F5344CB8AC3E}">
        <p14:creationId xmlns:p14="http://schemas.microsoft.com/office/powerpoint/2010/main" val="131120176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48206535-DC71-495D-A690-662F4152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9E139E22-14BB-4C65-9506-C0A69198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17529F72-0509-4DD5-BBB9-60502807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okänd resistor. Spänning och ström gäller samma driftpunkt.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C9457F4E-ED52-432A-896B-738136A0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R: ohm (Ω). U: volt (V). I: ampere (A).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39777BF4-803F-45F1-A3D8-2AF765BE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Gäller när: Använd angiven resistans och driftpunkt; verkliga lampors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229B199D-EA45-4ACB-B7FD-52906B50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 kan ändras med temperaturen.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3F20E-7FFF-4BB3-9E25-8562334CA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6ddafba4e4b8a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2D943FA-14FA-46B4-BB02-469FEE05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60</a:t>
            </a:r>
          </a:p>
        </p:txBody>
      </p:sp>
    </p:spTree>
    <p:extLst>
      <p:ext uri="{BB962C8B-B14F-4D97-AF65-F5344CB8AC3E}">
        <p14:creationId xmlns:p14="http://schemas.microsoft.com/office/powerpoint/2010/main" val="30857497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254904B-CD4B-481C-9314-3F0F4906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Ersättningsresistans för två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014E2F45-7B9E-4369-9D1A-597CFEA2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positiva resistanser.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C250D-847B-471A-AE02-EEA0D66824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c66ff9c564faf"/>
          <a:stretch xmlns:a="http://schemas.openxmlformats.org/drawingml/2006/main"/>
        </p:blipFill>
        <p:spPr>
          <a:xfrm xmlns:a="http://schemas.openxmlformats.org/drawingml/2006/main">
            <a:off x="2306320" y="1562100"/>
            <a:ext cx="4531360" cy="6096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3C5C5-712F-48EF-A7E6-A9BC96A6C3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6764146044df6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9213C9-28B5-4F13-AFC3-4FBCC1D4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61</a:t>
            </a:r>
          </a:p>
        </p:txBody>
      </p:sp>
    </p:spTree>
    <p:extLst>
      <p:ext uri="{BB962C8B-B14F-4D97-AF65-F5344CB8AC3E}">
        <p14:creationId xmlns:p14="http://schemas.microsoft.com/office/powerpoint/2010/main" val="58079999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4AB9724E-2594-47B4-BC8F-383D986A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Ersättningsresistans för två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1431B42A-9F48-418C-B735-A741EE94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positiva resistanser.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F1DE6-7DAF-49CD-BBF3-E7C7C53445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45a50af524885"/>
          <a:stretch xmlns:a="http://schemas.openxmlformats.org/drawingml/2006/main"/>
        </p:blipFill>
        <p:spPr>
          <a:xfrm xmlns:a="http://schemas.openxmlformats.org/drawingml/2006/main">
            <a:off x="947854" y="1562100"/>
            <a:ext cx="724829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793A5ADC-F66C-49CC-83DE-1D2576AF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resistorer på 12 ohm ligger i serie med en 24 V-källa. Total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A57C1-BB34-4EDF-A321-D4B992FCF2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966d2540f4de3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44E712-E56D-470F-89C0-5573EAE7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62</a:t>
            </a:r>
          </a:p>
        </p:txBody>
      </p:sp>
    </p:spTree>
    <p:extLst>
      <p:ext uri="{BB962C8B-B14F-4D97-AF65-F5344CB8AC3E}">
        <p14:creationId xmlns:p14="http://schemas.microsoft.com/office/powerpoint/2010/main" val="157160776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04A4166-E2B8-4041-A7D3-DE402506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Ersättningsresistans för två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1563DAE9-999F-4F6D-88AA-772470FD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positiva resistanser.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F4594A97-F11C-4BAB-BD41-8F1BBC1D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 är 24 ohm och strömmen är 1 ampere.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8563F876-8107-4C33-9C65-63D61CAE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Resistanser anges i ohm (Ω). Samma ström går genom serielasterna.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170DC-BE0D-417E-B9FC-368088FBB9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57c5cb98d407a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07DC76-3E1C-4A60-9357-2B4799E8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63</a:t>
            </a:r>
          </a:p>
        </p:txBody>
      </p:sp>
    </p:spTree>
    <p:extLst>
      <p:ext uri="{BB962C8B-B14F-4D97-AF65-F5344CB8AC3E}">
        <p14:creationId xmlns:p14="http://schemas.microsoft.com/office/powerpoint/2010/main" val="1983819025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3477D5E7-E405-437E-BAFD-16E95F82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Ersättningsresistans för två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002DF04E-2CE3-4E48-8C1A-B1C4BFC6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positiva resistanser.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B9D13-92AF-4554-8C8C-E906C81F18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61b9bedaf4a1a"/>
          <a:stretch xmlns:a="http://schemas.openxmlformats.org/drawingml/2006/main"/>
        </p:blipFill>
        <p:spPr>
          <a:xfrm xmlns:a="http://schemas.openxmlformats.org/drawingml/2006/main">
            <a:off x="3136900" y="1562100"/>
            <a:ext cx="2870200" cy="6096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31AC2-D0CC-45B8-8EA1-EF6C599361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c4119a1d24715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6CFD49-C8BC-4501-8547-E3175F40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64</a:t>
            </a:r>
          </a:p>
        </p:txBody>
      </p:sp>
    </p:spTree>
    <p:extLst>
      <p:ext uri="{BB962C8B-B14F-4D97-AF65-F5344CB8AC3E}">
        <p14:creationId xmlns:p14="http://schemas.microsoft.com/office/powerpoint/2010/main" val="1032584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13E0AFF-EC25-4EB2-A81A-2E32C8CD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Ersättningsresistans för två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BD4329C3-E0B4-42A1-A9AD-78FF78EB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positiva resistanser.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F27B8-82DC-4091-B80D-99D0D0D81B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37f10eaef4d46"/>
          <a:stretch xmlns:a="http://schemas.openxmlformats.org/drawingml/2006/main"/>
        </p:blipFill>
        <p:spPr>
          <a:xfrm xmlns:a="http://schemas.openxmlformats.org/drawingml/2006/main">
            <a:off x="947854" y="1562100"/>
            <a:ext cx="724829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028248F0-6C95-4ADE-BD85-F1287A90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resistorer på 12 ohm ligger i separata grenar mellan samma två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C4CEF-B07A-4FF2-AE1C-00124948F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0be471e444f89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FA823E-0336-4E49-A94D-5B328815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65</a:t>
            </a:r>
          </a:p>
        </p:txBody>
      </p:sp>
    </p:spTree>
    <p:extLst>
      <p:ext uri="{BB962C8B-B14F-4D97-AF65-F5344CB8AC3E}">
        <p14:creationId xmlns:p14="http://schemas.microsoft.com/office/powerpoint/2010/main" val="114095856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C87A576-78A5-4ABE-9C07-982332D5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Ersättningsresistans för två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30B302D5-9588-478A-B1FD-A178FFDC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positiva resistanser.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5FC1D7E6-4895-47FF-B1F0-6D59119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noder i en ideal 24 V-krets. Varje gren tar 2 ampere och källan ger 4</a:t>
            </a:r>
          </a:p>
        </p:txBody>
      </p:sp>
      <p:sp>
        <p:nvSpPr>
          <p:cNvPr id="4" name="body-0-1">
            <a:extLst xmlns:a="http://schemas.openxmlformats.org/drawingml/2006/main">
              <a:ext uri="{FF2B5EF4-FFF2-40B4-BE49-F238E27FC236}">
                <a16:creationId xmlns:a16="http://schemas.microsoft.com/office/drawing/2014/main" id="{B041F463-23CD-4310-BBFA-DB340CCD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ampere.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8C1AE70A-BA04-4418-BBAE-DEC5E633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Resistanser anges i ohm (Ω). De parallella grenarna har samma</a:t>
            </a:r>
          </a:p>
        </p:txBody>
      </p:sp>
      <p:sp>
        <p:nvSpPr>
          <p:cNvPr id="6" name="body-1-1">
            <a:extLst xmlns:a="http://schemas.openxmlformats.org/drawingml/2006/main">
              <a:ext uri="{FF2B5EF4-FFF2-40B4-BE49-F238E27FC236}">
                <a16:creationId xmlns:a16="http://schemas.microsoft.com/office/drawing/2014/main" id="{9873559B-142C-4F09-972C-85D2AA4A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spänning.</a:t>
            </a:r>
          </a:p>
        </p:txBody>
      </p:sp>
      <p:sp>
        <p:nvSpPr>
          <p:cNvPr id="7" name="body-2-0">
            <a:extLst xmlns:a="http://schemas.openxmlformats.org/drawingml/2006/main">
              <a:ext uri="{FF2B5EF4-FFF2-40B4-BE49-F238E27FC236}">
                <a16:creationId xmlns:a16="http://schemas.microsoft.com/office/drawing/2014/main" id="{E21E3A61-71E6-4590-A6D5-C244A1F1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Gäller när: Parallelluttrycket kräver att båda resistorerna ligger mellan</a:t>
            </a:r>
          </a:p>
        </p:txBody>
      </p:sp>
      <p:sp>
        <p:nvSpPr>
          <p:cNvPr id="8" name="body-2-1">
            <a:extLst xmlns:a="http://schemas.openxmlformats.org/drawingml/2006/main">
              <a:ext uri="{FF2B5EF4-FFF2-40B4-BE49-F238E27FC236}">
                <a16:creationId xmlns:a16="http://schemas.microsoft.com/office/drawing/2014/main" id="{DC197B10-9FE7-46B2-AA7F-09D10B19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samma två noder.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0AF63-94D7-408F-A284-4DD5C9C1F2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01c3df2be47b6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71A71C-3B0A-49CE-B508-45DFE37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66</a:t>
            </a:r>
          </a:p>
        </p:txBody>
      </p:sp>
    </p:spTree>
    <p:extLst>
      <p:ext uri="{BB962C8B-B14F-4D97-AF65-F5344CB8AC3E}">
        <p14:creationId xmlns:p14="http://schemas.microsoft.com/office/powerpoint/2010/main" val="84347927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A4692AB-9950-4777-88C9-DD06B5D9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Effekt i en resistiv likströmslast.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AAF2E-7706-4112-A73C-4904DECBFB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6f621ca094857"/>
          <a:stretch xmlns:a="http://schemas.openxmlformats.org/drawingml/2006/main"/>
        </p:blipFill>
        <p:spPr>
          <a:xfrm xmlns:a="http://schemas.openxmlformats.org/drawingml/2006/main">
            <a:off x="3578578" y="1152525"/>
            <a:ext cx="1986844" cy="6096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665BC-CBF8-4887-89CB-A175B7303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f9b35a2384324"/>
          <a:stretch xmlns:a="http://schemas.openxmlformats.org/drawingml/2006/main"/>
        </p:blipFill>
        <p:spPr>
          <a:xfrm xmlns:a="http://schemas.openxmlformats.org/drawingml/2006/main">
            <a:off x="947854" y="1933575"/>
            <a:ext cx="7248293" cy="37147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890D4-307E-4365-BD78-FF2DDC12B4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dd35843f14a8b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C3065A-654F-41FF-8720-8035F7A7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67</a:t>
            </a:r>
          </a:p>
        </p:txBody>
      </p:sp>
    </p:spTree>
    <p:extLst>
      <p:ext uri="{BB962C8B-B14F-4D97-AF65-F5344CB8AC3E}">
        <p14:creationId xmlns:p14="http://schemas.microsoft.com/office/powerpoint/2010/main" val="56611140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02F1514-1F02-42B3-9FD6-12C17295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Effekt i en resistiv likströmslast.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041D63E-C71B-4862-97AB-9C3920A9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ideal 24 V-källa driver 2 A genom en resistiv last på 12 ohm.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990DE530-D4EF-427E-9637-8CF8450C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Lastens elektriska effekt är 48 watt i denna driftpunkt.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53BE0AFE-A089-4BE3-8CA4-461B4E55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P: watt (W). U: volt (V). I: ampere (A).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CE2A1276-DB98-4E57-94C2-671D90DB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Gäller när: Spänning och ström ska avse samma last och samma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BA956399-9011-4B18-B7D0-719C0F0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driftpunkt i den resistiva likströmsmodellen.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EB55D-B0C5-420C-9ACA-C9056D13E6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e8267d9954c7e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0D9587-AC3C-4454-8863-DD2BB31F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68</a:t>
            </a:r>
          </a:p>
        </p:txBody>
      </p:sp>
    </p:spTree>
    <p:extLst>
      <p:ext uri="{BB962C8B-B14F-4D97-AF65-F5344CB8AC3E}">
        <p14:creationId xmlns:p14="http://schemas.microsoft.com/office/powerpoint/2010/main" val="101035819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1FEF4F3-5328-4896-9300-55A0AD55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Vanliga fel och egen kontroll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CB9BD635-755E-4ECB-A23B-489D67FC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Vanliga fel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A3C8CC92-16A2-4363-B327-20423712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Behandla inte spänning som något som flyter; ström går och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0A1F0D1E-2C70-43BA-88ED-68604A3D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spänning mäts mellan punkter.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C77A7BA2-2A3D-4A62-A8DE-A4C059F8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0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Anslut inte strömingången direkt över en cell i en spänningsövning.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ABB19631-4031-49B1-A0F8-19A02A5E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8925"/>
            <a:ext cx="82296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Du är redo att försöka när…</a:t>
            </a:r>
          </a:p>
        </p:txBody>
      </p:sp>
      <p:sp>
        <p:nvSpPr>
          <p:cNvPr id="7" name="body-4-0">
            <a:extLst xmlns:a="http://schemas.openxmlformats.org/drawingml/2006/main">
              <a:ext uri="{FF2B5EF4-FFF2-40B4-BE49-F238E27FC236}">
                <a16:creationId xmlns:a16="http://schemas.microsoft.com/office/drawing/2014/main" id="{67589C5B-872F-425E-9905-35159AB4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Jag kan rita hela returvägen och skilja serie från parallell.</a:t>
            </a:r>
          </a:p>
        </p:txBody>
      </p:sp>
      <p:sp>
        <p:nvSpPr>
          <p:cNvPr id="8" name="body-5-0">
            <a:extLst xmlns:a="http://schemas.openxmlformats.org/drawingml/2006/main">
              <a:ext uri="{FF2B5EF4-FFF2-40B4-BE49-F238E27FC236}">
                <a16:creationId xmlns:a16="http://schemas.microsoft.com/office/drawing/2014/main" id="{1880AC6A-6529-4C05-8320-542F7B03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Jag kan skriva om Ohms lag och ange svarets enhet.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62B1E-994F-487C-8C3A-A18E000D3D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98b95d1364b0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1606C4-A148-42D6-8A78-AF8531F8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69</a:t>
            </a:r>
          </a:p>
        </p:txBody>
      </p:sp>
    </p:spTree>
    <p:extLst>
      <p:ext uri="{BB962C8B-B14F-4D97-AF65-F5344CB8AC3E}">
        <p14:creationId xmlns:p14="http://schemas.microsoft.com/office/powerpoint/2010/main" val="1003285304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89341F2-83D0-433A-B651-BA1A3052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Belysningen i förrådet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D6D18A1-1039-4CA9-9E84-478E6C43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simulerat 24 V-system matar en resistiv arbetslampa på 12 Ω.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99B53145-BAF1-4112-B5B4-2492C4C0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Ledningarna antas först ideala. Du ska förklara normal drift, jämföra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477865EF-5D77-4839-AE0E-A3042148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kopplingar och skilja en bruten retur från en spänningslös källa.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B0B85120-769C-4B27-B3B5-6FC8DC27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Redovisning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6CE5B75D-FBAC-41F4-B017-1298E9BA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Rita normal krets och en krets med bruten retur. Markera minst tre</a:t>
            </a:r>
          </a:p>
        </p:txBody>
      </p:sp>
      <p:sp>
        <p:nvSpPr>
          <p:cNvPr id="7" name="body-2-1">
            <a:extLst xmlns:a="http://schemas.openxmlformats.org/drawingml/2006/main">
              <a:ext uri="{FF2B5EF4-FFF2-40B4-BE49-F238E27FC236}">
                <a16:creationId xmlns:a16="http://schemas.microsoft.com/office/drawing/2014/main" id="{90BCB8A9-9D73-49CC-BB8E-2085C15B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mätpunkter.</a:t>
            </a:r>
          </a:p>
        </p:txBody>
      </p:sp>
      <p:sp>
        <p:nvSpPr>
          <p:cNvPr id="8" name="body-3-0">
            <a:extLst xmlns:a="http://schemas.openxmlformats.org/drawingml/2006/main">
              <a:ext uri="{FF2B5EF4-FFF2-40B4-BE49-F238E27FC236}">
                <a16:creationId xmlns:a16="http://schemas.microsoft.com/office/drawing/2014/main" id="{F444D7EE-FD42-4953-8931-0B2D54DA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Redovisa serie- och parallellfallet i en jämförelsetabell. Förklara</a:t>
            </a:r>
          </a:p>
        </p:txBody>
      </p:sp>
      <p:sp>
        <p:nvSpPr>
          <p:cNvPr id="9" name="body-3-1">
            <a:extLst xmlns:a="http://schemas.openxmlformats.org/drawingml/2006/main">
              <a:ext uri="{FF2B5EF4-FFF2-40B4-BE49-F238E27FC236}">
                <a16:creationId xmlns:a16="http://schemas.microsoft.com/office/drawing/2014/main" id="{E63951F7-A0DC-47B2-BD61-C3CD0EBB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varför samma batterispänning inte ger samma totalström.</a:t>
            </a:r>
          </a:p>
        </p:txBody>
      </p:sp>
      <p:sp>
        <p:nvSpPr>
          <p:cNvPr id="10" name="body-4-0">
            <a:extLst xmlns:a="http://schemas.openxmlformats.org/drawingml/2006/main">
              <a:ext uri="{FF2B5EF4-FFF2-40B4-BE49-F238E27FC236}">
                <a16:creationId xmlns:a16="http://schemas.microsoft.com/office/drawing/2014/main" id="{E706F171-0FCA-435D-B6BF-33CC4776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3. Skriv en riskrad med fara, åtgärd och hur åtgärden kontrolleras.</a:t>
            </a:r>
          </a:p>
        </p:txBody>
      </p:sp>
      <p:sp>
        <p:nvSpPr>
          <p:cNvPr id="11" name="body-5-0">
            <a:extLst xmlns:a="http://schemas.openxmlformats.org/drawingml/2006/main">
              <a:ext uri="{FF2B5EF4-FFF2-40B4-BE49-F238E27FC236}">
                <a16:creationId xmlns:a16="http://schemas.microsoft.com/office/drawing/2014/main" id="{8762AA1A-3E63-4A1E-86DF-54736D74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76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Besvara också beslutsfall A och B: observation, möjlig händelse,</a:t>
            </a:r>
          </a:p>
        </p:txBody>
      </p:sp>
      <p:sp>
        <p:nvSpPr>
          <p:cNvPr id="12" name="body-5-1">
            <a:extLst xmlns:a="http://schemas.openxmlformats.org/drawingml/2006/main">
              <a:ext uri="{FF2B5EF4-FFF2-40B4-BE49-F238E27FC236}">
                <a16:creationId xmlns:a16="http://schemas.microsoft.com/office/drawing/2014/main" id="{C1E95C55-F131-4478-BD1C-50BF855B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beslut, ansvar och verifiering. Skilj genomförd åtgärd från planerad</a:t>
            </a:r>
          </a:p>
        </p:txBody>
      </p:sp>
      <p:sp>
        <p:nvSpPr>
          <p:cNvPr id="13" name="body-5-2">
            <a:extLst xmlns:a="http://schemas.openxmlformats.org/drawingml/2006/main">
              <a:ext uri="{FF2B5EF4-FFF2-40B4-BE49-F238E27FC236}">
                <a16:creationId xmlns:a16="http://schemas.microsoft.com/office/drawing/2014/main" id="{F5942F9D-8ED5-4B0F-9FD9-9A87F942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244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EF183-456A-4873-86CE-1363D12F0B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bad3437cd4970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D7553F-6FF2-4C36-83AF-5EFC7FDB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70</a:t>
            </a:r>
          </a:p>
        </p:txBody>
      </p:sp>
    </p:spTree>
    <p:extLst>
      <p:ext uri="{BB962C8B-B14F-4D97-AF65-F5344CB8AC3E}">
        <p14:creationId xmlns:p14="http://schemas.microsoft.com/office/powerpoint/2010/main" val="62296478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88FAD27-C89B-472C-9E32-E0C83865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Belysningen i förrådet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3EEFB1D-5DF9-47E3-9192-5FA2FEF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Andra genomgången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CE543BEB-7058-467E-A01C-FFE77913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en andra genomgång med ett ändrat givet värde eller ett annat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4C84BE2C-8C6E-41FC-BE9F-784D8590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fel. Skriv vad som bör ändras och vad som bör vara oförändrat innan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B28F90AE-DBCC-445E-8436-0B9E8FB7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du räknar eller simulerar. Motivera skillnaden och ange modellens</a:t>
            </a:r>
          </a:p>
        </p:txBody>
      </p:sp>
      <p:sp>
        <p:nvSpPr>
          <p:cNvPr id="6" name="body-1-3">
            <a:extLst xmlns:a="http://schemas.openxmlformats.org/drawingml/2006/main">
              <a:ext uri="{FF2B5EF4-FFF2-40B4-BE49-F238E27FC236}">
                <a16:creationId xmlns:a16="http://schemas.microsoft.com/office/drawing/2014/main" id="{AF5D15FF-00E3-4246-8344-2690019D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03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begränsning.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F6391-6A5D-4394-A9CF-264B774BFB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bc34944cc49cb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9D1DF1-1ED0-4E8D-AD89-E9447AD2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71</a:t>
            </a:r>
          </a:p>
        </p:txBody>
      </p:sp>
    </p:spTree>
    <p:extLst>
      <p:ext uri="{BB962C8B-B14F-4D97-AF65-F5344CB8AC3E}">
        <p14:creationId xmlns:p14="http://schemas.microsoft.com/office/powerpoint/2010/main" val="690671215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72FAF25-195B-4B92-9A8D-DB127185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AEE32DA-E7E6-460B-84E5-7475CB66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24 V-lampa har bruten retur. Vilket påstående stämmer?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E5F8BA52-57D5-4CCA-A72C-5F44A431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En fullständig väg för stationär ström saknas.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0CF9E517-C7CE-495A-8E68-0F4A30D5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Spänning på en anslutning bevisar strömflöde.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3F20CBF8-804F-4A38-8CAF-53C551F7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Resistansen måste vara noll.</a:t>
            </a:r>
          </a:p>
        </p:txBody>
      </p:sp>
      <p:sp>
        <p:nvSpPr>
          <p:cNvPr id="6" name="body-4-0">
            <a:extLst xmlns:a="http://schemas.openxmlformats.org/drawingml/2006/main">
              <a:ext uri="{FF2B5EF4-FFF2-40B4-BE49-F238E27FC236}">
                <a16:creationId xmlns:a16="http://schemas.microsoft.com/office/drawing/2014/main" id="{F2992877-DE10-4036-A2E2-7D534A3E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7" name="body-4-1">
            <a:extLst xmlns:a="http://schemas.openxmlformats.org/drawingml/2006/main">
              <a:ext uri="{FF2B5EF4-FFF2-40B4-BE49-F238E27FC236}">
                <a16:creationId xmlns:a16="http://schemas.microsoft.com/office/drawing/2014/main" id="{F9A22BE2-ABAA-4886-B42D-32A4C4FF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B9296-0778-41F9-ACEF-5038A3AF41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0512fa52e4e54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E2D093-22FA-411D-ABA3-47680D3F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72</a:t>
            </a:r>
          </a:p>
        </p:txBody>
      </p:sp>
    </p:spTree>
    <p:extLst>
      <p:ext uri="{BB962C8B-B14F-4D97-AF65-F5344CB8AC3E}">
        <p14:creationId xmlns:p14="http://schemas.microsoft.com/office/powerpoint/2010/main" val="533497127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B4E6381-20C0-47E8-A348-A9956A22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2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032F542A-BC3C-4705-9EC3-253F9952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Vilken storhet är gemensam för parallella grenar?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447ADFCE-74CE-4D5C-B825-F0E7A700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Ström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BE109DA1-8FC7-453E-B062-5810053F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Resistans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C2E26966-BA09-40E6-AF5F-82CB5864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Spänning</a:t>
            </a:r>
          </a:p>
        </p:txBody>
      </p:sp>
      <p:sp>
        <p:nvSpPr>
          <p:cNvPr id="6" name="body-4-0">
            <a:extLst xmlns:a="http://schemas.openxmlformats.org/drawingml/2006/main">
              <a:ext uri="{FF2B5EF4-FFF2-40B4-BE49-F238E27FC236}">
                <a16:creationId xmlns:a16="http://schemas.microsoft.com/office/drawing/2014/main" id="{F4851F60-C48E-4402-BF5A-11002056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7" name="body-4-1">
            <a:extLst xmlns:a="http://schemas.openxmlformats.org/drawingml/2006/main">
              <a:ext uri="{FF2B5EF4-FFF2-40B4-BE49-F238E27FC236}">
                <a16:creationId xmlns:a16="http://schemas.microsoft.com/office/drawing/2014/main" id="{D443F89E-1B98-44EE-9F0B-72B9490A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2B1B3-35F7-4BC2-A8F1-2F6E3F25E4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f25116194451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F2CB6A-DA74-42FD-B92B-DDEB5F39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73</a:t>
            </a:r>
          </a:p>
        </p:txBody>
      </p:sp>
    </p:spTree>
    <p:extLst>
      <p:ext uri="{BB962C8B-B14F-4D97-AF65-F5344CB8AC3E}">
        <p14:creationId xmlns:p14="http://schemas.microsoft.com/office/powerpoint/2010/main" val="144648006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EC01259-5574-415D-AC51-5FCA64D4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3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3522EBC0-ABBA-4BC2-ACB2-A3723744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resistor på 12 Ω matas med 24 V DC. Bestäm strömmen.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086EECFC-FC94-4C0B-B6BE-9CAAF527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(A). Redovisa metod och rimlighetskontroll.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9350E0F4-7A47-4745-BEA6-3BA6467E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6266BF95-B026-4FC6-92D0-8D977793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14864-44A5-44BD-B8E5-D88AC7E3BB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c89d08df041a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5BC0B1-F0F8-4784-901D-256BFB16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74</a:t>
            </a:r>
          </a:p>
        </p:txBody>
      </p:sp>
    </p:spTree>
    <p:extLst>
      <p:ext uri="{BB962C8B-B14F-4D97-AF65-F5344CB8AC3E}">
        <p14:creationId xmlns:p14="http://schemas.microsoft.com/office/powerpoint/2010/main" val="110636187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7FBB2E1-685A-49D3-A615-D3083335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4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DC9C447-3595-4CC3-9FA9-F1D67981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serieresistorer är 8 Ω och 16 Ω. Bestäm total resistans.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E55D53D7-4C82-4D5C-ABC7-55773C09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(Ω). Redovisa metod och rimlighetskontroll.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345B9C4D-633E-4DA6-A507-D110B4D9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1AC5662C-C9F0-4B42-A740-9ED16D66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73121-DEA3-4ED6-ABF1-F4FC193F44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68992523147f6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8DDC3F-A44B-4A22-8DB5-2F07A072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75</a:t>
            </a:r>
          </a:p>
        </p:txBody>
      </p:sp>
    </p:spTree>
    <p:extLst>
      <p:ext uri="{BB962C8B-B14F-4D97-AF65-F5344CB8AC3E}">
        <p14:creationId xmlns:p14="http://schemas.microsoft.com/office/powerpoint/2010/main" val="1284328885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0D7936A-1E97-489A-8EF9-D9DC05A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Träningsinlämning 5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0EE4505E-EF80-4522-9323-4C98B37D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Träningsinlämning: en 24 V-lampa tar 0,4 A. Beräkna resistansen i drift.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424ACF7D-4FDB-47E3-A07D-9ED48285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(Ω). Redovisa metod och rimlighetskontroll.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7BD76260-C2A3-4B06-AF0B-08A901BC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03C68A4F-E848-4495-BC63-C5EA03F7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0B9B6-FC92-49BC-9770-2A4C413A0D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5e1e9b6774173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DE2F1E9-189D-4B47-BCA0-AF6D3BCC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76</a:t>
            </a:r>
          </a:p>
        </p:txBody>
      </p:sp>
    </p:spTree>
    <p:extLst>
      <p:ext uri="{BB962C8B-B14F-4D97-AF65-F5344CB8AC3E}">
        <p14:creationId xmlns:p14="http://schemas.microsoft.com/office/powerpoint/2010/main" val="183782444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33B177B-6C03-46A8-95CA-B5DE0EA0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6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7ABE50AA-39EB-46A1-B208-C0FBC810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Veckofall: vilken ström går genom 12 Ω vid 24 V?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16799102-04BB-430E-8EFB-086691C0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(A). Redovisa metod och rimlighetskontroll.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77EFA9E3-D8AC-4D2B-BC12-0A84FF18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52C3FCB0-DC22-4AF8-B364-D8C0BD45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CF8EF-25C6-4805-944F-FDCECDCA8C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28e476358492b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6027A3-746C-45C0-84B1-331E9A5B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77</a:t>
            </a:r>
          </a:p>
        </p:txBody>
      </p:sp>
    </p:spTree>
    <p:extLst>
      <p:ext uri="{BB962C8B-B14F-4D97-AF65-F5344CB8AC3E}">
        <p14:creationId xmlns:p14="http://schemas.microsoft.com/office/powerpoint/2010/main" val="47815794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43E924B-75AA-4109-B6A7-C47D65B9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7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669AF40C-FA38-4A0A-AFAA-ED96E134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Veckofall: hur stor är lampans effekt vid 24 V och 2 A?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84677B6F-74B5-4D47-AB9F-CD2D3250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(W). Redovisa metod och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BF64B51E-0F3D-44BA-8B14-622B5774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rimlighetskontroll.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7AD56C3C-0CC0-418E-81F0-E12081BB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5077B820-C272-4DE9-AC48-29B42BE3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C8889-3548-473B-86D0-2105124159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3b987713b4302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283928B-C3A0-48C5-8E5A-7993D79D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78</a:t>
            </a:r>
          </a:p>
        </p:txBody>
      </p:sp>
    </p:spTree>
    <p:extLst>
      <p:ext uri="{BB962C8B-B14F-4D97-AF65-F5344CB8AC3E}">
        <p14:creationId xmlns:p14="http://schemas.microsoft.com/office/powerpoint/2010/main" val="27125472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AC61655-A46E-46F3-A9C4-141F0C0A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8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77AD3D6-CEF5-4622-9C34-AF38F47A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identiska 12 Ω-laster seriekopplas till 24 V. Hur stor blir strömmen?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2678CC2F-33F5-428C-917D-B7BA4430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(A). Redovisa metod och rimlighetskontroll.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DFEEF5CF-D473-4674-8A21-F8D526C0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35699793-C376-415A-9C1F-113B7F56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4CBD2-0807-407B-8F4A-9EB0ABBF4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91b9152f445f2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B30AB1-7F25-438E-87A1-079657E2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79</a:t>
            </a:r>
          </a:p>
        </p:txBody>
      </p:sp>
    </p:spTree>
    <p:extLst>
      <p:ext uri="{BB962C8B-B14F-4D97-AF65-F5344CB8AC3E}">
        <p14:creationId xmlns:p14="http://schemas.microsoft.com/office/powerpoint/2010/main" val="44989777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AC513D4-5C57-4DD6-818F-61E13DD1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9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9C89C03-0467-40FB-AD5B-7875E3F6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identiska 12 Ω-laster parallellkopplas till 24 V. Vilken totalström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BA5C5DB2-6CAF-441A-806C-CB71D229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lämnar källan?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B2A36A36-E311-436F-8C7F-B153D204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(A). Redovisa metod och rimlighetskontroll.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AD04CB3C-3B55-4FE1-8934-D342D141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6976FE97-6482-483B-86D6-CA08FC3E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5EC28-2600-4128-849E-52B002D6E2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96385666848a5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4F5ADE-DEB9-43A5-9526-F2A22F39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80</a:t>
            </a:r>
          </a:p>
        </p:txBody>
      </p:sp>
    </p:spTree>
    <p:extLst>
      <p:ext uri="{BB962C8B-B14F-4D97-AF65-F5344CB8AC3E}">
        <p14:creationId xmlns:p14="http://schemas.microsoft.com/office/powerpoint/2010/main" val="87052273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F6FA032-D7E5-48D6-94A9-D319B9AF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10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0998D4D-6936-4C72-87EA-CC2FC93C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Returen öppnas. Vad visar en ideal strömmätning i lampgrenen?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7F56D9D6-6209-4C3C-8B54-E7B747B7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0 A.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289AF71E-A94E-431A-B28C-E150CA0E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2 A.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7D25679D-EFAC-4CAC-B3DF-B36D6B11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24 A.</a:t>
            </a:r>
          </a:p>
        </p:txBody>
      </p:sp>
      <p:sp>
        <p:nvSpPr>
          <p:cNvPr id="6" name="body-4-0">
            <a:extLst xmlns:a="http://schemas.openxmlformats.org/drawingml/2006/main">
              <a:ext uri="{FF2B5EF4-FFF2-40B4-BE49-F238E27FC236}">
                <a16:creationId xmlns:a16="http://schemas.microsoft.com/office/drawing/2014/main" id="{10898881-D000-4304-AA96-3B78E387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7" name="body-4-1">
            <a:extLst xmlns:a="http://schemas.openxmlformats.org/drawingml/2006/main">
              <a:ext uri="{FF2B5EF4-FFF2-40B4-BE49-F238E27FC236}">
                <a16:creationId xmlns:a16="http://schemas.microsoft.com/office/drawing/2014/main" id="{68965AD0-791E-479E-9964-D7F25825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EEE8E-22B6-41FA-803E-65E97F4613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ae6c679444bf4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C54CFF-8F5E-4445-928E-B1887D66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81</a:t>
            </a:r>
          </a:p>
        </p:txBody>
      </p:sp>
    </p:spTree>
    <p:extLst>
      <p:ext uri="{BB962C8B-B14F-4D97-AF65-F5344CB8AC3E}">
        <p14:creationId xmlns:p14="http://schemas.microsoft.com/office/powerpoint/2010/main" val="139662949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08A90AA8-8A3F-4031-A393-34117BE5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11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DF9DEE5D-D850-4AE1-AD7A-53635E05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Vilken uppgift är en kontrollerbar säkerhetsåtgärd?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75CE523C-F9BE-4608-B51F-C2393542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Var försiktig.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07A438D7-60F8-42AF-AA10-24891EA5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Kontrollera att angiven källa är frånkopplad och dokumentera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8B25F663-A3B3-471C-83C7-1BBDB63B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kontrollen.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03A99435-A7BD-4438-BD1B-B3900D3A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Arbeta fort.</a:t>
            </a:r>
          </a:p>
        </p:txBody>
      </p:sp>
      <p:sp>
        <p:nvSpPr>
          <p:cNvPr id="7" name="body-4-0">
            <a:extLst xmlns:a="http://schemas.openxmlformats.org/drawingml/2006/main">
              <a:ext uri="{FF2B5EF4-FFF2-40B4-BE49-F238E27FC236}">
                <a16:creationId xmlns:a16="http://schemas.microsoft.com/office/drawing/2014/main" id="{ECE0CA4B-02A8-4EAD-978D-1FB74C35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8" name="body-4-1">
            <a:extLst xmlns:a="http://schemas.openxmlformats.org/drawingml/2006/main">
              <a:ext uri="{FF2B5EF4-FFF2-40B4-BE49-F238E27FC236}">
                <a16:creationId xmlns:a16="http://schemas.microsoft.com/office/drawing/2014/main" id="{00F16D8D-2988-4D54-A1C1-C5B7F07A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987B9-EA3D-4020-83B9-821DB56BA7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01c9dd23f44a2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708040-5F6C-440E-9DA4-E06C3846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82</a:t>
            </a:r>
          </a:p>
        </p:txBody>
      </p:sp>
    </p:spTree>
    <p:extLst>
      <p:ext uri="{BB962C8B-B14F-4D97-AF65-F5344CB8AC3E}">
        <p14:creationId xmlns:p14="http://schemas.microsoft.com/office/powerpoint/2010/main" val="236060381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4D010ED-550D-4960-A6AD-BBE387C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12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D0355521-DE1A-4D90-BB50-09A79900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arbetslampa lyser men sladdens ytterhölje är sprucket i en fuktig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6E20EA06-A71C-4185-AA52-FA22EDE6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gångväg. Vilken slutsats stöds av fallet?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1D193789-896D-458E-88A5-30D81877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Lampan är säker eftersom den lyser.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9356F340-2973-4359-A486-CA0AF3FF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Det saknas underlag för fortsatt användning; användningen ska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75D74988-0E7E-444F-A8C6-B7EB5C28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upphöra och riskerna hanteras.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24F05D4C-01FF-4D7D-BB55-D8DFA682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Säkringen har säkert provats.</a:t>
            </a:r>
          </a:p>
        </p:txBody>
      </p:sp>
      <p:sp>
        <p:nvSpPr>
          <p:cNvPr id="8" name="body-4-0">
            <a:extLst xmlns:a="http://schemas.openxmlformats.org/drawingml/2006/main">
              <a:ext uri="{FF2B5EF4-FFF2-40B4-BE49-F238E27FC236}">
                <a16:creationId xmlns:a16="http://schemas.microsoft.com/office/drawing/2014/main" id="{B7C031E1-5639-4519-B8C6-944152A0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9" name="body-4-1">
            <a:extLst xmlns:a="http://schemas.openxmlformats.org/drawingml/2006/main">
              <a:ext uri="{FF2B5EF4-FFF2-40B4-BE49-F238E27FC236}">
                <a16:creationId xmlns:a16="http://schemas.microsoft.com/office/drawing/2014/main" id="{B68046C9-A195-43EE-9026-13894566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398B0-DC62-4868-8C13-C46144AEEB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9b525b1014159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BFD77A-584F-45E9-8B1A-C60C3881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83</a:t>
            </a:r>
          </a:p>
        </p:txBody>
      </p:sp>
    </p:spTree>
    <p:extLst>
      <p:ext uri="{BB962C8B-B14F-4D97-AF65-F5344CB8AC3E}">
        <p14:creationId xmlns:p14="http://schemas.microsoft.com/office/powerpoint/2010/main" val="1361461271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0EDA31D-1E04-45A2-97D3-DCD994F6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13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D7E1ACD-A218-4BC3-8504-7BAC5215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Vilken mening är en observation i lampfallet?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406FC1F1-C8CA-4D30-9EB0-67F16D7C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Sladdens ytterhölje är sprucket.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9AE91275-2C17-4D1E-9B4B-2792CAE2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Sladden måste ha klämts.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5F23DD54-DC02-4509-81BE-FD45FA9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Alla skydd fungerar.</a:t>
            </a:r>
          </a:p>
        </p:txBody>
      </p:sp>
      <p:sp>
        <p:nvSpPr>
          <p:cNvPr id="6" name="body-4-0">
            <a:extLst xmlns:a="http://schemas.openxmlformats.org/drawingml/2006/main">
              <a:ext uri="{FF2B5EF4-FFF2-40B4-BE49-F238E27FC236}">
                <a16:creationId xmlns:a16="http://schemas.microsoft.com/office/drawing/2014/main" id="{E66D2F91-FE31-4568-B1DF-86CACC85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7" name="body-4-1">
            <a:extLst xmlns:a="http://schemas.openxmlformats.org/drawingml/2006/main">
              <a:ext uri="{FF2B5EF4-FFF2-40B4-BE49-F238E27FC236}">
                <a16:creationId xmlns:a16="http://schemas.microsoft.com/office/drawing/2014/main" id="{4029A9B4-D5C5-430E-B242-B848BD9E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58C44-0B4A-4EA9-9ED9-282E149A2F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a2006acaa4c5e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680700-360D-4710-8280-AAC82463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84</a:t>
            </a:r>
          </a:p>
        </p:txBody>
      </p:sp>
    </p:spTree>
    <p:extLst>
      <p:ext uri="{BB962C8B-B14F-4D97-AF65-F5344CB8AC3E}">
        <p14:creationId xmlns:p14="http://schemas.microsoft.com/office/powerpoint/2010/main" val="2026777167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92CDD24-A0D5-48EE-8276-1B8A9431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14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0BD43E17-8553-4709-89D9-2388E45F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Reservlampa B har angiven miljölämplighet och minst två timmars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6E3DEA17-D96E-4127-9B68-FCC8D44A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drifttid. Gångvägen behövs i 90 minuter. Vilket nästa steg är rimligt?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E99DD504-9246-4FA9-B97D-3CA746E8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Använd B utan fler kontroller.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244779D2-B1E1-4B59-8779-B88203B8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Kontrollera även skick, laddning, placering och faktisk belysning före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351692C6-75A9-48C8-BC09-6A20BAA8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beslut.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A199C5AF-DDAE-498C-995B-6AE9DE30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Välj alltid A eftersom den kan tändas.</a:t>
            </a:r>
          </a:p>
        </p:txBody>
      </p:sp>
      <p:sp>
        <p:nvSpPr>
          <p:cNvPr id="8" name="body-4-0">
            <a:extLst xmlns:a="http://schemas.openxmlformats.org/drawingml/2006/main">
              <a:ext uri="{FF2B5EF4-FFF2-40B4-BE49-F238E27FC236}">
                <a16:creationId xmlns:a16="http://schemas.microsoft.com/office/drawing/2014/main" id="{4AFD43F0-E0E8-4140-823F-3CAAA90D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9" name="body-4-1">
            <a:extLst xmlns:a="http://schemas.openxmlformats.org/drawingml/2006/main">
              <a:ext uri="{FF2B5EF4-FFF2-40B4-BE49-F238E27FC236}">
                <a16:creationId xmlns:a16="http://schemas.microsoft.com/office/drawing/2014/main" id="{639D5A06-9F96-47AA-B3BF-82F0F58A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9B041-DEFF-4061-A991-EE396ADE2F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6f9a7c37d4051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EBE088-A64E-433A-BB48-6B4E3630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85</a:t>
            </a:r>
          </a:p>
        </p:txBody>
      </p:sp>
    </p:spTree>
    <p:extLst>
      <p:ext uri="{BB962C8B-B14F-4D97-AF65-F5344CB8AC3E}">
        <p14:creationId xmlns:p14="http://schemas.microsoft.com/office/powerpoint/2010/main" val="1047765038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C15F25D-767B-46AF-A204-688A3F1D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15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2F94E36-F2C2-49CF-8703-182DEF66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Eget försök: en ohmsk resistor på 3 kΩ matas med 12 V. Ange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DD84EEDF-49F5-4A27-B882-194DA516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strömmen i mA.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4D0F3A37-FBFC-4837-8162-64C1CF18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(mA). Redovisa metod och</a:t>
            </a:r>
          </a:p>
        </p:txBody>
      </p:sp>
      <p:sp>
        <p:nvSpPr>
          <p:cNvPr id="5" name="body-1-1">
            <a:extLst xmlns:a="http://schemas.openxmlformats.org/drawingml/2006/main">
              <a:ext uri="{FF2B5EF4-FFF2-40B4-BE49-F238E27FC236}">
                <a16:creationId xmlns:a16="http://schemas.microsoft.com/office/drawing/2014/main" id="{4EA37B77-37DB-472B-BFAF-F19A74EC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rimlighetskontroll.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149506CF-7E01-4787-8B3F-3FCFB73D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7" name="body-2-1">
            <a:extLst xmlns:a="http://schemas.openxmlformats.org/drawingml/2006/main">
              <a:ext uri="{FF2B5EF4-FFF2-40B4-BE49-F238E27FC236}">
                <a16:creationId xmlns:a16="http://schemas.microsoft.com/office/drawing/2014/main" id="{87B993B6-BE5B-4513-82BC-95A5301D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B3086-9555-46F5-A23B-6420BD24A5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e771992224695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950ED8F-CD91-4508-AF20-CF6B6835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86</a:t>
            </a:r>
          </a:p>
        </p:txBody>
      </p:sp>
    </p:spTree>
    <p:extLst>
      <p:ext uri="{BB962C8B-B14F-4D97-AF65-F5344CB8AC3E}">
        <p14:creationId xmlns:p14="http://schemas.microsoft.com/office/powerpoint/2010/main" val="646894784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ABFD37A-E5F7-4B74-96A0-65D88580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Laborationsprotokoll: Belysningen i förrådet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27D4C287-B85A-4FA1-A15F-07A2C21E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All laborationsundervisning genomförs med simuleringar enligt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244231BF-3052-4FCE-8ED8-19211DAD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kurslärarens beslut. 3D-simuleringen är interaktiv i webbappen. Här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E9272ACD-27F7-48CA-8B2D-497F51CB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följer hela arbetsinstruktionen.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75983B31-975C-4AD1-89A7-A89E5C9E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Ställ in 24 V och 12 Ω. Rita hela returvägen och skriv din</a:t>
            </a:r>
          </a:p>
        </p:txBody>
      </p:sp>
      <p:sp>
        <p:nvSpPr>
          <p:cNvPr id="6" name="body-1-1">
            <a:extLst xmlns:a="http://schemas.openxmlformats.org/drawingml/2006/main">
              <a:ext uri="{FF2B5EF4-FFF2-40B4-BE49-F238E27FC236}">
                <a16:creationId xmlns:a16="http://schemas.microsoft.com/office/drawing/2014/main" id="{FCC7D64B-F32A-4C91-85B1-C78A96B4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strömprognos.</a:t>
            </a:r>
          </a:p>
        </p:txBody>
      </p:sp>
      <p:sp>
        <p:nvSpPr>
          <p:cNvPr id="7" name="body-2-0">
            <a:extLst xmlns:a="http://schemas.openxmlformats.org/drawingml/2006/main">
              <a:ext uri="{FF2B5EF4-FFF2-40B4-BE49-F238E27FC236}">
                <a16:creationId xmlns:a16="http://schemas.microsoft.com/office/drawing/2014/main" id="{16A64866-65E5-4B02-BA89-55A4F0FB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Mät matning, lastspänning och ström med sluten krets. Spara värde</a:t>
            </a:r>
          </a:p>
        </p:txBody>
      </p:sp>
      <p:sp>
        <p:nvSpPr>
          <p:cNvPr id="8" name="body-2-1">
            <a:extLst xmlns:a="http://schemas.openxmlformats.org/drawingml/2006/main">
              <a:ext uri="{FF2B5EF4-FFF2-40B4-BE49-F238E27FC236}">
                <a16:creationId xmlns:a16="http://schemas.microsoft.com/office/drawing/2014/main" id="{EDEC7567-AD55-4A81-851E-090DDFC4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enhet.</a:t>
            </a:r>
          </a:p>
        </p:txBody>
      </p:sp>
      <p:sp>
        <p:nvSpPr>
          <p:cNvPr id="9" name="body-3-0">
            <a:extLst xmlns:a="http://schemas.openxmlformats.org/drawingml/2006/main">
              <a:ext uri="{FF2B5EF4-FFF2-40B4-BE49-F238E27FC236}">
                <a16:creationId xmlns:a16="http://schemas.microsoft.com/office/drawing/2014/main" id="{9E7D7916-7D36-4B8B-BFED-64377CC8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3. Öppna returen i simulatorn. Jämför strömmen med normalfallet.</a:t>
            </a:r>
          </a:p>
        </p:txBody>
      </p:sp>
      <p:sp>
        <p:nvSpPr>
          <p:cNvPr id="10" name="body-4-0">
            <a:extLst xmlns:a="http://schemas.openxmlformats.org/drawingml/2006/main">
              <a:ext uri="{FF2B5EF4-FFF2-40B4-BE49-F238E27FC236}">
                <a16:creationId xmlns:a16="http://schemas.microsoft.com/office/drawing/2014/main" id="{00FB038C-FB51-406B-B9BE-2391768A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Ändra resistansen till 24 Ω och jämför prognos och mätning. Återställ</a:t>
            </a:r>
          </a:p>
        </p:txBody>
      </p:sp>
      <p:sp>
        <p:nvSpPr>
          <p:cNvPr id="11" name="body-4-1">
            <a:extLst xmlns:a="http://schemas.openxmlformats.org/drawingml/2006/main">
              <a:ext uri="{FF2B5EF4-FFF2-40B4-BE49-F238E27FC236}">
                <a16:creationId xmlns:a16="http://schemas.microsoft.com/office/drawing/2014/main" id="{AE461145-D136-4096-9AF1-7464B1C1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upprepa.</a:t>
            </a:r>
          </a:p>
        </p:txBody>
      </p:sp>
      <p:sp>
        <p:nvSpPr>
          <p:cNvPr id="12" name="body-5-0">
            <a:extLst xmlns:a="http://schemas.openxmlformats.org/drawingml/2006/main">
              <a:ext uri="{FF2B5EF4-FFF2-40B4-BE49-F238E27FC236}">
                <a16:creationId xmlns:a16="http://schemas.microsoft.com/office/drawing/2014/main" id="{282E5206-3F2E-4BA6-B152-11D35CBE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Protokollkolumner: tillstånd, förutsägelse, inställning, mätpunkter,</a:t>
            </a:r>
          </a:p>
        </p:txBody>
      </p:sp>
      <p:sp>
        <p:nvSpPr>
          <p:cNvPr id="13" name="body-5-1">
            <a:extLst xmlns:a="http://schemas.openxmlformats.org/drawingml/2006/main">
              <a:ext uri="{FF2B5EF4-FFF2-40B4-BE49-F238E27FC236}">
                <a16:creationId xmlns:a16="http://schemas.microsoft.com/office/drawing/2014/main" id="{DD7D1452-8072-45C2-A829-576EE17F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värde och enhet, förklaring, begränsning.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DBC4E-8DD0-438B-AA2B-E53A8A5821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209241f45403b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C2699B-B453-4B25-9440-29BAD68D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87</a:t>
            </a:r>
          </a:p>
        </p:txBody>
      </p:sp>
    </p:spTree>
    <p:extLst>
      <p:ext uri="{BB962C8B-B14F-4D97-AF65-F5344CB8AC3E}">
        <p14:creationId xmlns:p14="http://schemas.microsoft.com/office/powerpoint/2010/main" val="54655576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9AB8E24-2446-4642-89D8-45ACFC6A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Laborationsprotokoll: Belysningen i förrådet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7EF75AE4-0096-449B-8B87-605B5140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Webbsimulator: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C46F585F-3B0D-47B3-89E3-93D91EA5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F78CEE7A-2E7F-4653-9C30-85A265BC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Ingen verklig nätspänning eller högspänning krävs i detta</a:t>
            </a:r>
          </a:p>
        </p:txBody>
      </p:sp>
      <p:sp>
        <p:nvSpPr>
          <p:cNvPr id="5" name="body-1-1">
            <a:extLst xmlns:a="http://schemas.openxmlformats.org/drawingml/2006/main">
              <a:ext uri="{FF2B5EF4-FFF2-40B4-BE49-F238E27FC236}">
                <a16:creationId xmlns:a16="http://schemas.microsoft.com/office/drawing/2014/main" id="{89AFD184-9F15-44C2-A68C-E20B7B83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distansupplägg.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58D82-AD05-40CB-852C-29A94133A1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2ded6b9d44af2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AE9C5A-104C-4CAF-80E3-6569A9FF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88</a:t>
            </a:r>
          </a:p>
        </p:txBody>
      </p:sp>
    </p:spTree>
    <p:extLst>
      <p:ext uri="{BB962C8B-B14F-4D97-AF65-F5344CB8AC3E}">
        <p14:creationId xmlns:p14="http://schemas.microsoft.com/office/powerpoint/2010/main" val="1682065347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BAD9966-51C9-45B7-8325-72E886C9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Redovisning och slutkontroll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E3E424D-1E88-4962-967A-01DAF2D2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Skriv metod, antaganden, resultat och slutsats. Jämför ditt första och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91E39740-FC1F-4045-B734-5081C563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andra försök.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C9F5E898-B824-4144-A6D5-E71DF7AE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Alla objektiva frågor har ett eget försök; kvarstående fel har en</a:t>
            </a:r>
          </a:p>
        </p:txBody>
      </p:sp>
      <p:sp>
        <p:nvSpPr>
          <p:cNvPr id="5" name="body-1-1">
            <a:extLst xmlns:a="http://schemas.openxmlformats.org/drawingml/2006/main">
              <a:ext uri="{FF2B5EF4-FFF2-40B4-BE49-F238E27FC236}">
                <a16:creationId xmlns:a16="http://schemas.microsoft.com/office/drawing/2014/main" id="{7A3B0EBF-8AA6-4126-970B-A6C72AF8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angiven repetitionsåtgärd.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2A3291EA-7322-4996-A5CA-63AB5FCA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Protokollet visar prognos, inställning, observation, enhet och</a:t>
            </a:r>
          </a:p>
        </p:txBody>
      </p:sp>
      <p:sp>
        <p:nvSpPr>
          <p:cNvPr id="7" name="body-2-1">
            <a:extLst xmlns:a="http://schemas.openxmlformats.org/drawingml/2006/main">
              <a:ext uri="{FF2B5EF4-FFF2-40B4-BE49-F238E27FC236}">
                <a16:creationId xmlns:a16="http://schemas.microsoft.com/office/drawing/2014/main" id="{26A28181-38F0-41F9-8B00-31D7AC79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förklaring för minst tre tillstånd.</a:t>
            </a:r>
          </a:p>
        </p:txBody>
      </p:sp>
      <p:sp>
        <p:nvSpPr>
          <p:cNvPr id="8" name="body-3-0">
            <a:extLst xmlns:a="http://schemas.openxmlformats.org/drawingml/2006/main">
              <a:ext uri="{FF2B5EF4-FFF2-40B4-BE49-F238E27FC236}">
                <a16:creationId xmlns:a16="http://schemas.microsoft.com/office/drawing/2014/main" id="{35B4B5DA-CF9B-4BE7-A718-69EDCF78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Veckofallet är redovisat med metod, antaganden, jämförelse och</a:t>
            </a:r>
          </a:p>
        </p:txBody>
      </p:sp>
      <p:sp>
        <p:nvSpPr>
          <p:cNvPr id="9" name="body-3-1">
            <a:extLst xmlns:a="http://schemas.openxmlformats.org/drawingml/2006/main">
              <a:ext uri="{FF2B5EF4-FFF2-40B4-BE49-F238E27FC236}">
                <a16:creationId xmlns:a16="http://schemas.microsoft.com/office/drawing/2014/main" id="{8B5F19BD-26B9-4CE7-BF60-B2042FA0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slutsats.</a:t>
            </a:r>
          </a:p>
        </p:txBody>
      </p:sp>
      <p:sp>
        <p:nvSpPr>
          <p:cNvPr id="10" name="body-4-0">
            <a:extLst xmlns:a="http://schemas.openxmlformats.org/drawingml/2006/main">
              <a:ext uri="{FF2B5EF4-FFF2-40B4-BE49-F238E27FC236}">
                <a16:creationId xmlns:a16="http://schemas.microsoft.com/office/drawing/2014/main" id="{106B2B8A-C1E4-449A-BD68-AC4E2394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Resonemang och laborationsunderlag är klara för lärargranskning;</a:t>
            </a:r>
          </a:p>
        </p:txBody>
      </p:sp>
      <p:sp>
        <p:nvSpPr>
          <p:cNvPr id="11" name="body-4-1">
            <a:extLst xmlns:a="http://schemas.openxmlformats.org/drawingml/2006/main">
              <a:ext uri="{FF2B5EF4-FFF2-40B4-BE49-F238E27FC236}">
                <a16:creationId xmlns:a16="http://schemas.microsoft.com/office/drawing/2014/main" id="{ED3FF613-7FEF-4CD9-BBED-0D1024E6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automatisk rättning är inte ett betyg.</a:t>
            </a:r>
          </a:p>
        </p:txBody>
      </p:sp>
      <p:sp>
        <p:nvSpPr>
          <p:cNvPr id="12" name="body-5-0">
            <a:extLst xmlns:a="http://schemas.openxmlformats.org/drawingml/2006/main">
              <a:ext uri="{FF2B5EF4-FFF2-40B4-BE49-F238E27FC236}">
                <a16:creationId xmlns:a16="http://schemas.microsoft.com/office/drawing/2014/main" id="{0DF0C379-13BE-4EA8-85FF-D91F905E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Skriftligt resonemang och laborationsunderlag kräver lärargranskning.</a:t>
            </a:r>
          </a:p>
        </p:txBody>
      </p:sp>
      <p:sp>
        <p:nvSpPr>
          <p:cNvPr id="13" name="body-5-1">
            <a:extLst xmlns:a="http://schemas.openxmlformats.org/drawingml/2006/main">
              <a:ext uri="{FF2B5EF4-FFF2-40B4-BE49-F238E27FC236}">
                <a16:creationId xmlns:a16="http://schemas.microsoft.com/office/drawing/2014/main" id="{EBF59DB7-DC0C-40B9-A388-2446C826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Automatisk rättning och läsprogress ger inte ett formellt betyg.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3F9E5-0697-4502-856D-3740B296EB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fd9a58ae241f5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10059A-C1EE-4B8B-8AFE-9B05EA0B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89</a:t>
            </a:r>
          </a:p>
        </p:txBody>
      </p:sp>
    </p:spTree>
    <p:extLst>
      <p:ext uri="{BB962C8B-B14F-4D97-AF65-F5344CB8AC3E}">
        <p14:creationId xmlns:p14="http://schemas.microsoft.com/office/powerpoint/2010/main" val="58839547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B1CDD25-058D-4490-87B9-A9C9AE49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2B338AAF-FA82-4A5A-A733-AD5CA38D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A. En fullständig väg för stationär ström saknas.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9FF28BDB-EE57-4162-8C90-2C9F1421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 behöver en sluten väg genom lasten tillbaka till källan.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91D5495E-C816-4933-951F-C4159F28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1. Följ hela strömvägen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F3188A1B-A274-4D1C-AC6B-D2F9D634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2E326645-E13D-4C26-9259-5E454268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odule-1-v2-circuit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A1964-A7AD-44B7-BEB8-D82AF6840E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d24a35e724686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EC3DCD-91BD-4D93-9477-C534AEB1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90</a:t>
            </a:r>
          </a:p>
        </p:txBody>
      </p:sp>
    </p:spTree>
    <p:extLst>
      <p:ext uri="{BB962C8B-B14F-4D97-AF65-F5344CB8AC3E}">
        <p14:creationId xmlns:p14="http://schemas.microsoft.com/office/powerpoint/2010/main" val="1759493470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6A4F545-7251-414F-BFCF-30C957E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2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54EF2F8E-F687-46D5-BAEA-77BF2DD8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C. Spänning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F053844C-B9B4-4A1F-8091-15B426B3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Parallella grenar är anslutna mellan samma två noder och har därför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B27A692F-07E8-4A97-8B98-E532421E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samma spänning.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9DBEC5DC-5BA6-4573-89C4-DFE2D647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4. Serie och parallell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A85D7FFB-0F9D-44D8-86CB-AD86C28D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7" name="body-3-1">
            <a:extLst xmlns:a="http://schemas.openxmlformats.org/drawingml/2006/main">
              <a:ext uri="{FF2B5EF4-FFF2-40B4-BE49-F238E27FC236}">
                <a16:creationId xmlns:a16="http://schemas.microsoft.com/office/drawing/2014/main" id="{EF23F189-FC35-4BD9-A609-4115FDD8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odule-1-v2-connections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1678E-9314-4426-99D7-8EBC6B4E4E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2234c27834335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FE80F8-22C4-4476-B90A-4F53627D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91</a:t>
            </a:r>
          </a:p>
        </p:txBody>
      </p:sp>
    </p:spTree>
    <p:extLst>
      <p:ext uri="{BB962C8B-B14F-4D97-AF65-F5344CB8AC3E}">
        <p14:creationId xmlns:p14="http://schemas.microsoft.com/office/powerpoint/2010/main" val="1478679591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199A2B2-A8DE-4BE0-9CB8-F8EADC04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3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452D1EA-2CF6-42AF-84E9-9F804D73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2 A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60E5B6AF-32B4-410E-A9F2-F291E3A6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 = U/R = 24/12 = 2 A.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C05CCB74-481E-4941-8562-3B31E8DB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9. Räkneexempel: från kiloohm till milliampere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7F1A3406-9150-484A-86D0-E0B818A2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78121175-F5CB-47AF-98F6-72F46CBD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odule-1-v2-ohm-example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07C53-551A-4F85-AC87-1EB5E8862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02ae78f9745a5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D8D5CC-2D6D-4223-9804-E7C0803F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92</a:t>
            </a:r>
          </a:p>
        </p:txBody>
      </p:sp>
    </p:spTree>
    <p:extLst>
      <p:ext uri="{BB962C8B-B14F-4D97-AF65-F5344CB8AC3E}">
        <p14:creationId xmlns:p14="http://schemas.microsoft.com/office/powerpoint/2010/main" val="732707638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339C6A5-BA4E-442D-97CB-D70CD21A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4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49D70750-2046-41DD-8191-9BFABC77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24 Ω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62021E25-9541-4696-B2D6-8366CC4F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Serieresistanser adderas: 8 + 16 = 24 Ω.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40900852-5ACC-4D25-AAB9-A7592CB2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4. Serie och parallell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D6B42002-510C-42F7-84AF-ED7636D5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8C57F93A-B375-4F37-877C-22F12261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odule-1-v2-connections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E7113-05D3-4A47-89C0-DBAED43163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60f6d13944d13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091D8F-C9EA-44EE-8665-095D1036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93</a:t>
            </a:r>
          </a:p>
        </p:txBody>
      </p:sp>
    </p:spTree>
    <p:extLst>
      <p:ext uri="{BB962C8B-B14F-4D97-AF65-F5344CB8AC3E}">
        <p14:creationId xmlns:p14="http://schemas.microsoft.com/office/powerpoint/2010/main" val="119561193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19D9E7C-0D29-420D-B3FB-3FF3729A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5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0EE6B069-8B92-4C6F-BF10-D1C6A87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60 Ω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31622095-43DF-45A0-B4B7-69A0248F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 = U/I = 24/0,4 = 60 Ω.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31E0D38D-887E-4FE2-A099-D25BCE48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Ohms lag: bestäm resistansen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E99306EB-F95F-40E0-BE93-E8D96343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https://nj22az.github.io/sjoskolan/vecka-37/revision/#module/1/learn/fo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5AA3539D-86D2-4CA1-869A-6415C4F9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rmula-1-0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0660C-605F-43A7-A00C-07B1C79D24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96849c2b14bbe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EB27418-290A-4FBB-AD3D-6689855E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94</a:t>
            </a:r>
          </a:p>
        </p:txBody>
      </p:sp>
    </p:spTree>
    <p:extLst>
      <p:ext uri="{BB962C8B-B14F-4D97-AF65-F5344CB8AC3E}">
        <p14:creationId xmlns:p14="http://schemas.microsoft.com/office/powerpoint/2010/main" val="1446780148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D9E5169-3147-4C9E-9A17-9EE52662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6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F25BDE7-5571-4EEB-B960-5AC58CBD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2 A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A3FDE188-1CF9-4845-BFD9-ABE74661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Välj Ohms lag. Dividera 24 V med 12 Ω. Strömmen blir 2 A.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9D5ED0E6-A67A-47C1-8154-F1D78641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9. Räkneexempel: från kiloohm till milliampere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993B22BB-F62D-49F4-ADCF-BEF8BCB2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1DAFBF11-0912-413F-9820-406449A1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odule-1-v2-ohm-example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58DC8-C16D-4644-BB2D-B91B4CC340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f93ba459745c0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EF7E25-2604-4629-87EF-6B893BE2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95</a:t>
            </a:r>
          </a:p>
        </p:txBody>
      </p:sp>
    </p:spTree>
    <p:extLst>
      <p:ext uri="{BB962C8B-B14F-4D97-AF65-F5344CB8AC3E}">
        <p14:creationId xmlns:p14="http://schemas.microsoft.com/office/powerpoint/2010/main" val="21963424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8DD2D48-6F06-4C4A-8AF4-436DC74B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7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C88ED220-A032-44FF-9A92-93E74B02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48 W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551ED06B-68EB-4F7F-BEFB-EC9E29C9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Multiplicera spänningen 24 V med strömmen 2 A. Effekten blir 48 W.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18EA5591-A928-414E-A32A-E3A75FE9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Effekt i en resistiv likströmslast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CA2FB855-2A61-481D-B798-D7D0D1C2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https://nj22az.github.io/sjoskolan/vecka-37/revision/#module/1/learn/fo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E8FD1C72-2F48-439B-8D24-83026295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rmula-1-2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C094B-87C6-415C-9310-131CBAA6FB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6a826f3554f14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440772-6119-4101-8CFC-B63473ED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96</a:t>
            </a:r>
          </a:p>
        </p:txBody>
      </p:sp>
    </p:spTree>
    <p:extLst>
      <p:ext uri="{BB962C8B-B14F-4D97-AF65-F5344CB8AC3E}">
        <p14:creationId xmlns:p14="http://schemas.microsoft.com/office/powerpoint/2010/main" val="767495669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B38A229-DE83-4291-8E6C-41988FA1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8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BDDEAFE4-D211-4ECF-B710-ACD182AE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1 A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72B6DFFD-AA18-4EF5-9A60-130988AA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Serieresistansen är 24 Ω. Spänningen 24 V ger då 1 A.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036188A0-D01C-41E9-A813-DBACA06B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4. Serie och parallell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F86A3045-06D9-4FF3-987B-1BBC553A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49908FE9-BD33-4374-B8BF-DA606CC7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odule-1-v2-connections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82386-B046-4B66-AEEF-3177F44117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18a287fec41fb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09699A-3C52-48E7-8AFA-DE861D3D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97</a:t>
            </a:r>
          </a:p>
        </p:txBody>
      </p:sp>
    </p:spTree>
    <p:extLst>
      <p:ext uri="{BB962C8B-B14F-4D97-AF65-F5344CB8AC3E}">
        <p14:creationId xmlns:p14="http://schemas.microsoft.com/office/powerpoint/2010/main" val="912417844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0A02867-812A-416A-B861-FB386098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9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6EF2898F-0AB0-4A6C-82A5-99179E10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4 A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69288F54-8510-4461-86FF-4695896A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Varje gren tar 2 A. Två grenar ger tillsammans 4 A.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AAB3C1E6-3AD6-4E45-B353-7FE479C4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4. Serie och parallell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96551F7E-6FF0-4AB5-9C94-81B5C917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21EA6E83-20CF-453A-9E0B-21C6A3D5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odule-1-v2-connections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5701A-5E13-4CDD-B977-EC17079C86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2c2348b1f4eb6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F34B96-85C7-4650-BEC4-A17470DD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98</a:t>
            </a:r>
          </a:p>
        </p:txBody>
      </p:sp>
    </p:spTree>
    <p:extLst>
      <p:ext uri="{BB962C8B-B14F-4D97-AF65-F5344CB8AC3E}">
        <p14:creationId xmlns:p14="http://schemas.microsoft.com/office/powerpoint/2010/main" val="1056138569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39697323-106C-44F9-ABCD-BDE91627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10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A3118938-024C-4D77-95E5-429A6FB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A. 0 A.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82945A02-6634-4D78-BD8A-8AE1B7C6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öppen krets saknar sluten väg för stationär ström.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D8B67DA3-B81E-4509-A4B7-05C45074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1. Följ hela strömvägen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06D57611-0630-4E33-BBA0-146EEC4B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42CF0AA2-5588-47BD-A1D3-FD863053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odule-1-v2-circuit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D1CA6-F429-4EC1-9E9A-73056B5F3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699eb6b5044fa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B1DDB9-C046-43CF-B89D-07563CF8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99</a:t>
            </a:r>
          </a:p>
        </p:txBody>
      </p:sp>
    </p:spTree>
    <p:extLst>
      <p:ext uri="{BB962C8B-B14F-4D97-AF65-F5344CB8AC3E}">
        <p14:creationId xmlns:p14="http://schemas.microsoft.com/office/powerpoint/2010/main" val="1973009401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C9F0B74-D1BD-4F3A-A719-1332161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11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F06B2DE7-C650-4C3C-8D73-96239315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B. Kontrollera att angiven källa är frånkopplad och dokumentera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82B9B1C6-0369-4DA5-9A9F-03C65D25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kontrollen.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3200888F-5909-45E2-B28B-C86BDEEE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åtgärd måste ange vad som görs och hur resultatet kontrolleras.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8CA7B366-4CE9-41D2-A421-DEA92626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5. Funktion är inte samma sak som säkerhet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F2465BE2-361E-41C1-8564-754EF023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7" name="body-3-1">
            <a:extLst xmlns:a="http://schemas.openxmlformats.org/drawingml/2006/main">
              <a:ext uri="{FF2B5EF4-FFF2-40B4-BE49-F238E27FC236}">
                <a16:creationId xmlns:a16="http://schemas.microsoft.com/office/drawing/2014/main" id="{77325C95-D7EF-4A77-9103-11FBF5EF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odule-1-v2-safety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0EC4D-0867-41C8-BD7D-F060130DE4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7e2c82f37452c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75F67F-8157-4B67-B2D2-273B23E3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100</a:t>
            </a:r>
          </a:p>
        </p:txBody>
      </p:sp>
    </p:spTree>
    <p:extLst>
      <p:ext uri="{BB962C8B-B14F-4D97-AF65-F5344CB8AC3E}">
        <p14:creationId xmlns:p14="http://schemas.microsoft.com/office/powerpoint/2010/main" val="670946776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5A39653D-CB54-4D55-A38E-55F9DF08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12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1CCE2DB-C980-4571-BB90-910079D1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B. Det saknas underlag för fortsatt användning; användningen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0261316D-11F6-4AA8-AEE4-0FD28015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ska upphöra och riskerna hanteras.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7413E65C-ED4B-4C6E-BB0F-D13F97BF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Funktion bevisar inte att skydden är hela. Skadans djup och skyddens</a:t>
            </a:r>
          </a:p>
        </p:txBody>
      </p:sp>
      <p:sp>
        <p:nvSpPr>
          <p:cNvPr id="5" name="body-1-1">
            <a:extLst xmlns:a="http://schemas.openxmlformats.org/drawingml/2006/main">
              <a:ext uri="{FF2B5EF4-FFF2-40B4-BE49-F238E27FC236}">
                <a16:creationId xmlns:a16="http://schemas.microsoft.com/office/drawing/2014/main" id="{DFBCC13E-111F-4DE0-AA45-84E63EFF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skick är inte verifierade.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3F0F139B-3D6B-48AB-9F8A-A84B882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6. Beslutsfall A: den skadade arbetslampan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2E5545CB-0153-4A20-8660-E4D9A0AE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8" name="body-3-1">
            <a:extLst xmlns:a="http://schemas.openxmlformats.org/drawingml/2006/main">
              <a:ext uri="{FF2B5EF4-FFF2-40B4-BE49-F238E27FC236}">
                <a16:creationId xmlns:a16="http://schemas.microsoft.com/office/drawing/2014/main" id="{F38F1088-55C9-4F31-B486-6C31DDC0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odule-1-v2-case-a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CCE9B-4E0B-4A7F-8CBF-E54B7A6311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9d8adc70e4fe8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33375A-E743-4345-987E-3839CF51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101</a:t>
            </a:r>
          </a:p>
        </p:txBody>
      </p:sp>
    </p:spTree>
    <p:extLst>
      <p:ext uri="{BB962C8B-B14F-4D97-AF65-F5344CB8AC3E}">
        <p14:creationId xmlns:p14="http://schemas.microsoft.com/office/powerpoint/2010/main" val="510380951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9F2CB22-CA65-4EF2-87C8-070CCC47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13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F65F8A5-27FD-4B46-BF36-0878F2E8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A. Sladdens ytterhölje är sprucket.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4BB68A05-B34F-4D6E-915B-CF137364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Det spruckna ytterhöljet är en given uppgift. Orsak och skyddsfunktion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F7AD5C6C-7CB1-4474-B266-34F811CE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är ännu inte verifierade.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E1B66132-9904-461A-8735-E4386F69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6. Beslutsfall A: den skadade arbetslampan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921B41A6-FCB4-44E5-87BB-6F9C2DD9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7" name="body-3-1">
            <a:extLst xmlns:a="http://schemas.openxmlformats.org/drawingml/2006/main">
              <a:ext uri="{FF2B5EF4-FFF2-40B4-BE49-F238E27FC236}">
                <a16:creationId xmlns:a16="http://schemas.microsoft.com/office/drawing/2014/main" id="{6EC80214-4299-45D8-AA5C-35A2A633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odule-1-v2-case-a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93D34-686F-47A2-8847-DC4C6AD50C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2dab1b2354ff2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563A06-3089-4167-A657-CFC60D9A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102</a:t>
            </a:r>
          </a:p>
        </p:txBody>
      </p:sp>
    </p:spTree>
    <p:extLst>
      <p:ext uri="{BB962C8B-B14F-4D97-AF65-F5344CB8AC3E}">
        <p14:creationId xmlns:p14="http://schemas.microsoft.com/office/powerpoint/2010/main" val="1710541253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C5F9C2C-1380-437A-BCA9-936ACA8F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14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0A3DDD4A-7F81-4E39-831A-527CEF98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B. Kontrollera även skick, laddning, placering och faktisk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5EA953EF-78E8-40E0-BE3A-6631C221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belysning före beslut.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A390833D-06AE-4306-95D8-E9D87D8B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 har relevant dokumenterat underlag, men den aktuella utrustningen</a:t>
            </a:r>
          </a:p>
        </p:txBody>
      </p:sp>
      <p:sp>
        <p:nvSpPr>
          <p:cNvPr id="5" name="body-1-1">
            <a:extLst xmlns:a="http://schemas.openxmlformats.org/drawingml/2006/main">
              <a:ext uri="{FF2B5EF4-FFF2-40B4-BE49-F238E27FC236}">
                <a16:creationId xmlns:a16="http://schemas.microsoft.com/office/drawing/2014/main" id="{A45E18F5-04F2-43F7-9F59-74BF6CA8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användningssituationen behöver fortfarande kontrolleras.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004F8B73-C3EF-47AA-92A3-DCE7B06E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7. Beslutsfall B: ljus och länsning samtidigt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0E0E0BA5-66C2-4817-9F81-ED3B87A7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8" name="body-3-1">
            <a:extLst xmlns:a="http://schemas.openxmlformats.org/drawingml/2006/main">
              <a:ext uri="{FF2B5EF4-FFF2-40B4-BE49-F238E27FC236}">
                <a16:creationId xmlns:a16="http://schemas.microsoft.com/office/drawing/2014/main" id="{96412024-A4CE-479B-8556-0388B8A4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odule-1-v2-case-b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E1016-83EC-47B0-A7E1-0D8B278422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852fb1f6a427d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41C68F-2F2A-400D-80B6-A01DACF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103</a:t>
            </a:r>
          </a:p>
        </p:txBody>
      </p:sp>
    </p:spTree>
    <p:extLst>
      <p:ext uri="{BB962C8B-B14F-4D97-AF65-F5344CB8AC3E}">
        <p14:creationId xmlns:p14="http://schemas.microsoft.com/office/powerpoint/2010/main" val="1050636489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47030D8F-A0DF-4779-AD09-BDBDBDF8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15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E121D309-747F-4A74-AF02-719F6423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4 mA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1BF2D93A-D292-4DF9-AFB2-9923C049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 kΩ motsvarar 3 000 Ω. Dividera 12 V med 3 000 Ω: strömmen är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72E8A05B-2AF4-4F00-B6A5-86525E4C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0,004 A, alltså 4 mA. Fördubbla gärna svaret till 8 mA i ett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47536412-A4CC-489E-95D5-154B7911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kontrollförsök och undersök varför det inte passar givna värden.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FB44762C-065A-4030-9236-499764D2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9. Räkneexempel: från kiloohm till milliampere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3B2A47A2-BD2C-4EA8-BD52-DCCD80F5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8" name="body-3-1">
            <a:extLst xmlns:a="http://schemas.openxmlformats.org/drawingml/2006/main">
              <a:ext uri="{FF2B5EF4-FFF2-40B4-BE49-F238E27FC236}">
                <a16:creationId xmlns:a16="http://schemas.microsoft.com/office/drawing/2014/main" id="{366AE55A-8E8B-4B4D-97FA-56024504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odule-1-v2-ohm-example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F6EF8-E7CA-4BD6-BE2D-FCF1374BE2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801e41f274c3c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0AB5EF-0EA7-497E-B08A-EF7146D4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104</a:t>
            </a:r>
          </a:p>
        </p:txBody>
      </p:sp>
    </p:spTree>
    <p:extLst>
      <p:ext uri="{BB962C8B-B14F-4D97-AF65-F5344CB8AC3E}">
        <p14:creationId xmlns:p14="http://schemas.microsoft.com/office/powerpoint/2010/main" val="1823109742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BB6C62BC-466C-447F-A928-95BDFEA6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Symbolbibliotek och licens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D5F4B6C9-6797-4D79-9F1B-9508708D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Kretssymbolerna är bearbetade från ma-laforge/ElectricalDiagrams.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141B0F1B-104F-4D77-9336-BE3AF8CE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Kretsar, svenska etiketter och illustrationernas sammanhang har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E51CFA67-FAC4-45AA-A4DC-7BA1566B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anpassats för kursen. https://github.com/ma-laforge/ElectricalDiagrams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5EE1CFB4-1625-4E25-8272-40697B3C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MIT License Copyright (c) 2016 ma-laforge Permission is hereby</a:t>
            </a:r>
          </a:p>
        </p:txBody>
      </p:sp>
      <p:sp>
        <p:nvSpPr>
          <p:cNvPr id="6" name="body-1-1">
            <a:extLst xmlns:a="http://schemas.openxmlformats.org/drawingml/2006/main">
              <a:ext uri="{FF2B5EF4-FFF2-40B4-BE49-F238E27FC236}">
                <a16:creationId xmlns:a16="http://schemas.microsoft.com/office/drawing/2014/main" id="{3338F89D-E40D-43D9-AD52-8AF4C722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granted, free of charge, to any person obtaining a copy of this software</a:t>
            </a:r>
          </a:p>
        </p:txBody>
      </p:sp>
      <p:sp>
        <p:nvSpPr>
          <p:cNvPr id="7" name="body-1-2">
            <a:extLst xmlns:a="http://schemas.openxmlformats.org/drawingml/2006/main">
              <a:ext uri="{FF2B5EF4-FFF2-40B4-BE49-F238E27FC236}">
                <a16:creationId xmlns:a16="http://schemas.microsoft.com/office/drawing/2014/main" id="{9919C7EC-A661-4635-BF13-CD0E8FAE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and associated documentation files (the "Software"), to deal in the</a:t>
            </a:r>
          </a:p>
        </p:txBody>
      </p:sp>
      <p:sp>
        <p:nvSpPr>
          <p:cNvPr id="8" name="body-1-3">
            <a:extLst xmlns:a="http://schemas.openxmlformats.org/drawingml/2006/main">
              <a:ext uri="{FF2B5EF4-FFF2-40B4-BE49-F238E27FC236}">
                <a16:creationId xmlns:a16="http://schemas.microsoft.com/office/drawing/2014/main" id="{E1BF4179-8527-4907-A2A6-364CAECB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Software without restriction, including without limitation the rights to</a:t>
            </a:r>
          </a:p>
        </p:txBody>
      </p:sp>
      <p:sp>
        <p:nvSpPr>
          <p:cNvPr id="9" name="body-1-4">
            <a:extLst xmlns:a="http://schemas.openxmlformats.org/drawingml/2006/main">
              <a:ext uri="{FF2B5EF4-FFF2-40B4-BE49-F238E27FC236}">
                <a16:creationId xmlns:a16="http://schemas.microsoft.com/office/drawing/2014/main" id="{6ACCD394-10FE-4C3B-93E7-B4348A35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use, copy, modify, merge, publish, distribute, sublicense, and/or sell</a:t>
            </a:r>
          </a:p>
        </p:txBody>
      </p:sp>
      <p:sp>
        <p:nvSpPr>
          <p:cNvPr id="10" name="body-1-5">
            <a:extLst xmlns:a="http://schemas.openxmlformats.org/drawingml/2006/main">
              <a:ext uri="{FF2B5EF4-FFF2-40B4-BE49-F238E27FC236}">
                <a16:creationId xmlns:a16="http://schemas.microsoft.com/office/drawing/2014/main" id="{E930D26E-DD1C-42D0-BA4E-9E79827C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copies of the Software, and to permit persons to whom the Software is</a:t>
            </a:r>
          </a:p>
        </p:txBody>
      </p:sp>
      <p:sp>
        <p:nvSpPr>
          <p:cNvPr id="11" name="body-1-6">
            <a:extLst xmlns:a="http://schemas.openxmlformats.org/drawingml/2006/main">
              <a:ext uri="{FF2B5EF4-FFF2-40B4-BE49-F238E27FC236}">
                <a16:creationId xmlns:a16="http://schemas.microsoft.com/office/drawing/2014/main" id="{40C3623D-C805-4259-8E7B-62665C53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814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furnished to do so, subject to the following conditions: The above</a:t>
            </a:r>
          </a:p>
        </p:txBody>
      </p:sp>
      <p:sp>
        <p:nvSpPr>
          <p:cNvPr id="12" name="body-1-7">
            <a:extLst xmlns:a="http://schemas.openxmlformats.org/drawingml/2006/main">
              <a:ext uri="{FF2B5EF4-FFF2-40B4-BE49-F238E27FC236}">
                <a16:creationId xmlns:a16="http://schemas.microsoft.com/office/drawing/2014/main" id="{D53E7DF5-2460-4A7D-B060-F8E9BE19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053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copyright notice and this permission notice shall be included in all</a:t>
            </a:r>
          </a:p>
        </p:txBody>
      </p:sp>
      <p:sp>
        <p:nvSpPr>
          <p:cNvPr id="13" name="body-1-8">
            <a:extLst xmlns:a="http://schemas.openxmlformats.org/drawingml/2006/main">
              <a:ext uri="{FF2B5EF4-FFF2-40B4-BE49-F238E27FC236}">
                <a16:creationId xmlns:a16="http://schemas.microsoft.com/office/drawing/2014/main" id="{722441D9-7BEF-474F-A47E-97C5E70B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copies or substantial portions of the Software. THE SOFTWARE IS</a:t>
            </a:r>
          </a:p>
        </p:txBody>
      </p:sp>
      <p:sp>
        <p:nvSpPr>
          <p:cNvPr id="14" name="body-1-9">
            <a:extLst xmlns:a="http://schemas.openxmlformats.org/drawingml/2006/main">
              <a:ext uri="{FF2B5EF4-FFF2-40B4-BE49-F238E27FC236}">
                <a16:creationId xmlns:a16="http://schemas.microsoft.com/office/drawing/2014/main" id="{02281F1F-5725-4D18-AAE1-44731DF9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530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PROVIDED "AS IS", WITHOUT WARRANTY OF ANY KIND, EXPRESS OR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D5F49-DD00-49FA-A269-5D337C908F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d7375858c42ca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AFE647-7804-4AB9-ACF1-F316BF69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105</a:t>
            </a:r>
          </a:p>
        </p:txBody>
      </p:sp>
    </p:spTree>
    <p:extLst>
      <p:ext uri="{BB962C8B-B14F-4D97-AF65-F5344CB8AC3E}">
        <p14:creationId xmlns:p14="http://schemas.microsoft.com/office/powerpoint/2010/main" val="1034959070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633F124-C4BA-4611-B8D9-4AB39A14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Symbolbibliotek och licens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D3AD7B70-C164-4130-8EF1-4A423838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IMPLIED, INCLUDING BUT NOT LIMITED TO THE WARRANTIES OF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7D3839B0-BEED-4372-941E-BD5022EB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MERCHANTABILITY, FITNESS FOR A PARTICULAR PURPOSE AND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111F0629-4BD4-4739-81EE-6A86A6AF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NONINFRINGEMENT. IN NO EVENT SHALL THE AUTHORS OR COPYRIGHT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A781DC41-2752-44AE-8DE1-E340684E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HOLDERS BE LIABLE FOR ANY CLAIM, DAMAGES OR OTHER LIABILITY,</a:t>
            </a:r>
          </a:p>
        </p:txBody>
      </p:sp>
      <p:sp>
        <p:nvSpPr>
          <p:cNvPr id="6" name="body-0-4">
            <a:extLst xmlns:a="http://schemas.openxmlformats.org/drawingml/2006/main">
              <a:ext uri="{FF2B5EF4-FFF2-40B4-BE49-F238E27FC236}">
                <a16:creationId xmlns:a16="http://schemas.microsoft.com/office/drawing/2014/main" id="{29F106A6-9A24-4A71-A3AA-786A24F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WHETHER IN AN ACTION OF CONTRACT, TORT OR OTHERWISE, ARISING</a:t>
            </a:r>
          </a:p>
        </p:txBody>
      </p:sp>
      <p:sp>
        <p:nvSpPr>
          <p:cNvPr id="7" name="body-0-5">
            <a:extLst xmlns:a="http://schemas.openxmlformats.org/drawingml/2006/main">
              <a:ext uri="{FF2B5EF4-FFF2-40B4-BE49-F238E27FC236}">
                <a16:creationId xmlns:a16="http://schemas.microsoft.com/office/drawing/2014/main" id="{9BA17674-A573-49CC-9145-71D08CAE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FROM, OUT OF OR IN CONNECTION WITH THE SOFTWARE OR THE USE</a:t>
            </a:r>
          </a:p>
        </p:txBody>
      </p:sp>
      <p:sp>
        <p:nvSpPr>
          <p:cNvPr id="8" name="body-0-6">
            <a:extLst xmlns:a="http://schemas.openxmlformats.org/drawingml/2006/main">
              <a:ext uri="{FF2B5EF4-FFF2-40B4-BE49-F238E27FC236}">
                <a16:creationId xmlns:a16="http://schemas.microsoft.com/office/drawing/2014/main" id="{DDDA402B-9696-4C73-B019-F276F2DA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OR OTHER DEALINGS IN THE SOFTWARE.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07757-0DAC-4FE9-80C9-9D3154DCD0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67fe37f2d4d13"/>
          <a:stretch xmlns:a="http://schemas.openxmlformats.org/drawingml/2006/main"/>
        </p:blipFill>
        <p:spPr>
          <a:xfrm xmlns:a="http://schemas.openxmlformats.org/drawingml/2006/main">
            <a:off x="0" y="6096000"/>
            <a:ext cx="9144000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AA542F-DAAB-4F5F-95C8-D2451756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 1 · 106</a:t>
            </a:r>
          </a:p>
        </p:txBody>
      </p:sp>
    </p:spTree>
    <p:extLst>
      <p:ext uri="{BB962C8B-B14F-4D97-AF65-F5344CB8AC3E}">
        <p14:creationId xmlns:p14="http://schemas.microsoft.com/office/powerpoint/2010/main" val="1316355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2026-10-16T09:57:05.5120000Z</dcterms:created>
  <dcterms:modified xsi:type="dcterms:W3CDTF">2026-10-16T09:57:05.5120000Z</dcterms:modified>
</coreProperties>
</file>