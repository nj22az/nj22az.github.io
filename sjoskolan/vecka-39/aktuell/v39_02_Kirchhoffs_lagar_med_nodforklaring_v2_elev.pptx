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10" r:id="rId31"/>
    <p:sldId id="285" r:id="rId32"/>
    <p:sldId id="311" r:id="rId33"/>
    <p:sldId id="286" r:id="rId34"/>
    <p:sldId id="312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6858000" type="screen4x3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1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7BEC-FFC8-4046-B789-CA3EB61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E3555-D9BF-45AB-959F-2BF5CB89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B3C18-A400-4ED7-8515-ED9F2FB80F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0438-4647-4085-957E-738718B987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89B1-67A2-4DE2-8025-E5F0648CA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F9B-D6BE-4C24-A006-BAB09642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8FB5A-06EB-4549-97CA-596930779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8AF99-619F-4068-97F7-EC85A83D85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EDBC7-5341-4BB9-923C-C106BC4490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4C6E-26A8-4BD7-B4EE-F4A8296CE4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A925-554A-47D3-937B-62648205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B8345-0E33-4EFB-8019-0E3CAF65E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B1501-0DE4-48CB-95DC-6BFD0F9C5C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02C66-5AA7-4E38-BC2D-B937E5C3CF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4FF3-9D0C-4EC8-90F0-027141F67C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07E5-D0B0-4B12-9E10-6DA15C67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51C1F-A844-4EF2-9D65-DE224580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79720-5E04-4DF3-9940-6A93730EF3E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C800E-8BFF-48A8-8F1F-4018D7977B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AAA69-D3C1-4C2A-AF1F-314894F9BA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01ED2-CE55-4D04-86FE-11252820D5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DD34-6A4C-411D-9FAE-BBDC1D43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93AF7-86D3-43CA-9BBC-327AEC7D1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81D1C-118B-456D-B0B8-55578D4F548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81AB9-9723-4D0E-82DD-84EABFC2030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84632-4AFF-4B9B-8C8E-FCAC5F76045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67229-3B59-4CC0-8C4F-2E3F90164A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6D9EC-72B2-48FF-8BE8-500F77231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3756C-3AA3-46CF-A2F0-A71C17DA2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0E46-0673-4B65-BA59-C3D7F854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626F42-A06B-4BDE-B8E9-28A4770027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6E18B-B47E-41E3-BFBA-1A7E578049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A4369-DD42-41F4-B97A-049CC8303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2E095-CCEE-4195-8B2F-AD34674F92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A0684-FF6E-4351-AE9D-CE601239C1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16351-C91C-4D68-8C7F-360CA333B3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58CD-83B5-4D01-A133-2F81F094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CF78-554D-46CF-8905-B999B0752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92FD6-1F3B-4AD9-8D1A-41F31D8151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6231-63FF-46D8-B8D4-9BDD59D475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69470-B4BA-4DD4-80F3-0E1ECB8980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90E10-E95C-4B6E-A10E-BD0ADDA169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CD9B-B159-4291-AE65-B651925D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F79F7E-06EB-4D1B-A140-11AD1BB64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8B6C5-A2F9-4C2A-A71A-D5E4F7311EF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8878-60D9-412F-9F0D-C8DF610B97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E8AAF-6E1A-4A15-8EEB-1ED37F7610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60721-0807-4065-8944-DF6E3245E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AA67-6E31-4A58-A434-D60421DE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B593E-C8AF-4E3A-9727-FED380CC9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825D-9E35-4E4C-AB4B-1126973037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4EE5-5AC3-4A1E-B28A-2944FBD9EB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8409A-66C6-475E-A6A6-83862EFE8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A5E83-65A1-4217-858B-CC7E9D79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17B65-859F-42C6-8305-7E18C18F4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00F8D-179C-43E6-B22E-663239CC4E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E0C0C-262D-4D4D-80FC-CBB0D01CB1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7E52-7FD6-4103-B5FB-31ECAAE15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56CE70-7EE1-9D47-B86A-0F053C4015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FF200-8F43-4A3D-BC22-ED36A7FC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Klicka här för att ändra mall för rubrikformat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A744F-BEF1-4F45-A10E-58D959EFF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Klicka här för att ändra format på bakgrundstexten</a:t>
            </a:r>
          </a:p>
          <a:p>
            <a:pPr lvl="1">
              <a:buNone/>
            </a:pPr>
            <a:r>
              <a:t>Nivå två</a:t>
            </a:r>
          </a:p>
          <a:p>
            <a:pPr lvl="2">
              <a:buNone/>
            </a:pPr>
            <a:r>
              <a:t>Nivå tre</a:t>
            </a:r>
          </a:p>
          <a:p>
            <a:pPr lvl="3">
              <a:buNone/>
            </a:pPr>
            <a:r>
              <a:t>Nivå fyra</a:t>
            </a:r>
          </a:p>
          <a:p>
            <a:pPr lvl="4">
              <a:buNone/>
            </a:pPr>
            <a:r>
              <a:t>Nivå fem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377EA-569A-4C6D-8892-53ACD4BFAB6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F3D7D-73CF-D940-97F9-D65067452AC9}" type="datetimeFigureOut">
              <a:t>2026-09-20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00BBE-AAFD-4204-82F6-CF637565FEE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780A2-EE39-4E71-96FE-879920BC67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hyperlink" Target="https://www.youtube.com/watch?v=affa61AME68" TargetMode="External"/><Relationship Id="rId5" Type="http://schemas.openxmlformats.org/officeDocument/2006/relationships/hyperlink" Target="https://openstax.org/books/university-physics-volume-2/pages/10-3-kirchhoffs-ru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pic>
        <p:nvPicPr>
          <p:cNvPr id="18" name="Bildobjekt 1"/>
          <p:cNvPicPr>
            <a:picLocks noChangeAspect="1"/>
          </p:cNvPicPr>
          <p:nvPr/>
        </p:nvPicPr>
        <p:blipFill>
          <a:blip r:embed="rId4"/>
          <a:srcRect t="194" b="194"/>
          <a:stretch>
            <a:fillRect/>
          </a:stretch>
        </p:blipFill>
        <p:spPr>
          <a:xfrm>
            <a:off x="0" y="-185460"/>
            <a:ext cx="9138501" cy="6068674"/>
          </a:xfrm>
          <a:prstGeom prst="rect">
            <a:avLst/>
          </a:prstGeom>
        </p:spPr>
      </p:pic>
      <p:sp>
        <p:nvSpPr>
          <p:cNvPr id="11" name="Kontrast för omslagets rubrik">
            <a:extLst>
              <a:ext uri="{FF2B5EF4-FFF2-40B4-BE49-F238E27FC236}">
                <a16:creationId xmlns:a16="http://schemas.microsoft.com/office/drawing/2014/main" id="{62455F2E-BC10-4C7D-9B37-5F8314D177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38501" cy="5883214"/>
          </a:xfrm>
          <a:prstGeom prst="rect">
            <a:avLst/>
          </a:prstGeom>
          <a:gradFill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ruta 3">
            <a:extLst>
              <a:ext uri="{FF2B5EF4-FFF2-40B4-BE49-F238E27FC236}">
                <a16:creationId xmlns:a16="http://schemas.microsoft.com/office/drawing/2014/main" id="{044244B5-A0C4-467D-AC34-F5C9D444F2A2}"/>
              </a:ext>
            </a:extLst>
          </p:cNvPr>
          <p:cNvSpPr>
            <a:spLocks noGrp="1"/>
          </p:cNvSpPr>
          <p:nvPr/>
        </p:nvSpPr>
        <p:spPr>
          <a:xfrm>
            <a:off x="2243995" y="704850"/>
            <a:ext cx="6334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Kirchhoffs lagar</a:t>
            </a:r>
          </a:p>
        </p:txBody>
      </p:sp>
      <p:sp>
        <p:nvSpPr>
          <p:cNvPr id="13" name="Spänningsdelning, strömdelning och Thévenin">
            <a:extLst>
              <a:ext uri="{FF2B5EF4-FFF2-40B4-BE49-F238E27FC236}">
                <a16:creationId xmlns:a16="http://schemas.microsoft.com/office/drawing/2014/main" id="{C80D9342-1588-48F4-8F79-B2823285C065}"/>
              </a:ext>
            </a:extLst>
          </p:cNvPr>
          <p:cNvSpPr>
            <a:spLocks noGrp="1"/>
          </p:cNvSpPr>
          <p:nvPr/>
        </p:nvSpPr>
        <p:spPr>
          <a:xfrm>
            <a:off x="2243995" y="1809750"/>
            <a:ext cx="628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Spänningsdelning, strömdelning och Thévenin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16890174-2808-48AA-919A-6192AC178C7B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Mål och startfråga">
            <a:extLst>
              <a:ext uri="{FF2B5EF4-FFF2-40B4-BE49-F238E27FC236}">
                <a16:creationId xmlns:a16="http://schemas.microsoft.com/office/drawing/2014/main" id="{48E49E12-AC74-42CD-814C-2B376330E218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Skriva nod- och slingekvationer med konsekventa tecken.">
            <a:extLst>
              <a:ext uri="{FF2B5EF4-FFF2-40B4-BE49-F238E27FC236}">
                <a16:creationId xmlns:a16="http://schemas.microsoft.com/office/drawing/2014/main" id="{193D67FD-18A4-4BD5-A121-AAD9E94BFC83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7620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Identifiera noder och skriva nod- och slingekvationer.</a:t>
            </a:r>
          </a:p>
        </p:txBody>
      </p:sp>
      <p:sp>
        <p:nvSpPr>
          <p:cNvPr id="4" name="Beräkna belastad delare och enkel Théveninekvivalent.">
            <a:extLst>
              <a:ext uri="{FF2B5EF4-FFF2-40B4-BE49-F238E27FC236}">
                <a16:creationId xmlns:a16="http://schemas.microsoft.com/office/drawing/2014/main" id="{CBC19C01-9884-40B8-8CC4-7A47B5D784C3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7620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belastad delare och enkel Théveninekvivalent.</a:t>
            </a:r>
          </a:p>
        </p:txBody>
      </p:sp>
      <p:sp>
        <p:nvSpPr>
          <p:cNvPr id="5" name="Startfråga">
            <a:extLst>
              <a:ext uri="{FF2B5EF4-FFF2-40B4-BE49-F238E27FC236}">
                <a16:creationId xmlns:a16="http://schemas.microsoft.com/office/drawing/2014/main" id="{57889B0C-623D-49BE-A6C4-967EE8078164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7620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Vad betyder en negativ ström när du själv har valt pilens riktnin">
            <a:extLst>
              <a:ext uri="{FF2B5EF4-FFF2-40B4-BE49-F238E27FC236}">
                <a16:creationId xmlns:a16="http://schemas.microsoft.com/office/drawing/2014/main" id="{1B38BEA9-5E84-4E90-A5F2-113E85E5917A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7620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 delar sig strömmen, och vad händer med den totala strömmen?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6917EC44-05AB-44CA-B82E-29BD84CDD8FF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10" name="Dagens två pass">
            <a:extLst>
              <a:ext uri="{FF2B5EF4-FFF2-40B4-BE49-F238E27FC236}">
                <a16:creationId xmlns:a16="http://schemas.microsoft.com/office/drawing/2014/main" id="{990B684E-1D49-4C7A-9EC9-1E4FDC136A96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>
              <a:ext uri="{FF2B5EF4-FFF2-40B4-BE49-F238E27FC236}">
                <a16:creationId xmlns:a16="http://schemas.microsoft.com/office/drawing/2014/main" id="{027DC050-DA2D-413C-BF46-3B17DA3004A3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>
              <a:ext uri="{FF2B5EF4-FFF2-40B4-BE49-F238E27FC236}">
                <a16:creationId xmlns:a16="http://schemas.microsoft.com/office/drawing/2014/main" id="{A0EDAD48-1C31-4AAB-A25D-2400EFAF6D0B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2, 4, 5 min återkoppling</a:t>
            </a:r>
          </a:p>
        </p:txBody>
      </p:sp>
      <p:sp>
        <p:nvSpPr>
          <p:cNvPr id="13" name="Pass 2: 45 minuter">
            <a:extLst>
              <a:ext uri="{FF2B5EF4-FFF2-40B4-BE49-F238E27FC236}">
                <a16:creationId xmlns:a16="http://schemas.microsoft.com/office/drawing/2014/main" id="{71E5CCD0-EBFD-43E8-B31E-6232C9A89173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7620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>
              <a:ext uri="{FF2B5EF4-FFF2-40B4-BE49-F238E27FC236}">
                <a16:creationId xmlns:a16="http://schemas.microsoft.com/office/drawing/2014/main" id="{803DB248-9D3B-42EE-A647-917DB44532B0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6, 7, 8</a:t>
            </a:r>
          </a:p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>
              <a:ext uri="{FF2B5EF4-FFF2-40B4-BE49-F238E27FC236}">
                <a16:creationId xmlns:a16="http://schemas.microsoft.com/office/drawing/2014/main" id="{C55DEE89-BC71-4AE9-A39E-A9163D141F93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7620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3D1A0DEC-6B21-4D89-9D25-27A52A4319D0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pänning, ström och resistans">
            <a:extLst>
              <a:ext uri="{FF2B5EF4-FFF2-40B4-BE49-F238E27FC236}">
                <a16:creationId xmlns:a16="http://schemas.microsoft.com/office/drawing/2014/main" id="{79A61FC6-2D9B-45E2-8415-CE3547D66452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Spänning, ström och resistans</a:t>
            </a:r>
          </a:p>
        </p:txBody>
      </p:sp>
      <p:sp>
        <p:nvSpPr>
          <p:cNvPr id="10" name="Spänning U i V är potentialskillnaden mellan två punkter.">
            <a:extLst>
              <a:ext uri="{FF2B5EF4-FFF2-40B4-BE49-F238E27FC236}">
                <a16:creationId xmlns:a16="http://schemas.microsoft.com/office/drawing/2014/main" id="{432BCBCF-9E7B-44C1-B1F5-A183A88D0F17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7620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U i V är potentialskillnaden mellan två punkter.</a:t>
            </a:r>
          </a:p>
        </p:txBody>
      </p:sp>
      <p:sp>
        <p:nvSpPr>
          <p:cNvPr id="11" name="Ström I i A är laddning per sekund i en gren.">
            <a:extLst>
              <a:ext uri="{FF2B5EF4-FFF2-40B4-BE49-F238E27FC236}">
                <a16:creationId xmlns:a16="http://schemas.microsoft.com/office/drawing/2014/main" id="{650F7336-2CA1-4DAA-A7E9-80D18B230930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7620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 I i A är laddning per sekund i en gren.</a:t>
            </a:r>
          </a:p>
        </p:txBody>
      </p:sp>
      <p:sp>
        <p:nvSpPr>
          <p:cNvPr id="12" name="Resistans R i Ω beskriver sambandet U = RI för en ohmsk resistor.">
            <a:extLst>
              <a:ext uri="{FF2B5EF4-FFF2-40B4-BE49-F238E27FC236}">
                <a16:creationId xmlns:a16="http://schemas.microsoft.com/office/drawing/2014/main" id="{AEEE1CB0-2D74-4167-A9C0-1244C826E45B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7620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 R i Ω beskriver sambandet U = RI för en ohmsk resistor.</a:t>
            </a:r>
          </a:p>
        </p:txBody>
      </p:sp>
      <p:sp>
        <p:nvSpPr>
          <p:cNvPr id="13" name="En slinga är en sluten rundtur. En nod är en gemensam elektrisk f">
            <a:extLst>
              <a:ext uri="{FF2B5EF4-FFF2-40B4-BE49-F238E27FC236}">
                <a16:creationId xmlns:a16="http://schemas.microsoft.com/office/drawing/2014/main" id="{6CAA3C22-4192-4F5D-8743-C9360C52A06A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slinga är en sluten rundtur. En nod är en gemensam elektrisk förbindelse.</a:t>
            </a:r>
          </a:p>
        </p:txBody>
      </p:sp>
      <p:sp>
        <p:nvSpPr>
          <p:cNvPr id="14" name="4">
            <a:extLst>
              <a:ext uri="{FF2B5EF4-FFF2-40B4-BE49-F238E27FC236}">
                <a16:creationId xmlns:a16="http://schemas.microsoft.com/office/drawing/2014/main" id="{998D38ED-89AE-4060-899A-69BE29BD81F4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En lösning som går att följa">
            <a:extLst>
              <a:ext uri="{FF2B5EF4-FFF2-40B4-BE49-F238E27FC236}">
                <a16:creationId xmlns:a16="http://schemas.microsoft.com/office/drawing/2014/main" id="{DD4670F6-15AE-4968-BCD7-B9F78AA815F3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>
              <a:ext uri="{FF2B5EF4-FFF2-40B4-BE49-F238E27FC236}">
                <a16:creationId xmlns:a16="http://schemas.microsoft.com/office/drawing/2014/main" id="{5D909735-2070-4AB2-9BB7-6DDBDA5DD2D1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7620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>
              <a:ext uri="{FF2B5EF4-FFF2-40B4-BE49-F238E27FC236}">
                <a16:creationId xmlns:a16="http://schemas.microsoft.com/office/drawing/2014/main" id="{BB8F586D-ACF6-4E7F-B94C-2B2FEB371C60}"/>
              </a:ext>
            </a:extLst>
          </p:cNvPr>
          <p:cNvSpPr>
            <a:spLocks noGrp="1"/>
          </p:cNvSpPr>
          <p:nvPr/>
        </p:nvSpPr>
        <p:spPr>
          <a:xfrm>
            <a:off x="762000" y="2124075"/>
            <a:ext cx="7620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>
              <a:ext uri="{FF2B5EF4-FFF2-40B4-BE49-F238E27FC236}">
                <a16:creationId xmlns:a16="http://schemas.microsoft.com/office/drawing/2014/main" id="{0D72109C-04E9-4ADA-B726-83F6DADFAEA0}"/>
              </a:ext>
            </a:extLst>
          </p:cNvPr>
          <p:cNvSpPr>
            <a:spLocks noGrp="1"/>
          </p:cNvSpPr>
          <p:nvPr/>
        </p:nvSpPr>
        <p:spPr>
          <a:xfrm>
            <a:off x="762000" y="2819400"/>
            <a:ext cx="7620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>
              <a:ext uri="{FF2B5EF4-FFF2-40B4-BE49-F238E27FC236}">
                <a16:creationId xmlns:a16="http://schemas.microsoft.com/office/drawing/2014/main" id="{477AB44F-F5BB-462B-8462-EFF0170496DC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7620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>
              <a:ext uri="{FF2B5EF4-FFF2-40B4-BE49-F238E27FC236}">
                <a16:creationId xmlns:a16="http://schemas.microsoft.com/office/drawing/2014/main" id="{C032399D-2497-4ABD-811F-D65CC038FE18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7620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>
              <a:ext uri="{FF2B5EF4-FFF2-40B4-BE49-F238E27FC236}">
                <a16:creationId xmlns:a16="http://schemas.microsoft.com/office/drawing/2014/main" id="{16BBAFAA-9D4D-44D9-8E1D-3B28073855E6}"/>
              </a:ext>
            </a:extLst>
          </p:cNvPr>
          <p:cNvSpPr>
            <a:spLocks noGrp="1"/>
          </p:cNvSpPr>
          <p:nvPr/>
        </p:nvSpPr>
        <p:spPr>
          <a:xfrm>
            <a:off x="762000" y="4791075"/>
            <a:ext cx="7620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>
              <a:ext uri="{FF2B5EF4-FFF2-40B4-BE49-F238E27FC236}">
                <a16:creationId xmlns:a16="http://schemas.microsoft.com/office/drawing/2014/main" id="{AAA4F853-EB79-4671-95B3-CFFAD3C853D2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4" name="Noder i en elektrisk krets">
            <a:extLst>
              <a:ext uri="{FF2B5EF4-FFF2-40B4-BE49-F238E27FC236}">
                <a16:creationId xmlns:a16="http://schemas.microsoft.com/office/drawing/2014/main" id="{C09AD06B-B12C-4987-9A9E-A2B0E31DFE5B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en elektrisk krets</a:t>
            </a:r>
          </a:p>
        </p:txBody>
      </p:sp>
      <p:sp>
        <p:nvSpPr>
          <p:cNvPr id="25" name="En nod är en elektrisk kopplingspunkt.&#10;Två eller flera anslutning">
            <a:extLst>
              <a:ext uri="{FF2B5EF4-FFF2-40B4-BE49-F238E27FC236}">
                <a16:creationId xmlns:a16="http://schemas.microsoft.com/office/drawing/2014/main" id="{201ABFFD-0408-4F41-88E5-CABBE486C124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7620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är en elektrisk kopplingspunkt.</a:t>
            </a:r>
          </a:p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eller flera anslutningar hör ihop där.</a:t>
            </a:r>
          </a:p>
        </p:txBody>
      </p:sp>
      <p:sp>
        <p:nvSpPr>
          <p:cNvPr id="26" name="Alla blå ledningar tillhör samma nod A.">
            <a:extLst>
              <a:ext uri="{FF2B5EF4-FFF2-40B4-BE49-F238E27FC236}">
                <a16:creationId xmlns:a16="http://schemas.microsoft.com/office/drawing/2014/main" id="{772B82D1-5619-47D4-B376-D0968269A8C3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Alla blå ledningar tillhör samma nod A.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2211F22-8BAE-407C-8922-5726C69A035D}"/>
              </a:ext>
            </a:extLst>
          </p:cNvPr>
          <p:cNvSpPr>
            <a:spLocks noGrp="1"/>
          </p:cNvSpPr>
          <p:nvPr/>
        </p:nvSpPr>
        <p:spPr>
          <a:xfrm>
            <a:off x="1476375" y="3590925"/>
            <a:ext cx="4095750" cy="0"/>
          </a:xfrm>
          <a:prstGeom prst="line">
            <a:avLst/>
          </a:prstGeom>
          <a:noFill/>
          <a:ln w="38100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F75A004-524F-40E7-8382-2587E18D41BF}"/>
              </a:ext>
            </a:extLst>
          </p:cNvPr>
          <p:cNvSpPr>
            <a:spLocks noGrp="1"/>
          </p:cNvSpPr>
          <p:nvPr/>
        </p:nvSpPr>
        <p:spPr>
          <a:xfrm>
            <a:off x="3190875" y="3190875"/>
            <a:ext cx="0" cy="1238250"/>
          </a:xfrm>
          <a:prstGeom prst="line">
            <a:avLst/>
          </a:prstGeom>
          <a:noFill/>
          <a:ln w="38100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5C9B2FC-65A3-410B-B88A-2747C3A55DF5}"/>
              </a:ext>
            </a:extLst>
          </p:cNvPr>
          <p:cNvSpPr>
            <a:spLocks noGrp="1"/>
          </p:cNvSpPr>
          <p:nvPr/>
        </p:nvSpPr>
        <p:spPr>
          <a:xfrm>
            <a:off x="3133725" y="3533775"/>
            <a:ext cx="114300" cy="114300"/>
          </a:xfrm>
          <a:prstGeom prst="ellipse">
            <a:avLst/>
          </a:prstGeom>
          <a:solidFill>
            <a:srgbClr val="064F91"/>
          </a:solidFill>
          <a:ln w="0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542EBB5-7E33-4E32-A3CB-24406B6C7BAC}"/>
              </a:ext>
            </a:extLst>
          </p:cNvPr>
          <p:cNvSpPr>
            <a:spLocks noGrp="1"/>
          </p:cNvSpPr>
          <p:nvPr/>
        </p:nvSpPr>
        <p:spPr>
          <a:xfrm>
            <a:off x="1990725" y="3533775"/>
            <a:ext cx="114300" cy="114300"/>
          </a:xfrm>
          <a:prstGeom prst="ellipse">
            <a:avLst/>
          </a:prstGeom>
          <a:solidFill>
            <a:srgbClr val="064F91"/>
          </a:solidFill>
          <a:ln w="0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73B8D0-9071-4B55-8D89-BA7393501543}"/>
              </a:ext>
            </a:extLst>
          </p:cNvPr>
          <p:cNvSpPr>
            <a:spLocks noGrp="1"/>
          </p:cNvSpPr>
          <p:nvPr/>
        </p:nvSpPr>
        <p:spPr>
          <a:xfrm>
            <a:off x="4800600" y="3533775"/>
            <a:ext cx="114300" cy="114300"/>
          </a:xfrm>
          <a:prstGeom prst="ellipse">
            <a:avLst/>
          </a:prstGeom>
          <a:solidFill>
            <a:srgbClr val="064F91"/>
          </a:solidFill>
          <a:ln w="0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7FD177-F4EB-4D43-A98B-12E2B63CC8CB}"/>
              </a:ext>
            </a:extLst>
          </p:cNvPr>
          <p:cNvSpPr>
            <a:spLocks noGrp="1"/>
          </p:cNvSpPr>
          <p:nvPr/>
        </p:nvSpPr>
        <p:spPr>
          <a:xfrm>
            <a:off x="5572125" y="3400425"/>
            <a:ext cx="800100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3E2D1F61-8089-4089-BC28-26ADAFC0394F}"/>
              </a:ext>
            </a:extLst>
          </p:cNvPr>
          <p:cNvSpPr>
            <a:spLocks noGrp="1"/>
          </p:cNvSpPr>
          <p:nvPr/>
        </p:nvSpPr>
        <p:spPr>
          <a:xfrm>
            <a:off x="6372225" y="3590925"/>
            <a:ext cx="146685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4B2C123-D578-4A1A-9B03-99FC3D9B808D}"/>
              </a:ext>
            </a:extLst>
          </p:cNvPr>
          <p:cNvSpPr>
            <a:spLocks noGrp="1"/>
          </p:cNvSpPr>
          <p:nvPr/>
        </p:nvSpPr>
        <p:spPr>
          <a:xfrm>
            <a:off x="7610475" y="3533775"/>
            <a:ext cx="114300" cy="1143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5" name="P">
            <a:extLst>
              <a:ext uri="{FF2B5EF4-FFF2-40B4-BE49-F238E27FC236}">
                <a16:creationId xmlns:a16="http://schemas.microsoft.com/office/drawing/2014/main" id="{FC56D6E8-D0A2-4596-8CB6-3BD344358724}"/>
              </a:ext>
            </a:extLst>
          </p:cNvPr>
          <p:cNvSpPr>
            <a:spLocks noGrp="1"/>
          </p:cNvSpPr>
          <p:nvPr/>
        </p:nvSpPr>
        <p:spPr>
          <a:xfrm>
            <a:off x="1866900" y="3829050"/>
            <a:ext cx="47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sp>
        <p:nvSpPr>
          <p:cNvPr id="36" name="Q">
            <a:extLst>
              <a:ext uri="{FF2B5EF4-FFF2-40B4-BE49-F238E27FC236}">
                <a16:creationId xmlns:a16="http://schemas.microsoft.com/office/drawing/2014/main" id="{FA0FCABC-B881-41BD-8F4A-9E4F6399B206}"/>
              </a:ext>
            </a:extLst>
          </p:cNvPr>
          <p:cNvSpPr>
            <a:spLocks noGrp="1"/>
          </p:cNvSpPr>
          <p:nvPr/>
        </p:nvSpPr>
        <p:spPr>
          <a:xfrm>
            <a:off x="4676775" y="3829050"/>
            <a:ext cx="47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7" name="Resistor">
            <a:extLst>
              <a:ext uri="{FF2B5EF4-FFF2-40B4-BE49-F238E27FC236}">
                <a16:creationId xmlns:a16="http://schemas.microsoft.com/office/drawing/2014/main" id="{AC6ECC98-80E2-4F82-A857-4226B353DADF}"/>
              </a:ext>
            </a:extLst>
          </p:cNvPr>
          <p:cNvSpPr>
            <a:spLocks noGrp="1"/>
          </p:cNvSpPr>
          <p:nvPr/>
        </p:nvSpPr>
        <p:spPr>
          <a:xfrm>
            <a:off x="5381625" y="3057525"/>
            <a:ext cx="1238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Resistor</a:t>
            </a:r>
          </a:p>
        </p:txBody>
      </p:sp>
      <p:sp>
        <p:nvSpPr>
          <p:cNvPr id="38" name="Nod B">
            <a:extLst>
              <a:ext uri="{FF2B5EF4-FFF2-40B4-BE49-F238E27FC236}">
                <a16:creationId xmlns:a16="http://schemas.microsoft.com/office/drawing/2014/main" id="{70407815-E176-48FE-9E95-38C06234BBE2}"/>
              </a:ext>
            </a:extLst>
          </p:cNvPr>
          <p:cNvSpPr>
            <a:spLocks noGrp="1"/>
          </p:cNvSpPr>
          <p:nvPr/>
        </p:nvSpPr>
        <p:spPr>
          <a:xfrm>
            <a:off x="7000875" y="3943350"/>
            <a:ext cx="133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 B</a:t>
            </a:r>
          </a:p>
        </p:txBody>
      </p:sp>
      <p:sp>
        <p:nvSpPr>
          <p:cNvPr id="39" name="P och Q har samma potential i den ideala kretsmodellen.&#10;En nod ka">
            <a:extLst>
              <a:ext uri="{FF2B5EF4-FFF2-40B4-BE49-F238E27FC236}">
                <a16:creationId xmlns:a16="http://schemas.microsoft.com/office/drawing/2014/main" id="{B3DE9AE8-77FF-4831-8447-B7C2E1834CBB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och Q har samma potential i den ideala kretsmodellen.</a:t>
            </a:r>
          </a:p>
          <a:p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kan alltså sträcka sig längs flera ledningar.</a:t>
            </a:r>
          </a:p>
        </p:txBody>
      </p:sp>
      <p:sp>
        <p:nvSpPr>
          <p:cNvPr id="40" name="4">
            <a:extLst>
              <a:ext uri="{FF2B5EF4-FFF2-40B4-BE49-F238E27FC236}">
                <a16:creationId xmlns:a16="http://schemas.microsoft.com/office/drawing/2014/main" id="{CDB51DE0-0184-4AB8-A133-6582E79A1A43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4" name="Vattenflöde i en T-koppling">
            <a:extLst>
              <a:ext uri="{FF2B5EF4-FFF2-40B4-BE49-F238E27FC236}">
                <a16:creationId xmlns:a16="http://schemas.microsoft.com/office/drawing/2014/main" id="{26B3F7E2-AC34-47C0-9E83-1A5D9002725F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Vattenflöde i en T-koppling</a:t>
            </a:r>
          </a:p>
        </p:txBody>
      </p:sp>
      <p:sp>
        <p:nvSpPr>
          <p:cNvPr id="25" name="Ett rör delar sig mot köket och badrummet.&#10;Vid jämnt flöde utan l">
            <a:extLst>
              <a:ext uri="{FF2B5EF4-FFF2-40B4-BE49-F238E27FC236}">
                <a16:creationId xmlns:a16="http://schemas.microsoft.com/office/drawing/2014/main" id="{097F7C0E-38AD-4463-BE11-30071411899F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rör delar sig mot köket och badrummet.</a:t>
            </a:r>
          </a:p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jämnt flöde utan läckage samlas inget vatten i kopplingen.</a:t>
            </a:r>
          </a:p>
        </p:txBody>
      </p:sp>
      <p:graphicFrame>
        <p:nvGraphicFramePr>
          <p:cNvPr id="34" name="Table 33"/>
          <p:cNvGraphicFramePr/>
          <p:nvPr/>
        </p:nvGraphicFramePr>
        <p:xfrm>
          <a:off x="762000" y="2762250"/>
          <a:ext cx="7620000" cy="2333624"/>
        </p:xfrm>
        <a:graphic>
          <a:graphicData uri="http://schemas.openxmlformats.org/drawingml/2006/table">
            <a:tbl>
              <a:tblPr/>
              <a:tblGrid>
                <a:gridCol w="46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Plats i rörsystemet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 till T-kopplingen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 liter/minut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köket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 liter/minut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badrummet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7 liter/minut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10 = 3 + 7">
            <a:extLst>
              <a:ext uri="{FF2B5EF4-FFF2-40B4-BE49-F238E27FC236}">
                <a16:creationId xmlns:a16="http://schemas.microsoft.com/office/drawing/2014/main" id="{57FB7F80-1C4A-45BF-8ECD-08331A14B4F3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76200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8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 = 3 + 7</a:t>
            </a:r>
          </a:p>
        </p:txBody>
      </p:sp>
      <p:sp>
        <p:nvSpPr>
          <p:cNvPr id="28" name="5">
            <a:extLst>
              <a:ext uri="{FF2B5EF4-FFF2-40B4-BE49-F238E27FC236}">
                <a16:creationId xmlns:a16="http://schemas.microsoft.com/office/drawing/2014/main" id="{0064ED7E-DF2D-4126-A726-C2D9EE039CF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Strömlagen vid en nod">
            <a:extLst>
              <a:ext uri="{FF2B5EF4-FFF2-40B4-BE49-F238E27FC236}">
                <a16:creationId xmlns:a16="http://schemas.microsoft.com/office/drawing/2014/main" id="{D051516F-D1FF-4168-90DE-351C474111DA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Strömlagen vid en nod</a:t>
            </a:r>
          </a:p>
        </p:txBody>
      </p:sp>
      <p:sp>
        <p:nvSpPr>
          <p:cNvPr id="3" name="Summan av strömmarna in i noden är lika med summan ut.&#10;Pilarna an">
            <a:extLst>
              <a:ext uri="{FF2B5EF4-FFF2-40B4-BE49-F238E27FC236}">
                <a16:creationId xmlns:a16="http://schemas.microsoft.com/office/drawing/2014/main" id="{A6916403-4FE5-47DC-BC9D-84101BD0B9B8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Summan av strömmarna in i noden är lika med summan ut.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Pilarna anger våra valda positiva riktningar.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E5F07F-CD34-4FB9-8D87-605993EDB130}"/>
              </a:ext>
            </a:extLst>
          </p:cNvPr>
          <p:cNvSpPr>
            <a:spLocks noGrp="1"/>
          </p:cNvSpPr>
          <p:nvPr/>
        </p:nvSpPr>
        <p:spPr>
          <a:xfrm>
            <a:off x="2333625" y="3566120"/>
            <a:ext cx="2238375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B09755B3-DEE2-4141-96CA-073D9F39A2EA}"/>
              </a:ext>
            </a:extLst>
          </p:cNvPr>
          <p:cNvSpPr>
            <a:spLocks noGrp="1"/>
          </p:cNvSpPr>
          <p:nvPr/>
        </p:nvSpPr>
        <p:spPr>
          <a:xfrm flipV="1">
            <a:off x="4572000" y="2866628"/>
            <a:ext cx="1958578" cy="699492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C2F8E76-4058-486F-A981-51B1CBECBD36}"/>
              </a:ext>
            </a:extLst>
          </p:cNvPr>
          <p:cNvSpPr>
            <a:spLocks noGrp="1"/>
          </p:cNvSpPr>
          <p:nvPr/>
        </p:nvSpPr>
        <p:spPr>
          <a:xfrm>
            <a:off x="4572000" y="3566120"/>
            <a:ext cx="1958578" cy="746125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135E93-5F99-4568-93B4-8D925B8A548A}"/>
              </a:ext>
            </a:extLst>
          </p:cNvPr>
          <p:cNvSpPr>
            <a:spLocks noGrp="1"/>
          </p:cNvSpPr>
          <p:nvPr/>
        </p:nvSpPr>
        <p:spPr>
          <a:xfrm>
            <a:off x="4534694" y="3528814"/>
            <a:ext cx="74613" cy="74613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742D67E-030D-41F2-BA19-F1E30BA3AE8C}"/>
              </a:ext>
            </a:extLst>
          </p:cNvPr>
          <p:cNvSpPr>
            <a:spLocks noGrp="1"/>
          </p:cNvSpPr>
          <p:nvPr/>
        </p:nvSpPr>
        <p:spPr>
          <a:xfrm>
            <a:off x="2893219" y="3566120"/>
            <a:ext cx="932656" cy="0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C26440F-B59D-4E54-BF46-E9BACF0ED85E}"/>
              </a:ext>
            </a:extLst>
          </p:cNvPr>
          <p:cNvSpPr>
            <a:spLocks noGrp="1"/>
          </p:cNvSpPr>
          <p:nvPr/>
        </p:nvSpPr>
        <p:spPr>
          <a:xfrm flipH="1" flipV="1">
            <a:off x="3732609" y="3519488"/>
            <a:ext cx="93266" cy="46633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9A22B75-7737-43A3-BC65-ED972A91009C}"/>
              </a:ext>
            </a:extLst>
          </p:cNvPr>
          <p:cNvSpPr>
            <a:spLocks noGrp="1"/>
          </p:cNvSpPr>
          <p:nvPr/>
        </p:nvSpPr>
        <p:spPr>
          <a:xfrm flipH="1">
            <a:off x="3732609" y="3566120"/>
            <a:ext cx="93266" cy="46633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4C22930-48A5-4E9F-99C7-8D6E5AB74EFC}"/>
              </a:ext>
            </a:extLst>
          </p:cNvPr>
          <p:cNvSpPr>
            <a:spLocks noGrp="1"/>
          </p:cNvSpPr>
          <p:nvPr/>
        </p:nvSpPr>
        <p:spPr>
          <a:xfrm flipV="1">
            <a:off x="5010348" y="3081139"/>
            <a:ext cx="914003" cy="317103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53F2E85-6368-46F9-BCB1-C6FB25E05171}"/>
              </a:ext>
            </a:extLst>
          </p:cNvPr>
          <p:cNvSpPr>
            <a:spLocks noGrp="1"/>
          </p:cNvSpPr>
          <p:nvPr/>
        </p:nvSpPr>
        <p:spPr>
          <a:xfrm flipH="1" flipV="1">
            <a:off x="5820953" y="3067652"/>
            <a:ext cx="103398" cy="13487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F2B8905-7A2D-4CB2-A760-D0B2869CD56E}"/>
              </a:ext>
            </a:extLst>
          </p:cNvPr>
          <p:cNvSpPr>
            <a:spLocks noGrp="1"/>
          </p:cNvSpPr>
          <p:nvPr/>
        </p:nvSpPr>
        <p:spPr>
          <a:xfrm flipH="1">
            <a:off x="5851523" y="3081139"/>
            <a:ext cx="72828" cy="74627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A79A099-89EC-4B5A-90AA-D3FD67ADD53F}"/>
              </a:ext>
            </a:extLst>
          </p:cNvPr>
          <p:cNvSpPr>
            <a:spLocks noGrp="1"/>
          </p:cNvSpPr>
          <p:nvPr/>
        </p:nvSpPr>
        <p:spPr>
          <a:xfrm>
            <a:off x="5010348" y="3733998"/>
            <a:ext cx="914003" cy="354409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FDB0443-7B81-433E-809A-1F041B0D731D}"/>
              </a:ext>
            </a:extLst>
          </p:cNvPr>
          <p:cNvSpPr>
            <a:spLocks noGrp="1"/>
          </p:cNvSpPr>
          <p:nvPr/>
        </p:nvSpPr>
        <p:spPr>
          <a:xfrm flipH="1" flipV="1">
            <a:off x="5854253" y="4011211"/>
            <a:ext cx="70098" cy="77197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05AAF13-23B2-4092-88F5-812DA6C6B2A0}"/>
              </a:ext>
            </a:extLst>
          </p:cNvPr>
          <p:cNvSpPr>
            <a:spLocks noGrp="1"/>
          </p:cNvSpPr>
          <p:nvPr/>
        </p:nvSpPr>
        <p:spPr>
          <a:xfrm flipH="1">
            <a:off x="5820535" y="4088408"/>
            <a:ext cx="103816" cy="9761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5 A in">
            <a:extLst>
              <a:ext uri="{FF2B5EF4-FFF2-40B4-BE49-F238E27FC236}">
                <a16:creationId xmlns:a16="http://schemas.microsoft.com/office/drawing/2014/main" id="{24D20D46-9BDF-4573-B6DB-EF307A1B97E4}"/>
              </a:ext>
            </a:extLst>
          </p:cNvPr>
          <p:cNvSpPr>
            <a:spLocks noGrp="1"/>
          </p:cNvSpPr>
          <p:nvPr/>
        </p:nvSpPr>
        <p:spPr>
          <a:xfrm>
            <a:off x="2613422" y="3006527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A in</a:t>
            </a:r>
          </a:p>
        </p:txBody>
      </p:sp>
      <p:sp>
        <p:nvSpPr>
          <p:cNvPr id="18" name="2 A ut">
            <a:extLst>
              <a:ext uri="{FF2B5EF4-FFF2-40B4-BE49-F238E27FC236}">
                <a16:creationId xmlns:a16="http://schemas.microsoft.com/office/drawing/2014/main" id="{5151CB45-0CC0-4964-B966-9388D40D6438}"/>
              </a:ext>
            </a:extLst>
          </p:cNvPr>
          <p:cNvSpPr>
            <a:spLocks noGrp="1"/>
          </p:cNvSpPr>
          <p:nvPr/>
        </p:nvSpPr>
        <p:spPr>
          <a:xfrm>
            <a:off x="5224859" y="2465586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A ut</a:t>
            </a:r>
          </a:p>
        </p:txBody>
      </p:sp>
      <p:sp>
        <p:nvSpPr>
          <p:cNvPr id="19" name="3 A ut">
            <a:extLst>
              <a:ext uri="{FF2B5EF4-FFF2-40B4-BE49-F238E27FC236}">
                <a16:creationId xmlns:a16="http://schemas.microsoft.com/office/drawing/2014/main" id="{CE1E7678-89C5-4B69-8C4B-A724AA969750}"/>
              </a:ext>
            </a:extLst>
          </p:cNvPr>
          <p:cNvSpPr>
            <a:spLocks noGrp="1"/>
          </p:cNvSpPr>
          <p:nvPr/>
        </p:nvSpPr>
        <p:spPr>
          <a:xfrm>
            <a:off x="5224859" y="4274939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 A ut</a:t>
            </a:r>
          </a:p>
        </p:txBody>
      </p:sp>
      <p:sp>
        <p:nvSpPr>
          <p:cNvPr id="20" name="ΣIᵢₙ = ΣIᵤₜ">
            <a:extLst>
              <a:ext uri="{FF2B5EF4-FFF2-40B4-BE49-F238E27FC236}">
                <a16:creationId xmlns:a16="http://schemas.microsoft.com/office/drawing/2014/main" id="{62CF87ED-C3C6-4238-B00D-4D19176399FC}"/>
              </a:ext>
            </a:extLst>
          </p:cNvPr>
          <p:cNvSpPr>
            <a:spLocks noGrp="1"/>
          </p:cNvSpPr>
          <p:nvPr/>
        </p:nvSpPr>
        <p:spPr>
          <a:xfrm>
            <a:off x="762000" y="47910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ΣIᵢₙ = ΣIᵤₜ</a:t>
            </a:r>
          </a:p>
        </p:txBody>
      </p:sp>
      <p:sp>
        <p:nvSpPr>
          <p:cNvPr id="21" name="5 A kommer in. 2 A går ut i en gren.&#10;Den andra utgående strömmen ">
            <a:extLst>
              <a:ext uri="{FF2B5EF4-FFF2-40B4-BE49-F238E27FC236}">
                <a16:creationId xmlns:a16="http://schemas.microsoft.com/office/drawing/2014/main" id="{A56FF038-B462-4D75-A7CD-65988BB66FEF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A kommer in. 3 A går ut i en gren.</a:t>
            </a:r>
          </a:p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Den andra utgående strömmen är 7 A.</a:t>
            </a:r>
          </a:p>
        </p:txBody>
      </p:sp>
      <p:sp>
        <p:nvSpPr>
          <p:cNvPr id="22" name="4">
            <a:extLst>
              <a:ext uri="{FF2B5EF4-FFF2-40B4-BE49-F238E27FC236}">
                <a16:creationId xmlns:a16="http://schemas.microsoft.com/office/drawing/2014/main" id="{D6A76420-F52F-4820-99F9-58216DCA37ED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4" name="Förbindelser i elscheman">
            <a:extLst>
              <a:ext uri="{FF2B5EF4-FFF2-40B4-BE49-F238E27FC236}">
                <a16:creationId xmlns:a16="http://schemas.microsoft.com/office/drawing/2014/main" id="{09D0D8BB-522F-4D0C-8B29-0A295BA45AC1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Förbindelser i elscheman</a:t>
            </a:r>
          </a:p>
        </p:txBody>
      </p:sp>
      <p:sp>
        <p:nvSpPr>
          <p:cNvPr id="25" name="En fylld punkt visar att ledningarna hör ihop.&#10;Vid en korsning be">
            <a:extLst>
              <a:ext uri="{FF2B5EF4-FFF2-40B4-BE49-F238E27FC236}">
                <a16:creationId xmlns:a16="http://schemas.microsoft.com/office/drawing/2014/main" id="{481A5BDA-4119-405A-BA5C-D6BE41662608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7620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fylld punkt visar att ledningarna hör ihop.</a:t>
            </a:r>
          </a:p>
          <a:p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en korsning behöver du kontrollera förbindelsen.</a:t>
            </a:r>
          </a:p>
        </p:txBody>
      </p:sp>
      <p:sp>
        <p:nvSpPr>
          <p:cNvPr id="26" name="Gemensam nod">
            <a:extLst>
              <a:ext uri="{FF2B5EF4-FFF2-40B4-BE49-F238E27FC236}">
                <a16:creationId xmlns:a16="http://schemas.microsoft.com/office/drawing/2014/main" id="{D468D7D9-BA44-4555-8C6E-8A7185D04A9B}"/>
              </a:ext>
            </a:extLst>
          </p:cNvPr>
          <p:cNvSpPr>
            <a:spLocks noGrp="1"/>
          </p:cNvSpPr>
          <p:nvPr/>
        </p:nvSpPr>
        <p:spPr>
          <a:xfrm>
            <a:off x="857250" y="2771775"/>
            <a:ext cx="3381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Gemensam nod</a:t>
            </a:r>
          </a:p>
        </p:txBody>
      </p:sp>
      <p:sp>
        <p:nvSpPr>
          <p:cNvPr id="27" name="Skilda ledningar">
            <a:extLst>
              <a:ext uri="{FF2B5EF4-FFF2-40B4-BE49-F238E27FC236}">
                <a16:creationId xmlns:a16="http://schemas.microsoft.com/office/drawing/2014/main" id="{7E15B9EF-D308-43A5-A0A4-B2B635E24852}"/>
              </a:ext>
            </a:extLst>
          </p:cNvPr>
          <p:cNvSpPr>
            <a:spLocks noGrp="1"/>
          </p:cNvSpPr>
          <p:nvPr/>
        </p:nvSpPr>
        <p:spPr>
          <a:xfrm>
            <a:off x="4905375" y="2771775"/>
            <a:ext cx="3381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Skilda ledningar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0FE41D70-3D72-4904-BDB4-8F1E97851B61}"/>
              </a:ext>
            </a:extLst>
          </p:cNvPr>
          <p:cNvSpPr>
            <a:spLocks noGrp="1"/>
          </p:cNvSpPr>
          <p:nvPr/>
        </p:nvSpPr>
        <p:spPr>
          <a:xfrm>
            <a:off x="1571625" y="3962400"/>
            <a:ext cx="209550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EFC95F4-F5EE-40EE-BF35-549F7D101B67}"/>
              </a:ext>
            </a:extLst>
          </p:cNvPr>
          <p:cNvSpPr>
            <a:spLocks noGrp="1"/>
          </p:cNvSpPr>
          <p:nvPr/>
        </p:nvSpPr>
        <p:spPr>
          <a:xfrm>
            <a:off x="2619375" y="3295650"/>
            <a:ext cx="0" cy="133350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CA0529-449D-491B-BD5C-592D71D111CB}"/>
              </a:ext>
            </a:extLst>
          </p:cNvPr>
          <p:cNvSpPr>
            <a:spLocks noGrp="1"/>
          </p:cNvSpPr>
          <p:nvPr/>
        </p:nvSpPr>
        <p:spPr>
          <a:xfrm>
            <a:off x="2562225" y="3905250"/>
            <a:ext cx="114300" cy="1143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2714E68-973B-44CC-BA25-8630B5549206}"/>
              </a:ext>
            </a:extLst>
          </p:cNvPr>
          <p:cNvSpPr>
            <a:spLocks noGrp="1"/>
          </p:cNvSpPr>
          <p:nvPr/>
        </p:nvSpPr>
        <p:spPr>
          <a:xfrm>
            <a:off x="5553075" y="3962400"/>
            <a:ext cx="2095500" cy="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BF982FCB-2B48-4DEE-A365-F1D816807A17}"/>
              </a:ext>
            </a:extLst>
          </p:cNvPr>
          <p:cNvSpPr>
            <a:spLocks noGrp="1"/>
          </p:cNvSpPr>
          <p:nvPr/>
        </p:nvSpPr>
        <p:spPr>
          <a:xfrm>
            <a:off x="6600825" y="3295650"/>
            <a:ext cx="0" cy="1333500"/>
          </a:xfrm>
          <a:prstGeom prst="line">
            <a:avLst/>
          </a:prstGeom>
          <a:noFill/>
          <a:ln w="2857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3" name="Korsning med punkt">
            <a:extLst>
              <a:ext uri="{FF2B5EF4-FFF2-40B4-BE49-F238E27FC236}">
                <a16:creationId xmlns:a16="http://schemas.microsoft.com/office/drawing/2014/main" id="{99FDACA8-3244-44CD-BAC8-18D6B2575445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3619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med punkt</a:t>
            </a:r>
          </a:p>
        </p:txBody>
      </p:sp>
      <p:sp>
        <p:nvSpPr>
          <p:cNvPr id="34" name="Korsning utan punkt">
            <a:extLst>
              <a:ext uri="{FF2B5EF4-FFF2-40B4-BE49-F238E27FC236}">
                <a16:creationId xmlns:a16="http://schemas.microsoft.com/office/drawing/2014/main" id="{8C810021-D27D-4C93-AA3D-A91CBCC38873}"/>
              </a:ext>
            </a:extLst>
          </p:cNvPr>
          <p:cNvSpPr>
            <a:spLocks noGrp="1"/>
          </p:cNvSpPr>
          <p:nvPr/>
        </p:nvSpPr>
        <p:spPr>
          <a:xfrm>
            <a:off x="4762500" y="4867275"/>
            <a:ext cx="3619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utan punkt</a:t>
            </a:r>
          </a:p>
        </p:txBody>
      </p:sp>
      <p:sp>
        <p:nvSpPr>
          <p:cNvPr id="35" name="Utan punkt betyder korsningen normalt ingen förbindelse.&#10;Följ all">
            <a:extLst>
              <a:ext uri="{FF2B5EF4-FFF2-40B4-BE49-F238E27FC236}">
                <a16:creationId xmlns:a16="http://schemas.microsoft.com/office/drawing/2014/main" id="{E08BDE5A-73D8-4086-8429-FEEE82416B27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76200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Utan punkt betyder korsningen normalt ingen förbindelse.</a:t>
            </a:r>
          </a:p>
          <a:p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Följ alltid ritningens symbolförklaring.</a:t>
            </a:r>
          </a:p>
        </p:txBody>
      </p:sp>
      <p:sp>
        <p:nvSpPr>
          <p:cNvPr id="36" name="7">
            <a:extLst>
              <a:ext uri="{FF2B5EF4-FFF2-40B4-BE49-F238E27FC236}">
                <a16:creationId xmlns:a16="http://schemas.microsoft.com/office/drawing/2014/main" id="{646AAD4E-7FD2-4D04-B4EA-3FAA713D1DE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4" name="Noder i utrustningen">
            <a:extLst>
              <a:ext uri="{FF2B5EF4-FFF2-40B4-BE49-F238E27FC236}">
                <a16:creationId xmlns:a16="http://schemas.microsoft.com/office/drawing/2014/main" id="{E47AAA46-6F33-4D00-92C2-6E1E0264FEEE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utrustningen</a:t>
            </a:r>
          </a:p>
        </p:txBody>
      </p:sp>
      <p:sp>
        <p:nvSpPr>
          <p:cNvPr id="25" name="Kopplingsklämma">
            <a:extLst>
              <a:ext uri="{FF2B5EF4-FFF2-40B4-BE49-F238E27FC236}">
                <a16:creationId xmlns:a16="http://schemas.microsoft.com/office/drawing/2014/main" id="{50EEC712-2965-4EA1-AACF-12419BE9BF55}"/>
              </a:ext>
            </a:extLst>
          </p:cNvPr>
          <p:cNvSpPr>
            <a:spLocks noGrp="1"/>
          </p:cNvSpPr>
          <p:nvPr/>
        </p:nvSpPr>
        <p:spPr>
          <a:xfrm>
            <a:off x="762000" y="16287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Kopplingsklämma</a:t>
            </a:r>
          </a:p>
        </p:txBody>
      </p:sp>
      <p:sp>
        <p:nvSpPr>
          <p:cNvPr id="26" name="Ledare som klämman förbinder elektriskt tillhör samma nod.">
            <a:extLst>
              <a:ext uri="{FF2B5EF4-FFF2-40B4-BE49-F238E27FC236}">
                <a16:creationId xmlns:a16="http://schemas.microsoft.com/office/drawing/2014/main" id="{6E1F3FDA-B5DE-4C09-841E-1D51FF4D7270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762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som klämman förbinder elektriskt tillhör samma nod.</a:t>
            </a:r>
          </a:p>
        </p:txBody>
      </p:sp>
      <p:sp>
        <p:nvSpPr>
          <p:cNvPr id="27" name="Kretskort">
            <a:extLst>
              <a:ext uri="{FF2B5EF4-FFF2-40B4-BE49-F238E27FC236}">
                <a16:creationId xmlns:a16="http://schemas.microsoft.com/office/drawing/2014/main" id="{DD701D95-AC10-432B-9920-102672BA9FA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Kretskort</a:t>
            </a:r>
          </a:p>
        </p:txBody>
      </p:sp>
      <p:sp>
        <p:nvSpPr>
          <p:cNvPr id="28" name="En lödpunkt eller sammanhängande kopparbana kan&#10;förbinda flera ko">
            <a:extLst>
              <a:ext uri="{FF2B5EF4-FFF2-40B4-BE49-F238E27FC236}">
                <a16:creationId xmlns:a16="http://schemas.microsoft.com/office/drawing/2014/main" id="{0CB2124A-8DEB-4DE3-8365-F9C21A60415F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lödpunkt eller sammanhängande kopparbana kan</a:t>
            </a:r>
          </a:p>
          <a:p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förbinda flera komponentanslutningar till samma nod.</a:t>
            </a:r>
          </a:p>
        </p:txBody>
      </p:sp>
      <p:sp>
        <p:nvSpPr>
          <p:cNvPr id="29" name="Separata anslutningar kan vara olika noder.&#10;Ett helt vägguttag be">
            <a:extLst>
              <a:ext uri="{FF2B5EF4-FFF2-40B4-BE49-F238E27FC236}">
                <a16:creationId xmlns:a16="http://schemas.microsoft.com/office/drawing/2014/main" id="{799B0D75-BC5A-4BF0-AB8B-ABEACE0386F2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Separata anslutningar kan vara olika noder.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helt vägguttag består därför av flera noder.</a:t>
            </a:r>
          </a:p>
        </p:txBody>
      </p:sp>
      <p:sp>
        <p:nvSpPr>
          <p:cNvPr id="30" name="8">
            <a:extLst>
              <a:ext uri="{FF2B5EF4-FFF2-40B4-BE49-F238E27FC236}">
                <a16:creationId xmlns:a16="http://schemas.microsoft.com/office/drawing/2014/main" id="{78A9305C-9202-4A78-8B66-17A2332056B5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4" name="Begrepp och vattenliknelse">
            <a:extLst>
              <a:ext uri="{FF2B5EF4-FFF2-40B4-BE49-F238E27FC236}">
                <a16:creationId xmlns:a16="http://schemas.microsoft.com/office/drawing/2014/main" id="{00AC54C2-4349-4826-9EF9-A2A574BF6C37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Begrepp och vattenliknelse</a:t>
            </a:r>
          </a:p>
        </p:txBody>
      </p:sp>
      <p:graphicFrame>
        <p:nvGraphicFramePr>
          <p:cNvPr id="32" name="Table 31"/>
          <p:cNvGraphicFramePr/>
          <p:nvPr/>
        </p:nvGraphicFramePr>
        <p:xfrm>
          <a:off x="762000" y="1666875"/>
          <a:ext cx="7620000" cy="352996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Begrepp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I elkretsen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Vattenliknelse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krets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Sammanhängande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strömväg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Rörsystem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Ledning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Förbinder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anslutningar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Vattenrör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ström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Laddning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Gemensam elektrisk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T-koppling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Kirchhoffs strömlag: lika mycket ström in som ut.&#10;Vattenliknelsen">
            <a:extLst>
              <a:ext uri="{FF2B5EF4-FFF2-40B4-BE49-F238E27FC236}">
                <a16:creationId xmlns:a16="http://schemas.microsoft.com/office/drawing/2014/main" id="{2F22A6DC-10FF-4511-9174-FAECBD7D7375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Kirchhoffs strömlag: lika mycket ström in som ut.</a:t>
            </a:r>
          </a:p>
          <a:p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Vattenliknelsen hjälper oss att följa flödet.</a:t>
            </a:r>
          </a:p>
        </p:txBody>
      </p:sp>
      <p:sp>
        <p:nvSpPr>
          <p:cNvPr id="27" name="9">
            <a:extLst>
              <a:ext uri="{FF2B5EF4-FFF2-40B4-BE49-F238E27FC236}">
                <a16:creationId xmlns:a16="http://schemas.microsoft.com/office/drawing/2014/main" id="{61896055-5E49-4E10-A71C-2A92F9FA8351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Spänningslagen i en slinga">
            <a:extLst>
              <a:ext uri="{FF2B5EF4-FFF2-40B4-BE49-F238E27FC236}">
                <a16:creationId xmlns:a16="http://schemas.microsoft.com/office/drawing/2014/main" id="{9195F4B4-7031-464E-8403-FEAA62E8128C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Spänningslagen i en slinga</a:t>
            </a:r>
          </a:p>
        </p:txBody>
      </p:sp>
      <p:sp>
        <p:nvSpPr>
          <p:cNvPr id="3" name="En rundtur återkommer till samma potential.&#10;Räkna spänningshöjnin">
            <a:extLst>
              <a:ext uri="{FF2B5EF4-FFF2-40B4-BE49-F238E27FC236}">
                <a16:creationId xmlns:a16="http://schemas.microsoft.com/office/drawing/2014/main" id="{9A2E09DB-EB13-47F7-B49F-3E0B3026A21D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rundtur återkommer till samma potential.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Räkna spänningshöjningar och spänningsfall med tecken.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DB342FF-83C2-464E-BF8B-FD302659524D}"/>
              </a:ext>
            </a:extLst>
          </p:cNvPr>
          <p:cNvSpPr>
            <a:spLocks noGrp="1"/>
          </p:cNvSpPr>
          <p:nvPr/>
        </p:nvSpPr>
        <p:spPr>
          <a:xfrm>
            <a:off x="2333625" y="2819995"/>
            <a:ext cx="0" cy="559594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371883-F1BF-4B4A-9BAB-84F05BB91DB3}"/>
              </a:ext>
            </a:extLst>
          </p:cNvPr>
          <p:cNvSpPr>
            <a:spLocks noGrp="1"/>
          </p:cNvSpPr>
          <p:nvPr/>
        </p:nvSpPr>
        <p:spPr>
          <a:xfrm>
            <a:off x="2100461" y="3379589"/>
            <a:ext cx="466328" cy="4663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85F0615-6471-45BA-94A7-E8E4168FA22E}"/>
              </a:ext>
            </a:extLst>
          </p:cNvPr>
          <p:cNvSpPr>
            <a:spLocks noGrp="1"/>
          </p:cNvSpPr>
          <p:nvPr/>
        </p:nvSpPr>
        <p:spPr>
          <a:xfrm>
            <a:off x="2333625" y="3845917"/>
            <a:ext cx="0" cy="559594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+">
            <a:extLst>
              <a:ext uri="{FF2B5EF4-FFF2-40B4-BE49-F238E27FC236}">
                <a16:creationId xmlns:a16="http://schemas.microsoft.com/office/drawing/2014/main" id="{B6CF86CC-C98F-4BF5-AF7E-2A86F55E5AC9}"/>
              </a:ext>
            </a:extLst>
          </p:cNvPr>
          <p:cNvSpPr>
            <a:spLocks noGrp="1"/>
          </p:cNvSpPr>
          <p:nvPr/>
        </p:nvSpPr>
        <p:spPr>
          <a:xfrm>
            <a:off x="2193727" y="3370263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>
              <a:ext uri="{FF2B5EF4-FFF2-40B4-BE49-F238E27FC236}">
                <a16:creationId xmlns:a16="http://schemas.microsoft.com/office/drawing/2014/main" id="{463302E2-EC95-41ED-8B61-1FA133F4B906}"/>
              </a:ext>
            </a:extLst>
          </p:cNvPr>
          <p:cNvSpPr>
            <a:spLocks noGrp="1"/>
          </p:cNvSpPr>
          <p:nvPr/>
        </p:nvSpPr>
        <p:spPr>
          <a:xfrm>
            <a:off x="2193727" y="3575447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>
              <a:ext uri="{FF2B5EF4-FFF2-40B4-BE49-F238E27FC236}">
                <a16:creationId xmlns:a16="http://schemas.microsoft.com/office/drawing/2014/main" id="{9EBD32F2-CD3A-42AA-A21C-F2E11825BACE}"/>
              </a:ext>
            </a:extLst>
          </p:cNvPr>
          <p:cNvSpPr>
            <a:spLocks noGrp="1"/>
          </p:cNvSpPr>
          <p:nvPr/>
        </p:nvSpPr>
        <p:spPr>
          <a:xfrm>
            <a:off x="1354336" y="3472855"/>
            <a:ext cx="727472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C31E9B2-D91B-43B1-B379-1986DE7E0648}"/>
              </a:ext>
            </a:extLst>
          </p:cNvPr>
          <p:cNvSpPr>
            <a:spLocks noGrp="1"/>
          </p:cNvSpPr>
          <p:nvPr/>
        </p:nvSpPr>
        <p:spPr>
          <a:xfrm>
            <a:off x="2333625" y="2819995"/>
            <a:ext cx="932656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5D505-249A-4279-A5F7-457CEFC399B4}"/>
              </a:ext>
            </a:extLst>
          </p:cNvPr>
          <p:cNvSpPr>
            <a:spLocks noGrp="1"/>
          </p:cNvSpPr>
          <p:nvPr/>
        </p:nvSpPr>
        <p:spPr>
          <a:xfrm>
            <a:off x="3266281" y="2717403"/>
            <a:ext cx="466328" cy="205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8E0A8CC-6B86-4221-B098-2CC38DA609A6}"/>
              </a:ext>
            </a:extLst>
          </p:cNvPr>
          <p:cNvSpPr>
            <a:spLocks noGrp="1"/>
          </p:cNvSpPr>
          <p:nvPr/>
        </p:nvSpPr>
        <p:spPr>
          <a:xfrm>
            <a:off x="3732609" y="2819995"/>
            <a:ext cx="932656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R₁ = 2 Ω">
            <a:extLst>
              <a:ext uri="{FF2B5EF4-FFF2-40B4-BE49-F238E27FC236}">
                <a16:creationId xmlns:a16="http://schemas.microsoft.com/office/drawing/2014/main" id="{C3FE4117-4BF2-49C7-8F58-67B0D65FD9B5}"/>
              </a:ext>
            </a:extLst>
          </p:cNvPr>
          <p:cNvSpPr>
            <a:spLocks noGrp="1"/>
          </p:cNvSpPr>
          <p:nvPr/>
        </p:nvSpPr>
        <p:spPr>
          <a:xfrm>
            <a:off x="2734667" y="2362994"/>
            <a:ext cx="152955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2 Ω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77DBB3F-DD72-4A2B-9CFF-A6C79437EAD1}"/>
              </a:ext>
            </a:extLst>
          </p:cNvPr>
          <p:cNvSpPr>
            <a:spLocks noGrp="1"/>
          </p:cNvSpPr>
          <p:nvPr/>
        </p:nvSpPr>
        <p:spPr>
          <a:xfrm>
            <a:off x="4665266" y="2819995"/>
            <a:ext cx="90934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14BCA-2F08-48F6-885A-08F4C61C6490}"/>
              </a:ext>
            </a:extLst>
          </p:cNvPr>
          <p:cNvSpPr>
            <a:spLocks noGrp="1"/>
          </p:cNvSpPr>
          <p:nvPr/>
        </p:nvSpPr>
        <p:spPr>
          <a:xfrm>
            <a:off x="5574605" y="2717403"/>
            <a:ext cx="466328" cy="205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6B442B3-359B-49D2-990F-AA611D8C9A88}"/>
              </a:ext>
            </a:extLst>
          </p:cNvPr>
          <p:cNvSpPr>
            <a:spLocks noGrp="1"/>
          </p:cNvSpPr>
          <p:nvPr/>
        </p:nvSpPr>
        <p:spPr>
          <a:xfrm>
            <a:off x="6040934" y="2819995"/>
            <a:ext cx="90934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R₂ = 4 Ω">
            <a:extLst>
              <a:ext uri="{FF2B5EF4-FFF2-40B4-BE49-F238E27FC236}">
                <a16:creationId xmlns:a16="http://schemas.microsoft.com/office/drawing/2014/main" id="{3CCB64F0-91D8-4676-811B-0BC0C85E23A3}"/>
              </a:ext>
            </a:extLst>
          </p:cNvPr>
          <p:cNvSpPr>
            <a:spLocks noGrp="1"/>
          </p:cNvSpPr>
          <p:nvPr/>
        </p:nvSpPr>
        <p:spPr>
          <a:xfrm>
            <a:off x="5042991" y="2362994"/>
            <a:ext cx="152955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632D48D-13EB-4F87-9ABF-0972CB7E9B1C}"/>
              </a:ext>
            </a:extLst>
          </p:cNvPr>
          <p:cNvSpPr>
            <a:spLocks noGrp="1"/>
          </p:cNvSpPr>
          <p:nvPr/>
        </p:nvSpPr>
        <p:spPr>
          <a:xfrm>
            <a:off x="6950273" y="2819995"/>
            <a:ext cx="0" cy="1585516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32F25C8-8D8B-4619-91A4-C5427C4D44F9}"/>
              </a:ext>
            </a:extLst>
          </p:cNvPr>
          <p:cNvSpPr>
            <a:spLocks noGrp="1"/>
          </p:cNvSpPr>
          <p:nvPr/>
        </p:nvSpPr>
        <p:spPr>
          <a:xfrm>
            <a:off x="2333625" y="4405511"/>
            <a:ext cx="4616648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A129A54-A62F-453B-98B8-1BC18B67242E}"/>
              </a:ext>
            </a:extLst>
          </p:cNvPr>
          <p:cNvSpPr>
            <a:spLocks noGrp="1"/>
          </p:cNvSpPr>
          <p:nvPr/>
        </p:nvSpPr>
        <p:spPr>
          <a:xfrm flipH="1">
            <a:off x="3406180" y="4405511"/>
            <a:ext cx="839391" cy="0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F95EF85-82F5-4E6B-BC95-EB6FF1294D41}"/>
              </a:ext>
            </a:extLst>
          </p:cNvPr>
          <p:cNvSpPr>
            <a:spLocks noGrp="1"/>
          </p:cNvSpPr>
          <p:nvPr/>
        </p:nvSpPr>
        <p:spPr>
          <a:xfrm>
            <a:off x="3406180" y="4405511"/>
            <a:ext cx="93266" cy="46633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1E32EFD-6A1E-4446-B83F-99011FE3D271}"/>
              </a:ext>
            </a:extLst>
          </p:cNvPr>
          <p:cNvSpPr>
            <a:spLocks noGrp="1"/>
          </p:cNvSpPr>
          <p:nvPr/>
        </p:nvSpPr>
        <p:spPr>
          <a:xfrm flipV="1">
            <a:off x="3406180" y="4358878"/>
            <a:ext cx="93266" cy="46633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3" name="I">
            <a:extLst>
              <a:ext uri="{FF2B5EF4-FFF2-40B4-BE49-F238E27FC236}">
                <a16:creationId xmlns:a16="http://schemas.microsoft.com/office/drawing/2014/main" id="{6530E768-08BD-4A00-B5DE-25BB50A85893}"/>
              </a:ext>
            </a:extLst>
          </p:cNvPr>
          <p:cNvSpPr>
            <a:spLocks noGrp="1"/>
          </p:cNvSpPr>
          <p:nvPr/>
        </p:nvSpPr>
        <p:spPr>
          <a:xfrm>
            <a:off x="3312914" y="3939183"/>
            <a:ext cx="466328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4" name="ΣΔU = 0">
            <a:extLst>
              <a:ext uri="{FF2B5EF4-FFF2-40B4-BE49-F238E27FC236}">
                <a16:creationId xmlns:a16="http://schemas.microsoft.com/office/drawing/2014/main" id="{9F18E2CD-5762-4061-8E33-B72A31F516EE}"/>
              </a:ext>
            </a:extLst>
          </p:cNvPr>
          <p:cNvSpPr>
            <a:spLocks noGrp="1"/>
          </p:cNvSpPr>
          <p:nvPr/>
        </p:nvSpPr>
        <p:spPr>
          <a:xfrm>
            <a:off x="762000" y="47910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</a:t>
            </a:r>
          </a:p>
        </p:txBody>
      </p:sp>
      <p:sp>
        <p:nvSpPr>
          <p:cNvPr id="25" name="12 − 2I − 4I = 0 ger I = 2 A.&#10;Fallen blir 4 V och 8 V.">
            <a:extLst>
              <a:ext uri="{FF2B5EF4-FFF2-40B4-BE49-F238E27FC236}">
                <a16:creationId xmlns:a16="http://schemas.microsoft.com/office/drawing/2014/main" id="{BB00ACEF-CF82-493B-995C-C8590D78BC76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12 − 2I − 4I = 0 ger I = 2 A.</a:t>
            </a:r>
          </a:p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Fallen blir 4 V och 8 V.</a:t>
            </a:r>
          </a:p>
        </p:txBody>
      </p:sp>
      <p:sp>
        <p:nvSpPr>
          <p:cNvPr id="26" name="5">
            <a:extLst>
              <a:ext uri="{FF2B5EF4-FFF2-40B4-BE49-F238E27FC236}">
                <a16:creationId xmlns:a16="http://schemas.microsoft.com/office/drawing/2014/main" id="{21E752FD-D65E-44F9-B7EF-AC5072C2D265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Video och teckenkonvention">
            <a:extLst>
              <a:ext uri="{FF2B5EF4-FFF2-40B4-BE49-F238E27FC236}">
                <a16:creationId xmlns:a16="http://schemas.microsoft.com/office/drawing/2014/main" id="{BC1269A9-78E6-4BEC-877F-09C6811ABAB2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Video och teckenkonvention</a:t>
            </a:r>
          </a:p>
        </p:txBody>
      </p:sp>
      <p:sp>
        <p:nvSpPr>
          <p:cNvPr id="3" name="Science Shorts visar nodlagen, slinglagen och flera slingor.&#10;Se s">
            <a:extLst>
              <a:ext uri="{FF2B5EF4-FFF2-40B4-BE49-F238E27FC236}">
                <a16:creationId xmlns:a16="http://schemas.microsoft.com/office/drawing/2014/main" id="{C78B7CBA-3159-4F04-A0A2-1769338C1B46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Science Shorts visar nodlagen, slinglagen och flera slingor.</a:t>
            </a:r>
          </a:p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 särskilt 00:00, 01:05 och 02:49.</a:t>
            </a:r>
          </a:p>
        </p:txBody>
      </p:sp>
      <p:sp>
        <p:nvSpPr>
          <p:cNvPr id="4" name="Video: 5 minuter">
            <a:extLst>
              <a:ext uri="{FF2B5EF4-FFF2-40B4-BE49-F238E27FC236}">
                <a16:creationId xmlns:a16="http://schemas.microsoft.com/office/drawing/2014/main" id="{BF0B10C2-D9EC-4CBC-B6D6-B243F4D62BEB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7620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Video: 5 minuter</a:t>
            </a:r>
          </a:p>
        </p:txBody>
      </p:sp>
      <p:sp>
        <p:nvSpPr>
          <p:cNvPr id="5" name="Genom en källa från − till +: positivt bidrag.&#10;Genom en resistor ">
            <a:extLst>
              <a:ext uri="{FF2B5EF4-FFF2-40B4-BE49-F238E27FC236}">
                <a16:creationId xmlns:a16="http://schemas.microsoft.com/office/drawing/2014/main" id="{966C823F-D602-4007-B2C5-515E47B61BD6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7620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källa från − till +: positivt bidrag.</a:t>
            </a:r>
          </a:p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resistor i strömriktningen: −RI.</a:t>
            </a:r>
          </a:p>
        </p:txBody>
      </p:sp>
      <p:sp>
        <p:nvSpPr>
          <p:cNvPr id="6" name="6">
            <a:extLst>
              <a:ext uri="{FF2B5EF4-FFF2-40B4-BE49-F238E27FC236}">
                <a16:creationId xmlns:a16="http://schemas.microsoft.com/office/drawing/2014/main" id="{1A891C12-2F9C-4E65-AD8A-4CC8C9EBA9E7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Exempel: slingekvationen">
            <a:extLst>
              <a:ext uri="{FF2B5EF4-FFF2-40B4-BE49-F238E27FC236}">
                <a16:creationId xmlns:a16="http://schemas.microsoft.com/office/drawing/2014/main" id="{5400B985-7CFD-4FD1-87AD-5BCC19692CD2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slingekvationen</a:t>
            </a:r>
          </a:p>
        </p:txBody>
      </p:sp>
      <p:sp>
        <p:nvSpPr>
          <p:cNvPr id="10" name="18 V matar 3 Ω och 6 Ω i serie. Välj ström I från källans pluspol">
            <a:extLst>
              <a:ext uri="{FF2B5EF4-FFF2-40B4-BE49-F238E27FC236}">
                <a16:creationId xmlns:a16="http://schemas.microsoft.com/office/drawing/2014/main" id="{536F13E8-A3DB-4B93-9C53-6F34D98E31F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 matar 3 Ω och 6 Ω i serie. Välj ström I från källans pluspol genom båda resistorerna.</a:t>
            </a:r>
          </a:p>
        </p:txBody>
      </p:sp>
      <p:sp>
        <p:nvSpPr>
          <p:cNvPr id="11" name="18 − 3I − 6I = 0">
            <a:extLst>
              <a:ext uri="{FF2B5EF4-FFF2-40B4-BE49-F238E27FC236}">
                <a16:creationId xmlns:a16="http://schemas.microsoft.com/office/drawing/2014/main" id="{BF60E119-711E-4631-ADAB-6269AA54D439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7620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18 − 3I − 6I = 0</a:t>
            </a:r>
          </a:p>
        </p:txBody>
      </p:sp>
      <p:sp>
        <p:nvSpPr>
          <p:cNvPr id="12" name="1. Samla strömtermer: 18 − 9I = 0.&#10;2. Addera 9I på båda sidor: 18">
            <a:extLst>
              <a:ext uri="{FF2B5EF4-FFF2-40B4-BE49-F238E27FC236}">
                <a16:creationId xmlns:a16="http://schemas.microsoft.com/office/drawing/2014/main" id="{F6AB9E47-98F9-417F-9F30-E4D282483CA0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762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Samla strömtermer: 18 − 9I = 0.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Addera 9I på båda sidor: 18 = 9I. Dividera med 9: I = 2 A.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U₁ = 3 · 2 = 6 V. U₂ = 6 · 2 = 12 V.</a:t>
            </a:r>
          </a:p>
        </p:txBody>
      </p:sp>
      <p:sp>
        <p:nvSpPr>
          <p:cNvPr id="13" name="Kontroll: +18 − 6 − 12 = 0 V. Samma ström går genom båda resistor">
            <a:extLst>
              <a:ext uri="{FF2B5EF4-FFF2-40B4-BE49-F238E27FC236}">
                <a16:creationId xmlns:a16="http://schemas.microsoft.com/office/drawing/2014/main" id="{84CB1919-84A9-4ADB-95B0-E09EFCAC9115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+18 − 6 − 12 = 0 V. Samma ström går genom båda resistorerna.</a:t>
            </a:r>
          </a:p>
        </p:txBody>
      </p:sp>
      <p:sp>
        <p:nvSpPr>
          <p:cNvPr id="14" name="14">
            <a:extLst>
              <a:ext uri="{FF2B5EF4-FFF2-40B4-BE49-F238E27FC236}">
                <a16:creationId xmlns:a16="http://schemas.microsoft.com/office/drawing/2014/main" id="{90AB483D-7403-4673-A329-2EA605FB2E3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1">
            <a:extLst>
              <a:ext uri="{FF2B5EF4-FFF2-40B4-BE49-F238E27FC236}">
                <a16:creationId xmlns:a16="http://schemas.microsoft.com/office/drawing/2014/main" id="{1A58AF64-D87B-4EA2-88E2-0D04840202EB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0" name="ΣIin = ΣIut     Iₓ = Iin − Ikänd ut">
            <a:extLst>
              <a:ext uri="{FF2B5EF4-FFF2-40B4-BE49-F238E27FC236}">
                <a16:creationId xmlns:a16="http://schemas.microsoft.com/office/drawing/2014/main" id="{60C996A5-E877-4B43-B2C4-3FB1B08C5735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ΣI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Ikänd ut</a:t>
            </a:r>
          </a:p>
        </p:txBody>
      </p:sp>
      <p:sp>
        <p:nvSpPr>
          <p:cNvPr id="11" name="Σ betyder summan av. I mäts i A. Pilarna avgör vilka strömmar som">
            <a:extLst>
              <a:ext uri="{FF2B5EF4-FFF2-40B4-BE49-F238E27FC236}">
                <a16:creationId xmlns:a16="http://schemas.microsoft.com/office/drawing/2014/main" id="{577FF143-AC65-4963-8C2F-EEBD6DB97F48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Σ betyder ”summan av”. Pilarna visar vilka strömmar som går in och vilka som går ut.</a:t>
            </a:r>
          </a:p>
        </p:txBody>
      </p:sp>
      <p:sp>
        <p:nvSpPr>
          <p:cNvPr id="12" name="Förutsättningar: Noden lagrar ingen nettoladdning i den stationär">
            <a:extLst>
              <a:ext uri="{FF2B5EF4-FFF2-40B4-BE49-F238E27FC236}">
                <a16:creationId xmlns:a16="http://schemas.microsoft.com/office/drawing/2014/main" id="{4132F57E-FA85-49BD-94EE-0E31628356C5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Ingen laddning samlas i noden. 8,0 A går in, 3,0 A och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går ut.</a:t>
            </a:r>
          </a:p>
        </p:txBody>
      </p:sp>
      <p:sp>
        <p:nvSpPr>
          <p:cNvPr id="13" name="Arbetsgång: Skriv in = ut innan du flyttar något tal. Lös ut den ">
            <a:extLst>
              <a:ext uri="{FF2B5EF4-FFF2-40B4-BE49-F238E27FC236}">
                <a16:creationId xmlns:a16="http://schemas.microsoft.com/office/drawing/2014/main" id="{0E07F551-C6AE-44B7-9500-4F5C936803A6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först in = ut, lös sedan ut den okända strömmen och kontrollera att det går jämnt ut.</a:t>
            </a:r>
          </a:p>
        </p:txBody>
      </p:sp>
      <p:sp>
        <p:nvSpPr>
          <p:cNvPr id="14" name="15">
            <a:extLst>
              <a:ext uri="{FF2B5EF4-FFF2-40B4-BE49-F238E27FC236}">
                <a16:creationId xmlns:a16="http://schemas.microsoft.com/office/drawing/2014/main" id="{7BEC95DA-9A99-4FA7-86A3-31C998D629C7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1">
            <a:extLst>
              <a:ext uri="{FF2B5EF4-FFF2-40B4-BE49-F238E27FC236}">
                <a16:creationId xmlns:a16="http://schemas.microsoft.com/office/drawing/2014/main" id="{D1D9C68F-580A-45FA-BCF6-2AB0077302C4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</a:t>
            </a:r>
          </a:p>
        </p:txBody>
      </p:sp>
      <p:sp>
        <p:nvSpPr>
          <p:cNvPr id="3" name="Nod med en okänd ström">
            <a:extLst>
              <a:ext uri="{FF2B5EF4-FFF2-40B4-BE49-F238E27FC236}">
                <a16:creationId xmlns:a16="http://schemas.microsoft.com/office/drawing/2014/main" id="{8CDA38AD-2BD7-4528-BC19-2EAB6866EBB6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Nod med en okänd ström</a:t>
            </a:r>
          </a:p>
        </p:txBody>
      </p:sp>
      <p:sp>
        <p:nvSpPr>
          <p:cNvPr id="4" name="8,0 A går in i en nod. 3,0 A och Iₓ går ut. Bestäm Iₓ med Kirchho">
            <a:extLst>
              <a:ext uri="{FF2B5EF4-FFF2-40B4-BE49-F238E27FC236}">
                <a16:creationId xmlns:a16="http://schemas.microsoft.com/office/drawing/2014/main" id="{1780DB9F-F2A0-4A78-9DA9-1896C1399347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8,0 A går in i en nod. 3,0 A och Iₓ går ut. Bestäm Iₓ med Kirchhoffs strömlag.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6819D548-3523-4720-A8A4-9C3AC612E1BE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>
              <a:ext uri="{FF2B5EF4-FFF2-40B4-BE49-F238E27FC236}">
                <a16:creationId xmlns:a16="http://schemas.microsoft.com/office/drawing/2014/main" id="{380CEC06-D4D1-408C-A4CB-EC8AF383E13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2">
            <a:extLst>
              <a:ext uri="{FF2B5EF4-FFF2-40B4-BE49-F238E27FC236}">
                <a16:creationId xmlns:a16="http://schemas.microsoft.com/office/drawing/2014/main" id="{C7B3436B-243F-45B5-8CC9-5CB6D6E0AD42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0" name="Iₓ = ΣIin − ΣIkänd ut">
            <a:extLst>
              <a:ext uri="{FF2B5EF4-FFF2-40B4-BE49-F238E27FC236}">
                <a16:creationId xmlns:a16="http://schemas.microsoft.com/office/drawing/2014/main" id="{6E8C8A0E-2A38-4F73-AFB7-F2D0B1896A2B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dirty="0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 dirty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ΣI</a:t>
            </a:r>
            <a:r>
              <a:rPr sz="2400" b="1" dirty="0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 dirty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ΣIkänd ut</a:t>
            </a:r>
            <a:endParaRPr sz="2400" b="1" dirty="0">
              <a:solidFill>
                <a:srgbClr val="064F9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Ett positivt svar följer den valda pilen. Ett negativt svar betyd">
            <a:extLst>
              <a:ext uri="{FF2B5EF4-FFF2-40B4-BE49-F238E27FC236}">
                <a16:creationId xmlns:a16="http://schemas.microsoft.com/office/drawing/2014/main" id="{0C9D9EFA-2C80-46D5-A326-A4D2C8DA670E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positivt svar betyder att strömmen går åt pilens håll, ett negativt att den går åt andra hållet.</a:t>
            </a:r>
          </a:p>
        </p:txBody>
      </p:sp>
      <p:sp>
        <p:nvSpPr>
          <p:cNvPr id="12" name="Förutsättningar: Behåll den ritade utgående pilen under beräkning">
            <a:extLst>
              <a:ext uri="{FF2B5EF4-FFF2-40B4-BE49-F238E27FC236}">
                <a16:creationId xmlns:a16="http://schemas.microsoft.com/office/drawing/2014/main" id="{D8338F1E-8F81-4BF4-B240-145B3A6F1AE3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Behåll pilen ut ur noden hela tiden. 2,0 A går in och 3,5 A går ut.</a:t>
            </a:r>
          </a:p>
        </p:txBody>
      </p:sp>
      <p:sp>
        <p:nvSpPr>
          <p:cNvPr id="13" name="Arbetsgång: Beräkna det signerade värdet. Beskriv sedan både belo">
            <a:extLst>
              <a:ext uri="{FF2B5EF4-FFF2-40B4-BE49-F238E27FC236}">
                <a16:creationId xmlns:a16="http://schemas.microsoft.com/office/drawing/2014/main" id="{DC710FF2-E0A8-4D86-BD40-256B7FB6A1E9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värdet med tecken och beskriv sedan både storleken och den verkliga riktningen.</a:t>
            </a:r>
          </a:p>
        </p:txBody>
      </p:sp>
      <p:sp>
        <p:nvSpPr>
          <p:cNvPr id="14" name="17">
            <a:extLst>
              <a:ext uri="{FF2B5EF4-FFF2-40B4-BE49-F238E27FC236}">
                <a16:creationId xmlns:a16="http://schemas.microsoft.com/office/drawing/2014/main" id="{B13D5881-0C6F-4884-BFDF-18627926DB1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2">
            <a:extLst>
              <a:ext uri="{FF2B5EF4-FFF2-40B4-BE49-F238E27FC236}">
                <a16:creationId xmlns:a16="http://schemas.microsoft.com/office/drawing/2014/main" id="{B6F96325-0B89-42FE-ADBC-D88FCDCE3D10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</a:t>
            </a:r>
          </a:p>
        </p:txBody>
      </p:sp>
      <p:sp>
        <p:nvSpPr>
          <p:cNvPr id="3" name="Negativt svar">
            <a:extLst>
              <a:ext uri="{FF2B5EF4-FFF2-40B4-BE49-F238E27FC236}">
                <a16:creationId xmlns:a16="http://schemas.microsoft.com/office/drawing/2014/main" id="{8D94FC6D-7F66-4871-B615-6799F28E2797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Negativt svar</a:t>
            </a:r>
          </a:p>
        </p:txBody>
      </p:sp>
      <p:sp>
        <p:nvSpPr>
          <p:cNvPr id="4" name="2,0 A går in och 3,5 A går ut. Du ritar Iₓ ut ur noden. Beräkna o">
            <a:extLst>
              <a:ext uri="{FF2B5EF4-FFF2-40B4-BE49-F238E27FC236}">
                <a16:creationId xmlns:a16="http://schemas.microsoft.com/office/drawing/2014/main" id="{0066F513-5029-4790-845B-64BAC0DD9FCC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2,0 A går in och 3,5 A går ut. Du ritar Iₓ ut ur noden. Beräkna och tolka Iₓ.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F953E965-035E-423A-9E51-0A1BC14C6D54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>
              <a:ext uri="{FF2B5EF4-FFF2-40B4-BE49-F238E27FC236}">
                <a16:creationId xmlns:a16="http://schemas.microsoft.com/office/drawing/2014/main" id="{7D385D9B-83D7-47FE-BC26-596E9597BD9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3">
            <a:extLst>
              <a:ext uri="{FF2B5EF4-FFF2-40B4-BE49-F238E27FC236}">
                <a16:creationId xmlns:a16="http://schemas.microsoft.com/office/drawing/2014/main" id="{7F214AEC-8587-4022-92CE-99925BB647BB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0" name="ΣΔU = 0     Uₓ = E − U₁ − U₂">
            <a:extLst>
              <a:ext uri="{FF2B5EF4-FFF2-40B4-BE49-F238E27FC236}">
                <a16:creationId xmlns:a16="http://schemas.microsoft.com/office/drawing/2014/main" id="{3DBC7D2C-DCE9-4BC2-A3C6-8587D4FB4E9C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0;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E −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E är källspänning i V. U₁, U₂ och Uₓ är positiva belopp för spänn">
            <a:extLst>
              <a:ext uri="{FF2B5EF4-FFF2-40B4-BE49-F238E27FC236}">
                <a16:creationId xmlns:a16="http://schemas.microsoft.com/office/drawing/2014/main" id="{81D4FB16-A607-410E-B5B1-CF4A8F7B71C4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 är källans spänning i V.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spänningsfallen över resistorerna.</a:t>
            </a:r>
          </a:p>
        </p:txBody>
      </p:sp>
      <p:sp>
        <p:nvSpPr>
          <p:cNvPr id="12" name="Förutsättningar: En källa, tre serieresistorer och försumbart fal">
            <a:extLst>
              <a:ext uri="{FF2B5EF4-FFF2-40B4-BE49-F238E27FC236}">
                <a16:creationId xmlns:a16="http://schemas.microsoft.com/office/drawing/2014/main" id="{76A4F9C1-76A3-4922-B94F-3F9549F679F0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källa, tre resistorer i serie och inget spänningsfall i ledningarna. E = 24 V,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 V,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10 V.</a:t>
            </a:r>
          </a:p>
        </p:txBody>
      </p:sp>
      <p:sp>
        <p:nvSpPr>
          <p:cNvPr id="13" name="Arbetsgång: Gå från källans minus till plus och sedan genom laste">
            <a:extLst>
              <a:ext uri="{FF2B5EF4-FFF2-40B4-BE49-F238E27FC236}">
                <a16:creationId xmlns:a16="http://schemas.microsoft.com/office/drawing/2014/main" id="{6B208C4E-E612-4492-AE2D-EDEDFFB812E7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Gå från källans minus till plus och sedan genom resistorerna. Källans spänning ska räcka till alla spänningsfallen.</a:t>
            </a:r>
          </a:p>
        </p:txBody>
      </p:sp>
      <p:sp>
        <p:nvSpPr>
          <p:cNvPr id="14" name="19">
            <a:extLst>
              <a:ext uri="{FF2B5EF4-FFF2-40B4-BE49-F238E27FC236}">
                <a16:creationId xmlns:a16="http://schemas.microsoft.com/office/drawing/2014/main" id="{2B297BC7-8926-4097-820A-30911B6BB9B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3">
            <a:extLst>
              <a:ext uri="{FF2B5EF4-FFF2-40B4-BE49-F238E27FC236}">
                <a16:creationId xmlns:a16="http://schemas.microsoft.com/office/drawing/2014/main" id="{27CF2BB9-1900-446E-8828-955CF0C5C5FA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</a:t>
            </a:r>
          </a:p>
        </p:txBody>
      </p:sp>
      <p:sp>
        <p:nvSpPr>
          <p:cNvPr id="3" name="Spänningsfall i en slinga">
            <a:extLst>
              <a:ext uri="{FF2B5EF4-FFF2-40B4-BE49-F238E27FC236}">
                <a16:creationId xmlns:a16="http://schemas.microsoft.com/office/drawing/2014/main" id="{4FB3A625-0A06-4419-88BD-AEC77E5FFCB6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Spänningsfall i en slinga</a:t>
            </a:r>
          </a:p>
        </p:txBody>
      </p:sp>
      <p:sp>
        <p:nvSpPr>
          <p:cNvPr id="4" name="En 24 V-källa matar tre serieresistorer. Två fall är 6 V och 10 V">
            <a:extLst>
              <a:ext uri="{FF2B5EF4-FFF2-40B4-BE49-F238E27FC236}">
                <a16:creationId xmlns:a16="http://schemas.microsoft.com/office/drawing/2014/main" id="{AB9CE5E2-7371-42DC-A80C-E20108CEE46A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24 V-källa matar tre resistorer i serie. Två av spänningsfallen är 6 V och 10 V. Bestäm det tredje,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x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9505F2B7-5FB7-41F0-B387-DB96D9C18B9C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>
              <a:ext uri="{FF2B5EF4-FFF2-40B4-BE49-F238E27FC236}">
                <a16:creationId xmlns:a16="http://schemas.microsoft.com/office/drawing/2014/main" id="{56BB6123-9AAA-498F-88DB-8435711AB1A8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4">
            <a:extLst>
              <a:ext uri="{FF2B5EF4-FFF2-40B4-BE49-F238E27FC236}">
                <a16:creationId xmlns:a16="http://schemas.microsoft.com/office/drawing/2014/main" id="{76BAA05A-FB6D-4627-B019-5B9E7C9246F5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E − R₁I − R₂I = 0&#10;I = E/(R₁ + R₂)     U₁ = R₁I, U₂ = R₂I">
            <a:extLst>
              <a:ext uri="{FF2B5EF4-FFF2-40B4-BE49-F238E27FC236}">
                <a16:creationId xmlns:a16="http://schemas.microsoft.com/office/drawing/2014/main" id="{F4A800A3-4580-4203-ABEB-E7E4BB39BEEB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 −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 = 0</a:t>
            </a:r>
          </a:p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E/(R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);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I,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I</a:t>
            </a:r>
          </a:p>
        </p:txBody>
      </p:sp>
      <p:sp>
        <p:nvSpPr>
          <p:cNvPr id="11" name="I mäts i A, E och U i V, R i Ω. I serie går samma ström genom båd">
            <a:extLst>
              <a:ext uri="{FF2B5EF4-FFF2-40B4-BE49-F238E27FC236}">
                <a16:creationId xmlns:a16="http://schemas.microsoft.com/office/drawing/2014/main" id="{23EA0B66-E5B4-4D41-8854-E85CA9CDAD3E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serie går samma ström genom båda resistorerna.</a:t>
            </a:r>
          </a:p>
        </p:txBody>
      </p:sp>
      <p:sp>
        <p:nvSpPr>
          <p:cNvPr id="12" name="Förutsättningar: Ideal 12 V-källa, ohmska resistorer 2 Ω och 4 Ω.">
            <a:extLst>
              <a:ext uri="{FF2B5EF4-FFF2-40B4-BE49-F238E27FC236}">
                <a16:creationId xmlns:a16="http://schemas.microsoft.com/office/drawing/2014/main" id="{2141CF68-BCFE-4EDB-8755-A136F00C4C05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12 V-källa, resistorer på 2 Ω och 4 Ω. Ledningsresistansen försummas.</a:t>
            </a:r>
          </a:p>
        </p:txBody>
      </p:sp>
      <p:sp>
        <p:nvSpPr>
          <p:cNvPr id="13" name="Arbetsgång: Samla I-termerna, dividera med total resistans och be">
            <a:extLst>
              <a:ext uri="{FF2B5EF4-FFF2-40B4-BE49-F238E27FC236}">
                <a16:creationId xmlns:a16="http://schemas.microsoft.com/office/drawing/2014/main" id="{DB28DA71-4415-4938-BF88-923D25C1485B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Samla termerna med I, dela med den totala resistansen och räkna sedan ut spänningen över varje resistor.</a:t>
            </a:r>
          </a:p>
        </p:txBody>
      </p:sp>
      <p:sp>
        <p:nvSpPr>
          <p:cNvPr id="14" name="21">
            <a:extLst>
              <a:ext uri="{FF2B5EF4-FFF2-40B4-BE49-F238E27FC236}">
                <a16:creationId xmlns:a16="http://schemas.microsoft.com/office/drawing/2014/main" id="{34FD1531-00F4-43AE-BE34-37F2D4CC45CD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4">
            <a:extLst>
              <a:ext uri="{FF2B5EF4-FFF2-40B4-BE49-F238E27FC236}">
                <a16:creationId xmlns:a16="http://schemas.microsoft.com/office/drawing/2014/main" id="{0A8D26C3-D0B9-4439-AE10-84C733A93004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</a:t>
            </a:r>
          </a:p>
        </p:txBody>
      </p:sp>
      <p:sp>
        <p:nvSpPr>
          <p:cNvPr id="3" name="Två serieresistorer">
            <a:extLst>
              <a:ext uri="{FF2B5EF4-FFF2-40B4-BE49-F238E27FC236}">
                <a16:creationId xmlns:a16="http://schemas.microsoft.com/office/drawing/2014/main" id="{910A3AB3-4C01-4472-A395-216B66E8E413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serieresistorer</a:t>
            </a:r>
          </a:p>
        </p:txBody>
      </p:sp>
      <p:sp>
        <p:nvSpPr>
          <p:cNvPr id="4" name="En 12 V-källa matar R₁ = 2 Ω och R₂ = 4 Ω i serie. Bestäm ström o">
            <a:extLst>
              <a:ext uri="{FF2B5EF4-FFF2-40B4-BE49-F238E27FC236}">
                <a16:creationId xmlns:a16="http://schemas.microsoft.com/office/drawing/2014/main" id="{F40F9152-9569-43DA-964E-EDECA34EB225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12 V-källa matar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Ω och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 Ω i serie. Bestäm strömmen och båda spänningsfallen.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91C9803-F00C-41B6-8177-B7A095624FA3}"/>
              </a:ext>
            </a:extLst>
          </p:cNvPr>
          <p:cNvSpPr>
            <a:spLocks noGrp="1"/>
          </p:cNvSpPr>
          <p:nvPr/>
        </p:nvSpPr>
        <p:spPr>
          <a:xfrm>
            <a:off x="2743200" y="4352925"/>
            <a:ext cx="0" cy="45720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94A3AC-5449-4440-8B04-F34B99BED17A}"/>
              </a:ext>
            </a:extLst>
          </p:cNvPr>
          <p:cNvSpPr>
            <a:spLocks noGrp="1"/>
          </p:cNvSpPr>
          <p:nvPr/>
        </p:nvSpPr>
        <p:spPr>
          <a:xfrm>
            <a:off x="2552700" y="481012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95E2B9A6-C816-40EE-BBB1-BC46A314002E}"/>
              </a:ext>
            </a:extLst>
          </p:cNvPr>
          <p:cNvSpPr>
            <a:spLocks noGrp="1"/>
          </p:cNvSpPr>
          <p:nvPr/>
        </p:nvSpPr>
        <p:spPr>
          <a:xfrm>
            <a:off x="2743200" y="5191125"/>
            <a:ext cx="0" cy="45720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8" name="+">
            <a:extLst>
              <a:ext uri="{FF2B5EF4-FFF2-40B4-BE49-F238E27FC236}">
                <a16:creationId xmlns:a16="http://schemas.microsoft.com/office/drawing/2014/main" id="{6D7C07B1-D28D-40B7-AA26-7588E6DB9B95}"/>
              </a:ext>
            </a:extLst>
          </p:cNvPr>
          <p:cNvSpPr>
            <a:spLocks noGrp="1"/>
          </p:cNvSpPr>
          <p:nvPr/>
        </p:nvSpPr>
        <p:spPr>
          <a:xfrm>
            <a:off x="2628900" y="480250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−">
            <a:extLst>
              <a:ext uri="{FF2B5EF4-FFF2-40B4-BE49-F238E27FC236}">
                <a16:creationId xmlns:a16="http://schemas.microsoft.com/office/drawing/2014/main" id="{2A4D7472-4ABD-49DD-8CB7-08CFEDCECEC4}"/>
              </a:ext>
            </a:extLst>
          </p:cNvPr>
          <p:cNvSpPr>
            <a:spLocks noGrp="1"/>
          </p:cNvSpPr>
          <p:nvPr/>
        </p:nvSpPr>
        <p:spPr>
          <a:xfrm>
            <a:off x="2628900" y="497014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12 V">
            <a:extLst>
              <a:ext uri="{FF2B5EF4-FFF2-40B4-BE49-F238E27FC236}">
                <a16:creationId xmlns:a16="http://schemas.microsoft.com/office/drawing/2014/main" id="{D410F7F6-BBB2-4407-8F64-1C6433A7EF09}"/>
              </a:ext>
            </a:extLst>
          </p:cNvPr>
          <p:cNvSpPr>
            <a:spLocks noGrp="1"/>
          </p:cNvSpPr>
          <p:nvPr/>
        </p:nvSpPr>
        <p:spPr>
          <a:xfrm>
            <a:off x="1943100" y="4886325"/>
            <a:ext cx="5943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F63F6F-3799-4028-BCDB-E1AD25497DDD}"/>
              </a:ext>
            </a:extLst>
          </p:cNvPr>
          <p:cNvSpPr>
            <a:spLocks noGrp="1"/>
          </p:cNvSpPr>
          <p:nvPr/>
        </p:nvSpPr>
        <p:spPr>
          <a:xfrm>
            <a:off x="2743200" y="4352925"/>
            <a:ext cx="7620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FCCB4C-78BE-4265-A79D-B13871AE1294}"/>
              </a:ext>
            </a:extLst>
          </p:cNvPr>
          <p:cNvSpPr>
            <a:spLocks noGrp="1"/>
          </p:cNvSpPr>
          <p:nvPr/>
        </p:nvSpPr>
        <p:spPr>
          <a:xfrm>
            <a:off x="3505200" y="4269105"/>
            <a:ext cx="381000" cy="16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47C250C-3599-444D-8602-DC9A95CA64DF}"/>
              </a:ext>
            </a:extLst>
          </p:cNvPr>
          <p:cNvSpPr>
            <a:spLocks noGrp="1"/>
          </p:cNvSpPr>
          <p:nvPr/>
        </p:nvSpPr>
        <p:spPr>
          <a:xfrm>
            <a:off x="3886200" y="4352925"/>
            <a:ext cx="7620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4" name="R₁ = 2 Ω">
            <a:extLst>
              <a:ext uri="{FF2B5EF4-FFF2-40B4-BE49-F238E27FC236}">
                <a16:creationId xmlns:a16="http://schemas.microsoft.com/office/drawing/2014/main" id="{B70653DC-A0FB-4C4A-9A2B-11A9AFBAB8E1}"/>
              </a:ext>
            </a:extLst>
          </p:cNvPr>
          <p:cNvSpPr>
            <a:spLocks noGrp="1"/>
          </p:cNvSpPr>
          <p:nvPr/>
        </p:nvSpPr>
        <p:spPr>
          <a:xfrm>
            <a:off x="3070860" y="3979545"/>
            <a:ext cx="12496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2 Ω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2CCD25D-06D6-4369-A70A-A52C40B430F7}"/>
              </a:ext>
            </a:extLst>
          </p:cNvPr>
          <p:cNvSpPr>
            <a:spLocks noGrp="1"/>
          </p:cNvSpPr>
          <p:nvPr/>
        </p:nvSpPr>
        <p:spPr>
          <a:xfrm>
            <a:off x="4648200" y="4352925"/>
            <a:ext cx="74295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AD870B-071E-4DC3-B127-1197D1B93615}"/>
              </a:ext>
            </a:extLst>
          </p:cNvPr>
          <p:cNvSpPr>
            <a:spLocks noGrp="1"/>
          </p:cNvSpPr>
          <p:nvPr/>
        </p:nvSpPr>
        <p:spPr>
          <a:xfrm>
            <a:off x="5391150" y="4269105"/>
            <a:ext cx="381000" cy="16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A98E9FA-246D-452E-A304-27D034EDF842}"/>
              </a:ext>
            </a:extLst>
          </p:cNvPr>
          <p:cNvSpPr>
            <a:spLocks noGrp="1"/>
          </p:cNvSpPr>
          <p:nvPr/>
        </p:nvSpPr>
        <p:spPr>
          <a:xfrm>
            <a:off x="5772150" y="4352925"/>
            <a:ext cx="74295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8" name="R₂ = 4 Ω">
            <a:extLst>
              <a:ext uri="{FF2B5EF4-FFF2-40B4-BE49-F238E27FC236}">
                <a16:creationId xmlns:a16="http://schemas.microsoft.com/office/drawing/2014/main" id="{44529738-A5D9-4C3D-99A0-89BB2393022B}"/>
              </a:ext>
            </a:extLst>
          </p:cNvPr>
          <p:cNvSpPr>
            <a:spLocks noGrp="1"/>
          </p:cNvSpPr>
          <p:nvPr/>
        </p:nvSpPr>
        <p:spPr>
          <a:xfrm>
            <a:off x="4956810" y="3979545"/>
            <a:ext cx="12496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7756CA4-9624-4953-9146-415AD60AC84B}"/>
              </a:ext>
            </a:extLst>
          </p:cNvPr>
          <p:cNvSpPr>
            <a:spLocks noGrp="1"/>
          </p:cNvSpPr>
          <p:nvPr/>
        </p:nvSpPr>
        <p:spPr>
          <a:xfrm>
            <a:off x="6515100" y="4352925"/>
            <a:ext cx="0" cy="129540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8BE8EA-75EF-4F56-8BBD-866E6FDA8E8E}"/>
              </a:ext>
            </a:extLst>
          </p:cNvPr>
          <p:cNvSpPr>
            <a:spLocks noGrp="1"/>
          </p:cNvSpPr>
          <p:nvPr/>
        </p:nvSpPr>
        <p:spPr>
          <a:xfrm>
            <a:off x="2743200" y="5648325"/>
            <a:ext cx="37719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F19B19B-E7C8-4310-9646-A535FDD80C21}"/>
              </a:ext>
            </a:extLst>
          </p:cNvPr>
          <p:cNvSpPr>
            <a:spLocks noGrp="1"/>
          </p:cNvSpPr>
          <p:nvPr/>
        </p:nvSpPr>
        <p:spPr>
          <a:xfrm flipH="1">
            <a:off x="3619500" y="5648325"/>
            <a:ext cx="685800" cy="0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51D721A-142C-46EE-B240-3FD9065C9E14}"/>
              </a:ext>
            </a:extLst>
          </p:cNvPr>
          <p:cNvSpPr>
            <a:spLocks noGrp="1"/>
          </p:cNvSpPr>
          <p:nvPr/>
        </p:nvSpPr>
        <p:spPr>
          <a:xfrm>
            <a:off x="3619500" y="5648325"/>
            <a:ext cx="76200" cy="38100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4357514-8D31-4204-9896-7B12C8BB7FD9}"/>
              </a:ext>
            </a:extLst>
          </p:cNvPr>
          <p:cNvSpPr>
            <a:spLocks noGrp="1"/>
          </p:cNvSpPr>
          <p:nvPr/>
        </p:nvSpPr>
        <p:spPr>
          <a:xfrm flipV="1">
            <a:off x="3619500" y="5610225"/>
            <a:ext cx="76200" cy="38100"/>
          </a:xfrm>
          <a:prstGeom prst="line">
            <a:avLst/>
          </a:prstGeom>
          <a:noFill/>
          <a:ln w="20955">
            <a:solidFill>
              <a:srgbClr val="064F9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4" name="I">
            <a:extLst>
              <a:ext uri="{FF2B5EF4-FFF2-40B4-BE49-F238E27FC236}">
                <a16:creationId xmlns:a16="http://schemas.microsoft.com/office/drawing/2014/main" id="{2776F050-6A6A-4EEE-8A69-9C60D29E2479}"/>
              </a:ext>
            </a:extLst>
          </p:cNvPr>
          <p:cNvSpPr>
            <a:spLocks noGrp="1"/>
          </p:cNvSpPr>
          <p:nvPr/>
        </p:nvSpPr>
        <p:spPr>
          <a:xfrm>
            <a:off x="3543300" y="5267325"/>
            <a:ext cx="3810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5" name="10">
            <a:extLst>
              <a:ext uri="{FF2B5EF4-FFF2-40B4-BE49-F238E27FC236}">
                <a16:creationId xmlns:a16="http://schemas.microsoft.com/office/drawing/2014/main" id="{DC9C8447-BBFC-46FB-B68A-314A1771993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5">
            <a:extLst>
              <a:ext uri="{FF2B5EF4-FFF2-40B4-BE49-F238E27FC236}">
                <a16:creationId xmlns:a16="http://schemas.microsoft.com/office/drawing/2014/main" id="{23FA4599-9F89-491A-A1B2-C8DAAFE24DD3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0" name="I₁ = U/R₁     I₂ = U/R₂     I = I₁ + I₂">
            <a:extLst>
              <a:ext uri="{FF2B5EF4-FFF2-40B4-BE49-F238E27FC236}">
                <a16:creationId xmlns:a16="http://schemas.microsoft.com/office/drawing/2014/main" id="{2CB51D6E-9676-43A9-A6B6-403F973F45C8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U/R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U/R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I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Parallella grenar har gemensam spänning U. Grenströmmarna kan var">
            <a:extLst>
              <a:ext uri="{FF2B5EF4-FFF2-40B4-BE49-F238E27FC236}">
                <a16:creationId xmlns:a16="http://schemas.microsoft.com/office/drawing/2014/main" id="{99DB1E00-2457-4927-9B18-D36B8EF95479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Parallella grenar har samma spänning U, men strömmarna kan vara olika.</a:t>
            </a:r>
          </a:p>
        </p:txBody>
      </p:sp>
      <p:sp>
        <p:nvSpPr>
          <p:cNvPr id="12" name="Förutsättningar: U = 12 V över båda grenarna. R₁ = 6 Ω och R₂ = 4">
            <a:extLst>
              <a:ext uri="{FF2B5EF4-FFF2-40B4-BE49-F238E27FC236}">
                <a16:creationId xmlns:a16="http://schemas.microsoft.com/office/drawing/2014/main" id="{926DEAF1-650D-4374-A442-8F5394FB0C50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 = 12 V över båda grenarna. R₁ = 6 Ω och R₂ = 4 Ω.</a:t>
            </a:r>
          </a:p>
        </p:txBody>
      </p:sp>
      <p:sp>
        <p:nvSpPr>
          <p:cNvPr id="13" name="Arbetsgång: Beräkna varje gren med Ohms lag. Summera sedan med st">
            <a:extLst>
              <a:ext uri="{FF2B5EF4-FFF2-40B4-BE49-F238E27FC236}">
                <a16:creationId xmlns:a16="http://schemas.microsoft.com/office/drawing/2014/main" id="{B38F987D-8E13-4888-B6B5-2A6E64427277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varje grenström med Ohms lag och lägg ihop dem med strömlagen.</a:t>
            </a:r>
          </a:p>
        </p:txBody>
      </p:sp>
      <p:sp>
        <p:nvSpPr>
          <p:cNvPr id="14" name="23">
            <a:extLst>
              <a:ext uri="{FF2B5EF4-FFF2-40B4-BE49-F238E27FC236}">
                <a16:creationId xmlns:a16="http://schemas.microsoft.com/office/drawing/2014/main" id="{A824620A-68D9-4167-A25B-3C9FC0B6F245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5">
            <a:extLst>
              <a:ext uri="{FF2B5EF4-FFF2-40B4-BE49-F238E27FC236}">
                <a16:creationId xmlns:a16="http://schemas.microsoft.com/office/drawing/2014/main" id="{7B6E1C53-EF07-43AB-BE13-59E835BB6B41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</a:t>
            </a:r>
          </a:p>
        </p:txBody>
      </p:sp>
      <p:sp>
        <p:nvSpPr>
          <p:cNvPr id="3" name="Parallellgrenar">
            <a:extLst>
              <a:ext uri="{FF2B5EF4-FFF2-40B4-BE49-F238E27FC236}">
                <a16:creationId xmlns:a16="http://schemas.microsoft.com/office/drawing/2014/main" id="{F7C4ED2C-0A1F-49F1-82D2-AB629867878E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Parallellgrenar</a:t>
            </a:r>
          </a:p>
        </p:txBody>
      </p:sp>
      <p:sp>
        <p:nvSpPr>
          <p:cNvPr id="4" name="12 V ligger över 6 Ω och 4 Ω parallellt. Bestäm grenströmmar och ">
            <a:extLst>
              <a:ext uri="{FF2B5EF4-FFF2-40B4-BE49-F238E27FC236}">
                <a16:creationId xmlns:a16="http://schemas.microsoft.com/office/drawing/2014/main" id="{AE59FA1C-545A-44BB-BA84-439542D8780F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 ligger över 6 Ω och 4 Ω parallellt. Bestäm grenströmmarna och totalströmmen.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C1E494E1-A80B-4A8A-A9E2-9CD570C5FEF4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>
              <a:ext uri="{FF2B5EF4-FFF2-40B4-BE49-F238E27FC236}">
                <a16:creationId xmlns:a16="http://schemas.microsoft.com/office/drawing/2014/main" id="{20D81CAE-2A46-4353-89A5-75E2E7DF27E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Pass 2">
            <a:extLst>
              <a:ext uri="{FF2B5EF4-FFF2-40B4-BE49-F238E27FC236}">
                <a16:creationId xmlns:a16="http://schemas.microsoft.com/office/drawing/2014/main" id="{222A2869-1E08-41FF-9934-6818917BA23D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En belastad spänningsdelare&#10;Strömdelning&#10;Thévenins ersättningssch">
            <a:extLst>
              <a:ext uri="{FF2B5EF4-FFF2-40B4-BE49-F238E27FC236}">
                <a16:creationId xmlns:a16="http://schemas.microsoft.com/office/drawing/2014/main" id="{F367BC4B-3FDB-462B-8901-8341BB72DF6C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762000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 belastad spänningsdelare</a:t>
            </a:r>
          </a:p>
          <a:p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Strömdelning</a:t>
            </a:r>
          </a:p>
          <a:p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Thévenins ersättningsschema</a:t>
            </a:r>
          </a:p>
        </p:txBody>
      </p:sp>
      <p:sp>
        <p:nvSpPr>
          <p:cNvPr id="4" name="Teori och exempel följs av övning 6–10.&#10;Lösningar och facit ligge">
            <a:extLst>
              <a:ext uri="{FF2B5EF4-FFF2-40B4-BE49-F238E27FC236}">
                <a16:creationId xmlns:a16="http://schemas.microsoft.com/office/drawing/2014/main" id="{48A71A36-A56B-4139-AD7F-3A27221D0A55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76200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564F2F7B-F078-4410-9098-E37C2489CC33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En belastad spänningsdelare">
            <a:extLst>
              <a:ext uri="{FF2B5EF4-FFF2-40B4-BE49-F238E27FC236}">
                <a16:creationId xmlns:a16="http://schemas.microsoft.com/office/drawing/2014/main" id="{A77593FB-937F-49FB-8E28-47B921CB2410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belastad spänningsdelare</a:t>
            </a:r>
          </a:p>
        </p:txBody>
      </p:sp>
      <p:sp>
        <p:nvSpPr>
          <p:cNvPr id="3" name="En last parallellt med den nedre resistorn ändrar delningen.&#10;Berä">
            <a:extLst>
              <a:ext uri="{FF2B5EF4-FFF2-40B4-BE49-F238E27FC236}">
                <a16:creationId xmlns:a16="http://schemas.microsoft.com/office/drawing/2014/main" id="{92862784-A5BD-4301-B712-2F60B0D4C480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last parallellt med den nedre resistorn ändrar delningen.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parallellresultatet innan delningsformeln används.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A204E6-726F-4C72-BB9A-1173EE0252AB}"/>
              </a:ext>
            </a:extLst>
          </p:cNvPr>
          <p:cNvSpPr>
            <a:spLocks noGrp="1"/>
          </p:cNvSpPr>
          <p:nvPr/>
        </p:nvSpPr>
        <p:spPr>
          <a:xfrm>
            <a:off x="2240359" y="2773363"/>
            <a:ext cx="0" cy="60622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D8E6E7-1DD0-4F35-8D5F-3A31344C1E8D}"/>
              </a:ext>
            </a:extLst>
          </p:cNvPr>
          <p:cNvSpPr>
            <a:spLocks noGrp="1"/>
          </p:cNvSpPr>
          <p:nvPr/>
        </p:nvSpPr>
        <p:spPr>
          <a:xfrm>
            <a:off x="2007195" y="3379589"/>
            <a:ext cx="466328" cy="4663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DAED9BF-45C8-439A-BD6E-3436533A960C}"/>
              </a:ext>
            </a:extLst>
          </p:cNvPr>
          <p:cNvSpPr>
            <a:spLocks noGrp="1"/>
          </p:cNvSpPr>
          <p:nvPr/>
        </p:nvSpPr>
        <p:spPr>
          <a:xfrm>
            <a:off x="2240359" y="3845917"/>
            <a:ext cx="0" cy="60622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+">
            <a:extLst>
              <a:ext uri="{FF2B5EF4-FFF2-40B4-BE49-F238E27FC236}">
                <a16:creationId xmlns:a16="http://schemas.microsoft.com/office/drawing/2014/main" id="{3B790B9F-FC12-4C1D-9FB6-32769FDB61F3}"/>
              </a:ext>
            </a:extLst>
          </p:cNvPr>
          <p:cNvSpPr>
            <a:spLocks noGrp="1"/>
          </p:cNvSpPr>
          <p:nvPr/>
        </p:nvSpPr>
        <p:spPr>
          <a:xfrm>
            <a:off x="2100461" y="3370263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>
              <a:ext uri="{FF2B5EF4-FFF2-40B4-BE49-F238E27FC236}">
                <a16:creationId xmlns:a16="http://schemas.microsoft.com/office/drawing/2014/main" id="{D5F30968-99A4-4F82-8E51-74CDF5CF3855}"/>
              </a:ext>
            </a:extLst>
          </p:cNvPr>
          <p:cNvSpPr>
            <a:spLocks noGrp="1"/>
          </p:cNvSpPr>
          <p:nvPr/>
        </p:nvSpPr>
        <p:spPr>
          <a:xfrm>
            <a:off x="2100461" y="3575447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>
              <a:ext uri="{FF2B5EF4-FFF2-40B4-BE49-F238E27FC236}">
                <a16:creationId xmlns:a16="http://schemas.microsoft.com/office/drawing/2014/main" id="{300810E9-A910-45C7-9A2A-B9B38A10854B}"/>
              </a:ext>
            </a:extLst>
          </p:cNvPr>
          <p:cNvSpPr>
            <a:spLocks noGrp="1"/>
          </p:cNvSpPr>
          <p:nvPr/>
        </p:nvSpPr>
        <p:spPr>
          <a:xfrm>
            <a:off x="1261070" y="3472855"/>
            <a:ext cx="727472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75F4D60-6FD9-4A2D-903E-9EB5A6A73813}"/>
              </a:ext>
            </a:extLst>
          </p:cNvPr>
          <p:cNvSpPr>
            <a:spLocks noGrp="1"/>
          </p:cNvSpPr>
          <p:nvPr/>
        </p:nvSpPr>
        <p:spPr>
          <a:xfrm>
            <a:off x="2240359" y="2773363"/>
            <a:ext cx="979289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B4F25-8A02-42DB-AA57-7DF076050342}"/>
              </a:ext>
            </a:extLst>
          </p:cNvPr>
          <p:cNvSpPr>
            <a:spLocks noGrp="1"/>
          </p:cNvSpPr>
          <p:nvPr/>
        </p:nvSpPr>
        <p:spPr>
          <a:xfrm>
            <a:off x="3219648" y="2670770"/>
            <a:ext cx="466328" cy="205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53792DC-A494-4467-ABEB-20BDA1FBB848}"/>
              </a:ext>
            </a:extLst>
          </p:cNvPr>
          <p:cNvSpPr>
            <a:spLocks noGrp="1"/>
          </p:cNvSpPr>
          <p:nvPr/>
        </p:nvSpPr>
        <p:spPr>
          <a:xfrm>
            <a:off x="3685977" y="2773363"/>
            <a:ext cx="979289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R₁ = 1 kΩ">
            <a:extLst>
              <a:ext uri="{FF2B5EF4-FFF2-40B4-BE49-F238E27FC236}">
                <a16:creationId xmlns:a16="http://schemas.microsoft.com/office/drawing/2014/main" id="{FB684595-CA27-4B0F-A0FE-FDD2E9F21939}"/>
              </a:ext>
            </a:extLst>
          </p:cNvPr>
          <p:cNvSpPr>
            <a:spLocks noGrp="1"/>
          </p:cNvSpPr>
          <p:nvPr/>
        </p:nvSpPr>
        <p:spPr>
          <a:xfrm>
            <a:off x="2688034" y="2316361"/>
            <a:ext cx="152955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1 kΩ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04107F6-FF8C-4634-B69C-B3866C3E820B}"/>
              </a:ext>
            </a:extLst>
          </p:cNvPr>
          <p:cNvSpPr>
            <a:spLocks noGrp="1"/>
          </p:cNvSpPr>
          <p:nvPr/>
        </p:nvSpPr>
        <p:spPr>
          <a:xfrm>
            <a:off x="4665266" y="2773363"/>
            <a:ext cx="1911945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51CF346-B4DA-4E63-9500-6E231BEBC392}"/>
              </a:ext>
            </a:extLst>
          </p:cNvPr>
          <p:cNvSpPr>
            <a:spLocks noGrp="1"/>
          </p:cNvSpPr>
          <p:nvPr/>
        </p:nvSpPr>
        <p:spPr>
          <a:xfrm>
            <a:off x="4665266" y="2773363"/>
            <a:ext cx="0" cy="615553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0340E-395C-4378-A126-560B81BE193E}"/>
              </a:ext>
            </a:extLst>
          </p:cNvPr>
          <p:cNvSpPr>
            <a:spLocks noGrp="1"/>
          </p:cNvSpPr>
          <p:nvPr/>
        </p:nvSpPr>
        <p:spPr>
          <a:xfrm>
            <a:off x="4562673" y="3388916"/>
            <a:ext cx="205184" cy="4476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3A23CE2-2DC3-4DBF-847C-F303DE4BDC55}"/>
              </a:ext>
            </a:extLst>
          </p:cNvPr>
          <p:cNvSpPr>
            <a:spLocks noGrp="1"/>
          </p:cNvSpPr>
          <p:nvPr/>
        </p:nvSpPr>
        <p:spPr>
          <a:xfrm>
            <a:off x="4665266" y="3836591"/>
            <a:ext cx="0" cy="615553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8" name="R₂ = 2 kΩ">
            <a:extLst>
              <a:ext uri="{FF2B5EF4-FFF2-40B4-BE49-F238E27FC236}">
                <a16:creationId xmlns:a16="http://schemas.microsoft.com/office/drawing/2014/main" id="{7B5024AB-D0B7-49BF-AFB8-8A5AC3D5960B}"/>
              </a:ext>
            </a:extLst>
          </p:cNvPr>
          <p:cNvSpPr>
            <a:spLocks noGrp="1"/>
          </p:cNvSpPr>
          <p:nvPr/>
        </p:nvSpPr>
        <p:spPr>
          <a:xfrm>
            <a:off x="4870450" y="3463528"/>
            <a:ext cx="123110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2 kΩ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E6D3098-9705-4E0D-9D62-2F63D3D13C17}"/>
              </a:ext>
            </a:extLst>
          </p:cNvPr>
          <p:cNvSpPr>
            <a:spLocks noGrp="1"/>
          </p:cNvSpPr>
          <p:nvPr/>
        </p:nvSpPr>
        <p:spPr>
          <a:xfrm>
            <a:off x="6577211" y="2773363"/>
            <a:ext cx="0" cy="615553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7E5023-1531-4055-AB77-32146E266256}"/>
              </a:ext>
            </a:extLst>
          </p:cNvPr>
          <p:cNvSpPr>
            <a:spLocks noGrp="1"/>
          </p:cNvSpPr>
          <p:nvPr/>
        </p:nvSpPr>
        <p:spPr>
          <a:xfrm>
            <a:off x="6474619" y="3388916"/>
            <a:ext cx="205184" cy="4476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354CCD1-CFD6-4B1C-B8DC-5630F5461829}"/>
              </a:ext>
            </a:extLst>
          </p:cNvPr>
          <p:cNvSpPr>
            <a:spLocks noGrp="1"/>
          </p:cNvSpPr>
          <p:nvPr/>
        </p:nvSpPr>
        <p:spPr>
          <a:xfrm>
            <a:off x="6577211" y="3836591"/>
            <a:ext cx="0" cy="615553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Rlast&#10;2 kΩ">
            <a:extLst>
              <a:ext uri="{FF2B5EF4-FFF2-40B4-BE49-F238E27FC236}">
                <a16:creationId xmlns:a16="http://schemas.microsoft.com/office/drawing/2014/main" id="{FF565CEB-B2C7-4A98-B3F9-BEAE7C8CBFBB}"/>
              </a:ext>
            </a:extLst>
          </p:cNvPr>
          <p:cNvSpPr>
            <a:spLocks noGrp="1"/>
          </p:cNvSpPr>
          <p:nvPr/>
        </p:nvSpPr>
        <p:spPr>
          <a:xfrm>
            <a:off x="6782395" y="3463528"/>
            <a:ext cx="1231106" cy="6715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7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</a:p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 kΩ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6016CB2-3F32-4AFA-858A-0B367CD76C66}"/>
              </a:ext>
            </a:extLst>
          </p:cNvPr>
          <p:cNvSpPr>
            <a:spLocks noGrp="1"/>
          </p:cNvSpPr>
          <p:nvPr/>
        </p:nvSpPr>
        <p:spPr>
          <a:xfrm>
            <a:off x="2240359" y="4452144"/>
            <a:ext cx="4336852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43DCC5-84A5-472F-9DA2-390BF3BC3809}"/>
              </a:ext>
            </a:extLst>
          </p:cNvPr>
          <p:cNvSpPr>
            <a:spLocks noGrp="1"/>
          </p:cNvSpPr>
          <p:nvPr/>
        </p:nvSpPr>
        <p:spPr>
          <a:xfrm>
            <a:off x="4627959" y="2736056"/>
            <a:ext cx="74613" cy="74613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5A51B75-73BB-462A-92F0-FC5C6CC411FB}"/>
              </a:ext>
            </a:extLst>
          </p:cNvPr>
          <p:cNvSpPr>
            <a:spLocks noGrp="1"/>
          </p:cNvSpPr>
          <p:nvPr/>
        </p:nvSpPr>
        <p:spPr>
          <a:xfrm>
            <a:off x="4627959" y="4414838"/>
            <a:ext cx="74613" cy="74613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6" name="Uut">
            <a:extLst>
              <a:ext uri="{FF2B5EF4-FFF2-40B4-BE49-F238E27FC236}">
                <a16:creationId xmlns:a16="http://schemas.microsoft.com/office/drawing/2014/main" id="{B241CEB0-3D8A-47C5-B944-7CDF72377570}"/>
              </a:ext>
            </a:extLst>
          </p:cNvPr>
          <p:cNvSpPr>
            <a:spLocks noGrp="1"/>
          </p:cNvSpPr>
          <p:nvPr/>
        </p:nvSpPr>
        <p:spPr>
          <a:xfrm>
            <a:off x="6390680" y="2428280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7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</a:p>
        </p:txBody>
      </p:sp>
      <p:sp>
        <p:nvSpPr>
          <p:cNvPr id="27" name="Uut = Uin · Rnedre / (R₁ + Rnedre)">
            <a:extLst>
              <a:ext uri="{FF2B5EF4-FFF2-40B4-BE49-F238E27FC236}">
                <a16:creationId xmlns:a16="http://schemas.microsoft.com/office/drawing/2014/main" id="{C52A71A3-C5C2-49C2-9350-A0100F26EB33}"/>
              </a:ext>
            </a:extLst>
          </p:cNvPr>
          <p:cNvSpPr>
            <a:spLocks noGrp="1"/>
          </p:cNvSpPr>
          <p:nvPr/>
        </p:nvSpPr>
        <p:spPr>
          <a:xfrm>
            <a:off x="762000" y="47910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Rnedre / (R₁ + Rnedre)</a:t>
            </a:r>
          </a:p>
        </p:txBody>
      </p:sp>
      <p:sp>
        <p:nvSpPr>
          <p:cNvPr id="28" name="12 V, R₁ = 1 kΩ, R₂ = 2 kΩ ger 8 V utan last.&#10;Med Rlast = 2 kΩ bl">
            <a:extLst>
              <a:ext uri="{FF2B5EF4-FFF2-40B4-BE49-F238E27FC236}">
                <a16:creationId xmlns:a16="http://schemas.microsoft.com/office/drawing/2014/main" id="{8B04406C-D276-4CCC-9203-83476523D42E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V, R₁ = 1 kΩ, R₂ = 2 kΩ ger 8 V utan last.</a:t>
            </a:r>
          </a:p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 R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 blir Rnedre = 1 kΩ och U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 V.</a:t>
            </a:r>
          </a:p>
        </p:txBody>
      </p:sp>
      <p:sp>
        <p:nvSpPr>
          <p:cNvPr id="29" name="13">
            <a:extLst>
              <a:ext uri="{FF2B5EF4-FFF2-40B4-BE49-F238E27FC236}">
                <a16:creationId xmlns:a16="http://schemas.microsoft.com/office/drawing/2014/main" id="{FB75412B-416B-4459-96EC-E074E46E8E91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Strömdelning">
            <a:extLst>
              <a:ext uri="{FF2B5EF4-FFF2-40B4-BE49-F238E27FC236}">
                <a16:creationId xmlns:a16="http://schemas.microsoft.com/office/drawing/2014/main" id="{78A2B231-85BF-49D7-A0F2-9873270E4BCD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Strömdelning</a:t>
            </a:r>
          </a:p>
        </p:txBody>
      </p:sp>
      <p:sp>
        <p:nvSpPr>
          <p:cNvPr id="3" name="Parallellgrenarna har samma spänning.&#10;Den mindre resistansen får ">
            <a:extLst>
              <a:ext uri="{FF2B5EF4-FFF2-40B4-BE49-F238E27FC236}">
                <a16:creationId xmlns:a16="http://schemas.microsoft.com/office/drawing/2014/main" id="{1AD714B4-5AD1-48C4-A897-35A018782D2E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Parallellgrenarna har samma spänning.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Den mindre resistansen får den större strömmen.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C493AD7-1BE4-4563-9BE1-C0EE33F0222C}"/>
              </a:ext>
            </a:extLst>
          </p:cNvPr>
          <p:cNvSpPr>
            <a:spLocks noGrp="1"/>
          </p:cNvSpPr>
          <p:nvPr/>
        </p:nvSpPr>
        <p:spPr>
          <a:xfrm>
            <a:off x="2286992" y="2819995"/>
            <a:ext cx="0" cy="58291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E87E09-2F2C-487E-B686-2DE07138AE9E}"/>
              </a:ext>
            </a:extLst>
          </p:cNvPr>
          <p:cNvSpPr>
            <a:spLocks noGrp="1"/>
          </p:cNvSpPr>
          <p:nvPr/>
        </p:nvSpPr>
        <p:spPr>
          <a:xfrm>
            <a:off x="2053828" y="3402905"/>
            <a:ext cx="466328" cy="4663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A005420-6283-42BD-A8DA-B3033AB6AF93}"/>
              </a:ext>
            </a:extLst>
          </p:cNvPr>
          <p:cNvSpPr>
            <a:spLocks noGrp="1"/>
          </p:cNvSpPr>
          <p:nvPr/>
        </p:nvSpPr>
        <p:spPr>
          <a:xfrm>
            <a:off x="2286992" y="3869234"/>
            <a:ext cx="0" cy="58291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+">
            <a:extLst>
              <a:ext uri="{FF2B5EF4-FFF2-40B4-BE49-F238E27FC236}">
                <a16:creationId xmlns:a16="http://schemas.microsoft.com/office/drawing/2014/main" id="{ADBDC2FF-5487-40BE-AEC2-468B1EB8CB51}"/>
              </a:ext>
            </a:extLst>
          </p:cNvPr>
          <p:cNvSpPr>
            <a:spLocks noGrp="1"/>
          </p:cNvSpPr>
          <p:nvPr/>
        </p:nvSpPr>
        <p:spPr>
          <a:xfrm>
            <a:off x="2147094" y="3393579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>
              <a:ext uri="{FF2B5EF4-FFF2-40B4-BE49-F238E27FC236}">
                <a16:creationId xmlns:a16="http://schemas.microsoft.com/office/drawing/2014/main" id="{0B4858DF-B6D0-4984-B935-69320D4F755E}"/>
              </a:ext>
            </a:extLst>
          </p:cNvPr>
          <p:cNvSpPr>
            <a:spLocks noGrp="1"/>
          </p:cNvSpPr>
          <p:nvPr/>
        </p:nvSpPr>
        <p:spPr>
          <a:xfrm>
            <a:off x="2147094" y="3598763"/>
            <a:ext cx="279797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>
              <a:ext uri="{FF2B5EF4-FFF2-40B4-BE49-F238E27FC236}">
                <a16:creationId xmlns:a16="http://schemas.microsoft.com/office/drawing/2014/main" id="{1101A241-34D5-4E36-A9D7-E7CD17FCE78D}"/>
              </a:ext>
            </a:extLst>
          </p:cNvPr>
          <p:cNvSpPr>
            <a:spLocks noGrp="1"/>
          </p:cNvSpPr>
          <p:nvPr/>
        </p:nvSpPr>
        <p:spPr>
          <a:xfrm>
            <a:off x="1307703" y="3496171"/>
            <a:ext cx="727472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48E203D-71AB-4BE5-ADA7-D00F57D5B88B}"/>
              </a:ext>
            </a:extLst>
          </p:cNvPr>
          <p:cNvSpPr>
            <a:spLocks noGrp="1"/>
          </p:cNvSpPr>
          <p:nvPr/>
        </p:nvSpPr>
        <p:spPr>
          <a:xfrm>
            <a:off x="2286992" y="2819995"/>
            <a:ext cx="4243586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1532D8A-72F0-4848-89E5-BC42100DAB11}"/>
              </a:ext>
            </a:extLst>
          </p:cNvPr>
          <p:cNvSpPr>
            <a:spLocks noGrp="1"/>
          </p:cNvSpPr>
          <p:nvPr/>
        </p:nvSpPr>
        <p:spPr>
          <a:xfrm>
            <a:off x="2286992" y="4452144"/>
            <a:ext cx="4243586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49271EE-2659-4830-A36B-150553E3D9D4}"/>
              </a:ext>
            </a:extLst>
          </p:cNvPr>
          <p:cNvSpPr>
            <a:spLocks noGrp="1"/>
          </p:cNvSpPr>
          <p:nvPr/>
        </p:nvSpPr>
        <p:spPr>
          <a:xfrm>
            <a:off x="4292203" y="2819995"/>
            <a:ext cx="0" cy="59223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C329-954D-4009-AE13-1A3C51775C76}"/>
              </a:ext>
            </a:extLst>
          </p:cNvPr>
          <p:cNvSpPr>
            <a:spLocks noGrp="1"/>
          </p:cNvSpPr>
          <p:nvPr/>
        </p:nvSpPr>
        <p:spPr>
          <a:xfrm>
            <a:off x="4189611" y="3412232"/>
            <a:ext cx="205184" cy="4476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DAE0E22-126B-4515-BCDE-CF9D63C084CE}"/>
              </a:ext>
            </a:extLst>
          </p:cNvPr>
          <p:cNvSpPr>
            <a:spLocks noGrp="1"/>
          </p:cNvSpPr>
          <p:nvPr/>
        </p:nvSpPr>
        <p:spPr>
          <a:xfrm>
            <a:off x="4292203" y="3859907"/>
            <a:ext cx="0" cy="59223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5" name="3 Ω">
            <a:extLst>
              <a:ext uri="{FF2B5EF4-FFF2-40B4-BE49-F238E27FC236}">
                <a16:creationId xmlns:a16="http://schemas.microsoft.com/office/drawing/2014/main" id="{434EBF64-8BCD-4F32-A0D4-20D5FD3DB745}"/>
              </a:ext>
            </a:extLst>
          </p:cNvPr>
          <p:cNvSpPr>
            <a:spLocks noGrp="1"/>
          </p:cNvSpPr>
          <p:nvPr/>
        </p:nvSpPr>
        <p:spPr>
          <a:xfrm>
            <a:off x="4497388" y="3486845"/>
            <a:ext cx="123110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Ω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B5ADBFB-2CFD-4018-AC00-01EC5E7A5390}"/>
              </a:ext>
            </a:extLst>
          </p:cNvPr>
          <p:cNvSpPr>
            <a:spLocks noGrp="1"/>
          </p:cNvSpPr>
          <p:nvPr/>
        </p:nvSpPr>
        <p:spPr>
          <a:xfrm>
            <a:off x="6530578" y="2819995"/>
            <a:ext cx="0" cy="59223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B442F-6170-4C7C-A53D-4DF13A0BCA83}"/>
              </a:ext>
            </a:extLst>
          </p:cNvPr>
          <p:cNvSpPr>
            <a:spLocks noGrp="1"/>
          </p:cNvSpPr>
          <p:nvPr/>
        </p:nvSpPr>
        <p:spPr>
          <a:xfrm>
            <a:off x="6427986" y="3412232"/>
            <a:ext cx="205184" cy="4476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890FC97-F156-4C10-A3D8-66C8AF97B301}"/>
              </a:ext>
            </a:extLst>
          </p:cNvPr>
          <p:cNvSpPr>
            <a:spLocks noGrp="1"/>
          </p:cNvSpPr>
          <p:nvPr/>
        </p:nvSpPr>
        <p:spPr>
          <a:xfrm>
            <a:off x="6530578" y="3859907"/>
            <a:ext cx="0" cy="592237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9" name="6 Ω">
            <a:extLst>
              <a:ext uri="{FF2B5EF4-FFF2-40B4-BE49-F238E27FC236}">
                <a16:creationId xmlns:a16="http://schemas.microsoft.com/office/drawing/2014/main" id="{EA3C89B0-4B8A-4C0D-8A7E-062681AF8EC3}"/>
              </a:ext>
            </a:extLst>
          </p:cNvPr>
          <p:cNvSpPr>
            <a:spLocks noGrp="1"/>
          </p:cNvSpPr>
          <p:nvPr/>
        </p:nvSpPr>
        <p:spPr>
          <a:xfrm>
            <a:off x="6735763" y="3486845"/>
            <a:ext cx="1231106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Ω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718783-11DA-4C42-8F0E-AE6102425DA3}"/>
              </a:ext>
            </a:extLst>
          </p:cNvPr>
          <p:cNvSpPr>
            <a:spLocks noGrp="1"/>
          </p:cNvSpPr>
          <p:nvPr/>
        </p:nvSpPr>
        <p:spPr>
          <a:xfrm>
            <a:off x="4254897" y="2782689"/>
            <a:ext cx="74613" cy="74613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15B2FE-C1E4-46D2-BFF0-9918017520B1}"/>
              </a:ext>
            </a:extLst>
          </p:cNvPr>
          <p:cNvSpPr>
            <a:spLocks noGrp="1"/>
          </p:cNvSpPr>
          <p:nvPr/>
        </p:nvSpPr>
        <p:spPr>
          <a:xfrm>
            <a:off x="4254897" y="4414838"/>
            <a:ext cx="74613" cy="74613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4 A">
            <a:extLst>
              <a:ext uri="{FF2B5EF4-FFF2-40B4-BE49-F238E27FC236}">
                <a16:creationId xmlns:a16="http://schemas.microsoft.com/office/drawing/2014/main" id="{8494F7C5-3215-4066-9575-C0B0B97BC0A4}"/>
              </a:ext>
            </a:extLst>
          </p:cNvPr>
          <p:cNvSpPr>
            <a:spLocks noGrp="1"/>
          </p:cNvSpPr>
          <p:nvPr/>
        </p:nvSpPr>
        <p:spPr>
          <a:xfrm>
            <a:off x="3779242" y="2885281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 A</a:t>
            </a:r>
          </a:p>
        </p:txBody>
      </p:sp>
      <p:sp>
        <p:nvSpPr>
          <p:cNvPr id="23" name="2 A">
            <a:extLst>
              <a:ext uri="{FF2B5EF4-FFF2-40B4-BE49-F238E27FC236}">
                <a16:creationId xmlns:a16="http://schemas.microsoft.com/office/drawing/2014/main" id="{3C199B05-FE38-4DAD-B0EF-D53C93A2541D}"/>
              </a:ext>
            </a:extLst>
          </p:cNvPr>
          <p:cNvSpPr>
            <a:spLocks noGrp="1"/>
          </p:cNvSpPr>
          <p:nvPr/>
        </p:nvSpPr>
        <p:spPr>
          <a:xfrm>
            <a:off x="6017617" y="2885281"/>
            <a:ext cx="1212453" cy="3357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 A</a:t>
            </a:r>
          </a:p>
        </p:txBody>
      </p:sp>
      <p:sp>
        <p:nvSpPr>
          <p:cNvPr id="24" name="I₁ = I · R₂ / (R₁ + R₂)">
            <a:extLst>
              <a:ext uri="{FF2B5EF4-FFF2-40B4-BE49-F238E27FC236}">
                <a16:creationId xmlns:a16="http://schemas.microsoft.com/office/drawing/2014/main" id="{346536B8-AAF1-4780-8D41-2808384C226F}"/>
              </a:ext>
            </a:extLst>
          </p:cNvPr>
          <p:cNvSpPr>
            <a:spLocks noGrp="1"/>
          </p:cNvSpPr>
          <p:nvPr/>
        </p:nvSpPr>
        <p:spPr>
          <a:xfrm>
            <a:off x="762000" y="47910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I · R₂ / (R₁ + R₂)</a:t>
            </a:r>
          </a:p>
        </p:txBody>
      </p:sp>
      <p:sp>
        <p:nvSpPr>
          <p:cNvPr id="25" name="6 A delas mellan 3 Ω och 6 Ω.&#10;3 Ω-grenen får 4 A, 6 Ω-grenen får ">
            <a:extLst>
              <a:ext uri="{FF2B5EF4-FFF2-40B4-BE49-F238E27FC236}">
                <a16:creationId xmlns:a16="http://schemas.microsoft.com/office/drawing/2014/main" id="{DC494B46-74FA-47B9-A2C1-59075F6BD6AD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A delas mellan 3 Ω och 6 Ω.</a:t>
            </a:r>
          </a:p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Ω-grenen får 4 A, 6 Ω-grenen får 2 A.</a:t>
            </a:r>
          </a:p>
        </p:txBody>
      </p:sp>
      <p:sp>
        <p:nvSpPr>
          <p:cNvPr id="26" name="14">
            <a:extLst>
              <a:ext uri="{FF2B5EF4-FFF2-40B4-BE49-F238E27FC236}">
                <a16:creationId xmlns:a16="http://schemas.microsoft.com/office/drawing/2014/main" id="{C3571B25-A439-4335-97A0-7C7D271944B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Thévenins ersättningsschema">
            <a:extLst>
              <a:ext uri="{FF2B5EF4-FFF2-40B4-BE49-F238E27FC236}">
                <a16:creationId xmlns:a16="http://schemas.microsoft.com/office/drawing/2014/main" id="{95F9CC72-0519-4301-A50C-67CB468D2617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Thévenins ersättningsschema</a:t>
            </a:r>
          </a:p>
        </p:txBody>
      </p:sp>
      <p:sp>
        <p:nvSpPr>
          <p:cNvPr id="3" name="Ett linjärt tvåpolsnät kan ersättas av Uth i serie med Rth.&#10;Uth ä">
            <a:extLst>
              <a:ext uri="{FF2B5EF4-FFF2-40B4-BE49-F238E27FC236}">
                <a16:creationId xmlns:a16="http://schemas.microsoft.com/office/drawing/2014/main" id="{D7A7DE55-640B-41B1-AE02-B3A18211CC9F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6200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linjärt tvåpolsnät kan ersättas av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i serie med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tomgångsspänningen över lastanslutningarna.</a:t>
            </a:r>
          </a:p>
        </p:txBody>
      </p:sp>
      <p:sp>
        <p:nvSpPr>
          <p:cNvPr id="4" name="Ilast = Uth / (Rth + Rlast)">
            <a:extLst>
              <a:ext uri="{FF2B5EF4-FFF2-40B4-BE49-F238E27FC236}">
                <a16:creationId xmlns:a16="http://schemas.microsoft.com/office/drawing/2014/main" id="{18AA24D0-C759-4FBC-8260-7182F640AD20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7620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/ (R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5" name="12 V-delaren 1 kΩ + 2 kΩ ger Uth = 8 V.&#10;Idealkällan nollställs: R">
            <a:extLst>
              <a:ext uri="{FF2B5EF4-FFF2-40B4-BE49-F238E27FC236}">
                <a16:creationId xmlns:a16="http://schemas.microsoft.com/office/drawing/2014/main" id="{091597FB-86F9-4C4E-9E94-1D1B2DF52CB4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7620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V-delaren 1 kΩ + 2 kΩ ger U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 V.</a:t>
            </a:r>
          </a:p>
          <a:p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Idealkällan nollställs: R</a:t>
            </a:r>
            <a:r>
              <a:rPr sz="225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 kΩ ∥ 2 kΩ = 667 Ω.</a:t>
            </a:r>
          </a:p>
        </p:txBody>
      </p:sp>
      <p:sp>
        <p:nvSpPr>
          <p:cNvPr id="6" name="15">
            <a:extLst>
              <a:ext uri="{FF2B5EF4-FFF2-40B4-BE49-F238E27FC236}">
                <a16:creationId xmlns:a16="http://schemas.microsoft.com/office/drawing/2014/main" id="{41E5AD98-441E-4FBF-8D6F-024C7FE26BAD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Exempel: en belastad delare">
            <a:extLst>
              <a:ext uri="{FF2B5EF4-FFF2-40B4-BE49-F238E27FC236}">
                <a16:creationId xmlns:a16="http://schemas.microsoft.com/office/drawing/2014/main" id="{E7D57D4F-74BC-48F7-AFA7-BD5A1A945096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en belastad delare</a:t>
            </a:r>
          </a:p>
        </p:txBody>
      </p:sp>
      <p:sp>
        <p:nvSpPr>
          <p:cNvPr id="10" name="18 V matar R₁ = 2 kΩ och R₂ = 4 kΩ. Rlast = 4 kΩ ansluts parallel">
            <a:extLst>
              <a:ext uri="{FF2B5EF4-FFF2-40B4-BE49-F238E27FC236}">
                <a16:creationId xmlns:a16="http://schemas.microsoft.com/office/drawing/2014/main" id="{0DD88DF9-5570-4B52-BD5A-4948594BA681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 matar R₁ = 2 kΩ och R₂ = 4 kΩ. R</a:t>
            </a:r>
            <a:r>
              <a:rPr sz="217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4 kΩ ansluts parallellt med R₂.</a:t>
            </a:r>
          </a:p>
        </p:txBody>
      </p:sp>
      <p:sp>
        <p:nvSpPr>
          <p:cNvPr id="11" name="Rp = R₂Rlast/(R₂ + Rlast)&#10;Uut = Uin · Rp/(R₁ + Rp)">
            <a:extLst>
              <a:ext uri="{FF2B5EF4-FFF2-40B4-BE49-F238E27FC236}">
                <a16:creationId xmlns:a16="http://schemas.microsoft.com/office/drawing/2014/main" id="{FAEDB075-8764-48B7-93FA-3C7D9EC4650A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7620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Rp = R₂Rlast/(R₂ + 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Rp/(R₁ + Rp)</a:t>
            </a:r>
          </a:p>
        </p:txBody>
      </p:sp>
      <p:sp>
        <p:nvSpPr>
          <p:cNvPr id="12" name="1. Rp = 4 · 4/(4 + 4) = 2 kΩ.&#10;2. Uut = 18 · 2/(2 + 2) = 9 V.&#10;3. U">
            <a:extLst>
              <a:ext uri="{FF2B5EF4-FFF2-40B4-BE49-F238E27FC236}">
                <a16:creationId xmlns:a16="http://schemas.microsoft.com/office/drawing/2014/main" id="{5B391735-04A2-43B5-A359-FF7666A5CA22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762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Rp = 4 · 4/(4 + 4) = 2 kΩ.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18 · 2/(2 + 2) = 9 V.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Utan last: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18 · 4/(2 + 4) = 12 V.</a:t>
            </a:r>
          </a:p>
        </p:txBody>
      </p:sp>
      <p:sp>
        <p:nvSpPr>
          <p:cNvPr id="13" name="Lasten sänker spänningen från 12 till 9 V. Totalströmmen är 18/4 ">
            <a:extLst>
              <a:ext uri="{FF2B5EF4-FFF2-40B4-BE49-F238E27FC236}">
                <a16:creationId xmlns:a16="http://schemas.microsoft.com/office/drawing/2014/main" id="{E5F15201-4781-442B-B08B-53E5A5ADEC65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Lasten sänker spänningen från 12 till 9 V. Totalströmmen är 18/4 = 4,5 mA.</a:t>
            </a:r>
          </a:p>
        </p:txBody>
      </p:sp>
      <p:sp>
        <p:nvSpPr>
          <p:cNvPr id="14" name="29">
            <a:extLst>
              <a:ext uri="{FF2B5EF4-FFF2-40B4-BE49-F238E27FC236}">
                <a16:creationId xmlns:a16="http://schemas.microsoft.com/office/drawing/2014/main" id="{766C1672-DEC7-4478-9C39-89E0903C7D5F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: Varför sjunker spänningen när lasten ans" descr="Varför sjunker spänningen när lasten ansluts? Utan last: 18 V över R1 = 2 kΩ och R2 = 4 kΩ i serie, strömmen 3 mA, 6 V över R1 och Uut = 18 · 4/(2 + 4) = 12 V. Med last: Rlast = 4 kΩ parallellt med R2 ger Rp = 4 · 4/(4 + 4) = 2 kΩ, strömmen 4,5 mA, 9 V över R1 och Uut = 18 · 2/(2 + 2) = 9 V. Lasten ger en extra strömväg, mer ström går genom R1 och spänningsfallet över R1 ökar från 6 till 9 V.">
            <a:extLst>
              <a:ext uri="{FF2B5EF4-FFF2-40B4-BE49-F238E27FC236}">
                <a16:creationId xmlns:a16="http://schemas.microsoft.com/office/drawing/2014/main" id="{8EAFEB34-D444-8E8A-6366-8CD093E8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651253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75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Exempel: nodspänning stegvis">
            <a:extLst>
              <a:ext uri="{FF2B5EF4-FFF2-40B4-BE49-F238E27FC236}">
                <a16:creationId xmlns:a16="http://schemas.microsoft.com/office/drawing/2014/main" id="{F11EBDA3-1768-4162-88CF-3E8458CC13C0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nodspänning stegvis</a:t>
            </a:r>
          </a:p>
        </p:txBody>
      </p:sp>
      <p:sp>
        <p:nvSpPr>
          <p:cNvPr id="10" name="Två källor, 10 V och 4 V, matar A genom var sin 2 Ω-resistor. A h">
            <a:extLst>
              <a:ext uri="{FF2B5EF4-FFF2-40B4-BE49-F238E27FC236}">
                <a16:creationId xmlns:a16="http://schemas.microsoft.com/office/drawing/2014/main" id="{88139106-B339-4457-85C3-EB0D9E55D33E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källor, 10 V och 4 V, matar A genom var sin 2 Ω-resistor. A har 1 Ω till gemensam 0 V.</a:t>
            </a:r>
          </a:p>
        </p:txBody>
      </p:sp>
      <p:sp>
        <p:nvSpPr>
          <p:cNvPr id="11" name="(10 − Vₐ)/2 + (4 − Vₐ)/2 = Vₐ/1">
            <a:extLst>
              <a:ext uri="{FF2B5EF4-FFF2-40B4-BE49-F238E27FC236}">
                <a16:creationId xmlns:a16="http://schemas.microsoft.com/office/drawing/2014/main" id="{8DF7411D-B0B6-4204-AF8C-A69B59F55E26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7620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(10 − Vₐ)/2 + (4 − Vₐ)/2 = Vₐ/1</a:t>
            </a:r>
          </a:p>
        </p:txBody>
      </p:sp>
      <p:sp>
        <p:nvSpPr>
          <p:cNvPr id="12" name="1. Multiplicera varje term med 2: 10 − Vₐ + 4 − Vₐ = 2Vₐ.&#10;2. Saml">
            <a:extLst>
              <a:ext uri="{FF2B5EF4-FFF2-40B4-BE49-F238E27FC236}">
                <a16:creationId xmlns:a16="http://schemas.microsoft.com/office/drawing/2014/main" id="{3EC1B37F-9442-4B03-AEDF-54627F1B2E84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762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Multiplicera varje term med 2: 10 − Vₐ + 4 − Vₐ = 2Vₐ.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Samla: 14 − 2Vₐ = 2Vₐ. Alltså 14 = 4Vₐ och Vₐ = 3,5 V.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I₁ = (10 − 3,5)/2 = 3,25 A. I₂ = (4 − 3,5)/2 = 0,25 A.</a:t>
            </a:r>
          </a:p>
        </p:txBody>
      </p:sp>
      <p:sp>
        <p:nvSpPr>
          <p:cNvPr id="13" name="Kontroll: I₃ = 3,5/1 = 3,5 A och 3,25 + 0,25 = 3,5 A.">
            <a:extLst>
              <a:ext uri="{FF2B5EF4-FFF2-40B4-BE49-F238E27FC236}">
                <a16:creationId xmlns:a16="http://schemas.microsoft.com/office/drawing/2014/main" id="{4535EEC2-1E1E-4818-8115-057BA508E112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I₃ = 3,5/1 = 3,5 A och 3,25 + 0,25 = 3,5 A.</a:t>
            </a:r>
          </a:p>
        </p:txBody>
      </p:sp>
      <p:sp>
        <p:nvSpPr>
          <p:cNvPr id="14" name="30">
            <a:extLst>
              <a:ext uri="{FF2B5EF4-FFF2-40B4-BE49-F238E27FC236}">
                <a16:creationId xmlns:a16="http://schemas.microsoft.com/office/drawing/2014/main" id="{9A384D3F-ECFC-4377-9E1E-ECE9CF56EF94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: Nodspänning stegvis. Punkt A matas från " descr="Nodspänning stegvis. Punkt A matas från 10 V via 2 Ω och från 4 V via 2 Ω och är förbunden med referensen 0 V via 1 Ω. Steg 1, ström in = ström ut: 3,25 A + 0,25 A = 3,5 A. Steg 2, Ohms lag: (10 − VA)/2 + (4 − VA)/2 = VA/1. Steg 3, multiplicera med 2: 10 − VA + 4 − VA = 2VA, alltså 14 = 4VA och VA = 3,5 V.">
            <a:extLst>
              <a:ext uri="{FF2B5EF4-FFF2-40B4-BE49-F238E27FC236}">
                <a16:creationId xmlns:a16="http://schemas.microsoft.com/office/drawing/2014/main" id="{99B2972A-135B-2116-F33E-68E27B379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21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01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Exempel: Thévenin och last">
            <a:extLst>
              <a:ext uri="{FF2B5EF4-FFF2-40B4-BE49-F238E27FC236}">
                <a16:creationId xmlns:a16="http://schemas.microsoft.com/office/drawing/2014/main" id="{2DF54080-BB21-4262-B83A-0282C9B01D47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Thévenin och last</a:t>
            </a:r>
          </a:p>
        </p:txBody>
      </p:sp>
      <p:sp>
        <p:nvSpPr>
          <p:cNvPr id="10" name="18 V-delaren har R₁ = 2 kΩ och R₂ = 4 kΩ. Lastporten ligger över ">
            <a:extLst>
              <a:ext uri="{FF2B5EF4-FFF2-40B4-BE49-F238E27FC236}">
                <a16:creationId xmlns:a16="http://schemas.microsoft.com/office/drawing/2014/main" id="{4761D3DC-3888-47B8-95B5-305E903B8E7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V-delaren har R₁ = 2 kΩ och R₂ = 4 kΩ. Lastporten ligger över R₂. Lasten är 4 kΩ.</a:t>
            </a:r>
          </a:p>
        </p:txBody>
      </p:sp>
      <p:sp>
        <p:nvSpPr>
          <p:cNvPr id="11" name="Uth = UinR₂/(R₁ + R₂)&#10;Rth = R₁R₂/(R₁ + R₂)">
            <a:extLst>
              <a:ext uri="{FF2B5EF4-FFF2-40B4-BE49-F238E27FC236}">
                <a16:creationId xmlns:a16="http://schemas.microsoft.com/office/drawing/2014/main" id="{F65AB1EC-D8C7-4FCB-B6DC-9E2F068E496E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7620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UinR₂/(R₁ + R₂)</a:t>
            </a:r>
          </a:p>
          <a:p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R₁R₂/(R₁ + R₂)</a:t>
            </a:r>
          </a:p>
        </p:txBody>
      </p:sp>
      <p:sp>
        <p:nvSpPr>
          <p:cNvPr id="12" name="1. Utan last: Uth = 18 · 4/6 = 12 V.&#10;2. Nollställd källa i modell">
            <a:extLst>
              <a:ext uri="{FF2B5EF4-FFF2-40B4-BE49-F238E27FC236}">
                <a16:creationId xmlns:a16="http://schemas.microsoft.com/office/drawing/2014/main" id="{5DCB0A8D-9F95-4178-922C-C26E19C472BE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762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Utan last: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18 · 4/6 = 12 V.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Nollställd källa i modellen: R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· 4/6 = 4/3 kΩ.</a:t>
            </a:r>
          </a:p>
          <a:p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12/(4/3 + 4) = 2,25 mA.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2,25 · 4 = 9 V.</a:t>
            </a:r>
          </a:p>
        </p:txBody>
      </p:sp>
      <p:sp>
        <p:nvSpPr>
          <p:cNvPr id="13" name="Kontroll: samma 9 V som direkt spänningsdelning. Källan nollställ">
            <a:extLst>
              <a:ext uri="{FF2B5EF4-FFF2-40B4-BE49-F238E27FC236}">
                <a16:creationId xmlns:a16="http://schemas.microsoft.com/office/drawing/2014/main" id="{C627F8BA-2001-4609-8652-DAE250066A19}"/>
              </a:ext>
            </a:extLst>
          </p:cNvPr>
          <p:cNvSpPr>
            <a:spLocks noGrp="1"/>
          </p:cNvSpPr>
          <p:nvPr/>
        </p:nvSpPr>
        <p:spPr>
          <a:xfrm>
            <a:off x="762000" y="5372100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samma 9 V som direkt spänningsdelning. Källan nollställs bara i beräkningsschemat.</a:t>
            </a:r>
          </a:p>
        </p:txBody>
      </p:sp>
      <p:sp>
        <p:nvSpPr>
          <p:cNvPr id="14" name="31">
            <a:extLst>
              <a:ext uri="{FF2B5EF4-FFF2-40B4-BE49-F238E27FC236}">
                <a16:creationId xmlns:a16="http://schemas.microsoft.com/office/drawing/2014/main" id="{50EBBD9C-1C01-4AF6-A5C6-A870A311D4E5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gur: Thévenin: förenkla kretsen. Utgångsläge:" descr="Thévenin: förenkla kretsen. Utgångsläge: 18 V, R1 = 2 kΩ, R2 = 4 kΩ och lasten RL = 4 kΩ parallellt med R2. Steg 1, ta bort lasten: Uth = 18 · 4/(2 + 4) = 12 V. Steg 2, ersätt källan med en ledning: R1 och R2 parallellt ger Rth = 2 · 4/(2 + 4) = 4/3 kΩ ≈ 1,33 kΩ. Steg 3, koppla in lasten: Ilast = 12/(4/3 + 4) = 2,25 mA och Ulast = 2,25 mA · 4 kΩ = 9 V. Utan last 12 V, med lasten 9 V: 3 V faller över den inre resistansen.">
            <a:extLst>
              <a:ext uri="{FF2B5EF4-FFF2-40B4-BE49-F238E27FC236}">
                <a16:creationId xmlns:a16="http://schemas.microsoft.com/office/drawing/2014/main" id="{10004181-740C-A3CC-A69F-9E1BBA3EC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21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24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6">
            <a:extLst>
              <a:ext uri="{FF2B5EF4-FFF2-40B4-BE49-F238E27FC236}">
                <a16:creationId xmlns:a16="http://schemas.microsoft.com/office/drawing/2014/main" id="{B0043752-F502-4470-8CC0-BCBB0A8C85B6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0" name="Rp = R₂Rlast/(R₂ + Rlast)&#10;Uut = Uin · Rp/(R₁ + Rp)">
            <a:extLst>
              <a:ext uri="{FF2B5EF4-FFF2-40B4-BE49-F238E27FC236}">
                <a16:creationId xmlns:a16="http://schemas.microsoft.com/office/drawing/2014/main" id="{F3268BC7-C6A0-41EB-BDB8-B350B23B951D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1" name="Rp är ersättningsresistansen för de två parallella delarna. Alla ">
            <a:extLst>
              <a:ext uri="{FF2B5EF4-FFF2-40B4-BE49-F238E27FC236}">
                <a16:creationId xmlns:a16="http://schemas.microsoft.com/office/drawing/2014/main" id="{B34E8406-862D-4A8F-9EB1-A4F6035474E0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ersättningsresistansen för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lasten parallellt. Räkna alla resistanser i samma enhet.</a:t>
            </a:r>
          </a:p>
        </p:txBody>
      </p:sp>
      <p:sp>
        <p:nvSpPr>
          <p:cNvPr id="12" name="Förutsättningar: Uin = 12 V, R₁ = 1 kΩ, R₂ = 2 kΩ, Rlast = 2 kΩ. ">
            <a:extLst>
              <a:ext uri="{FF2B5EF4-FFF2-40B4-BE49-F238E27FC236}">
                <a16:creationId xmlns:a16="http://schemas.microsoft.com/office/drawing/2014/main" id="{214A40A8-9EC1-478F-8279-48DC3E9E0D28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 V,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 kΩ,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kΩ. Utspänningen tas över parallellgruppen.</a:t>
            </a:r>
          </a:p>
        </p:txBody>
      </p:sp>
      <p:sp>
        <p:nvSpPr>
          <p:cNvPr id="13" name="Arbetsgång: Ersätt R₂ och lasten med Rp. Använd sedan spänningsde">
            <a:extLst>
              <a:ext uri="{FF2B5EF4-FFF2-40B4-BE49-F238E27FC236}">
                <a16:creationId xmlns:a16="http://schemas.microsoft.com/office/drawing/2014/main" id="{20080A32-9580-4F04-BA91-56D1B9C8C90C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Ersätt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lasten med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använd sedan delningsformeln med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som nedre resistor.</a:t>
            </a:r>
          </a:p>
        </p:txBody>
      </p:sp>
      <p:sp>
        <p:nvSpPr>
          <p:cNvPr id="14" name="32">
            <a:extLst>
              <a:ext uri="{FF2B5EF4-FFF2-40B4-BE49-F238E27FC236}">
                <a16:creationId xmlns:a16="http://schemas.microsoft.com/office/drawing/2014/main" id="{335FD6CE-5221-4A85-855F-FB6AA825C206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6">
            <a:extLst>
              <a:ext uri="{FF2B5EF4-FFF2-40B4-BE49-F238E27FC236}">
                <a16:creationId xmlns:a16="http://schemas.microsoft.com/office/drawing/2014/main" id="{DED920AE-7E65-4E82-99A2-EE8E504CB044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</a:t>
            </a:r>
          </a:p>
        </p:txBody>
      </p:sp>
      <p:sp>
        <p:nvSpPr>
          <p:cNvPr id="3" name="Belastad delare">
            <a:extLst>
              <a:ext uri="{FF2B5EF4-FFF2-40B4-BE49-F238E27FC236}">
                <a16:creationId xmlns:a16="http://schemas.microsoft.com/office/drawing/2014/main" id="{410006AE-200F-41A1-8C97-D021079467F1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Belastad delare</a:t>
            </a:r>
          </a:p>
        </p:txBody>
      </p:sp>
      <p:sp>
        <p:nvSpPr>
          <p:cNvPr id="4" name="12 V matar 1 kΩ i serie med 2 kΩ. Utgången tas över 2 kΩ. En last">
            <a:extLst>
              <a:ext uri="{FF2B5EF4-FFF2-40B4-BE49-F238E27FC236}">
                <a16:creationId xmlns:a16="http://schemas.microsoft.com/office/drawing/2014/main" id="{DE068E62-7A66-4880-B1B3-F57D960EC296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 matar 1 kΩ i serie med 2 kΩ. Utgången tas över 2 kΩ. En last på 2 kΩ kopplas över utgången. Bestäm utspänningen.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A7864FC-D04A-4F54-9AB8-1A1A76958F0F}"/>
              </a:ext>
            </a:extLst>
          </p:cNvPr>
          <p:cNvSpPr>
            <a:spLocks noGrp="1"/>
          </p:cNvSpPr>
          <p:nvPr/>
        </p:nvSpPr>
        <p:spPr>
          <a:xfrm>
            <a:off x="2667000" y="4314825"/>
            <a:ext cx="0" cy="49530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9A06B5-20AA-47B4-8A08-53EED42C190E}"/>
              </a:ext>
            </a:extLst>
          </p:cNvPr>
          <p:cNvSpPr>
            <a:spLocks noGrp="1"/>
          </p:cNvSpPr>
          <p:nvPr/>
        </p:nvSpPr>
        <p:spPr>
          <a:xfrm>
            <a:off x="2476500" y="481012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13112BB-3289-443A-9C43-09CAF4CD2FCA}"/>
              </a:ext>
            </a:extLst>
          </p:cNvPr>
          <p:cNvSpPr>
            <a:spLocks noGrp="1"/>
          </p:cNvSpPr>
          <p:nvPr/>
        </p:nvSpPr>
        <p:spPr>
          <a:xfrm>
            <a:off x="2667000" y="5191125"/>
            <a:ext cx="0" cy="49530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8" name="+">
            <a:extLst>
              <a:ext uri="{FF2B5EF4-FFF2-40B4-BE49-F238E27FC236}">
                <a16:creationId xmlns:a16="http://schemas.microsoft.com/office/drawing/2014/main" id="{9FA460FA-FB9E-4A7E-ADD5-F188727252C5}"/>
              </a:ext>
            </a:extLst>
          </p:cNvPr>
          <p:cNvSpPr>
            <a:spLocks noGrp="1"/>
          </p:cNvSpPr>
          <p:nvPr/>
        </p:nvSpPr>
        <p:spPr>
          <a:xfrm>
            <a:off x="2552700" y="480250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−">
            <a:extLst>
              <a:ext uri="{FF2B5EF4-FFF2-40B4-BE49-F238E27FC236}">
                <a16:creationId xmlns:a16="http://schemas.microsoft.com/office/drawing/2014/main" id="{46A678C6-1857-4800-A9ED-F62FF6AB1972}"/>
              </a:ext>
            </a:extLst>
          </p:cNvPr>
          <p:cNvSpPr>
            <a:spLocks noGrp="1"/>
          </p:cNvSpPr>
          <p:nvPr/>
        </p:nvSpPr>
        <p:spPr>
          <a:xfrm>
            <a:off x="2552700" y="497014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12 V">
            <a:extLst>
              <a:ext uri="{FF2B5EF4-FFF2-40B4-BE49-F238E27FC236}">
                <a16:creationId xmlns:a16="http://schemas.microsoft.com/office/drawing/2014/main" id="{10BC8F19-7301-4799-88CD-67B6C1641A24}"/>
              </a:ext>
            </a:extLst>
          </p:cNvPr>
          <p:cNvSpPr>
            <a:spLocks noGrp="1"/>
          </p:cNvSpPr>
          <p:nvPr/>
        </p:nvSpPr>
        <p:spPr>
          <a:xfrm>
            <a:off x="1866900" y="4886325"/>
            <a:ext cx="5943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3BBA29A-48BB-4521-A8FD-C37736F46417}"/>
              </a:ext>
            </a:extLst>
          </p:cNvPr>
          <p:cNvSpPr>
            <a:spLocks noGrp="1"/>
          </p:cNvSpPr>
          <p:nvPr/>
        </p:nvSpPr>
        <p:spPr>
          <a:xfrm>
            <a:off x="2667000" y="43148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3BB5-8860-42FA-A811-DD3B06567E24}"/>
              </a:ext>
            </a:extLst>
          </p:cNvPr>
          <p:cNvSpPr>
            <a:spLocks noGrp="1"/>
          </p:cNvSpPr>
          <p:nvPr/>
        </p:nvSpPr>
        <p:spPr>
          <a:xfrm>
            <a:off x="3467100" y="4231005"/>
            <a:ext cx="381000" cy="16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8319E08-61F8-447D-BB3F-65C6F57B1EE5}"/>
              </a:ext>
            </a:extLst>
          </p:cNvPr>
          <p:cNvSpPr>
            <a:spLocks noGrp="1"/>
          </p:cNvSpPr>
          <p:nvPr/>
        </p:nvSpPr>
        <p:spPr>
          <a:xfrm>
            <a:off x="3848100" y="43148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4" name="R₁ = 1 kΩ">
            <a:extLst>
              <a:ext uri="{FF2B5EF4-FFF2-40B4-BE49-F238E27FC236}">
                <a16:creationId xmlns:a16="http://schemas.microsoft.com/office/drawing/2014/main" id="{6255A63C-CD34-4C2A-9616-7759194688D6}"/>
              </a:ext>
            </a:extLst>
          </p:cNvPr>
          <p:cNvSpPr>
            <a:spLocks noGrp="1"/>
          </p:cNvSpPr>
          <p:nvPr/>
        </p:nvSpPr>
        <p:spPr>
          <a:xfrm>
            <a:off x="3032760" y="3941445"/>
            <a:ext cx="12496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1 kΩ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8EFEDA3-FB28-470A-B0F3-FD752AD57570}"/>
              </a:ext>
            </a:extLst>
          </p:cNvPr>
          <p:cNvSpPr>
            <a:spLocks noGrp="1"/>
          </p:cNvSpPr>
          <p:nvPr/>
        </p:nvSpPr>
        <p:spPr>
          <a:xfrm>
            <a:off x="4648200" y="4314825"/>
            <a:ext cx="1562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3C4AC65-3547-41B2-ADB9-EEFB5CD3810A}"/>
              </a:ext>
            </a:extLst>
          </p:cNvPr>
          <p:cNvSpPr>
            <a:spLocks noGrp="1"/>
          </p:cNvSpPr>
          <p:nvPr/>
        </p:nvSpPr>
        <p:spPr>
          <a:xfrm>
            <a:off x="4648200" y="4314825"/>
            <a:ext cx="0" cy="50292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5DB52B-EAFA-469A-B37F-B1A521E3029C}"/>
              </a:ext>
            </a:extLst>
          </p:cNvPr>
          <p:cNvSpPr>
            <a:spLocks noGrp="1"/>
          </p:cNvSpPr>
          <p:nvPr/>
        </p:nvSpPr>
        <p:spPr>
          <a:xfrm>
            <a:off x="4564380" y="4817745"/>
            <a:ext cx="167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3969A73-6830-4F59-B196-9B06F81C4D77}"/>
              </a:ext>
            </a:extLst>
          </p:cNvPr>
          <p:cNvSpPr>
            <a:spLocks noGrp="1"/>
          </p:cNvSpPr>
          <p:nvPr/>
        </p:nvSpPr>
        <p:spPr>
          <a:xfrm>
            <a:off x="4648200" y="5183505"/>
            <a:ext cx="0" cy="50292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9" name="R₂ = 2 kΩ">
            <a:extLst>
              <a:ext uri="{FF2B5EF4-FFF2-40B4-BE49-F238E27FC236}">
                <a16:creationId xmlns:a16="http://schemas.microsoft.com/office/drawing/2014/main" id="{E27D8CF2-CCBA-4F07-BB97-747C5769C74C}"/>
              </a:ext>
            </a:extLst>
          </p:cNvPr>
          <p:cNvSpPr>
            <a:spLocks noGrp="1"/>
          </p:cNvSpPr>
          <p:nvPr/>
        </p:nvSpPr>
        <p:spPr>
          <a:xfrm>
            <a:off x="4815840" y="4878705"/>
            <a:ext cx="100584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2 kΩ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3C13C5B0-C5D4-4ADA-86FD-5782EC2AD136}"/>
              </a:ext>
            </a:extLst>
          </p:cNvPr>
          <p:cNvSpPr>
            <a:spLocks noGrp="1"/>
          </p:cNvSpPr>
          <p:nvPr/>
        </p:nvSpPr>
        <p:spPr>
          <a:xfrm>
            <a:off x="6210300" y="4314825"/>
            <a:ext cx="0" cy="50292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0F52DC-EE12-47EF-896A-24EE29381227}"/>
              </a:ext>
            </a:extLst>
          </p:cNvPr>
          <p:cNvSpPr>
            <a:spLocks noGrp="1"/>
          </p:cNvSpPr>
          <p:nvPr/>
        </p:nvSpPr>
        <p:spPr>
          <a:xfrm>
            <a:off x="6126480" y="4817745"/>
            <a:ext cx="167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4DC52FE-DED8-4E71-9AB1-E2BD8E833A30}"/>
              </a:ext>
            </a:extLst>
          </p:cNvPr>
          <p:cNvSpPr>
            <a:spLocks noGrp="1"/>
          </p:cNvSpPr>
          <p:nvPr/>
        </p:nvSpPr>
        <p:spPr>
          <a:xfrm>
            <a:off x="6210300" y="5183505"/>
            <a:ext cx="0" cy="50292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3" name="Rlast&#10;2 kΩ">
            <a:extLst>
              <a:ext uri="{FF2B5EF4-FFF2-40B4-BE49-F238E27FC236}">
                <a16:creationId xmlns:a16="http://schemas.microsoft.com/office/drawing/2014/main" id="{7698A99C-8DCC-48A2-805D-1FB0FDB34955}"/>
              </a:ext>
            </a:extLst>
          </p:cNvPr>
          <p:cNvSpPr>
            <a:spLocks noGrp="1"/>
          </p:cNvSpPr>
          <p:nvPr/>
        </p:nvSpPr>
        <p:spPr>
          <a:xfrm>
            <a:off x="6377940" y="4878705"/>
            <a:ext cx="100584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144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</a:p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 kΩ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4283935-FC2D-46AD-AC75-A8613CDA8618}"/>
              </a:ext>
            </a:extLst>
          </p:cNvPr>
          <p:cNvSpPr>
            <a:spLocks noGrp="1"/>
          </p:cNvSpPr>
          <p:nvPr/>
        </p:nvSpPr>
        <p:spPr>
          <a:xfrm>
            <a:off x="2667000" y="5686425"/>
            <a:ext cx="35433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2B0488-A10F-4E17-8F47-BD482164283C}"/>
              </a:ext>
            </a:extLst>
          </p:cNvPr>
          <p:cNvSpPr>
            <a:spLocks noGrp="1"/>
          </p:cNvSpPr>
          <p:nvPr/>
        </p:nvSpPr>
        <p:spPr>
          <a:xfrm>
            <a:off x="4617720" y="4284345"/>
            <a:ext cx="60960" cy="6096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27118F7-7E51-44F9-AB18-54A3678030A9}"/>
              </a:ext>
            </a:extLst>
          </p:cNvPr>
          <p:cNvSpPr>
            <a:spLocks noGrp="1"/>
          </p:cNvSpPr>
          <p:nvPr/>
        </p:nvSpPr>
        <p:spPr>
          <a:xfrm>
            <a:off x="4617720" y="5655945"/>
            <a:ext cx="60960" cy="6096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7" name="Uut">
            <a:extLst>
              <a:ext uri="{FF2B5EF4-FFF2-40B4-BE49-F238E27FC236}">
                <a16:creationId xmlns:a16="http://schemas.microsoft.com/office/drawing/2014/main" id="{BEF83652-0C88-4128-8BCB-8CA9749EB85D}"/>
              </a:ext>
            </a:extLst>
          </p:cNvPr>
          <p:cNvSpPr>
            <a:spLocks noGrp="1"/>
          </p:cNvSpPr>
          <p:nvPr/>
        </p:nvSpPr>
        <p:spPr>
          <a:xfrm>
            <a:off x="6057900" y="4032885"/>
            <a:ext cx="990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44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</a:p>
        </p:txBody>
      </p:sp>
      <p:sp>
        <p:nvSpPr>
          <p:cNvPr id="28" name="16">
            <a:extLst>
              <a:ext uri="{FF2B5EF4-FFF2-40B4-BE49-F238E27FC236}">
                <a16:creationId xmlns:a16="http://schemas.microsoft.com/office/drawing/2014/main" id="{A382DE0F-DE2D-490D-95F1-7D13E690D0C8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7">
            <a:extLst>
              <a:ext uri="{FF2B5EF4-FFF2-40B4-BE49-F238E27FC236}">
                <a16:creationId xmlns:a16="http://schemas.microsoft.com/office/drawing/2014/main" id="{F36C7568-2DB1-4C02-89B9-7480DD8C915B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I₁ = Itotal · R₂/(R₁ + R₂)&#10;I₂ = Itotal − I₁">
            <a:extLst>
              <a:ext uri="{FF2B5EF4-FFF2-40B4-BE49-F238E27FC236}">
                <a16:creationId xmlns:a16="http://schemas.microsoft.com/office/drawing/2014/main" id="{587CA3F0-03FB-4357-BB8C-13395898A60B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I₁ hör till R₁, men den andra resistorn R₂ står i täljaren. Lägre">
            <a:extLst>
              <a:ext uri="{FF2B5EF4-FFF2-40B4-BE49-F238E27FC236}">
                <a16:creationId xmlns:a16="http://schemas.microsoft.com/office/drawing/2014/main" id="{53275A94-B923-499B-907E-13B264B080F9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går genom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men det är den andra resistorn,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som står i täljaren. Lägre resistans ger större ström.</a:t>
            </a:r>
          </a:p>
        </p:txBody>
      </p:sp>
      <p:sp>
        <p:nvSpPr>
          <p:cNvPr id="12" name="Förutsättningar: Två parallella ohmska grenar. Itotal = 6 A, R₁ =">
            <a:extLst>
              <a:ext uri="{FF2B5EF4-FFF2-40B4-BE49-F238E27FC236}">
                <a16:creationId xmlns:a16="http://schemas.microsoft.com/office/drawing/2014/main" id="{73138A3E-75D8-4CD3-9610-7097A78CE189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Två parallella grenar med resistorer.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 A,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Ω och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6 Ω.</a:t>
            </a:r>
          </a:p>
        </p:txBody>
      </p:sp>
      <p:sp>
        <p:nvSpPr>
          <p:cNvPr id="13" name="Arbetsgång: Beräkna första grenströmmen, sedan den andra. Kontrol">
            <a:extLst>
              <a:ext uri="{FF2B5EF4-FFF2-40B4-BE49-F238E27FC236}">
                <a16:creationId xmlns:a16="http://schemas.microsoft.com/office/drawing/2014/main" id="{0A5744D1-DAFD-41C2-87D6-FF32B4304336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ut den ena grenströmmen och sedan den andra. Kontrollera att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34">
            <a:extLst>
              <a:ext uri="{FF2B5EF4-FFF2-40B4-BE49-F238E27FC236}">
                <a16:creationId xmlns:a16="http://schemas.microsoft.com/office/drawing/2014/main" id="{7121FD1A-C563-4C75-8DF6-D11C319A4D1A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7">
            <a:extLst>
              <a:ext uri="{FF2B5EF4-FFF2-40B4-BE49-F238E27FC236}">
                <a16:creationId xmlns:a16="http://schemas.microsoft.com/office/drawing/2014/main" id="{513A260C-2251-4BC5-BC50-78B17F16FAFA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</a:t>
            </a:r>
          </a:p>
        </p:txBody>
      </p:sp>
      <p:sp>
        <p:nvSpPr>
          <p:cNvPr id="3" name="Strömdelare">
            <a:extLst>
              <a:ext uri="{FF2B5EF4-FFF2-40B4-BE49-F238E27FC236}">
                <a16:creationId xmlns:a16="http://schemas.microsoft.com/office/drawing/2014/main" id="{68D9359F-E9DE-464C-89F5-E407C3C62A85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Strömdelare</a:t>
            </a:r>
          </a:p>
        </p:txBody>
      </p:sp>
      <p:sp>
        <p:nvSpPr>
          <p:cNvPr id="4" name="6 A kommer till två parallellgrenar på 3 Ω och 6 Ω. Bestäm strömm">
            <a:extLst>
              <a:ext uri="{FF2B5EF4-FFF2-40B4-BE49-F238E27FC236}">
                <a16:creationId xmlns:a16="http://schemas.microsoft.com/office/drawing/2014/main" id="{08FFCEE3-2921-405B-B5B7-66179317E7DB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A kommer till två parallellgrenar på 3 Ω och 6 Ω. Bestäm strömmen i varje gren.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457D7608-5007-4C79-9F69-9149B34C5FB9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>
              <a:ext uri="{FF2B5EF4-FFF2-40B4-BE49-F238E27FC236}">
                <a16:creationId xmlns:a16="http://schemas.microsoft.com/office/drawing/2014/main" id="{BD7A4FFB-FAF4-407D-BC1C-3068E819F80B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8">
            <a:extLst>
              <a:ext uri="{FF2B5EF4-FFF2-40B4-BE49-F238E27FC236}">
                <a16:creationId xmlns:a16="http://schemas.microsoft.com/office/drawing/2014/main" id="{2B5AD13B-F8DE-4E3C-8183-FEADD87EA6FC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0" name="(E₁ − Vₐ)/R₁ + (E₂ − Vₐ)/R₂ = Vₐ/R₃">
            <a:extLst>
              <a:ext uri="{FF2B5EF4-FFF2-40B4-BE49-F238E27FC236}">
                <a16:creationId xmlns:a16="http://schemas.microsoft.com/office/drawing/2014/main" id="{87C278E2-D459-4501-9FE1-0023D162E9C4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(E₁ − Vₐ)/R₁ + (E₂ − Vₐ)/R₂ = Vₐ/R₃</a:t>
            </a:r>
          </a:p>
        </p:txBody>
      </p:sp>
      <p:sp>
        <p:nvSpPr>
          <p:cNvPr id="11" name="Vₐ är nod A:s potential relativt 0 V. Varje kvot är en grenström ">
            <a:extLst>
              <a:ext uri="{FF2B5EF4-FFF2-40B4-BE49-F238E27FC236}">
                <a16:creationId xmlns:a16="http://schemas.microsoft.com/office/drawing/2014/main" id="{9FEA345E-61F2-4BA5-B451-B1CBCB14C525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spänningen i A mot 0 V. Varje bråk är en grenström enligt Ohms lag.</a:t>
            </a:r>
          </a:p>
        </p:txBody>
      </p:sp>
      <p:sp>
        <p:nvSpPr>
          <p:cNvPr id="12" name="Förutsättningar: E₁ = 12 V, E₂ = 9 V, R₁ = R₂ = 3 Ω, R₃ = 2 Ω. Bå">
            <a:extLst>
              <a:ext uri="{FF2B5EF4-FFF2-40B4-BE49-F238E27FC236}">
                <a16:creationId xmlns:a16="http://schemas.microsoft.com/office/drawing/2014/main" id="{E81BFF3A-DBA9-441C-8C8B-841CE30E57EA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12 V, E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9 V,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Ω,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Ω. Båda minuspolerna är anslutna till 0 V.</a:t>
            </a:r>
          </a:p>
        </p:txBody>
      </p:sp>
      <p:sp>
        <p:nvSpPr>
          <p:cNvPr id="13" name="Arbetsgång: Multiplicera hela ekvationen med 6 för att ta bort nä">
            <a:extLst>
              <a:ext uri="{FF2B5EF4-FFF2-40B4-BE49-F238E27FC236}">
                <a16:creationId xmlns:a16="http://schemas.microsoft.com/office/drawing/2014/main" id="{DCA2F734-256A-43E5-99B9-14D3904543BF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hela ekvationen med 6 så försvinner nämnarna. Samla termerna med V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lös ut V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36">
            <a:extLst>
              <a:ext uri="{FF2B5EF4-FFF2-40B4-BE49-F238E27FC236}">
                <a16:creationId xmlns:a16="http://schemas.microsoft.com/office/drawing/2014/main" id="{2F5D6E1A-BCCE-46EA-9AB3-E99D1531F53E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8">
            <a:extLst>
              <a:ext uri="{FF2B5EF4-FFF2-40B4-BE49-F238E27FC236}">
                <a16:creationId xmlns:a16="http://schemas.microsoft.com/office/drawing/2014/main" id="{9EC2E4F0-C10E-4F1A-931B-26EF2681762E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</a:t>
            </a:r>
          </a:p>
        </p:txBody>
      </p:sp>
      <p:sp>
        <p:nvSpPr>
          <p:cNvPr id="3" name="Två källor och en last">
            <a:extLst>
              <a:ext uri="{FF2B5EF4-FFF2-40B4-BE49-F238E27FC236}">
                <a16:creationId xmlns:a16="http://schemas.microsoft.com/office/drawing/2014/main" id="{58DA43C7-2EDF-4A80-88A2-D230BB2826F6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Två källor och en last</a:t>
            </a:r>
          </a:p>
        </p:txBody>
      </p:sp>
      <p:sp>
        <p:nvSpPr>
          <p:cNvPr id="4" name="Två idealkällor på 12 V och 9 V matar nod A genom var sin 3 Ω-res">
            <a:extLst>
              <a:ext uri="{FF2B5EF4-FFF2-40B4-BE49-F238E27FC236}">
                <a16:creationId xmlns:a16="http://schemas.microsoft.com/office/drawing/2014/main" id="{8049851A-4C77-4A5A-BE67-3DAAB5148199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ideala källor på 12 V och 9 V matar punkten A genom var sin 3 Ω-resistor. Mellan A och den gemensamma 0 V-punkten sitter 2 Ω. Bestäm V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14BB0F2-636B-42AA-A7F0-CD9669700385}"/>
              </a:ext>
            </a:extLst>
          </p:cNvPr>
          <p:cNvSpPr>
            <a:spLocks noGrp="1"/>
          </p:cNvSpPr>
          <p:nvPr/>
        </p:nvSpPr>
        <p:spPr>
          <a:xfrm>
            <a:off x="2590800" y="4352925"/>
            <a:ext cx="0" cy="47625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DE52ED-6114-4F13-83A5-EC88B54D9403}"/>
              </a:ext>
            </a:extLst>
          </p:cNvPr>
          <p:cNvSpPr>
            <a:spLocks noGrp="1"/>
          </p:cNvSpPr>
          <p:nvPr/>
        </p:nvSpPr>
        <p:spPr>
          <a:xfrm>
            <a:off x="2400300" y="482917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BA140C3-F5E9-4CD1-A3BF-08D801E7E887}"/>
              </a:ext>
            </a:extLst>
          </p:cNvPr>
          <p:cNvSpPr>
            <a:spLocks noGrp="1"/>
          </p:cNvSpPr>
          <p:nvPr/>
        </p:nvSpPr>
        <p:spPr>
          <a:xfrm>
            <a:off x="2590800" y="5210175"/>
            <a:ext cx="0" cy="47625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8" name="+">
            <a:extLst>
              <a:ext uri="{FF2B5EF4-FFF2-40B4-BE49-F238E27FC236}">
                <a16:creationId xmlns:a16="http://schemas.microsoft.com/office/drawing/2014/main" id="{F90FB2DA-0401-4294-B1B0-1A1B9BD716F2}"/>
              </a:ext>
            </a:extLst>
          </p:cNvPr>
          <p:cNvSpPr>
            <a:spLocks noGrp="1"/>
          </p:cNvSpPr>
          <p:nvPr/>
        </p:nvSpPr>
        <p:spPr>
          <a:xfrm>
            <a:off x="2476500" y="482155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−">
            <a:extLst>
              <a:ext uri="{FF2B5EF4-FFF2-40B4-BE49-F238E27FC236}">
                <a16:creationId xmlns:a16="http://schemas.microsoft.com/office/drawing/2014/main" id="{A54776E7-87F3-49E7-AC48-EBD674DB8333}"/>
              </a:ext>
            </a:extLst>
          </p:cNvPr>
          <p:cNvSpPr>
            <a:spLocks noGrp="1"/>
          </p:cNvSpPr>
          <p:nvPr/>
        </p:nvSpPr>
        <p:spPr>
          <a:xfrm>
            <a:off x="2476500" y="498919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12 V">
            <a:extLst>
              <a:ext uri="{FF2B5EF4-FFF2-40B4-BE49-F238E27FC236}">
                <a16:creationId xmlns:a16="http://schemas.microsoft.com/office/drawing/2014/main" id="{24952F31-663B-4BD7-A6B8-98D10B136806}"/>
              </a:ext>
            </a:extLst>
          </p:cNvPr>
          <p:cNvSpPr>
            <a:spLocks noGrp="1"/>
          </p:cNvSpPr>
          <p:nvPr/>
        </p:nvSpPr>
        <p:spPr>
          <a:xfrm>
            <a:off x="1790700" y="4905375"/>
            <a:ext cx="5943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3BA899E-FFC2-481E-AB6C-D94B7F933784}"/>
              </a:ext>
            </a:extLst>
          </p:cNvPr>
          <p:cNvSpPr>
            <a:spLocks noGrp="1"/>
          </p:cNvSpPr>
          <p:nvPr/>
        </p:nvSpPr>
        <p:spPr>
          <a:xfrm>
            <a:off x="6553200" y="4352925"/>
            <a:ext cx="0" cy="47625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C658D4-4DE5-4723-887F-1E5B6D03D6F9}"/>
              </a:ext>
            </a:extLst>
          </p:cNvPr>
          <p:cNvSpPr>
            <a:spLocks noGrp="1"/>
          </p:cNvSpPr>
          <p:nvPr/>
        </p:nvSpPr>
        <p:spPr>
          <a:xfrm>
            <a:off x="6362700" y="4829175"/>
            <a:ext cx="381000" cy="381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48708C4-98B1-445A-934E-0278AC5C87A1}"/>
              </a:ext>
            </a:extLst>
          </p:cNvPr>
          <p:cNvSpPr>
            <a:spLocks noGrp="1"/>
          </p:cNvSpPr>
          <p:nvPr/>
        </p:nvSpPr>
        <p:spPr>
          <a:xfrm>
            <a:off x="6553200" y="5210175"/>
            <a:ext cx="0" cy="47625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4" name="+">
            <a:extLst>
              <a:ext uri="{FF2B5EF4-FFF2-40B4-BE49-F238E27FC236}">
                <a16:creationId xmlns:a16="http://schemas.microsoft.com/office/drawing/2014/main" id="{3BF2E15C-ADEB-43B9-91B2-066D24E1DA3D}"/>
              </a:ext>
            </a:extLst>
          </p:cNvPr>
          <p:cNvSpPr>
            <a:spLocks noGrp="1"/>
          </p:cNvSpPr>
          <p:nvPr/>
        </p:nvSpPr>
        <p:spPr>
          <a:xfrm>
            <a:off x="6438900" y="482155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5" name="−">
            <a:extLst>
              <a:ext uri="{FF2B5EF4-FFF2-40B4-BE49-F238E27FC236}">
                <a16:creationId xmlns:a16="http://schemas.microsoft.com/office/drawing/2014/main" id="{E88F0AA5-0F81-45CC-B098-B7400D52E5BD}"/>
              </a:ext>
            </a:extLst>
          </p:cNvPr>
          <p:cNvSpPr>
            <a:spLocks noGrp="1"/>
          </p:cNvSpPr>
          <p:nvPr/>
        </p:nvSpPr>
        <p:spPr>
          <a:xfrm>
            <a:off x="6438900" y="4989195"/>
            <a:ext cx="228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6" name="9 V">
            <a:extLst>
              <a:ext uri="{FF2B5EF4-FFF2-40B4-BE49-F238E27FC236}">
                <a16:creationId xmlns:a16="http://schemas.microsoft.com/office/drawing/2014/main" id="{746E16F9-7854-4F70-A612-CDC6511CFF3F}"/>
              </a:ext>
            </a:extLst>
          </p:cNvPr>
          <p:cNvSpPr>
            <a:spLocks noGrp="1"/>
          </p:cNvSpPr>
          <p:nvPr/>
        </p:nvSpPr>
        <p:spPr>
          <a:xfrm>
            <a:off x="5753100" y="4905375"/>
            <a:ext cx="59436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 V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1D9D412-F774-4D83-8232-ED48BD58628A}"/>
              </a:ext>
            </a:extLst>
          </p:cNvPr>
          <p:cNvSpPr>
            <a:spLocks noGrp="1"/>
          </p:cNvSpPr>
          <p:nvPr/>
        </p:nvSpPr>
        <p:spPr>
          <a:xfrm>
            <a:off x="2590800" y="43529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4FFA3F-DDD1-4F52-AE0B-7248C8E5A3F8}"/>
              </a:ext>
            </a:extLst>
          </p:cNvPr>
          <p:cNvSpPr>
            <a:spLocks noGrp="1"/>
          </p:cNvSpPr>
          <p:nvPr/>
        </p:nvSpPr>
        <p:spPr>
          <a:xfrm>
            <a:off x="3390900" y="4269105"/>
            <a:ext cx="381000" cy="16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7AF493C-D034-4670-9BD3-4B4D3C87E976}"/>
              </a:ext>
            </a:extLst>
          </p:cNvPr>
          <p:cNvSpPr>
            <a:spLocks noGrp="1"/>
          </p:cNvSpPr>
          <p:nvPr/>
        </p:nvSpPr>
        <p:spPr>
          <a:xfrm>
            <a:off x="3771900" y="43529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0" name="3 Ω">
            <a:extLst>
              <a:ext uri="{FF2B5EF4-FFF2-40B4-BE49-F238E27FC236}">
                <a16:creationId xmlns:a16="http://schemas.microsoft.com/office/drawing/2014/main" id="{C85BD5CB-43D4-4CC9-A206-096F4157AF46}"/>
              </a:ext>
            </a:extLst>
          </p:cNvPr>
          <p:cNvSpPr>
            <a:spLocks noGrp="1"/>
          </p:cNvSpPr>
          <p:nvPr/>
        </p:nvSpPr>
        <p:spPr>
          <a:xfrm>
            <a:off x="2956560" y="3979545"/>
            <a:ext cx="12496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Ω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FA318E3-C0B2-4D2A-863D-953066456E4F}"/>
              </a:ext>
            </a:extLst>
          </p:cNvPr>
          <p:cNvSpPr>
            <a:spLocks noGrp="1"/>
          </p:cNvSpPr>
          <p:nvPr/>
        </p:nvSpPr>
        <p:spPr>
          <a:xfrm>
            <a:off x="4572000" y="43529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E2359B-67D7-4507-940E-AC56A60027C8}"/>
              </a:ext>
            </a:extLst>
          </p:cNvPr>
          <p:cNvSpPr>
            <a:spLocks noGrp="1"/>
          </p:cNvSpPr>
          <p:nvPr/>
        </p:nvSpPr>
        <p:spPr>
          <a:xfrm>
            <a:off x="5372100" y="4269105"/>
            <a:ext cx="381000" cy="16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DB73ED3-524D-4573-85B3-71B91355CF10}"/>
              </a:ext>
            </a:extLst>
          </p:cNvPr>
          <p:cNvSpPr>
            <a:spLocks noGrp="1"/>
          </p:cNvSpPr>
          <p:nvPr/>
        </p:nvSpPr>
        <p:spPr>
          <a:xfrm>
            <a:off x="5753100" y="4352925"/>
            <a:ext cx="8001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4" name="3 Ω">
            <a:extLst>
              <a:ext uri="{FF2B5EF4-FFF2-40B4-BE49-F238E27FC236}">
                <a16:creationId xmlns:a16="http://schemas.microsoft.com/office/drawing/2014/main" id="{BFCDF140-F34C-45C5-830B-5D7715B2A110}"/>
              </a:ext>
            </a:extLst>
          </p:cNvPr>
          <p:cNvSpPr>
            <a:spLocks noGrp="1"/>
          </p:cNvSpPr>
          <p:nvPr/>
        </p:nvSpPr>
        <p:spPr>
          <a:xfrm>
            <a:off x="4937760" y="3979545"/>
            <a:ext cx="124968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Ω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F51E829-5892-4945-8941-284370635754}"/>
              </a:ext>
            </a:extLst>
          </p:cNvPr>
          <p:cNvSpPr>
            <a:spLocks noGrp="1"/>
          </p:cNvSpPr>
          <p:nvPr/>
        </p:nvSpPr>
        <p:spPr>
          <a:xfrm>
            <a:off x="4572000" y="4352925"/>
            <a:ext cx="0" cy="48387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AD218-0FBF-43D5-88E8-E8F0E8489AF2}"/>
              </a:ext>
            </a:extLst>
          </p:cNvPr>
          <p:cNvSpPr>
            <a:spLocks noGrp="1"/>
          </p:cNvSpPr>
          <p:nvPr/>
        </p:nvSpPr>
        <p:spPr>
          <a:xfrm>
            <a:off x="4488180" y="4836795"/>
            <a:ext cx="16764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F86A0AF-1BDB-4BBE-BF22-2A09F268A421}"/>
              </a:ext>
            </a:extLst>
          </p:cNvPr>
          <p:cNvSpPr>
            <a:spLocks noGrp="1"/>
          </p:cNvSpPr>
          <p:nvPr/>
        </p:nvSpPr>
        <p:spPr>
          <a:xfrm>
            <a:off x="4572000" y="5202555"/>
            <a:ext cx="0" cy="48387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28" name="2 Ω">
            <a:extLst>
              <a:ext uri="{FF2B5EF4-FFF2-40B4-BE49-F238E27FC236}">
                <a16:creationId xmlns:a16="http://schemas.microsoft.com/office/drawing/2014/main" id="{6C599EF9-6CEE-4712-9AFB-47DA1A37124B}"/>
              </a:ext>
            </a:extLst>
          </p:cNvPr>
          <p:cNvSpPr>
            <a:spLocks noGrp="1"/>
          </p:cNvSpPr>
          <p:nvPr/>
        </p:nvSpPr>
        <p:spPr>
          <a:xfrm>
            <a:off x="4739640" y="4897755"/>
            <a:ext cx="100584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 Ω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F973AC11-BFF4-43CF-85C4-2A6B1BB4FD23}"/>
              </a:ext>
            </a:extLst>
          </p:cNvPr>
          <p:cNvSpPr>
            <a:spLocks noGrp="1"/>
          </p:cNvSpPr>
          <p:nvPr/>
        </p:nvSpPr>
        <p:spPr>
          <a:xfrm>
            <a:off x="2590800" y="5686425"/>
            <a:ext cx="3962400" cy="0"/>
          </a:xfrm>
          <a:prstGeom prst="line">
            <a:avLst/>
          </a:prstGeom>
          <a:noFill/>
          <a:ln w="20955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13C13F8-BCDC-4E23-9E70-1279273E4117}"/>
              </a:ext>
            </a:extLst>
          </p:cNvPr>
          <p:cNvSpPr>
            <a:spLocks noGrp="1"/>
          </p:cNvSpPr>
          <p:nvPr/>
        </p:nvSpPr>
        <p:spPr>
          <a:xfrm>
            <a:off x="4541520" y="4322445"/>
            <a:ext cx="60960" cy="6096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AF4245-3553-42B3-878D-D08AD6F43473}"/>
              </a:ext>
            </a:extLst>
          </p:cNvPr>
          <p:cNvSpPr>
            <a:spLocks noGrp="1"/>
          </p:cNvSpPr>
          <p:nvPr/>
        </p:nvSpPr>
        <p:spPr>
          <a:xfrm>
            <a:off x="4541520" y="5655945"/>
            <a:ext cx="60960" cy="6096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2" name="A">
            <a:extLst>
              <a:ext uri="{FF2B5EF4-FFF2-40B4-BE49-F238E27FC236}">
                <a16:creationId xmlns:a16="http://schemas.microsoft.com/office/drawing/2014/main" id="{CAD8CA84-B6BD-4C21-A228-5BB60A7D9DC4}"/>
              </a:ext>
            </a:extLst>
          </p:cNvPr>
          <p:cNvSpPr>
            <a:spLocks noGrp="1"/>
          </p:cNvSpPr>
          <p:nvPr/>
        </p:nvSpPr>
        <p:spPr>
          <a:xfrm>
            <a:off x="4419600" y="4010025"/>
            <a:ext cx="3048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3" name="0 V">
            <a:extLst>
              <a:ext uri="{FF2B5EF4-FFF2-40B4-BE49-F238E27FC236}">
                <a16:creationId xmlns:a16="http://schemas.microsoft.com/office/drawing/2014/main" id="{481B241E-D4B6-4FE8-89C6-9FF5B792ECB9}"/>
              </a:ext>
            </a:extLst>
          </p:cNvPr>
          <p:cNvSpPr>
            <a:spLocks noGrp="1"/>
          </p:cNvSpPr>
          <p:nvPr/>
        </p:nvSpPr>
        <p:spPr>
          <a:xfrm>
            <a:off x="4099560" y="5694045"/>
            <a:ext cx="990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4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4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 V</a:t>
            </a:r>
          </a:p>
        </p:txBody>
      </p:sp>
      <p:sp>
        <p:nvSpPr>
          <p:cNvPr id="34" name="18">
            <a:extLst>
              <a:ext uri="{FF2B5EF4-FFF2-40B4-BE49-F238E27FC236}">
                <a16:creationId xmlns:a16="http://schemas.microsoft.com/office/drawing/2014/main" id="{22FA8B3C-2B9E-47E6-9456-15AE5FC01B95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9">
            <a:extLst>
              <a:ext uri="{FF2B5EF4-FFF2-40B4-BE49-F238E27FC236}">
                <a16:creationId xmlns:a16="http://schemas.microsoft.com/office/drawing/2014/main" id="{829D8BCE-CDE2-4A78-8CE7-082889F4A9DC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0" name="Uth = Uin · R₂/(R₁ + R₂)&#10;Rth = R₁R₂/(R₁ + R₂)">
            <a:extLst>
              <a:ext uri="{FF2B5EF4-FFF2-40B4-BE49-F238E27FC236}">
                <a16:creationId xmlns:a16="http://schemas.microsoft.com/office/drawing/2014/main" id="{0AEBC8E8-4E3E-4F81-A1EC-CEE084830AE3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11" name="Uth är spänning över den öppna lastporten. Rth är resistans sedd ">
            <a:extLst>
              <a:ext uri="{FF2B5EF4-FFF2-40B4-BE49-F238E27FC236}">
                <a16:creationId xmlns:a16="http://schemas.microsoft.com/office/drawing/2014/main" id="{01F6DAB7-5D73-45D9-AF05-95CF01A79752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spänningen mellan lastens anslutningspunkter när ingen last är ansluten. R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resistansen mellan samma punkter med källan nollställd.</a:t>
            </a:r>
          </a:p>
        </p:txBody>
      </p:sp>
      <p:sp>
        <p:nvSpPr>
          <p:cNvPr id="12" name="Förutsättningar: Linjärt DC-nät med ideal oberoende 12 V-källa. R">
            <a:extLst>
              <a:ext uri="{FF2B5EF4-FFF2-40B4-BE49-F238E27FC236}">
                <a16:creationId xmlns:a16="http://schemas.microsoft.com/office/drawing/2014/main" id="{6E30C559-0927-4121-860E-C286B4D3B6DF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Likströmskrets med en ideal 12 V-källa.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 kΩ,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kΩ. Ingen last är ansluten.</a:t>
            </a:r>
          </a:p>
        </p:txBody>
      </p:sp>
      <p:sp>
        <p:nvSpPr>
          <p:cNvPr id="13" name="Arbetsgång: Beräkna tomgångsspänningen. Ersätt sedan idealkällan ">
            <a:extLst>
              <a:ext uri="{FF2B5EF4-FFF2-40B4-BE49-F238E27FC236}">
                <a16:creationId xmlns:a16="http://schemas.microsoft.com/office/drawing/2014/main" id="{D108F180-56F6-4E7F-A8CE-63948292AB86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först tomgångsspänningen. Ersätt sedan källan med en ledning – bara i beräkningen.</a:t>
            </a:r>
          </a:p>
        </p:txBody>
      </p:sp>
      <p:sp>
        <p:nvSpPr>
          <p:cNvPr id="14" name="38">
            <a:extLst>
              <a:ext uri="{FF2B5EF4-FFF2-40B4-BE49-F238E27FC236}">
                <a16:creationId xmlns:a16="http://schemas.microsoft.com/office/drawing/2014/main" id="{3297692B-4F01-40A8-9A6C-38D6D11D399E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9">
            <a:extLst>
              <a:ext uri="{FF2B5EF4-FFF2-40B4-BE49-F238E27FC236}">
                <a16:creationId xmlns:a16="http://schemas.microsoft.com/office/drawing/2014/main" id="{3A8C5925-7297-4B0B-81C2-61326E2CEE6D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</a:t>
            </a:r>
          </a:p>
        </p:txBody>
      </p:sp>
      <p:sp>
        <p:nvSpPr>
          <p:cNvPr id="3" name="Thévenin vid tomgång">
            <a:extLst>
              <a:ext uri="{FF2B5EF4-FFF2-40B4-BE49-F238E27FC236}">
                <a16:creationId xmlns:a16="http://schemas.microsoft.com/office/drawing/2014/main" id="{54344777-4FC9-427C-8168-EAE3BA94E83A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Thévenin vid tomgång</a:t>
            </a:r>
          </a:p>
        </p:txBody>
      </p:sp>
      <p:sp>
        <p:nvSpPr>
          <p:cNvPr id="4" name="12 V matar R₁ = 1 kΩ i serie med R₂ = 2 kΩ. Lastporten ligger öve">
            <a:extLst>
              <a:ext uri="{FF2B5EF4-FFF2-40B4-BE49-F238E27FC236}">
                <a16:creationId xmlns:a16="http://schemas.microsoft.com/office/drawing/2014/main" id="{17641D21-0563-4CAE-964F-13CE9026B80D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 matar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1 kΩ i serie med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kΩ. Lasten ska anslutas över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 Bestäm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och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när ingen last är ansluten.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7DAA629F-B63C-4279-93A1-529F86203423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>
              <a:ext uri="{FF2B5EF4-FFF2-40B4-BE49-F238E27FC236}">
                <a16:creationId xmlns:a16="http://schemas.microsoft.com/office/drawing/2014/main" id="{9EE328B1-C048-4B13-819E-17D7792AE9C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9" name="Stöd till övning 10">
            <a:extLst>
              <a:ext uri="{FF2B5EF4-FFF2-40B4-BE49-F238E27FC236}">
                <a16:creationId xmlns:a16="http://schemas.microsoft.com/office/drawing/2014/main" id="{D6CF634F-5826-4E4A-86C1-B3B5C06D425F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0" name="Ilast = Uth/(Rth + Rlast)&#10;Ulast = Ilast · Rlast">
            <a:extLst>
              <a:ext uri="{FF2B5EF4-FFF2-40B4-BE49-F238E27FC236}">
                <a16:creationId xmlns:a16="http://schemas.microsoft.com/office/drawing/2014/main" id="{FEF617B6-01A3-42B0-9665-8516EE0B00D5}"/>
              </a:ext>
            </a:extLst>
          </p:cNvPr>
          <p:cNvSpPr>
            <a:spLocks noGrp="1"/>
          </p:cNvSpPr>
          <p:nvPr/>
        </p:nvSpPr>
        <p:spPr>
          <a:xfrm>
            <a:off x="762000" y="1638300"/>
            <a:ext cx="7620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/(R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1" name="V/kΩ ger mA. mA · kΩ ger V. Använd samma resistansenhet i hela nä">
            <a:extLst>
              <a:ext uri="{FF2B5EF4-FFF2-40B4-BE49-F238E27FC236}">
                <a16:creationId xmlns:a16="http://schemas.microsoft.com/office/drawing/2014/main" id="{A7E0C68C-262F-44A6-BD68-D4483C498D0D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V/kΩ ger mA och mA · kΩ ger V. Använd samma enhet för alla resistanser i nämnaren.</a:t>
            </a:r>
          </a:p>
        </p:txBody>
      </p:sp>
      <p:sp>
        <p:nvSpPr>
          <p:cNvPr id="12" name="Förutsättningar: Uth = 8 V, Rth = 2/3 kΩ och Rlast = 2 kΩ. Använd">
            <a:extLst>
              <a:ext uri="{FF2B5EF4-FFF2-40B4-BE49-F238E27FC236}">
                <a16:creationId xmlns:a16="http://schemas.microsoft.com/office/drawing/2014/main" id="{2C2F07D4-B377-4090-BAD5-AF27ADE94839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7620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U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 V,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2/3 kΩ och R</a:t>
            </a:r>
            <a:r>
              <a:rPr sz="2025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kΩ. Räkna med 2/3 och avrunda inte förrän på slutet.</a:t>
            </a:r>
          </a:p>
        </p:txBody>
      </p:sp>
      <p:sp>
        <p:nvSpPr>
          <p:cNvPr id="13" name="Arbetsgång: Beräkna lastströmmen ur serieresistansen. Beräkna sed">
            <a:extLst>
              <a:ext uri="{FF2B5EF4-FFF2-40B4-BE49-F238E27FC236}">
                <a16:creationId xmlns:a16="http://schemas.microsoft.com/office/drawing/2014/main" id="{293F9C2E-FCC2-48F6-9E11-5033D077B7DF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7620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lastströmmen och sedan spänningen över lasten.</a:t>
            </a:r>
          </a:p>
        </p:txBody>
      </p:sp>
      <p:sp>
        <p:nvSpPr>
          <p:cNvPr id="14" name="40">
            <a:extLst>
              <a:ext uri="{FF2B5EF4-FFF2-40B4-BE49-F238E27FC236}">
                <a16:creationId xmlns:a16="http://schemas.microsoft.com/office/drawing/2014/main" id="{57C1A86C-35ED-4397-9DDE-8C0CC611147F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Övning 10">
            <a:extLst>
              <a:ext uri="{FF2B5EF4-FFF2-40B4-BE49-F238E27FC236}">
                <a16:creationId xmlns:a16="http://schemas.microsoft.com/office/drawing/2014/main" id="{35B9A84B-D122-44E5-B165-F338B54D9575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</a:t>
            </a:r>
          </a:p>
        </p:txBody>
      </p:sp>
      <p:sp>
        <p:nvSpPr>
          <p:cNvPr id="3" name="Last på Théveninkällan">
            <a:extLst>
              <a:ext uri="{FF2B5EF4-FFF2-40B4-BE49-F238E27FC236}">
                <a16:creationId xmlns:a16="http://schemas.microsoft.com/office/drawing/2014/main" id="{3508B972-43B4-4CF4-9394-B2706590670B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 på Théveninkällan</a:t>
            </a:r>
          </a:p>
        </p:txBody>
      </p:sp>
      <p:sp>
        <p:nvSpPr>
          <p:cNvPr id="4" name="Använd Uth = 8 V och Rth = 2/3 kΩ. Anslut Rlast = 2 kΩ. Beräkna l">
            <a:extLst>
              <a:ext uri="{FF2B5EF4-FFF2-40B4-BE49-F238E27FC236}">
                <a16:creationId xmlns:a16="http://schemas.microsoft.com/office/drawing/2014/main" id="{D7C4189A-988A-4A61-8276-720D91F529E0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7620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Använd U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8 V och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2/3 kΩ. Anslut R</a:t>
            </a:r>
            <a:r>
              <a:rPr sz="24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kΩ. Beräkna strömmen genom lasten och spänningen över den.</a:t>
            </a:r>
          </a:p>
        </p:txBody>
      </p:sp>
      <p:sp>
        <p:nvSpPr>
          <p:cNvPr id="5" name="Redovisa din beräkning eller motivera ditt beslut.">
            <a:extLst>
              <a:ext uri="{FF2B5EF4-FFF2-40B4-BE49-F238E27FC236}">
                <a16:creationId xmlns:a16="http://schemas.microsoft.com/office/drawing/2014/main" id="{F04C084D-BE77-4EEE-BB0B-3559998FB6D8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762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>
              <a:ext uri="{FF2B5EF4-FFF2-40B4-BE49-F238E27FC236}">
                <a16:creationId xmlns:a16="http://schemas.microsoft.com/office/drawing/2014/main" id="{EE3FFB54-A353-4CE2-8D66-4ADC11D46398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Avslut och eget arbete">
            <a:extLst>
              <a:ext uri="{FF2B5EF4-FFF2-40B4-BE49-F238E27FC236}">
                <a16:creationId xmlns:a16="http://schemas.microsoft.com/office/drawing/2014/main" id="{C57D3A1C-43A2-478B-BE0B-84BFC44297BE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d gör du först när en last kopplas till en spänningsdelare?">
            <a:extLst>
              <a:ext uri="{FF2B5EF4-FFF2-40B4-BE49-F238E27FC236}">
                <a16:creationId xmlns:a16="http://schemas.microsoft.com/office/drawing/2014/main" id="{B8938462-6F94-45C0-9287-1AD7A145399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7620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Vad gör du först när en last kopplas till en spänningsdelare?</a:t>
            </a:r>
          </a:p>
        </p:txBody>
      </p:sp>
      <p:sp>
        <p:nvSpPr>
          <p:cNvPr id="4" name="Redovisa särskilt tecken och valda strömriktningar i v39-inlämnin">
            <a:extLst>
              <a:ext uri="{FF2B5EF4-FFF2-40B4-BE49-F238E27FC236}">
                <a16:creationId xmlns:a16="http://schemas.microsoft.com/office/drawing/2014/main" id="{DC657577-3BED-4F33-BC1F-C4A3A23C28C3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7620000" cy="1924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särskilt tecken och valda strömriktningar i v39-inlämningen. Uppgift 8 kan slutföras hemma om algebra behöver repeteras.</a:t>
            </a:r>
          </a:p>
        </p:txBody>
      </p:sp>
      <p:sp>
        <p:nvSpPr>
          <p:cNvPr id="5" name="21">
            <a:extLst>
              <a:ext uri="{FF2B5EF4-FFF2-40B4-BE49-F238E27FC236}">
                <a16:creationId xmlns:a16="http://schemas.microsoft.com/office/drawing/2014/main" id="{64C322AE-E0E5-473D-99DD-B78E290CE5C3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8791"/>
            <a:ext cx="9144006" cy="763524"/>
          </a:xfrm>
          <a:prstGeom prst="rect">
            <a:avLst/>
          </a:prstGeom>
        </p:spPr>
      </p:pic>
      <p:sp>
        <p:nvSpPr>
          <p:cNvPr id="2" name="Källor och fortsatt läsning">
            <a:extLst>
              <a:ext uri="{FF2B5EF4-FFF2-40B4-BE49-F238E27FC236}">
                <a16:creationId xmlns:a16="http://schemas.microsoft.com/office/drawing/2014/main" id="{DEB19636-5C69-4FF1-97BE-194D1607ADE6}"/>
              </a:ext>
            </a:extLst>
          </p:cNvPr>
          <p:cNvSpPr>
            <a:spLocks noGrp="1"/>
          </p:cNvSpPr>
          <p:nvPr/>
        </p:nvSpPr>
        <p:spPr>
          <a:xfrm>
            <a:off x="428625" y="495300"/>
            <a:ext cx="8286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>
              <a:ext uri="{FF2B5EF4-FFF2-40B4-BE49-F238E27FC236}">
                <a16:creationId xmlns:a16="http://schemas.microsoft.com/office/drawing/2014/main" id="{B386D20B-36BC-459A-89C8-434124FEE86F}"/>
              </a:ext>
            </a:extLst>
          </p:cNvPr>
          <p:cNvSpPr>
            <a:spLocks noGrp="1"/>
          </p:cNvSpPr>
          <p:nvPr/>
        </p:nvSpPr>
        <p:spPr>
          <a:xfrm>
            <a:off x="762000" y="1609725"/>
            <a:ext cx="7620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Science Shorts: Kirchhoff’s Laws, 5 minuter">
            <a:extLst>
              <a:ext uri="{FF2B5EF4-FFF2-40B4-BE49-F238E27FC236}">
                <a16:creationId xmlns:a16="http://schemas.microsoft.com/office/drawing/2014/main" id="{D7305B19-53FD-486F-AA92-B5F352229588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r:id="rId4"/>
              </a:rPr>
              <a:t>Science Shorts: Kirchhoff’s Laws, 5 minuter</a:t>
            </a:r>
          </a:p>
        </p:txBody>
      </p:sp>
      <p:sp>
        <p:nvSpPr>
          <p:cNvPr id="5" name="OpenStax: Kirchhoffs lagar">
            <a:extLst>
              <a:ext uri="{FF2B5EF4-FFF2-40B4-BE49-F238E27FC236}">
                <a16:creationId xmlns:a16="http://schemas.microsoft.com/office/drawing/2014/main" id="{AB4E71FF-0F7C-496B-8D14-3B7167005781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r:id="rId5"/>
              </a:rPr>
              <a:t>OpenStax: Kirchhoffs lagar</a:t>
            </a:r>
          </a:p>
        </p:txBody>
      </p:sp>
      <p:sp>
        <p:nvSpPr>
          <p:cNvPr id="7" name="22">
            <a:extLst>
              <a:ext uri="{FF2B5EF4-FFF2-40B4-BE49-F238E27FC236}">
                <a16:creationId xmlns:a16="http://schemas.microsoft.com/office/drawing/2014/main" id="{47602412-EA3E-4188-83A7-E521D3A2ADEC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PowerPoint</Application>
  <Slides>46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Nils Johansson</cp:lastModifiedBy>
  <cp:revision>2</cp:revision>
  <dcterms:created xsi:type="dcterms:W3CDTF">2026-09-20T20:06:10Z</dcterms:created>
  <dcterms:modified xsi:type="dcterms:W3CDTF">2026-09-21T09:03:58Z</dcterms:modified>
</cp:coreProperties>
</file>