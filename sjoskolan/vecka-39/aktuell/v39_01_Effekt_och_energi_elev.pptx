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acffaa03d95047d4" Type="http://schemas.openxmlformats.org/officeDocument/2006/relationships/extended-properties" Target="docProps/app.xml"/><Relationship Id="Rff0f4cf7352947bc" Type="http://schemas.openxmlformats.org/officeDocument/2006/relationships/officeDocument" Target="ppt/presentation.xml"/><Relationship Id="Rffeb8ee5f3bc4a6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93fe5746e7e84574"/>
  </p:sldMasterIdLst>
  <p:sldIdLst>
    <p:sldId id="256" r:id="Re7c0fa3c480d4780"/>
    <p:sldId id="257" r:id="R299460cd0cba42ca"/>
    <p:sldId id="258" r:id="R75864bc8102a45ce"/>
    <p:sldId id="259" r:id="Rda414f17a6e84b9b"/>
    <p:sldId id="260" r:id="Rb05ee9406d1244a7"/>
    <p:sldId id="261" r:id="Rd56e3182a02d43ef"/>
    <p:sldId id="262" r:id="R6f72ebc51a6c450f"/>
    <p:sldId id="263" r:id="R89cb4be708b84ac2"/>
    <p:sldId id="264" r:id="R01b8f5826da24d1c"/>
    <p:sldId id="265" r:id="R83fbfa29e01745d4"/>
    <p:sldId id="266" r:id="R2246019a943c4c15"/>
    <p:sldId id="267" r:id="R604871001aac4319"/>
    <p:sldId id="268" r:id="R0f0c39fe99df4f70"/>
    <p:sldId id="269" r:id="R7a89b7cd90564e44"/>
    <p:sldId id="270" r:id="R91e22261acf4476f"/>
    <p:sldId id="271" r:id="R19980f3f90244ac7"/>
    <p:sldId id="272" r:id="Rd5f8c20e76f94a80"/>
    <p:sldId id="273" r:id="Rf13a919c9a014e6d"/>
    <p:sldId id="274" r:id="Rc49514d827554a8a"/>
    <p:sldId id="275" r:id="R8ad2f0c168bd40c4"/>
    <p:sldId id="276" r:id="R7465d7381eed4a5a"/>
    <p:sldId id="277" r:id="R4452189a3bfa4b90"/>
    <p:sldId id="278" r:id="Rc90e9fdf01324595"/>
    <p:sldId id="279" r:id="R8a78a0b15bcf426b"/>
    <p:sldId id="280" r:id="R7d62a95001e44b11"/>
    <p:sldId id="281" r:id="R58bfc10ddaaa48e6"/>
    <p:sldId id="282" r:id="R901742a5c63b4569"/>
    <p:sldId id="283" r:id="Radc1a9c175474675"/>
    <p:sldId id="284" r:id="R4d4040b71f58437b"/>
    <p:sldId id="285" r:id="R2a1c189871dd48b7"/>
    <p:sldId id="286" r:id="R1a0a01ce59cf45dc"/>
    <p:sldId id="287" r:id="Rcb66e777025b4b26"/>
    <p:sldId id="288" r:id="R0649a8ce890748e4"/>
    <p:sldId id="289" r:id="Rf4698332ed3a40ae"/>
    <p:sldId id="290" r:id="R62f33818795041bb"/>
    <p:sldId id="291" r:id="Rf92d6927181a408a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1b8f5826da24d1c" Type="http://schemas.openxmlformats.org/officeDocument/2006/relationships/slide" Target="slides/slide9.xml"/><Relationship Id="R0649a8ce890748e4" Type="http://schemas.openxmlformats.org/officeDocument/2006/relationships/slide" Target="slides/slide33.xml"/><Relationship Id="R0f0c39fe99df4f70" Type="http://schemas.openxmlformats.org/officeDocument/2006/relationships/slide" Target="slides/slide13.xml"/><Relationship Id="R19980f3f90244ac7" Type="http://schemas.openxmlformats.org/officeDocument/2006/relationships/slide" Target="slides/slide16.xml"/><Relationship Id="R1a0a01ce59cf45dc" Type="http://schemas.openxmlformats.org/officeDocument/2006/relationships/slide" Target="slides/slide31.xml"/><Relationship Id="R2246019a943c4c15" Type="http://schemas.openxmlformats.org/officeDocument/2006/relationships/slide" Target="slides/slide11.xml"/><Relationship Id="R299460cd0cba42ca" Type="http://schemas.openxmlformats.org/officeDocument/2006/relationships/slide" Target="slides/slide2.xml"/><Relationship Id="R2a1c189871dd48b7" Type="http://schemas.openxmlformats.org/officeDocument/2006/relationships/slide" Target="slides/slide30.xml"/><Relationship Id="R4452189a3bfa4b90" Type="http://schemas.openxmlformats.org/officeDocument/2006/relationships/slide" Target="slides/slide22.xml"/><Relationship Id="R4d4040b71f58437b" Type="http://schemas.openxmlformats.org/officeDocument/2006/relationships/slide" Target="slides/slide29.xml"/><Relationship Id="R55f870f17cb54c95" Type="http://schemas.openxmlformats.org/officeDocument/2006/relationships/presProps" Target="presProps.xml"/><Relationship Id="R57303ce9d23949a5" Type="http://schemas.openxmlformats.org/officeDocument/2006/relationships/viewProps" Target="viewProps.xml"/><Relationship Id="R58bfc10ddaaa48e6" Type="http://schemas.openxmlformats.org/officeDocument/2006/relationships/slide" Target="slides/slide26.xml"/><Relationship Id="R604871001aac4319" Type="http://schemas.openxmlformats.org/officeDocument/2006/relationships/slide" Target="slides/slide12.xml"/><Relationship Id="R62f33818795041bb" Type="http://schemas.openxmlformats.org/officeDocument/2006/relationships/slide" Target="slides/slide35.xml"/><Relationship Id="R6d8bf5f0cdb1437a" Type="http://schemas.openxmlformats.org/officeDocument/2006/relationships/theme" Target="theme/theme1.xml"/><Relationship Id="R6f72ebc51a6c450f" Type="http://schemas.openxmlformats.org/officeDocument/2006/relationships/slide" Target="slides/slide7.xml"/><Relationship Id="R7465d7381eed4a5a" Type="http://schemas.openxmlformats.org/officeDocument/2006/relationships/slide" Target="slides/slide21.xml"/><Relationship Id="R75864bc8102a45ce" Type="http://schemas.openxmlformats.org/officeDocument/2006/relationships/slide" Target="slides/slide3.xml"/><Relationship Id="R7a89b7cd90564e44" Type="http://schemas.openxmlformats.org/officeDocument/2006/relationships/slide" Target="slides/slide14.xml"/><Relationship Id="R7d62a95001e44b11" Type="http://schemas.openxmlformats.org/officeDocument/2006/relationships/slide" Target="slides/slide25.xml"/><Relationship Id="R83fbfa29e01745d4" Type="http://schemas.openxmlformats.org/officeDocument/2006/relationships/slide" Target="slides/slide10.xml"/><Relationship Id="R89cb4be708b84ac2" Type="http://schemas.openxmlformats.org/officeDocument/2006/relationships/slide" Target="slides/slide8.xml"/><Relationship Id="R8a78a0b15bcf426b" Type="http://schemas.openxmlformats.org/officeDocument/2006/relationships/slide" Target="slides/slide24.xml"/><Relationship Id="R8ad2f0c168bd40c4" Type="http://schemas.openxmlformats.org/officeDocument/2006/relationships/slide" Target="slides/slide20.xml"/><Relationship Id="R901742a5c63b4569" Type="http://schemas.openxmlformats.org/officeDocument/2006/relationships/slide" Target="slides/slide27.xml"/><Relationship Id="R91e22261acf4476f" Type="http://schemas.openxmlformats.org/officeDocument/2006/relationships/slide" Target="slides/slide15.xml"/><Relationship Id="R93fe5746e7e84574" Type="http://schemas.openxmlformats.org/officeDocument/2006/relationships/slideMaster" Target="slideMasters/slideMaster1.xml"/><Relationship Id="Ra1ec40936e2146ab" Type="http://schemas.openxmlformats.org/officeDocument/2006/relationships/tableStyles" Target="tableStyles.xml"/><Relationship Id="Radc1a9c175474675" Type="http://schemas.openxmlformats.org/officeDocument/2006/relationships/slide" Target="slides/slide28.xml"/><Relationship Id="Rb05ee9406d1244a7" Type="http://schemas.openxmlformats.org/officeDocument/2006/relationships/slide" Target="slides/slide5.xml"/><Relationship Id="Rc49514d827554a8a" Type="http://schemas.openxmlformats.org/officeDocument/2006/relationships/slide" Target="slides/slide19.xml"/><Relationship Id="Rc90e9fdf01324595" Type="http://schemas.openxmlformats.org/officeDocument/2006/relationships/slide" Target="slides/slide23.xml"/><Relationship Id="Rcb66e777025b4b26" Type="http://schemas.openxmlformats.org/officeDocument/2006/relationships/slide" Target="slides/slide32.xml"/><Relationship Id="Rd56e3182a02d43ef" Type="http://schemas.openxmlformats.org/officeDocument/2006/relationships/slide" Target="slides/slide6.xml"/><Relationship Id="Rd5f8c20e76f94a80" Type="http://schemas.openxmlformats.org/officeDocument/2006/relationships/slide" Target="slides/slide17.xml"/><Relationship Id="Rda414f17a6e84b9b" Type="http://schemas.openxmlformats.org/officeDocument/2006/relationships/slide" Target="slides/slide4.xml"/><Relationship Id="Re7c0fa3c480d4780" Type="http://schemas.openxmlformats.org/officeDocument/2006/relationships/slide" Target="slides/slide1.xml"/><Relationship Id="Rf13a919c9a014e6d" Type="http://schemas.openxmlformats.org/officeDocument/2006/relationships/slide" Target="slides/slide18.xml"/><Relationship Id="Rf4698332ed3a40ae" Type="http://schemas.openxmlformats.org/officeDocument/2006/relationships/slide" Target="slides/slide34.xml"/><Relationship Id="Rf92d6927181a408a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633462d27d1448f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2914db482aee4d3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fd52fd0ee60b46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8a3b8a8b6c74d5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4604640b96404a98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876bccd4c7ae4e9c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523f6dbdeab74fdb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3fe6cde5b2dc49ce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59cef1784f5b4c35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bcabdb7050c64855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ed8e0d79d618411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7745DD-B4B4-4530-8723-D3C3C87BF0B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5EC4148-4C4E-4B2A-8C5F-4E985EE7F1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02164C-98DD-4AA7-8C6E-E0EB57D01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7050AA-F538-4443-BD2C-2A5A073CF1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5341AC-CBEE-4FEE-8609-28333D1F6A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13C046-5065-4D10-8729-3ACB74115C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23A461F-173A-404C-A220-34A0C83043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6F1B9F-5650-493F-A62D-A01BAFA096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2B01FC-F699-4B5B-8385-9800E29B94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6AE218-1114-45FC-9A44-C3E1AA0012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1D9F58-43F5-4E4F-B3F0-6C9C9569F9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3A512DE-7454-42C5-AA55-886F507E2A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0F383E-F948-48AD-B2EC-D603C2209D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E56057-658F-4F43-B1BB-145381162A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84C609-3F64-43E1-8AC6-4082F53C48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64D272-2B0A-4725-936D-847DD5A2D7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E7E1D5-CF75-477E-BC52-33066B8D7E4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5345BEB-9BE8-44DC-8DB3-FFD5D3754FB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747403B-FF00-4AE6-BDAE-D0958CA5A8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89C3EAB-EA55-41B9-B3D8-2E8B37DF31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1CC98BA-EE52-47B8-98AA-E1D7DBF38C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DC2453-0CCD-4830-A444-A6956DFFA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9FC89B-6DB4-4962-991D-2290688EF1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366D5C4-A232-4FF2-9344-008B120440E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4D3E9A9-137C-47B1-985A-31B5A47ACDE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1A62D8E-9CFD-48EA-84D1-21A782307EA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D3C9D27-0116-4091-A78F-CAAA0480DF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639EBDB-A55C-4939-8BFF-3CB7541E5F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1DDD163-7208-4557-BD7B-7A4A737D45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BACA32-DF82-44A6-AFE8-58AA576524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F9CF2F3-2909-4970-AD41-D44B5790B5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A9EB721-4C67-46F0-A2A3-7C017E9E0C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9881E8E-25A4-4E23-8C54-F056E168F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ACB9550-BA8C-451E-9C31-24E514C66F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9A652D5-0457-4D10-A33C-F840E39A5E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1394D3D-0F15-4507-9EFE-DF6FB3011B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04230E-B8C6-4539-9F88-DEABAA18DF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8D41A3-6BF0-40EE-A683-98742313C7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351C2D3-7716-49A4-892A-7325F2DDC0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6303AEC-6312-4CC7-AA82-4CC42C2897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FECA3B-2AC8-4164-B470-BC9AF086F5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EB80527-6C1C-46B7-B65A-DFFEDF3A9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7E11DC-1F73-4B08-98D2-1C76D0A092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A66F44C-FEF1-4ECE-AF7E-D0476A3B8AE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AABC7E7-A2B6-474F-8B10-BE7A16C52A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040A1A5-08D4-4477-AAFA-BB2C279AEA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B2C3CE0-DB4D-406E-9BA9-6F8A5A5FF6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9ED1855-6CF2-429D-A75B-059AE5A80B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CDBD47-FE36-4F57-8C64-09C2DD1826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D381DB-8574-43A0-8A97-B08E64467F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FAC533-3239-4208-9E41-B83D9DC339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DCD9A8-A506-420E-9840-203DF3FB22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C65410-DDBD-4852-A8D7-D5F8A5FA21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219A379-E50F-483A-82CF-862F26839F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21560A3-B250-481A-87F0-463561CA50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261284-78AF-4D59-AFAC-6D1F19810B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66728B-898E-4524-9F28-CDA21A9E70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D336D5-CCAF-4921-8BEE-FE9C7E3F45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b4cdc5f07c543e1" Type="http://schemas.openxmlformats.org/officeDocument/2006/relationships/slideLayout" Target="../slideLayouts/slideLayout3.xml"/><Relationship Id="R0fe66ce72cec40f5" Type="http://schemas.openxmlformats.org/officeDocument/2006/relationships/slideLayout" Target="../slideLayouts/slideLayout2.xml"/><Relationship Id="R25387070a6af4e5a" Type="http://schemas.openxmlformats.org/officeDocument/2006/relationships/slideLayout" Target="../slideLayouts/slideLayout9.xml"/><Relationship Id="R2e50753c51a143e9" Type="http://schemas.openxmlformats.org/officeDocument/2006/relationships/slideLayout" Target="../slideLayouts/slideLayout7.xml"/><Relationship Id="R487045fcf54b48b0" Type="http://schemas.openxmlformats.org/officeDocument/2006/relationships/slideLayout" Target="../slideLayouts/slideLayout1.xml"/><Relationship Id="R5627f9864a5745ad" Type="http://schemas.openxmlformats.org/officeDocument/2006/relationships/theme" Target="theme/theme2.xml"/><Relationship Id="R84132ebf91164511" Type="http://schemas.openxmlformats.org/officeDocument/2006/relationships/slideLayout" Target="../slideLayouts/slideLayout10.xml"/><Relationship Id="R8618dab9d7b64885" Type="http://schemas.openxmlformats.org/officeDocument/2006/relationships/slideLayout" Target="../slideLayouts/slideLayout11.xml"/><Relationship Id="R89cc33ab792142ca" Type="http://schemas.openxmlformats.org/officeDocument/2006/relationships/slideLayout" Target="../slideLayouts/slideLayout5.xml"/><Relationship Id="Rb548b2db07774e25" Type="http://schemas.openxmlformats.org/officeDocument/2006/relationships/slideLayout" Target="../slideLayouts/slideLayout6.xml"/><Relationship Id="Rce55fe9b9390433a" Type="http://schemas.openxmlformats.org/officeDocument/2006/relationships/slideLayout" Target="../slideLayouts/slideLayout8.xml"/><Relationship Id="Rdb82c93a83ac4307" Type="http://schemas.openxmlformats.org/officeDocument/2006/relationships/slideLayout" Target="../slideLayouts/slideLayout4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5C365F3-ECA4-4862-951A-C17FB230F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B01A5B-655F-46AC-8EE6-76BF621AF0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818F5B5-0E71-4C6C-B65A-83118BF9E97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AD2960-EAD3-4B50-92C7-6F623B0062C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CB1D89-521E-41F7-A2CD-9D40BE69006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7045fcf54b48b0"/>
    <p:sldLayoutId xmlns:r="http://schemas.openxmlformats.org/officeDocument/2006/relationships" id="2147483650" r:id="R0fe66ce72cec40f5"/>
    <p:sldLayoutId xmlns:r="http://schemas.openxmlformats.org/officeDocument/2006/relationships" id="2147483651" r:id="R0b4cdc5f07c543e1"/>
    <p:sldLayoutId xmlns:r="http://schemas.openxmlformats.org/officeDocument/2006/relationships" id="2147483652" r:id="Rdb82c93a83ac4307"/>
    <p:sldLayoutId xmlns:r="http://schemas.openxmlformats.org/officeDocument/2006/relationships" id="2147483653" r:id="R89cc33ab792142ca"/>
    <p:sldLayoutId xmlns:r="http://schemas.openxmlformats.org/officeDocument/2006/relationships" id="2147483654" r:id="Rb548b2db07774e25"/>
    <p:sldLayoutId xmlns:r="http://schemas.openxmlformats.org/officeDocument/2006/relationships" id="2147483655" r:id="R2e50753c51a143e9"/>
    <p:sldLayoutId xmlns:r="http://schemas.openxmlformats.org/officeDocument/2006/relationships" id="2147483656" r:id="Rce55fe9b9390433a"/>
    <p:sldLayoutId xmlns:r="http://schemas.openxmlformats.org/officeDocument/2006/relationships" id="2147483657" r:id="R25387070a6af4e5a"/>
    <p:sldLayoutId xmlns:r="http://schemas.openxmlformats.org/officeDocument/2006/relationships" id="2147483658" r:id="R84132ebf91164511"/>
    <p:sldLayoutId xmlns:r="http://schemas.openxmlformats.org/officeDocument/2006/relationships" id="2147483659" r:id="R8618dab9d7b6488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b8be194ff2f44af" Type="http://schemas.openxmlformats.org/officeDocument/2006/relationships/image" Target="../media/image.jpeg"/><Relationship Id="R80909e9b43684150" Type="http://schemas.openxmlformats.org/officeDocument/2006/relationships/slideLayout" Target="../slideLayouts/slideLayout1.xml"/><Relationship Id="Rcd051551b32a483d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1f7c313e956d49e9" Type="http://schemas.openxmlformats.org/officeDocument/2006/relationships/image" Target="../media/image.jpeg"/><Relationship Id="R536c8a1aaad54e1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97cd8504ef34efc" Type="http://schemas.openxmlformats.org/officeDocument/2006/relationships/image" Target="../media/image.jpeg"/><Relationship Id="Re4a590dd6ac4486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ddd1481822847c1" Type="http://schemas.openxmlformats.org/officeDocument/2006/relationships/image" Target="../media/image.jpeg"/><Relationship Id="R6ac39d0172914cee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da93f23bc5dc4181" Type="http://schemas.openxmlformats.org/officeDocument/2006/relationships/image" Target="../media/image.jpeg"/><Relationship Id="Rf99d5f23df674ac8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df3aea58f16471d" Type="http://schemas.openxmlformats.org/officeDocument/2006/relationships/image" Target="../media/image.jpeg"/><Relationship Id="R9451807763fa435b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65f62126a3b49b2" Type="http://schemas.openxmlformats.org/officeDocument/2006/relationships/slideLayout" Target="../slideLayouts/slideLayout1.xml"/><Relationship Id="Rc1fe2a824e714668" Type="http://schemas.openxmlformats.org/officeDocument/2006/relationships/image" Target="../media/image.jpeg"/></Relationships>
</file>

<file path=ppt/slides/_rels/slide8.xml.rels><?xml version='1.0' encoding='UTF-8' standalone='yes'?>
<Relationships xmlns="http://schemas.openxmlformats.org/package/2006/relationships"><Relationship Id="R00f0a30c18194967" Type="http://schemas.openxmlformats.org/officeDocument/2006/relationships/image" Target="../media/image.jpeg"/><Relationship Id="R27891289985a4c70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79be7caa4b4d4835" Type="http://schemas.openxmlformats.org/officeDocument/2006/relationships/image" Target="../media/image.jpeg"/><Relationship Id="Rf9b78baf04c04769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565b6867a31545fa" Type="http://schemas.openxmlformats.org/officeDocument/2006/relationships/image" Target="../media/image.jpeg"/><Relationship Id="Rbba2db66d229462a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24f73ed3bce433d" Type="http://schemas.openxmlformats.org/officeDocument/2006/relationships/slideLayout" Target="../slideLayouts/slideLayout1.xml"/><Relationship Id="R48b7aa1433f2480b" Type="http://schemas.openxmlformats.org/officeDocument/2006/relationships/image" Target="../media/image.jpeg"/></Relationships>
</file>

<file path=ppt/slides/_rels/slide12.xml.rels><?xml version='1.0' encoding='UTF-8' standalone='yes'?>
<Relationships xmlns="http://schemas.openxmlformats.org/package/2006/relationships"><Relationship Id="R433b0971a02d44cc" Type="http://schemas.openxmlformats.org/officeDocument/2006/relationships/slideLayout" Target="../slideLayouts/slideLayout1.xml"/><Relationship Id="R787eea7690bc4e62" Type="http://schemas.openxmlformats.org/officeDocument/2006/relationships/image" Target="../media/image.jpeg"/></Relationships>
</file>

<file path=ppt/slides/_rels/slide13.xml.rels><?xml version='1.0' encoding='UTF-8' standalone='yes'?>
<Relationships xmlns="http://schemas.openxmlformats.org/package/2006/relationships"><Relationship Id="R05cfbd003abd4a56" Type="http://schemas.openxmlformats.org/officeDocument/2006/relationships/slideLayout" Target="../slideLayouts/slideLayout1.xml"/><Relationship Id="Rbc4f743627ce48f0" Type="http://schemas.openxmlformats.org/officeDocument/2006/relationships/image" Target="../media/image.jpeg"/></Relationships>
</file>

<file path=ppt/slides/_rels/slide14.xml.rels><?xml version='1.0' encoding='UTF-8' standalone='yes'?>
<Relationships xmlns="http://schemas.openxmlformats.org/package/2006/relationships"><Relationship Id="R2a697eb1792f4cff" Type="http://schemas.openxmlformats.org/officeDocument/2006/relationships/slideLayout" Target="../slideLayouts/slideLayout1.xml"/><Relationship Id="R6f1ae62243944f0a" Type="http://schemas.openxmlformats.org/officeDocument/2006/relationships/image" Target="../media/image.jpeg"/></Relationships>
</file>

<file path=ppt/slides/_rels/slide15.xml.rels><?xml version='1.0' encoding='UTF-8' standalone='yes'?>
<Relationships xmlns="http://schemas.openxmlformats.org/package/2006/relationships"><Relationship Id="R6fe8c91c13464d17" Type="http://schemas.openxmlformats.org/officeDocument/2006/relationships/slideLayout" Target="../slideLayouts/slideLayout1.xml"/><Relationship Id="Rb69c277b249a4712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20b9ef12efce4af0" Type="http://schemas.openxmlformats.org/officeDocument/2006/relationships/image" Target="../media/image.jpeg"/><Relationship Id="R4512b222dd4543a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e0eade0d607e412e" Type="http://schemas.openxmlformats.org/officeDocument/2006/relationships/slideLayout" Target="../slideLayouts/slideLayout1.xml"/><Relationship Id="Rf2f9f71e41604f04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d078b8103a7a4f7b" Type="http://schemas.openxmlformats.org/officeDocument/2006/relationships/slideLayout" Target="../slideLayouts/slideLayout1.xml"/><Relationship Id="Rf63cca8b02204dc2" Type="http://schemas.openxmlformats.org/officeDocument/2006/relationships/image" Target="../media/image.jpeg"/></Relationships>
</file>

<file path=ppt/slides/_rels/slide19.xml.rels><?xml version='1.0' encoding='UTF-8' standalone='yes'?>
<Relationships xmlns="http://schemas.openxmlformats.org/package/2006/relationships"><Relationship Id="R0fba1e826c9d41d6" Type="http://schemas.openxmlformats.org/officeDocument/2006/relationships/slideLayout" Target="../slideLayouts/slideLayout1.xml"/><Relationship Id="R281c277d4cf74d54" Type="http://schemas.openxmlformats.org/officeDocument/2006/relationships/image" Target="../media/image.jpeg"/></Relationships>
</file>

<file path=ppt/slides/_rels/slide20.xml.rels><?xml version='1.0' encoding='UTF-8' standalone='yes'?>
<Relationships xmlns="http://schemas.openxmlformats.org/package/2006/relationships"><Relationship Id="R7a80dab752b048f0" Type="http://schemas.openxmlformats.org/officeDocument/2006/relationships/image" Target="../media/image.jpeg"/><Relationship Id="Rc9028b0882164056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364bb35f0ed04d92" Type="http://schemas.openxmlformats.org/officeDocument/2006/relationships/image" Target="../media/image.jpeg"/><Relationship Id="Rdb06fcb7f6f94540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2aeaf2b556af466b" Type="http://schemas.openxmlformats.org/officeDocument/2006/relationships/image" Target="../media/image.jpeg"/><Relationship Id="Rc73997262429420a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62bfc12542924c30" Type="http://schemas.openxmlformats.org/officeDocument/2006/relationships/image" Target="../media/image.jpeg"/><Relationship Id="R7b6654aa8f234e0a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74d4c2c449de49a4" Type="http://schemas.openxmlformats.org/officeDocument/2006/relationships/slideLayout" Target="../slideLayouts/slideLayout1.xml"/><Relationship Id="Rc9429ee97a1a4c29" Type="http://schemas.openxmlformats.org/officeDocument/2006/relationships/image" Target="../media/image.jpeg"/></Relationships>
</file>

<file path=ppt/slides/_rels/slide25.xml.rels><?xml version='1.0' encoding='UTF-8' standalone='yes'?>
<Relationships xmlns="http://schemas.openxmlformats.org/package/2006/relationships"><Relationship Id="R57d5679751f04d9a" Type="http://schemas.openxmlformats.org/officeDocument/2006/relationships/image" Target="../media/image.jpeg"/><Relationship Id="Red834debecfc4a26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400bbe5ff7d24537" Type="http://schemas.openxmlformats.org/officeDocument/2006/relationships/image" Target="../media/image.jpeg"/><Relationship Id="R955db70f49114a1f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3de4bfc5c01c479c" Type="http://schemas.openxmlformats.org/officeDocument/2006/relationships/slideLayout" Target="../slideLayouts/slideLayout1.xml"/><Relationship Id="R853e4336024d40dc" Type="http://schemas.openxmlformats.org/officeDocument/2006/relationships/image" Target="../media/image.jpeg"/></Relationships>
</file>

<file path=ppt/slides/_rels/slide28.xml.rels><?xml version='1.0' encoding='UTF-8' standalone='yes'?>
<Relationships xmlns="http://schemas.openxmlformats.org/package/2006/relationships"><Relationship Id="R54a086815b334a13" Type="http://schemas.openxmlformats.org/officeDocument/2006/relationships/image" Target="../media/image.jpeg"/><Relationship Id="Re5aa76794347424a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2ddb974781940c1" Type="http://schemas.openxmlformats.org/officeDocument/2006/relationships/slideLayout" Target="../slideLayouts/slideLayout1.xml"/><Relationship Id="Ra373bbc2dc4f410c" Type="http://schemas.openxmlformats.org/officeDocument/2006/relationships/image" Target="../media/image.jpeg"/></Relationships>
</file>

<file path=ppt/slides/_rels/slide30.xml.rels><?xml version='1.0' encoding='UTF-8' standalone='yes'?>
<Relationships xmlns="http://schemas.openxmlformats.org/package/2006/relationships"><Relationship Id="R1414bc0fa839497d" Type="http://schemas.openxmlformats.org/officeDocument/2006/relationships/image" Target="../media/image.jpeg"/><Relationship Id="R52d8a38050564cb9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7f77644e375942b0" Type="http://schemas.openxmlformats.org/officeDocument/2006/relationships/slideLayout" Target="../slideLayouts/slideLayout1.xml"/><Relationship Id="Rf3690b8b2d754efc" Type="http://schemas.openxmlformats.org/officeDocument/2006/relationships/image" Target="../media/image.jpeg"/></Relationships>
</file>

<file path=ppt/slides/_rels/slide32.xml.rels><?xml version='1.0' encoding='UTF-8' standalone='yes'?>
<Relationships xmlns="http://schemas.openxmlformats.org/package/2006/relationships"><Relationship Id="R06fce9cd8e97459a" Type="http://schemas.openxmlformats.org/officeDocument/2006/relationships/slideLayout" Target="../slideLayouts/slideLayout1.xml"/><Relationship Id="R794a73bd91b048cb" Type="http://schemas.openxmlformats.org/officeDocument/2006/relationships/image" Target="../media/image.jpeg"/></Relationships>
</file>

<file path=ppt/slides/_rels/slide33.xml.rels><?xml version='1.0' encoding='UTF-8' standalone='yes'?>
<Relationships xmlns="http://schemas.openxmlformats.org/package/2006/relationships"><Relationship Id="R586cf0e2d19d4fb8" Type="http://schemas.openxmlformats.org/officeDocument/2006/relationships/image" Target="../media/image.jpeg"/><Relationship Id="R62662e74293048c3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2c7b2754953348f1" Type="http://schemas.openxmlformats.org/officeDocument/2006/relationships/slideLayout" Target="../slideLayouts/slideLayout1.xml"/><Relationship Id="R62779b69bfe64513" Type="http://schemas.openxmlformats.org/officeDocument/2006/relationships/image" Target="../media/image.jpeg"/></Relationships>
</file>

<file path=ppt/slides/_rels/slide35.xml.rels><?xml version='1.0' encoding='UTF-8' standalone='yes'?>
<Relationships xmlns="http://schemas.openxmlformats.org/package/2006/relationships"><Relationship Id="R310ceb6216ff48d5" Type="http://schemas.openxmlformats.org/officeDocument/2006/relationships/slideLayout" Target="../slideLayouts/slideLayout1.xml"/><Relationship Id="R7b9ac3291f1d4b8f" Type="http://schemas.openxmlformats.org/officeDocument/2006/relationships/image" Target="../media/image.jpeg"/></Relationships>
</file>

<file path=ppt/slides/_rels/slide36.xml.rels><?xml version='1.0' encoding='UTF-8' standalone='yes'?>
<Relationships xmlns="http://schemas.openxmlformats.org/package/2006/relationships"><Relationship Id="R029d7f9714c349e4" Type="http://schemas.openxmlformats.org/officeDocument/2006/relationships/hyperlink" Target="https://openstax.org/books/university-physics-volume-2/pages/10-3-kirchhoffs-rules" TargetMode="External"/><Relationship Id="R74a4f40f608f4b5a" Type="http://schemas.openxmlformats.org/officeDocument/2006/relationships/slideLayout" Target="../slideLayouts/slideLayout1.xml"/><Relationship Id="Rc4487ff93e4b4544" Type="http://schemas.openxmlformats.org/officeDocument/2006/relationships/image" Target="../media/image.jpe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be194ff2f44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51551b32a483d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CAACBA9F-9339-4D3B-B782-B9EB4C39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C9061C67-CC71-425F-873C-B9C00D03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Effekt och energi</a:t>
            </a:r>
          </a:p>
        </p:txBody>
      </p:sp>
      <p:sp>
        <p:nvSpPr>
          <p:cNvPr id="13" name="Verkningsgrad, ledarresistans och spänningsfall">
            <a:extLst xmlns:a="http://schemas.openxmlformats.org/drawingml/2006/main">
              <a:ext uri="{FF2B5EF4-FFF2-40B4-BE49-F238E27FC236}">
                <a16:creationId xmlns:a16="http://schemas.microsoft.com/office/drawing/2014/main" id="{85A6F370-A5EC-4CFC-AD16-9C5D9F68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Verkningsgrad, ledarresistans och spänningsfall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0C410B16-DD36-4A93-8FE0-B9EB5A78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c313e956d49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84C471A8-CE44-47BA-96F1-D75825EE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Beräkna effekt och energi med rätt enheter.">
            <a:extLst xmlns:a="http://schemas.openxmlformats.org/drawingml/2006/main">
              <a:ext uri="{FF2B5EF4-FFF2-40B4-BE49-F238E27FC236}">
                <a16:creationId xmlns:a16="http://schemas.microsoft.com/office/drawing/2014/main" id="{6123838A-5A40-4000-83E2-BA2BC770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effekt och energi med rätt enheter.</a:t>
            </a:r>
          </a:p>
        </p:txBody>
      </p:sp>
      <p:sp>
        <p:nvSpPr>
          <p:cNvPr id="4" name="Bedöma förluster och spänningsfall i en DC-kabel.">
            <a:extLst xmlns:a="http://schemas.openxmlformats.org/drawingml/2006/main">
              <a:ext uri="{FF2B5EF4-FFF2-40B4-BE49-F238E27FC236}">
                <a16:creationId xmlns:a16="http://schemas.microsoft.com/office/drawing/2014/main" id="{4472B774-FACE-47A6-BEE5-9B608724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Bedöma förluster och spänningsfall i en DC-kabel.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141CE046-033C-4FB7-ADFE-9159A783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En 24 V-lampa drar 2 A. Vad beskriver 48 W, och vad beskriver 48 ">
            <a:extLst xmlns:a="http://schemas.openxmlformats.org/drawingml/2006/main">
              <a:ext uri="{FF2B5EF4-FFF2-40B4-BE49-F238E27FC236}">
                <a16:creationId xmlns:a16="http://schemas.microsoft.com/office/drawing/2014/main" id="{B927E3D7-E7C4-44A1-9809-DF2C1824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24 V-lampa drar 2 A. Vad beskriver 48 W, och vad beskriver 48 Wh?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B0E2DD28-BA98-4277-B6ED-38C2A759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cd8504ef34e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4539E5E8-C2C4-441C-89A0-CEFF85E0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2C3A80C7-3B6A-4BA2-9FE1-01367F1E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258431A5-11AC-43CA-84E0-D81CA389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1, 2, 4, 5 min återkoppling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E4232193-B941-4017-8F17-1567137F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E32C37F5-72C3-49CA-B731-37372107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6, 7, 8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CA1DE207-41E4-47F0-BB8F-9E2FE54E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110–135 min. Paus tillkommer.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24EBD96E-0D9E-4570-9AB3-C0635FD3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d1481822847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ffekt, energi och laddning">
            <a:extLst xmlns:a="http://schemas.openxmlformats.org/drawingml/2006/main">
              <a:ext uri="{FF2B5EF4-FFF2-40B4-BE49-F238E27FC236}">
                <a16:creationId xmlns:a16="http://schemas.microsoft.com/office/drawing/2014/main" id="{903BC806-5319-4562-B095-07A75309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Effekt, energi och laddning</a:t>
            </a:r>
          </a:p>
        </p:txBody>
      </p:sp>
      <p:sp>
        <p:nvSpPr>
          <p:cNvPr id="10" name="Effekt P i W beskriver hur snabbt energi omvandlas.">
            <a:extLst xmlns:a="http://schemas.openxmlformats.org/drawingml/2006/main">
              <a:ext uri="{FF2B5EF4-FFF2-40B4-BE49-F238E27FC236}">
                <a16:creationId xmlns:a16="http://schemas.microsoft.com/office/drawing/2014/main" id="{E0BFCC2A-0B98-4F14-A559-15A1676A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 P i W beskriver hur snabbt energi omvandlas.</a:t>
            </a:r>
          </a:p>
        </p:txBody>
      </p:sp>
      <p:sp>
        <p:nvSpPr>
          <p:cNvPr id="11" name="Energi E i Wh eller kWh beskriver mängden över tid.">
            <a:extLst xmlns:a="http://schemas.openxmlformats.org/drawingml/2006/main">
              <a:ext uri="{FF2B5EF4-FFF2-40B4-BE49-F238E27FC236}">
                <a16:creationId xmlns:a16="http://schemas.microsoft.com/office/drawing/2014/main" id="{C00FA3B4-DC6A-48C3-91F5-0705FD25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Energi E i Wh eller kWh beskriver mängden över tid.</a:t>
            </a:r>
          </a:p>
        </p:txBody>
      </p:sp>
      <p:sp>
        <p:nvSpPr>
          <p:cNvPr id="12" name="Laddning Q i Ah beskriver ström gånger tid.">
            <a:extLst xmlns:a="http://schemas.openxmlformats.org/drawingml/2006/main">
              <a:ext uri="{FF2B5EF4-FFF2-40B4-BE49-F238E27FC236}">
                <a16:creationId xmlns:a16="http://schemas.microsoft.com/office/drawing/2014/main" id="{A9BF3046-133F-4285-9153-6341C186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Laddning Q i Ah beskriver ström gånger tid.</a:t>
            </a:r>
          </a:p>
        </p:txBody>
      </p:sp>
      <p:sp>
        <p:nvSpPr>
          <p:cNvPr id="13" name="Verkningsgrad η kopplar elektrisk inmatning till nyttig uteffekt.">
            <a:extLst xmlns:a="http://schemas.openxmlformats.org/drawingml/2006/main">
              <a:ext uri="{FF2B5EF4-FFF2-40B4-BE49-F238E27FC236}">
                <a16:creationId xmlns:a16="http://schemas.microsoft.com/office/drawing/2014/main" id="{3EF3D578-7923-4FA6-B886-AD83DDBB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Verkningsgrad η kopplar elektrisk inmatning till nyttig uteffekt.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21C55C79-F26A-4D51-B494-702AC692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3f23bc5dc4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0505112F-8C5E-4B9D-B147-CC08926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77DD8C67-D891-437B-B0B0-43D413DA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96B30310-689A-4D45-A833-4F8062CE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27C4AF5D-4546-4A57-94CD-7E602968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174CC2CD-9F3E-4C17-B3F1-E919AE2E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4B8FBB7A-3DC6-4446-A045-4BF06C7E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097B28EE-BA96-42A6-BFE3-A48D4A68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FB00803C-BAD9-4AAF-8170-2B40888F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3aea58f1647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Elektrisk effekt">
            <a:extLst xmlns:a="http://schemas.openxmlformats.org/drawingml/2006/main">
              <a:ext uri="{FF2B5EF4-FFF2-40B4-BE49-F238E27FC236}">
                <a16:creationId xmlns:a16="http://schemas.microsoft.com/office/drawing/2014/main" id="{B87ECB5C-B007-462C-B67B-7EDAC251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Elektrisk effekt</a:t>
            </a:r>
          </a:p>
        </p:txBody>
      </p:sp>
      <p:sp>
        <p:nvSpPr>
          <p:cNvPr id="3" name="Effekt anger hur snabbt energi omvandlas.&#10;För likström använder v">
            <a:extLst xmlns:a="http://schemas.openxmlformats.org/drawingml/2006/main">
              <a:ext uri="{FF2B5EF4-FFF2-40B4-BE49-F238E27FC236}">
                <a16:creationId xmlns:a16="http://schemas.microsoft.com/office/drawing/2014/main" id="{D78186C0-E0BE-4F39-A96D-72C93C93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 anger hur snabbt energi omvandlas.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 likström använder vi spänning och ström.</a:t>
            </a:r>
          </a:p>
        </p:txBody>
      </p:sp>
      <p:sp>
        <p:nvSpPr>
          <p:cNvPr id="4" name="P = U · I">
            <a:extLst xmlns:a="http://schemas.openxmlformats.org/drawingml/2006/main">
              <a:ext uri="{FF2B5EF4-FFF2-40B4-BE49-F238E27FC236}">
                <a16:creationId xmlns:a16="http://schemas.microsoft.com/office/drawing/2014/main" id="{F20D5B54-43B0-4B06-9BFD-63A2A58C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 = U · I</a:t>
            </a:r>
          </a:p>
        </p:txBody>
      </p:sp>
      <p:sp>
        <p:nvSpPr>
          <p:cNvPr id="5" name="Exempel: 24 V · 2 A = 48 W.&#10;För en resistor gäller även P = I²R =">
            <a:extLst xmlns:a="http://schemas.openxmlformats.org/drawingml/2006/main">
              <a:ext uri="{FF2B5EF4-FFF2-40B4-BE49-F238E27FC236}">
                <a16:creationId xmlns:a16="http://schemas.microsoft.com/office/drawing/2014/main" id="{293D4A1E-6952-4DCF-9B07-DC6F844E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24 V · 2 A = 48 W.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 en resistor gäller även P = I²R = U²/R.</a:t>
            </a:r>
          </a:p>
        </p:txBody>
      </p:sp>
      <p:sp>
        <p:nvSpPr>
          <p:cNvPr id="6" name="4">
            <a:extLst xmlns:a="http://schemas.openxmlformats.org/drawingml/2006/main">
              <a:ext uri="{FF2B5EF4-FFF2-40B4-BE49-F238E27FC236}">
                <a16:creationId xmlns:a16="http://schemas.microsoft.com/office/drawing/2014/main" id="{6176A72A-759F-469F-9409-C2A4E6C4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e2a824e7146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Energi under en viss tid">
            <a:extLst xmlns:a="http://schemas.openxmlformats.org/drawingml/2006/main">
              <a:ext uri="{FF2B5EF4-FFF2-40B4-BE49-F238E27FC236}">
                <a16:creationId xmlns:a16="http://schemas.microsoft.com/office/drawing/2014/main" id="{6232E7B4-4608-4904-ABCC-3EC064B6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Energi under en viss tid</a:t>
            </a:r>
          </a:p>
        </p:txBody>
      </p:sp>
      <p:sp>
        <p:nvSpPr>
          <p:cNvPr id="3" name="Konstant effekt ger energi som är proportionell mot tiden.&#10;Wh och">
            <a:extLst xmlns:a="http://schemas.openxmlformats.org/drawingml/2006/main">
              <a:ext uri="{FF2B5EF4-FFF2-40B4-BE49-F238E27FC236}">
                <a16:creationId xmlns:a16="http://schemas.microsoft.com/office/drawing/2014/main" id="{8C76C7E7-0EB6-4512-A2C4-790CDA98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Konstant effekt ger energi som är proportionell mot tiden.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Wh och kWh är energienheter.</a:t>
            </a:r>
          </a:p>
        </p:txBody>
      </p:sp>
      <p:sp>
        <p:nvSpPr>
          <p:cNvPr id="4" name="E = P · t">
            <a:extLst xmlns:a="http://schemas.openxmlformats.org/drawingml/2006/main">
              <a:ext uri="{FF2B5EF4-FFF2-40B4-BE49-F238E27FC236}">
                <a16:creationId xmlns:a16="http://schemas.microsoft.com/office/drawing/2014/main" id="{679C1281-3670-46D3-ABC2-44F91771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 = P · t</a:t>
            </a:r>
          </a:p>
        </p:txBody>
      </p:sp>
      <p:sp>
        <p:nvSpPr>
          <p:cNvPr id="5" name="0,48 kW under 2,5 h ger 1,20 kWh.&#10;1 kWh = 3,6 MJ.">
            <a:extLst xmlns:a="http://schemas.openxmlformats.org/drawingml/2006/main">
              <a:ext uri="{FF2B5EF4-FFF2-40B4-BE49-F238E27FC236}">
                <a16:creationId xmlns:a16="http://schemas.microsoft.com/office/drawing/2014/main" id="{38E9A9A4-1281-4640-B1B1-6360EC32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0,48 kW under 2,5 h ger 1,20 kWh.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 kWh = 3,6 MJ.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B1EF4D19-1A32-44CD-8562-FE33DEB8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0a30c18194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Verkningsgrad">
            <a:extLst xmlns:a="http://schemas.openxmlformats.org/drawingml/2006/main">
              <a:ext uri="{FF2B5EF4-FFF2-40B4-BE49-F238E27FC236}">
                <a16:creationId xmlns:a16="http://schemas.microsoft.com/office/drawing/2014/main" id="{39BBD80F-96CC-4FE4-BB3B-5AB65DB3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Verkningsgrad</a:t>
            </a:r>
          </a:p>
        </p:txBody>
      </p:sp>
      <p:sp>
        <p:nvSpPr>
          <p:cNvPr id="3" name="Nyttig uteffekt är mindre än tillförd effekt när förluster finns.">
            <a:extLst xmlns:a="http://schemas.openxmlformats.org/drawingml/2006/main">
              <a:ext uri="{FF2B5EF4-FFF2-40B4-BE49-F238E27FC236}">
                <a16:creationId xmlns:a16="http://schemas.microsoft.com/office/drawing/2014/main" id="{2229CBC8-5427-4192-8C2A-132C965E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Nyttig uteffekt är mindre än tillförd effekt när förluster finns.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Ange alltid vilken sida av maskinen effekten avser.</a:t>
            </a:r>
          </a:p>
        </p:txBody>
      </p:sp>
      <p:sp>
        <p:nvSpPr>
          <p:cNvPr id="4" name="η = Pᵤₜ / Pᵢₙ">
            <a:extLst xmlns:a="http://schemas.openxmlformats.org/drawingml/2006/main">
              <a:ext uri="{FF2B5EF4-FFF2-40B4-BE49-F238E27FC236}">
                <a16:creationId xmlns:a16="http://schemas.microsoft.com/office/drawing/2014/main" id="{12E5DC8E-9831-4F4E-B4D3-B8DDE3AE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η = Pᵤₜ / P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</a:p>
        </p:txBody>
      </p:sp>
      <p:sp>
        <p:nvSpPr>
          <p:cNvPr id="5" name="En motor ger 800 W och tar 1 000 W.&#10;η = 0,80 = 80 %, förlusten är">
            <a:extLst xmlns:a="http://schemas.openxmlformats.org/drawingml/2006/main">
              <a:ext uri="{FF2B5EF4-FFF2-40B4-BE49-F238E27FC236}">
                <a16:creationId xmlns:a16="http://schemas.microsoft.com/office/drawing/2014/main" id="{80411B8C-F411-4168-BB33-C70F51AE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motor ger 800 W och tar 1 000 W.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η = 0,80 = 80 %, förlusten är 200 W.</a:t>
            </a:r>
          </a:p>
        </p:txBody>
      </p:sp>
      <p:sp>
        <p:nvSpPr>
          <p:cNvPr id="6" name="6">
            <a:extLst xmlns:a="http://schemas.openxmlformats.org/drawingml/2006/main">
              <a:ext uri="{FF2B5EF4-FFF2-40B4-BE49-F238E27FC236}">
                <a16:creationId xmlns:a16="http://schemas.microsoft.com/office/drawing/2014/main" id="{578A0536-F39B-4C4F-89E0-A805D526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e7caa4b4d48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motor och energi">
            <a:extLst xmlns:a="http://schemas.openxmlformats.org/drawingml/2006/main">
              <a:ext uri="{FF2B5EF4-FFF2-40B4-BE49-F238E27FC236}">
                <a16:creationId xmlns:a16="http://schemas.microsoft.com/office/drawing/2014/main" id="{95AE6D12-5F4E-454E-870A-C0E109FF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motor och energi</a:t>
            </a:r>
          </a:p>
        </p:txBody>
      </p:sp>
      <p:sp>
        <p:nvSpPr>
          <p:cNvPr id="10" name="En motor ger 240 W vid η = 60 % i 30 min. Sök inmatad energi. Kon">
            <a:extLst xmlns:a="http://schemas.openxmlformats.org/drawingml/2006/main">
              <a:ext uri="{FF2B5EF4-FFF2-40B4-BE49-F238E27FC236}">
                <a16:creationId xmlns:a16="http://schemas.microsoft.com/office/drawing/2014/main" id="{00826F15-39A5-4FD7-B3F5-89B43F4E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motor ger 240 W vid η = 60 % i 30 min. Sök inmatad energi. Konstant drift antas.</a:t>
            </a:r>
          </a:p>
        </p:txBody>
      </p:sp>
      <p:sp>
        <p:nvSpPr>
          <p:cNvPr id="11" name="Pᵢₙ = Pᵤₜ/η     E = Pᵢₙt">
            <a:extLst xmlns:a="http://schemas.openxmlformats.org/drawingml/2006/main">
              <a:ext uri="{FF2B5EF4-FFF2-40B4-BE49-F238E27FC236}">
                <a16:creationId xmlns:a16="http://schemas.microsoft.com/office/drawing/2014/main" id="{20B2CE8A-7127-4675-81BF-A9D50506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3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Pᵤₜ/η     E = Pᵢₙt</a:t>
            </a:r>
          </a:p>
        </p:txBody>
      </p:sp>
      <p:sp>
        <p:nvSpPr>
          <p:cNvPr id="12" name="1. η = 0,60 och t = 30/60 = 0,50 h.&#10;2. Pᵢₙ = 240/0,60 = 400 W = 0">
            <a:extLst xmlns:a="http://schemas.openxmlformats.org/drawingml/2006/main">
              <a:ext uri="{FF2B5EF4-FFF2-40B4-BE49-F238E27FC236}">
                <a16:creationId xmlns:a16="http://schemas.microsoft.com/office/drawing/2014/main" id="{08B96E7A-D32D-4FF7-AF66-C825A15B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η = 0,60 och t = 30/60 = 0,50 h.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P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240/0,60 = 400 W = 0,400 kW.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E = 0,400 · 0,50 = 0,200 kWh.</a:t>
            </a:r>
          </a:p>
        </p:txBody>
      </p:sp>
      <p:sp>
        <p:nvSpPr>
          <p:cNvPr id="13" name="Kontroll: inmatningen är större än uteffekten. 200 Wh är energin ">
            <a:extLst xmlns:a="http://schemas.openxmlformats.org/drawingml/2006/main">
              <a:ext uri="{FF2B5EF4-FFF2-40B4-BE49-F238E27FC236}">
                <a16:creationId xmlns:a16="http://schemas.microsoft.com/office/drawing/2014/main" id="{6F0FF4BF-5DE4-4BEA-97BA-CAD735D9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inmatningen är större än uteffekten. 200 Wh är energin under en halvtimme.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997A1ECB-94E4-4A08-843F-8FD8F86E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b6867a31545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2D6542C4-52B3-4256-AC33-C8CBAA81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</a:t>
            </a:r>
          </a:p>
        </p:txBody>
      </p:sp>
      <p:sp>
        <p:nvSpPr>
          <p:cNvPr id="10" name="P = U · I">
            <a:extLst xmlns:a="http://schemas.openxmlformats.org/drawingml/2006/main">
              <a:ext uri="{FF2B5EF4-FFF2-40B4-BE49-F238E27FC236}">
                <a16:creationId xmlns:a16="http://schemas.microsoft.com/office/drawing/2014/main" id="{864FD26D-9D55-41DD-837A-509C5FB7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 = U · I</a:t>
            </a:r>
          </a:p>
        </p:txBody>
      </p:sp>
      <p:sp>
        <p:nvSpPr>
          <p:cNvPr id="11" name="P är elektrisk effekt i W, U spänning i V och I ström i A.">
            <a:extLst xmlns:a="http://schemas.openxmlformats.org/drawingml/2006/main">
              <a:ext uri="{FF2B5EF4-FFF2-40B4-BE49-F238E27FC236}">
                <a16:creationId xmlns:a16="http://schemas.microsoft.com/office/drawing/2014/main" id="{24772DB4-88D9-406D-A362-38D313B9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 är elektrisk effekt i W, U spänning i V och I ström i A.</a:t>
            </a:r>
          </a:p>
        </p:txBody>
      </p:sp>
      <p:sp>
        <p:nvSpPr>
          <p:cNvPr id="12" name="Förutsättningar: Likström med konstant 24 V och 3,0 A. Tillförd e">
            <a:extLst xmlns:a="http://schemas.openxmlformats.org/drawingml/2006/main">
              <a:ext uri="{FF2B5EF4-FFF2-40B4-BE49-F238E27FC236}">
                <a16:creationId xmlns:a16="http://schemas.microsoft.com/office/drawing/2014/main" id="{F6C3457E-A1D5-4D72-8134-B7C339BF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Likström med konstant 24 V och 3,0 A. Tillförd effekt är den elektriska effekt pumpen tar emot.</a:t>
            </a:r>
          </a:p>
        </p:txBody>
      </p:sp>
      <p:sp>
        <p:nvSpPr>
          <p:cNvPr id="13" name="Arbetsgång: Multiplicera spänning och ström. Kontrollera att enhe">
            <a:extLst xmlns:a="http://schemas.openxmlformats.org/drawingml/2006/main">
              <a:ext uri="{FF2B5EF4-FFF2-40B4-BE49-F238E27FC236}">
                <a16:creationId xmlns:a16="http://schemas.microsoft.com/office/drawing/2014/main" id="{2361C08C-BBEE-49F1-BD86-3E5F9286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Multiplicera spänningen med strömmen. Kontrollera att enheten blir V · A = W.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6D1E743A-8F66-45AC-8671-0301E4F2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7aa1433f248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E98C6CAB-5AB2-45D5-912C-3A297B98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</a:t>
            </a:r>
          </a:p>
        </p:txBody>
      </p:sp>
      <p:sp>
        <p:nvSpPr>
          <p:cNvPr id="3" name="Pumpens effekt">
            <a:extLst xmlns:a="http://schemas.openxmlformats.org/drawingml/2006/main">
              <a:ext uri="{FF2B5EF4-FFF2-40B4-BE49-F238E27FC236}">
                <a16:creationId xmlns:a16="http://schemas.microsoft.com/office/drawing/2014/main" id="{569BAA80-FB68-4A93-AE24-7D52D9F9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Pumpens effekt</a:t>
            </a:r>
          </a:p>
        </p:txBody>
      </p:sp>
      <p:sp>
        <p:nvSpPr>
          <p:cNvPr id="4" name="En DC-pump tar 3,0 A vid 24 V. Beräkna tillförd elektrisk effekt.">
            <a:extLst xmlns:a="http://schemas.openxmlformats.org/drawingml/2006/main">
              <a:ext uri="{FF2B5EF4-FFF2-40B4-BE49-F238E27FC236}">
                <a16:creationId xmlns:a16="http://schemas.microsoft.com/office/drawing/2014/main" id="{C7419A0A-D469-49CC-9AC6-057F2D78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DC-pump tar 3,0 A vid 24 V. Beräkna tillförd elektrisk effekt.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5B6967B7-0D21-4EFB-BA45-114DEEC0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274C819C-203F-4C43-82DE-EB5389A9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eea7690bc4e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726551CC-CD6B-4347-8A70-76D574EC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</a:t>
            </a:r>
          </a:p>
        </p:txBody>
      </p:sp>
      <p:sp>
        <p:nvSpPr>
          <p:cNvPr id="10" name="E = P · t     t[h] = t[min]/60">
            <a:extLst xmlns:a="http://schemas.openxmlformats.org/drawingml/2006/main">
              <a:ext uri="{FF2B5EF4-FFF2-40B4-BE49-F238E27FC236}">
                <a16:creationId xmlns:a16="http://schemas.microsoft.com/office/drawing/2014/main" id="{4A5E33BD-05F7-465E-8E5F-B7A5CD3A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 = P · t; t[h] = t[min]/60</a:t>
            </a:r>
          </a:p>
        </p:txBody>
      </p:sp>
      <p:sp>
        <p:nvSpPr>
          <p:cNvPr id="11" name="E är energi i kWh när P anges i kW och t i timmar.">
            <a:extLst xmlns:a="http://schemas.openxmlformats.org/drawingml/2006/main">
              <a:ext uri="{FF2B5EF4-FFF2-40B4-BE49-F238E27FC236}">
                <a16:creationId xmlns:a16="http://schemas.microsoft.com/office/drawing/2014/main" id="{255DDC64-E014-4A64-AB09-366DF4C1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 är energi i kWh när P anges i kW och t i timmar.</a:t>
            </a:r>
          </a:p>
        </p:txBody>
      </p:sp>
      <p:sp>
        <p:nvSpPr>
          <p:cNvPr id="12" name="Förutsättningar: Effekten 1,5 kW är konstant under alla 40 minute">
            <a:extLst xmlns:a="http://schemas.openxmlformats.org/drawingml/2006/main">
              <a:ext uri="{FF2B5EF4-FFF2-40B4-BE49-F238E27FC236}">
                <a16:creationId xmlns:a16="http://schemas.microsoft.com/office/drawing/2014/main" id="{C83FE5EC-C72C-4D91-B287-1972E4E3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Effekten är 1,5 kW under hela tiden.</a:t>
            </a:r>
          </a:p>
        </p:txBody>
      </p:sp>
      <p:sp>
        <p:nvSpPr>
          <p:cNvPr id="13" name="Arbetsgång: Omvandla tiden till timmar först. Multiplicera sedan ">
            <a:extLst xmlns:a="http://schemas.openxmlformats.org/drawingml/2006/main">
              <a:ext uri="{FF2B5EF4-FFF2-40B4-BE49-F238E27FC236}">
                <a16:creationId xmlns:a16="http://schemas.microsoft.com/office/drawing/2014/main" id="{69493E34-38D6-45FE-897B-BABF91F3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Gör först om tiden till timmar och multiplicera sedan med effekten.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5CB17D43-AFF6-4457-837D-1BFEE8B8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f743627ce48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7BB5E403-89B2-4861-BE32-04BB668F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</a:t>
            </a:r>
          </a:p>
        </p:txBody>
      </p:sp>
      <p:sp>
        <p:nvSpPr>
          <p:cNvPr id="3" name="Värmarens energi">
            <a:extLst xmlns:a="http://schemas.openxmlformats.org/drawingml/2006/main">
              <a:ext uri="{FF2B5EF4-FFF2-40B4-BE49-F238E27FC236}">
                <a16:creationId xmlns:a16="http://schemas.microsoft.com/office/drawing/2014/main" id="{6575DDCF-776E-47BD-8786-C73CFFD8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Värmarens energi</a:t>
            </a:r>
          </a:p>
        </p:txBody>
      </p:sp>
      <p:sp>
        <p:nvSpPr>
          <p:cNvPr id="4" name="En värmare på 1,5 kW går i 40 minuter. Beräkna energin i kWh.">
            <a:extLst xmlns:a="http://schemas.openxmlformats.org/drawingml/2006/main">
              <a:ext uri="{FF2B5EF4-FFF2-40B4-BE49-F238E27FC236}">
                <a16:creationId xmlns:a16="http://schemas.microsoft.com/office/drawing/2014/main" id="{B3540472-C3D3-4B27-866E-30837ED8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värmare på 1,5 kW går i 40 minuter. Beräkna energin i kWh.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61956000-98E2-4943-AE8B-DD2AB6F4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72ED2F48-6116-437D-85D4-A4CC689C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ae6224394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AFD1E17C-0B51-4BC8-8175-6E8F8071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</a:t>
            </a:r>
          </a:p>
        </p:txBody>
      </p:sp>
      <p:sp>
        <p:nvSpPr>
          <p:cNvPr id="10" name="Etotal = E₁ + E₂     Egrupp = antal · P · t">
            <a:extLst xmlns:a="http://schemas.openxmlformats.org/drawingml/2006/main">
              <a:ext uri="{FF2B5EF4-FFF2-40B4-BE49-F238E27FC236}">
                <a16:creationId xmlns:a16="http://schemas.microsoft.com/office/drawing/2014/main" id="{7FF8FD9F-D5D4-4253-BA86-B1E40BEC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Etotal = E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E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; Egrupp = antal · P · t</a:t>
            </a:r>
          </a:p>
        </p:txBody>
      </p:sp>
      <p:sp>
        <p:nvSpPr>
          <p:cNvPr id="11" name="Effekten per lampa anges i W. W · h ger Wh. 1 kWh = 1 000 Wh.">
            <a:extLst xmlns:a="http://schemas.openxmlformats.org/drawingml/2006/main">
              <a:ext uri="{FF2B5EF4-FFF2-40B4-BE49-F238E27FC236}">
                <a16:creationId xmlns:a16="http://schemas.microsoft.com/office/drawing/2014/main" id="{36BDCBF9-34C0-4C8E-A2D1-ADABB927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Effekten per lampa anges i W. W · h ger Wh. 1 kWh = 1 000 Wh.</a:t>
            </a:r>
          </a:p>
        </p:txBody>
      </p:sp>
      <p:sp>
        <p:nvSpPr>
          <p:cNvPr id="12" name="Förutsättningar: Alla lampor drar angiven effekt under respektive">
            <a:extLst xmlns:a="http://schemas.openxmlformats.org/drawingml/2006/main">
              <a:ext uri="{FF2B5EF4-FFF2-40B4-BE49-F238E27FC236}">
                <a16:creationId xmlns:a16="http://schemas.microsoft.com/office/drawing/2014/main" id="{2581827B-065F-4547-BD8A-512145E4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Varje lampa drar sin märkeffekt under hela sin drifttid. Det finns två 60 W-lampor.</a:t>
            </a:r>
          </a:p>
        </p:txBody>
      </p:sp>
      <p:sp>
        <p:nvSpPr>
          <p:cNvPr id="13" name="Arbetsgång: Beräkna varje grupps energi. Summera i Wh och divider">
            <a:extLst xmlns:a="http://schemas.openxmlformats.org/drawingml/2006/main">
              <a:ext uri="{FF2B5EF4-FFF2-40B4-BE49-F238E27FC236}">
                <a16:creationId xmlns:a16="http://schemas.microsoft.com/office/drawing/2014/main" id="{650A81AA-98DC-440C-8306-A7688CEB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energin för varje grupp, lägg ihop i Wh och dela med 1 000 för att få kWh.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CCB5A18F-CACF-4B5F-83D8-4A8909B7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c277b249a47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58144495-8C54-4059-9D03-1484EE00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</a:t>
            </a:r>
          </a:p>
        </p:txBody>
      </p:sp>
      <p:sp>
        <p:nvSpPr>
          <p:cNvPr id="3" name="Tre laster">
            <a:extLst xmlns:a="http://schemas.openxmlformats.org/drawingml/2006/main">
              <a:ext uri="{FF2B5EF4-FFF2-40B4-BE49-F238E27FC236}">
                <a16:creationId xmlns:a16="http://schemas.microsoft.com/office/drawing/2014/main" id="{74AD7C6B-240E-4902-A17D-41DAA245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Tre laster</a:t>
            </a:r>
          </a:p>
        </p:txBody>
      </p:sp>
      <p:sp>
        <p:nvSpPr>
          <p:cNvPr id="4" name="En 40 W-lampa går i 5 h och två 60 W-lampor går i 3 h. Beräkna to">
            <a:extLst xmlns:a="http://schemas.openxmlformats.org/drawingml/2006/main">
              <a:ext uri="{FF2B5EF4-FFF2-40B4-BE49-F238E27FC236}">
                <a16:creationId xmlns:a16="http://schemas.microsoft.com/office/drawing/2014/main" id="{EAE9697D-D760-4E72-A064-2BA937D5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40 W-lampa går i 5 h och två 60 W-lampor går i 3 h. Beräkna total energi.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37E7B507-1B63-4BAD-8028-1B98EB76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F9D7A7DD-C41E-45DE-8EF6-9EAE2ADB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9ef12efce4a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D527DA03-3141-485D-8130-F387A897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4</a:t>
            </a:r>
          </a:p>
        </p:txBody>
      </p:sp>
      <p:sp>
        <p:nvSpPr>
          <p:cNvPr id="10" name="Pᵢₙ = Pᵤₜ/η     Pförlust = Pᵢₙ − Pᵤₜ">
            <a:extLst xmlns:a="http://schemas.openxmlformats.org/drawingml/2006/main">
              <a:ext uri="{FF2B5EF4-FFF2-40B4-BE49-F238E27FC236}">
                <a16:creationId xmlns:a16="http://schemas.microsoft.com/office/drawing/2014/main" id="{450F5E8D-06D9-4797-9031-723D7AB3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/η; 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förlust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</a:t>
            </a:r>
          </a:p>
        </p:txBody>
      </p:sp>
      <p:sp>
        <p:nvSpPr>
          <p:cNvPr id="11" name="η är verkningsgrad som decimaltal. Pᵤₜ är mekanisk uteffekt och P">
            <a:extLst xmlns:a="http://schemas.openxmlformats.org/drawingml/2006/main">
              <a:ext uri="{FF2B5EF4-FFF2-40B4-BE49-F238E27FC236}">
                <a16:creationId xmlns:a16="http://schemas.microsoft.com/office/drawing/2014/main" id="{4823ED8D-1C8F-40D8-AC15-CA9AB88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η skrivs som decimaltal. P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ut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är effekten på axeln och P</a:t>
            </a:r>
            <a:r>
              <a:rPr sz="21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den tillförda elektriska effekten.</a:t>
            </a:r>
          </a:p>
        </p:txBody>
      </p:sp>
      <p:sp>
        <p:nvSpPr>
          <p:cNvPr id="12" name="Förutsättningar: η = 75 % = 0,75. Motorn arbetar konstant vid den">
            <a:extLst xmlns:a="http://schemas.openxmlformats.org/drawingml/2006/main">
              <a:ext uri="{FF2B5EF4-FFF2-40B4-BE49-F238E27FC236}">
                <a16:creationId xmlns:a16="http://schemas.microsoft.com/office/drawing/2014/main" id="{8FD8FC1A-EA3D-4D58-BE49-80639CC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η = 75 % = 0,75. Motorn går med jämn belastning.</a:t>
            </a:r>
          </a:p>
        </p:txBody>
      </p:sp>
      <p:sp>
        <p:nvSpPr>
          <p:cNvPr id="13" name="Arbetsgång: Dividera uteffekten med verkningsgraden. Subtrahera s">
            <a:extLst xmlns:a="http://schemas.openxmlformats.org/drawingml/2006/main">
              <a:ext uri="{FF2B5EF4-FFF2-40B4-BE49-F238E27FC236}">
                <a16:creationId xmlns:a16="http://schemas.microsoft.com/office/drawing/2014/main" id="{5507F835-D040-4479-A58E-A1966443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Dela uteffekten med verkningsgraden och dra sedan bort uteffekten från den tillförda effekten.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024C1E05-9166-4DA8-BF6F-550D6B19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9f71e41604f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E57E7615-4EF5-4EA7-9F4D-70928FC2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4</a:t>
            </a:r>
          </a:p>
        </p:txBody>
      </p:sp>
      <p:sp>
        <p:nvSpPr>
          <p:cNvPr id="3" name="Motorns inmatning">
            <a:extLst xmlns:a="http://schemas.openxmlformats.org/drawingml/2006/main">
              <a:ext uri="{FF2B5EF4-FFF2-40B4-BE49-F238E27FC236}">
                <a16:creationId xmlns:a16="http://schemas.microsoft.com/office/drawing/2014/main" id="{4A608BD6-1149-4BF0-96C2-DA3D1F01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Motorns inmatning</a:t>
            </a:r>
          </a:p>
        </p:txBody>
      </p:sp>
      <p:sp>
        <p:nvSpPr>
          <p:cNvPr id="4" name="En motor ger 600 W mekanisk effekt. Verkningsgraden är 75 %. Berä">
            <a:extLst xmlns:a="http://schemas.openxmlformats.org/drawingml/2006/main">
              <a:ext uri="{FF2B5EF4-FFF2-40B4-BE49-F238E27FC236}">
                <a16:creationId xmlns:a16="http://schemas.microsoft.com/office/drawing/2014/main" id="{77C8AC07-ADB7-42B2-9DCD-214286ED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motor ger 600 W mekanisk effekt. Verkningsgraden är 75 %. Beräkna den tillförda elektriska effekten och förlusten.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7BDB12D9-8CD3-4B61-9070-0A29C07A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5E15DF9D-4F5C-4980-9BED-C0701D0E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cca8b02204d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B32EF41E-1B0B-41D7-A351-137E2B17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5</a:t>
            </a:r>
          </a:p>
        </p:txBody>
      </p:sp>
      <p:sp>
        <p:nvSpPr>
          <p:cNvPr id="10" name="I = U/R     P = U · I = U²/R">
            <a:extLst xmlns:a="http://schemas.openxmlformats.org/drawingml/2006/main">
              <a:ext uri="{FF2B5EF4-FFF2-40B4-BE49-F238E27FC236}">
                <a16:creationId xmlns:a16="http://schemas.microsoft.com/office/drawing/2014/main" id="{0DB8E6F0-2979-400F-A748-155A097F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U/R; P = U · I = U²/R</a:t>
            </a:r>
          </a:p>
        </p:txBody>
      </p:sp>
      <p:sp>
        <p:nvSpPr>
          <p:cNvPr id="11" name="R är resistans i Ω. Samma U och I ska avse samma resistor.">
            <a:extLst xmlns:a="http://schemas.openxmlformats.org/drawingml/2006/main">
              <a:ext uri="{FF2B5EF4-FFF2-40B4-BE49-F238E27FC236}">
                <a16:creationId xmlns:a16="http://schemas.microsoft.com/office/drawing/2014/main" id="{2B485C04-EA6A-495F-A128-41E46552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 är resistans i Ω.</a:t>
            </a:r>
          </a:p>
        </p:txBody>
      </p:sp>
      <p:sp>
        <p:nvSpPr>
          <p:cNvPr id="12" name="Förutsättningar: Ohmsk resistor med konstant R = 12 Ω. Källan hål">
            <a:extLst xmlns:a="http://schemas.openxmlformats.org/drawingml/2006/main">
              <a:ext uri="{FF2B5EF4-FFF2-40B4-BE49-F238E27FC236}">
                <a16:creationId xmlns:a16="http://schemas.microsoft.com/office/drawing/2014/main" id="{05B1802A-EC76-40E4-9820-C4C9E0DF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Resistor med konstant R = 12 Ω. Källan håller 24 V över resistorn.</a:t>
            </a:r>
          </a:p>
        </p:txBody>
      </p:sp>
      <p:sp>
        <p:nvSpPr>
          <p:cNvPr id="13" name="Arbetsgång: Beräkna I med Ohms lag. Använd därefter I för att ber">
            <a:extLst xmlns:a="http://schemas.openxmlformats.org/drawingml/2006/main">
              <a:ext uri="{FF2B5EF4-FFF2-40B4-BE49-F238E27FC236}">
                <a16:creationId xmlns:a16="http://schemas.microsoft.com/office/drawing/2014/main" id="{9E059CF7-6C75-47DD-87A9-8497F7C7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strömmen med Ohms lag och använd den sedan för att räkna effekten.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5A34B6D2-F535-41ED-8DE7-CC861F2A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c277d4cf74d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73DA4B0B-42D8-427D-B4E6-1F174FC7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5</a:t>
            </a:r>
          </a:p>
        </p:txBody>
      </p:sp>
      <p:sp>
        <p:nvSpPr>
          <p:cNvPr id="3" name="Ström genom en värmeresistor">
            <a:extLst xmlns:a="http://schemas.openxmlformats.org/drawingml/2006/main">
              <a:ext uri="{FF2B5EF4-FFF2-40B4-BE49-F238E27FC236}">
                <a16:creationId xmlns:a16="http://schemas.microsoft.com/office/drawing/2014/main" id="{52ADD268-D3CC-49CC-AFCF-FCE482AB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Ström genom en värmeresistor</a:t>
            </a:r>
          </a:p>
        </p:txBody>
      </p:sp>
      <p:sp>
        <p:nvSpPr>
          <p:cNvPr id="4" name="En resistor på 12 Ω ansluts till 24 V DC. Beräkna ström och effek">
            <a:extLst xmlns:a="http://schemas.openxmlformats.org/drawingml/2006/main">
              <a:ext uri="{FF2B5EF4-FFF2-40B4-BE49-F238E27FC236}">
                <a16:creationId xmlns:a16="http://schemas.microsoft.com/office/drawing/2014/main" id="{3168618E-7A16-4D9B-933A-F92056D5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resistor på 12 Ω ansluts till 24 V DC. Beräkna ström och effekt.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95D306E6-9F33-4EF2-AD12-17C197A8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9312E76A-4F72-4F31-849A-291AE16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0dab752b048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9ED28FAE-A5F9-494C-9395-04FE1CF5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Resistans i en kabel&#10;Spänningsfall och förlust&#10;Kontroll av ett re">
            <a:extLst xmlns:a="http://schemas.openxmlformats.org/drawingml/2006/main">
              <a:ext uri="{FF2B5EF4-FFF2-40B4-BE49-F238E27FC236}">
                <a16:creationId xmlns:a16="http://schemas.microsoft.com/office/drawing/2014/main" id="{39FBBC45-2689-417C-BCAB-A046793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Resistans i en kabel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Spänningsfall och förlust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Kontroll av ett resultat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16983CA7-A73E-4816-9717-92B53EE9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6–10.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EC99408C-264D-4B35-8541-C43F9B2C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bb35f0ed04d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Resistans i en kabel">
            <a:extLst xmlns:a="http://schemas.openxmlformats.org/drawingml/2006/main">
              <a:ext uri="{FF2B5EF4-FFF2-40B4-BE49-F238E27FC236}">
                <a16:creationId xmlns:a16="http://schemas.microsoft.com/office/drawing/2014/main" id="{9245FFF1-6AE9-46A4-844C-6E5939F8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Resistans i en kabel</a:t>
            </a:r>
          </a:p>
        </p:txBody>
      </p:sp>
      <p:sp>
        <p:nvSpPr>
          <p:cNvPr id="3" name="Resistansen ökar med ledarlängden och minskar med arean.&#10;DC-krets">
            <a:extLst xmlns:a="http://schemas.openxmlformats.org/drawingml/2006/main">
              <a:ext uri="{FF2B5EF4-FFF2-40B4-BE49-F238E27FC236}">
                <a16:creationId xmlns:a16="http://schemas.microsoft.com/office/drawing/2014/main" id="{2910CA8E-D199-4B18-8B7E-BE48E0C2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Resistansen ökar med ledarlängden och minskar med arean.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DC-kretsen har både framledare och återledare.</a:t>
            </a:r>
          </a:p>
        </p:txBody>
      </p:sp>
      <p:sp>
        <p:nvSpPr>
          <p:cNvPr id="4" name="R = ρ · l / A">
            <a:extLst xmlns:a="http://schemas.openxmlformats.org/drawingml/2006/main">
              <a:ext uri="{FF2B5EF4-FFF2-40B4-BE49-F238E27FC236}">
                <a16:creationId xmlns:a16="http://schemas.microsoft.com/office/drawing/2014/main" id="{B902D3E7-D3AA-431F-AD62-1F225E8E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 = ρ · l / A</a:t>
            </a:r>
          </a:p>
        </p:txBody>
      </p:sp>
      <p:sp>
        <p:nvSpPr>
          <p:cNvPr id="5" name="I uppgifterna: koppar vid 20 °C, ρ = 0,0175 Ω·mm²/m.&#10;Enkel väg 10">
            <a:extLst xmlns:a="http://schemas.openxmlformats.org/drawingml/2006/main">
              <a:ext uri="{FF2B5EF4-FFF2-40B4-BE49-F238E27FC236}">
                <a16:creationId xmlns:a16="http://schemas.microsoft.com/office/drawing/2014/main" id="{6CDB6406-34D5-437F-8BE3-A92881BA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uppgifterna: koppar vid 20 °C, ρ = 0,0175 Ω·mm²/m.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Enkel väg 10 m innebär 20 m ledare i en tvåledarkrets.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F542EDCF-C4BD-4667-BE82-A4F233CC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af2b556af46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pänningsfall och förlust">
            <a:extLst xmlns:a="http://schemas.openxmlformats.org/drawingml/2006/main">
              <a:ext uri="{FF2B5EF4-FFF2-40B4-BE49-F238E27FC236}">
                <a16:creationId xmlns:a16="http://schemas.microsoft.com/office/drawing/2014/main" id="{13672BE6-5454-4C5D-A2C0-FE5A64F8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Spänningsfall och förlust</a:t>
            </a:r>
          </a:p>
        </p:txBody>
      </p:sp>
      <p:sp>
        <p:nvSpPr>
          <p:cNvPr id="3" name="Kabelns resistans tar en del av källspänningen.&#10;Beräkna först res">
            <a:extLst xmlns:a="http://schemas.openxmlformats.org/drawingml/2006/main">
              <a:ext uri="{FF2B5EF4-FFF2-40B4-BE49-F238E27FC236}">
                <a16:creationId xmlns:a16="http://schemas.microsoft.com/office/drawing/2014/main" id="{E16986AC-D1B7-480F-874A-07CA13B6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Kabelns resistans tar en del av källspänningen.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först resistansen för hela strömvägen.</a:t>
            </a:r>
          </a:p>
        </p:txBody>
      </p:sp>
      <p:sp>
        <p:nvSpPr>
          <p:cNvPr id="4" name="ΔU = I · R     Pförlust = I² · R">
            <a:extLst xmlns:a="http://schemas.openxmlformats.org/drawingml/2006/main">
              <a:ext uri="{FF2B5EF4-FFF2-40B4-BE49-F238E27FC236}">
                <a16:creationId xmlns:a16="http://schemas.microsoft.com/office/drawing/2014/main" id="{281C73D0-7F13-4382-A297-3E585034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ΔU = I · R     P</a:t>
            </a:r>
            <a:r>
              <a:rPr sz="2925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förlust</a:t>
            </a: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I² · R</a:t>
            </a:r>
          </a:p>
        </p:txBody>
      </p:sp>
      <p:sp>
        <p:nvSpPr>
          <p:cNvPr id="5" name="R = 0,20 Ω och I = 5 A ger ΔU = 1,0 V&#10;och värmeförlusten 5,0 W.">
            <a:extLst xmlns:a="http://schemas.openxmlformats.org/drawingml/2006/main">
              <a:ext uri="{FF2B5EF4-FFF2-40B4-BE49-F238E27FC236}">
                <a16:creationId xmlns:a16="http://schemas.microsoft.com/office/drawing/2014/main" id="{05C9DAC4-356C-4D13-9414-75AC4890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 = 0,20 Ω och I = 5 A ger ΔU = 1,0 V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och värmeförlusten 5,0 W.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8641B456-A767-4585-8F86-607A9C92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fc12542924c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ontroll av ett resultat">
            <a:extLst xmlns:a="http://schemas.openxmlformats.org/drawingml/2006/main">
              <a:ext uri="{FF2B5EF4-FFF2-40B4-BE49-F238E27FC236}">
                <a16:creationId xmlns:a16="http://schemas.microsoft.com/office/drawing/2014/main" id="{CAE86BEB-8878-49DA-B0E1-8BF75FFB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 av ett resultat</a:t>
            </a:r>
          </a:p>
        </p:txBody>
      </p:sp>
      <p:sp>
        <p:nvSpPr>
          <p:cNvPr id="3" name="Jämför spänningsfallet med matningsspänningen.&#10;Samma absoluta fal">
            <a:extLst xmlns:a="http://schemas.openxmlformats.org/drawingml/2006/main">
              <a:ext uri="{FF2B5EF4-FFF2-40B4-BE49-F238E27FC236}">
                <a16:creationId xmlns:a16="http://schemas.microsoft.com/office/drawing/2014/main" id="{87DB3994-289C-4D5C-A3A9-8A22D1E4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Jämför spänningsfallet med matningsspänningen.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Samma absoluta fall ger större procenttal vid låg spänning.</a:t>
            </a:r>
          </a:p>
        </p:txBody>
      </p:sp>
      <p:sp>
        <p:nvSpPr>
          <p:cNvPr id="4" name="ΔU% = 100 · ΔU / U">
            <a:extLst xmlns:a="http://schemas.openxmlformats.org/drawingml/2006/main">
              <a:ext uri="{FF2B5EF4-FFF2-40B4-BE49-F238E27FC236}">
                <a16:creationId xmlns:a16="http://schemas.microsoft.com/office/drawing/2014/main" id="{49B804DC-704A-4E0E-A81C-1906852A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ΔU% = 100 · ΔU / U</a:t>
            </a:r>
          </a:p>
        </p:txBody>
      </p:sp>
      <p:sp>
        <p:nvSpPr>
          <p:cNvPr id="5" name="1,0 V av 24 V är 4,17 %.&#10;Tillåtet fall bedöms mot lastens krav oc">
            <a:extLst xmlns:a="http://schemas.openxmlformats.org/drawingml/2006/main">
              <a:ext uri="{FF2B5EF4-FFF2-40B4-BE49-F238E27FC236}">
                <a16:creationId xmlns:a16="http://schemas.microsoft.com/office/drawing/2014/main" id="{6DEA504A-63B6-491B-9BCE-F820AFD2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7620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1,0 V av 24 V är 4,17 %.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Tillåtet fall bedöms mot lastens krav och tillämpligt regelverk.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0444F473-5187-4179-A0B5-C80F7108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29ee97a1a4c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kabelns spänningsfall">
            <a:extLst xmlns:a="http://schemas.openxmlformats.org/drawingml/2006/main">
              <a:ext uri="{FF2B5EF4-FFF2-40B4-BE49-F238E27FC236}">
                <a16:creationId xmlns:a16="http://schemas.microsoft.com/office/drawing/2014/main" id="{A05770B5-A896-4E50-B983-08B21C78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kabelns spänningsfall</a:t>
            </a:r>
          </a:p>
        </p:txBody>
      </p:sp>
      <p:sp>
        <p:nvSpPr>
          <p:cNvPr id="10" name="Två kopparledare à 8 m, A = 4 mm², I = 4 A, källa 24 V. ρ = 0,017">
            <a:extLst xmlns:a="http://schemas.openxmlformats.org/drawingml/2006/main">
              <a:ext uri="{FF2B5EF4-FFF2-40B4-BE49-F238E27FC236}">
                <a16:creationId xmlns:a16="http://schemas.microsoft.com/office/drawing/2014/main" id="{89745DE6-D74A-4998-8C8D-65430D9F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kopparledare à 8 m, A = 4 mm², I = 4 A, källa 24 V. ρ = 0,0175 Ω·mm²/m vid 20 °C.</a:t>
            </a:r>
          </a:p>
        </p:txBody>
      </p:sp>
      <p:sp>
        <p:nvSpPr>
          <p:cNvPr id="11" name="R = ρ · ltotal/A     ΔU = IR">
            <a:extLst xmlns:a="http://schemas.openxmlformats.org/drawingml/2006/main">
              <a:ext uri="{FF2B5EF4-FFF2-40B4-BE49-F238E27FC236}">
                <a16:creationId xmlns:a16="http://schemas.microsoft.com/office/drawing/2014/main" id="{E16E02A0-37B7-4915-AC21-42B3B98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 = ρ · ltotal/A     ΔU = IR</a:t>
            </a:r>
          </a:p>
        </p:txBody>
      </p:sp>
      <p:sp>
        <p:nvSpPr>
          <p:cNvPr id="12" name="1. ltotal = 2 · 8 = 16 m. R = 0,0175 · 16/4 = 0,070 Ω.&#10;2. ΔU = 4 ">
            <a:extLst xmlns:a="http://schemas.openxmlformats.org/drawingml/2006/main">
              <a:ext uri="{FF2B5EF4-FFF2-40B4-BE49-F238E27FC236}">
                <a16:creationId xmlns:a16="http://schemas.microsoft.com/office/drawing/2014/main" id="{E5945855-E186-4EDD-B4DC-B306E4A0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ltotal = 2 · 8 = 16 m. R = 0,0175 · 16/4 = 0,070 Ω.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ΔU = 4 · 0,070 = 0,28 V. U</a:t>
            </a:r>
            <a:r>
              <a:rPr sz="2063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24 − 0,28 = 23,72 V.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Fall = 100 · 0,28/24 ≈ 1,17 %.</a:t>
            </a:r>
          </a:p>
        </p:txBody>
      </p:sp>
      <p:sp>
        <p:nvSpPr>
          <p:cNvPr id="13" name="Kontroll: 23,72 + 0,28 = 24 V. Kontakter och temperaturökning är ">
            <a:extLst xmlns:a="http://schemas.openxmlformats.org/drawingml/2006/main">
              <a:ext uri="{FF2B5EF4-FFF2-40B4-BE49-F238E27FC236}">
                <a16:creationId xmlns:a16="http://schemas.microsoft.com/office/drawing/2014/main" id="{EBE68A57-46C4-482C-87B5-01B24AF0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23,72 + 0,28 = 24 V. Kontakter och temperaturökning är försummade.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590AA757-721C-4606-A253-8834D02E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5679751f04d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4B97EA5B-B553-4D3D-9750-3ABCB924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6</a:t>
            </a:r>
          </a:p>
        </p:txBody>
      </p:sp>
      <p:sp>
        <p:nvSpPr>
          <p:cNvPr id="10" name="R = ρ · ltotal/A     ltotal = 2 · lenkel">
            <a:extLst xmlns:a="http://schemas.openxmlformats.org/drawingml/2006/main">
              <a:ext uri="{FF2B5EF4-FFF2-40B4-BE49-F238E27FC236}">
                <a16:creationId xmlns:a16="http://schemas.microsoft.com/office/drawing/2014/main" id="{2D004FE1-82C3-4844-800B-5B320851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 = ρ · ltotal/A; ltotal = 2 · lenkel</a:t>
            </a:r>
          </a:p>
        </p:txBody>
      </p:sp>
      <p:sp>
        <p:nvSpPr>
          <p:cNvPr id="11" name="ρ är resistivitet i Ω·mm²/m, l längd i m och A ledararea i mm².">
            <a:extLst xmlns:a="http://schemas.openxmlformats.org/drawingml/2006/main">
              <a:ext uri="{FF2B5EF4-FFF2-40B4-BE49-F238E27FC236}">
                <a16:creationId xmlns:a16="http://schemas.microsoft.com/office/drawing/2014/main" id="{1BC1AE58-8A31-4205-A2C1-ACFE4DE8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ρ är resistivitet i Ω·mm²/m, l längd i m och A ledararea i mm².</a:t>
            </a:r>
          </a:p>
        </p:txBody>
      </p:sp>
      <p:sp>
        <p:nvSpPr>
          <p:cNvPr id="12" name="Förutsättningar: Koppar vid 20 °C: ρ = 0,0175 Ω·mm²/m. Två ledare">
            <a:extLst xmlns:a="http://schemas.openxmlformats.org/drawingml/2006/main">
              <a:ext uri="{FF2B5EF4-FFF2-40B4-BE49-F238E27FC236}">
                <a16:creationId xmlns:a16="http://schemas.microsoft.com/office/drawing/2014/main" id="{282A52DC-FD56-4FBB-9020-8F7EB8A9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Koppar vid 20 °C: ρ = 0,0175 Ω·mm²/m. Två ledare à 10 m. Kontaktresistans försummas.</a:t>
            </a:r>
          </a:p>
        </p:txBody>
      </p:sp>
      <p:sp>
        <p:nvSpPr>
          <p:cNvPr id="13" name="Arbetsgång: Summera fram- och återledarens längd. Sätt in total l">
            <a:extLst xmlns:a="http://schemas.openxmlformats.org/drawingml/2006/main">
              <a:ext uri="{FF2B5EF4-FFF2-40B4-BE49-F238E27FC236}">
                <a16:creationId xmlns:a16="http://schemas.microsoft.com/office/drawing/2014/main" id="{C4D32DFC-D0DA-4909-A7A4-44D21D17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Lägg ihop fram- och återledarens längd. Sätt in den totala längden och arean 2,5 mm².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554C6BA7-E85F-4094-AA6B-6A1F0781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bbe5ff7d245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A6C6F31C-7B08-4A98-A486-EB89FAF6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6</a:t>
            </a:r>
          </a:p>
        </p:txBody>
      </p:sp>
      <p:sp>
        <p:nvSpPr>
          <p:cNvPr id="3" name="Kabelns resistans">
            <a:extLst xmlns:a="http://schemas.openxmlformats.org/drawingml/2006/main">
              <a:ext uri="{FF2B5EF4-FFF2-40B4-BE49-F238E27FC236}">
                <a16:creationId xmlns:a16="http://schemas.microsoft.com/office/drawing/2014/main" id="{759C5151-E84E-4E3D-AF7C-735E566F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Kabelns resistans</a:t>
            </a:r>
          </a:p>
        </p:txBody>
      </p:sp>
      <p:sp>
        <p:nvSpPr>
          <p:cNvPr id="4" name="Två kopparledare, vardera 10 m, har arean 2,5 mm². Använd ρ = 0,0">
            <a:extLst xmlns:a="http://schemas.openxmlformats.org/drawingml/2006/main">
              <a:ext uri="{FF2B5EF4-FFF2-40B4-BE49-F238E27FC236}">
                <a16:creationId xmlns:a16="http://schemas.microsoft.com/office/drawing/2014/main" id="{33DBB379-D708-4170-A7B0-7036A7A3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kopparledare, vardera 10 m, har arean 2,5 mm². Använd ρ = 0,0175 Ω·mm²/m. Beräkna slingresistansen.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6EC26E25-7D32-4C6F-9F14-8B42380A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9B44606A-2610-482D-87EF-9E80D014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e4336024d40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C7358FC8-1CC5-4618-8707-7674F2EC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7</a:t>
            </a:r>
          </a:p>
        </p:txBody>
      </p:sp>
      <p:sp>
        <p:nvSpPr>
          <p:cNvPr id="10" name="ΔU = I · R     Ulast = Ukälla − ΔU&#10;Fall i % = 100 · ΔU/Ukälla">
            <a:extLst xmlns:a="http://schemas.openxmlformats.org/drawingml/2006/main">
              <a:ext uri="{FF2B5EF4-FFF2-40B4-BE49-F238E27FC236}">
                <a16:creationId xmlns:a16="http://schemas.microsoft.com/office/drawing/2014/main" id="{A9F12645-5232-40FB-AECD-6EE0F1BC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ΔU = I · R;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källa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− ΔU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Fall i % = 100 · ΔU/U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källa</a:t>
            </a:r>
          </a:p>
        </p:txBody>
      </p:sp>
      <p:sp>
        <p:nvSpPr>
          <p:cNvPr id="11" name="ΔU är kabelslingans spänningsfall. Procenttalet jämför fallet med">
            <a:extLst xmlns:a="http://schemas.openxmlformats.org/drawingml/2006/main">
              <a:ext uri="{FF2B5EF4-FFF2-40B4-BE49-F238E27FC236}">
                <a16:creationId xmlns:a16="http://schemas.microsoft.com/office/drawing/2014/main" id="{EDE39B2B-1008-4670-A599-6F2D54D2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ΔU är kabelslingans spänningsfall.</a:t>
            </a:r>
          </a:p>
        </p:txBody>
      </p:sp>
      <p:sp>
        <p:nvSpPr>
          <p:cNvPr id="12" name="Förutsättningar: R = 0,140 Ω gäller hela slingan. Strömmen hålls ">
            <a:extLst xmlns:a="http://schemas.openxmlformats.org/drawingml/2006/main">
              <a:ext uri="{FF2B5EF4-FFF2-40B4-BE49-F238E27FC236}">
                <a16:creationId xmlns:a16="http://schemas.microsoft.com/office/drawing/2014/main" id="{D6085DF9-FA05-4C3A-A652-E23E8EFE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R = 0,140 Ω gäller hela slingan. Strömmen är 5,0 A.</a:t>
            </a:r>
          </a:p>
        </p:txBody>
      </p:sp>
      <p:sp>
        <p:nvSpPr>
          <p:cNvPr id="13" name="Arbetsgång: Beräkna kabelns fall, dra det från källspänningen och">
            <a:extLst xmlns:a="http://schemas.openxmlformats.org/drawingml/2006/main">
              <a:ext uri="{FF2B5EF4-FFF2-40B4-BE49-F238E27FC236}">
                <a16:creationId xmlns:a16="http://schemas.microsoft.com/office/drawing/2014/main" id="{BF117A5C-4BDF-44A0-9577-1424B4F3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kabelns spänningsfall, dra det från källans 24 V och räkna ut hur stor andel av 24 V fallet är.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BE4EA79D-46BE-446C-BA81-BEE60624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086815b334a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6D1D31A4-593A-465D-903B-B0828F58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7</a:t>
            </a:r>
          </a:p>
        </p:txBody>
      </p:sp>
      <p:sp>
        <p:nvSpPr>
          <p:cNvPr id="3" name="Spänning vid lasten">
            <a:extLst xmlns:a="http://schemas.openxmlformats.org/drawingml/2006/main">
              <a:ext uri="{FF2B5EF4-FFF2-40B4-BE49-F238E27FC236}">
                <a16:creationId xmlns:a16="http://schemas.microsoft.com/office/drawing/2014/main" id="{D22BCBB6-99FD-4FA4-AC8E-1AE95D60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Spänning vid lasten</a:t>
            </a:r>
          </a:p>
        </p:txBody>
      </p:sp>
      <p:sp>
        <p:nvSpPr>
          <p:cNvPr id="4" name="Källan ger 24 V. Kabelslingan har R = 0,140 Ω och lasten tar 5,0 ">
            <a:extLst xmlns:a="http://schemas.openxmlformats.org/drawingml/2006/main">
              <a:ext uri="{FF2B5EF4-FFF2-40B4-BE49-F238E27FC236}">
                <a16:creationId xmlns:a16="http://schemas.microsoft.com/office/drawing/2014/main" id="{AB41D7B0-0D3F-43E7-B0B9-7BD20877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Källan ger 24 V. Kabelslingan har R = 0,140 Ω och lasten tar 5,0 A. Beräkna spänningen vid lasten och spänningsfallet i procent.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68EC05C3-D07B-4545-B269-BFDD91BB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3D917748-A390-4880-B7E2-4C248A35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3bbc2dc4f41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9ABC4C9D-2F74-42D8-9AE8-64D1C459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8</a:t>
            </a:r>
          </a:p>
        </p:txBody>
      </p:sp>
      <p:sp>
        <p:nvSpPr>
          <p:cNvPr id="10" name="Pförlust = I²R     P₂/P₁ = (I₂/I₁)²">
            <a:extLst xmlns:a="http://schemas.openxmlformats.org/drawingml/2006/main">
              <a:ext uri="{FF2B5EF4-FFF2-40B4-BE49-F238E27FC236}">
                <a16:creationId xmlns:a16="http://schemas.microsoft.com/office/drawing/2014/main" id="{90B1A8E1-24DB-491F-818A-59946841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förlust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I² · R; 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(I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/I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)²</a:t>
            </a:r>
          </a:p>
        </p:txBody>
      </p:sp>
      <p:sp>
        <p:nvSpPr>
          <p:cNvPr id="11" name="I² betyder I · I. Förlusten är värmeeffekt i kabeln, i W.">
            <a:extLst xmlns:a="http://schemas.openxmlformats.org/drawingml/2006/main">
              <a:ext uri="{FF2B5EF4-FFF2-40B4-BE49-F238E27FC236}">
                <a16:creationId xmlns:a16="http://schemas.microsoft.com/office/drawing/2014/main" id="{7D083D82-ADDB-459C-B173-A2B0038F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I² betyder I · I. Förlusten är värmeeffekt i kabeln, i W.</a:t>
            </a:r>
          </a:p>
        </p:txBody>
      </p:sp>
      <p:sp>
        <p:nvSpPr>
          <p:cNvPr id="12" name="Förutsättningar: Samma kabelresistans 0,20 Ω vid 5 A och 10 A. Te">
            <a:extLst xmlns:a="http://schemas.openxmlformats.org/drawingml/2006/main">
              <a:ext uri="{FF2B5EF4-FFF2-40B4-BE49-F238E27FC236}">
                <a16:creationId xmlns:a16="http://schemas.microsoft.com/office/drawing/2014/main" id="{A14BE5F6-B817-4EE5-B4C4-155380BF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Samma kabelresistans 0,20 Ω vid 5 A och 10 A. Temperaturändring försummas.</a:t>
            </a:r>
          </a:p>
        </p:txBody>
      </p:sp>
      <p:sp>
        <p:nvSpPr>
          <p:cNvPr id="13" name="Arbetsgång: Räkna båda förlusterna och dividera den nya med den g">
            <a:extLst xmlns:a="http://schemas.openxmlformats.org/drawingml/2006/main">
              <a:ext uri="{FF2B5EF4-FFF2-40B4-BE49-F238E27FC236}">
                <a16:creationId xmlns:a16="http://schemas.microsoft.com/office/drawing/2014/main" id="{0E4EC8AC-B43D-40B4-9BDD-A2E6867B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båda förlusterna och dela den nya med den gamla.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D5D2A086-5F49-4D9A-B921-593FBE35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4bc0fa83949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5F3BE6D3-6EE8-4E2A-A9BD-FEBAA5DC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8</a:t>
            </a:r>
          </a:p>
        </p:txBody>
      </p:sp>
      <p:sp>
        <p:nvSpPr>
          <p:cNvPr id="3" name="Dubbel ström">
            <a:extLst xmlns:a="http://schemas.openxmlformats.org/drawingml/2006/main">
              <a:ext uri="{FF2B5EF4-FFF2-40B4-BE49-F238E27FC236}">
                <a16:creationId xmlns:a16="http://schemas.microsoft.com/office/drawing/2014/main" id="{23568615-8F5C-4B97-B015-AF07E96D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Dubbel ström</a:t>
            </a:r>
          </a:p>
        </p:txBody>
      </p:sp>
      <p:sp>
        <p:nvSpPr>
          <p:cNvPr id="4" name="En kabel har R = 0,20 Ω. Jämför kabelns värmeförlust vid 5 A och ">
            <a:extLst xmlns:a="http://schemas.openxmlformats.org/drawingml/2006/main">
              <a:ext uri="{FF2B5EF4-FFF2-40B4-BE49-F238E27FC236}">
                <a16:creationId xmlns:a16="http://schemas.microsoft.com/office/drawing/2014/main" id="{9D2834E0-CEEE-4991-9493-AF0D0DE8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kabel har R = 0,20 Ω. Jämför kabelns värmeförlust vid 5 A och 10 A.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D5B0FDA7-E5DA-4486-8BA6-3A1170BF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E79B027D-17E6-4604-B910-5DDC212A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90b8b2d754e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5694686A-79C9-45CF-8BEB-39B88F68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9</a:t>
            </a:r>
          </a:p>
        </p:txBody>
      </p:sp>
      <p:sp>
        <p:nvSpPr>
          <p:cNvPr id="10" name="Rmax = ΔUmax/I     Amin = ρ · 2l/Rmax">
            <a:extLst xmlns:a="http://schemas.openxmlformats.org/drawingml/2006/main">
              <a:ext uri="{FF2B5EF4-FFF2-40B4-BE49-F238E27FC236}">
                <a16:creationId xmlns:a16="http://schemas.microsoft.com/office/drawing/2014/main" id="{54FBC9E3-8189-49E2-B911-915F62D1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max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ΔU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max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/I; Amin = ρ · 2l/R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max</a:t>
            </a:r>
          </a:p>
        </p:txBody>
      </p:sp>
      <p:sp>
        <p:nvSpPr>
          <p:cNvPr id="11" name="l är enkel kabellängd i m. Amin anges i mm². ρ = 0,0175 Ω·mm²/m f">
            <a:extLst xmlns:a="http://schemas.openxmlformats.org/drawingml/2006/main">
              <a:ext uri="{FF2B5EF4-FFF2-40B4-BE49-F238E27FC236}">
                <a16:creationId xmlns:a16="http://schemas.microsoft.com/office/drawing/2014/main" id="{C62A5676-86F6-41E3-91F3-96910006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 är kabelns längd enkel väg i m, och Amin blir i mm². ρ = 0,0175 Ω·mm²/m för koppar vid 20 °C.</a:t>
            </a:r>
          </a:p>
        </p:txBody>
      </p:sp>
      <p:sp>
        <p:nvSpPr>
          <p:cNvPr id="12" name="Förutsättningar: Tvåledarkrets, l = 12 m, I = 8 A och högst 0,8 V">
            <a:extLst xmlns:a="http://schemas.openxmlformats.org/drawingml/2006/main">
              <a:ext uri="{FF2B5EF4-FFF2-40B4-BE49-F238E27FC236}">
                <a16:creationId xmlns:a16="http://schemas.microsoft.com/office/drawing/2014/main" id="{76C7683D-C3D7-4061-8D79-AD50A7CD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Tvåledarkrets, l = 12 m, I = 8 A och högst 0,8 V fall. Kontakter och uppvärmning försummas.</a:t>
            </a:r>
          </a:p>
        </p:txBody>
      </p:sp>
      <p:sp>
        <p:nvSpPr>
          <p:cNvPr id="13" name="Arbetsgång: Beräkna högsta slingresistans. Lös sedan ut arean. Öv">
            <a:extLst xmlns:a="http://schemas.openxmlformats.org/drawingml/2006/main">
              <a:ext uri="{FF2B5EF4-FFF2-40B4-BE49-F238E27FC236}">
                <a16:creationId xmlns:a16="http://schemas.microsoft.com/office/drawing/2014/main" id="{29B1EC4E-636A-4552-944B-BE0CE367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ut den största tillåtna slingresistansen och lös sedan ut arean. Uppgiften gäller bara kravet på spänningsfall.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CCF3EADF-1E97-40D6-946E-193B6468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a73bd91b048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3C69C6E6-8C70-4B4D-9749-6FA8C539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9</a:t>
            </a:r>
          </a:p>
        </p:txBody>
      </p:sp>
      <p:sp>
        <p:nvSpPr>
          <p:cNvPr id="3" name="Val av area i en modell">
            <a:extLst xmlns:a="http://schemas.openxmlformats.org/drawingml/2006/main">
              <a:ext uri="{FF2B5EF4-FFF2-40B4-BE49-F238E27FC236}">
                <a16:creationId xmlns:a16="http://schemas.microsoft.com/office/drawing/2014/main" id="{28225FB8-807F-49CE-803E-2113D881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Val av area i en modell</a:t>
            </a:r>
          </a:p>
        </p:txBody>
      </p:sp>
      <p:sp>
        <p:nvSpPr>
          <p:cNvPr id="4" name="En 24 V-last tar 8 A. Enkel kabellängd är 12 m. Högst 0,8 V fall ">
            <a:extLst xmlns:a="http://schemas.openxmlformats.org/drawingml/2006/main">
              <a:ext uri="{FF2B5EF4-FFF2-40B4-BE49-F238E27FC236}">
                <a16:creationId xmlns:a16="http://schemas.microsoft.com/office/drawing/2014/main" id="{9011BA78-C34B-4AFD-8264-412C1920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24 V-last tar 8 A. Kabeln är 12 m lång, enkel väg. Spänningsfallet får vara högst 0,8 V. Beräkna minsta area vid 20 °C.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534E2042-0D36-4716-8857-45D362E7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66279D75-CF46-44FF-BC8C-0B9D72ED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cf0e2d19d4f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66294CDB-5F4F-413B-B45F-621D8C5C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10</a:t>
            </a:r>
          </a:p>
        </p:txBody>
      </p:sp>
      <p:sp>
        <p:nvSpPr>
          <p:cNvPr id="10" name="Pᵢₙ = Pᵤₜ/η     E = Pᵢₙt&#10;I = Pᵢₙ/U     Q = I · t">
            <a:extLst xmlns:a="http://schemas.openxmlformats.org/drawingml/2006/main">
              <a:ext uri="{FF2B5EF4-FFF2-40B4-BE49-F238E27FC236}">
                <a16:creationId xmlns:a16="http://schemas.microsoft.com/office/drawing/2014/main" id="{4C84827B-A488-4337-AFB9-83E8C132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ut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/η; E = 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· t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P</a:t>
            </a:r>
            <a:r>
              <a:rPr sz="240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in</a:t>
            </a: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/U; Q = I · t</a:t>
            </a:r>
          </a:p>
        </p:txBody>
      </p:sp>
      <p:sp>
        <p:nvSpPr>
          <p:cNvPr id="11" name="E fås i Wh med W och h. Q är laddningsbehov i Ah med A och h. η a">
            <a:extLst xmlns:a="http://schemas.openxmlformats.org/drawingml/2006/main">
              <a:ext uri="{FF2B5EF4-FFF2-40B4-BE49-F238E27FC236}">
                <a16:creationId xmlns:a16="http://schemas.microsoft.com/office/drawing/2014/main" id="{1A859E15-5823-4C3C-9AEC-4FE45255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Med W och h får du E i Wh, och med A och h får du Q i Ah. Skriv η som decimaltal.</a:t>
            </a:r>
          </a:p>
        </p:txBody>
      </p:sp>
      <p:sp>
        <p:nvSpPr>
          <p:cNvPr id="12" name="Förutsättningar: Konstant 24 V och 120 W uteffekt under 2 h. η = ">
            <a:extLst xmlns:a="http://schemas.openxmlformats.org/drawingml/2006/main">
              <a:ext uri="{FF2B5EF4-FFF2-40B4-BE49-F238E27FC236}">
                <a16:creationId xmlns:a16="http://schemas.microsoft.com/office/drawing/2014/main" id="{6458AE57-6E7B-491F-A868-4104978D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Konstant 24 V och 120 W uteffekt under 2 h. η = 0,80. Ingen marginal i batteriet är medräknad.</a:t>
            </a:r>
          </a:p>
        </p:txBody>
      </p:sp>
      <p:sp>
        <p:nvSpPr>
          <p:cNvPr id="13" name="Arbetsgång: Räkna inmatning, energi och ström i tur och ordning. ">
            <a:extLst xmlns:a="http://schemas.openxmlformats.org/drawingml/2006/main">
              <a:ext uri="{FF2B5EF4-FFF2-40B4-BE49-F238E27FC236}">
                <a16:creationId xmlns:a16="http://schemas.microsoft.com/office/drawing/2014/main" id="{ECD5AACB-A8F5-4F37-AD2B-454F3363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i tur och ordning tillförd effekt, energi och ström, och sist Ah – en annan storhet än Wh.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5BC06BEC-18D8-4141-B2F1-DB36CA6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79b69bfe645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FBBBA6B3-E529-4840-A61E-E977284F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10</a:t>
            </a:r>
          </a:p>
        </p:txBody>
      </p:sp>
      <p:sp>
        <p:nvSpPr>
          <p:cNvPr id="3" name="Energibehov för en pump">
            <a:extLst xmlns:a="http://schemas.openxmlformats.org/drawingml/2006/main">
              <a:ext uri="{FF2B5EF4-FFF2-40B4-BE49-F238E27FC236}">
                <a16:creationId xmlns:a16="http://schemas.microsoft.com/office/drawing/2014/main" id="{D0D359B2-377E-4B73-AA7A-0877DF3B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Energibehov för en pump</a:t>
            </a:r>
          </a:p>
        </p:txBody>
      </p:sp>
      <p:sp>
        <p:nvSpPr>
          <p:cNvPr id="4" name="En 24 V-pump ger 120 W mekaniskt med η = 80 %. Den går i 2 h. Ber">
            <a:extLst xmlns:a="http://schemas.openxmlformats.org/drawingml/2006/main">
              <a:ext uri="{FF2B5EF4-FFF2-40B4-BE49-F238E27FC236}">
                <a16:creationId xmlns:a16="http://schemas.microsoft.com/office/drawing/2014/main" id="{7DAF500F-E2CF-4DE9-94B9-3C1126B1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24 V-pump ger 120 W mekaniskt med η = 80 %. Den går i 2 h. Beräkna den tillförda energin och hur många Ah som går åt.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020DA27E-9A11-49E2-BED2-8D2DCA71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7509E91F-F36B-4B28-B9E0-3373E10D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ac3291f1d4b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C16A6E13-CB71-4FE3-91BC-05BDD2C6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arför ökar en kabels förlust fyra gånger när strömmen fördubblas">
            <a:extLst xmlns:a="http://schemas.openxmlformats.org/drawingml/2006/main">
              <a:ext uri="{FF2B5EF4-FFF2-40B4-BE49-F238E27FC236}">
                <a16:creationId xmlns:a16="http://schemas.microsoft.com/office/drawing/2014/main" id="{76ADC8BE-7BD1-435E-80E3-E457CC65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Varför ökar en kabels förlust fyra gånger när strömmen fördubblas?</a:t>
            </a:r>
          </a:p>
        </p:txBody>
      </p:sp>
      <p:sp>
        <p:nvSpPr>
          <p:cNvPr id="4" name="Spara beräkningarna till v39-inlämningen. Redovisa antaganden, fo">
            <a:extLst xmlns:a="http://schemas.openxmlformats.org/drawingml/2006/main">
              <a:ext uri="{FF2B5EF4-FFF2-40B4-BE49-F238E27FC236}">
                <a16:creationId xmlns:a16="http://schemas.microsoft.com/office/drawing/2014/main" id="{0DCB7758-DAE8-4564-B4C2-021B1270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Spara beräkningarna till v39-inlämningen. Redovisa antaganden, formel, insättning och enhet. Deadline: söndag 27 september.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DE1A380F-4EA3-433A-AFB0-2267F566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87ff93e4b45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4FE61EDA-948A-4870-BC29-9B12AAA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9AD0CE84-0F9E-4FFE-BA93-E926F95E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OpenStax: Kirchhoffs lagar">
            <a:extLst xmlns:a="http://schemas.openxmlformats.org/drawingml/2006/main">
              <a:ext uri="{FF2B5EF4-FFF2-40B4-BE49-F238E27FC236}">
                <a16:creationId xmlns:a16="http://schemas.microsoft.com/office/drawing/2014/main" id="{61677903-853C-4E3E-8785-C9028E02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29d7f9714c349e4"/>
              </a:rPr>
              <a:t>OpenStax: Kirchhoffs lagar</a:t>
            </a:r>
          </a:p>
        </p:txBody>
      </p:sp>
      <p:sp>
        <p:nvSpPr>
          <p:cNvPr id="6" name="22">
            <a:extLst xmlns:a="http://schemas.openxmlformats.org/drawingml/2006/main">
              <a:ext uri="{FF2B5EF4-FFF2-40B4-BE49-F238E27FC236}">
                <a16:creationId xmlns:a16="http://schemas.microsoft.com/office/drawing/2014/main" id="{430E805F-02CF-4E56-BB41-01B5A7BB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2026-09-20T20:06:02.8770000Z</dcterms:created>
  <dcterms:modified xsi:type="dcterms:W3CDTF">2026-09-20T20:06:02.8770000Z</dcterms:modified>
</coreProperties>
</file>