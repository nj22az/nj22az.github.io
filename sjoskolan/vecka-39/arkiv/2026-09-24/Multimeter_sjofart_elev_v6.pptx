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e07c6300084c13" /><Relationship Type="http://schemas.openxmlformats.org/officeDocument/2006/relationships/extended-properties" Target="/docProps/app.xml" Id="Re3dbab7eba07489f" /><Relationship Type="http://schemas.openxmlformats.org/officeDocument/2006/relationships/officeDocument" Target="/ppt/presentation.xml" Id="R00fedacba39b4ad8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1c867ccd45214d66"/>
  </p:sldMasterIdLst>
  <p:sldIdLst>
    <p:sldId id="256" r:id="Rcebe41282a3a4314"/>
    <p:sldId id="257" r:id="Rff4285b4f34e4daa"/>
    <p:sldId id="258" r:id="Reb78b0ef494e4702"/>
    <p:sldId id="259" r:id="R6027c0b63cf8402d"/>
    <p:sldId id="260" r:id="R0fb3c11c169340bd"/>
    <p:sldId id="261" r:id="R9d0c8260b4834ca7"/>
    <p:sldId id="262" r:id="R902ec58103dc4bb1"/>
    <p:sldId id="263" r:id="R0e0db5119ef148c7"/>
    <p:sldId id="264" r:id="R65956cf780664d06"/>
    <p:sldId id="265" r:id="R8af8289501b548d7"/>
    <p:sldId id="266" r:id="R392b0d0f7bec49a9"/>
    <p:sldId id="267" r:id="Rab4b82612c4d41d1"/>
    <p:sldId id="268" r:id="R9b5bd1f495ab44c8"/>
    <p:sldId id="269" r:id="R268048ef8a9240a3"/>
    <p:sldId id="270" r:id="R7222febc55ed4b4e"/>
    <p:sldId id="271" r:id="R70f1e94ca3944979"/>
    <p:sldId id="272" r:id="Ra453575fc6c04397"/>
    <p:sldId id="273" r:id="R325ff4011fa4499a"/>
    <p:sldId id="274" r:id="R569ea6d19fbd4deb"/>
    <p:sldId id="275" r:id="R89229e7857c24496"/>
    <p:sldId id="276" r:id="Rf275e718036d4198"/>
    <p:sldId id="277" r:id="Rc9b3fa2ae8eb4328"/>
    <p:sldId id="278" r:id="R57c5fa705fa74223"/>
    <p:sldId id="279" r:id="R6ead9b3dc4154091"/>
    <p:sldId id="280" r:id="R8d457d5b3ef14fb6"/>
    <p:sldId id="281" r:id="R0f8225d64b6841c9"/>
    <p:sldId id="282" r:id="R25f7e181637640b8"/>
    <p:sldId id="283" r:id="Rded8ccc46eb0418a"/>
    <p:sldId id="284" r:id="Rf90653ed8db74c15"/>
    <p:sldId id="285" r:id="R8d0c2c730b584358"/>
    <p:sldId id="286" r:id="R8ed8f8190738457a"/>
    <p:sldId id="287" r:id="R72da9f5a43c345c7"/>
    <p:sldId id="288" r:id="R1346456a81474e23"/>
    <p:sldId id="289" r:id="R0f144f52cb734062"/>
    <p:sldId id="290" r:id="R82044f90e7654017"/>
    <p:sldId id="291" r:id="R25d8b0c1864d4c51"/>
    <p:sldId id="292" r:id="R41ed1c4ef4c04317"/>
    <p:sldId id="293" r:id="Ree9c97cd698d4f8f"/>
    <p:sldId id="294" r:id="Rce3638c86d5f4afa"/>
    <p:sldId id="295" r:id="R46dec6dd659e4328"/>
    <p:sldId id="296" r:id="R1e94abef62ce4abf"/>
    <p:sldId id="297" r:id="R656fa2e5d64a458a"/>
    <p:sldId id="298" r:id="Rb905f4deff784637"/>
    <p:sldId id="299" r:id="Rc6da2f0ef93d4bd6"/>
    <p:sldId id="300" r:id="Rce47f0ed39f44559"/>
    <p:sldId id="301" r:id="R59d6d437dde74982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88f884696c3540c9" /><ns0:Relationship Type="http://schemas.openxmlformats.org/officeDocument/2006/relationships/slideMaster" Target="/ppt/slideMasters/slideMaster1.xml" Id="R1c867ccd45214d66" /><ns0:Relationship Type="http://schemas.openxmlformats.org/officeDocument/2006/relationships/presProps" Target="/ppt/presProps.xml" Id="R05ea807d87ff49d6" /><ns0:Relationship Type="http://schemas.openxmlformats.org/officeDocument/2006/relationships/viewProps" Target="/ppt/viewProps.xml" Id="Rcebf31241840452b" /><ns0:Relationship Type="http://schemas.openxmlformats.org/officeDocument/2006/relationships/tableStyles" Target="/ppt/tableStyles.xml" Id="R02feddb83dd64815" /><ns0:Relationship Type="http://schemas.openxmlformats.org/officeDocument/2006/relationships/slide" Target="/ppt/slides/slide1.xml" Id="Rcebe41282a3a4314" /><ns0:Relationship Type="http://schemas.openxmlformats.org/officeDocument/2006/relationships/slide" Target="/ppt/slides/slide2.xml" Id="Rff4285b4f34e4daa" /><ns0:Relationship Type="http://schemas.openxmlformats.org/officeDocument/2006/relationships/slide" Target="/ppt/slides/slide3.xml" Id="Reb78b0ef494e4702" /><ns0:Relationship Type="http://schemas.openxmlformats.org/officeDocument/2006/relationships/slide" Target="/ppt/slides/slide4.xml" Id="R6027c0b63cf8402d" /><ns0:Relationship Type="http://schemas.openxmlformats.org/officeDocument/2006/relationships/slide" Target="/ppt/slides/slide5.xml" Id="R0fb3c11c169340bd" /><ns0:Relationship Type="http://schemas.openxmlformats.org/officeDocument/2006/relationships/slide" Target="/ppt/slides/slide6.xml" Id="R9d0c8260b4834ca7" /><ns0:Relationship Type="http://schemas.openxmlformats.org/officeDocument/2006/relationships/slide" Target="/ppt/slides/slide7.xml" Id="R902ec58103dc4bb1" /><ns0:Relationship Type="http://schemas.openxmlformats.org/officeDocument/2006/relationships/slide" Target="/ppt/slides/slide8.xml" Id="R0e0db5119ef148c7" /><ns0:Relationship Type="http://schemas.openxmlformats.org/officeDocument/2006/relationships/slide" Target="/ppt/slides/slide9.xml" Id="R65956cf780664d06" /><ns0:Relationship Type="http://schemas.openxmlformats.org/officeDocument/2006/relationships/slide" Target="/ppt/slides/slide10.xml" Id="R8af8289501b548d7" /><ns0:Relationship Type="http://schemas.openxmlformats.org/officeDocument/2006/relationships/slide" Target="/ppt/slides/slide11.xml" Id="R392b0d0f7bec49a9" /><ns0:Relationship Type="http://schemas.openxmlformats.org/officeDocument/2006/relationships/slide" Target="/ppt/slides/slide12.xml" Id="Rab4b82612c4d41d1" /><ns0:Relationship Type="http://schemas.openxmlformats.org/officeDocument/2006/relationships/slide" Target="/ppt/slides/slide13.xml" Id="R9b5bd1f495ab44c8" /><ns0:Relationship Type="http://schemas.openxmlformats.org/officeDocument/2006/relationships/slide" Target="/ppt/slides/slide14.xml" Id="R268048ef8a9240a3" /><ns0:Relationship Type="http://schemas.openxmlformats.org/officeDocument/2006/relationships/slide" Target="/ppt/slides/slide15.xml" Id="R7222febc55ed4b4e" /><ns0:Relationship Type="http://schemas.openxmlformats.org/officeDocument/2006/relationships/slide" Target="/ppt/slides/slide16.xml" Id="R70f1e94ca3944979" /><ns0:Relationship Type="http://schemas.openxmlformats.org/officeDocument/2006/relationships/slide" Target="/ppt/slides/slide17.xml" Id="Ra453575fc6c04397" /><ns0:Relationship Type="http://schemas.openxmlformats.org/officeDocument/2006/relationships/slide" Target="/ppt/slides/slide18.xml" Id="R325ff4011fa4499a" /><ns0:Relationship Type="http://schemas.openxmlformats.org/officeDocument/2006/relationships/slide" Target="/ppt/slides/slide19.xml" Id="R569ea6d19fbd4deb" /><ns0:Relationship Type="http://schemas.openxmlformats.org/officeDocument/2006/relationships/slide" Target="/ppt/slides/slide20.xml" Id="R89229e7857c24496" /><ns0:Relationship Type="http://schemas.openxmlformats.org/officeDocument/2006/relationships/slide" Target="/ppt/slides/slide21.xml" Id="Rf275e718036d4198" /><ns0:Relationship Type="http://schemas.openxmlformats.org/officeDocument/2006/relationships/slide" Target="/ppt/slides/slide22.xml" Id="Rc9b3fa2ae8eb4328" /><ns0:Relationship Type="http://schemas.openxmlformats.org/officeDocument/2006/relationships/slide" Target="/ppt/slides/slide23.xml" Id="R57c5fa705fa74223" /><ns0:Relationship Type="http://schemas.openxmlformats.org/officeDocument/2006/relationships/slide" Target="/ppt/slides/slide24.xml" Id="R6ead9b3dc4154091" /><ns0:Relationship Type="http://schemas.openxmlformats.org/officeDocument/2006/relationships/slide" Target="/ppt/slides/slide25.xml" Id="R8d457d5b3ef14fb6" /><ns0:Relationship Type="http://schemas.openxmlformats.org/officeDocument/2006/relationships/slide" Target="/ppt/slides/slide26.xml" Id="R0f8225d64b6841c9" /><ns0:Relationship Type="http://schemas.openxmlformats.org/officeDocument/2006/relationships/slide" Target="/ppt/slides/slide27.xml" Id="R25f7e181637640b8" /><ns0:Relationship Type="http://schemas.openxmlformats.org/officeDocument/2006/relationships/slide" Target="/ppt/slides/slide28.xml" Id="Rded8ccc46eb0418a" /><ns0:Relationship Type="http://schemas.openxmlformats.org/officeDocument/2006/relationships/slide" Target="/ppt/slides/slide29.xml" Id="Rf90653ed8db74c15" /><ns0:Relationship Type="http://schemas.openxmlformats.org/officeDocument/2006/relationships/slide" Target="/ppt/slides/slide30.xml" Id="R8d0c2c730b584358" /><ns0:Relationship Type="http://schemas.openxmlformats.org/officeDocument/2006/relationships/slide" Target="/ppt/slides/slide31.xml" Id="R8ed8f8190738457a" /><ns0:Relationship Type="http://schemas.openxmlformats.org/officeDocument/2006/relationships/slide" Target="/ppt/slides/slide32.xml" Id="R72da9f5a43c345c7" /><ns0:Relationship Type="http://schemas.openxmlformats.org/officeDocument/2006/relationships/slide" Target="/ppt/slides/slide33.xml" Id="R1346456a81474e23" /><ns0:Relationship Type="http://schemas.openxmlformats.org/officeDocument/2006/relationships/slide" Target="/ppt/slides/slide34.xml" Id="R0f144f52cb734062" /><ns0:Relationship Type="http://schemas.openxmlformats.org/officeDocument/2006/relationships/slide" Target="/ppt/slides/slide35.xml" Id="R82044f90e7654017" /><ns0:Relationship Type="http://schemas.openxmlformats.org/officeDocument/2006/relationships/slide" Target="/ppt/slides/slide36.xml" Id="R25d8b0c1864d4c51" /><ns0:Relationship Type="http://schemas.openxmlformats.org/officeDocument/2006/relationships/slide" Target="/ppt/slides/slide37.xml" Id="R41ed1c4ef4c04317" /><ns0:Relationship Type="http://schemas.openxmlformats.org/officeDocument/2006/relationships/slide" Target="/ppt/slides/slide38.xml" Id="Ree9c97cd698d4f8f" /><ns0:Relationship Type="http://schemas.openxmlformats.org/officeDocument/2006/relationships/slide" Target="/ppt/slides/slide39.xml" Id="Rce3638c86d5f4afa" /><ns0:Relationship Type="http://schemas.openxmlformats.org/officeDocument/2006/relationships/slide" Target="/ppt/slides/slide40.xml" Id="R46dec6dd659e4328" /><ns0:Relationship Type="http://schemas.openxmlformats.org/officeDocument/2006/relationships/slide" Target="/ppt/slides/slide41.xml" Id="R1e94abef62ce4abf" /><ns0:Relationship Type="http://schemas.openxmlformats.org/officeDocument/2006/relationships/slide" Target="/ppt/slides/slide42.xml" Id="R656fa2e5d64a458a" /><ns0:Relationship Type="http://schemas.openxmlformats.org/officeDocument/2006/relationships/slide" Target="/ppt/slides/slide43.xml" Id="Rb905f4deff784637" /><ns0:Relationship Type="http://schemas.openxmlformats.org/officeDocument/2006/relationships/slide" Target="/ppt/slides/slide44.xml" Id="Rc6da2f0ef93d4bd6" /><ns0:Relationship Type="http://schemas.openxmlformats.org/officeDocument/2006/relationships/slide" Target="/ppt/slides/slide45.xml" Id="Rce47f0ed39f44559" /><ns0:Relationship Type="http://schemas.openxmlformats.org/officeDocument/2006/relationships/slide" Target="/ppt/slides/slide46.xml" Id="R59d6d437dde74982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890c33d124b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182e6e7284b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4319cf62449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644f62be0043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2fc1044ba44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2d7c43dd54da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11d5116ef434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062ec22654e2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35dc5b06044d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4dcb183b34e6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7f47351cf43ed" 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F5E423-DEA8-4763-8D7E-9A08FE2396E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BBFEABB-640A-4A5B-A672-B2DFA008C6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240531-6756-42DF-B569-5D200BDA7F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A7689D-2098-4382-BC2C-112783DCF6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3F12A2-3FA4-4475-9ABF-B6190C7CE0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F47A6-4DE5-49FF-9E1C-525FEB5216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8B5234D-B791-4865-8989-AEEDCA6A80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413009-4B6F-4588-BA8F-0617E32FFB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0C9E82B-FFCD-4B52-AB33-CE525AA87B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1166E4-E1B8-46CC-A0E2-48544EC3A2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2BE766-0E34-4185-9555-0611D57206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1E32C3-B883-429B-855B-5DC0D715B0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322B940-0016-40A9-9499-4F27BA32FC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31BA98C-D06F-43F3-B9F6-C25FFB6C7D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642B78-97D4-4B91-8C9B-B66B056903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6F06DB0-8B3F-4A32-AE09-CA5AE57A6F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58E8A1-FB01-45C5-9CFB-0B77347003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636C56B-237F-4D5B-95E5-8F8D4A8EB4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2077E38-5974-44D2-BBF2-CA47F859E2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669FCE3-F1A2-497E-B24A-A3B3D6CB7B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F32A9EF-E039-48A9-B34D-08DFA3B0DD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AAE529-FCCA-487D-849A-E27C761F46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CCFDEC-780B-469F-85EF-53A5F242AE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E968240-06D7-481F-8B2C-6548EB6147E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093C384-0E0B-4865-8415-A8915F48C62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B506CDE-E718-4D45-8241-1F7CA6050D9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A6960C3-D16E-4FB0-90B6-CCB16DEEB8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265B672-4ACA-4360-AE40-8D2877A22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3F09CAF-0E70-4B88-9902-4E37E93B7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A96B4B-7141-4600-A4EB-EEC729551E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B846077-9867-4C7C-8E95-21568B1762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25488C2-7ED0-4728-A8E4-3B62957D3B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CB0D093-99FD-4FC4-8453-6558E94EA3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0206FAC-9F9F-4482-8F41-A71A677924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EA81AF4-CE6D-4E53-A4E4-CE893CB062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ABC6C2E-966F-4477-8C18-2C45CD239C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9AE384-C2EE-4513-A357-6A9459BC2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E44115-7431-4955-AD22-89C21F99405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03D0069-7392-414D-8652-A0D0A87631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81A37C2-1DE1-428F-AB16-9CB527F2DA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8AA0AA7-3E89-4486-A3EC-5706671434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418E005-6442-487A-B872-AA7A347348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BF5FE2-A849-4824-A565-D9F85AA6E9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B6E45D6-6293-4D28-8E82-20BFE131308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02F281E-8598-446B-B9FF-3F93B10EFA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98C49EF-EB1A-4170-BA1C-68FA70A736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E888B7F-C0B9-4E05-8A8E-98BF161BF1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E91673D-F28E-466A-AAA0-974F59D86E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BF137-080F-4B93-8645-B3AF1261E3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BB8626-7552-4D0E-B901-1D7817C99A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46D0B26-78F9-40DC-9FC2-FFDAC059FE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1268B1-FC96-4E66-8894-80DF2AB5D3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B754FF-E414-4E41-B268-533D7CB181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69A47A3-E6BE-49CD-8326-B9555CB0BF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C1DD7D3-C045-4CD5-8E8F-8CCAB085DF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CCA83B-DF8B-4CE3-82AD-DDF7A3C229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346AE1-59E9-4770-A3A8-C5A13C49E6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C58082-C368-4090-9D00-8E0B380D66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880482265d4ded" /><Relationship Type="http://schemas.openxmlformats.org/officeDocument/2006/relationships/slideLayout" Target="/ppt/slideLayouts/slideLayout1.xml" Id="Rb1008e6c419b4d31" /><Relationship Type="http://schemas.openxmlformats.org/officeDocument/2006/relationships/slideLayout" Target="/ppt/slideLayouts/slideLayout2.xml" Id="R79f44f46da02453a" /><Relationship Type="http://schemas.openxmlformats.org/officeDocument/2006/relationships/slideLayout" Target="/ppt/slideLayouts/slideLayout3.xml" Id="Ra70fa6594db44daf" /><Relationship Type="http://schemas.openxmlformats.org/officeDocument/2006/relationships/slideLayout" Target="/ppt/slideLayouts/slideLayout4.xml" Id="Red1953607b484ac0" /><Relationship Type="http://schemas.openxmlformats.org/officeDocument/2006/relationships/slideLayout" Target="/ppt/slideLayouts/slideLayout5.xml" Id="R04884a3760d6408d" /><Relationship Type="http://schemas.openxmlformats.org/officeDocument/2006/relationships/slideLayout" Target="/ppt/slideLayouts/slideLayout6.xml" Id="Rccba19b118594d11" /><Relationship Type="http://schemas.openxmlformats.org/officeDocument/2006/relationships/slideLayout" Target="/ppt/slideLayouts/slideLayout7.xml" Id="R1ebb3617efb845eb" /><Relationship Type="http://schemas.openxmlformats.org/officeDocument/2006/relationships/slideLayout" Target="/ppt/slideLayouts/slideLayout8.xml" Id="R44b4e053ce274524" /><Relationship Type="http://schemas.openxmlformats.org/officeDocument/2006/relationships/slideLayout" Target="/ppt/slideLayouts/slideLayout9.xml" Id="R8f40a9a1f57a42f3" /><Relationship Type="http://schemas.openxmlformats.org/officeDocument/2006/relationships/slideLayout" Target="/ppt/slideLayouts/slideLayout10.xml" Id="R2c6e5b7356d94a18" /><Relationship Type="http://schemas.openxmlformats.org/officeDocument/2006/relationships/slideLayout" Target="/ppt/slideLayouts/slideLayout11.xml" Id="R0ddeb9e3d267479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1F70398-9888-46F9-A5CF-1BB30F8465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19B2911-700D-42DC-9399-C81CE0D7F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6B68009-9557-4027-AC63-F935857E356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FE218E-F473-4909-9B35-ED539790D64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EB8032-3F0B-4BF2-B983-2DD1B470AB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008e6c419b4d31"/>
    <p:sldLayoutId xmlns:r="http://schemas.openxmlformats.org/officeDocument/2006/relationships" id="2147483650" r:id="R79f44f46da02453a"/>
    <p:sldLayoutId xmlns:r="http://schemas.openxmlformats.org/officeDocument/2006/relationships" id="2147483651" r:id="Ra70fa6594db44daf"/>
    <p:sldLayoutId xmlns:r="http://schemas.openxmlformats.org/officeDocument/2006/relationships" id="2147483652" r:id="Red1953607b484ac0"/>
    <p:sldLayoutId xmlns:r="http://schemas.openxmlformats.org/officeDocument/2006/relationships" id="2147483653" r:id="R04884a3760d6408d"/>
    <p:sldLayoutId xmlns:r="http://schemas.openxmlformats.org/officeDocument/2006/relationships" id="2147483654" r:id="Rccba19b118594d11"/>
    <p:sldLayoutId xmlns:r="http://schemas.openxmlformats.org/officeDocument/2006/relationships" id="2147483655" r:id="R1ebb3617efb845eb"/>
    <p:sldLayoutId xmlns:r="http://schemas.openxmlformats.org/officeDocument/2006/relationships" id="2147483656" r:id="R44b4e053ce274524"/>
    <p:sldLayoutId xmlns:r="http://schemas.openxmlformats.org/officeDocument/2006/relationships" id="2147483657" r:id="R8f40a9a1f57a42f3"/>
    <p:sldLayoutId xmlns:r="http://schemas.openxmlformats.org/officeDocument/2006/relationships" id="2147483658" r:id="R2c6e5b7356d94a18"/>
    <p:sldLayoutId xmlns:r="http://schemas.openxmlformats.org/officeDocument/2006/relationships" id="2147483659" r:id="R0ddeb9e3d267479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b01f7bfa83c4720" /><ns0:Relationship Type="http://schemas.openxmlformats.org/officeDocument/2006/relationships/image" Target="/ppt/media/image.jpeg" Id="Rb73a4bd38ffa4ef2" /><ns0:Relationship Type="http://schemas.openxmlformats.org/officeDocument/2006/relationships/image" Target="/ppt/media/image.png" Id="R7dc1ce989a6948c6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02e6cd4e1064c92" /><ns0:Relationship Type="http://schemas.openxmlformats.org/officeDocument/2006/relationships/image" Target="/ppt/media/image.jpeg" Id="R6e371d6ea7ba4aa6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d624b8a279a470c" /><ns0:Relationship Type="http://schemas.openxmlformats.org/officeDocument/2006/relationships/image" Target="/ppt/media/image.jpeg" Id="Rd83271274fef4ea7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0cfe3fad2d24936" /><ns0:Relationship Type="http://schemas.openxmlformats.org/officeDocument/2006/relationships/image" Target="/ppt/media/image.jpeg" Id="Rce083fdb3ac64b01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ae02cc9e6b94e8d" /><ns0:Relationship Type="http://schemas.openxmlformats.org/officeDocument/2006/relationships/image" Target="/ppt/media/image.jpeg" Id="Rc829df705ead4ae0" /><ns0:Relationship Type="http://schemas.openxmlformats.org/officeDocument/2006/relationships/hyperlink" Target="https://www.youtube.com/watch?v=TJXMJzultS4" TargetMode="External" Id="R0e7d8bc3c42549bd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8fbf446a73f4126" /><ns0:Relationship Type="http://schemas.openxmlformats.org/officeDocument/2006/relationships/image" Target="/ppt/media/image.jpeg" Id="R68613ad5211e4e90" /><ns0:Relationship Type="http://schemas.openxmlformats.org/officeDocument/2006/relationships/image" Target="/ppt/media/image2.jpeg" Id="R4ba62397f89c4117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be0e44188124cfb" /><ns0:Relationship Type="http://schemas.openxmlformats.org/officeDocument/2006/relationships/image" Target="/ppt/media/image.jpeg" Id="R4c3e80bdaaaf4515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801a05a68224231" /><ns0:Relationship Type="http://schemas.openxmlformats.org/officeDocument/2006/relationships/image" Target="/ppt/media/image.jpeg" Id="Rb876ea3e7b824f2d" /><ns0:Relationship Type="http://schemas.openxmlformats.org/officeDocument/2006/relationships/image" Target="/ppt/media/image2.png" Id="R6c6e74fd074d441e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6e8a2fc7c684feb" /><ns0:Relationship Type="http://schemas.openxmlformats.org/officeDocument/2006/relationships/image" Target="/ppt/media/image.jpeg" Id="Rb9f9607306f04ab1" /><ns0:Relationship Type="http://schemas.openxmlformats.org/officeDocument/2006/relationships/image" Target="/ppt/media/image3.png" Id="R1d1eef769714424f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26e1a17595044bf" /><ns0:Relationship Type="http://schemas.openxmlformats.org/officeDocument/2006/relationships/image" Target="/ppt/media/image.jpeg" Id="R8783559070744689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409d0ad860e44e2" /><ns0:Relationship Type="http://schemas.openxmlformats.org/officeDocument/2006/relationships/image" Target="/ppt/media/image.jpeg" Id="R566230b6b3fd48de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b16ad7100664553" /><ns0:Relationship Type="http://schemas.openxmlformats.org/officeDocument/2006/relationships/image" Target="/ppt/media/image.jpeg" Id="Rae701aefa3f14697" /><ns0:Relationship Type="http://schemas.openxmlformats.org/officeDocument/2006/relationships/image" Target="/ppt/media/image4.png" Id="R0750bd26799e49a3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9a17e7f44df4b27" /><ns0:Relationship Type="http://schemas.openxmlformats.org/officeDocument/2006/relationships/image" Target="/ppt/media/image.jpeg" Id="R9d386785018640e8" /><ns0:Relationship Type="http://schemas.openxmlformats.org/officeDocument/2006/relationships/image" Target="/ppt/media/image5.png" Id="R9c2901c430a84acb" /><ns0:Relationship Type="http://schemas.openxmlformats.org/officeDocument/2006/relationships/image" Target="/ppt/media/image6.png" Id="Rf95f424f97f144ea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30ca561ede94eb1" /><ns0:Relationship Type="http://schemas.openxmlformats.org/officeDocument/2006/relationships/image" Target="/ppt/media/image.jpeg" Id="Rf83c1b87f2b84bd3" /><ns0:Relationship Type="http://schemas.openxmlformats.org/officeDocument/2006/relationships/image" Target="/ppt/media/image7.png" Id="R1b9fed865084482e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2999e24dfd54f6d" /><ns0:Relationship Type="http://schemas.openxmlformats.org/officeDocument/2006/relationships/image" Target="/ppt/media/image.jpeg" Id="R54ef5e1fc0524a65" /><ns0:Relationship Type="http://schemas.openxmlformats.org/officeDocument/2006/relationships/hyperlink" Target="https://www.youtube.com/watch?v=DtuvYcMKyuc&amp;t=70s" TargetMode="External" Id="R64ad7eb6add6434b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0b5298cef9b439a" /><ns0:Relationship Type="http://schemas.openxmlformats.org/officeDocument/2006/relationships/image" Target="/ppt/media/image.jpeg" Id="R490f333829994f8f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ab2569bb2d540f7" /><ns0:Relationship Type="http://schemas.openxmlformats.org/officeDocument/2006/relationships/image" Target="/ppt/media/image.jpeg" Id="Rb9d6e871310e4566" /><ns0:Relationship Type="http://schemas.openxmlformats.org/officeDocument/2006/relationships/image" Target="/ppt/media/image8.png" Id="R53a9149112d94b47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b1b50c0f17b4c87" /><ns0:Relationship Type="http://schemas.openxmlformats.org/officeDocument/2006/relationships/image" Target="/ppt/media/image.jpeg" Id="R8c0cac57ab9a49dd" /><ns0:Relationship Type="http://schemas.openxmlformats.org/officeDocument/2006/relationships/image" Target="/ppt/media/image9.png" Id="R3c581892cb9c498a" /><ns0:Relationship Type="http://schemas.openxmlformats.org/officeDocument/2006/relationships/image" Target="/ppt/media/image10.png" Id="R42e640daebee43b6" /><ns0:Relationship Type="http://schemas.openxmlformats.org/officeDocument/2006/relationships/image" Target="/ppt/media/image11.png" Id="Rdd398aabd2be4552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6c2131154d4454c" /><ns0:Relationship Type="http://schemas.openxmlformats.org/officeDocument/2006/relationships/image" Target="/ppt/media/image.jpeg" Id="R9287856e4ddf442e" /><ns0:Relationship Type="http://schemas.openxmlformats.org/officeDocument/2006/relationships/hyperlink" Target="https://www.youtube.com/watch?v=ZNZCAecEcsc&amp;t=345s" TargetMode="External" Id="Ree8eef1ebb144967" /><ns0:Relationship Type="http://schemas.openxmlformats.org/officeDocument/2006/relationships/hyperlink" Target="https://www.youtube.com/watch?v=ZNZCAecEcsc&amp;t=479s" TargetMode="External" Id="R14919217ea03412a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7c881110d844ec1" /><ns0:Relationship Type="http://schemas.openxmlformats.org/officeDocument/2006/relationships/image" Target="/ppt/media/image.jpeg" Id="Ra4268c9c4f914235" /><ns0:Relationship Type="http://schemas.openxmlformats.org/officeDocument/2006/relationships/image" Target="/ppt/media/image12.png" Id="Rd22765fb90ad4001" /><ns0:Relationship Type="http://schemas.openxmlformats.org/officeDocument/2006/relationships/image" Target="/ppt/media/image13.png" Id="R558cf21c55c34295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a58eb3d04f645ea" /><ns0:Relationship Type="http://schemas.openxmlformats.org/officeDocument/2006/relationships/image" Target="/ppt/media/image.jpeg" Id="Rc32d7da3f51b421d" /><ns0:Relationship Type="http://schemas.openxmlformats.org/officeDocument/2006/relationships/image" Target="/ppt/media/image14.png" Id="Rbf12e08693164ff6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1f8d4cb7d31499e" /><ns0:Relationship Type="http://schemas.openxmlformats.org/officeDocument/2006/relationships/image" Target="/ppt/media/image.jpeg" Id="R1490e156abe94361" /><ns0:Relationship Type="http://schemas.openxmlformats.org/officeDocument/2006/relationships/image" Target="/ppt/media/image15.png" Id="Rdb9881cefd994c21" /><ns0:Relationship Type="http://schemas.openxmlformats.org/officeDocument/2006/relationships/image" Target="/ppt/media/image16.png" Id="Rbd75782130324150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d54cbd2a459405c" /><ns0:Relationship Type="http://schemas.openxmlformats.org/officeDocument/2006/relationships/image" Target="/ppt/media/image.jpeg" Id="Rb41a05f81170439a" /><ns0:Relationship Type="http://schemas.openxmlformats.org/officeDocument/2006/relationships/image" Target="/ppt/media/image17.png" Id="Rdfd50eebf8ec4469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d664747c12b45cd" /><ns0:Relationship Type="http://schemas.openxmlformats.org/officeDocument/2006/relationships/image" Target="/ppt/media/image.jpeg" Id="R10d64861473644f6" /><ns0:Relationship Type="http://schemas.openxmlformats.org/officeDocument/2006/relationships/image" Target="/ppt/media/image18.png" Id="Rc2c53440dc814de7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af6c517a180483e" /><ns0:Relationship Type="http://schemas.openxmlformats.org/officeDocument/2006/relationships/image" Target="/ppt/media/image.jpeg" Id="Rda488c882de944e6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4950370d76d4bb2" /><ns0:Relationship Type="http://schemas.openxmlformats.org/officeDocument/2006/relationships/image" Target="/ppt/media/image.jpeg" Id="R53285d3469954eae" /><ns0:Relationship Type="http://schemas.openxmlformats.org/officeDocument/2006/relationships/image" Target="/ppt/media/image19.png" Id="R0a52a63df5e74fd2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1890ed386c1414d" /><ns0:Relationship Type="http://schemas.openxmlformats.org/officeDocument/2006/relationships/image" Target="/ppt/media/image.jpeg" Id="R4d022685131b459e" /><ns0:Relationship Type="http://schemas.openxmlformats.org/officeDocument/2006/relationships/image" Target="/ppt/media/image20.png" Id="Ree11ad83e7ba4cfc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516033c03084481" /><ns0:Relationship Type="http://schemas.openxmlformats.org/officeDocument/2006/relationships/image" Target="/ppt/media/image.jpeg" Id="R9c8e773e517d431b" /><ns0:Relationship Type="http://schemas.openxmlformats.org/officeDocument/2006/relationships/image" Target="/ppt/media/image21.png" Id="Rb307f7e2f2794232" /></ns0: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19a34ea688b454a" /><ns0:Relationship Type="http://schemas.openxmlformats.org/officeDocument/2006/relationships/image" Target="/ppt/media/image.jpeg" Id="R8a9d7ebc4eaa4897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7eb26c343a24105" /><ns0:Relationship Type="http://schemas.openxmlformats.org/officeDocument/2006/relationships/image" Target="/ppt/media/image.jpeg" Id="R510df623e8dc4974" /><ns0:Relationship Type="http://schemas.openxmlformats.org/officeDocument/2006/relationships/image" Target="/ppt/media/image22.png" Id="R70fbb3fc3c5e4085" /></ns0: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082d6edfffb4a5e" /><ns0:Relationship Type="http://schemas.openxmlformats.org/officeDocument/2006/relationships/image" Target="/ppt/media/image.jpeg" Id="R391d484394b04459" /></ns0: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3e5d8bf6228440d" /><ns0:Relationship Type="http://schemas.openxmlformats.org/officeDocument/2006/relationships/image" Target="/ppt/media/image.jpeg" Id="R21eb598d52fe472c" /></ns0:Relationships>
</file>

<file path=ppt/slides/_rels/slide3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4d6b11182204bf1" /><ns0:Relationship Type="http://schemas.openxmlformats.org/officeDocument/2006/relationships/image" Target="/ppt/media/image.jpeg" Id="R33e2f51d20d744dc" /></ns0:Relationships>
</file>

<file path=ppt/slides/_rels/slide3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fdacadfa1b042b8" /><ns0:Relationship Type="http://schemas.openxmlformats.org/officeDocument/2006/relationships/image" Target="/ppt/media/image.jpeg" Id="R2084acbc41bd487f" /></ns0:Relationships>
</file>

<file path=ppt/slides/_rels/slide3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ec19b19909d4661" /><ns0:Relationship Type="http://schemas.openxmlformats.org/officeDocument/2006/relationships/image" Target="/ppt/media/image.jpeg" Id="R0285965cce9c4b2a" /><ns0:Relationship Type="http://schemas.openxmlformats.org/officeDocument/2006/relationships/image" Target="/ppt/media/image23.png" Id="R7b5c09a6e45d4f82" /></ns0:Relationships>
</file>

<file path=ppt/slides/_rels/slide3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597a96d97eb4ff9" /><ns0:Relationship Type="http://schemas.openxmlformats.org/officeDocument/2006/relationships/image" Target="/ppt/media/image.jpeg" Id="R580b49eeb4ae467d" /></ns0:Relationships>
</file>

<file path=ppt/slides/_rels/slide3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4c3270803f54ec5" /><ns0:Relationship Type="http://schemas.openxmlformats.org/officeDocument/2006/relationships/image" Target="/ppt/media/image.jpeg" Id="R4f6c65ba50384d9d" /><ns0:Relationship Type="http://schemas.openxmlformats.org/officeDocument/2006/relationships/image" Target="/ppt/media/image24.png" Id="R545b398572fa4c3b" /></ns0:Relationships>
</file>

<file path=ppt/slides/_rels/slide3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6b515d0bb134123" /><ns0:Relationship Type="http://schemas.openxmlformats.org/officeDocument/2006/relationships/image" Target="/ppt/media/image.jpeg" Id="Rf109713d5ab94576" /></ns0:Relationships>
</file>

<file path=ppt/slides/_rels/slide3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98b524b1b8e4e36" /><ns0:Relationship Type="http://schemas.openxmlformats.org/officeDocument/2006/relationships/image" Target="/ppt/media/image.jpeg" Id="R1c714c4f68044331" /><ns0:Relationship Type="http://schemas.openxmlformats.org/officeDocument/2006/relationships/image" Target="/ppt/media/image25.png" Id="R33ecc259a1674592" /></ns0:Relationships>
</file>

<file path=ppt/slides/_rels/slide4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989ab5fb8af464f" /><ns0:Relationship Type="http://schemas.openxmlformats.org/officeDocument/2006/relationships/image" Target="/ppt/media/image.jpeg" Id="Rb73e5e2797b8411d" /></ns0:Relationships>
</file>

<file path=ppt/slides/_rels/slide4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c72bda880c24493" /><ns0:Relationship Type="http://schemas.openxmlformats.org/officeDocument/2006/relationships/image" Target="/ppt/media/image.jpeg" Id="Re77310d2ed174aad" /><ns0:Relationship Type="http://schemas.openxmlformats.org/officeDocument/2006/relationships/image" Target="/ppt/media/image26.png" Id="Rec99996e9b0848f2" /></ns0:Relationships>
</file>

<file path=ppt/slides/_rels/slide4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4d8be7858e84998" /><ns0:Relationship Type="http://schemas.openxmlformats.org/officeDocument/2006/relationships/image" Target="/ppt/media/image.jpeg" Id="R50d4cd21fedc4bfc" /></ns0:Relationships>
</file>

<file path=ppt/slides/_rels/slide4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a5c66bcedf94a77" /><ns0:Relationship Type="http://schemas.openxmlformats.org/officeDocument/2006/relationships/image" Target="/ppt/media/image.jpeg" Id="R7274b47e61f348c4" /><ns0:Relationship Type="http://schemas.openxmlformats.org/officeDocument/2006/relationships/image" Target="/ppt/media/image27.png" Id="R51376e13de274f97" /></ns0:Relationships>
</file>

<file path=ppt/slides/_rels/slide4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68e1785e4114b42" /><ns0:Relationship Type="http://schemas.openxmlformats.org/officeDocument/2006/relationships/image" Target="/ppt/media/image.jpeg" Id="Rc933e0b62dbb428f" /></ns0:Relationships>
</file>

<file path=ppt/slides/_rels/slide4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029c3f82a8d4566" /><ns0:Relationship Type="http://schemas.openxmlformats.org/officeDocument/2006/relationships/image" Target="/ppt/media/image.jpeg" Id="R8637e1a752b04809" /></ns0:Relationships>
</file>

<file path=ppt/slides/_rels/slide4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e08a48b8d724136" /><ns0:Relationship Type="http://schemas.openxmlformats.org/officeDocument/2006/relationships/image" Target="/ppt/media/image.jpeg" Id="R61b438c6b6cb4d62" /><ns0:Relationship Type="http://schemas.openxmlformats.org/officeDocument/2006/relationships/hyperlink" Target="https://www.kjell.com/se/kunskap/hur-funkar-det/elelektronik/grundlaggande-ellara/multimetrar" TargetMode="External" Id="R3c3cc75ea3354240" /><ns0:Relationship Type="http://schemas.openxmlformats.org/officeDocument/2006/relationships/hyperlink" Target="https://www.fluke.com/sv-se/las-mer/blogg/sakerhet/multimeter-guide" TargetMode="External" Id="R228e213c05d344b5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a4bd38ffa4e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1ce989a6948c6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F6D18842-EB00-4715-8EDF-AB0472DA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84D96000-CC94-4D5A-BAF7-B321DA47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Multimeter och mätfel</a:t>
            </a:r>
          </a:p>
        </p:txBody>
      </p:sp>
      <p:sp>
        <p:nvSpPr>
          <p:cNvPr id="13" name="Mätområden, inre resistans och CAT-kategorier">
            <a:extLst xmlns:a="http://schemas.openxmlformats.org/drawingml/2006/main">
              <a:ext uri="{FF2B5EF4-FFF2-40B4-BE49-F238E27FC236}">
                <a16:creationId xmlns:a16="http://schemas.microsoft.com/office/drawing/2014/main" id="{90B9D1FB-EDB8-4216-8A31-65BF835D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Mätteknik med enkla fartygsexempel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54099204-F782-4FDE-A467-115BB099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71d6ea7ba4a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Mål och startfråga">
            <a:extLst xmlns:a="http://schemas.openxmlformats.org/drawingml/2006/main">
              <a:ext uri="{FF2B5EF4-FFF2-40B4-BE49-F238E27FC236}">
                <a16:creationId xmlns:a16="http://schemas.microsoft.com/office/drawing/2014/main" id="{9591DAA4-C76C-4E43-A18F-4F01A788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10" name="Välja rätt funktion, ingång och mätpunkter.">
            <a:extLst xmlns:a="http://schemas.openxmlformats.org/drawingml/2006/main">
              <a:ext uri="{FF2B5EF4-FFF2-40B4-BE49-F238E27FC236}">
                <a16:creationId xmlns:a16="http://schemas.microsoft.com/office/drawing/2014/main" id="{44F87359-C12D-4371-938D-4F82E4CB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Välja rätt funktion och mätpunkter i en enkel fartygsmodell.</a:t>
            </a:r>
          </a:p>
        </p:txBody>
      </p:sp>
      <p:sp>
        <p:nvSpPr>
          <p:cNvPr id="11" name="Förklara mätfel och tolka en specifikation.">
            <a:extLst xmlns:a="http://schemas.openxmlformats.org/drawingml/2006/main">
              <a:ext uri="{FF2B5EF4-FFF2-40B4-BE49-F238E27FC236}">
                <a16:creationId xmlns:a16="http://schemas.microsoft.com/office/drawing/2014/main" id="{22F478BE-C291-4AB1-A990-65049F4E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Förklara mätfel och läsa mätarens tekniska uppgifter.</a:t>
            </a:r>
          </a:p>
        </p:txBody>
      </p:sp>
      <p:sp>
        <p:nvSpPr>
          <p:cNvPr id="12" name="Dokumentera värdet och motivera en slutsats.">
            <a:extLst xmlns:a="http://schemas.openxmlformats.org/drawingml/2006/main">
              <a:ext uri="{FF2B5EF4-FFF2-40B4-BE49-F238E27FC236}">
                <a16:creationId xmlns:a16="http://schemas.microsoft.com/office/drawing/2014/main" id="{CE89F7AB-1E6F-41FF-9E57-829485F1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Dokumentera värdet och motivera en slutsats.</a:t>
            </a:r>
          </a:p>
        </p:txBody>
      </p:sp>
      <p:sp>
        <p:nvSpPr>
          <p:cNvPr id="13" name="Startfråga">
            <a:extLst xmlns:a="http://schemas.openxmlformats.org/drawingml/2006/main">
              <a:ext uri="{FF2B5EF4-FFF2-40B4-BE49-F238E27FC236}">
                <a16:creationId xmlns:a16="http://schemas.microsoft.com/office/drawing/2014/main" id="{CDA892D4-5D1E-4BA1-970B-FA65D73C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14" name="Varför kan en voltmeter ändra den spänning den försöker mäta?">
            <a:extLst xmlns:a="http://schemas.openxmlformats.org/drawingml/2006/main">
              <a:ext uri="{FF2B5EF4-FFF2-40B4-BE49-F238E27FC236}">
                <a16:creationId xmlns:a16="http://schemas.microsoft.com/office/drawing/2014/main" id="{0AE33BD2-8C21-49FD-858D-22481022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7620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Hyttlampan lyser inte. Vad vill du kontrollera först?</a:t>
            </a:r>
          </a:p>
        </p:txBody>
      </p:sp>
      <p:sp>
        <p:nvSpPr>
          <p:cNvPr id="15" name="Kursmål 1, 4–6 och 8–9. Boken: kapitel 6, s. 46–52.">
            <a:extLst xmlns:a="http://schemas.openxmlformats.org/drawingml/2006/main">
              <a:ext uri="{FF2B5EF4-FFF2-40B4-BE49-F238E27FC236}">
                <a16:creationId xmlns:a16="http://schemas.microsoft.com/office/drawing/2014/main" id="{0E501129-0CA5-4496-8023-CB8DB562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Kursmål 1, 4–6 och 8–9. Boken: kapitel 6, s. 46–52.</a:t>
            </a:r>
          </a:p>
        </p:txBody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62D5C7C2-1A48-4CF7-AAD6-6A294AC4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271274fef4e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8" name="Dagens två pass">
            <a:extLst xmlns:a="http://schemas.openxmlformats.org/drawingml/2006/main">
              <a:ext uri="{FF2B5EF4-FFF2-40B4-BE49-F238E27FC236}">
                <a16:creationId xmlns:a16="http://schemas.microsoft.com/office/drawing/2014/main" id="{BD038F86-8EB5-4C56-B812-909048F1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9" name="Pass 1: användning och säkra kopplingar">
            <a:extLst xmlns:a="http://schemas.openxmlformats.org/drawingml/2006/main">
              <a:ext uri="{FF2B5EF4-FFF2-40B4-BE49-F238E27FC236}">
                <a16:creationId xmlns:a16="http://schemas.microsoft.com/office/drawing/2014/main" id="{B6849A5D-E375-41D4-8CB4-050C3CD2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mätning i vår fartygsmodell</a:t>
            </a:r>
          </a:p>
        </p:txBody>
      </p:sp>
      <p:sp>
        <p:nvSpPr>
          <p:cNvPr id="20" name="5 min start, 25 min bildgenomgång och demonstration&#10;10 min övning">
            <a:extLst xmlns:a="http://schemas.openxmlformats.org/drawingml/2006/main">
              <a:ext uri="{FF2B5EF4-FFF2-40B4-BE49-F238E27FC236}">
                <a16:creationId xmlns:a16="http://schemas.microsoft.com/office/drawing/2014/main" id="{3E538A9C-FD71-4962-8274-D5B1DCE0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762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start, 25 min bildgenomgång och demonstration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10 min övning 1–2, 5 min gemensam återkoppling</a:t>
            </a:r>
          </a:p>
        </p:txBody>
      </p:sp>
      <p:sp>
        <p:nvSpPr>
          <p:cNvPr id="21" name="Pass 2: mätfel och dokumentation">
            <a:extLst xmlns:a="http://schemas.openxmlformats.org/drawingml/2006/main">
              <a:ext uri="{FF2B5EF4-FFF2-40B4-BE49-F238E27FC236}">
                <a16:creationId xmlns:a16="http://schemas.microsoft.com/office/drawing/2014/main" id="{5D1EF25B-A4EC-4610-8892-A86EF0A9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mätfel och dokumentation</a:t>
            </a:r>
          </a:p>
        </p:txBody>
      </p:sp>
      <p:sp>
        <p:nvSpPr>
          <p:cNvPr id="22" name="20 min exempel, 15 min övning 6 och 8&#10;8 min lösningsdiskussion, 2">
            <a:extLst xmlns:a="http://schemas.openxmlformats.org/drawingml/2006/main">
              <a:ext uri="{FF2B5EF4-FFF2-40B4-BE49-F238E27FC236}">
                <a16:creationId xmlns:a16="http://schemas.microsoft.com/office/drawing/2014/main" id="{BDD06FD1-5867-4B43-B434-37458DEC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exempel, 15 min övning 6 och 8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 min lösningsdiskussion, 2 min avslut</a:t>
            </a:r>
          </a:p>
        </p:txBody>
      </p:sp>
      <p:sp>
        <p:nvSpPr>
          <p:cNvPr id="23" name="Visa batteriklippet 5:45–7:59 inom demonstrationstiden.&#10;Övriga fi">
            <a:extLst xmlns:a="http://schemas.openxmlformats.org/drawingml/2006/main">
              <a:ext uri="{FF2B5EF4-FFF2-40B4-BE49-F238E27FC236}">
                <a16:creationId xmlns:a16="http://schemas.microsoft.com/office/drawing/2014/main" id="{24FC8574-1CDA-447C-ABA0-8D6AE3C0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Visa batteriklippet 5:45–7:59 inom demonstrationstiden.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Övriga filmer och övningar är fördjupning eller eget arbete.</a:t>
            </a:r>
          </a:p>
        </p:txBody>
      </p:sp>
      <p:sp>
        <p:nvSpPr>
          <p:cNvPr id="24" name="Praktisk träning sker vid handledd träff enligt labbplanen. Paus ">
            <a:extLst xmlns:a="http://schemas.openxmlformats.org/drawingml/2006/main">
              <a:ext uri="{FF2B5EF4-FFF2-40B4-BE49-F238E27FC236}">
                <a16:creationId xmlns:a16="http://schemas.microsoft.com/office/drawing/2014/main" id="{AE10B888-2CF3-4829-A020-E2C216F5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Praktisk träning sker vid handledd träff enligt labbplanen. Paus tillkommer.</a:t>
            </a:r>
          </a:p>
        </p:txBody>
      </p:sp>
      <p:sp>
        <p:nvSpPr>
          <p:cNvPr id="25" name="3">
            <a:extLst xmlns:a="http://schemas.openxmlformats.org/drawingml/2006/main">
              <a:ext uri="{FF2B5EF4-FFF2-40B4-BE49-F238E27FC236}">
                <a16:creationId xmlns:a16="http://schemas.microsoft.com/office/drawing/2014/main" id="{78266D65-4668-4662-89CA-B7C0B4DF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83fdb3ac64b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7" name="Multimetern i sjöingenjörens vardag">
            <a:extLst xmlns:a="http://schemas.openxmlformats.org/drawingml/2006/main">
              <a:ext uri="{FF2B5EF4-FFF2-40B4-BE49-F238E27FC236}">
                <a16:creationId xmlns:a16="http://schemas.microsoft.com/office/drawing/2014/main" id="{E8E48490-C09A-4A89-A022-CD0AEFFE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Multimetern i sjöingenjörens vardag</a:t>
            </a:r>
          </a:p>
        </p:txBody>
      </p:sp>
      <p:sp>
        <p:nvSpPr>
          <p:cNvPr id="18" name="Får hyttlampan spänning?">
            <a:extLst xmlns:a="http://schemas.openxmlformats.org/drawingml/2006/main">
              <a:ext uri="{FF2B5EF4-FFF2-40B4-BE49-F238E27FC236}">
                <a16:creationId xmlns:a16="http://schemas.microsoft.com/office/drawing/2014/main" id="{321B85C9-7C25-4F03-A60B-73DF8BA9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Får hyttlampan spänning?</a:t>
            </a:r>
          </a:p>
        </p:txBody>
      </p:sp>
      <p:sp>
        <p:nvSpPr>
          <p:cNvPr id="19" name="Mät mellan lampans två anslutningar.">
            <a:extLst xmlns:a="http://schemas.openxmlformats.org/drawingml/2006/main">
              <a:ext uri="{FF2B5EF4-FFF2-40B4-BE49-F238E27FC236}">
                <a16:creationId xmlns:a16="http://schemas.microsoft.com/office/drawing/2014/main" id="{2FCAC740-B35F-4B56-A3E0-D85DD0DA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 mellan lampans två anslutningar.</a:t>
            </a:r>
          </a:p>
        </p:txBody>
      </p:sp>
      <p:sp>
        <p:nvSpPr>
          <p:cNvPr id="20" name="Hur stor ström tar lampan?">
            <a:extLst xmlns:a="http://schemas.openxmlformats.org/drawingml/2006/main">
              <a:ext uri="{FF2B5EF4-FFF2-40B4-BE49-F238E27FC236}">
                <a16:creationId xmlns:a16="http://schemas.microsoft.com/office/drawing/2014/main" id="{DFE24267-3A4B-42BC-ADAC-27628C60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Hur stor ström tar lampan?</a:t>
            </a:r>
          </a:p>
        </p:txBody>
      </p:sp>
      <p:sp>
        <p:nvSpPr>
          <p:cNvPr id="21" name="Koppla mätaren i serie med lampkretsen i övningsriggen.">
            <a:extLst xmlns:a="http://schemas.openxmlformats.org/drawingml/2006/main">
              <a:ext uri="{FF2B5EF4-FFF2-40B4-BE49-F238E27FC236}">
                <a16:creationId xmlns:a16="http://schemas.microsoft.com/office/drawing/2014/main" id="{9403AC5D-5141-43D8-8AE3-BCAF39A0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7620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Koppla mätaren i serie med lampkretsen i övningsriggen.</a:t>
            </a:r>
          </a:p>
        </p:txBody>
      </p:sp>
      <p:sp>
        <p:nvSpPr>
          <p:cNvPr id="22" name="Är säkringen hel?">
            <a:extLst xmlns:a="http://schemas.openxmlformats.org/drawingml/2006/main">
              <a:ext uri="{FF2B5EF4-FFF2-40B4-BE49-F238E27FC236}">
                <a16:creationId xmlns:a16="http://schemas.microsoft.com/office/drawing/2014/main" id="{E56107BA-41C1-424A-BF03-7263CC57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Är säkringen hel?</a:t>
            </a:r>
          </a:p>
        </p:txBody>
      </p:sp>
      <p:sp>
        <p:nvSpPr>
          <p:cNvPr id="23" name="Kontrollera den uttagna säkringen med kontinuitetsfunktionen.">
            <a:extLst xmlns:a="http://schemas.openxmlformats.org/drawingml/2006/main">
              <a:ext uri="{FF2B5EF4-FFF2-40B4-BE49-F238E27FC236}">
                <a16:creationId xmlns:a16="http://schemas.microsoft.com/office/drawing/2014/main" id="{C6600363-7075-4231-81EE-0CA5B2D4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7620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Ta ut säkringen. Kontrollera om ström kan passera med mätarens pipfunktion.</a:t>
            </a:r>
          </a:p>
        </p:txBody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08E228BC-755A-4BBF-B876-DBEFEBF5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686396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9df705ead4a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Film: spänning, ström och resistans">
            <a:extLst xmlns:a="http://schemas.openxmlformats.org/drawingml/2006/main">
              <a:ext uri="{FF2B5EF4-FFF2-40B4-BE49-F238E27FC236}">
                <a16:creationId xmlns:a16="http://schemas.microsoft.com/office/drawing/2014/main" id="{02BAFA77-279C-4580-BB32-CED4DCDF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Film: spänning, ström och resistans</a:t>
            </a:r>
          </a:p>
        </p:txBody>
      </p:sp>
      <p:sp>
        <p:nvSpPr>
          <p:cNvPr id="9" name="Kjell &amp; Company Sverige">
            <a:extLst xmlns:a="http://schemas.openxmlformats.org/drawingml/2006/main">
              <a:ext uri="{FF2B5EF4-FFF2-40B4-BE49-F238E27FC236}">
                <a16:creationId xmlns:a16="http://schemas.microsoft.com/office/drawing/2014/main" id="{69E49A96-ECC2-4B19-B836-CECBA531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Kjell &amp; Company Sverige</a:t>
            </a:r>
          </a:p>
        </p:txBody>
      </p:sp>
      <p:sp>
        <p:nvSpPr>
          <p:cNvPr id="10" name="”Vad är spänning, ström och resistans?”&#10;Svenskt tal och svenska u">
            <a:extLst xmlns:a="http://schemas.openxmlformats.org/drawingml/2006/main">
              <a:ext uri="{FF2B5EF4-FFF2-40B4-BE49-F238E27FC236}">
                <a16:creationId xmlns:a16="http://schemas.microsoft.com/office/drawing/2014/main" id="{B200E9A3-ECDF-46E6-B330-9A113825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”Vad är spänning, ström och resistans?”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Svenskt tal och svenska undertexter. Hela filmen: 17:45.</a:t>
            </a:r>
          </a:p>
        </p:txBody>
      </p:sp>
      <p:sp>
        <p:nvSpPr>
          <p:cNvPr id="11" name="Öppna filmen på Youtube">
            <a:extLst xmlns:a="http://schemas.openxmlformats.org/drawingml/2006/main">
              <a:ext uri="{FF2B5EF4-FFF2-40B4-BE49-F238E27FC236}">
                <a16:creationId xmlns:a16="http://schemas.microsoft.com/office/drawing/2014/main" id="{186C9CD4-3478-463E-96C7-2997EB91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 u="sng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e7d8bc3c42549bd"/>
              </a:rPr>
              <a:t>Öppna filmen på Youtube</a:t>
            </a:r>
          </a:p>
        </p:txBody>
      </p:sp>
      <p:sp>
        <p:nvSpPr>
          <p:cNvPr id="12" name="Titta efter">
            <a:extLst xmlns:a="http://schemas.openxmlformats.org/drawingml/2006/main">
              <a:ext uri="{FF2B5EF4-FFF2-40B4-BE49-F238E27FC236}">
                <a16:creationId xmlns:a16="http://schemas.microsoft.com/office/drawing/2014/main" id="{530BE948-EB42-4E59-B449-BC42E23B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Titta efter</a:t>
            </a:r>
          </a:p>
        </p:txBody>
      </p:sp>
      <p:sp>
        <p:nvSpPr>
          <p:cNvPr id="13" name="Vilken storhet beskriver skillnaden mellan batterierna?&#10;Vilken st">
            <a:extLst xmlns:a="http://schemas.openxmlformats.org/drawingml/2006/main">
              <a:ext uri="{FF2B5EF4-FFF2-40B4-BE49-F238E27FC236}">
                <a16:creationId xmlns:a16="http://schemas.microsoft.com/office/drawing/2014/main" id="{EC41CA87-3571-490B-89F0-D826EEE2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7620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Vilken spänning har de olika batterierna?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mäter vi mellan två punkter?</a:t>
            </a:r>
          </a:p>
        </p:txBody>
      </p:sp>
      <p:sp>
        <p:nvSpPr>
          <p:cNvPr id="14" name="Valbar introduktion eller förberedelse. Visa inte hela filmen ino">
            <a:extLst xmlns:a="http://schemas.openxmlformats.org/drawingml/2006/main">
              <a:ext uri="{FF2B5EF4-FFF2-40B4-BE49-F238E27FC236}">
                <a16:creationId xmlns:a16="http://schemas.microsoft.com/office/drawing/2014/main" id="{FEBE9543-CA72-46A9-8DBD-3A08D2CA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Valbar introduktion eller förberedelse. Visa inte hela filmen inom 90-minuterspasset.</a:t>
            </a:r>
          </a:p>
        </p:txBody>
      </p:sp>
      <p:sp>
        <p:nvSpPr>
          <p:cNvPr id="15" name="5">
            <a:extLst xmlns:a="http://schemas.openxmlformats.org/drawingml/2006/main">
              <a:ext uri="{FF2B5EF4-FFF2-40B4-BE49-F238E27FC236}">
                <a16:creationId xmlns:a16="http://schemas.microsoft.com/office/drawing/2014/main" id="{1BC03523-7C58-4B41-819C-DE45A660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321089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13ad5211e4e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Multimeterns delar och symboler">
            <a:extLst xmlns:a="http://schemas.openxmlformats.org/drawingml/2006/main">
              <a:ext uri="{FF2B5EF4-FFF2-40B4-BE49-F238E27FC236}">
                <a16:creationId xmlns:a16="http://schemas.microsoft.com/office/drawing/2014/main" id="{BB1D98D5-04A8-4D34-9670-36335B58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Multimeterns delar och symboler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62397f89c4117"/>
          <a:srcRect xmlns:a="http://schemas.openxmlformats.org/drawingml/2006/main" l="22000" t="0" r="24000" b="0"/>
          <a:stretch xmlns:a="http://schemas.openxmlformats.org/drawingml/2006/main"/>
        </p:blipFill>
        <p:spPr>
          <a:xfrm xmlns:a="http://schemas.openxmlformats.org/drawingml/2006/main">
            <a:off x="762000" y="1409700"/>
            <a:ext cx="4000500" cy="2533650"/>
          </a:xfrm>
          <a:prstGeom xmlns:a="http://schemas.openxmlformats.org/drawingml/2006/main" prst="rect">
            <a:avLst/>
          </a:prstGeom>
        </p:spPr>
      </p:pic>
      <p:sp>
        <p:nvSpPr>
          <p:cNvPr id="10" name="Display">
            <a:extLst xmlns:a="http://schemas.openxmlformats.org/drawingml/2006/main">
              <a:ext uri="{FF2B5EF4-FFF2-40B4-BE49-F238E27FC236}">
                <a16:creationId xmlns:a16="http://schemas.microsoft.com/office/drawing/2014/main" id="{A75788CD-7CAE-404F-8907-2971E3E7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1447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Display = skärmen</a:t>
            </a:r>
          </a:p>
        </p:txBody>
      </p:sp>
      <p:sp>
        <p:nvSpPr>
          <p:cNvPr id="11" name="Läs tal, enhet och AC/DC.">
            <a:extLst xmlns:a="http://schemas.openxmlformats.org/drawingml/2006/main">
              <a:ext uri="{FF2B5EF4-FFF2-40B4-BE49-F238E27FC236}">
                <a16:creationId xmlns:a16="http://schemas.microsoft.com/office/drawing/2014/main" id="{35F18F99-656D-409D-93EA-7023E3EB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050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Läs tal, enhet och AC/DC.</a:t>
            </a:r>
          </a:p>
        </p:txBody>
      </p:sp>
      <p:sp>
        <p:nvSpPr>
          <p:cNvPr id="12" name="Funktionsvred">
            <a:extLst xmlns:a="http://schemas.openxmlformats.org/drawingml/2006/main">
              <a:ext uri="{FF2B5EF4-FFF2-40B4-BE49-F238E27FC236}">
                <a16:creationId xmlns:a16="http://schemas.microsoft.com/office/drawing/2014/main" id="{4FC659E9-A41F-4B8A-AFFB-7C5FF290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6225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Vred = välj mätläge</a:t>
            </a:r>
          </a:p>
        </p:txBody>
      </p:sp>
      <p:sp>
        <p:nvSpPr>
          <p:cNvPr id="13" name="V: spänning&#10;A: ström&#10;Ω: resistans">
            <a:extLst xmlns:a="http://schemas.openxmlformats.org/drawingml/2006/main">
              <a:ext uri="{FF2B5EF4-FFF2-40B4-BE49-F238E27FC236}">
                <a16:creationId xmlns:a16="http://schemas.microsoft.com/office/drawing/2014/main" id="{44876E63-E1FB-48FD-9E43-35880AD5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527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V: spänning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A: ström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Ω: motstånd</a:t>
            </a:r>
          </a:p>
        </p:txBody>
      </p:sp>
      <p:sp>
        <p:nvSpPr>
          <p:cNvPr id="14" name="Svart ledning: COM">
            <a:extLst xmlns:a="http://schemas.openxmlformats.org/drawingml/2006/main">
              <a:ext uri="{FF2B5EF4-FFF2-40B4-BE49-F238E27FC236}">
                <a16:creationId xmlns:a16="http://schemas.microsoft.com/office/drawing/2014/main" id="{AE506DC5-4AAE-440D-AFB0-F51994EE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Svart ledning: COM, mätarens jämförelsepunkt</a:t>
            </a:r>
          </a:p>
        </p:txBody>
      </p:sp>
      <p:sp>
        <p:nvSpPr>
          <p:cNvPr id="15" name="Röd ledning: V/Ω för spänning, resistans och kontinuitet.&#10;Vid str">
            <a:extLst xmlns:a="http://schemas.openxmlformats.org/drawingml/2006/main">
              <a:ext uri="{FF2B5EF4-FFF2-40B4-BE49-F238E27FC236}">
                <a16:creationId xmlns:a16="http://schemas.microsoft.com/office/drawing/2014/main" id="{BF527A73-FED5-4AF2-99F1-36269155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762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Röd ledning: V/Ω för spänning, resistans och pipfunktion.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strömmätning: avsedd A- eller mA-ingång enligt manualen.</a:t>
            </a:r>
          </a:p>
        </p:txBody>
      </p:sp>
      <p:sp>
        <p:nvSpPr>
          <p:cNvPr id="16" name="DC/likspänning: heldragen och streckad linje. AC/växelspänning: ~">
            <a:extLst xmlns:a="http://schemas.openxmlformats.org/drawingml/2006/main">
              <a:ext uri="{FF2B5EF4-FFF2-40B4-BE49-F238E27FC236}">
                <a16:creationId xmlns:a16="http://schemas.microsoft.com/office/drawing/2014/main" id="{3397E150-07ED-4856-B7E1-04D0EDB9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Prober betyder mätspetsar. I riggen går svart spets till P2, inte till jord eller skrov.</a:t>
            </a:r>
          </a:p>
        </p:txBody>
      </p:sp>
      <p:sp>
        <p:nvSpPr>
          <p:cNvPr id="17" name="6">
            <a:extLst xmlns:a="http://schemas.openxmlformats.org/drawingml/2006/main">
              <a:ext uri="{FF2B5EF4-FFF2-40B4-BE49-F238E27FC236}">
                <a16:creationId xmlns:a16="http://schemas.microsoft.com/office/drawing/2014/main" id="{00CE492A-00BA-4BBF-9661-6C4008DC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396980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e80bdaaaf45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Förkontroll före mätningen">
            <a:extLst xmlns:a="http://schemas.openxmlformats.org/drawingml/2006/main">
              <a:ext uri="{FF2B5EF4-FFF2-40B4-BE49-F238E27FC236}">
                <a16:creationId xmlns:a16="http://schemas.microsoft.com/office/drawing/2014/main" id="{72569B91-00B0-41D7-8870-1CA8E92B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Förkontroll före mätningen</a:t>
            </a:r>
          </a:p>
        </p:txBody>
      </p:sp>
      <p:sp>
        <p:nvSpPr>
          <p:cNvPr id="9" name="1. Bestäm storhet, mätpunkter och förväntat värde.">
            <a:extLst xmlns:a="http://schemas.openxmlformats.org/drawingml/2006/main">
              <a:ext uri="{FF2B5EF4-FFF2-40B4-BE49-F238E27FC236}">
                <a16:creationId xmlns:a16="http://schemas.microsoft.com/office/drawing/2014/main" id="{77784FAB-21F0-437E-BED2-9912CF71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Vad ska du mäta, var och vilket värde väntar du dig?</a:t>
            </a:r>
          </a:p>
        </p:txBody>
      </p:sp>
      <p:sp>
        <p:nvSpPr>
          <p:cNvPr id="10" name="2. Kontrollera instrument, mätsladdar och prober.">
            <a:extLst xmlns:a="http://schemas.openxmlformats.org/drawingml/2006/main">
              <a:ext uri="{FF2B5EF4-FFF2-40B4-BE49-F238E27FC236}">
                <a16:creationId xmlns:a16="http://schemas.microsoft.com/office/drawing/2014/main" id="{BC4A0ABC-0E46-4DA9-8E17-38811CCD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Kontrollera mätaren, sladdarna och mätspetsarna.</a:t>
            </a:r>
          </a:p>
        </p:txBody>
      </p:sp>
      <p:sp>
        <p:nvSpPr>
          <p:cNvPr id="11" name="3. Välj funktion, rätt ingång och lämpligt mätområde.">
            <a:extLst xmlns:a="http://schemas.openxmlformats.org/drawingml/2006/main">
              <a:ext uri="{FF2B5EF4-FFF2-40B4-BE49-F238E27FC236}">
                <a16:creationId xmlns:a16="http://schemas.microsoft.com/office/drawing/2014/main" id="{5B7844E3-7AFF-4EB3-BDC0-4531E88E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Välj mätläge, rätt uttag och ett område som räcker.</a:t>
            </a:r>
          </a:p>
        </p:txBody>
      </p:sp>
      <p:sp>
        <p:nvSpPr>
          <p:cNvPr id="12" name="4. Kontrollera kopplingen innan du ansluter.">
            <a:extLst xmlns:a="http://schemas.openxmlformats.org/drawingml/2006/main">
              <a:ext uri="{FF2B5EF4-FFF2-40B4-BE49-F238E27FC236}">
                <a16:creationId xmlns:a16="http://schemas.microsoft.com/office/drawing/2014/main" id="{E3D02FE7-5894-4939-985B-979FC02B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4. Kontrollera kopplingen innan du ansluter.</a:t>
            </a:r>
          </a:p>
        </p:txBody>
      </p:sp>
      <p:sp>
        <p:nvSpPr>
          <p:cNvPr id="13" name="I övningarna används en strömbegränsad 12 V SELV-rigg.&#10;Omkoppling">
            <a:extLst xmlns:a="http://schemas.openxmlformats.org/drawingml/2006/main">
              <a:ext uri="{FF2B5EF4-FFF2-40B4-BE49-F238E27FC236}">
                <a16:creationId xmlns:a16="http://schemas.microsoft.com/office/drawing/2014/main" id="{F7812007-8511-418F-B429-99835625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7620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Vår 12 V-rigg begränsar hur stor ström källan kan ge.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Omkoppling sker med matningen frånkopplad.</a:t>
            </a:r>
          </a:p>
        </p:txBody>
      </p:sp>
      <p:sp>
        <p:nvSpPr>
          <p:cNvPr id="14" name="7">
            <a:extLst xmlns:a="http://schemas.openxmlformats.org/drawingml/2006/main">
              <a:ext uri="{FF2B5EF4-FFF2-40B4-BE49-F238E27FC236}">
                <a16:creationId xmlns:a16="http://schemas.microsoft.com/office/drawing/2014/main" id="{C3FECF60-0D4D-429F-BDAB-9C4EDD00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119804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6ea3e7b824f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Vår SELV-rigg: hyttbelysning">
            <a:extLst xmlns:a="http://schemas.openxmlformats.org/drawingml/2006/main">
              <a:ext uri="{FF2B5EF4-FFF2-40B4-BE49-F238E27FC236}">
                <a16:creationId xmlns:a16="http://schemas.microsoft.com/office/drawing/2014/main" id="{455FC100-764B-4924-97D8-63386E76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Vår SELV-rigg: hyttbelysning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e74fd074d441e"/>
          <a:srcRect xmlns:a="http://schemas.openxmlformats.org/drawingml/2006/main" l="0" t="10000" r="0" b="8000"/>
          <a:stretch xmlns:a="http://schemas.openxmlformats.org/drawingml/2006/main"/>
        </p:blipFill>
        <p:spPr>
          <a:xfrm xmlns:a="http://schemas.openxmlformats.org/drawingml/2006/main">
            <a:off x="381000" y="1333500"/>
            <a:ext cx="8382000" cy="3810000"/>
          </a:xfrm>
          <a:prstGeom xmlns:a="http://schemas.openxmlformats.org/drawingml/2006/main" prst="rect">
            <a:avLst/>
          </a:prstGeom>
        </p:spPr>
      </p:pic>
      <p:sp>
        <p:nvSpPr>
          <p:cNvPr id="18" name="SELV = skyddsklenspänning">
            <a:extLst xmlns:a="http://schemas.openxmlformats.org/drawingml/2006/main">
              <a:ext uri="{FF2B5EF4-FFF2-40B4-BE49-F238E27FC236}">
                <a16:creationId xmlns:a16="http://schemas.microsoft.com/office/drawing/2014/main" id="{E2BF31E7-6D1F-4570-A632-4FCF199F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SELV = skyddsklenspänning</a:t>
            </a:r>
          </a:p>
        </p:txBody>
      </p:sp>
      <p:sp>
        <p:nvSpPr>
          <p:cNvPr id="19" name="Mycket låg spänning med skyddsseparation från högre spänning.">
            <a:extLst xmlns:a="http://schemas.openxmlformats.org/drawingml/2006/main">
              <a:ext uri="{FF2B5EF4-FFF2-40B4-BE49-F238E27FC236}">
                <a16:creationId xmlns:a16="http://schemas.microsoft.com/office/drawing/2014/main" id="{D4ABB19D-D7AE-470B-9653-04C28294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38800"/>
            <a:ext cx="790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Här: 12 V, skyddat avskilt från högre spänning och jord.</a:t>
            </a:r>
          </a:p>
        </p:txBody>
      </p:sp>
      <p:sp>
        <p:nvSpPr>
          <p:cNvPr id="20" name="8">
            <a:extLst xmlns:a="http://schemas.openxmlformats.org/drawingml/2006/main">
              <a:ext uri="{FF2B5EF4-FFF2-40B4-BE49-F238E27FC236}">
                <a16:creationId xmlns:a16="http://schemas.microsoft.com/office/drawing/2014/main" id="{15B3022D-D94D-4272-9EDB-A9641FAB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949379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9607306f04a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Från rigg till kopplingsschema">
            <a:extLst xmlns:a="http://schemas.openxmlformats.org/drawingml/2006/main">
              <a:ext uri="{FF2B5EF4-FFF2-40B4-BE49-F238E27FC236}">
                <a16:creationId xmlns:a16="http://schemas.microsoft.com/office/drawing/2014/main" id="{E86064DE-6F36-41FC-A9ED-126EF217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Från rigg till kopplingsschema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eef769714424f"/>
          <a:stretch xmlns:a="http://schemas.openxmlformats.org/drawingml/2006/main"/>
        </p:blipFill>
        <p:spPr>
          <a:xfrm xmlns:a="http://schemas.openxmlformats.org/drawingml/2006/main">
            <a:off x="381000" y="1602581"/>
            <a:ext cx="5048250" cy="3786188"/>
          </a:xfrm>
          <a:prstGeom xmlns:a="http://schemas.openxmlformats.org/drawingml/2006/main" prst="rect">
            <a:avLst/>
          </a:prstGeom>
        </p:spPr>
      </p:pic>
      <p:sp>
        <p:nvSpPr>
          <p:cNvPr id="18" name="F1: säkringen">
            <a:extLst xmlns:a="http://schemas.openxmlformats.org/drawingml/2006/main">
              <a:ext uri="{FF2B5EF4-FFF2-40B4-BE49-F238E27FC236}">
                <a16:creationId xmlns:a16="http://schemas.microsoft.com/office/drawing/2014/main" id="{11E78D22-5606-4052-A404-EDDB54FA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1925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F1: säkringen</a:t>
            </a:r>
          </a:p>
        </p:txBody>
      </p:sp>
      <p:sp>
        <p:nvSpPr>
          <p:cNvPr id="19" name="S1: brytaren">
            <a:extLst xmlns:a="http://schemas.openxmlformats.org/drawingml/2006/main">
              <a:ext uri="{FF2B5EF4-FFF2-40B4-BE49-F238E27FC236}">
                <a16:creationId xmlns:a16="http://schemas.microsoft.com/office/drawing/2014/main" id="{BE3F1CB5-AB1F-426B-9256-D80E7F51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371725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S1: brytaren</a:t>
            </a:r>
          </a:p>
        </p:txBody>
      </p:sp>
      <p:sp>
        <p:nvSpPr>
          <p:cNvPr id="20" name="H1: hyttlampan">
            <a:extLst xmlns:a="http://schemas.openxmlformats.org/drawingml/2006/main">
              <a:ext uri="{FF2B5EF4-FFF2-40B4-BE49-F238E27FC236}">
                <a16:creationId xmlns:a16="http://schemas.microsoft.com/office/drawing/2014/main" id="{4F575348-5C40-468D-BB32-B6882F05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2420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H1: hyttlampan</a:t>
            </a:r>
          </a:p>
        </p:txBody>
      </p:sp>
      <p:sp>
        <p:nvSpPr>
          <p:cNvPr id="21" name="P1 och P2: punkterna där vi mäter lampans spänning.">
            <a:extLst xmlns:a="http://schemas.openxmlformats.org/drawingml/2006/main">
              <a:ext uri="{FF2B5EF4-FFF2-40B4-BE49-F238E27FC236}">
                <a16:creationId xmlns:a16="http://schemas.microsoft.com/office/drawing/2014/main" id="{FA770CCB-2570-436A-AB58-963C0BAA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943350"/>
            <a:ext cx="3067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P1 och P2: punkterna där vi mäter lampans spänning.</a:t>
            </a:r>
          </a:p>
        </p:txBody>
      </p:sp>
      <p:sp>
        <p:nvSpPr>
          <p:cNvPr id="22" name="I denna SELV-rigg är 12 V-kretsen skild från jord. Returledningen går ">
            <a:extLst xmlns:a="http://schemas.openxmlformats.org/drawingml/2006/main">
              <a:ext uri="{FF2B5EF4-FFF2-40B4-BE49-F238E27FC236}">
                <a16:creationId xmlns:a16="http://schemas.microsoft.com/office/drawing/2014/main" id="{BA365512-ED30-42EF-BADB-C6B59AD0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Svart ledning går tillbaka till 12 V-källan. Den ansluts inte till jord eller fartygsskrov.</a:t>
            </a:r>
          </a:p>
        </p:txBody>
      </p:sp>
      <p:sp>
        <p:nvSpPr>
          <p:cNvPr id="23" name="9">
            <a:extLst xmlns:a="http://schemas.openxmlformats.org/drawingml/2006/main">
              <a:ext uri="{FF2B5EF4-FFF2-40B4-BE49-F238E27FC236}">
                <a16:creationId xmlns:a16="http://schemas.microsoft.com/office/drawing/2014/main" id="{966A73DA-EE74-4999-A753-0837DC5E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465435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3559070744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Avläsning, område och upplösning">
            <a:extLst xmlns:a="http://schemas.openxmlformats.org/drawingml/2006/main">
              <a:ext uri="{FF2B5EF4-FFF2-40B4-BE49-F238E27FC236}">
                <a16:creationId xmlns:a16="http://schemas.microsoft.com/office/drawing/2014/main" id="{A18787CE-0728-4EAF-A691-3CA56DCD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Så läser du mätaren</a:t>
            </a:r>
          </a:p>
        </p:txBody>
      </p:sp>
      <p:sp>
        <p:nvSpPr>
          <p:cNvPr id="17" name="12,00 V">
            <a:extLst xmlns:a="http://schemas.openxmlformats.org/drawingml/2006/main">
              <a:ext uri="{FF2B5EF4-FFF2-40B4-BE49-F238E27FC236}">
                <a16:creationId xmlns:a16="http://schemas.microsoft.com/office/drawing/2014/main" id="{B61ABD3C-D78B-495F-A04F-DFD7C706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49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12,00 V</a:t>
            </a:r>
          </a:p>
        </p:txBody>
      </p:sp>
      <p:sp>
        <p:nvSpPr>
          <p:cNvPr id="18" name="Avläsningen har både tal och enhet.">
            <a:extLst xmlns:a="http://schemas.openxmlformats.org/drawingml/2006/main">
              <a:ext uri="{FF2B5EF4-FFF2-40B4-BE49-F238E27FC236}">
                <a16:creationId xmlns:a16="http://schemas.microsoft.com/office/drawing/2014/main" id="{19F14FF3-661C-4726-9F18-4B7E21C7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47825"/>
            <a:ext cx="381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Avläsningen har både tal och enhet.</a:t>
            </a:r>
          </a:p>
        </p:txBody>
      </p:sp>
      <p:sp>
        <p:nvSpPr>
          <p:cNvPr id="19" name="0,01 V">
            <a:extLst xmlns:a="http://schemas.openxmlformats.org/drawingml/2006/main">
              <a:ext uri="{FF2B5EF4-FFF2-40B4-BE49-F238E27FC236}">
                <a16:creationId xmlns:a16="http://schemas.microsoft.com/office/drawing/2014/main" id="{F1F5069F-AB4C-4822-8747-1E4F7DD5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357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7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0,01 V</a:t>
            </a:r>
          </a:p>
        </p:txBody>
      </p:sp>
      <p:sp>
        <p:nvSpPr>
          <p:cNvPr id="20" name="Upplösning: ett steg i sista siffran.">
            <a:extLst xmlns:a="http://schemas.openxmlformats.org/drawingml/2006/main">
              <a:ext uri="{FF2B5EF4-FFF2-40B4-BE49-F238E27FC236}">
                <a16:creationId xmlns:a16="http://schemas.microsoft.com/office/drawing/2014/main" id="{52D303AC-85E9-4481-9078-E41FEE78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Upplösning = minsta steget. Här: 12,00 till 12,01 V.</a:t>
            </a:r>
          </a:p>
        </p:txBody>
      </p:sp>
      <p:sp>
        <p:nvSpPr>
          <p:cNvPr id="21" name="DC eller AC?">
            <a:extLst xmlns:a="http://schemas.openxmlformats.org/drawingml/2006/main">
              <a:ext uri="{FF2B5EF4-FFF2-40B4-BE49-F238E27FC236}">
                <a16:creationId xmlns:a16="http://schemas.microsoft.com/office/drawing/2014/main" id="{53540956-ACCE-4D03-BABF-A1E8D20D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DC eller AC?</a:t>
            </a:r>
          </a:p>
        </p:txBody>
      </p:sp>
      <p:sp>
        <p:nvSpPr>
          <p:cNvPr id="22" name="Välj efter källan. Autorange väljer område, inte rätt funktion el">
            <a:extLst xmlns:a="http://schemas.openxmlformats.org/drawingml/2006/main">
              <a:ext uri="{FF2B5EF4-FFF2-40B4-BE49-F238E27FC236}">
                <a16:creationId xmlns:a16="http://schemas.microsoft.com/office/drawing/2014/main" id="{7B35F9D9-FC5C-45A3-A212-E7B7B18F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9525"/>
            <a:ext cx="3810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DC: likspänning. AC: växelspänning. Autorange väljer mätområde åt dig.</a:t>
            </a:r>
          </a:p>
        </p:txBody>
      </p:sp>
      <p:sp>
        <p:nvSpPr>
          <p:cNvPr id="23" name="OL betyder olika saker beroende på funktion: överområde&#10;eller hög">
            <a:extLst xmlns:a="http://schemas.openxmlformats.org/drawingml/2006/main">
              <a:ext uri="{FF2B5EF4-FFF2-40B4-BE49-F238E27FC236}">
                <a16:creationId xmlns:a16="http://schemas.microsoft.com/office/drawing/2014/main" id="{4DE4C7AE-85B8-4930-B8D9-E8FB64B6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7620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OL: värdet ryms inte i mätområdet. Vid Ω kan det betyda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mycket stort motstånd eller en bruten strömväg. Läs manualen.</a:t>
            </a:r>
          </a:p>
        </p:txBody>
      </p:sp>
      <p:sp>
        <p:nvSpPr>
          <p:cNvPr id="24" name="8">
            <a:extLst xmlns:a="http://schemas.openxmlformats.org/drawingml/2006/main">
              <a:ext uri="{FF2B5EF4-FFF2-40B4-BE49-F238E27FC236}">
                <a16:creationId xmlns:a16="http://schemas.microsoft.com/office/drawing/2014/main" id="{DB904165-89A8-4EDB-82E5-7BA25AC2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230b6b3fd48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179FC03A-3A3C-4C07-B600-7600DE55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08CFFC78-C0BA-4C6D-9654-B2BCD62E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99CFE6B5-790E-414D-BC5F-A312AAC3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891C55CF-3A39-4601-8041-0E22045A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0EB569CC-80F8-4349-8CBA-A243AFB5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en formel som passar kopplingen och uppgiftens villkor.</a:t>
            </a:r>
          </a:p>
        </p:txBody>
      </p:sp>
      <p:sp>
        <p:nvSpPr>
          <p:cNvPr id="14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17E3A97C-356B-4233-A923-C19836CD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609ED80D-0670-4679-AA3B-EB1383F1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Förklara med egna ord vad du ser och varför du drar din slutsats.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584E4070-976E-4EDF-8AC5-4889B265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01aefa3f146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Spänning och ström">
            <a:extLst xmlns:a="http://schemas.openxmlformats.org/drawingml/2006/main">
              <a:ext uri="{FF2B5EF4-FFF2-40B4-BE49-F238E27FC236}">
                <a16:creationId xmlns:a16="http://schemas.microsoft.com/office/drawing/2014/main" id="{AAA486FC-3945-4F29-83B4-A249920A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 och ström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0bd26799e49a3"/>
          <a:stretch xmlns:a="http://schemas.openxmlformats.org/drawingml/2006/main"/>
        </p:blipFill>
        <p:spPr>
          <a:xfrm xmlns:a="http://schemas.openxmlformats.org/drawingml/2006/main">
            <a:off x="719281" y="1590675"/>
            <a:ext cx="7705438" cy="3305175"/>
          </a:xfrm>
          <a:prstGeom xmlns:a="http://schemas.openxmlformats.org/drawingml/2006/main" prst="rect">
            <a:avLst/>
          </a:prstGeom>
        </p:spPr>
      </p:pic>
      <p:sp>
        <p:nvSpPr>
          <p:cNvPr id="10" name="V: två mätpunkter över lasten">
            <a:extLst xmlns:a="http://schemas.openxmlformats.org/drawingml/2006/main">
              <a:ext uri="{FF2B5EF4-FFF2-40B4-BE49-F238E27FC236}">
                <a16:creationId xmlns:a16="http://schemas.microsoft.com/office/drawing/2014/main" id="{C5601B0A-9BDD-4134-A3B5-8A58F2C1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385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V: en mätspets på varje sida om lampan</a:t>
            </a:r>
          </a:p>
        </p:txBody>
      </p:sp>
      <p:sp>
        <p:nvSpPr>
          <p:cNvPr id="11" name="A: hela grenströmmen&#10;genom instrumentet">
            <a:extLst xmlns:a="http://schemas.openxmlformats.org/drawingml/2006/main">
              <a:ext uri="{FF2B5EF4-FFF2-40B4-BE49-F238E27FC236}">
                <a16:creationId xmlns:a16="http://schemas.microsoft.com/office/drawing/2014/main" id="{CFC97BDC-9971-4866-B6F3-C07E80EB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6252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A: all ström till lampan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genom instrumentet</a:t>
            </a:r>
          </a:p>
        </p:txBody>
      </p:sp>
      <p:sp>
        <p:nvSpPr>
          <p:cNvPr id="12" name="Boken, figur 6.1, s. 48. Omkoppling sker med matningen frånkoppla">
            <a:extLst xmlns:a="http://schemas.openxmlformats.org/drawingml/2006/main">
              <a:ext uri="{FF2B5EF4-FFF2-40B4-BE49-F238E27FC236}">
                <a16:creationId xmlns:a16="http://schemas.microsoft.com/office/drawing/2014/main" id="{47746EF4-821B-4F4E-9C26-52A05560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Boken, figur 6.1, s. 48. Omkoppling sker med matningen frånkopplad.</a:t>
            </a:r>
          </a:p>
        </p:txBody>
      </p:sp>
      <p:sp>
        <p:nvSpPr>
          <p:cNvPr id="13" name="10">
            <a:extLst xmlns:a="http://schemas.openxmlformats.org/drawingml/2006/main">
              <a:ext uri="{FF2B5EF4-FFF2-40B4-BE49-F238E27FC236}">
                <a16:creationId xmlns:a16="http://schemas.microsoft.com/office/drawing/2014/main" id="{CC15AFCD-285E-4E95-9AE4-6A029380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86785018640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Resistansmätning steg för steg">
            <a:extLst xmlns:a="http://schemas.openxmlformats.org/drawingml/2006/main">
              <a:ext uri="{FF2B5EF4-FFF2-40B4-BE49-F238E27FC236}">
                <a16:creationId xmlns:a16="http://schemas.microsoft.com/office/drawing/2014/main" id="{8D6E096D-C61C-437E-B99D-2F13312C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Resistansmätning steg för steg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901c430a84acb"/>
          <a:stretch xmlns:a="http://schemas.openxmlformats.org/drawingml/2006/main"/>
        </p:blipFill>
        <p:spPr>
          <a:xfrm xmlns:a="http://schemas.openxmlformats.org/drawingml/2006/main">
            <a:off x="762000" y="1666875"/>
            <a:ext cx="2333625" cy="233362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f424f97f144ea"/>
          <a:stretch xmlns:a="http://schemas.openxmlformats.org/drawingml/2006/main"/>
        </p:blipFill>
        <p:spPr>
          <a:xfrm xmlns:a="http://schemas.openxmlformats.org/drawingml/2006/main">
            <a:off x="5572125" y="1666875"/>
            <a:ext cx="2333625" cy="2333625"/>
          </a:xfrm>
          <a:prstGeom xmlns:a="http://schemas.openxmlformats.org/drawingml/2006/main" prst="rect">
            <a:avLst/>
          </a:prstGeom>
        </p:spPr>
      </p:pic>
      <p:sp>
        <p:nvSpPr>
          <p:cNvPr id="11" name="Ω">
            <a:extLst xmlns:a="http://schemas.openxmlformats.org/drawingml/2006/main">
              <a:ext uri="{FF2B5EF4-FFF2-40B4-BE49-F238E27FC236}">
                <a16:creationId xmlns:a16="http://schemas.microsoft.com/office/drawing/2014/main" id="{29CBA833-2639-4810-A8AD-1D47BDCF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860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9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49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Ω</a:t>
            </a:r>
          </a:p>
        </p:txBody>
      </p:sp>
      <p:sp>
        <p:nvSpPr>
          <p:cNvPr id="12" name="1. Frånskilj och kontrollera spänningslöshet. Ladda ur.">
            <a:extLst xmlns:a="http://schemas.openxmlformats.org/drawingml/2006/main">
              <a:ext uri="{FF2B5EF4-FFF2-40B4-BE49-F238E27FC236}">
                <a16:creationId xmlns:a16="http://schemas.microsoft.com/office/drawing/2014/main" id="{53FEA8DE-DF37-48E5-BDBE-07A6D3E3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Koppla bort matningen. Kontrollera att spänningen är borta.</a:t>
            </a:r>
          </a:p>
        </p:txBody>
      </p:sp>
      <p:sp>
        <p:nvSpPr>
          <p:cNvPr id="13" name="2. Svart till COM, röd till V/Ω. Välj Ω.">
            <a:extLst xmlns:a="http://schemas.openxmlformats.org/drawingml/2006/main">
              <a:ext uri="{FF2B5EF4-FFF2-40B4-BE49-F238E27FC236}">
                <a16:creationId xmlns:a16="http://schemas.microsoft.com/office/drawing/2014/main" id="{6D9750B8-1E1D-4122-8FF1-BA6DD518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Ladda ur lagrad energi. Svart till COM, röd till V/Ω. Välj Ω.</a:t>
            </a:r>
          </a:p>
        </p:txBody>
      </p:sp>
      <p:sp>
        <p:nvSpPr>
          <p:cNvPr id="14" name="3. Lossa minst ena anslutningen och mät över komponenten.">
            <a:extLst xmlns:a="http://schemas.openxmlformats.org/drawingml/2006/main">
              <a:ext uri="{FF2B5EF4-FFF2-40B4-BE49-F238E27FC236}">
                <a16:creationId xmlns:a16="http://schemas.microsoft.com/office/drawing/2014/main" id="{8D3F4D17-B32F-4CB4-8F9F-F98BF9F9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Lossa minst ena anslutningen. Mät över komponenten.</a:t>
            </a:r>
          </a:p>
        </p:txBody>
      </p:sp>
      <p:sp>
        <p:nvSpPr>
          <p:cNvPr id="15" name="11">
            <a:extLst xmlns:a="http://schemas.openxmlformats.org/drawingml/2006/main">
              <a:ext uri="{FF2B5EF4-FFF2-40B4-BE49-F238E27FC236}">
                <a16:creationId xmlns:a16="http://schemas.microsoft.com/office/drawing/2014/main" id="{33E7B065-72C7-4CEA-8ED3-A37E7808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c1b87f2b84b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Kontinuitet: finns en förbindelse?">
            <a:extLst xmlns:a="http://schemas.openxmlformats.org/drawingml/2006/main">
              <a:ext uri="{FF2B5EF4-FFF2-40B4-BE49-F238E27FC236}">
                <a16:creationId xmlns:a16="http://schemas.microsoft.com/office/drawing/2014/main" id="{29A8E797-0EC1-4FB7-AB2D-F9F44AF6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Kontinuitet: finns en hel strömväg?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fed865084482e"/>
          <a:stretch xmlns:a="http://schemas.openxmlformats.org/drawingml/2006/main"/>
        </p:blipFill>
        <p:spPr>
          <a:xfrm xmlns:a="http://schemas.openxmlformats.org/drawingml/2006/main">
            <a:off x="714375" y="1477481"/>
            <a:ext cx="7715250" cy="2102813"/>
          </a:xfrm>
          <a:prstGeom xmlns:a="http://schemas.openxmlformats.org/drawingml/2006/main" prst="rect">
            <a:avLst/>
          </a:prstGeom>
        </p:spPr>
      </p:pic>
      <p:sp>
        <p:nvSpPr>
          <p:cNvPr id="10" name="Frånskild, spänningslös och urladdad krets">
            <a:extLst xmlns:a="http://schemas.openxmlformats.org/drawingml/2006/main">
              <a:ext uri="{FF2B5EF4-FFF2-40B4-BE49-F238E27FC236}">
                <a16:creationId xmlns:a16="http://schemas.microsoft.com/office/drawing/2014/main" id="{D658754D-4096-48DE-93F4-4986744C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Matningen bortkopplad, spänningen kontrollerad och lagrad energi tömd</a:t>
            </a:r>
          </a:p>
        </p:txBody>
      </p:sp>
      <p:sp>
        <p:nvSpPr>
          <p:cNvPr id="11" name="Välj summer. Prova först att föra ihop mätspetsarna.&#10;Mät sedan öv">
            <a:extLst xmlns:a="http://schemas.openxmlformats.org/drawingml/2006/main">
              <a:ext uri="{FF2B5EF4-FFF2-40B4-BE49-F238E27FC236}">
                <a16:creationId xmlns:a16="http://schemas.microsoft.com/office/drawing/2014/main" id="{DB0F363B-8F54-40DE-80C3-E9D7D262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pipfunktionen (summer). Prova med mätspetsarna mot varandra.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 sedan över den lösa säkringen eller ledningen.</a:t>
            </a:r>
          </a:p>
        </p:txBody>
      </p:sp>
      <p:sp>
        <p:nvSpPr>
          <p:cNvPr id="12" name="Pip: låg resistans. OL/inget pip: hög resistans eller avbrott.&#10;Et">
            <a:extLst xmlns:a="http://schemas.openxmlformats.org/drawingml/2006/main">
              <a:ext uri="{FF2B5EF4-FFF2-40B4-BE49-F238E27FC236}">
                <a16:creationId xmlns:a16="http://schemas.microsoft.com/office/drawing/2014/main" id="{BC08D4EE-E449-4A31-AD8B-6E9DC972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Pip: låg resistans. OL/inget pip: hög resistans eller avbrott.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pip visar inte att ledningen klarar lampans vanliga ström.</a:t>
            </a:r>
          </a:p>
        </p:txBody>
      </p:sp>
      <p:sp>
        <p:nvSpPr>
          <p:cNvPr id="13" name="12">
            <a:extLst xmlns:a="http://schemas.openxmlformats.org/drawingml/2006/main">
              <a:ext uri="{FF2B5EF4-FFF2-40B4-BE49-F238E27FC236}">
                <a16:creationId xmlns:a16="http://schemas.microsoft.com/office/drawing/2014/main" id="{05447D69-6A31-4F63-A7CB-5500ADE4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5321745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f5e1fc0524a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Film: resistans med multimeter">
            <a:extLst xmlns:a="http://schemas.openxmlformats.org/drawingml/2006/main">
              <a:ext uri="{FF2B5EF4-FFF2-40B4-BE49-F238E27FC236}">
                <a16:creationId xmlns:a16="http://schemas.microsoft.com/office/drawing/2014/main" id="{27D5F669-BF9B-480A-AE48-C7D76E3C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Film: resistans med multimeter</a:t>
            </a:r>
          </a:p>
        </p:txBody>
      </p:sp>
      <p:sp>
        <p:nvSpPr>
          <p:cNvPr id="9" name="Elma Instruments AB, Sverige">
            <a:extLst xmlns:a="http://schemas.openxmlformats.org/drawingml/2006/main">
              <a:ext uri="{FF2B5EF4-FFF2-40B4-BE49-F238E27FC236}">
                <a16:creationId xmlns:a16="http://schemas.microsoft.com/office/drawing/2014/main" id="{4A1254D0-B620-4556-93EF-14B40310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Elma Instruments AB, Sverige</a:t>
            </a:r>
          </a:p>
        </p:txBody>
      </p:sp>
      <p:sp>
        <p:nvSpPr>
          <p:cNvPr id="10" name="”Hur mäter man resistans?”&#10;Svenskt tal. Hela filmen: 5:52.">
            <a:extLst xmlns:a="http://schemas.openxmlformats.org/drawingml/2006/main">
              <a:ext uri="{FF2B5EF4-FFF2-40B4-BE49-F238E27FC236}">
                <a16:creationId xmlns:a16="http://schemas.microsoft.com/office/drawing/2014/main" id="{801B86C9-6E59-4062-868C-1BC100A3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”Hur mäter man resistans?”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Svenskt tal. Hela filmen: 5:52.</a:t>
            </a:r>
          </a:p>
        </p:txBody>
      </p:sp>
      <p:sp>
        <p:nvSpPr>
          <p:cNvPr id="11" name="1:10–3:30  Förberedelse och multimetern i Ω-läge">
            <a:extLst xmlns:a="http://schemas.openxmlformats.org/drawingml/2006/main">
              <a:ext uri="{FF2B5EF4-FFF2-40B4-BE49-F238E27FC236}">
                <a16:creationId xmlns:a16="http://schemas.microsoft.com/office/drawing/2014/main" id="{8126EB72-E508-4725-B402-C549C3CD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 u="sng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4ad7eb6add6434b"/>
              </a:rPr>
              <a:t>1:10–3:30  Förberedelse och multimetern i Ω-läge</a:t>
            </a:r>
          </a:p>
        </p:txBody>
      </p:sp>
      <p:sp>
        <p:nvSpPr>
          <p:cNvPr id="12" name="Diskutera efter filmen">
            <a:extLst xmlns:a="http://schemas.openxmlformats.org/drawingml/2006/main">
              <a:ext uri="{FF2B5EF4-FFF2-40B4-BE49-F238E27FC236}">
                <a16:creationId xmlns:a16="http://schemas.microsoft.com/office/drawing/2014/main" id="{3B982CC5-01F0-4809-86EA-7B559CBD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Diskutera efter filmen</a:t>
            </a:r>
          </a:p>
        </p:txBody>
      </p:sp>
      <p:sp>
        <p:nvSpPr>
          <p:cNvPr id="13" name="Varför måste matningen vara frånkopplad?&#10;Varför kan två 1 kΩ-resi">
            <a:extLst xmlns:a="http://schemas.openxmlformats.org/drawingml/2006/main">
              <a:ext uri="{FF2B5EF4-FFF2-40B4-BE49-F238E27FC236}">
                <a16:creationId xmlns:a16="http://schemas.microsoft.com/office/drawing/2014/main" id="{B3B7ED16-4DFA-43ED-AF9D-54A431AC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Varför måste matningen vara frånkopplad?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Varför kan två 1 kΩ-resistorer ge 500 Ω?</a:t>
            </a:r>
          </a:p>
        </p:txBody>
      </p:sp>
      <p:sp>
        <p:nvSpPr>
          <p:cNvPr id="14" name="Valbar fördjupning inför övning 5.">
            <a:extLst xmlns:a="http://schemas.openxmlformats.org/drawingml/2006/main">
              <a:ext uri="{FF2B5EF4-FFF2-40B4-BE49-F238E27FC236}">
                <a16:creationId xmlns:a16="http://schemas.microsoft.com/office/drawing/2014/main" id="{8C3BF82A-20E3-4B73-9987-354A8DCD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Valbar fördjupning inför övning 5.</a:t>
            </a:r>
          </a:p>
        </p:txBody>
      </p:sp>
      <p:sp>
        <p:nvSpPr>
          <p:cNvPr id="15" name="13">
            <a:extLst xmlns:a="http://schemas.openxmlformats.org/drawingml/2006/main">
              <a:ext uri="{FF2B5EF4-FFF2-40B4-BE49-F238E27FC236}">
                <a16:creationId xmlns:a16="http://schemas.microsoft.com/office/drawing/2014/main" id="{CE76A67D-4036-480F-84DC-03B4CFF8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2964249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f333829994f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Instrumentets säkerhetsklass">
            <a:extLst xmlns:a="http://schemas.openxmlformats.org/drawingml/2006/main">
              <a:ext uri="{FF2B5EF4-FFF2-40B4-BE49-F238E27FC236}">
                <a16:creationId xmlns:a16="http://schemas.microsoft.com/office/drawing/2014/main" id="{88E25DC0-9ADC-4B23-BADE-A3DCEF6C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Instrumentval inför arbete ombord</a:t>
            </a:r>
          </a:p>
        </p:txBody>
      </p:sp>
      <p:sp>
        <p:nvSpPr>
          <p:cNvPr id="9" name="Mätkategori och spänningsklass hör ihop">
            <a:extLst xmlns:a="http://schemas.openxmlformats.org/drawingml/2006/main">
              <a:ext uri="{FF2B5EF4-FFF2-40B4-BE49-F238E27FC236}">
                <a16:creationId xmlns:a16="http://schemas.microsoft.com/office/drawing/2014/main" id="{6B0E32B8-3976-46B5-A8FD-6C41FAAA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CAT: var mätaren får användas</a:t>
            </a:r>
          </a:p>
        </p:txBody>
      </p:sp>
      <p:sp>
        <p:nvSpPr>
          <p:cNvPr id="10" name="CAT II: exempelvis nätansluten apparatlast.">
            <a:extLst xmlns:a="http://schemas.openxmlformats.org/drawingml/2006/main">
              <a:ext uri="{FF2B5EF4-FFF2-40B4-BE49-F238E27FC236}">
                <a16:creationId xmlns:a16="http://schemas.microsoft.com/office/drawing/2014/main" id="{3DD9328A-04DC-42E7-8470-BD92662D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CAT II: till exempel apparater med stickpropp.</a:t>
            </a:r>
          </a:p>
        </p:txBody>
      </p:sp>
      <p:sp>
        <p:nvSpPr>
          <p:cNvPr id="11" name="CAT III: fast installation och fördelning.">
            <a:extLst xmlns:a="http://schemas.openxmlformats.org/drawingml/2006/main">
              <a:ext uri="{FF2B5EF4-FFF2-40B4-BE49-F238E27FC236}">
                <a16:creationId xmlns:a16="http://schemas.microsoft.com/office/drawing/2014/main" id="{CACBB489-07FB-4DA4-8C55-787A51B3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CAT III: till exempel elcentraler och fast anslutna motorer.</a:t>
            </a:r>
          </a:p>
        </p:txBody>
      </p:sp>
      <p:sp>
        <p:nvSpPr>
          <p:cNvPr id="12" name="CAT IV: vid installationens ursprung.">
            <a:extLst xmlns:a="http://schemas.openxmlformats.org/drawingml/2006/main">
              <a:ext uri="{FF2B5EF4-FFF2-40B4-BE49-F238E27FC236}">
                <a16:creationId xmlns:a16="http://schemas.microsoft.com/office/drawing/2014/main" id="{74BE3A08-5B48-498A-A23F-59F9252E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CAT IV: där elnätets matning kommer in i en byggnad.</a:t>
            </a:r>
          </a:p>
        </p:txBody>
      </p:sp>
      <p:sp>
        <p:nvSpPr>
          <p:cNvPr id="13" name="Kontrollera även mätsladdar, prober och tillbehör.&#10;Den svagast kl">
            <a:extLst xmlns:a="http://schemas.openxmlformats.org/drawingml/2006/main">
              <a:ext uri="{FF2B5EF4-FFF2-40B4-BE49-F238E27FC236}">
                <a16:creationId xmlns:a16="http://schemas.microsoft.com/office/drawing/2014/main" id="{A929E087-E10D-49BC-920F-62BF1C8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Läs alltid både CAT och volt på mätaren och sladdarna.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Delen med lägst märkning begränsar vad utrustningen får användas till.</a:t>
            </a:r>
          </a:p>
        </p:txBody>
      </p:sp>
      <p:sp>
        <p:nvSpPr>
          <p:cNvPr id="14" name="Valet styrs av mätpunkten, riskbedömningen och instrumentets manu">
            <a:extLst xmlns:a="http://schemas.openxmlformats.org/drawingml/2006/main">
              <a:ext uri="{FF2B5EF4-FFF2-40B4-BE49-F238E27FC236}">
                <a16:creationId xmlns:a16="http://schemas.microsoft.com/office/drawing/2014/main" id="{332F3440-94B5-4F1D-825B-CC730922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Ombord väljs märkningen efter mätpunkten, riskbedömningen och manualen.</a:t>
            </a:r>
          </a:p>
        </p:txBody>
      </p:sp>
      <p:sp>
        <p:nvSpPr>
          <p:cNvPr id="15" name="14">
            <a:extLst xmlns:a="http://schemas.openxmlformats.org/drawingml/2006/main">
              <a:ext uri="{FF2B5EF4-FFF2-40B4-BE49-F238E27FC236}">
                <a16:creationId xmlns:a16="http://schemas.microsoft.com/office/drawing/2014/main" id="{7B7AE2DF-CCC5-4273-8B31-869B1853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6e871310e45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Exempel: mätaren belastar kretsen">
            <a:extLst xmlns:a="http://schemas.openxmlformats.org/drawingml/2006/main">
              <a:ext uri="{FF2B5EF4-FFF2-40B4-BE49-F238E27FC236}">
                <a16:creationId xmlns:a16="http://schemas.microsoft.com/office/drawing/2014/main" id="{353EA3B6-CD30-4080-9F8B-CAFA071F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mätaren ändrar spänningen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9149112d94b47"/>
          <a:stretch xmlns:a="http://schemas.openxmlformats.org/drawingml/2006/main"/>
        </p:blipFill>
        <p:spPr>
          <a:xfrm xmlns:a="http://schemas.openxmlformats.org/drawingml/2006/main">
            <a:off x="668252" y="1581150"/>
            <a:ext cx="5140496" cy="2571750"/>
          </a:xfrm>
          <a:prstGeom xmlns:a="http://schemas.openxmlformats.org/drawingml/2006/main" prst="rect">
            <a:avLst/>
          </a:prstGeom>
        </p:spPr>
      </p:pic>
      <p:sp>
        <p:nvSpPr>
          <p:cNvPr id="18" name="Utan mätare&#10;4,5 V">
            <a:extLst xmlns:a="http://schemas.openxmlformats.org/drawingml/2006/main">
              <a:ext uri="{FF2B5EF4-FFF2-40B4-BE49-F238E27FC236}">
                <a16:creationId xmlns:a16="http://schemas.microsoft.com/office/drawing/2014/main" id="{3D086210-77D5-442C-8AB0-A11BF852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Utan mätare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4,5 V</a:t>
            </a:r>
          </a:p>
        </p:txBody>
      </p:sp>
      <p:sp>
        <p:nvSpPr>
          <p:cNvPr id="19" name="Med mätare&#10;3,0 V">
            <a:extLst xmlns:a="http://schemas.openxmlformats.org/drawingml/2006/main">
              <a:ext uri="{FF2B5EF4-FFF2-40B4-BE49-F238E27FC236}">
                <a16:creationId xmlns:a16="http://schemas.microsoft.com/office/drawing/2014/main" id="{D50334EC-2428-4C01-BBF7-A7DB2F48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7657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AD292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AD2929"/>
                </a:solidFill>
                <a:latin typeface="Calibri"/>
                <a:ea typeface="Calibri"/>
                <a:cs typeface="Calibri"/>
              </a:rPr>
              <a:t>Med mätare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AD292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AD2929"/>
                </a:solidFill>
                <a:latin typeface="Calibri"/>
                <a:ea typeface="Calibri"/>
                <a:cs typeface="Calibri"/>
              </a:rPr>
              <a:t>3,0 V</a:t>
            </a:r>
          </a:p>
        </p:txBody>
      </p:sp>
      <p:sp>
        <p:nvSpPr>
          <p:cNvPr id="20" name="Rp = 2 · 2 / (2 + 2) = 1 MΩ">
            <a:extLst xmlns:a="http://schemas.openxmlformats.org/drawingml/2006/main">
              <a:ext uri="{FF2B5EF4-FFF2-40B4-BE49-F238E27FC236}">
                <a16:creationId xmlns:a16="http://schemas.microsoft.com/office/drawing/2014/main" id="{15CD158C-CA38-4BC9-8F69-D4652577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Rp = 2 · 2 / (2 + 2) = 1 MΩ</a:t>
            </a:r>
          </a:p>
        </p:txBody>
      </p:sp>
      <p:sp>
        <p:nvSpPr>
          <p:cNvPr id="21" name="Um = 9 · 1 / (2 + 1) = 3 V">
            <a:extLst xmlns:a="http://schemas.openxmlformats.org/drawingml/2006/main">
              <a:ext uri="{FF2B5EF4-FFF2-40B4-BE49-F238E27FC236}">
                <a16:creationId xmlns:a16="http://schemas.microsoft.com/office/drawing/2014/main" id="{2C1F4EE4-AA9B-44E2-B7CF-CA9197B8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Um = 9 · 1 / (2 + 1) = 3 V</a:t>
            </a:r>
          </a:p>
        </p:txBody>
      </p:sp>
      <p:sp>
        <p:nvSpPr>
          <p:cNvPr id="22" name="Belastningsfel = (3 − 4,5) / 4,5 · 100 ≈ −33,3 %">
            <a:extLst xmlns:a="http://schemas.openxmlformats.org/drawingml/2006/main">
              <a:ext uri="{FF2B5EF4-FFF2-40B4-BE49-F238E27FC236}">
                <a16:creationId xmlns:a16="http://schemas.microsoft.com/office/drawing/2014/main" id="{EE09BA6A-6196-40C4-B6FD-6DC934E2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Belastningsfel = (3 − 4,5) / 4,5 · 100 ≈ −33,3 %</a:t>
            </a:r>
          </a:p>
        </p:txBody>
      </p:sp>
      <p:sp>
        <p:nvSpPr>
          <p:cNvPr id="23" name="15">
            <a:extLst xmlns:a="http://schemas.openxmlformats.org/drawingml/2006/main">
              <a:ext uri="{FF2B5EF4-FFF2-40B4-BE49-F238E27FC236}">
                <a16:creationId xmlns:a16="http://schemas.microsoft.com/office/drawing/2014/main" id="{799BB08D-3E66-415A-84AA-6AF73F32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cac57ab9a49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Stöd till övning 1: spänning">
            <a:extLst xmlns:a="http://schemas.openxmlformats.org/drawingml/2006/main">
              <a:ext uri="{FF2B5EF4-FFF2-40B4-BE49-F238E27FC236}">
                <a16:creationId xmlns:a16="http://schemas.microsoft.com/office/drawing/2014/main" id="{283BB015-E79F-4BFC-A181-91CA0565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1: spänning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81892cb9c498a"/>
          <a:stretch xmlns:a="http://schemas.openxmlformats.org/drawingml/2006/main"/>
        </p:blipFill>
        <p:spPr>
          <a:xfrm xmlns:a="http://schemas.openxmlformats.org/drawingml/2006/main">
            <a:off x="762000" y="1524000"/>
            <a:ext cx="2143125" cy="2143125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640daebee43b6"/>
          <a:stretch xmlns:a="http://schemas.openxmlformats.org/drawingml/2006/main"/>
        </p:blipFill>
        <p:spPr>
          <a:xfrm xmlns:a="http://schemas.openxmlformats.org/drawingml/2006/main">
            <a:off x="3476625" y="1524000"/>
            <a:ext cx="2143125" cy="214312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98aabd2be4552"/>
          <a:stretch xmlns:a="http://schemas.openxmlformats.org/drawingml/2006/main"/>
        </p:blipFill>
        <p:spPr>
          <a:xfrm xmlns:a="http://schemas.openxmlformats.org/drawingml/2006/main">
            <a:off x="6191250" y="1524000"/>
            <a:ext cx="2143125" cy="2143125"/>
          </a:xfrm>
          <a:prstGeom xmlns:a="http://schemas.openxmlformats.org/drawingml/2006/main" prst="rect">
            <a:avLst/>
          </a:prstGeom>
        </p:spPr>
      </p:pic>
      <p:sp>
        <p:nvSpPr>
          <p:cNvPr id="20" name="1. Rätt ingång">
            <a:extLst xmlns:a="http://schemas.openxmlformats.org/drawingml/2006/main">
              <a:ext uri="{FF2B5EF4-FFF2-40B4-BE49-F238E27FC236}">
                <a16:creationId xmlns:a16="http://schemas.microsoft.com/office/drawing/2014/main" id="{80C1DD0A-C7AA-45CC-AB73-5EFDB0FA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Rätt ingång</a:t>
            </a:r>
          </a:p>
        </p:txBody>
      </p:sp>
      <p:sp>
        <p:nvSpPr>
          <p:cNvPr id="21" name="Svart: COM&#10;Röd: V/Ω">
            <a:extLst xmlns:a="http://schemas.openxmlformats.org/drawingml/2006/main">
              <a:ext uri="{FF2B5EF4-FFF2-40B4-BE49-F238E27FC236}">
                <a16:creationId xmlns:a16="http://schemas.microsoft.com/office/drawing/2014/main" id="{8075FFEA-8FF5-41DE-AF99-94B3DC8E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Svart: COM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Röd: V/Ω</a:t>
            </a:r>
          </a:p>
        </p:txBody>
      </p:sp>
      <p:sp>
        <p:nvSpPr>
          <p:cNvPr id="22" name="2. Likspänning">
            <a:extLst xmlns:a="http://schemas.openxmlformats.org/drawingml/2006/main">
              <a:ext uri="{FF2B5EF4-FFF2-40B4-BE49-F238E27FC236}">
                <a16:creationId xmlns:a16="http://schemas.microsoft.com/office/drawing/2014/main" id="{31B93120-2018-403F-A119-6F0DC3AC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957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Likspänning</a:t>
            </a:r>
          </a:p>
        </p:txBody>
      </p:sp>
      <p:sp>
        <p:nvSpPr>
          <p:cNvPr id="23" name="Välj DC V.&#10;Område över 12 V.">
            <a:extLst xmlns:a="http://schemas.openxmlformats.org/drawingml/2006/main">
              <a:ext uri="{FF2B5EF4-FFF2-40B4-BE49-F238E27FC236}">
                <a16:creationId xmlns:a16="http://schemas.microsoft.com/office/drawing/2014/main" id="{69D867F8-6D0D-4691-A63A-55B148C9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2333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DC V.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Område över 12 V.</a:t>
            </a:r>
          </a:p>
        </p:txBody>
      </p:sp>
      <p:sp>
        <p:nvSpPr>
          <p:cNvPr id="24" name="3. Parallellt">
            <a:extLst xmlns:a="http://schemas.openxmlformats.org/drawingml/2006/main">
              <a:ext uri="{FF2B5EF4-FFF2-40B4-BE49-F238E27FC236}">
                <a16:creationId xmlns:a16="http://schemas.microsoft.com/office/drawing/2014/main" id="{CFEF7B72-D35A-4AF6-BB6D-05553DE9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957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Parallellt</a:t>
            </a:r>
          </a:p>
        </p:txBody>
      </p:sp>
      <p:sp>
        <p:nvSpPr>
          <p:cNvPr id="25" name="En prob på varje&#10;sida av R₂.">
            <a:extLst xmlns:a="http://schemas.openxmlformats.org/drawingml/2006/main">
              <a:ext uri="{FF2B5EF4-FFF2-40B4-BE49-F238E27FC236}">
                <a16:creationId xmlns:a16="http://schemas.microsoft.com/office/drawing/2014/main" id="{27031324-9868-4268-B71E-2C2A7E47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2333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prob på varje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sida av H1.</a:t>
            </a:r>
          </a:p>
        </p:txBody>
      </p:sp>
      <p:sp>
        <p:nvSpPr>
          <p:cNvPr id="26" name="I DC-exemplet: röd på högre potential, svart på lägre. Minusvärde">
            <a:extLst xmlns:a="http://schemas.openxmlformats.org/drawingml/2006/main">
              <a:ext uri="{FF2B5EF4-FFF2-40B4-BE49-F238E27FC236}">
                <a16:creationId xmlns:a16="http://schemas.microsoft.com/office/drawing/2014/main" id="{0560B98A-8A1C-4495-8056-A25D7790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Här: röd på lampans plussida, svart på returen. Byter spetsarna plats visas ett minustecken.</a:t>
            </a:r>
          </a:p>
        </p:txBody>
      </p:sp>
      <p:sp>
        <p:nvSpPr>
          <p:cNvPr id="27" name="16">
            <a:extLst xmlns:a="http://schemas.openxmlformats.org/drawingml/2006/main">
              <a:ext uri="{FF2B5EF4-FFF2-40B4-BE49-F238E27FC236}">
                <a16:creationId xmlns:a16="http://schemas.microsoft.com/office/drawing/2014/main" id="{7F7DE084-1400-49F5-AD50-8CB5861E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7856e4ddf44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Film: multimetern i praktiken">
            <a:extLst xmlns:a="http://schemas.openxmlformats.org/drawingml/2006/main">
              <a:ext uri="{FF2B5EF4-FFF2-40B4-BE49-F238E27FC236}">
                <a16:creationId xmlns:a16="http://schemas.microsoft.com/office/drawing/2014/main" id="{986E2B3B-A181-487A-B38B-F0D0573D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Film: multimetern i praktiken</a:t>
            </a:r>
          </a:p>
        </p:txBody>
      </p:sp>
      <p:sp>
        <p:nvSpPr>
          <p:cNvPr id="9" name="Husbilsvloggen, Fredrik">
            <a:extLst xmlns:a="http://schemas.openxmlformats.org/drawingml/2006/main">
              <a:ext uri="{FF2B5EF4-FFF2-40B4-BE49-F238E27FC236}">
                <a16:creationId xmlns:a16="http://schemas.microsoft.com/office/drawing/2014/main" id="{C68EAEEE-C89D-4B7C-9196-05076668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Husbilsvloggen, Fredrik</a:t>
            </a:r>
          </a:p>
        </p:txBody>
      </p:sp>
      <p:sp>
        <p:nvSpPr>
          <p:cNvPr id="10" name="Svensk demonstration av mätlägen, batteri och säkringar.">
            <a:extLst xmlns:a="http://schemas.openxmlformats.org/drawingml/2006/main">
              <a:ext uri="{FF2B5EF4-FFF2-40B4-BE49-F238E27FC236}">
                <a16:creationId xmlns:a16="http://schemas.microsoft.com/office/drawing/2014/main" id="{E570FB89-E0BF-49E7-B066-18DA418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Svensk demonstration av mätlägen, batteri och säkringar.</a:t>
            </a:r>
          </a:p>
        </p:txBody>
      </p:sp>
      <p:sp>
        <p:nvSpPr>
          <p:cNvPr id="11" name="5:45–7:59  Spänningsmätning på 12 V-batteri">
            <a:extLst xmlns:a="http://schemas.openxmlformats.org/drawingml/2006/main">
              <a:ext uri="{FF2B5EF4-FFF2-40B4-BE49-F238E27FC236}">
                <a16:creationId xmlns:a16="http://schemas.microsoft.com/office/drawing/2014/main" id="{579A7CDA-BA99-4FA0-8BD8-4AA6C86E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 u="sng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e8eef1ebb144967"/>
              </a:rPr>
              <a:t>5:45–7:59  Spänningsmätning på 12 V-batteri</a:t>
            </a:r>
          </a:p>
        </p:txBody>
      </p:sp>
      <p:sp>
        <p:nvSpPr>
          <p:cNvPr id="12" name="7:59–11:02  Kontroll av säkringar">
            <a:extLst xmlns:a="http://schemas.openxmlformats.org/drawingml/2006/main">
              <a:ext uri="{FF2B5EF4-FFF2-40B4-BE49-F238E27FC236}">
                <a16:creationId xmlns:a16="http://schemas.microsoft.com/office/drawing/2014/main" id="{07389493-55EC-4698-8BE2-0BF1CB3F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 u="sng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4919217ea03412a"/>
              </a:rPr>
              <a:t>7:59–11:02  Kontroll av säkringar</a:t>
            </a:r>
          </a:p>
        </p:txBody>
      </p:sp>
      <p:sp>
        <p:nvSpPr>
          <p:cNvPr id="13" name="Pausfråga: Vilken ingång används för röd ledning?&#10;Var sitter prob">
            <a:extLst xmlns:a="http://schemas.openxmlformats.org/drawingml/2006/main">
              <a:ext uri="{FF2B5EF4-FFF2-40B4-BE49-F238E27FC236}">
                <a16:creationId xmlns:a16="http://schemas.microsoft.com/office/drawing/2014/main" id="{81B2BB47-5B51-45C1-B1A0-0D01F76C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7620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Pausfråga: Vilken ingång används för röd ledning?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 sitter proberna, och vilken storhet visas?</a:t>
            </a:r>
          </a:p>
        </p:txBody>
      </p:sp>
      <p:sp>
        <p:nvSpPr>
          <p:cNvPr id="14" name="Visa valt avsnitt. Hoppa över 230 V-delen som börjar 12:49.">
            <a:extLst xmlns:a="http://schemas.openxmlformats.org/drawingml/2006/main">
              <a:ext uri="{FF2B5EF4-FFF2-40B4-BE49-F238E27FC236}">
                <a16:creationId xmlns:a16="http://schemas.microsoft.com/office/drawing/2014/main" id="{649B8BB8-FF3A-491C-AC6C-8A5A0814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Visa valt avsnitt. Hoppa över 230 V-delen som börjar 12:49.</a:t>
            </a:r>
          </a:p>
        </p:txBody>
      </p:sp>
      <p:sp>
        <p:nvSpPr>
          <p:cNvPr id="15" name="17">
            <a:extLst xmlns:a="http://schemas.openxmlformats.org/drawingml/2006/main">
              <a:ext uri="{FF2B5EF4-FFF2-40B4-BE49-F238E27FC236}">
                <a16:creationId xmlns:a16="http://schemas.microsoft.com/office/drawing/2014/main" id="{B48FB9F0-AAA2-4D28-B8D1-DF867A3D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8553653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68c9c4f9142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765fb90ad4001"/>
          <a:stretch xmlns:a="http://schemas.openxmlformats.org/drawingml/2006/main"/>
        </p:blipFill>
        <p:spPr>
          <a:xfrm xmlns:a="http://schemas.openxmlformats.org/drawingml/2006/main">
            <a:off x="452438" y="1685925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18" name="Övning 1: spänning vid hyttlampan">
            <a:extLst xmlns:a="http://schemas.openxmlformats.org/drawingml/2006/main">
              <a:ext uri="{FF2B5EF4-FFF2-40B4-BE49-F238E27FC236}">
                <a16:creationId xmlns:a16="http://schemas.microsoft.com/office/drawing/2014/main" id="{D825556A-266A-4500-9163-26757100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1: spänning vid hyttlampan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cf21c55c34295"/>
          <a:stretch xmlns:a="http://schemas.openxmlformats.org/drawingml/2006/main"/>
        </p:blipFill>
        <p:spPr>
          <a:xfrm xmlns:a="http://schemas.openxmlformats.org/drawingml/2006/main">
            <a:off x="452438" y="1685925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20" name="Mät spänningen över hyttlampan H1.">
            <a:extLst xmlns:a="http://schemas.openxmlformats.org/drawingml/2006/main">
              <a:ext uri="{FF2B5EF4-FFF2-40B4-BE49-F238E27FC236}">
                <a16:creationId xmlns:a16="http://schemas.microsoft.com/office/drawing/2014/main" id="{DD93AE4D-EE1F-41A3-B9C5-2B941CE9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28775"/>
            <a:ext cx="3067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 spänningen över hyttlampan H1.</a:t>
            </a:r>
          </a:p>
        </p:txBody>
      </p:sp>
      <p:sp>
        <p:nvSpPr>
          <p:cNvPr id="21" name="1. Var placeras röd och svart prob?">
            <a:extLst xmlns:a="http://schemas.openxmlformats.org/drawingml/2006/main">
              <a:ext uri="{FF2B5EF4-FFF2-40B4-BE49-F238E27FC236}">
                <a16:creationId xmlns:a16="http://schemas.microsoft.com/office/drawing/2014/main" id="{97E25FF4-2FCC-4FE6-98C2-01F68248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813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Var placeras röd och svart prob?</a:t>
            </a:r>
          </a:p>
        </p:txBody>
      </p:sp>
      <p:sp>
        <p:nvSpPr>
          <p:cNvPr id="22" name="2. Vilka uttag och vilket mätläge används?">
            <a:extLst xmlns:a="http://schemas.openxmlformats.org/drawingml/2006/main">
              <a:ext uri="{FF2B5EF4-FFF2-40B4-BE49-F238E27FC236}">
                <a16:creationId xmlns:a16="http://schemas.microsoft.com/office/drawing/2014/main" id="{CD4AFD2E-D206-4F2D-9F64-BA582AB5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781425"/>
            <a:ext cx="3067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Vilka uttag och vilket mätläge används?</a:t>
            </a:r>
          </a:p>
        </p:txBody>
      </p:sp>
      <p:sp>
        <p:nvSpPr>
          <p:cNvPr id="23" name="3. Nämn en förkontroll.">
            <a:extLst xmlns:a="http://schemas.openxmlformats.org/drawingml/2006/main">
              <a:ext uri="{FF2B5EF4-FFF2-40B4-BE49-F238E27FC236}">
                <a16:creationId xmlns:a16="http://schemas.microsoft.com/office/drawing/2014/main" id="{A97CF28F-1449-46CA-8D08-D7DFA5A3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933950"/>
            <a:ext cx="3067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Nämn en förkontroll.</a:t>
            </a:r>
          </a:p>
        </p:txBody>
      </p:sp>
      <p:sp>
        <p:nvSpPr>
          <p:cNvPr id="24" name="P1 och P2 sitter på var sin sida om H1. Säkringen är hel och S1 är til">
            <a:extLst xmlns:a="http://schemas.openxmlformats.org/drawingml/2006/main">
              <a:ext uri="{FF2B5EF4-FFF2-40B4-BE49-F238E27FC236}">
                <a16:creationId xmlns:a16="http://schemas.microsoft.com/office/drawing/2014/main" id="{F62376AE-2A81-4D04-A8F4-7101B602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P1 och P2 sitter på var sin sida om H1. Säkringen är hel och S1 är tillslagen.</a:t>
            </a:r>
          </a:p>
        </p:txBody>
      </p:sp>
      <p:sp>
        <p:nvSpPr>
          <p:cNvPr id="25" name="20">
            <a:extLst xmlns:a="http://schemas.openxmlformats.org/drawingml/2006/main">
              <a:ext uri="{FF2B5EF4-FFF2-40B4-BE49-F238E27FC236}">
                <a16:creationId xmlns:a16="http://schemas.microsoft.com/office/drawing/2014/main" id="{20E322DD-52D1-4567-B627-2F2FACF1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d7da3f51b42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Stöd till övning 2: ström">
            <a:extLst xmlns:a="http://schemas.openxmlformats.org/drawingml/2006/main">
              <a:ext uri="{FF2B5EF4-FFF2-40B4-BE49-F238E27FC236}">
                <a16:creationId xmlns:a16="http://schemas.microsoft.com/office/drawing/2014/main" id="{811D7867-6780-44E3-8076-11C1F30B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2: lampans ström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2e08693164ff6"/>
          <a:stretch xmlns:a="http://schemas.openxmlformats.org/drawingml/2006/main"/>
        </p:blipFill>
        <p:spPr>
          <a:xfrm xmlns:a="http://schemas.openxmlformats.org/drawingml/2006/main">
            <a:off x="714375" y="1610891"/>
            <a:ext cx="7715250" cy="1807419"/>
          </a:xfrm>
          <a:prstGeom xmlns:a="http://schemas.openxmlformats.org/drawingml/2006/main" prst="rect">
            <a:avLst/>
          </a:prstGeom>
        </p:spPr>
      </p:pic>
      <p:sp>
        <p:nvSpPr>
          <p:cNvPr id="18" name="1. Frånskilj matningen och öppna grenens strömväg.">
            <a:extLst xmlns:a="http://schemas.openxmlformats.org/drawingml/2006/main">
              <a:ext uri="{FF2B5EF4-FFF2-40B4-BE49-F238E27FC236}">
                <a16:creationId xmlns:a16="http://schemas.microsoft.com/office/drawing/2014/main" id="{CB39B5EE-89AE-4C40-A13D-8F9A4A17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Koppla bort matningen och öppna lampans strömväg.</a:t>
            </a:r>
          </a:p>
        </p:txBody>
      </p:sp>
      <p:sp>
        <p:nvSpPr>
          <p:cNvPr id="19" name="2. Välj avsedd strömingång, DC A och lämpligt område.">
            <a:extLst xmlns:a="http://schemas.openxmlformats.org/drawingml/2006/main">
              <a:ext uri="{FF2B5EF4-FFF2-40B4-BE49-F238E27FC236}">
                <a16:creationId xmlns:a16="http://schemas.microsoft.com/office/drawing/2014/main" id="{010ABEFB-A2C4-4072-9DAD-BED905C2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771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Välj avsedd strömingång, DC A och lämpligt område.</a:t>
            </a:r>
          </a:p>
        </p:txBody>
      </p:sp>
      <p:sp>
        <p:nvSpPr>
          <p:cNvPr id="20" name="3. Koppla mätaren i serie. Låt handledaren kontrollera.">
            <a:extLst xmlns:a="http://schemas.openxmlformats.org/drawingml/2006/main">
              <a:ext uri="{FF2B5EF4-FFF2-40B4-BE49-F238E27FC236}">
                <a16:creationId xmlns:a16="http://schemas.microsoft.com/office/drawing/2014/main" id="{B6CB20A9-EA63-44B7-9F15-D93E87CF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7715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Koppla mätaren i serie. Låt handledaren kontrollera.</a:t>
            </a:r>
          </a:p>
        </p:txBody>
      </p:sp>
      <p:sp>
        <p:nvSpPr>
          <p:cNvPr id="21" name="4. Mät. Frånskilj igen och flytta röd ledning till V/Ω.">
            <a:extLst xmlns:a="http://schemas.openxmlformats.org/drawingml/2006/main">
              <a:ext uri="{FF2B5EF4-FFF2-40B4-BE49-F238E27FC236}">
                <a16:creationId xmlns:a16="http://schemas.microsoft.com/office/drawing/2014/main" id="{1AB20099-F699-4242-97DB-499ECB0C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7715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4. Mät. Koppla bort matningen igen. Flytta röd ledning till V/Ω.</a:t>
            </a:r>
          </a:p>
        </p:txBody>
      </p:sp>
      <p:sp>
        <p:nvSpPr>
          <p:cNvPr id="22" name="19">
            <a:extLst xmlns:a="http://schemas.openxmlformats.org/drawingml/2006/main">
              <a:ext uri="{FF2B5EF4-FFF2-40B4-BE49-F238E27FC236}">
                <a16:creationId xmlns:a16="http://schemas.microsoft.com/office/drawing/2014/main" id="{E53C715D-6834-46BE-9B4F-08705DD4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0e156abe943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881cefd994c21"/>
          <a:stretch xmlns:a="http://schemas.openxmlformats.org/drawingml/2006/main"/>
        </p:blipFill>
        <p:spPr>
          <a:xfrm xmlns:a="http://schemas.openxmlformats.org/drawingml/2006/main">
            <a:off x="452438" y="1685925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18" name="Övning 2: ström till hyttlampan">
            <a:extLst xmlns:a="http://schemas.openxmlformats.org/drawingml/2006/main">
              <a:ext uri="{FF2B5EF4-FFF2-40B4-BE49-F238E27FC236}">
                <a16:creationId xmlns:a16="http://schemas.microsoft.com/office/drawing/2014/main" id="{63FF3183-2F4D-4378-AD6E-834B1D77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2: ström till hyttlampan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5782130324150"/>
          <a:stretch xmlns:a="http://schemas.openxmlformats.org/drawingml/2006/main"/>
        </p:blipFill>
        <p:spPr>
          <a:xfrm xmlns:a="http://schemas.openxmlformats.org/drawingml/2006/main">
            <a:off x="452438" y="1685925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20" name="Matningen är frånkopplad.">
            <a:extLst xmlns:a="http://schemas.openxmlformats.org/drawingml/2006/main">
              <a:ext uri="{FF2B5EF4-FFF2-40B4-BE49-F238E27FC236}">
                <a16:creationId xmlns:a16="http://schemas.microsoft.com/office/drawing/2014/main" id="{2C763877-BC8F-4BA0-A2F6-3AA84BEB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00200"/>
            <a:ext cx="3067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Matningen är frånkopplad.</a:t>
            </a:r>
          </a:p>
        </p:txBody>
      </p:sp>
      <p:sp>
        <p:nvSpPr>
          <p:cNvPr id="21" name="Mät strömmen genom H1. Hur ansluts mätaren mellan K1 och K2?">
            <a:extLst xmlns:a="http://schemas.openxmlformats.org/drawingml/2006/main">
              <a:ext uri="{FF2B5EF4-FFF2-40B4-BE49-F238E27FC236}">
                <a16:creationId xmlns:a16="http://schemas.microsoft.com/office/drawing/2014/main" id="{036FC1C0-23A2-41E0-A37A-F9182F7A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590800"/>
            <a:ext cx="3067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 strömmen genom H1. Hur ansluts mätaren mellan K1 och K2?</a:t>
            </a:r>
          </a:p>
        </p:txBody>
      </p:sp>
      <p:sp>
        <p:nvSpPr>
          <p:cNvPr id="22" name="Ange strömingång och mätfunktion.">
            <a:extLst xmlns:a="http://schemas.openxmlformats.org/drawingml/2006/main">
              <a:ext uri="{FF2B5EF4-FFF2-40B4-BE49-F238E27FC236}">
                <a16:creationId xmlns:a16="http://schemas.microsoft.com/office/drawing/2014/main" id="{95977B85-C111-49CD-9BD9-B3605CC8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48125"/>
            <a:ext cx="3067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Ange strömingång och mätfunktion.</a:t>
            </a:r>
          </a:p>
        </p:txBody>
      </p:sp>
      <p:sp>
        <p:nvSpPr>
          <p:cNvPr id="23" name="Nämn en förkontroll före start.">
            <a:extLst xmlns:a="http://schemas.openxmlformats.org/drawingml/2006/main">
              <a:ext uri="{FF2B5EF4-FFF2-40B4-BE49-F238E27FC236}">
                <a16:creationId xmlns:a16="http://schemas.microsoft.com/office/drawing/2014/main" id="{1A606D9D-8B53-4D1E-A84B-2642A821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057775"/>
            <a:ext cx="30670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Nämn en förkontroll före start.</a:t>
            </a:r>
          </a:p>
        </p:txBody>
      </p:sp>
      <p:sp>
        <p:nvSpPr>
          <p:cNvPr id="24" name="Förenklat schema av lampgrenen. K1–K2 är öppningen där mätaren ska kop">
            <a:extLst xmlns:a="http://schemas.openxmlformats.org/drawingml/2006/main">
              <a:ext uri="{FF2B5EF4-FFF2-40B4-BE49-F238E27FC236}">
                <a16:creationId xmlns:a16="http://schemas.microsoft.com/office/drawing/2014/main" id="{9845F063-3BEC-4396-A44E-F16E1A6F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Förenklat schema av lampgrenen. K1–K2 är öppningen där mätaren ska kopplas in.</a:t>
            </a:r>
          </a:p>
        </p:txBody>
      </p:sp>
      <p:sp>
        <p:nvSpPr>
          <p:cNvPr id="25" name="22">
            <a:extLst xmlns:a="http://schemas.openxmlformats.org/drawingml/2006/main">
              <a:ext uri="{FF2B5EF4-FFF2-40B4-BE49-F238E27FC236}">
                <a16:creationId xmlns:a16="http://schemas.microsoft.com/office/drawing/2014/main" id="{CA0D5911-38D0-4A82-B193-0C36B977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a05f8117043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Stöd till övning 3: fel ingång">
            <a:extLst xmlns:a="http://schemas.openxmlformats.org/drawingml/2006/main">
              <a:ext uri="{FF2B5EF4-FFF2-40B4-BE49-F238E27FC236}">
                <a16:creationId xmlns:a16="http://schemas.microsoft.com/office/drawing/2014/main" id="{60F5A9D8-F7F4-43FF-B6FA-E101EFCC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3: fel ingång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50eebf8ec4469"/>
          <a:stretch xmlns:a="http://schemas.openxmlformats.org/drawingml/2006/main"/>
        </p:blipFill>
        <p:spPr>
          <a:xfrm xmlns:a="http://schemas.openxmlformats.org/drawingml/2006/main">
            <a:off x="714375" y="1506244"/>
            <a:ext cx="4810125" cy="3007312"/>
          </a:xfrm>
          <a:prstGeom xmlns:a="http://schemas.openxmlformats.org/drawingml/2006/main" prst="rect">
            <a:avLst/>
          </a:prstGeom>
        </p:spPr>
      </p:pic>
      <p:sp>
        <p:nvSpPr>
          <p:cNvPr id="18" name="STOPP&#10;Röd ledning i A">
            <a:extLst xmlns:a="http://schemas.openxmlformats.org/drawingml/2006/main">
              <a:ext uri="{FF2B5EF4-FFF2-40B4-BE49-F238E27FC236}">
                <a16:creationId xmlns:a16="http://schemas.microsoft.com/office/drawing/2014/main" id="{900560CA-9E6F-4895-83DA-FB41D5E6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714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AD2929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AD2929"/>
                </a:solidFill>
                <a:latin typeface="Calibri"/>
                <a:ea typeface="Calibri"/>
                <a:cs typeface="Calibri"/>
              </a:rPr>
              <a:t>STOPP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AD2929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AD2929"/>
                </a:solidFill>
                <a:latin typeface="Calibri"/>
                <a:ea typeface="Calibri"/>
                <a:cs typeface="Calibri"/>
              </a:rPr>
              <a:t>Röd ledning i A</a:t>
            </a:r>
          </a:p>
        </p:txBody>
      </p:sp>
      <p:sp>
        <p:nvSpPr>
          <p:cNvPr id="19" name="Det räcker inte att&#10;vrida vredet till V.">
            <a:extLst xmlns:a="http://schemas.openxmlformats.org/drawingml/2006/main">
              <a:ext uri="{FF2B5EF4-FFF2-40B4-BE49-F238E27FC236}">
                <a16:creationId xmlns:a16="http://schemas.microsoft.com/office/drawing/2014/main" id="{9D6C7EDA-AEA4-4834-8E64-6E508AB3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9925"/>
            <a:ext cx="27146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Det räcker inte att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vrida vredet till V.</a:t>
            </a:r>
          </a:p>
        </p:txBody>
      </p:sp>
      <p:sp>
        <p:nvSpPr>
          <p:cNvPr id="20" name="A-ingången kan skapa en kortslutning över källan.&#10;Flytta röd ledn">
            <a:extLst xmlns:a="http://schemas.openxmlformats.org/drawingml/2006/main">
              <a:ext uri="{FF2B5EF4-FFF2-40B4-BE49-F238E27FC236}">
                <a16:creationId xmlns:a16="http://schemas.microsoft.com/office/drawing/2014/main" id="{336CE570-C9D2-4E89-A2A5-CF6F95F7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715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A-ingången kan skapa en kortslutning över källan.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Flytta röd ledning till V/Ω innan spänningsmätningen.</a:t>
            </a:r>
          </a:p>
        </p:txBody>
      </p:sp>
      <p:sp>
        <p:nvSpPr>
          <p:cNvPr id="21" name="Felsituationen diskuteras. Den ska inte byggas eller provas.">
            <a:extLst xmlns:a="http://schemas.openxmlformats.org/drawingml/2006/main">
              <a:ext uri="{FF2B5EF4-FFF2-40B4-BE49-F238E27FC236}">
                <a16:creationId xmlns:a16="http://schemas.microsoft.com/office/drawing/2014/main" id="{20396044-0EB8-4100-9EB1-9351BA98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Felsituationen diskuteras. Den ska inte byggas eller provas.</a:t>
            </a:r>
          </a:p>
        </p:txBody>
      </p:sp>
      <p:sp>
        <p:nvSpPr>
          <p:cNvPr id="22" name="21">
            <a:extLst xmlns:a="http://schemas.openxmlformats.org/drawingml/2006/main">
              <a:ext uri="{FF2B5EF4-FFF2-40B4-BE49-F238E27FC236}">
                <a16:creationId xmlns:a16="http://schemas.microsoft.com/office/drawing/2014/main" id="{D1545D38-E5EC-4CA9-8638-59722BB0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64861473644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3: fel ingång före mätning">
            <a:extLst xmlns:a="http://schemas.openxmlformats.org/drawingml/2006/main">
              <a:ext uri="{FF2B5EF4-FFF2-40B4-BE49-F238E27FC236}">
                <a16:creationId xmlns:a16="http://schemas.microsoft.com/office/drawing/2014/main" id="{B7A7FEF9-BA11-43E0-98D2-8ADE24CF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3: fel ingång i lamppanelen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53440dc814de7"/>
          <a:stretch xmlns:a="http://schemas.openxmlformats.org/drawingml/2006/main"/>
        </p:blipFill>
        <p:spPr>
          <a:xfrm xmlns:a="http://schemas.openxmlformats.org/drawingml/2006/main">
            <a:off x="381000" y="1950318"/>
            <a:ext cx="5095875" cy="3185964"/>
          </a:xfrm>
          <a:prstGeom xmlns:a="http://schemas.openxmlformats.org/drawingml/2006/main" prst="rect">
            <a:avLst/>
          </a:prstGeom>
        </p:spPr>
      </p:pic>
      <p:sp>
        <p:nvSpPr>
          <p:cNvPr id="10" name="Eleven vill mäta 12 V.">
            <a:extLst xmlns:a="http://schemas.openxmlformats.org/drawingml/2006/main">
              <a:ext uri="{FF2B5EF4-FFF2-40B4-BE49-F238E27FC236}">
                <a16:creationId xmlns:a16="http://schemas.microsoft.com/office/drawing/2014/main" id="{FED080CB-2E09-40AC-A6E9-33E151E8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66875"/>
            <a:ext cx="3067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Eleven vill kontrollera lampans 12 V-matning.</a:t>
            </a:r>
          </a:p>
        </p:txBody>
      </p:sp>
      <p:sp>
        <p:nvSpPr>
          <p:cNvPr id="11" name="Ingen prob är ansluten till kretsen ännu.">
            <a:extLst xmlns:a="http://schemas.openxmlformats.org/drawingml/2006/main">
              <a:ext uri="{FF2B5EF4-FFF2-40B4-BE49-F238E27FC236}">
                <a16:creationId xmlns:a16="http://schemas.microsoft.com/office/drawing/2014/main" id="{2621BB8C-796E-49C5-87C4-0FF6D0C2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19375"/>
            <a:ext cx="3067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Ingen prob är ansluten till kretsen ännu.</a:t>
            </a:r>
          </a:p>
        </p:txBody>
      </p:sp>
      <p:sp>
        <p:nvSpPr>
          <p:cNvPr id="12" name="1. Vad är fel i bilden?&#10;2. Vilken risk uppstår?&#10;3. Vad ska ändras före">
            <a:extLst xmlns:a="http://schemas.openxmlformats.org/drawingml/2006/main">
              <a:ext uri="{FF2B5EF4-FFF2-40B4-BE49-F238E27FC236}">
                <a16:creationId xmlns:a16="http://schemas.microsoft.com/office/drawing/2014/main" id="{9D9D033F-965C-44AD-BD9E-67028A54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733800"/>
            <a:ext cx="30670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Vad är fel i bilden?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Vilken risk uppstår?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Vad ska ändras före anslutning?</a:t>
            </a:r>
          </a:p>
        </p:txBody>
      </p:sp>
      <p:sp>
        <p:nvSpPr>
          <p:cNvPr id="13" name="Bedöm kopplingen på bilden. Genomför inte den felaktiga mätningen.">
            <a:extLst xmlns:a="http://schemas.openxmlformats.org/drawingml/2006/main">
              <a:ext uri="{FF2B5EF4-FFF2-40B4-BE49-F238E27FC236}">
                <a16:creationId xmlns:a16="http://schemas.microsoft.com/office/drawing/2014/main" id="{D3442732-4CFE-482A-B692-D7A8A3A1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Bedöm kopplingen på bilden. Genomför inte den felaktiga mätningen.</a:t>
            </a:r>
          </a:p>
        </p:txBody>
      </p:sp>
      <p:sp>
        <p:nvSpPr>
          <p:cNvPr id="14" name="22">
            <a:extLst xmlns:a="http://schemas.openxmlformats.org/drawingml/2006/main">
              <a:ext uri="{FF2B5EF4-FFF2-40B4-BE49-F238E27FC236}">
                <a16:creationId xmlns:a16="http://schemas.microsoft.com/office/drawing/2014/main" id="{F855374B-3855-4A2D-A031-52B60BF0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88c882de9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BC47F723-1356-4960-BE61-0FFE8343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CAT och korta spänningstoppar</a:t>
            </a:r>
          </a:p>
        </p:txBody>
      </p:sp>
      <p:sp>
        <p:nvSpPr>
          <p:cNvPr id="10" name="Krav på kategori och spänning gäller samtidigt">
            <a:extLst xmlns:a="http://schemas.openxmlformats.org/drawingml/2006/main">
              <a:ext uri="{FF2B5EF4-FFF2-40B4-BE49-F238E27FC236}">
                <a16:creationId xmlns:a16="http://schemas.microsoft.com/office/drawing/2014/main" id="{F2299BC0-9844-422E-9661-E161A492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En spänningstopp är en kort, snabb ökning av spänningen</a:t>
            </a:r>
          </a:p>
        </p:txBody>
      </p:sp>
      <p:sp>
        <p:nvSpPr>
          <p:cNvPr id="11" name="CAT anger mätmiljö och transientpåfrestning. Voltklassningen gäll">
            <a:extLst xmlns:a="http://schemas.openxmlformats.org/drawingml/2006/main">
              <a:ext uri="{FF2B5EF4-FFF2-40B4-BE49-F238E27FC236}">
                <a16:creationId xmlns:a16="http://schemas.microsoft.com/office/drawing/2014/main" id="{7DF58E5D-1827-4AA7-B3A7-9E564058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sådan topp kan uppstå när en motor kopplas från. CAT anger mätmiljön och vilka toppar mätaren är provad för.</a:t>
            </a:r>
          </a:p>
        </p:txBody>
      </p:sp>
      <p:sp>
        <p:nvSpPr>
          <p:cNvPr id="12" name="Förutsättningar: Övningens krav är CAT III 600 V. A: CAT II 1 000">
            <a:extLst xmlns:a="http://schemas.openxmlformats.org/drawingml/2006/main">
              <a:ext uri="{FF2B5EF4-FFF2-40B4-BE49-F238E27FC236}">
                <a16:creationId xmlns:a16="http://schemas.microsoft.com/office/drawing/2014/main" id="{8D8BF427-5F88-4A73-89F6-5DCAEF04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Givet övningskrav: CAT III 600 V.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A: CAT II 1 000 V. B: CAT III 600 V.</a:t>
            </a:r>
          </a:p>
        </p:txBody>
      </p:sp>
      <p:sp>
        <p:nvSpPr>
          <p:cNvPr id="13" name="Arbetsgång: Jämför först kategori, sedan spänning. Kontrollera oc">
            <a:extLst xmlns:a="http://schemas.openxmlformats.org/drawingml/2006/main">
              <a:ext uri="{FF2B5EF4-FFF2-40B4-BE49-F238E27FC236}">
                <a16:creationId xmlns:a16="http://schemas.microsoft.com/office/drawing/2014/main" id="{7EBF89FB-9335-4011-8AEF-B8EA2375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Jämför två saker: rätt CAT-kategori och tillräckligt voltal. Mätaren och sladdarna måste båda klara kravet.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84353418-E498-46D9-A1B7-DCAABE80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85d3469954e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4: val av säkerhetskategori">
            <a:extLst xmlns:a="http://schemas.openxmlformats.org/drawingml/2006/main">
              <a:ext uri="{FF2B5EF4-FFF2-40B4-BE49-F238E27FC236}">
                <a16:creationId xmlns:a16="http://schemas.microsoft.com/office/drawing/2014/main" id="{C36D1C44-8830-4E0C-BEFF-FFA03D28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4: instrumentval ombord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2a63df5e74fd2"/>
          <a:stretch xmlns:a="http://schemas.openxmlformats.org/drawingml/2006/main"/>
        </p:blipFill>
        <p:spPr>
          <a:xfrm xmlns:a="http://schemas.openxmlformats.org/drawingml/2006/main">
            <a:off x="1166201" y="1400175"/>
            <a:ext cx="3430223" cy="4286250"/>
          </a:xfrm>
          <a:prstGeom xmlns:a="http://schemas.openxmlformats.org/drawingml/2006/main" prst="rect">
            <a:avLst/>
          </a:prstGeom>
        </p:spPr>
      </p:pic>
      <p:sp>
        <p:nvSpPr>
          <p:cNvPr id="10" name="Arbetsberedningens krav:">
            <a:extLst xmlns:a="http://schemas.openxmlformats.org/drawingml/2006/main">
              <a:ext uri="{FF2B5EF4-FFF2-40B4-BE49-F238E27FC236}">
                <a16:creationId xmlns:a16="http://schemas.microsoft.com/office/drawing/2014/main" id="{BBB8AA07-7F42-4617-B698-5E40D802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28775"/>
            <a:ext cx="3067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Planen för arbetet kräver:</a:t>
            </a:r>
          </a:p>
        </p:txBody>
      </p:sp>
      <p:sp>
        <p:nvSpPr>
          <p:cNvPr id="11" name="CAT III 600 V">
            <a:extLst xmlns:a="http://schemas.openxmlformats.org/drawingml/2006/main">
              <a:ext uri="{FF2B5EF4-FFF2-40B4-BE49-F238E27FC236}">
                <a16:creationId xmlns:a16="http://schemas.microsoft.com/office/drawing/2014/main" id="{4C649442-6F93-48A0-A2C0-6F2DA8B7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95550"/>
            <a:ext cx="3067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CAT III 600 V</a:t>
            </a:r>
          </a:p>
        </p:txBody>
      </p:sp>
      <p:sp>
        <p:nvSpPr>
          <p:cNvPr id="12" name="Vilket instrument uppfyller märkningskravet?">
            <a:extLst xmlns:a="http://schemas.openxmlformats.org/drawingml/2006/main">
              <a:ext uri="{FF2B5EF4-FFF2-40B4-BE49-F238E27FC236}">
                <a16:creationId xmlns:a16="http://schemas.microsoft.com/office/drawing/2014/main" id="{91316FEA-D3ED-4BCF-A2AA-AC9FDA4A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333750"/>
            <a:ext cx="3067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Vilket instrument uppfyller märkningskravet?</a:t>
            </a:r>
          </a:p>
        </p:txBody>
      </p:sp>
      <p:sp>
        <p:nvSpPr>
          <p:cNvPr id="13" name="Motivera med både kategori och spänning.">
            <a:extLst xmlns:a="http://schemas.openxmlformats.org/drawingml/2006/main">
              <a:ext uri="{FF2B5EF4-FFF2-40B4-BE49-F238E27FC236}">
                <a16:creationId xmlns:a16="http://schemas.microsoft.com/office/drawing/2014/main" id="{DA2800B2-8D41-4DCC-930D-418C0F1D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619625"/>
            <a:ext cx="30670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Motivera med både kategori och spänning.</a:t>
            </a:r>
          </a:p>
        </p:txBody>
      </p:sp>
      <p:sp>
        <p:nvSpPr>
          <p:cNvPr id="14" name="Illustrationen visar fiktiva instrument. Jämför märkningen på A och B.">
            <a:extLst xmlns:a="http://schemas.openxmlformats.org/drawingml/2006/main">
              <a:ext uri="{FF2B5EF4-FFF2-40B4-BE49-F238E27FC236}">
                <a16:creationId xmlns:a16="http://schemas.microsoft.com/office/drawing/2014/main" id="{0A8851F9-774F-40F5-AE1E-A1F98107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Illustrationen visar fiktiva instrument. Jämför märkningen på A och B.</a:t>
            </a:r>
          </a:p>
        </p:txBody>
      </p:sp>
      <p:sp>
        <p:nvSpPr>
          <p:cNvPr id="15" name="24">
            <a:extLst xmlns:a="http://schemas.openxmlformats.org/drawingml/2006/main">
              <a:ext uri="{FF2B5EF4-FFF2-40B4-BE49-F238E27FC236}">
                <a16:creationId xmlns:a16="http://schemas.microsoft.com/office/drawing/2014/main" id="{9C096B3F-230C-4229-88A9-1843DF2D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22685131b45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Stöd till övning 5: parallellvägen">
            <a:extLst xmlns:a="http://schemas.openxmlformats.org/drawingml/2006/main">
              <a:ext uri="{FF2B5EF4-FFF2-40B4-BE49-F238E27FC236}">
                <a16:creationId xmlns:a16="http://schemas.microsoft.com/office/drawing/2014/main" id="{D45348D4-86CC-4D5C-9F71-53E8D581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Parallellvägar i en givarpanel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1ad83e7ba4cfc"/>
          <a:stretch xmlns:a="http://schemas.openxmlformats.org/drawingml/2006/main"/>
        </p:blipFill>
        <p:spPr>
          <a:xfrm xmlns:a="http://schemas.openxmlformats.org/drawingml/2006/main">
            <a:off x="1550353" y="1495425"/>
            <a:ext cx="6043294" cy="3476625"/>
          </a:xfrm>
          <a:prstGeom xmlns:a="http://schemas.openxmlformats.org/drawingml/2006/main" prst="rect">
            <a:avLst/>
          </a:prstGeom>
        </p:spPr>
      </p:pic>
      <p:sp>
        <p:nvSpPr>
          <p:cNvPr id="18" name="Mätaren ser båda strömvägarna mellan proberna.">
            <a:extLst xmlns:a="http://schemas.openxmlformats.org/drawingml/2006/main">
              <a:ext uri="{FF2B5EF4-FFF2-40B4-BE49-F238E27FC236}">
                <a16:creationId xmlns:a16="http://schemas.microsoft.com/office/drawing/2014/main" id="{E0562EB9-CD50-487E-A1FF-27BE4359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Provströmmen går genom båda vägarna.</a:t>
            </a:r>
          </a:p>
        </p:txBody>
      </p:sp>
      <p:sp>
        <p:nvSpPr>
          <p:cNvPr id="19" name="Rp = R₁ · R₂ / (R₁ + R₂). Vad händer om en gren lossas?">
            <a:extLst xmlns:a="http://schemas.openxmlformats.org/drawingml/2006/main">
              <a:ext uri="{FF2B5EF4-FFF2-40B4-BE49-F238E27FC236}">
                <a16:creationId xmlns:a16="http://schemas.microsoft.com/office/drawing/2014/main" id="{8E1E6BC2-9EF3-49AB-856E-1BB1AF72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771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Rp = R₁ · R₂ / (R₁ + R₂). Vad händer om en gren lossas?</a:t>
            </a:r>
          </a:p>
        </p:txBody>
      </p:sp>
      <p:sp>
        <p:nvSpPr>
          <p:cNvPr id="20" name="25">
            <a:extLst xmlns:a="http://schemas.openxmlformats.org/drawingml/2006/main">
              <a:ext uri="{FF2B5EF4-FFF2-40B4-BE49-F238E27FC236}">
                <a16:creationId xmlns:a16="http://schemas.microsoft.com/office/drawing/2014/main" id="{F56C987B-04AF-4DA4-8231-12AB1BEE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e773e517d43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5: ohmmeterns parallellväg">
            <a:extLst xmlns:a="http://schemas.openxmlformats.org/drawingml/2006/main">
              <a:ext uri="{FF2B5EF4-FFF2-40B4-BE49-F238E27FC236}">
                <a16:creationId xmlns:a16="http://schemas.microsoft.com/office/drawing/2014/main" id="{944D3A48-13BD-4CDC-8891-023E5AD4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5: resistans i givarpanelen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7f7e2f2794232"/>
          <a:stretch xmlns:a="http://schemas.openxmlformats.org/drawingml/2006/main"/>
        </p:blipFill>
        <p:spPr>
          <a:xfrm xmlns:a="http://schemas.openxmlformats.org/drawingml/2006/main">
            <a:off x="381000" y="2077506"/>
            <a:ext cx="5095875" cy="2931588"/>
          </a:xfrm>
          <a:prstGeom xmlns:a="http://schemas.openxmlformats.org/drawingml/2006/main" prst="rect">
            <a:avLst/>
          </a:prstGeom>
        </p:spPr>
      </p:pic>
      <p:sp>
        <p:nvSpPr>
          <p:cNvPr id="10" name="Kretsen är frånskild och urladdad.">
            <a:extLst xmlns:a="http://schemas.openxmlformats.org/drawingml/2006/main">
              <a:ext uri="{FF2B5EF4-FFF2-40B4-BE49-F238E27FC236}">
                <a16:creationId xmlns:a16="http://schemas.microsoft.com/office/drawing/2014/main" id="{6C2603BB-8574-4ECE-B5D7-D0A13351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562100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Matningen är bortkopplad. Ingen lagrad energi.</a:t>
            </a:r>
          </a:p>
        </p:txBody>
      </p:sp>
      <p:sp>
        <p:nvSpPr>
          <p:cNvPr id="11" name="Båda resistorerna sitter kvar i kretsen.">
            <a:extLst xmlns:a="http://schemas.openxmlformats.org/drawingml/2006/main">
              <a:ext uri="{FF2B5EF4-FFF2-40B4-BE49-F238E27FC236}">
                <a16:creationId xmlns:a16="http://schemas.microsoft.com/office/drawing/2014/main" id="{C92CA43B-2C33-4463-8EED-EB235262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809875"/>
            <a:ext cx="3067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Båda resistorerna sitter kvar i kretsen.</a:t>
            </a:r>
          </a:p>
        </p:txBody>
      </p:sp>
      <p:sp>
        <p:nvSpPr>
          <p:cNvPr id="12" name="Vilket idealvärde visar ohmmetern?">
            <a:extLst xmlns:a="http://schemas.openxmlformats.org/drawingml/2006/main">
              <a:ext uri="{FF2B5EF4-FFF2-40B4-BE49-F238E27FC236}">
                <a16:creationId xmlns:a16="http://schemas.microsoft.com/office/drawing/2014/main" id="{306E3A07-F52B-4A32-9A91-919FA1D8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629025"/>
            <a:ext cx="3067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visar mätaren i Ω-läge om vi bortser från mätfel?</a:t>
            </a:r>
          </a:p>
        </p:txBody>
      </p:sp>
      <p:sp>
        <p:nvSpPr>
          <p:cNvPr id="13" name="Visa beräkningen i Ω.">
            <a:extLst xmlns:a="http://schemas.openxmlformats.org/drawingml/2006/main">
              <a:ext uri="{FF2B5EF4-FFF2-40B4-BE49-F238E27FC236}">
                <a16:creationId xmlns:a16="http://schemas.microsoft.com/office/drawing/2014/main" id="{85131A53-60EF-4302-8CC9-CD6C21E0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752975"/>
            <a:ext cx="30670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Visa beräkningen i Ω.</a:t>
            </a:r>
          </a:p>
        </p:txBody>
      </p:sp>
      <p:sp>
        <p:nvSpPr>
          <p:cNvPr id="14" name="Hjälp: Rₚ = R₁ · R₂ / (R₁ + R₂). 1 kΩ = 1 000 Ω.">
            <a:extLst xmlns:a="http://schemas.openxmlformats.org/drawingml/2006/main">
              <a:ext uri="{FF2B5EF4-FFF2-40B4-BE49-F238E27FC236}">
                <a16:creationId xmlns:a16="http://schemas.microsoft.com/office/drawing/2014/main" id="{534DC10D-D85D-4359-988D-5F712910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Hjälp: Rₚ = R₁ · R₂ / (R₁ + R₂). 1 kΩ = 1 000 Ω.</a:t>
            </a:r>
          </a:p>
        </p:txBody>
      </p:sp>
      <p:sp>
        <p:nvSpPr>
          <p:cNvPr id="15" name="26">
            <a:extLst xmlns:a="http://schemas.openxmlformats.org/drawingml/2006/main">
              <a:ext uri="{FF2B5EF4-FFF2-40B4-BE49-F238E27FC236}">
                <a16:creationId xmlns:a16="http://schemas.microsoft.com/office/drawing/2014/main" id="{0CE51822-A33D-401F-A6AA-6E2E413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d7ebc4eaa4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ass 2">
            <a:extLst xmlns:a="http://schemas.openxmlformats.org/drawingml/2006/main">
              <a:ext uri="{FF2B5EF4-FFF2-40B4-BE49-F238E27FC236}">
                <a16:creationId xmlns:a16="http://schemas.microsoft.com/office/drawing/2014/main" id="{C3C80DF1-B3B6-4128-9FDA-71798067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Voltmeter som last&#10;Noggrannhet och upplösning&#10;Ett användbart mätp">
            <a:extLst xmlns:a="http://schemas.openxmlformats.org/drawingml/2006/main">
              <a:ext uri="{FF2B5EF4-FFF2-40B4-BE49-F238E27FC236}">
                <a16:creationId xmlns:a16="http://schemas.microsoft.com/office/drawing/2014/main" id="{0746C36A-D79C-4896-A868-B7885692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7620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Mätaren tar också en liten ström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Hur mycket kan mätvärdet skilja sig?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Ett användbart mätprotokoll</a:t>
            </a:r>
          </a:p>
        </p:txBody>
      </p:sp>
      <p:sp>
        <p:nvSpPr>
          <p:cNvPr id="4" name="Teori och exempel följs av övning 6–10.&#10;Lösningar och facit ligge">
            <a:extLst xmlns:a="http://schemas.openxmlformats.org/drawingml/2006/main">
              <a:ext uri="{FF2B5EF4-FFF2-40B4-BE49-F238E27FC236}">
                <a16:creationId xmlns:a16="http://schemas.microsoft.com/office/drawing/2014/main" id="{8128E75B-EA9C-4DF4-BF57-DFA0610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6–10.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377BA871-55A8-4F7D-B8E1-709F5008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df623e8dc49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Voltmeter som last">
            <a:extLst xmlns:a="http://schemas.openxmlformats.org/drawingml/2006/main">
              <a:ext uri="{FF2B5EF4-FFF2-40B4-BE49-F238E27FC236}">
                <a16:creationId xmlns:a16="http://schemas.microsoft.com/office/drawing/2014/main" id="{1D1BD917-017B-40B8-A6CE-74FBE61C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Mätaren påverkar kretsen för givaren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bb3fc3c5e4085"/>
          <a:stretch xmlns:a="http://schemas.openxmlformats.org/drawingml/2006/main"/>
        </p:blipFill>
        <p:spPr>
          <a:xfrm xmlns:a="http://schemas.openxmlformats.org/drawingml/2006/main">
            <a:off x="714375" y="1563394"/>
            <a:ext cx="4810125" cy="3007312"/>
          </a:xfrm>
          <a:prstGeom xmlns:a="http://schemas.openxmlformats.org/drawingml/2006/main" prst="rect">
            <a:avLst/>
          </a:prstGeom>
        </p:spPr>
      </p:pic>
      <p:sp>
        <p:nvSpPr>
          <p:cNvPr id="10" name="Utan mätare&#10;5,000 V">
            <a:extLst xmlns:a="http://schemas.openxmlformats.org/drawingml/2006/main">
              <a:ext uri="{FF2B5EF4-FFF2-40B4-BE49-F238E27FC236}">
                <a16:creationId xmlns:a16="http://schemas.microsoft.com/office/drawing/2014/main" id="{1A973277-6BF3-436E-BD42-66190D48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38325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Utan mätare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5,000 V</a:t>
            </a:r>
          </a:p>
        </p:txBody>
      </p:sp>
      <p:sp>
        <p:nvSpPr>
          <p:cNvPr id="11" name="Med mätare (10 MΩ)&#10;cirka 4,762 V">
            <a:extLst xmlns:a="http://schemas.openxmlformats.org/drawingml/2006/main">
              <a:ext uri="{FF2B5EF4-FFF2-40B4-BE49-F238E27FC236}">
                <a16:creationId xmlns:a16="http://schemas.microsoft.com/office/drawing/2014/main" id="{71BDA711-741D-433F-BDAC-9036AF19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62300"/>
            <a:ext cx="276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Med mätare (10 MΩ)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cirka 4,762 V</a:t>
            </a:r>
          </a:p>
        </p:txBody>
      </p:sp>
      <p:sp>
        <p:nvSpPr>
          <p:cNvPr id="12" name="Nedre resistansen blir 1 MΩ ∥ 10 MΩ ≈ 0,909 MΩ.&#10;Mätaren ändrar kr">
            <a:extLst xmlns:a="http://schemas.openxmlformats.org/drawingml/2006/main">
              <a:ext uri="{FF2B5EF4-FFF2-40B4-BE49-F238E27FC236}">
                <a16:creationId xmlns:a16="http://schemas.microsoft.com/office/drawing/2014/main" id="{FE22F1D3-D0F8-4F7A-B9E4-3C3A1998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7715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Nedre resistansen blir 1 MΩ ∥ 10 MΩ ≈ 0,909 MΩ.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Lite ström går genom mätaren. Därför ändras spänningen vi mäter.</a:t>
            </a:r>
          </a:p>
        </p:txBody>
      </p:sp>
      <p:sp>
        <p:nvSpPr>
          <p:cNvPr id="13" name="28">
            <a:extLst xmlns:a="http://schemas.openxmlformats.org/drawingml/2006/main">
              <a:ext uri="{FF2B5EF4-FFF2-40B4-BE49-F238E27FC236}">
                <a16:creationId xmlns:a16="http://schemas.microsoft.com/office/drawing/2014/main" id="{8EB33533-6CAA-434D-9E4D-9FD63D7F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d484394b04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Noggrannhet och upplösning">
            <a:extLst xmlns:a="http://schemas.openxmlformats.org/drawingml/2006/main">
              <a:ext uri="{FF2B5EF4-FFF2-40B4-BE49-F238E27FC236}">
                <a16:creationId xmlns:a16="http://schemas.microsoft.com/office/drawing/2014/main" id="{863B86E9-3D87-41E8-AC1E-13E5323C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Hur mycket kan mätvärdet skilja sig?</a:t>
            </a:r>
          </a:p>
        </p:txBody>
      </p:sp>
      <p:sp>
        <p:nvSpPr>
          <p:cNvPr id="9" name="Visning: 12,00 V">
            <a:extLst xmlns:a="http://schemas.openxmlformats.org/drawingml/2006/main">
              <a:ext uri="{FF2B5EF4-FFF2-40B4-BE49-F238E27FC236}">
                <a16:creationId xmlns:a16="http://schemas.microsoft.com/office/drawing/2014/main" id="{6AE35DC3-A6DB-46F7-B2C1-66362289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Visning: 12,00 V</a:t>
            </a:r>
          </a:p>
        </p:txBody>
      </p:sp>
      <p:sp>
        <p:nvSpPr>
          <p:cNvPr id="10" name="Specifikation: ±(0,5 % av visningen + 2 siffror)&#10;Upplösning: 0,01">
            <a:extLst xmlns:a="http://schemas.openxmlformats.org/drawingml/2006/main">
              <a:ext uri="{FF2B5EF4-FFF2-40B4-BE49-F238E27FC236}">
                <a16:creationId xmlns:a16="http://schemas.microsoft.com/office/drawing/2014/main" id="{D2B1C680-DEAC-45B2-9722-C47376F4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7620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Tillverkarens felgräns: ±(0,5 % av visningen + 2 siffror)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Minsta steg (upplösning): 0,01 V</a:t>
            </a:r>
          </a:p>
        </p:txBody>
      </p:sp>
      <p:sp>
        <p:nvSpPr>
          <p:cNvPr id="11" name="Procentbidrag: 0,005 · 12,00 = 0,060 V&#10;Sifferbidrag: 2 · 0,01 = 0">
            <a:extLst xmlns:a="http://schemas.openxmlformats.org/drawingml/2006/main">
              <a:ext uri="{FF2B5EF4-FFF2-40B4-BE49-F238E27FC236}">
                <a16:creationId xmlns:a16="http://schemas.microsoft.com/office/drawing/2014/main" id="{DC268ADE-D521-4793-A187-EF799FFF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Procentbidrag: 0,005 · 12,00 = 0,060 V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Sifferbidrag: 2 · 0,01 = 0,020 V</a:t>
            </a:r>
          </a:p>
        </p:txBody>
      </p:sp>
      <p:sp>
        <p:nvSpPr>
          <p:cNvPr id="12" name="Felgräns: ±0,080 V">
            <a:extLst xmlns:a="http://schemas.openxmlformats.org/drawingml/2006/main">
              <a:ext uri="{FF2B5EF4-FFF2-40B4-BE49-F238E27FC236}">
                <a16:creationId xmlns:a16="http://schemas.microsoft.com/office/drawing/2014/main" id="{364815D9-BA05-4CF9-83B1-ADD506AD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Högst angivet mätfel: ±0,080 V</a:t>
            </a:r>
          </a:p>
        </p:txBody>
      </p:sp>
      <p:sp>
        <p:nvSpPr>
          <p:cNvPr id="13" name="Intervallet blir 11,92–12,08 V under specifikationens villkor.">
            <a:extLst xmlns:a="http://schemas.openxmlformats.org/drawingml/2006/main">
              <a:ext uri="{FF2B5EF4-FFF2-40B4-BE49-F238E27FC236}">
                <a16:creationId xmlns:a16="http://schemas.microsoft.com/office/drawing/2014/main" id="{90ED2732-393B-42C0-9625-947BD34A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7620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Möjligt spann: 11,92–12,08 V, när manualens villkor är uppfyllda.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E568CCF0-658D-4353-B77C-E3A2A42C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b598d52fe47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8" name="Ett mätprotokoll till nästa vakt">
            <a:extLst xmlns:a="http://schemas.openxmlformats.org/drawingml/2006/main">
              <a:ext uri="{FF2B5EF4-FFF2-40B4-BE49-F238E27FC236}">
                <a16:creationId xmlns:a16="http://schemas.microsoft.com/office/drawing/2014/main" id="{12464860-81EC-4DA2-AA0D-B9E4B6FC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mätprotokoll till nästa vakt</a:t>
            </a:r>
          </a:p>
        </p:txBody>
      </p:sp>
      <p:sp>
        <p:nvSpPr>
          <p:cNvPr id="19" name="Exempel: hyttlampan H1 i övningsmodellen">
            <a:extLst xmlns:a="http://schemas.openxmlformats.org/drawingml/2006/main">
              <a:ext uri="{FF2B5EF4-FFF2-40B4-BE49-F238E27FC236}">
                <a16:creationId xmlns:a16="http://schemas.microsoft.com/office/drawing/2014/main" id="{2FB1C071-6B2D-4E5C-BBE4-331F969A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Exempel: hyttlampan H1 i övningsmodellen</a:t>
            </a:r>
          </a:p>
        </p:txBody>
      </p:sp>
      <p:sp>
        <p:nvSpPr>
          <p:cNvPr id="20" name="Mätpunkter: P1 mot P2 vid lampan. Förväntat: cirka 12 V.">
            <a:extLst xmlns:a="http://schemas.openxmlformats.org/drawingml/2006/main">
              <a:ext uri="{FF2B5EF4-FFF2-40B4-BE49-F238E27FC236}">
                <a16:creationId xmlns:a16="http://schemas.microsoft.com/office/drawing/2014/main" id="{FE3B4B12-C23F-4203-A1C8-834217B8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Mätpunkter: P1 mot P2 vid lampan. Förväntat: cirka 12 V.</a:t>
            </a:r>
          </a:p>
        </p:txBody>
      </p:sp>
      <p:sp>
        <p:nvSpPr>
          <p:cNvPr id="21" name="Instrument: DMM-01. DC V, område 20 V.">
            <a:extLst xmlns:a="http://schemas.openxmlformats.org/drawingml/2006/main">
              <a:ext uri="{FF2B5EF4-FFF2-40B4-BE49-F238E27FC236}">
                <a16:creationId xmlns:a16="http://schemas.microsoft.com/office/drawing/2014/main" id="{68A9314D-8D7D-40F0-B37E-95298ABB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Instrument: DMM-01. DC V, område 20 V.</a:t>
            </a:r>
          </a:p>
        </p:txBody>
      </p:sp>
      <p:sp>
        <p:nvSpPr>
          <p:cNvPr id="22" name="Driftläge: matning på, S1 tillslagen och lampan ansluten.">
            <a:extLst xmlns:a="http://schemas.openxmlformats.org/drawingml/2006/main">
              <a:ext uri="{FF2B5EF4-FFF2-40B4-BE49-F238E27FC236}">
                <a16:creationId xmlns:a16="http://schemas.microsoft.com/office/drawing/2014/main" id="{1F77459C-045A-4FD0-B4B6-4A8547C7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Driftläge: matning på, S1 tillslagen och lampan ansluten.</a:t>
            </a:r>
          </a:p>
        </p:txBody>
      </p:sp>
      <p:sp>
        <p:nvSpPr>
          <p:cNvPr id="23" name="Resultat: 12,00 V. Specifikationsgräns: ±0,08 V.">
            <a:extLst xmlns:a="http://schemas.openxmlformats.org/drawingml/2006/main">
              <a:ext uri="{FF2B5EF4-FFF2-40B4-BE49-F238E27FC236}">
                <a16:creationId xmlns:a16="http://schemas.microsoft.com/office/drawing/2014/main" id="{B4D324B2-D63D-48AC-B52B-499AB550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Resultat: 12,00 V. Mätarens angivna felgräns: ±0,08 V.</a:t>
            </a:r>
          </a:p>
        </p:txBody>
      </p:sp>
      <p:sp>
        <p:nvSpPr>
          <p:cNvPr id="24" name="Bedömning: jämför 11,92–12,08 V med det angivna kravet.">
            <a:extLst xmlns:a="http://schemas.openxmlformats.org/drawingml/2006/main">
              <a:ext uri="{FF2B5EF4-FFF2-40B4-BE49-F238E27FC236}">
                <a16:creationId xmlns:a16="http://schemas.microsoft.com/office/drawing/2014/main" id="{21FCE2E1-1D34-4B92-8569-9AB49EB4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762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Bedömning: jämför 11,92–12,08 V med det angivna kravet.</a:t>
            </a:r>
          </a:p>
        </p:txBody>
      </p:sp>
      <p:sp>
        <p:nvSpPr>
          <p:cNvPr id="25" name="Anteckna också datum, utförare och vilket instrumentunderlag du har an">
            <a:extLst xmlns:a="http://schemas.openxmlformats.org/drawingml/2006/main">
              <a:ext uri="{FF2B5EF4-FFF2-40B4-BE49-F238E27FC236}">
                <a16:creationId xmlns:a16="http://schemas.microsoft.com/office/drawing/2014/main" id="{532996A2-D560-4822-957F-82547542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Anteckna också datum, utförare och vilket instrumentunderlag du har använt.</a:t>
            </a:r>
          </a:p>
        </p:txBody>
      </p:sp>
      <p:sp>
        <p:nvSpPr>
          <p:cNvPr id="26" name="32">
            <a:extLst xmlns:a="http://schemas.openxmlformats.org/drawingml/2006/main">
              <a:ext uri="{FF2B5EF4-FFF2-40B4-BE49-F238E27FC236}">
                <a16:creationId xmlns:a16="http://schemas.microsoft.com/office/drawing/2014/main" id="{24D2E3EE-162C-4EF6-AA73-1AC494DE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2f51d20d744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instrumentets felgräns">
            <a:extLst xmlns:a="http://schemas.openxmlformats.org/drawingml/2006/main">
              <a:ext uri="{FF2B5EF4-FFF2-40B4-BE49-F238E27FC236}">
                <a16:creationId xmlns:a16="http://schemas.microsoft.com/office/drawing/2014/main" id="{61073389-AEAA-403B-8B31-58DB796C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instrumentets felgräns</a:t>
            </a:r>
          </a:p>
        </p:txBody>
      </p:sp>
      <p:sp>
        <p:nvSpPr>
          <p:cNvPr id="10" name="Visning 8,00 V. Specifikation ±(1 % + 3 siffror), upplösning 0,01">
            <a:extLst xmlns:a="http://schemas.openxmlformats.org/drawingml/2006/main">
              <a:ext uri="{FF2B5EF4-FFF2-40B4-BE49-F238E27FC236}">
                <a16:creationId xmlns:a16="http://schemas.microsoft.com/office/drawing/2014/main" id="{E8861E2B-189F-4F83-9579-E22698FD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Visning 8,00 V. Specifikation ±(1 % + 3 siffror), upplösning 0,01 V.</a:t>
            </a:r>
          </a:p>
        </p:txBody>
      </p:sp>
      <p:sp>
        <p:nvSpPr>
          <p:cNvPr id="11" name="δ = 0,01 · visning + 3 · upplösning">
            <a:extLst xmlns:a="http://schemas.openxmlformats.org/drawingml/2006/main">
              <a:ext uri="{FF2B5EF4-FFF2-40B4-BE49-F238E27FC236}">
                <a16:creationId xmlns:a16="http://schemas.microsoft.com/office/drawing/2014/main" id="{AFC9292D-2C21-40DA-B6FA-317468A3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 = 0,01 · visning + 3 · upplösning</a:t>
            </a:r>
          </a:p>
        </p:txBody>
      </p:sp>
      <p:sp>
        <p:nvSpPr>
          <p:cNvPr id="12" name="1. Procentbidrag = 0,01 · 8,00 = 0,08 V.&#10;2. Sifferbidrag = 3 · 0,">
            <a:extLst xmlns:a="http://schemas.openxmlformats.org/drawingml/2006/main">
              <a:ext uri="{FF2B5EF4-FFF2-40B4-BE49-F238E27FC236}">
                <a16:creationId xmlns:a16="http://schemas.microsoft.com/office/drawing/2014/main" id="{D4D55D97-6CB3-4FEC-A7CD-26219444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Procentbidrag = 0,01 · 8,00 = 0,08 V.</a:t>
            </a:r>
          </a:p>
          <a:p xmlns:a="http://schemas.openxmlformats.org/drawingml/2006/main">
            <a:pPr algn="l">
              <a:buNone/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Sifferbidrag = 3 · 0,01 = 0,03 V. Totalt δ = 0,11 V.</a:t>
            </a:r>
          </a:p>
          <a:p xmlns:a="http://schemas.openxmlformats.org/drawingml/2006/main">
            <a:pPr algn="l">
              <a:buNone/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Intervall: 8,00 − 0,11 till 8,00 + 0,11 = 7,89–8,11 V.</a:t>
            </a:r>
          </a:p>
        </p:txBody>
      </p:sp>
      <p:sp>
        <p:nvSpPr>
          <p:cNvPr id="13" name="Fler decimaler gör inte automatiskt gränsen mindre. Den kommer fr">
            <a:extLst xmlns:a="http://schemas.openxmlformats.org/drawingml/2006/main">
              <a:ext uri="{FF2B5EF4-FFF2-40B4-BE49-F238E27FC236}">
                <a16:creationId xmlns:a16="http://schemas.microsoft.com/office/drawing/2014/main" id="{CC4712C4-56A1-48D4-A2C9-BC052B3A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Fler decimaler betyder inte alltid mindre mätfel. Läs tillverkarens uppgifter.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24397E38-4817-4C8F-A718-04C0B2E8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4acbc41bd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6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472CE433-4C7E-41A0-B859-A91F8F3E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6</a:t>
            </a:r>
          </a:p>
        </p:txBody>
      </p:sp>
      <p:sp>
        <p:nvSpPr>
          <p:cNvPr id="17" name="Den belastade spänningsdelaren">
            <a:extLst xmlns:a="http://schemas.openxmlformats.org/drawingml/2006/main">
              <a:ext uri="{FF2B5EF4-FFF2-40B4-BE49-F238E27FC236}">
                <a16:creationId xmlns:a16="http://schemas.microsoft.com/office/drawing/2014/main" id="{5783714F-3394-4025-991E-90E113AF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Två motstånd delar spänningen</a:t>
            </a:r>
          </a:p>
        </p:txBody>
      </p:sp>
      <p:sp>
        <p:nvSpPr>
          <p:cNvPr id="18" name="Uin = 10 V     Rövre = Rnedre = 1 MΩ     Rm = 10 MΩ">
            <a:extLst xmlns:a="http://schemas.openxmlformats.org/drawingml/2006/main">
              <a:ext uri="{FF2B5EF4-FFF2-40B4-BE49-F238E27FC236}">
                <a16:creationId xmlns:a16="http://schemas.microsoft.com/office/drawing/2014/main" id="{CDFD095C-4999-4F3A-BC9E-01B29DBE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7620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Uin = 10 V     Rövre = Rnedre = 1 MΩ     Rm = 10 MΩ</a:t>
            </a:r>
          </a:p>
        </p:txBody>
      </p:sp>
      <p:sp>
        <p:nvSpPr>
          <p:cNvPr id="19" name="1. Parallellkopplingen">
            <a:extLst xmlns:a="http://schemas.openxmlformats.org/drawingml/2006/main">
              <a:ext uri="{FF2B5EF4-FFF2-40B4-BE49-F238E27FC236}">
                <a16:creationId xmlns:a16="http://schemas.microsoft.com/office/drawing/2014/main" id="{AEF421F7-3FA1-48BE-9DD2-697F76B8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Parallellkopplingen</a:t>
            </a:r>
          </a:p>
        </p:txBody>
      </p:sp>
      <p:sp>
        <p:nvSpPr>
          <p:cNvPr id="20" name="Rp = Rnedre · Rm / (Rnedre + Rm)">
            <a:extLst xmlns:a="http://schemas.openxmlformats.org/drawingml/2006/main">
              <a:ext uri="{FF2B5EF4-FFF2-40B4-BE49-F238E27FC236}">
                <a16:creationId xmlns:a16="http://schemas.microsoft.com/office/drawing/2014/main" id="{A86D7A40-41CE-4E0E-BF80-E4BCACF1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Rp = Rnedre · Rm / (Rnedre + Rm)</a:t>
            </a:r>
          </a:p>
        </p:txBody>
      </p:sp>
      <p:sp>
        <p:nvSpPr>
          <p:cNvPr id="21" name="2. Spänningsdelningen">
            <a:extLst xmlns:a="http://schemas.openxmlformats.org/drawingml/2006/main">
              <a:ext uri="{FF2B5EF4-FFF2-40B4-BE49-F238E27FC236}">
                <a16:creationId xmlns:a16="http://schemas.microsoft.com/office/drawing/2014/main" id="{4C435469-728D-4488-A284-B3886DC6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Spänningsdelningen</a:t>
            </a:r>
          </a:p>
        </p:txBody>
      </p:sp>
      <p:sp>
        <p:nvSpPr>
          <p:cNvPr id="22" name="Um = Uin · Rp / (Rövre + Rp)">
            <a:extLst xmlns:a="http://schemas.openxmlformats.org/drawingml/2006/main">
              <a:ext uri="{FF2B5EF4-FFF2-40B4-BE49-F238E27FC236}">
                <a16:creationId xmlns:a16="http://schemas.microsoft.com/office/drawing/2014/main" id="{9E8322C2-DEE3-40C7-9DFC-C7DFF170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Um = Uin · Rp / (Rövre + Rp)</a:t>
            </a:r>
          </a:p>
        </p:txBody>
      </p:sp>
      <p:sp>
        <p:nvSpPr>
          <p:cNvPr id="23" name="Använd samma resistansenhet i båda formlerna. Schemat finns på ”V">
            <a:extLst xmlns:a="http://schemas.openxmlformats.org/drawingml/2006/main">
              <a:ext uri="{FF2B5EF4-FFF2-40B4-BE49-F238E27FC236}">
                <a16:creationId xmlns:a16="http://schemas.microsoft.com/office/drawing/2014/main" id="{06C1F93E-6832-4724-A45A-193197F3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Använd samma resistansenhet i båda formlerna. Schemat finns i övning 6.</a:t>
            </a:r>
          </a:p>
        </p:txBody>
      </p:sp>
      <p:sp>
        <p:nvSpPr>
          <p:cNvPr id="24" name="32">
            <a:extLst xmlns:a="http://schemas.openxmlformats.org/drawingml/2006/main">
              <a:ext uri="{FF2B5EF4-FFF2-40B4-BE49-F238E27FC236}">
                <a16:creationId xmlns:a16="http://schemas.microsoft.com/office/drawing/2014/main" id="{0C4CB7CC-B242-4A2C-AA62-DD7F7CA1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5965cce9c4b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6: mätaren belastar delaren">
            <a:extLst xmlns:a="http://schemas.openxmlformats.org/drawingml/2006/main">
              <a:ext uri="{FF2B5EF4-FFF2-40B4-BE49-F238E27FC236}">
                <a16:creationId xmlns:a16="http://schemas.microsoft.com/office/drawing/2014/main" id="{03900CEE-2175-44C3-8B73-F4E35810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6: mätning i en givarkrets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c09a6e45d4f82"/>
          <a:stretch xmlns:a="http://schemas.openxmlformats.org/drawingml/2006/main"/>
        </p:blipFill>
        <p:spPr>
          <a:xfrm xmlns:a="http://schemas.openxmlformats.org/drawingml/2006/main">
            <a:off x="381000" y="1950318"/>
            <a:ext cx="5095875" cy="3185964"/>
          </a:xfrm>
          <a:prstGeom xmlns:a="http://schemas.openxmlformats.org/drawingml/2006/main" prst="rect">
            <a:avLst/>
          </a:prstGeom>
        </p:spPr>
      </p:pic>
      <p:sp>
        <p:nvSpPr>
          <p:cNvPr id="10" name="R₁: övre resistorn. R₂: nedre resistorn.">
            <a:extLst xmlns:a="http://schemas.openxmlformats.org/drawingml/2006/main">
              <a:ext uri="{FF2B5EF4-FFF2-40B4-BE49-F238E27FC236}">
                <a16:creationId xmlns:a16="http://schemas.microsoft.com/office/drawing/2014/main" id="{21FCD62D-5910-4266-8E48-AED0BC94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4810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R₁: övre resistorn. R₂: nedre resistorn.</a:t>
            </a:r>
          </a:p>
        </p:txBody>
      </p:sp>
      <p:sp>
        <p:nvSpPr>
          <p:cNvPr id="11" name="Voltmeter: Rₘ = 10 MΩ">
            <a:extLst xmlns:a="http://schemas.openxmlformats.org/drawingml/2006/main">
              <a:ext uri="{FF2B5EF4-FFF2-40B4-BE49-F238E27FC236}">
                <a16:creationId xmlns:a16="http://schemas.microsoft.com/office/drawing/2014/main" id="{420BC647-7CFE-4543-9670-612D47B4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581150"/>
            <a:ext cx="3067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Voltmeter: Rₘ = 10 MΩ</a:t>
            </a:r>
          </a:p>
        </p:txBody>
      </p:sp>
      <p:sp>
        <p:nvSpPr>
          <p:cNvPr id="12" name="Beräkna visningen Uₘ när mätaren ansluts som i bilden.">
            <a:extLst xmlns:a="http://schemas.openxmlformats.org/drawingml/2006/main">
              <a:ext uri="{FF2B5EF4-FFF2-40B4-BE49-F238E27FC236}">
                <a16:creationId xmlns:a16="http://schemas.microsoft.com/office/drawing/2014/main" id="{005864D8-5D54-42BC-AB7D-99E7F301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19375"/>
            <a:ext cx="3067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Beräkna visningen Uₘ när mätaren ansluts som i bilden.</a:t>
            </a:r>
          </a:p>
        </p:txBody>
      </p:sp>
      <p:sp>
        <p:nvSpPr>
          <p:cNvPr id="13" name="Rₘ är mätarens ingångsresistans. Den ligger parallellt med nedre resis">
            <a:extLst xmlns:a="http://schemas.openxmlformats.org/drawingml/2006/main">
              <a:ext uri="{FF2B5EF4-FFF2-40B4-BE49-F238E27FC236}">
                <a16:creationId xmlns:a16="http://schemas.microsoft.com/office/drawing/2014/main" id="{D581B17E-A66A-41EF-AE54-1DE57153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10025"/>
            <a:ext cx="3067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Rₘ är motståndet inne i mätaren. Det påverkar hur mycket ström mätaren tar.</a:t>
            </a:r>
          </a:p>
        </p:txBody>
      </p:sp>
      <p:sp>
        <p:nvSpPr>
          <p:cNvPr id="14" name="Hjälp: Rₚ = R₂ · Rₘ / (R₂ + Rₘ). Uₘ = 10 · Rₚ / (R₁ + Rₚ). Använd MΩ.">
            <a:extLst xmlns:a="http://schemas.openxmlformats.org/drawingml/2006/main">
              <a:ext uri="{FF2B5EF4-FFF2-40B4-BE49-F238E27FC236}">
                <a16:creationId xmlns:a16="http://schemas.microsoft.com/office/drawing/2014/main" id="{1B3C4A47-60DB-44FE-A92E-E52DE710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Hjälp: Rₚ = R₂ · Rₘ / (R₂ + Rₘ). Uₘ = 10 · Rₚ / (R₁ + Rₚ). Använd MΩ.</a:t>
            </a:r>
          </a:p>
        </p:txBody>
      </p:sp>
      <p:sp>
        <p:nvSpPr>
          <p:cNvPr id="15" name="33">
            <a:extLst xmlns:a="http://schemas.openxmlformats.org/drawingml/2006/main">
              <a:ext uri="{FF2B5EF4-FFF2-40B4-BE49-F238E27FC236}">
                <a16:creationId xmlns:a16="http://schemas.microsoft.com/office/drawing/2014/main" id="{D1B42BC4-7C33-42D6-B8EF-6CCC549E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b49eeb4ae46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F69CD581-9760-4861-B7F0-FA3A7500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7</a:t>
            </a:r>
          </a:p>
        </p:txBody>
      </p:sp>
      <p:sp>
        <p:nvSpPr>
          <p:cNvPr id="10" name="Rp = Rnedre ∥ Rm&#10;Um = Uin · Rp/(Rövre + Rp)">
            <a:extLst xmlns:a="http://schemas.openxmlformats.org/drawingml/2006/main">
              <a:ext uri="{FF2B5EF4-FFF2-40B4-BE49-F238E27FC236}">
                <a16:creationId xmlns:a16="http://schemas.microsoft.com/office/drawing/2014/main" id="{CA257D62-EC6B-40BF-A57A-9878F3E7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Rp = Rnedre ∥ Rm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Um = Uin · Rp/(Rövre + Rp)</a:t>
            </a:r>
          </a:p>
        </p:txBody>
      </p:sp>
      <p:sp>
        <p:nvSpPr>
          <p:cNvPr id="11" name="A ∥ B = AB/(A + B). Relativt fel = 100 · (Um − Uutan mätare)/Uuta">
            <a:extLst xmlns:a="http://schemas.openxmlformats.org/drawingml/2006/main">
              <a:ext uri="{FF2B5EF4-FFF2-40B4-BE49-F238E27FC236}">
                <a16:creationId xmlns:a16="http://schemas.microsoft.com/office/drawing/2014/main" id="{A267207E-3E61-481C-983B-8FDCCFF3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Tecknet ∥ betyder parallellkoppling: A ∥ B = AB/(A + B). Fel i % = 100 · (Um − Uutan mätare)/Uutan mätare.</a:t>
            </a:r>
          </a:p>
        </p:txBody>
      </p:sp>
      <p:sp>
        <p:nvSpPr>
          <p:cNvPr id="12" name="Förutsättningar: Uin = 10 V, båda delarmotstånden 1 MΩ och Rm = 1">
            <a:extLst xmlns:a="http://schemas.openxmlformats.org/drawingml/2006/main">
              <a:ext uri="{FF2B5EF4-FFF2-40B4-BE49-F238E27FC236}">
                <a16:creationId xmlns:a16="http://schemas.microsoft.com/office/drawing/2014/main" id="{91307B41-A918-4383-B307-98781882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Givet: källan ger 10 V. De två motstånden och mätaren har 1 MΩ var. Utan mätare är spänningen 5,000 V.</a:t>
            </a:r>
          </a:p>
        </p:txBody>
      </p:sp>
      <p:sp>
        <p:nvSpPr>
          <p:cNvPr id="13" name="Arbetsgång: Beräkna visningen och jämför den med 5,000 V. Ett neg">
            <a:extLst xmlns:a="http://schemas.openxmlformats.org/drawingml/2006/main">
              <a:ext uri="{FF2B5EF4-FFF2-40B4-BE49-F238E27FC236}">
                <a16:creationId xmlns:a16="http://schemas.microsoft.com/office/drawing/2014/main" id="{3B3969E9-0BD9-41C6-B379-C806BA8A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Beräkna visningen och jämför den med 5,000 V. Ett negativt fel betyder för låg visning.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B05FA95A-FD61-4E5B-9CA0-C15EE165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c65ba50384d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7: lägre ingångsresistans">
            <a:extLst xmlns:a="http://schemas.openxmlformats.org/drawingml/2006/main">
              <a:ext uri="{FF2B5EF4-FFF2-40B4-BE49-F238E27FC236}">
                <a16:creationId xmlns:a16="http://schemas.microsoft.com/office/drawing/2014/main" id="{1A25FB01-01A4-4855-90FE-42755353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7: byt mätare i givarkretsen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b398572fa4c3b"/>
          <a:stretch xmlns:a="http://schemas.openxmlformats.org/drawingml/2006/main"/>
        </p:blipFill>
        <p:spPr>
          <a:xfrm xmlns:a="http://schemas.openxmlformats.org/drawingml/2006/main">
            <a:off x="381000" y="1949634"/>
            <a:ext cx="5095875" cy="3187332"/>
          </a:xfrm>
          <a:prstGeom xmlns:a="http://schemas.openxmlformats.org/drawingml/2006/main" prst="rect">
            <a:avLst/>
          </a:prstGeom>
        </p:spPr>
      </p:pic>
      <p:sp>
        <p:nvSpPr>
          <p:cNvPr id="10" name="R₁: övre resistorn. R₂: nedre resistorn.">
            <a:extLst xmlns:a="http://schemas.openxmlformats.org/drawingml/2006/main">
              <a:ext uri="{FF2B5EF4-FFF2-40B4-BE49-F238E27FC236}">
                <a16:creationId xmlns:a16="http://schemas.microsoft.com/office/drawing/2014/main" id="{229AEFA6-040A-44E5-9954-401C7EE2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4810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R₁: övre resistorn. R₂: nedre resistorn.</a:t>
            </a:r>
          </a:p>
        </p:txBody>
      </p:sp>
      <p:sp>
        <p:nvSpPr>
          <p:cNvPr id="11" name="Voltmeter: Rₘ = 1 MΩ">
            <a:extLst xmlns:a="http://schemas.openxmlformats.org/drawingml/2006/main">
              <a:ext uri="{FF2B5EF4-FFF2-40B4-BE49-F238E27FC236}">
                <a16:creationId xmlns:a16="http://schemas.microsoft.com/office/drawing/2014/main" id="{C4E904EB-F591-4D93-9C79-6E0ACBA2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571625"/>
            <a:ext cx="3067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Voltmeter: Rₘ = 1 MΩ</a:t>
            </a:r>
          </a:p>
        </p:txBody>
      </p:sp>
      <p:sp>
        <p:nvSpPr>
          <p:cNvPr id="12" name="Källan är 10 V. Båda delarmotstånden är 1 MΩ.">
            <a:extLst xmlns:a="http://schemas.openxmlformats.org/drawingml/2006/main">
              <a:ext uri="{FF2B5EF4-FFF2-40B4-BE49-F238E27FC236}">
                <a16:creationId xmlns:a16="http://schemas.microsoft.com/office/drawing/2014/main" id="{82425D26-2DC8-4A65-AB81-3705CBCB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28900"/>
            <a:ext cx="3067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Källan är 10 V. Båda delarmotstånden är 1 MΩ.</a:t>
            </a:r>
          </a:p>
        </p:txBody>
      </p:sp>
      <p:sp>
        <p:nvSpPr>
          <p:cNvPr id="13" name="1. Beräkna visningen.&#10;2. Beräkna felet i % jämfört med 5,000 V utan mä">
            <a:extLst xmlns:a="http://schemas.openxmlformats.org/drawingml/2006/main">
              <a:ext uri="{FF2B5EF4-FFF2-40B4-BE49-F238E27FC236}">
                <a16:creationId xmlns:a16="http://schemas.microsoft.com/office/drawing/2014/main" id="{231C8895-CF29-42DB-AB05-8B266B53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829050"/>
            <a:ext cx="30670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Beräkna visningen.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Beräkna felet i % jämfört med 5,000 V utan mätare.</a:t>
            </a:r>
          </a:p>
        </p:txBody>
      </p:sp>
      <p:sp>
        <p:nvSpPr>
          <p:cNvPr id="14" name="Rₚ = R₂ · Rₘ / (R₂ + Rₘ). Uₘ = 10 · Rₚ / (R₁ + Rₚ). Fel = 100 · (Uₘ − ">
            <a:extLst xmlns:a="http://schemas.openxmlformats.org/drawingml/2006/main">
              <a:ext uri="{FF2B5EF4-FFF2-40B4-BE49-F238E27FC236}">
                <a16:creationId xmlns:a16="http://schemas.microsoft.com/office/drawing/2014/main" id="{F889A671-60FC-4EF9-B4E0-BB3EB88C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Rₚ = R₂ · Rₘ / (R₂ + Rₘ). Uₘ = 10 · Rₚ / (R₁ + Rₚ). Fel = 100 · (Uₘ − 5) / 5.</a:t>
            </a:r>
          </a:p>
        </p:txBody>
      </p:sp>
      <p:sp>
        <p:nvSpPr>
          <p:cNvPr id="15" name="35">
            <a:extLst xmlns:a="http://schemas.openxmlformats.org/drawingml/2006/main">
              <a:ext uri="{FF2B5EF4-FFF2-40B4-BE49-F238E27FC236}">
                <a16:creationId xmlns:a16="http://schemas.microsoft.com/office/drawing/2014/main" id="{BD74CCE6-B9DC-46B9-B796-0FFBD170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9713d5ab945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FD24EEBD-2AD1-4504-A941-77DE14AB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8: manövermatning</a:t>
            </a:r>
          </a:p>
        </p:txBody>
      </p:sp>
      <p:sp>
        <p:nvSpPr>
          <p:cNvPr id="10" name="δ = (a/100) · avläsning + n · steg">
            <a:extLst xmlns:a="http://schemas.openxmlformats.org/drawingml/2006/main">
              <a:ext uri="{FF2B5EF4-FFF2-40B4-BE49-F238E27FC236}">
                <a16:creationId xmlns:a16="http://schemas.microsoft.com/office/drawing/2014/main" id="{59394F29-329C-4C58-A213-83B6E63E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 = (a/100) · avläsning + n · steg</a:t>
            </a:r>
          </a:p>
        </p:txBody>
      </p:sp>
      <p:sp>
        <p:nvSpPr>
          <p:cNvPr id="11" name="δ är felgränsens belopp. a är procenttalet, n antal siffror och s">
            <a:extLst xmlns:a="http://schemas.openxmlformats.org/drawingml/2006/main">
              <a:ext uri="{FF2B5EF4-FFF2-40B4-BE49-F238E27FC236}">
                <a16:creationId xmlns:a16="http://schemas.microsoft.com/office/drawing/2014/main" id="{7E2FAB5E-2E35-4AA6-A933-4FBBA4A8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δ (delta) är hur stort felet högst får vara. a är procenttalet. n är antal steg i sista siffran.</a:t>
            </a:r>
          </a:p>
        </p:txBody>
      </p:sp>
      <p:sp>
        <p:nvSpPr>
          <p:cNvPr id="12" name="Förutsättningar: Visning 24,00 V, a = 0,5, n = 2 och steg = 0,01 ">
            <a:extLst xmlns:a="http://schemas.openxmlformats.org/drawingml/2006/main">
              <a:ext uri="{FF2B5EF4-FFF2-40B4-BE49-F238E27FC236}">
                <a16:creationId xmlns:a16="http://schemas.microsoft.com/office/drawing/2014/main" id="{5068BA34-9477-4699-8638-B831130E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Givet: mätaren visar 24,00 V. a = 0,5, n = 2. Ett steg är 0,01 V. Lägg ihop de två felbidragen.</a:t>
            </a:r>
          </a:p>
        </p:txBody>
      </p:sp>
      <p:sp>
        <p:nvSpPr>
          <p:cNvPr id="13" name="Arbetsgång: Beräkna procentbidrag och sifferbidrag separat. Inter">
            <a:extLst xmlns:a="http://schemas.openxmlformats.org/drawingml/2006/main">
              <a:ext uri="{FF2B5EF4-FFF2-40B4-BE49-F238E27FC236}">
                <a16:creationId xmlns:a16="http://schemas.microsoft.com/office/drawing/2014/main" id="{A1205B68-8EA6-480C-BE5B-B07054F3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Räkna procentdelen och delen för sista siffran var för sig. Dra sedan bort och lägg till δ till mätvärdet.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518CF1B4-AC90-4E59-9990-5B783CE9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14c4f6804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8: instrumentets felgräns">
            <a:extLst xmlns:a="http://schemas.openxmlformats.org/drawingml/2006/main">
              <a:ext uri="{FF2B5EF4-FFF2-40B4-BE49-F238E27FC236}">
                <a16:creationId xmlns:a16="http://schemas.microsoft.com/office/drawing/2014/main" id="{AAD85516-1AD0-47CA-AB03-A99134E2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8: 24 V till manöverpanelen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cc259a1674592"/>
          <a:stretch xmlns:a="http://schemas.openxmlformats.org/drawingml/2006/main"/>
        </p:blipFill>
        <p:spPr>
          <a:xfrm xmlns:a="http://schemas.openxmlformats.org/drawingml/2006/main">
            <a:off x="1010948" y="1409700"/>
            <a:ext cx="3407355" cy="4257675"/>
          </a:xfrm>
          <a:prstGeom xmlns:a="http://schemas.openxmlformats.org/drawingml/2006/main" prst="rect">
            <a:avLst/>
          </a:prstGeom>
        </p:spPr>
      </p:pic>
      <p:sp>
        <p:nvSpPr>
          <p:cNvPr id="10" name="Specifikation">
            <a:extLst xmlns:a="http://schemas.openxmlformats.org/drawingml/2006/main">
              <a:ext uri="{FF2B5EF4-FFF2-40B4-BE49-F238E27FC236}">
                <a16:creationId xmlns:a16="http://schemas.microsoft.com/office/drawing/2014/main" id="{D40183D9-36F6-4750-9C84-175911BF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524000"/>
            <a:ext cx="3067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Tillverkarens uppgifter</a:t>
            </a:r>
          </a:p>
        </p:txBody>
      </p:sp>
      <p:sp>
        <p:nvSpPr>
          <p:cNvPr id="11" name="±(0,5 % av visning&#10;+ 2 siffror)">
            <a:extLst xmlns:a="http://schemas.openxmlformats.org/drawingml/2006/main">
              <a:ext uri="{FF2B5EF4-FFF2-40B4-BE49-F238E27FC236}">
                <a16:creationId xmlns:a16="http://schemas.microsoft.com/office/drawing/2014/main" id="{978B4430-BCFE-4E03-AFA1-1C15C8A4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1455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±(0,5 % av visning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+ 2 siffror)</a:t>
            </a:r>
          </a:p>
        </p:txBody>
      </p:sp>
      <p:sp>
        <p:nvSpPr>
          <p:cNvPr id="12" name="Upplösning: 0,01 V">
            <a:extLst xmlns:a="http://schemas.openxmlformats.org/drawingml/2006/main">
              <a:ext uri="{FF2B5EF4-FFF2-40B4-BE49-F238E27FC236}">
                <a16:creationId xmlns:a16="http://schemas.microsoft.com/office/drawing/2014/main" id="{85EB3A43-C942-4332-A186-8BCA8FDF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0040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Minsta steg (upplösning): 0,01 V</a:t>
            </a:r>
          </a:p>
        </p:txBody>
      </p:sp>
      <p:sp>
        <p:nvSpPr>
          <p:cNvPr id="13" name="Beräkna procentbidrag och sifferbidrag. Ange total felgräns och interv">
            <a:extLst xmlns:a="http://schemas.openxmlformats.org/drawingml/2006/main">
              <a:ext uri="{FF2B5EF4-FFF2-40B4-BE49-F238E27FC236}">
                <a16:creationId xmlns:a16="http://schemas.microsoft.com/office/drawing/2014/main" id="{B6B382BC-5A30-489D-818C-9B88F575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00500"/>
            <a:ext cx="3067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Räkna de två felbidragen. Hur stort kan felet bli? Ange lägsta och högsta värdet.</a:t>
            </a:r>
          </a:p>
        </p:txBody>
      </p:sp>
      <p:sp>
        <p:nvSpPr>
          <p:cNvPr id="14" name="En ”siffra” är ett steg i sista visade decimalen. Bildens instrument ä">
            <a:extLst xmlns:a="http://schemas.openxmlformats.org/drawingml/2006/main">
              <a:ext uri="{FF2B5EF4-FFF2-40B4-BE49-F238E27FC236}">
                <a16:creationId xmlns:a16="http://schemas.microsoft.com/office/drawing/2014/main" id="{8B9C5A5B-7284-4FCD-80A3-B32A9C17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En ”siffra” är ett steg i sista visade decimalen. Bildens instrument är ett undervisningsexempel.</a:t>
            </a:r>
          </a:p>
        </p:txBody>
      </p:sp>
      <p:sp>
        <p:nvSpPr>
          <p:cNvPr id="15" name="37">
            <a:extLst xmlns:a="http://schemas.openxmlformats.org/drawingml/2006/main">
              <a:ext uri="{FF2B5EF4-FFF2-40B4-BE49-F238E27FC236}">
                <a16:creationId xmlns:a16="http://schemas.microsoft.com/office/drawing/2014/main" id="{FA33CFD9-B951-4F85-A6D0-2B230747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e5e2797b841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CD68939B-CB67-4F76-A737-BD0BA31F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9: lampans matning</a:t>
            </a:r>
          </a:p>
        </p:txBody>
      </p:sp>
      <p:sp>
        <p:nvSpPr>
          <p:cNvPr id="10" name="Kravgränser = nominellt värde · (1 ± p/100)">
            <a:extLst xmlns:a="http://schemas.openxmlformats.org/drawingml/2006/main">
              <a:ext uri="{FF2B5EF4-FFF2-40B4-BE49-F238E27FC236}">
                <a16:creationId xmlns:a16="http://schemas.microsoft.com/office/drawing/2014/main" id="{2C85B2B6-0EE5-43DC-8F8E-9135A9F0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Utgå från 12,0 V. Räkna ut 5 % och dra bort eller lägg till.</a:t>
            </a:r>
          </a:p>
        </p:txBody>
      </p:sp>
      <p:sp>
        <p:nvSpPr>
          <p:cNvPr id="11" name="Mätintervall = uppmätt värde ± felgräns. Gränsvärdena räknas som ">
            <a:extLst xmlns:a="http://schemas.openxmlformats.org/drawingml/2006/main">
              <a:ext uri="{FF2B5EF4-FFF2-40B4-BE49-F238E27FC236}">
                <a16:creationId xmlns:a16="http://schemas.microsoft.com/office/drawing/2014/main" id="{6398275F-FF15-4A20-9197-D6BDCA57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Mätvärde ± felgräns ger lägsta och högsta möjliga värde. Ändpunkterna räknas som tillåtna här.</a:t>
            </a:r>
          </a:p>
        </p:txBody>
      </p:sp>
      <p:sp>
        <p:nvSpPr>
          <p:cNvPr id="12" name="Förutsättningar: Krav 12,0 V ±5 %. Mätning 11,50 V ±0,10 V. En en">
            <a:extLst xmlns:a="http://schemas.openxmlformats.org/drawingml/2006/main">
              <a:ext uri="{FF2B5EF4-FFF2-40B4-BE49-F238E27FC236}">
                <a16:creationId xmlns:a16="http://schemas.microsoft.com/office/drawing/2014/main" id="{898B0EC3-707E-4E06-BE63-CC88E007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Givet: kravet är 12,0 V ±5 %. Mätningen är 11,50 V ±0,10 V. Jämför båda spannens ändpunkter.</a:t>
            </a:r>
          </a:p>
        </p:txBody>
      </p:sp>
      <p:sp>
        <p:nvSpPr>
          <p:cNvPr id="13" name="Arbetsgång: Beräkna båda intervallen. Hela mätintervallet måste l">
            <a:extLst xmlns:a="http://schemas.openxmlformats.org/drawingml/2006/main">
              <a:ext uri="{FF2B5EF4-FFF2-40B4-BE49-F238E27FC236}">
                <a16:creationId xmlns:a16="http://schemas.microsoft.com/office/drawing/2014/main" id="{C536F8BC-DB4F-43B2-8CA7-C763F929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Svara ja bara om hela mätningens spann ryms mellan kravets lägsta och högsta tillåtna värde.</a:t>
            </a:r>
          </a:p>
        </p:txBody>
      </p:sp>
      <p:sp>
        <p:nvSpPr>
          <p:cNvPr id="14" name="31">
            <a:extLst xmlns:a="http://schemas.openxmlformats.org/drawingml/2006/main">
              <a:ext uri="{FF2B5EF4-FFF2-40B4-BE49-F238E27FC236}">
                <a16:creationId xmlns:a16="http://schemas.microsoft.com/office/drawing/2014/main" id="{F65AF38D-0439-4CB5-8F4C-C0D53CAC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310d2ed174a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9: mätvärde och beslut">
            <a:extLst xmlns:a="http://schemas.openxmlformats.org/drawingml/2006/main">
              <a:ext uri="{FF2B5EF4-FFF2-40B4-BE49-F238E27FC236}">
                <a16:creationId xmlns:a16="http://schemas.microsoft.com/office/drawing/2014/main" id="{842FF106-5EA5-4193-BEE3-CD508E71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9: matning till hyttlampan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9996e9b0848f2"/>
          <a:stretch xmlns:a="http://schemas.openxmlformats.org/drawingml/2006/main"/>
        </p:blipFill>
        <p:spPr>
          <a:xfrm xmlns:a="http://schemas.openxmlformats.org/drawingml/2006/main">
            <a:off x="1010948" y="1409700"/>
            <a:ext cx="3407355" cy="4257675"/>
          </a:xfrm>
          <a:prstGeom xmlns:a="http://schemas.openxmlformats.org/drawingml/2006/main" prst="rect">
            <a:avLst/>
          </a:prstGeom>
        </p:spPr>
      </p:pic>
      <p:sp>
        <p:nvSpPr>
          <p:cNvPr id="10" name="Ligger hela mätintervallet inom kravet?">
            <a:extLst xmlns:a="http://schemas.openxmlformats.org/drawingml/2006/main">
              <a:ext uri="{FF2B5EF4-FFF2-40B4-BE49-F238E27FC236}">
                <a16:creationId xmlns:a16="http://schemas.microsoft.com/office/drawing/2014/main" id="{DDA3EBDA-83FF-418F-8E68-95CF87D9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09725"/>
            <a:ext cx="30670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Ligger hela mätintervallet inom kravet?</a:t>
            </a:r>
          </a:p>
        </p:txBody>
      </p:sp>
      <p:sp>
        <p:nvSpPr>
          <p:cNvPr id="11" name="1. Beräkna kravets lägsta och högsta värde.">
            <a:extLst xmlns:a="http://schemas.openxmlformats.org/drawingml/2006/main">
              <a:ext uri="{FF2B5EF4-FFF2-40B4-BE49-F238E27FC236}">
                <a16:creationId xmlns:a16="http://schemas.microsoft.com/office/drawing/2014/main" id="{56327164-76FD-44D4-ACBC-D49CCBCA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067050"/>
            <a:ext cx="30670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Beräkna kravets lägsta och högsta värde.</a:t>
            </a:r>
          </a:p>
        </p:txBody>
      </p:sp>
      <p:sp>
        <p:nvSpPr>
          <p:cNvPr id="12" name="2. Beräkna mätintervallet.">
            <a:extLst xmlns:a="http://schemas.openxmlformats.org/drawingml/2006/main">
              <a:ext uri="{FF2B5EF4-FFF2-40B4-BE49-F238E27FC236}">
                <a16:creationId xmlns:a16="http://schemas.microsoft.com/office/drawing/2014/main" id="{5E266E43-476F-468F-9601-59E50C1E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248150"/>
            <a:ext cx="30670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Beräkna mätintervallet.</a:t>
            </a:r>
          </a:p>
        </p:txBody>
      </p:sp>
      <p:sp>
        <p:nvSpPr>
          <p:cNvPr id="13" name="3. Motivera ja eller nej.">
            <a:extLst xmlns:a="http://schemas.openxmlformats.org/drawingml/2006/main">
              <a:ext uri="{FF2B5EF4-FFF2-40B4-BE49-F238E27FC236}">
                <a16:creationId xmlns:a16="http://schemas.microsoft.com/office/drawing/2014/main" id="{4978AE0C-B2BC-437D-9837-F90D4BD6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72075"/>
            <a:ext cx="306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Motivera ja eller nej.</a:t>
            </a:r>
          </a:p>
        </p:txBody>
      </p:sp>
      <p:sp>
        <p:nvSpPr>
          <p:cNvPr id="14" name="I denna övning räknas även gränsvärdena som tillåtna.">
            <a:extLst xmlns:a="http://schemas.openxmlformats.org/drawingml/2006/main">
              <a:ext uri="{FF2B5EF4-FFF2-40B4-BE49-F238E27FC236}">
                <a16:creationId xmlns:a16="http://schemas.microsoft.com/office/drawing/2014/main" id="{C518AA9E-D97E-4719-A260-7DD52E21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I denna övning räknas även gränsvärdena som tillåtna.</a:t>
            </a:r>
          </a:p>
        </p:txBody>
      </p:sp>
      <p:sp>
        <p:nvSpPr>
          <p:cNvPr id="15" name="39">
            <a:extLst xmlns:a="http://schemas.openxmlformats.org/drawingml/2006/main">
              <a:ext uri="{FF2B5EF4-FFF2-40B4-BE49-F238E27FC236}">
                <a16:creationId xmlns:a16="http://schemas.microsoft.com/office/drawing/2014/main" id="{50B4AB32-30CB-4A5B-A3A4-3FA43DD6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4cd21fedc4b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338DD402-B8D5-4AE6-AFA7-F11D675A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10: vaktavlösning</a:t>
            </a:r>
          </a:p>
        </p:txBody>
      </p:sp>
      <p:sp>
        <p:nvSpPr>
          <p:cNvPr id="10" name="Mätresultat = värde med enhet och mätvillkor">
            <a:extLst xmlns:a="http://schemas.openxmlformats.org/drawingml/2006/main">
              <a:ext uri="{FF2B5EF4-FFF2-40B4-BE49-F238E27FC236}">
                <a16:creationId xmlns:a16="http://schemas.microsoft.com/office/drawing/2014/main" id="{34DDDCE9-9BA8-461E-B90D-FFC76244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Mätresultat = värde med enhet och mätvillkor</a:t>
            </a:r>
          </a:p>
        </p:txBody>
      </p:sp>
      <p:sp>
        <p:nvSpPr>
          <p:cNvPr id="11" name="Mätpunkter, referens, driftläge och instrumentdata behövs för att">
            <a:extLst xmlns:a="http://schemas.openxmlformats.org/drawingml/2006/main">
              <a:ext uri="{FF2B5EF4-FFF2-40B4-BE49-F238E27FC236}">
                <a16:creationId xmlns:a16="http://schemas.microsoft.com/office/drawing/2014/main" id="{EDE4A893-1FEA-4A5A-94D0-37CCA057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var spetsarna satt, om lampan var på och vilken mätare och inställning du använde.</a:t>
            </a:r>
          </a:p>
        </p:txBody>
      </p:sp>
      <p:sp>
        <p:nvSpPr>
          <p:cNvPr id="12" name="Förutsättningar: Enda befintliga uppgiften är texten ”spänningen ">
            <a:extLst xmlns:a="http://schemas.openxmlformats.org/drawingml/2006/main">
              <a:ext uri="{FF2B5EF4-FFF2-40B4-BE49-F238E27FC236}">
                <a16:creationId xmlns:a16="http://schemas.microsoft.com/office/drawing/2014/main" id="{FF993A71-6BB8-4EB8-B95C-D7DBDBFE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Anteckningen säger bara ”spänningen är 11,8”. Vad behöver nästa vakt veta mer?</a:t>
            </a:r>
          </a:p>
        </p:txBody>
      </p:sp>
      <p:sp>
        <p:nvSpPr>
          <p:cNvPr id="13" name="Arbetsgång: Ange minst fyra konkreta uppgifter. Förklara hur någo">
            <a:extLst xmlns:a="http://schemas.openxmlformats.org/drawingml/2006/main">
              <a:ext uri="{FF2B5EF4-FFF2-40B4-BE49-F238E27FC236}">
                <a16:creationId xmlns:a16="http://schemas.microsoft.com/office/drawing/2014/main" id="{FCD87DE1-49DA-4D02-B197-1A8A234B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minst fyra uppgifter som saknas. Förklara varför en av dem behövs.</a:t>
            </a:r>
          </a:p>
        </p:txBody>
      </p:sp>
      <p:sp>
        <p:nvSpPr>
          <p:cNvPr id="14" name="33">
            <a:extLst xmlns:a="http://schemas.openxmlformats.org/drawingml/2006/main">
              <a:ext uri="{FF2B5EF4-FFF2-40B4-BE49-F238E27FC236}">
                <a16:creationId xmlns:a16="http://schemas.microsoft.com/office/drawing/2014/main" id="{9AF605C4-1CDE-4CCB-8864-247C9CFB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4b47e61f348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Övning 10: ofullständigt protokoll">
            <a:extLst xmlns:a="http://schemas.openxmlformats.org/drawingml/2006/main">
              <a:ext uri="{FF2B5EF4-FFF2-40B4-BE49-F238E27FC236}">
                <a16:creationId xmlns:a16="http://schemas.microsoft.com/office/drawing/2014/main" id="{61272DAF-3102-4AC2-AB37-5D2D8313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10: protokoll till nästa vakt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76e13de274f97"/>
          <a:stretch xmlns:a="http://schemas.openxmlformats.org/drawingml/2006/main"/>
        </p:blipFill>
        <p:spPr>
          <a:xfrm xmlns:a="http://schemas.openxmlformats.org/drawingml/2006/main">
            <a:off x="1010948" y="1409700"/>
            <a:ext cx="3407355" cy="4257675"/>
          </a:xfrm>
          <a:prstGeom xmlns:a="http://schemas.openxmlformats.org/drawingml/2006/main" prst="rect">
            <a:avLst/>
          </a:prstGeom>
        </p:spPr>
      </p:pic>
      <p:sp>
        <p:nvSpPr>
          <p:cNvPr id="10" name="Detta är hela protokollet.">
            <a:extLst xmlns:a="http://schemas.openxmlformats.org/drawingml/2006/main">
              <a:ext uri="{FF2B5EF4-FFF2-40B4-BE49-F238E27FC236}">
                <a16:creationId xmlns:a16="http://schemas.microsoft.com/office/drawing/2014/main" id="{FBAD471F-2403-409A-B234-0FA3D53E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28775"/>
            <a:ext cx="3067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Detta lämnades till nästa vakt.</a:t>
            </a:r>
          </a:p>
        </p:txBody>
      </p:sp>
      <p:sp>
        <p:nvSpPr>
          <p:cNvPr id="11" name="Vilka fyra uppgifter saknas för att kunna bedöma resultatet?">
            <a:extLst xmlns:a="http://schemas.openxmlformats.org/drawingml/2006/main">
              <a:ext uri="{FF2B5EF4-FFF2-40B4-BE49-F238E27FC236}">
                <a16:creationId xmlns:a16="http://schemas.microsoft.com/office/drawing/2014/main" id="{A9518DE6-FD10-4DE4-9274-A70DC0C4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800350"/>
            <a:ext cx="30670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Vilka fyra uppgifter saknas för att kunna bedöma resultatet?</a:t>
            </a:r>
          </a:p>
        </p:txBody>
      </p:sp>
      <p:sp>
        <p:nvSpPr>
          <p:cNvPr id="12" name="Förklara hur en av uppgifterna påverkar bedömningen.">
            <a:extLst xmlns:a="http://schemas.openxmlformats.org/drawingml/2006/main">
              <a:ext uri="{FF2B5EF4-FFF2-40B4-BE49-F238E27FC236}">
                <a16:creationId xmlns:a16="http://schemas.microsoft.com/office/drawing/2014/main" id="{87E0FB38-FC1A-4B61-BD3B-569020B2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457700"/>
            <a:ext cx="3067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Förklara hur en av uppgifterna påverkar bedömningen.</a:t>
            </a:r>
          </a:p>
        </p:txBody>
      </p:sp>
      <p:sp>
        <p:nvSpPr>
          <p:cNvPr id="13" name="Utgå endast från anteckningen i bilden. Den saknar bland annat enhet.">
            <a:extLst xmlns:a="http://schemas.openxmlformats.org/drawingml/2006/main">
              <a:ext uri="{FF2B5EF4-FFF2-40B4-BE49-F238E27FC236}">
                <a16:creationId xmlns:a16="http://schemas.microsoft.com/office/drawing/2014/main" id="{3F4960F9-7EA0-4C40-B955-381E05BD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Anteckningen gäller hyttbelysningen i vår övningsmodell. Vad behöver nästa vakt veta?</a:t>
            </a:r>
          </a:p>
        </p:txBody>
      </p:sp>
      <p:sp>
        <p:nvSpPr>
          <p:cNvPr id="14" name="41">
            <a:extLst xmlns:a="http://schemas.openxmlformats.org/drawingml/2006/main">
              <a:ext uri="{FF2B5EF4-FFF2-40B4-BE49-F238E27FC236}">
                <a16:creationId xmlns:a16="http://schemas.microsoft.com/office/drawing/2014/main" id="{ABDD4020-F633-4435-ACB4-79C54080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3e0b62dbb42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8" name="Val av mätfunktion">
            <a:extLst xmlns:a="http://schemas.openxmlformats.org/drawingml/2006/main">
              <a:ext uri="{FF2B5EF4-FFF2-40B4-BE49-F238E27FC236}">
                <a16:creationId xmlns:a16="http://schemas.microsoft.com/office/drawing/2014/main" id="{1ADB6FEF-EA73-403B-AD8C-36A750F0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Val av mätfunktion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7810500" cy="3743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9775"/>
                <a:gridCol w="1838325"/>
                <a:gridCol w="2209800"/>
                <a:gridCol w="1752600"/>
              </a:tblGrid>
              <a:tr h="542925"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Storhet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Funktion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Ingångar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Koppling</a:t>
                      </a:r>
                    </a:p>
                  </a:txBody>
                  <a:tcPr marL="91440" marR="91440" marT="45720" marB="45720">
                    <a:solidFill>
                      <a:srgbClr val="EAF1F7"/>
                    </a:solidFill>
                  </a:tcPr>
                </a:tc>
              </a:tr>
              <a:tr h="800100"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Spänning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V, DC eller AC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COM + V/Ω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Parallellt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Ström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A, DC eller AC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COM + avsedd</a:t>
                      </a:r>
                    </a:p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strömingång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I serie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Resistans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COM + V/Ω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Frånskilt och</a:t>
                      </a:r>
                    </a:p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urladdat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Kontinuitet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Summer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COM + V/Ω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114300" rIns="762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Frånskilt och</a:t>
                      </a:r>
                    </a:p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urladdat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42">
            <a:extLst xmlns:a="http://schemas.openxmlformats.org/drawingml/2006/main">
              <a:ext uri="{FF2B5EF4-FFF2-40B4-BE49-F238E27FC236}">
                <a16:creationId xmlns:a16="http://schemas.microsoft.com/office/drawing/2014/main" id="{C7B6AC30-57DD-49A3-AE12-2FD45139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70091083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7e1a752b048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 och eget arbete">
            <a:extLst xmlns:a="http://schemas.openxmlformats.org/drawingml/2006/main">
              <a:ext uri="{FF2B5EF4-FFF2-40B4-BE49-F238E27FC236}">
                <a16:creationId xmlns:a16="http://schemas.microsoft.com/office/drawing/2014/main" id="{AF242827-70BC-4360-95BD-CC9E0925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Varför räcker inte antalet decimaler för att beskriva mätningens ">
            <a:extLst xmlns:a="http://schemas.openxmlformats.org/drawingml/2006/main">
              <a:ext uri="{FF2B5EF4-FFF2-40B4-BE49-F238E27FC236}">
                <a16:creationId xmlns:a16="http://schemas.microsoft.com/office/drawing/2014/main" id="{E4C82755-6B00-4BDF-9261-D0393A93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Vilka uppgifter behöver nästa vakt för att förstå din mätning?</a:t>
            </a:r>
          </a:p>
        </p:txBody>
      </p:sp>
      <p:sp>
        <p:nvSpPr>
          <p:cNvPr id="4" name="Slutför v39-inlämningen senast 27 september. Bifoga ett kort mätp">
            <a:extLst xmlns:a="http://schemas.openxmlformats.org/drawingml/2006/main">
              <a:ext uri="{FF2B5EF4-FFF2-40B4-BE49-F238E27FC236}">
                <a16:creationId xmlns:a16="http://schemas.microsoft.com/office/drawing/2014/main" id="{B07905E2-690A-46C0-8E47-F23656AD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Slutför v39-inlämningen senast 27 september. Bifoga ett kort mätprotokoll utifrån givna data. Praktiskt utförande sker vid fysisk träff.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12A37A27-B3CB-41D6-B50D-B049DEFE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438c6b6cb4d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Källor och fortsatt läsning">
            <a:extLst xmlns:a="http://schemas.openxmlformats.org/drawingml/2006/main">
              <a:ext uri="{FF2B5EF4-FFF2-40B4-BE49-F238E27FC236}">
                <a16:creationId xmlns:a16="http://schemas.microsoft.com/office/drawing/2014/main" id="{92EA763D-E95D-40D8-AC76-3E763FBE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11" name="Elteknik och ellära, kapitel 6">
            <a:extLst xmlns:a="http://schemas.openxmlformats.org/drawingml/2006/main">
              <a:ext uri="{FF2B5EF4-FFF2-40B4-BE49-F238E27FC236}">
                <a16:creationId xmlns:a16="http://schemas.microsoft.com/office/drawing/2014/main" id="{2167A543-7991-4F12-A771-D707A4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Elteknik och ellära, kapitel 6</a:t>
            </a:r>
          </a:p>
        </p:txBody>
      </p:sp>
      <p:sp>
        <p:nvSpPr>
          <p:cNvPr id="12" name="Teori och övningar: s. 46–52.&#10;PDF-sidor: 4">
            <a:extLst xmlns:a="http://schemas.openxmlformats.org/drawingml/2006/main">
              <a:ext uri="{FF2B5EF4-FFF2-40B4-BE49-F238E27FC236}">
                <a16:creationId xmlns:a16="http://schemas.microsoft.com/office/drawing/2014/main" id="{B7B55418-F4BA-447E-B3AD-3AF8113B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övningar: s. 46–52.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PDF-sidor för teori och övningar: 47–53.</a:t>
            </a:r>
          </a:p>
        </p:txBody>
      </p:sp>
      <p:sp>
        <p:nvSpPr>
          <p:cNvPr id="13" name="Kursplan: Elteknik och ellära, 45 YHP, YH03151&#10;Lokalt kursunderla">
            <a:extLst xmlns:a="http://schemas.openxmlformats.org/drawingml/2006/main">
              <a:ext uri="{FF2B5EF4-FFF2-40B4-BE49-F238E27FC236}">
                <a16:creationId xmlns:a16="http://schemas.microsoft.com/office/drawing/2014/main" id="{BA1DAA05-DF80-40D9-8D0E-9BE8DBC4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Kursplan: Elteknik och ellära, 45 YHP, YH03151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Lokalt kursunderlag och veckoplanering för vecka 39.</a:t>
            </a:r>
          </a:p>
        </p:txBody>
      </p:sp>
      <p:sp>
        <p:nvSpPr>
          <p:cNvPr id="14" name="Kjell &amp; Company: bilder och grundläggande mätteknik">
            <a:extLst xmlns:a="http://schemas.openxmlformats.org/drawingml/2006/main">
              <a:ext uri="{FF2B5EF4-FFF2-40B4-BE49-F238E27FC236}">
                <a16:creationId xmlns:a16="http://schemas.microsoft.com/office/drawing/2014/main" id="{40FAD24C-8932-4E1E-AA8F-2C336DA9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75" b="1" u="sng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c3cc75ea3354240"/>
              </a:rPr>
              <a:t>Kjell &amp; Company: bilder och grundläggande mätteknik</a:t>
            </a:r>
          </a:p>
        </p:txBody>
      </p:sp>
      <p:sp>
        <p:nvSpPr>
          <p:cNvPr id="15" name="Fluke: säkerhetsklass och instrumentkontroll">
            <a:extLst xmlns:a="http://schemas.openxmlformats.org/drawingml/2006/main">
              <a:ext uri="{FF2B5EF4-FFF2-40B4-BE49-F238E27FC236}">
                <a16:creationId xmlns:a16="http://schemas.microsoft.com/office/drawing/2014/main" id="{29F3C41D-E240-4814-B522-9ABDEADB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75" b="1" u="sng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28e213c05d344b5"/>
              </a:rPr>
              <a:t>Fluke: säkerhetsklass och instrumentkontroll</a:t>
            </a:r>
          </a:p>
        </p:txBody>
      </p:sp>
      <p:sp>
        <p:nvSpPr>
          <p:cNvPr id="16" name="Filmlänkar och källor finns på filmbilderna och i läraranteckning">
            <a:extLst xmlns:a="http://schemas.openxmlformats.org/drawingml/2006/main">
              <a:ext uri="{FF2B5EF4-FFF2-40B4-BE49-F238E27FC236}">
                <a16:creationId xmlns:a16="http://schemas.microsoft.com/office/drawing/2014/main" id="{1CEC2A59-48D9-4244-9267-A1FDF736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586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05864"/>
                </a:solidFill>
                <a:latin typeface="Calibri"/>
                <a:ea typeface="Calibri"/>
                <a:cs typeface="Calibri"/>
              </a:rPr>
              <a:t>Filmlänkar och källor finns på filmbilderna och kurssidan.</a:t>
            </a:r>
          </a:p>
        </p:txBody>
      </p:sp>
      <p:sp>
        <p:nvSpPr>
          <p:cNvPr id="17" name="44">
            <a:extLst xmlns:a="http://schemas.openxmlformats.org/drawingml/2006/main">
              <a:ext uri="{FF2B5EF4-FFF2-40B4-BE49-F238E27FC236}">
                <a16:creationId xmlns:a16="http://schemas.microsoft.com/office/drawing/2014/main" id="{0AAA0C6E-04F7-4FDE-895A-EB35A6C9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46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2026-09-24T11:38:20.4560000Z</dcterms:created>
  <dcterms:modified xsi:type="dcterms:W3CDTF">2026-09-24T11:38:20.4560000Z</dcterms:modified>
</coreProperties>
</file>