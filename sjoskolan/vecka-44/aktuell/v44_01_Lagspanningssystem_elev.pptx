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4/aktuell/Del_1.html" TargetMode="External"/><Relationship Id="rId3" Type="http://schemas.openxmlformats.org/officeDocument/2006/relationships/hyperlink" Target="https://www.electrical-installation.org/enwiki/Characteristics_of_TT%2C_TN_and_IT_systems" TargetMode="External"/><Relationship Id="rId4" Type="http://schemas.openxmlformats.org/officeDocument/2006/relationships/hyperlink" Target="https://www.electrical-installation.org/enwiki/IT_system_-_Principle" TargetMode="External"/><Relationship Id="rId5" Type="http://schemas.openxmlformats.org/officeDocument/2006/relationships/hyperlink" Target="https://www.transportstyrelsen.se/sv/sjofart/fartyg/utrustning-pa-fartyg/elinstallationer/lagar-foreskrifter-och-standarder/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4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Lågspänningssystem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TN, TT, IT och fördelning ombord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44 · Måndag 26 oktober · 09.00–10.00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1 av 5 · Elteknik och ellära</a:t>
            </a:r>
          </a:p>
        </p:txBody>
      </p:sp>
      <p:sp>
        <p:nvSpPr>
          <p:cNvPr id="8" name="Dag: Måndag 26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Måndag 26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Elsäkerhet och regler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7744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200" b="0" i="0">
                <a:solidFill>
                  <a:srgbClr val="111111"/>
                </a:solidFill>
                <a:latin typeface="Calibri"/>
              </a:rPr>
              <a:t>Du känner igen vanliga komponenter, skydd och mätinstrument och vet vad de gör.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Komponenter och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8046720" cy="1965959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förklara jordningssystemens grundprinciper och vad bokstäverna i TN, TT och IT betyder.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förklara första och andra felet i ett IT-system.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analysera spänningsfall och en förenklad felström.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Vad betyder första bokstaven och andra bokstaven i TN, TT och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din gissning i chatten.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Matning och jordningssystemen TN, TT och IT (avsnitt 1–6)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1.1–1.5 tillsammans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Felström och landanslutning (avsnitt 7–8) och ett exempel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4" name="Picture 13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Matning, jordning och skydd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TN, TT och IT beskriver relationen mellan källa, jord och utsatta delar.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Första bokstaven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gäller källan: T direkt jordad, I isolerad från jord.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Andra bokstaven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gäller de utsatta delarna: T egen jordning, N förbundna med källans jordade punkt.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enlinjeschema visar huvudvägar och systemgränser.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N är neutralledare och PE skyddsledare. De har olika uppgifter.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Z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är felströmsslingans impedans. Dess belopp påverkar tillgänglig felström.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Matning och fördelning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1031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Driftläge och matningsväg påverkar analysen.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Ett enlinjeschema visar systemets huvudvägar.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Källa, kopplingsapparater, skydd och laster bildar en kedja.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Reservmatning kan ändra tillgänglig kortslutningsström.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Skydden ska fungera även i de avsedda reservdriftfallen.</a:t>
            </a:r>
          </a:p>
        </p:txBody>
      </p:sp>
      <p:pic>
        <p:nvPicPr>
          <p:cNvPr id="5" name="Figur: Enlinjeschema: källa, skydd, fördelning och last i en kedja, med mätpunkt A och B. Driftläge och matningsväg avgör vilken väg energin tar." descr="Enlinjeschema: källa, skydd, fördelning och last i en kedja, med mätpunkt A och B. Driftläge och matningsväg avgör vilken väg energin ta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384" y="3611879"/>
            <a:ext cx="7737230" cy="228600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TN-system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Utsatta delar ansluts till källans jordade punkt.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punkt i källan är jordad. Förbindelsen går genom skyddsledarsystemet.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TN-S: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separat PE och 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Felströmsslingans impedans påverkar bortkopplingen.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PE och N har olika funktion även om potentialerna kan vara nära.</a:t>
            </a:r>
          </a:p>
        </p:txBody>
      </p:sp>
      <p:pic>
        <p:nvPicPr>
          <p:cNvPr id="5" name="Figur: TN-S-system: källan med L1, L2, L3, N och PE. Ett fel mellan L1 och höljet ger en felslinga via PE tillbaka till källan." descr="TN-S-system: källan med L1, L2, L3, N och PE. Ett fel mellan L1 och höljet ger en felslinga via PE tillbaka till källa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TT-system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Jordfelsfunktionen är central i skyddet.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Källans jordning och installationens jordtag är i princip åtskilda.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Jordfelsslingan går genom jordningsvägarna.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Jordtagsresistanser kan begränsa felströmmen så att överströmsskydd ensamt inte ger avsedd bortkoppling.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TT-system är ovanliga ombord.</a:t>
            </a:r>
          </a:p>
        </p:txBody>
      </p:sp>
      <p:pic>
        <p:nvPicPr>
          <p:cNvPr id="5" name="Figur: TT-system: källans systemjord och installationens eget jordtag. Felströmmen går genom jorden mellan jordtagen, och jordtagens resistans kan begränsa den." descr="TT-system: källans systemjord och installationens eget jordtag. Felströmmen går genom jorden mellan jordtagen, och jordtagens resistans kan begränsa d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IT-system och övervakning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Första isolationsfelet ska upptäckas och hanteras.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Källan är isolerad från jord eller ansluten genom hög impedans.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Utsatta delar har skyddsjordning eller motsvarande skyddsutjämning.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Isolationsövervakningen ger information om försämrad isolation.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Fortsatt drift är villkorad av systemets skydd och rutiner.</a:t>
            </a:r>
          </a:p>
        </p:txBody>
      </p:sp>
      <p:pic>
        <p:nvPicPr>
          <p:cNvPr id="5" name="Figur: IT-system ombord: källan är isolerad från skrovet, och en isolationsvakt sitter mellan systemet och skrovet. Första jordfelet ger liten ström och larm." descr="IT-system ombord: källan är isolerad från skrovet, och en isolationsvakt sitter mellan systemet och skrovet. Första jordfelet ger liten ström och lar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Första och andra felet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Driftkontinuitet kräver snabb felhantering.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Ett första jordfel i ett korrekt utformat IT-system kan ge låg felström.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Ett andra fel på annan aktiv ledare kan ge stor ström.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Ett larm får inte ignoreras bara för att lasten fortfarande går.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Kvarstående första fel försämrar marginalen inför nästa fel.</a:t>
            </a:r>
          </a:p>
        </p:txBody>
      </p:sp>
      <p:pic>
        <p:nvPicPr>
          <p:cNvPr id="5" name="Figur: IT-system med ett andra jordfel på en annan fas: kortslutning mellan L1 och L2 via skrovet." descr="IT-system med ett andra jordfel på en annan fas: kortslutning mellan L1 och L2 via skrove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23951"/>
            <a:ext cx="3794760" cy="3175856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systemets gräns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Ett enlinjeschema visar en transformator mellan huvudnätet och ett separat styrnät.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delnäts jordningssätt bedöms för sig.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Identifiera sekundärsystemets källa och ledare.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Kontrollera dess relation till jord samt skyddsförbindelser.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Bestäm skydd och övervakning för just det delnätet.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Primärsidans jordningssystem bevisar inte hur sekundärsidan är uppbyggd.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TN-S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TT-princip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IT-princip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Tre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nj22az.github.io/sjoskolan/vecka-44/aktuell/Del_1.html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1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Larm utan stopp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1.5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Fartygssystem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Tre minuter per övning. Skriv ditt svar i chatten. Övning 1.6–1.10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nj22az.github.io/sjoskolan/vecka-44/aktuell/Del_1.html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Beräkning som stöd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I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k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≈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0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/Z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 en enkel DC-slinga gäller ΔU = I · 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förenklad felströmsmodell använder hela slingimpedansen.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230 V och Z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= 0,32 Ω ger cirka 720 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Verklig dimensionering kräver skyddsdata och fler villkor.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felström och impedans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förenklad felströmsslinga har U</a:t>
            </a:r>
            <a:r>
              <a:rPr sz="1800" b="0" i="1" baseline="-25000">
                <a:solidFill>
                  <a:srgbClr val="4A4A4A"/>
                </a:solidFill>
                <a:latin typeface="Calibri"/>
              </a:rPr>
              <a:t>0</a:t>
            </a:r>
            <a:r>
              <a:rPr sz="1800" b="0" i="1">
                <a:solidFill>
                  <a:srgbClr val="4A4A4A"/>
                </a:solidFill>
                <a:latin typeface="Calibri"/>
              </a:rPr>
              <a:t> = 230 V och Z</a:t>
            </a:r>
            <a:r>
              <a:rPr sz="1800" b="0" i="1" baseline="-25000">
                <a:solidFill>
                  <a:srgbClr val="4A4A4A"/>
                </a:solidFill>
                <a:latin typeface="Calibri"/>
              </a:rPr>
              <a:t>s</a:t>
            </a:r>
            <a:r>
              <a:rPr sz="1800" b="0" i="1">
                <a:solidFill>
                  <a:srgbClr val="4A4A4A"/>
                </a:solidFill>
                <a:latin typeface="Calibri"/>
              </a:rPr>
              <a:t> = 0,575 Ω.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I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k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≈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0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/Z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k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≈ 230/0,575 = 400 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Om Z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ökar till 2,3 Ω blir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k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≈ 230/2,3 = 100 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Jämför båda strömmarna med aktuellt skydds utlösningskurva.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Utlösningstid kan inte bestämmas utan skyddsdata. Modellen visar hur högre Z</a:t>
            </a:r>
            <a:r>
              <a:rPr sz="1800" b="1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1800" b="1" i="0">
                <a:solidFill>
                  <a:srgbClr val="111111"/>
                </a:solidFill>
                <a:latin typeface="Calibri"/>
              </a:rPr>
              <a:t> minskar felströmmen.</a:t>
            </a:r>
          </a:p>
        </p:txBody>
      </p:sp>
      <p:pic>
        <p:nvPicPr>
          <p:cNvPr id="6" name="Figur: Felström som funktion av slingimpedansen: 0,575 Ω ger 400 A och 2,3 Ω ger 100 A. Högre impedans ger lägre felström." descr="Felström som funktion av slingimpedansen: 0,575 Ω ger 400 A och 2,3 Ω ger 100 A. Högre impedans ger lägre felströ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589400"/>
            <a:ext cx="3794760" cy="282219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Landanslutning ombord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Kontrollera fasföljd, spänning och frekvens före inkoppling.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Landström är ofta 400 V/50 Hz, fartygets nät ofta 440 V/60 Hz. Spänning och frekvens måste passa innan laster kopplas in.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Skyddsjord och potentialutjämning ansluts först.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Förregling mot generatordrift. Landnätets jordning kan skilja sig från fartygets.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Landanslutning med högspänning: IEC/IEEE 80005-1.</a:t>
            </a:r>
          </a:p>
        </p:txBody>
      </p:sp>
      <p:pic>
        <p:nvPicPr>
          <p:cNvPr id="5" name="Figur: Landanslutning: landström 400 V, 50 Hz går via anpassning av spänning och frekvens till huvudtavlan 440 V, 60 Hz. Skyddsjord och potentialutjämning ansluts först. Förregling mot generatorerna." descr="Landanslutning: landström 400 V, 50 Hz går via anpassning av spänning och frekvens till huvudtavlan 440 V, 60 Hz. Skyddsjord och potentialutjämning ansluts först. Förregling mot generatorern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112366"/>
            <a:ext cx="3794760" cy="2999027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  ·  Del 1 · avsnitt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Vilket nytt fel kan göra ett kvarstående första isolationsfel betydligt farligare?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Uppgiften Jämför jordningssystemen i inlämningen bygger på del 1. Inlämningen senast fredag 30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TN, TT och IT beskriver hur källan och de utsatta delarna är förbundna med jord.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I ett IT-system ska det första isolationsfelet upptäckas och åtgärdas innan ett andra fel uppstår.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Felströmmen kan uppskattas med I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k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 ≈ U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0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/Z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s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. Före landanslutning kontrolleras fasföljd, spänning och frekvens.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1 på delsidan: teorin och de två exemplen. Tryck på ”Jag har läst del 1”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1.6–1.10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Titta på filmen IT-nätet ombord: första och andra jordfelet.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Isolationslabbet: gör räkna-först-uppgifterna om jordfel i IT-nätet och mätning 1–5 i protokollet. Uppgifterna om isolationsprovning gör du efter tisdagens lektion.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5. Klockan 10.00: del 2, Högspänningssystem.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Inlämningen, uppgift 1–4, senast fredag 30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44, del 1 Lågspänningssystem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1 och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Schneider Electric: TN, TT och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Schneider Electric: IT-systemets princip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Transportstyrelsen: Elinstallationer på fartyg – lagar, föreskrifter och standarder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Lågspänningssystem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