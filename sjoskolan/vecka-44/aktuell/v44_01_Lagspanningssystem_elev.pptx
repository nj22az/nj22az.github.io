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7c34ddacd4546b1" Type="http://schemas.openxmlformats.org/officeDocument/2006/relationships/officeDocument" Target="ppt/presentation.xml"/><Relationship Id="R861db07599aa41dd" Type="http://schemas.openxmlformats.org/officeDocument/2006/relationships/extended-properties" Target="docProps/app.xml"/><Relationship Id="Rd8cf384cba124e90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a38d8fb4f6ec40e4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ed11355ea2543db" Type="http://schemas.openxmlformats.org/officeDocument/2006/relationships/theme" Target="theme/theme1.xml"/><Relationship Id="R4a30431852bc4203" Type="http://schemas.openxmlformats.org/officeDocument/2006/relationships/presProps" Target="presProps.xml"/><Relationship Id="R59b04d653c184694" Type="http://schemas.openxmlformats.org/officeDocument/2006/relationships/tableStyles" Target="tableStyles.xml"/><Relationship Id="Ra38d8fb4f6ec40e4" Type="http://schemas.openxmlformats.org/officeDocument/2006/relationships/slideMaster" Target="slideMasters/slideMaster1.xml"/><Relationship Id="Rba35c611fa944afe" Type="http://schemas.openxmlformats.org/officeDocument/2006/relationships/viewProps" Target="viewProp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e9bbca99fd0e4bfe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dbed5ff74e9b430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8d90e2e815ac47ca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3599dc8b372340a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57876e5b8ebd495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9291271a5e94ac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0c894096355d480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08fa3bb3d3b84b8b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8b9ffc4a04cc45db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7db49676138543fe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fd61dd6cc9ae4a5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71AF29-9BF1-473B-AFA6-17086F16A42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8C47869-AB2E-4353-993A-C5F3CBCD7A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4BDD63-2879-4553-A7D4-C8B90F6694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7559E2-D642-40B2-A622-29E6C6C090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BCBF1D-E8D4-4C02-B339-40A7E12B7A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22FDD0-541F-4732-A589-6E09DA58B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A9FD4EB-ED93-4F84-9A20-8F3AF861C5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7B3B2F-39C7-4AB3-B336-4AA52F5371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14936C-5A60-4749-9BA4-077B860C9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221E00-8DF1-4F1B-832D-71DC043B58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2DB1BD-E287-4420-8511-29126B061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B11597-97EC-49B5-A400-7D26520A3C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742E12-71EE-4A0A-A25A-482AF08CB5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99B004-C36A-4FB2-9F9D-CE473319A9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07C9783-743E-4094-A2AE-9E44E3D473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C4FC59-7B72-4123-8378-0EA5088432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7F9AEE-67E4-463F-959F-E9E3A1B888F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354C6D0-6530-44C0-8216-34BD311A97A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428CFC9-6708-459E-B81E-1E9C142577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6003C71-1529-40B2-8C48-8F715F571D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643222D-12A8-4E31-8062-7D5BCCBAB7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7D2405-3A74-4011-A349-9548796B9D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8F98B1-4335-49A0-A5DC-F7821F48D4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911721C-4555-47B9-A29D-0F448969C4F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2D7DE53-B347-45DD-AFFA-3E8BE03250C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F97C298-A28D-4A26-BDCA-B098B846E55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9775CF6-BCDA-455B-8823-96F499D329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36C5186-AD15-4D60-94C6-61F1173F25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9823F44-4193-4A09-BFAF-ED3CD7668F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F9FE2D-754C-44B3-B95C-26D7D5C75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BD55E16-C4C4-4E3D-A0B4-2831B64AB9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8325CBA-1C76-41B1-899E-BE2E85DBB7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41280AB-E4E6-40DF-AAAA-D319DDAE7A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AB46744-49A1-4DBC-9FD7-6DAC1E5B0D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8BE22B4-F4D3-45EC-8704-71421CA0A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07804CA-1F56-49BC-A4BE-414873B51D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C616F8-21C9-44E4-AE61-31E60C0068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3E4261-CE3E-4ACE-850C-97041401DE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0EF0A03-62CA-44B8-B680-52B1168AC4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B26F306-817F-41C5-8A16-96C7343CE1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2F4B232-2E06-41D6-B343-B9F3343442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45369E5-14C4-43E7-8C70-94F9D8946D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D77C1B-88A0-480F-A3F3-2C46ED54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0DD105B-4990-483D-9F9F-A9235A346E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A207939-C386-457A-BB29-427E4DC69A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3222363-8D26-4BF7-AEF5-9A8D193537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1AD7074-23A8-4F9E-B387-FF125010E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974EEA3-8E26-4876-9CCC-AEB28DB192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C1926D-3764-4E58-9CFE-1C39C0C599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EA9798-D720-420B-B587-FB2D341F8B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280F96-07A9-471D-BB10-6FD8F834C8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65504D-A0FC-4E9E-8009-F569A5C984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C1D87B-E274-4EF8-9A16-0DB1EAB639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4ED1D95-F8F3-4745-B8E4-98B6A31BFB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893952F-F53B-42A5-B3B5-39F8406C72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05298D-E759-46A6-B3C3-B7B73450F0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DC9778-2E8A-4C7F-84B7-05E3D6E237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066A76-6749-4154-81E1-8128725557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62cd79811f54438" Type="http://schemas.openxmlformats.org/officeDocument/2006/relationships/slideLayout" Target="../slideLayouts/slideLayout10.xml"/><Relationship Id="R170b8970d5204efa" Type="http://schemas.openxmlformats.org/officeDocument/2006/relationships/slideLayout" Target="../slideLayouts/slideLayout9.xml"/><Relationship Id="R7099d2b2aa324873" Type="http://schemas.openxmlformats.org/officeDocument/2006/relationships/theme" Target="theme/theme2.xml"/><Relationship Id="R7be85162f4ec45ce" Type="http://schemas.openxmlformats.org/officeDocument/2006/relationships/slideLayout" Target="../slideLayouts/slideLayout8.xml"/><Relationship Id="R82b356f2f0c249f8" Type="http://schemas.openxmlformats.org/officeDocument/2006/relationships/slideLayout" Target="../slideLayouts/slideLayout4.xml"/><Relationship Id="R83d3169839ae4a0d" Type="http://schemas.openxmlformats.org/officeDocument/2006/relationships/slideLayout" Target="../slideLayouts/slideLayout7.xml"/><Relationship Id="Ra1c6ad5e34ce4900" Type="http://schemas.openxmlformats.org/officeDocument/2006/relationships/slideLayout" Target="../slideLayouts/slideLayout5.xml"/><Relationship Id="Rb613688b8cb2457e" Type="http://schemas.openxmlformats.org/officeDocument/2006/relationships/slideLayout" Target="../slideLayouts/slideLayout1.xml"/><Relationship Id="Rc5987082cc9f429b" Type="http://schemas.openxmlformats.org/officeDocument/2006/relationships/slideLayout" Target="../slideLayouts/slideLayout2.xml"/><Relationship Id="Re60a86bc3ab141e2" Type="http://schemas.openxmlformats.org/officeDocument/2006/relationships/slideLayout" Target="../slideLayouts/slideLayout3.xml"/><Relationship Id="Rf39fc677f541417c" Type="http://schemas.openxmlformats.org/officeDocument/2006/relationships/slideLayout" Target="../slideLayouts/slideLayout11.xml"/><Relationship Id="Rf7c405d8b6a04f8d" Type="http://schemas.openxmlformats.org/officeDocument/2006/relationships/slideLayout" Target="../slideLayouts/slideLayout6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772F057-7340-4065-8845-BB8E9AD557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DE1F7C-60E1-400E-B38F-52BF24F21A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15F1D9-83F8-4DB0-BD2B-BDD3E15813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05894D5-5CF7-4EDE-B022-CF2BDFF8D01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20839A-B350-41EB-9FE9-191EB435D5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13688b8cb2457e"/>
    <p:sldLayoutId xmlns:r="http://schemas.openxmlformats.org/officeDocument/2006/relationships" id="2147483650" r:id="Rc5987082cc9f429b"/>
    <p:sldLayoutId xmlns:r="http://schemas.openxmlformats.org/officeDocument/2006/relationships" id="2147483651" r:id="Re60a86bc3ab141e2"/>
    <p:sldLayoutId xmlns:r="http://schemas.openxmlformats.org/officeDocument/2006/relationships" id="2147483652" r:id="R82b356f2f0c249f8"/>
    <p:sldLayoutId xmlns:r="http://schemas.openxmlformats.org/officeDocument/2006/relationships" id="2147483653" r:id="Ra1c6ad5e34ce4900"/>
    <p:sldLayoutId xmlns:r="http://schemas.openxmlformats.org/officeDocument/2006/relationships" id="2147483654" r:id="Rf7c405d8b6a04f8d"/>
    <p:sldLayoutId xmlns:r="http://schemas.openxmlformats.org/officeDocument/2006/relationships" id="2147483655" r:id="R83d3169839ae4a0d"/>
    <p:sldLayoutId xmlns:r="http://schemas.openxmlformats.org/officeDocument/2006/relationships" id="2147483656" r:id="R7be85162f4ec45ce"/>
    <p:sldLayoutId xmlns:r="http://schemas.openxmlformats.org/officeDocument/2006/relationships" id="2147483657" r:id="R170b8970d5204efa"/>
    <p:sldLayoutId xmlns:r="http://schemas.openxmlformats.org/officeDocument/2006/relationships" id="2147483658" r:id="R162cd79811f54438"/>
    <p:sldLayoutId xmlns:r="http://schemas.openxmlformats.org/officeDocument/2006/relationships" id="2147483659" r:id="Rf39fc677f541417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j22az.github.io/sjoskolan/vecka-44/aktuell/Del_1.html" TargetMode="External"/><Relationship Id="rId3" Type="http://schemas.openxmlformats.org/officeDocument/2006/relationships/hyperlink" Target="https://www.electrical-installation.org/enwiki/Characteristics_of_TT%2C_TN_and_IT_systems" TargetMode="External"/><Relationship Id="rId4" Type="http://schemas.openxmlformats.org/officeDocument/2006/relationships/hyperlink" Target="https://www.electrical-installation.org/enwiki/IT_system_-_Principle" TargetMode="External"/><Relationship Id="rId5" Type="http://schemas.openxmlformats.org/officeDocument/2006/relationships/hyperlink" Target="https://www.transportstyrelsen.se/sv/sjofart/fartyg/utrustning-pa-fartyg/elinstallationer/lagar-foreskrifter-och-standarder/" TargetMode="External"/><Relationship Id="rId6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mslag_v44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990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099048"/>
          </a:xfrm>
          <a:prstGeom prst="rect">
            <a:avLst/>
          </a:prstGeom>
          <a:gradFill rotWithShape="1">
            <a:gsLst>
              <a:gs pos="0">
                <a:srgbClr val="001427">
                  <a:alpha val="70000"/>
                </a:srgbClr>
              </a:gs>
              <a:gs pos="45000">
                <a:srgbClr val="001427">
                  <a:alpha val="55000"/>
                </a:srgbClr>
              </a:gs>
              <a:gs pos="75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Lågspänningssystem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5669280" cy="9144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Calibri"/>
              </a:rPr>
              <a:t>TN, TT, IT och fördelning ombord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71800"/>
            <a:ext cx="585216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Vecka 44 · Måndag 26 oktober · 09.00–10.00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585216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Del 1 av 5 · Elteknik och ellära</a:t>
            </a:r>
          </a:p>
        </p:txBody>
      </p:sp>
      <p:sp>
        <p:nvSpPr>
          <p:cNvPr id="8" name="Dag: Måndag 26 oktober"/>
          <p:cNvSpPr/>
          <p:nvPr/>
        </p:nvSpPr>
        <p:spPr>
          <a:xfrm>
            <a:off x="548640" y="411480"/>
            <a:ext cx="2944368" cy="438912"/>
          </a:xfrm>
          <a:prstGeom prst="roundRect">
            <a:avLst>
              <a:gd name="adj" fmla="val 18000"/>
            </a:avLst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Måndag 26 oktober</a:t>
            </a:r>
          </a:p>
        </p:txBody>
      </p:sp>
      <p:pic>
        <p:nvPicPr>
          <p:cNvPr id="9" name="Picture 8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Lågspänningssystem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Kursplanen i dag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1453896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417320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200" b="0" i="0">
                <a:solidFill>
                  <a:srgbClr val="111111"/>
                </a:solidFill>
                <a:latin typeface="Calibri"/>
              </a:rPr>
              <a:t>Du kan förklara hur el kan skada och hur man arbetar säkert, vid både låg och hög spänning.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Elsäkerhet och regler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4016"/>
            <a:ext cx="960120" cy="420624"/>
          </a:xfrm>
          <a:prstGeom prst="roundRect">
            <a:avLst>
              <a:gd name="adj" fmla="val 1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LM-1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377440"/>
            <a:ext cx="6858000" cy="8686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200" b="0" i="0">
                <a:solidFill>
                  <a:srgbClr val="111111"/>
                </a:solidFill>
                <a:latin typeface="Calibri"/>
              </a:rPr>
              <a:t>Du känner igen vanliga komponenter, skydd och mätinstrument och vet vad de gör.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Komponenter och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804672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Efter lektionen kan du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8046720" cy="1965959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1. förklara jordningssystemens grundprinciper och vad bokstäverna i TN, TT och IT betyder.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2. förklara första och andra felet i ett IT-system.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3. analysera spänningsfall och en förenklad felström.</a:t>
            </a:r>
          </a:p>
        </p:txBody>
      </p:sp>
      <p:pic>
        <p:nvPicPr>
          <p:cNvPr id="10" name="Picture 9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Lågspänningssystem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Startfråga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20116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200" b="1" i="0">
                <a:solidFill>
                  <a:srgbClr val="111111"/>
                </a:solidFill>
                <a:latin typeface="Calibri"/>
              </a:rPr>
              <a:t>Vad betyder första bokstaven och andra bokstaven i TN, TT och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74920"/>
            <a:ext cx="8046720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064F91"/>
                </a:solidFill>
                <a:latin typeface="Calibri"/>
              </a:rPr>
              <a:t>Skriv din gissning i chatten.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Lågspänningssystem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Så går lektionen till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417320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Start och startfråga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984248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Pass 1: Matning och jordningssystemen TN, TT och IT (avsnitt 1–6) och ett exempel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51176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551176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Övning 1.1–1.5 tillsammans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18104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118104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Pass 2: Felström och landanslutning (avsnitt 7–8) och ett exempel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85032"/>
            <a:ext cx="1005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064F91"/>
                </a:solidFill>
                <a:latin typeface="Calibri"/>
              </a:rPr>
              <a:t>09.50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685032"/>
            <a:ext cx="6720840" cy="51206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Avslutsfråga, sammanfattning och det här gör du nu</a:t>
            </a:r>
          </a:p>
        </p:txBody>
      </p:sp>
      <p:pic>
        <p:nvPicPr>
          <p:cNvPr id="14" name="Picture 13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Lågspänningssystem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Matning, jordning och skydd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TN, TT och IT beskriver relationen mellan källa, jord och utsatta delar.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Första bokstaven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gäller källan: T direkt jordad, I isolerad från jord. </a:t>
            </a:r>
            <a:r>
              <a:rPr sz="2000" b="1" i="0">
                <a:solidFill>
                  <a:srgbClr val="111111"/>
                </a:solidFill>
                <a:latin typeface="Calibri"/>
              </a:rPr>
              <a:t>Andra bokstaven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gäller de utsatta delarna: T egen jordning, N förbundna med källans jordade punkt.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Ett enlinjeschema visar huvudvägar och systemgränser.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N är neutralledare och PE skyddsledare. De har olika uppgifter.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Z</a:t>
            </a:r>
            <a:r>
              <a:rPr sz="2000" b="0" i="0" baseline="-25000">
                <a:solidFill>
                  <a:srgbClr val="111111"/>
                </a:solidFill>
                <a:latin typeface="Calibri"/>
              </a:rPr>
              <a:t>s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är felströmsslingans impedans. Dess belopp påverkar tillgänglig felström.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Lågspänningssystem  ·  Del 1 · avsnitt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Matning och fördelning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21031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Driftläge och matningsväg påverkar analysen.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Ett enlinjeschema visar systemets huvudvägar.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Källa, kopplingsapparater, skydd och laster bildar en kedja.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Reservmatning kan ändra tillgänglig kortslutningsström.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Skydden ska fungera även i de avsedda reservdriftfallen.</a:t>
            </a:r>
          </a:p>
        </p:txBody>
      </p:sp>
      <p:pic>
        <p:nvPicPr>
          <p:cNvPr id="5" name="Figur: Enlinjeschema: källa, skydd, fördelning och last i en kedja, med mätpunkt A och B. Driftläge och matningsväg avgör vilken väg energin tar." descr="Enlinjeschema: källa, skydd, fördelning och last i en kedja, med mätpunkt A och B. Driftläge och matningsväg avgör vilken väg energin tar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84" y="3611879"/>
            <a:ext cx="7737230" cy="2286000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Lågspänningssystem  ·  Del 1 · avsnitt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TN-system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Utsatta delar ansluts till källans jordade punkt.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En punkt i källan är jordad. Förbindelsen går genom skyddsledarsystemet.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TN-S: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separat PE och 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Felströmsslingans impedans påverkar bortkopplingen.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PE och N har olika funktion även om potentialerna kan vara nära.</a:t>
            </a:r>
          </a:p>
        </p:txBody>
      </p:sp>
      <p:pic>
        <p:nvPicPr>
          <p:cNvPr id="5" name="Figur: TN-S-system: källan med L1, L2, L3, N och PE. Ett fel mellan L1 och höljet ger en felslinga via PE tillbaka till källan." descr="TN-S-system: källan med L1, L2, L3, N och PE. Ett fel mellan L1 och höljet ger en felslinga via PE tillbaka till källa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23951"/>
            <a:ext cx="3794760" cy="3175856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Lågspänningssystem  ·  Del 1 · avsnitt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TT-system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Jordfelsfunktionen är central i skyddet.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Källans jordning och installationens jordtag är i princip åtskilda.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Jordfelsslingan går genom jordningsvägarna.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Jordtagsresistanser kan begränsa felströmmen så att överströmsskydd ensamt inte ger avsedd bortkoppling.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TT-system är ovanliga ombord.</a:t>
            </a:r>
          </a:p>
        </p:txBody>
      </p:sp>
      <p:pic>
        <p:nvPicPr>
          <p:cNvPr id="5" name="Figur: TT-system: källans systemjord och installationens eget jordtag. Felströmmen går genom jorden mellan jordtagen, och jordtagens resistans kan begränsa den." descr="TT-system: källans systemjord och installationens eget jordtag. Felströmmen går genom jorden mellan jordtagen, och jordtagens resistans kan begränsa de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23951"/>
            <a:ext cx="3794760" cy="3175856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Lågspänningssystem  ·  Del 1 · avsnitt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IT-system och övervakning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Första isolationsfelet ska upptäckas och hanteras.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Källan är isolerad från jord eller ansluten genom hög impedans.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Utsatta delar har skyddsjordning eller motsvarande skyddsutjämning.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Isolationsövervakningen ger information om försämrad isolation.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Fortsatt drift är villkorad av systemets skydd och rutiner.</a:t>
            </a:r>
          </a:p>
        </p:txBody>
      </p:sp>
      <p:pic>
        <p:nvPicPr>
          <p:cNvPr id="5" name="Figur: IT-system ombord: källan är isolerad från skrovet, och en isolationsvakt sitter mellan systemet och skrovet. Första jordfelet ger liten ström och larm." descr="IT-system ombord: källan är isolerad från skrovet, och en isolationsvakt sitter mellan systemet och skrovet. Första jordfelet ger liten ström och larm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23951"/>
            <a:ext cx="3794760" cy="3175856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Lågspänningssystem  ·  Del 1 · avsnitt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Första och andra felet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Driftkontinuitet kräver snabb felhantering.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Ett första jordfel i ett korrekt utformat IT-system kan ge låg felström.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Ett andra fel på annan aktiv ledare kan ge stor ström.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Ett larm får inte ignoreras bara för att lasten fortfarande går.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Kvarstående första fel försämrar marginalen inför nästa fel.</a:t>
            </a:r>
          </a:p>
        </p:txBody>
      </p:sp>
      <p:pic>
        <p:nvPicPr>
          <p:cNvPr id="5" name="Figur: IT-system med ett andra jordfel på en annan fas: kortslutning mellan L1 och L2 via skrovet." descr="IT-system med ett andra jordfel på en annan fas: kortslutning mellan L1 och L2 via skrove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23951"/>
            <a:ext cx="3794760" cy="3175856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Lågspänningssystem  ·  Del 1 · avsnitt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Exempel: systemets gräns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900" b="0" i="1">
                <a:solidFill>
                  <a:srgbClr val="4A4A4A"/>
                </a:solidFill>
                <a:latin typeface="Calibri"/>
              </a:rPr>
              <a:t>Ett enlinjeschema visar en transformator mellan huvudnätet och ett separat styrnät.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Varje delnäts jordningssätt bedöms för sig.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1. Identifiera sekundärsystemets källa och ledare.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2. Kontrollera dess relation till jord samt skyddsförbindelser.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3. Bestäm skydd och övervakning för just det delnätet.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Primärsidans jordningssystem bevisar inte hur sekundärsidan är uppbyggd.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Lågspänningssystem  ·  Del 1 · exempel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Övningar tillsammans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Öppna del 1 och gå till 4 Övningar.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57400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TN-S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34056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2734056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34056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TT-princip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10712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3410712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1.3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410712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IT-princip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24528"/>
            <a:ext cx="8046720" cy="1673351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Tre minuter per övning. Skriv ditt svar i chatten. Ledtrådar och facit finns på delsidan.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nj22az.github.io/sjoskolan/vecka-44/aktuell/Del_1.html</a:t>
            </a:r>
          </a:p>
        </p:txBody>
      </p:sp>
      <p:pic>
        <p:nvPicPr>
          <p:cNvPr id="15" name="Picture 1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Lågspänningssystem  ·  Del 1 · 4 Övningar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Övningar tillsammans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Öppna del 1 och gå till 4 Övningar.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57400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Larm utan stopp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34056"/>
            <a:ext cx="8046720" cy="56692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2734056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Calibri"/>
              </a:rPr>
              <a:t>Övning 1.5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34056"/>
            <a:ext cx="6035040" cy="56692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Fartygssystem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47872"/>
            <a:ext cx="8046720" cy="235000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900" b="0" i="0">
                <a:solidFill>
                  <a:srgbClr val="111111"/>
                </a:solidFill>
                <a:latin typeface="Calibri"/>
              </a:rPr>
              <a:t>Tre minuter per övning. Skriv ditt svar i chatten. Övning 1.6–1.10 gör du själv efter lektionen.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nj22az.github.io/sjoskolan/vecka-44/aktuell/Del_1.html</a:t>
            </a:r>
          </a:p>
        </p:txBody>
      </p:sp>
      <p:pic>
        <p:nvPicPr>
          <p:cNvPr id="12" name="Picture 11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Lågspänningssystem  ·  Del 1 · 4 Övningar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Beräkning som stöd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I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k</a:t>
            </a:r>
            <a:r>
              <a:rPr sz="2500" b="1" i="0">
                <a:solidFill>
                  <a:srgbClr val="064F91"/>
                </a:solidFill>
                <a:latin typeface="Calibri"/>
              </a:rPr>
              <a:t> ≈ U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0</a:t>
            </a:r>
            <a:r>
              <a:rPr sz="2500" b="1" i="0">
                <a:solidFill>
                  <a:srgbClr val="064F91"/>
                </a:solidFill>
                <a:latin typeface="Calibri"/>
              </a:rPr>
              <a:t>/Z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För en enkel DC-slinga gäller ΔU = I · 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En förenklad felströmsmodell använder hela slingimpedansen.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230 V och Z</a:t>
            </a:r>
            <a:r>
              <a:rPr sz="2000" b="0" i="0" baseline="-25000">
                <a:solidFill>
                  <a:srgbClr val="111111"/>
                </a:solidFill>
                <a:latin typeface="Calibri"/>
              </a:rPr>
              <a:t>s</a:t>
            </a:r>
            <a:r>
              <a:rPr sz="2000" b="0" i="0">
                <a:solidFill>
                  <a:srgbClr val="111111"/>
                </a:solidFill>
                <a:latin typeface="Calibri"/>
              </a:rPr>
              <a:t> = 0,32 Ω ger cirka 720 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Verklig dimensionering kräver skyddsdata och fler villkor.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Lågspänningssystem  ·  Del 1 · avsnitt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Exempel: felström och impedans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046720" cy="7315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1">
                <a:solidFill>
                  <a:srgbClr val="4A4A4A"/>
                </a:solidFill>
                <a:latin typeface="Calibri"/>
              </a:rPr>
              <a:t>En förenklad felströmsslinga har U</a:t>
            </a:r>
            <a:r>
              <a:rPr sz="1800" b="0" i="1" baseline="-25000">
                <a:solidFill>
                  <a:srgbClr val="4A4A4A"/>
                </a:solidFill>
                <a:latin typeface="Calibri"/>
              </a:rPr>
              <a:t>0</a:t>
            </a:r>
            <a:r>
              <a:rPr sz="1800" b="0" i="1">
                <a:solidFill>
                  <a:srgbClr val="4A4A4A"/>
                </a:solidFill>
                <a:latin typeface="Calibri"/>
              </a:rPr>
              <a:t> = 230 V och Z</a:t>
            </a:r>
            <a:r>
              <a:rPr sz="1800" b="0" i="1" baseline="-25000">
                <a:solidFill>
                  <a:srgbClr val="4A4A4A"/>
                </a:solidFill>
                <a:latin typeface="Calibri"/>
              </a:rPr>
              <a:t>s</a:t>
            </a:r>
            <a:r>
              <a:rPr sz="1800" b="0" i="1">
                <a:solidFill>
                  <a:srgbClr val="4A4A4A"/>
                </a:solidFill>
                <a:latin typeface="Calibri"/>
              </a:rPr>
              <a:t> = 0,575 Ω.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069080" cy="3703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1" i="0">
                <a:solidFill>
                  <a:srgbClr val="064F91"/>
                </a:solidFill>
                <a:latin typeface="Calibri"/>
              </a:rPr>
              <a:t>I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k</a:t>
            </a:r>
            <a:r>
              <a:rPr sz="2500" b="1" i="0">
                <a:solidFill>
                  <a:srgbClr val="064F91"/>
                </a:solidFill>
                <a:latin typeface="Calibri"/>
              </a:rPr>
              <a:t> ≈ U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0</a:t>
            </a:r>
            <a:r>
              <a:rPr sz="2500" b="1" i="0">
                <a:solidFill>
                  <a:srgbClr val="064F91"/>
                </a:solidFill>
                <a:latin typeface="Calibri"/>
              </a:rPr>
              <a:t>/Z</a:t>
            </a:r>
            <a:r>
              <a:rPr sz="2500" b="1" i="0" baseline="-25000">
                <a:solidFill>
                  <a:srgbClr val="064F91"/>
                </a:solidFill>
                <a:latin typeface="Calibri"/>
              </a:rPr>
              <a:t>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1. I</a:t>
            </a:r>
            <a:r>
              <a:rPr sz="1800" b="0" i="0" baseline="-25000">
                <a:solidFill>
                  <a:srgbClr val="111111"/>
                </a:solidFill>
                <a:latin typeface="Calibri"/>
              </a:rPr>
              <a:t>k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≈ 230/0,575 = 400 A.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2. Om Z</a:t>
            </a:r>
            <a:r>
              <a:rPr sz="1800" b="0" i="0" baseline="-25000">
                <a:solidFill>
                  <a:srgbClr val="111111"/>
                </a:solidFill>
                <a:latin typeface="Calibri"/>
              </a:rPr>
              <a:t>s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ökar till 2,3 Ω blir I</a:t>
            </a:r>
            <a:r>
              <a:rPr sz="1800" b="0" i="0" baseline="-25000">
                <a:solidFill>
                  <a:srgbClr val="111111"/>
                </a:solidFill>
                <a:latin typeface="Calibri"/>
              </a:rPr>
              <a:t>k</a:t>
            </a:r>
            <a:r>
              <a:rPr sz="1800" b="0" i="0">
                <a:solidFill>
                  <a:srgbClr val="111111"/>
                </a:solidFill>
                <a:latin typeface="Calibri"/>
              </a:rPr>
              <a:t> ≈ 230/2,3 = 100 A.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3. Jämför båda strömmarna med aktuellt skydds utlösningskurva.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Calibri"/>
              </a:rPr>
              <a:t>Utlösningstid kan inte bestämmas utan skyddsdata. Modellen visar hur högre Z</a:t>
            </a:r>
            <a:r>
              <a:rPr sz="1800" b="1" i="0" baseline="-25000">
                <a:solidFill>
                  <a:srgbClr val="111111"/>
                </a:solidFill>
                <a:latin typeface="Calibri"/>
              </a:rPr>
              <a:t>s</a:t>
            </a:r>
            <a:r>
              <a:rPr sz="1800" b="1" i="0">
                <a:solidFill>
                  <a:srgbClr val="111111"/>
                </a:solidFill>
                <a:latin typeface="Calibri"/>
              </a:rPr>
              <a:t> minskar felströmmen.</a:t>
            </a:r>
          </a:p>
        </p:txBody>
      </p:sp>
      <p:pic>
        <p:nvPicPr>
          <p:cNvPr id="6" name="Figur: Felström som funktion av slingimpedansen: 0,575 Ω ger 400 A och 2,3 Ω ger 100 A. Högre impedans ger lägre felström." descr="Felström som funktion av slingimpedansen: 0,575 Ω ger 400 A och 2,3 Ω ger 100 A. Högre impedans ger lägre felström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589400"/>
            <a:ext cx="3794760" cy="2822198"/>
          </a:xfrm>
          <a:prstGeom prst="rect">
            <a:avLst/>
          </a:prstGeom>
        </p:spPr>
      </p:pic>
      <p:pic>
        <p:nvPicPr>
          <p:cNvPr id="7" name="Picture 6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Lågspänningssystem  ·  Del 1 · exempel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Landanslutning ombord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069080" cy="44805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200" b="1" i="0">
                <a:solidFill>
                  <a:srgbClr val="064F91"/>
                </a:solidFill>
                <a:latin typeface="Calibri"/>
              </a:rPr>
              <a:t>Kontrollera fasföljd, spänning och frekvens före inkoppling.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Landström är ofta 400 V/50 Hz, fartygets nät ofta 440 V/60 Hz. Spänning och frekvens måste passa innan laster kopplas in.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Skyddsjord och potentialutjämning ansluts först.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Förregling mot generatordrift. Landnätets jordning kan skilja sig från fartygets.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Calibri"/>
              </a:rPr>
              <a:t>Landanslutning med högspänning: IEC/IEEE 80005-1.</a:t>
            </a:r>
          </a:p>
        </p:txBody>
      </p:sp>
      <p:pic>
        <p:nvPicPr>
          <p:cNvPr id="5" name="Figur: Landanslutning: landström 400 V, 50 Hz går via anpassning av spänning och frekvens till huvudtavlan 440 V, 60 Hz. Skyddsjord och potentialutjämning ansluts först. Förregling mot generatorerna." descr="Landanslutning: landström 400 V, 50 Hz går via anpassning av spänning och frekvens till huvudtavlan 440 V, 60 Hz. Skyddsjord och potentialutjämning ansluts först. Förregling mot generatorerna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112366"/>
            <a:ext cx="3794760" cy="2999027"/>
          </a:xfrm>
          <a:prstGeom prst="rect">
            <a:avLst/>
          </a:prstGeom>
        </p:spPr>
      </p:pic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Lågspänningssystem  ·  Del 1 · avsnitt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Avslutsfråga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8046720" cy="20116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200" b="1" i="0">
                <a:solidFill>
                  <a:srgbClr val="111111"/>
                </a:solidFill>
                <a:latin typeface="Calibri"/>
              </a:rPr>
              <a:t>Vilket nytt fel kan göra ett kvarstående första isolationsfel betydligt farligare?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69080"/>
            <a:ext cx="8046720" cy="1463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Uppgiften Jämför jordningssystemen i inlämningen bygger på del 1. Inlämningen senast fredag 30 oktober.</a:t>
            </a:r>
          </a:p>
        </p:txBody>
      </p:sp>
      <p:pic>
        <p:nvPicPr>
          <p:cNvPr id="6" name="Picture 5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Lågspänningssystem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Sammanfattning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434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1. TN, TT och IT beskriver hur källan och de utsatta delarna är förbundna med jord.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2. I ett IT-system ska det första isolationsfelet upptäckas och åtgärdas innan ett andra fel uppstår.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100" b="0" i="0">
                <a:solidFill>
                  <a:srgbClr val="111111"/>
                </a:solidFill>
                <a:latin typeface="Calibri"/>
              </a:rPr>
              <a:t>3. Felströmmen kan uppskattas med I</a:t>
            </a:r>
            <a:r>
              <a:rPr sz="2100" b="0" i="0" baseline="-25000">
                <a:solidFill>
                  <a:srgbClr val="111111"/>
                </a:solidFill>
                <a:latin typeface="Calibri"/>
              </a:rPr>
              <a:t>k</a:t>
            </a:r>
            <a:r>
              <a:rPr sz="2100" b="0" i="0">
                <a:solidFill>
                  <a:srgbClr val="111111"/>
                </a:solidFill>
                <a:latin typeface="Calibri"/>
              </a:rPr>
              <a:t> ≈ U</a:t>
            </a:r>
            <a:r>
              <a:rPr sz="2100" b="0" i="0" baseline="-25000">
                <a:solidFill>
                  <a:srgbClr val="111111"/>
                </a:solidFill>
                <a:latin typeface="Calibri"/>
              </a:rPr>
              <a:t>0</a:t>
            </a:r>
            <a:r>
              <a:rPr sz="2100" b="0" i="0">
                <a:solidFill>
                  <a:srgbClr val="111111"/>
                </a:solidFill>
                <a:latin typeface="Calibri"/>
              </a:rPr>
              <a:t>/Z</a:t>
            </a:r>
            <a:r>
              <a:rPr sz="2100" b="0" i="0" baseline="-25000">
                <a:solidFill>
                  <a:srgbClr val="111111"/>
                </a:solidFill>
                <a:latin typeface="Calibri"/>
              </a:rPr>
              <a:t>s</a:t>
            </a:r>
            <a:r>
              <a:rPr sz="2100" b="0" i="0">
                <a:solidFill>
                  <a:srgbClr val="111111"/>
                </a:solidFill>
                <a:latin typeface="Calibri"/>
              </a:rPr>
              <a:t>. Före landanslutning kontrolleras fasföljd, spänning och frekvens.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Lågspänningssystem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Det här gör du nu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4434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1. Läs del 1 på delsidan: teorin och de två exemplen.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2. Gör övning 1.6–1.10 på delsidan. Ledtrådar och facit finns där.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3. Titta på filmen IT-nätet ombord: första och andra jordfelet.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4. Gör Isolationslabbet: räkna-först-uppgifterna och protokollet. Spara protokollet som PDF.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 i="0">
                <a:solidFill>
                  <a:srgbClr val="111111"/>
                </a:solidFill>
                <a:latin typeface="Calibri"/>
              </a:rPr>
              <a:t>5. Efter pausen 10.00: del 2, Högspänningssystem.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4A4A4A"/>
                </a:solidFill>
                <a:latin typeface="Calibri"/>
              </a:rPr>
              <a:t>Inlämningen och analysen av mätdata senast fredag 30 oktober. Allt finns på veckosidan.</a:t>
            </a:r>
          </a:p>
        </p:txBody>
      </p:sp>
      <p:pic>
        <p:nvPicPr>
          <p:cNvPr id="5" name="Picture 4" descr="sidf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Lågspänningssystem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046720" cy="731520"/>
          </a:xfrm>
          <a:prstGeom prst="rect">
            <a:avLst/>
          </a:prstGeom>
          <a:noFill/>
        </p:spPr>
        <p:txBody>
          <a:bodyPr wrap="square" anchor="b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Calibri"/>
              </a:rPr>
              <a:t>Källor och fortsatt läsning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72" y="1097280"/>
            <a:ext cx="822960" cy="64008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2"/>
              </a:rPr>
              <a:t>Sjöskolan: vecka 44, del 1 Lågspänningssystem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111111"/>
                </a:solidFill>
                <a:latin typeface="Calibri"/>
              </a:rPr>
              <a:t>Studieplanen YH03151, 18 september 2026: Elteknik och ellära, lärandemål 1 och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3"/>
              </a:rPr>
              <a:t>Schneider Electric: TN, TT och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4"/>
              </a:rPr>
              <a:t>Schneider Electric: IT-systemets princip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8046720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064F91"/>
                </a:solidFill>
                <a:latin typeface="Calibri"/>
                <a:hlinkClick r:id="rId5"/>
              </a:rPr>
              <a:t>Transportstyrelsen: Elinstallationer på fartyg – lagar, föreskrifter och standarder</a:t>
            </a:r>
          </a:p>
        </p:txBody>
      </p:sp>
      <p:pic>
        <p:nvPicPr>
          <p:cNvPr id="9" name="Picture 8" descr="sidfo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99048"/>
            <a:ext cx="9144000" cy="7589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6400800"/>
            <a:ext cx="6217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Vecka 44 · Måndag · Lågspänningssystem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6400800"/>
            <a:ext cx="704088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36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2026-09-20T20:09:37.2430000Z</dcterms:created>
  <dcterms:modified xsi:type="dcterms:W3CDTF">2026-09-20T20:09:37.2430000Z</dcterms:modified>
</coreProperties>
</file>