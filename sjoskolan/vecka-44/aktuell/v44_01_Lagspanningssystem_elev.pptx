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6bbe863b27647f6" Type="http://schemas.openxmlformats.org/officeDocument/2006/relationships/extended-properties" Target="docProps/app.xml"/><Relationship Id="R7edcb1eac807460d" Type="http://schemas.openxmlformats.org/package/2006/relationships/metadata/core-properties" Target="docProps/core.xml"/><Relationship Id="Ra73b419f54124f7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ec863902be6455d"/>
  </p:sldMasterIdLst>
  <p:sldIdLst>
    <p:sldId id="256" r:id="Rccccc3fce8314eee"/>
    <p:sldId id="257" r:id="Rb12d4793aa7a4cb0"/>
    <p:sldId id="258" r:id="Rd358d9abf11e4057"/>
    <p:sldId id="259" r:id="R9b8c5f886f50406a"/>
    <p:sldId id="260" r:id="Rfbebf5e35f004733"/>
    <p:sldId id="261" r:id="R25f2c3a9aa3d487f"/>
    <p:sldId id="262" r:id="Reea69d6a2d904e86"/>
    <p:sldId id="263" r:id="R55788bd762a24476"/>
    <p:sldId id="264" r:id="R3777a79eddc44cf8"/>
    <p:sldId id="265" r:id="R53b616370a3241b2"/>
    <p:sldId id="266" r:id="Reed0df337af44bd6"/>
    <p:sldId id="267" r:id="Rc20f763b47cf4697"/>
    <p:sldId id="268" r:id="R2bc0f3855e014040"/>
    <p:sldId id="269" r:id="R243008a0129642f0"/>
    <p:sldId id="270" r:id="R0d10d8f8b6334206"/>
    <p:sldId id="271" r:id="R27ee5d567f0d4964"/>
    <p:sldId id="272" r:id="R98f1de492ec148a1"/>
    <p:sldId id="273" r:id="R5a2670a785934cef"/>
    <p:sldId id="274" r:id="R003a0cdb025648f8"/>
    <p:sldId id="275" r:id="R78943d83b9894870"/>
    <p:sldId id="276" r:id="R8b4032ab9e2847ed"/>
    <p:sldId id="277" r:id="R02384dce8f0943cb"/>
    <p:sldId id="278" r:id="R7d290482ed10424f"/>
    <p:sldId id="279" r:id="R301e5d10c8834775"/>
    <p:sldId id="280" r:id="Ree6d2649c03542a5"/>
    <p:sldId id="281" r:id="Rd35c7b22acc04da7"/>
    <p:sldId id="282" r:id="Re753f2c33962445e"/>
    <p:sldId id="283" r:id="R940a761d04574bc7"/>
    <p:sldId id="284" r:id="R19cc633d9c1a4904"/>
    <p:sldId id="285" r:id="R3c522af630644f3f"/>
    <p:sldId id="286" r:id="R9a851aa03c644752"/>
    <p:sldId id="287" r:id="Ra1f99114c2ba45fb"/>
    <p:sldId id="288" r:id="Raea60bec9e80424e"/>
    <p:sldId id="289" r:id="R3221c4f692594c06"/>
    <p:sldId id="290" r:id="Rabf79db79473419f"/>
    <p:sldId id="291" r:id="R663ed1261eab455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3a0cdb025648f8" Type="http://schemas.openxmlformats.org/officeDocument/2006/relationships/slide" Target="slides/slide19.xml"/><Relationship Id="R02384dce8f0943cb" Type="http://schemas.openxmlformats.org/officeDocument/2006/relationships/slide" Target="slides/slide22.xml"/><Relationship Id="R0d10d8f8b6334206" Type="http://schemas.openxmlformats.org/officeDocument/2006/relationships/slide" Target="slides/slide15.xml"/><Relationship Id="R0ec863902be6455d" Type="http://schemas.openxmlformats.org/officeDocument/2006/relationships/slideMaster" Target="slideMasters/slideMaster1.xml"/><Relationship Id="R19cc633d9c1a4904" Type="http://schemas.openxmlformats.org/officeDocument/2006/relationships/slide" Target="slides/slide29.xml"/><Relationship Id="R243008a0129642f0" Type="http://schemas.openxmlformats.org/officeDocument/2006/relationships/slide" Target="slides/slide14.xml"/><Relationship Id="R25f2c3a9aa3d487f" Type="http://schemas.openxmlformats.org/officeDocument/2006/relationships/slide" Target="slides/slide6.xml"/><Relationship Id="R27ee5d567f0d4964" Type="http://schemas.openxmlformats.org/officeDocument/2006/relationships/slide" Target="slides/slide16.xml"/><Relationship Id="R2bc0f3855e014040" Type="http://schemas.openxmlformats.org/officeDocument/2006/relationships/slide" Target="slides/slide13.xml"/><Relationship Id="R301e5d10c8834775" Type="http://schemas.openxmlformats.org/officeDocument/2006/relationships/slide" Target="slides/slide24.xml"/><Relationship Id="R3221c4f692594c06" Type="http://schemas.openxmlformats.org/officeDocument/2006/relationships/slide" Target="slides/slide34.xml"/><Relationship Id="R326aa4c2d8a540ce" Type="http://schemas.openxmlformats.org/officeDocument/2006/relationships/tableStyles" Target="tableStyles.xml"/><Relationship Id="R3777a79eddc44cf8" Type="http://schemas.openxmlformats.org/officeDocument/2006/relationships/slide" Target="slides/slide9.xml"/><Relationship Id="R3c522af630644f3f" Type="http://schemas.openxmlformats.org/officeDocument/2006/relationships/slide" Target="slides/slide30.xml"/><Relationship Id="R53b616370a3241b2" Type="http://schemas.openxmlformats.org/officeDocument/2006/relationships/slide" Target="slides/slide10.xml"/><Relationship Id="R55788bd762a24476" Type="http://schemas.openxmlformats.org/officeDocument/2006/relationships/slide" Target="slides/slide8.xml"/><Relationship Id="R5a2670a785934cef" Type="http://schemas.openxmlformats.org/officeDocument/2006/relationships/slide" Target="slides/slide18.xml"/><Relationship Id="R663ed1261eab4559" Type="http://schemas.openxmlformats.org/officeDocument/2006/relationships/slide" Target="slides/slide36.xml"/><Relationship Id="R78943d83b9894870" Type="http://schemas.openxmlformats.org/officeDocument/2006/relationships/slide" Target="slides/slide20.xml"/><Relationship Id="R7d290482ed10424f" Type="http://schemas.openxmlformats.org/officeDocument/2006/relationships/slide" Target="slides/slide23.xml"/><Relationship Id="R88e592f1655d4701" Type="http://schemas.openxmlformats.org/officeDocument/2006/relationships/viewProps" Target="viewProps.xml"/><Relationship Id="R8b4032ab9e2847ed" Type="http://schemas.openxmlformats.org/officeDocument/2006/relationships/slide" Target="slides/slide21.xml"/><Relationship Id="R940a761d04574bc7" Type="http://schemas.openxmlformats.org/officeDocument/2006/relationships/slide" Target="slides/slide28.xml"/><Relationship Id="R98f1de492ec148a1" Type="http://schemas.openxmlformats.org/officeDocument/2006/relationships/slide" Target="slides/slide17.xml"/><Relationship Id="R9a851aa03c644752" Type="http://schemas.openxmlformats.org/officeDocument/2006/relationships/slide" Target="slides/slide31.xml"/><Relationship Id="R9b8c5f886f50406a" Type="http://schemas.openxmlformats.org/officeDocument/2006/relationships/slide" Target="slides/slide4.xml"/><Relationship Id="Ra1f99114c2ba45fb" Type="http://schemas.openxmlformats.org/officeDocument/2006/relationships/slide" Target="slides/slide32.xml"/><Relationship Id="Rabf79db79473419f" Type="http://schemas.openxmlformats.org/officeDocument/2006/relationships/slide" Target="slides/slide35.xml"/><Relationship Id="Raea60bec9e80424e" Type="http://schemas.openxmlformats.org/officeDocument/2006/relationships/slide" Target="slides/slide33.xml"/><Relationship Id="Rb12d4793aa7a4cb0" Type="http://schemas.openxmlformats.org/officeDocument/2006/relationships/slide" Target="slides/slide2.xml"/><Relationship Id="Rc20f763b47cf4697" Type="http://schemas.openxmlformats.org/officeDocument/2006/relationships/slide" Target="slides/slide12.xml"/><Relationship Id="Rccccc3fce8314eee" Type="http://schemas.openxmlformats.org/officeDocument/2006/relationships/slide" Target="slides/slide1.xml"/><Relationship Id="Rd358d9abf11e4057" Type="http://schemas.openxmlformats.org/officeDocument/2006/relationships/slide" Target="slides/slide3.xml"/><Relationship Id="Rd35c7b22acc04da7" Type="http://schemas.openxmlformats.org/officeDocument/2006/relationships/slide" Target="slides/slide26.xml"/><Relationship Id="Rd9efcf2a7c6b45d6" Type="http://schemas.openxmlformats.org/officeDocument/2006/relationships/presProps" Target="presProps.xml"/><Relationship Id="Re753f2c33962445e" Type="http://schemas.openxmlformats.org/officeDocument/2006/relationships/slide" Target="slides/slide27.xml"/><Relationship Id="Ree6d2649c03542a5" Type="http://schemas.openxmlformats.org/officeDocument/2006/relationships/slide" Target="slides/slide25.xml"/><Relationship Id="Reea69d6a2d904e86" Type="http://schemas.openxmlformats.org/officeDocument/2006/relationships/slide" Target="slides/slide7.xml"/><Relationship Id="Reed0df337af44bd6" Type="http://schemas.openxmlformats.org/officeDocument/2006/relationships/slide" Target="slides/slide11.xml"/><Relationship Id="Rfbebf5e35f004733" Type="http://schemas.openxmlformats.org/officeDocument/2006/relationships/slide" Target="slides/slide5.xml"/><Relationship Id="Rfef21d0e5d924742" Type="http://schemas.openxmlformats.org/officeDocument/2006/relationships/theme" Target="theme/theme1.xml"/></Relationships>
</file>

<file path=ppt/slideLayouts/_rels/slideLayout1.xml.rels><?xml version='1.0' encoding='UTF-8' standalone='yes'?>
<Relationships xmlns="http://schemas.openxmlformats.org/package/2006/relationships"><Relationship Id="R0728487ea2674c7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223edc361bd40b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b40fb434b13499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5c3ac771eff04f7c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ca60ad0a7e346c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43896f6b40a4e9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e96c30856b84b2f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c122a440501647a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d08ccf44d2f474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c105289247124868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164ccf884b9e420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B3D50E-CEC3-474F-A2D0-29F25801B96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1349C82-5F98-4AF8-8932-4435D8010D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2A938C-12CF-4CF2-BD5E-8A54A8C74E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F20C71-CF45-4BD8-8ED8-7DB58A57DC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B106D-9BE7-4FCF-B534-49187999DB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9EF47B-8A5E-49A0-8CB9-644A4AF9FA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A30E2BF-F08C-4817-B28C-0C8EBAFA2E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7709E7-C098-4BF2-9F4E-539DD19B49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BCC1F8-2363-4EE2-B246-CE8926D52D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D6898B-DF18-4D17-82BF-79E8099823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C23518C-1FB4-4D9C-8915-B59DE20F4C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73E3FC-AC1D-4511-952E-0104C2F9DC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7B0C9FF-1E11-4BA0-9584-60C65ED987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F4E5C2-1A28-43C7-B484-6F38D0CC30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D2B2A4-9713-4D58-BCF3-B040903A2D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AA548D-605C-4791-884E-C5D3667315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FE3E099-0060-4A1B-B4D2-67F67A3738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B66832-C19B-4B19-BEAB-526C00AFD5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DBDA903-3664-4754-A2E0-BC83D083A6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BC60C0-97FB-4B68-BCB9-A4F9674B49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405B9C4-82A5-4802-80F7-6C56BDC27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AE3101-E47D-47CA-83DC-9E11A2EB1F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593E9-F09C-4876-A4C6-7A51079AED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C86EC51-3AB6-4499-9151-7F29F33F5E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FCD0379-A6BB-4761-A414-A732B20375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119172-1353-41E5-ACAC-E149F0F93FD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AB4C166-20AF-4CD4-B94C-B12CCF8B3A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AA7C1A2-469C-440F-9B90-2A11EBE9E6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1A5564-DCBE-49CF-A988-9D2A2B19F9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892C85-519B-4E9D-9B9D-8AF953D68B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7816C50-469B-4209-AF5C-6E336562B7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91A4589-50A2-43FF-AEDB-99E47869D6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5FBDEC7-8901-49E9-A5FE-11DAC4256A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C5E00D6-4ADD-4C1B-A91A-8167E64472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C51A5F7-E58A-4174-8416-CACD6C32A3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9691D3C-3B9A-4417-B9A3-60C6421F4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80C0AB-CC32-474C-8692-2C31D13D87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77FDB1-F334-4C91-AF4A-41DC7FE592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B1CD42-E032-4F49-AA96-FF826A47EF4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827DE22-CAC0-4BD4-86EA-93BEE22C1B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66F0-93D3-42E2-9EB5-665F4C563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4A9964-499D-4DF8-B4F3-F73D3F0E95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B9F918-FE97-4AA6-8B10-7CBA811E33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7204934-745E-43D2-9DA7-B043EAD5DA9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11DEACB-8535-4A0C-929A-70C50643E7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00E73FD-6E9A-48F0-B675-718872F371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11F67B-78EA-4F86-8014-E73FF4DC54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2FC21E-74E6-422E-9561-3F59703405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676F72-E95F-468C-BC12-E5A08EDDC0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221D59E-5429-4933-829B-2D83373633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9399E81-70F1-4449-B8EE-E009864E15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1AC497C-B81C-4401-B6AE-2C770CD1E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62B045-93EE-40CC-B51C-0EF6C44214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9334F35-2269-4E73-B90D-AD8813FC4F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B1884F7-4953-48AA-80A3-F20F5487A2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BC9D845-5780-4AE7-947F-9D199F25B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74C229-01AC-4195-B8CC-9AEBF4A877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590BB4-9376-4E29-8CAE-6659FA9403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a1fe208043845bd" Type="http://schemas.openxmlformats.org/officeDocument/2006/relationships/slideLayout" Target="../slideLayouts/slideLayout8.xml"/><Relationship Id="R411e5e12b6e14150" Type="http://schemas.openxmlformats.org/officeDocument/2006/relationships/slideLayout" Target="../slideLayouts/slideLayout7.xml"/><Relationship Id="R43d154a04b384877" Type="http://schemas.openxmlformats.org/officeDocument/2006/relationships/slideLayout" Target="../slideLayouts/slideLayout3.xml"/><Relationship Id="R59a20608f0bb42d0" Type="http://schemas.openxmlformats.org/officeDocument/2006/relationships/slideLayout" Target="../slideLayouts/slideLayout11.xml"/><Relationship Id="R5d2e9e3637024530" Type="http://schemas.openxmlformats.org/officeDocument/2006/relationships/slideLayout" Target="../slideLayouts/slideLayout9.xml"/><Relationship Id="R7f3b644349f6420f" Type="http://schemas.openxmlformats.org/officeDocument/2006/relationships/slideLayout" Target="../slideLayouts/slideLayout2.xml"/><Relationship Id="Rba8afe4ec83b4c84" Type="http://schemas.openxmlformats.org/officeDocument/2006/relationships/slideLayout" Target="../slideLayouts/slideLayout1.xml"/><Relationship Id="Rc1937ae207dc4dcb" Type="http://schemas.openxmlformats.org/officeDocument/2006/relationships/slideLayout" Target="../slideLayouts/slideLayout4.xml"/><Relationship Id="Rcf5a2489ef064cdd" Type="http://schemas.openxmlformats.org/officeDocument/2006/relationships/slideLayout" Target="../slideLayouts/slideLayout6.xml"/><Relationship Id="Rd2b9bd62d3ab4009" Type="http://schemas.openxmlformats.org/officeDocument/2006/relationships/slideLayout" Target="../slideLayouts/slideLayout5.xml"/><Relationship Id="Re8691e0c4dae484a" Type="http://schemas.openxmlformats.org/officeDocument/2006/relationships/theme" Target="theme/theme2.xml"/><Relationship Id="Rfca3ee4a88284522" Type="http://schemas.openxmlformats.org/officeDocument/2006/relationships/slideLayout" Target="../slideLayouts/slideLayout10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EB54D79-E425-4B45-ADA0-2E3C592D5F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4F9BC-103B-4E8F-A5B8-BADE80E137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AB29A4-656A-4FEC-B064-40E62871DF3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2C6726A-8666-48B2-9F2A-296C0B67DA6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09943D-B12F-4724-BF16-60F4306F5CC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8afe4ec83b4c84"/>
    <p:sldLayoutId xmlns:r="http://schemas.openxmlformats.org/officeDocument/2006/relationships" id="2147483650" r:id="R7f3b644349f6420f"/>
    <p:sldLayoutId xmlns:r="http://schemas.openxmlformats.org/officeDocument/2006/relationships" id="2147483651" r:id="R43d154a04b384877"/>
    <p:sldLayoutId xmlns:r="http://schemas.openxmlformats.org/officeDocument/2006/relationships" id="2147483652" r:id="Rc1937ae207dc4dcb"/>
    <p:sldLayoutId xmlns:r="http://schemas.openxmlformats.org/officeDocument/2006/relationships" id="2147483653" r:id="Rd2b9bd62d3ab4009"/>
    <p:sldLayoutId xmlns:r="http://schemas.openxmlformats.org/officeDocument/2006/relationships" id="2147483654" r:id="Rcf5a2489ef064cdd"/>
    <p:sldLayoutId xmlns:r="http://schemas.openxmlformats.org/officeDocument/2006/relationships" id="2147483655" r:id="R411e5e12b6e14150"/>
    <p:sldLayoutId xmlns:r="http://schemas.openxmlformats.org/officeDocument/2006/relationships" id="2147483656" r:id="R1a1fe208043845bd"/>
    <p:sldLayoutId xmlns:r="http://schemas.openxmlformats.org/officeDocument/2006/relationships" id="2147483657" r:id="R5d2e9e3637024530"/>
    <p:sldLayoutId xmlns:r="http://schemas.openxmlformats.org/officeDocument/2006/relationships" id="2147483658" r:id="Rfca3ee4a88284522"/>
    <p:sldLayoutId xmlns:r="http://schemas.openxmlformats.org/officeDocument/2006/relationships" id="2147483659" r:id="R59a20608f0bb42d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46fac7f147f4451" Type="http://schemas.openxmlformats.org/officeDocument/2006/relationships/image" Target="../media/image.png"/><Relationship Id="R694c5771e7f54004" Type="http://schemas.openxmlformats.org/officeDocument/2006/relationships/image" Target="../media/image.jpeg"/><Relationship Id="Rf18355fcc2e845fc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89877d6e41649d9" Type="http://schemas.openxmlformats.org/officeDocument/2006/relationships/slideLayout" Target="../slideLayouts/slideLayout1.xml"/><Relationship Id="Ra60771e78823435f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36ea98cc15c240cc" Type="http://schemas.openxmlformats.org/officeDocument/2006/relationships/slideLayout" Target="../slideLayouts/slideLayout1.xml"/><Relationship Id="Rd8901db6bc0d4f0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73dc65e097b84918" Type="http://schemas.openxmlformats.org/officeDocument/2006/relationships/slideLayout" Target="../slideLayouts/slideLayout1.xml"/><Relationship Id="R92f4023a45694f9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399c48fd56f4a0f" Type="http://schemas.openxmlformats.org/officeDocument/2006/relationships/slideLayout" Target="../slideLayouts/slideLayout1.xml"/><Relationship Id="R9ee7f74c3f564c4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17f97b528b074bb0" Type="http://schemas.openxmlformats.org/officeDocument/2006/relationships/image" Target="../media/image.jpeg"/><Relationship Id="R96de0af8a82e456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8ffd530539b4c8c" Type="http://schemas.openxmlformats.org/officeDocument/2006/relationships/image" Target="../media/image.jpeg"/><Relationship Id="R676aebb9a4ce47e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c5eed8df0c54082" Type="http://schemas.openxmlformats.org/officeDocument/2006/relationships/slideLayout" Target="../slideLayouts/slideLayout1.xml"/><Relationship Id="Rf90216e2a3af4bfc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78845bc750a446b3" Type="http://schemas.openxmlformats.org/officeDocument/2006/relationships/image" Target="../media/image.jpeg"/><Relationship Id="Rc679cd327ad547f3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a59d90d01acc4147" Type="http://schemas.openxmlformats.org/officeDocument/2006/relationships/image" Target="../media/image.jpeg"/><Relationship Id="Rea10b8dc85fb42c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ae6a6dafd3a4732" Type="http://schemas.openxmlformats.org/officeDocument/2006/relationships/slideLayout" Target="../slideLayouts/slideLayout1.xml"/><Relationship Id="R1c171be557cf4669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9807b6a9d2144f9f" Type="http://schemas.openxmlformats.org/officeDocument/2006/relationships/slideLayout" Target="../slideLayouts/slideLayout1.xml"/><Relationship Id="Rb9b05be65bea49c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1af727066b314d1a" Type="http://schemas.openxmlformats.org/officeDocument/2006/relationships/slideLayout" Target="../slideLayouts/slideLayout1.xml"/><Relationship Id="Re557bdcd6bea4592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32f45964eb9743f1" Type="http://schemas.openxmlformats.org/officeDocument/2006/relationships/image" Target="../media/image.jpeg"/><Relationship Id="R89dbd3fc50d7464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3505b245a0942d4" Type="http://schemas.openxmlformats.org/officeDocument/2006/relationships/image" Target="../media/image.jpeg"/><Relationship Id="Ra8d393bda2d043c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0b5b45bebc2544db" Type="http://schemas.openxmlformats.org/officeDocument/2006/relationships/image" Target="../media/image.jpeg"/><Relationship Id="R12a65bef15614e1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e44de39bd0c4b14" Type="http://schemas.openxmlformats.org/officeDocument/2006/relationships/image" Target="../media/image.jpeg"/><Relationship Id="R3874bc7bbe4e49e7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3d27df01b11e4a8f" Type="http://schemas.openxmlformats.org/officeDocument/2006/relationships/slideLayout" Target="../slideLayouts/slideLayout1.xml"/><Relationship Id="R5faa66a27f60412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2dd09d0138e4f96" Type="http://schemas.openxmlformats.org/officeDocument/2006/relationships/slideLayout" Target="../slideLayouts/slideLayout1.xml"/><Relationship Id="R16029e7c470049a1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69e34348521e4c36" Type="http://schemas.openxmlformats.org/officeDocument/2006/relationships/image" Target="../media/image.jpeg"/><Relationship Id="Rd1a4681b70e44b8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8d5da1389234df5" Type="http://schemas.openxmlformats.org/officeDocument/2006/relationships/slideLayout" Target="../slideLayouts/slideLayout1.xml"/><Relationship Id="Re8325551d58f4a04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64703142481f4c41" Type="http://schemas.openxmlformats.org/officeDocument/2006/relationships/image" Target="../media/image.jpeg"/><Relationship Id="R7448282ed7334937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470499dec2e842d6" Type="http://schemas.openxmlformats.org/officeDocument/2006/relationships/image" Target="../media/image.jpeg"/><Relationship Id="Rbe7b7c1e791b412f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0094ec4bd3c445a" Type="http://schemas.openxmlformats.org/officeDocument/2006/relationships/slideLayout" Target="../slideLayouts/slideLayout1.xml"/><Relationship Id="Rdbb3225eb287486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4943b10d084f458f" Type="http://schemas.openxmlformats.org/officeDocument/2006/relationships/slideLayout" Target="../slideLayouts/slideLayout1.xml"/><Relationship Id="R8d17d0ef7e7e4df2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a3807934003465d" Type="http://schemas.openxmlformats.org/officeDocument/2006/relationships/image" Target="../media/image.jpeg"/><Relationship Id="R1ec4fc83ad324106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80c7d4ada94c4667" Type="http://schemas.openxmlformats.org/officeDocument/2006/relationships/slideLayout" Target="../slideLayouts/slideLayout1.xml"/><Relationship Id="R8340f6d4f1854b3f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bc281abc4b664b20" Type="http://schemas.openxmlformats.org/officeDocument/2006/relationships/slideLayout" Target="../slideLayouts/slideLayout1.xml"/><Relationship Id="Rdaab840de27749da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615fa4c1bab943a5" Type="http://schemas.openxmlformats.org/officeDocument/2006/relationships/image" Target="../media/image.jpeg"/><Relationship Id="R91dd96e5ea7d4a2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66a57e7aece471b" Type="http://schemas.openxmlformats.org/officeDocument/2006/relationships/image" Target="../media/image.jpeg"/><Relationship Id="Rdf21a0468db145ee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cd828a2e537442d" Type="http://schemas.openxmlformats.org/officeDocument/2006/relationships/image" Target="../media/image.jpeg"/><Relationship Id="R9b2cf31e20214165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eef232b26af34c96" Type="http://schemas.openxmlformats.org/officeDocument/2006/relationships/image" Target="../media/image.jpeg"/><Relationship Id="Rf786395b141645a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48d2d51a0514df0" Type="http://schemas.openxmlformats.org/officeDocument/2006/relationships/image" Target="../media/image.jpeg"/><Relationship Id="R893cb134b4b3479c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6dc55528662143e2" Type="http://schemas.openxmlformats.org/officeDocument/2006/relationships/image" Target="../media/image.jpeg"/><Relationship Id="Rcbbf039a0cba4ff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5fa4506fa9164c35" Type="http://schemas.openxmlformats.org/officeDocument/2006/relationships/slideLayout" Target="../slideLayouts/slideLayout1.xml"/><Relationship Id="Rc31c418783f44cb7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0028a458df304058" Type="http://schemas.openxmlformats.org/officeDocument/2006/relationships/image" Target="../media/image.jpeg"/><Relationship Id="R151888338d284140" Type="http://schemas.openxmlformats.org/officeDocument/2006/relationships/slideLayout" Target="../slideLayouts/slideLayout1.xml"/><Relationship Id="R7e3a53b9408143ff" Type="http://schemas.openxmlformats.org/officeDocument/2006/relationships/hyperlink" Target="https://www.transportstyrelsen.se/sv/sjofart/Fartyg/Fartygskonstruktion/Elinstallationer/Lagar-foreskrifter-och-standarder/" TargetMode="External"/><Relationship Id="R8b87b7cc612e4c1f" Type="http://schemas.openxmlformats.org/officeDocument/2006/relationships/hyperlink" Target="https://www.electrical-installation.org/enwiki/Characteristics_of_TT%2C_TN_and_IT_systems" TargetMode="External"/><Relationship Id="R98e3217e45a54fe0" Type="http://schemas.openxmlformats.org/officeDocument/2006/relationships/hyperlink" Target="https://www.electrical-installation.org/enwiki/IT_system_-_Principle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c5771e7f540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fac7f147f4451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09AED2-00E4-48AA-BC36-1E5F58C8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46F3A77F-1B20-464C-979E-83361FE7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Lågspänningssystem</a:t>
            </a:r>
          </a:p>
        </p:txBody>
      </p:sp>
      <p:sp>
        <p:nvSpPr>
          <p:cNvPr id="13" name="TN, TT, IT och fördelning ombord">
            <a:extLst xmlns:a="http://schemas.openxmlformats.org/drawingml/2006/main">
              <a:ext uri="{FF2B5EF4-FFF2-40B4-BE49-F238E27FC236}">
                <a16:creationId xmlns:a16="http://schemas.microsoft.com/office/drawing/2014/main" id="{0D6F2001-C9CD-41E1-9D72-8D1EDC28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TN, TT, IT och fördelning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BFE396EF-FB13-4559-A3F4-20C12061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771e78823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513718B1-BEA1-42B9-B3CC-39A52F15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jordningssystemens grundprinciper.">
            <a:extLst xmlns:a="http://schemas.openxmlformats.org/drawingml/2006/main">
              <a:ext uri="{FF2B5EF4-FFF2-40B4-BE49-F238E27FC236}">
                <a16:creationId xmlns:a16="http://schemas.microsoft.com/office/drawing/2014/main" id="{C18E64F0-32C2-4B7C-811B-04391EF6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jordningssystemens grundprinciper.</a:t>
            </a:r>
          </a:p>
        </p:txBody>
      </p:sp>
      <p:sp>
        <p:nvSpPr>
          <p:cNvPr id="4" name="Analysera spänningsfall och en förenklad felström.">
            <a:extLst xmlns:a="http://schemas.openxmlformats.org/drawingml/2006/main">
              <a:ext uri="{FF2B5EF4-FFF2-40B4-BE49-F238E27FC236}">
                <a16:creationId xmlns:a16="http://schemas.microsoft.com/office/drawing/2014/main" id="{5AEDDAF3-2E4A-43BB-AF22-DC9A71C3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Analysera spänningsfall och en förenklad felström.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509FC3E-0FB5-4A34-BFED-D71C3A25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betyder första bokstaven och andra bokstaven i TN, TT och IT?">
            <a:extLst xmlns:a="http://schemas.openxmlformats.org/drawingml/2006/main">
              <a:ext uri="{FF2B5EF4-FFF2-40B4-BE49-F238E27FC236}">
                <a16:creationId xmlns:a16="http://schemas.microsoft.com/office/drawing/2014/main" id="{FE86420A-7124-4640-9178-54F575D6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första bokstaven och andra bokstaven i TN, TT och IT?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20A58D9-4A78-4D69-B6CF-71D49F30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01db6bc0d4f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CF9CB4DB-68D9-479C-8271-76CAFABF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BF99AAA-2602-4193-BDE0-0EED69F6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BDEB835-EAB2-495D-98CE-45B11059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31A0CBD-0F0F-43F0-BD6F-850CF909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7A6AB4F-2DBB-4F04-AE13-CA74780D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8B7D70E-5496-4B7F-BD5A-54A0797F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12CB622-1F48-4FBD-8E43-A7BB2E15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4023a45694f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atning, jordning och skydd">
            <a:extLst xmlns:a="http://schemas.openxmlformats.org/drawingml/2006/main">
              <a:ext uri="{FF2B5EF4-FFF2-40B4-BE49-F238E27FC236}">
                <a16:creationId xmlns:a16="http://schemas.microsoft.com/office/drawing/2014/main" id="{5D85E576-498D-4FEE-A94D-4949AEEF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Matning, jordning och skydd</a:t>
            </a:r>
          </a:p>
        </p:txBody>
      </p:sp>
      <p:sp>
        <p:nvSpPr>
          <p:cNvPr id="10" name="Enlinjeschema visar huvudvägar och systemgränser.">
            <a:extLst xmlns:a="http://schemas.openxmlformats.org/drawingml/2006/main">
              <a:ext uri="{FF2B5EF4-FFF2-40B4-BE49-F238E27FC236}">
                <a16:creationId xmlns:a16="http://schemas.microsoft.com/office/drawing/2014/main" id="{1760FC14-365E-4F4B-840C-D49D6375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Enlinjeschema visar huvudvägar och systemgränser.</a:t>
            </a:r>
          </a:p>
        </p:txBody>
      </p:sp>
      <p:sp>
        <p:nvSpPr>
          <p:cNvPr id="11" name="TN, TT och IT beskriver relationen mellan källa, jord och utsatta">
            <a:extLst xmlns:a="http://schemas.openxmlformats.org/drawingml/2006/main">
              <a:ext uri="{FF2B5EF4-FFF2-40B4-BE49-F238E27FC236}">
                <a16:creationId xmlns:a16="http://schemas.microsoft.com/office/drawing/2014/main" id="{21EF93ED-E917-46D9-9ED5-2906182D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TN, TT och IT beskriver relationen mellan källa, jord och utsatta delar.</a:t>
            </a:r>
          </a:p>
        </p:txBody>
      </p:sp>
      <p:sp>
        <p:nvSpPr>
          <p:cNvPr id="12" name="N är neutralledare och PE skyddsledare. De har olika uppgifter.">
            <a:extLst xmlns:a="http://schemas.openxmlformats.org/drawingml/2006/main">
              <a:ext uri="{FF2B5EF4-FFF2-40B4-BE49-F238E27FC236}">
                <a16:creationId xmlns:a16="http://schemas.microsoft.com/office/drawing/2014/main" id="{3743899E-6319-4334-AA30-3E059C1B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neutralledare och PE skyddsledare. De har olika uppgifter.</a:t>
            </a:r>
          </a:p>
        </p:txBody>
      </p:sp>
      <p:sp>
        <p:nvSpPr>
          <p:cNvPr id="13" name="Zs är felströmsslingans impedans. Dess belopp påverkar tillgängli">
            <a:extLst xmlns:a="http://schemas.openxmlformats.org/drawingml/2006/main">
              <a:ext uri="{FF2B5EF4-FFF2-40B4-BE49-F238E27FC236}">
                <a16:creationId xmlns:a16="http://schemas.microsoft.com/office/drawing/2014/main" id="{221AB49F-2E50-4F0E-AA4E-D52631A5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felströmsslingans impedans. Dess belopp påverkar tillgänglig felström.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E464F50-83E8-40D7-B91A-0972C9FA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7f74c3f564c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F07711B-B1BF-4DA9-81B3-59D4B2BC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E75D05AE-C1DA-4E12-8976-3E95E45B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98D2B40-E209-4088-8643-56A7DC70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F27796E-D476-42D2-90F2-D9A67E0E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F85B1E3-18BF-48B7-9BD4-CBC38C61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CCE4202-4450-4597-A01B-2629147C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38B020A-FFAD-4681-A40B-F0D41E80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6EB6EDAD-6584-47E7-B9B5-B07D43D5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97b528b074b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tning och fördelning">
            <a:extLst xmlns:a="http://schemas.openxmlformats.org/drawingml/2006/main">
              <a:ext uri="{FF2B5EF4-FFF2-40B4-BE49-F238E27FC236}">
                <a16:creationId xmlns:a16="http://schemas.microsoft.com/office/drawing/2014/main" id="{487D7330-B27E-4978-B5F0-DA1BB5A4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 och fördelning</a:t>
            </a:r>
          </a:p>
        </p:txBody>
      </p:sp>
      <p:sp>
        <p:nvSpPr>
          <p:cNvPr id="3" name="Ett enlinjeschema visar systemets huvudvägar.&#10;Källa, kopplingsapp">
            <a:extLst xmlns:a="http://schemas.openxmlformats.org/drawingml/2006/main">
              <a:ext uri="{FF2B5EF4-FFF2-40B4-BE49-F238E27FC236}">
                <a16:creationId xmlns:a16="http://schemas.microsoft.com/office/drawing/2014/main" id="{F62C5201-DE74-4E69-9851-0EE48A1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systemets huvudvägar.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Källa, kopplingsapparater, skydd och laster bildar en kedja.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269EE2-E26C-493C-B9AB-DA433B4F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4133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5" name="Källa">
            <a:extLst xmlns:a="http://schemas.openxmlformats.org/drawingml/2006/main">
              <a:ext uri="{FF2B5EF4-FFF2-40B4-BE49-F238E27FC236}">
                <a16:creationId xmlns:a16="http://schemas.microsoft.com/office/drawing/2014/main" id="{A8A2BD37-534A-4074-A56D-AB67A7C0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948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7BA4A4-C479-4C59-B4D8-4813AC32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2880C-CC6D-456B-934D-A6E7BE4B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648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8" name="Skydd">
            <a:extLst xmlns:a="http://schemas.openxmlformats.org/drawingml/2006/main">
              <a:ext uri="{FF2B5EF4-FFF2-40B4-BE49-F238E27FC236}">
                <a16:creationId xmlns:a16="http://schemas.microsoft.com/office/drawing/2014/main" id="{2AE7E3C0-496A-41DC-BBF2-33A582EE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464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703A2-C601-491F-BECF-A56EFE1D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52305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64526-9118-4F2E-9519-64EB9D41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164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1" name="Fördelning">
            <a:extLst xmlns:a="http://schemas.openxmlformats.org/drawingml/2006/main">
              <a:ext uri="{FF2B5EF4-FFF2-40B4-BE49-F238E27FC236}">
                <a16:creationId xmlns:a16="http://schemas.microsoft.com/office/drawing/2014/main" id="{7C93E7D8-2CBF-4678-BCA0-CE2561B6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980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Fördelning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D245C2-37E4-42E4-93E1-15065E51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37820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E2E981-1705-4CA7-B5FE-341CA582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680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4" name="Last">
            <a:extLst xmlns:a="http://schemas.openxmlformats.org/drawingml/2006/main">
              <a:ext uri="{FF2B5EF4-FFF2-40B4-BE49-F238E27FC236}">
                <a16:creationId xmlns:a16="http://schemas.microsoft.com/office/drawing/2014/main" id="{4255CAE9-9AB1-4CF7-9A98-345791A3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5495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</a:p>
        </p:txBody>
      </p:sp>
      <p:sp>
        <p:nvSpPr>
          <p:cNvPr id="15" name="Enlinjemodell">
            <a:extLst xmlns:a="http://schemas.openxmlformats.org/drawingml/2006/main">
              <a:ext uri="{FF2B5EF4-FFF2-40B4-BE49-F238E27FC236}">
                <a16:creationId xmlns:a16="http://schemas.microsoft.com/office/drawing/2014/main" id="{137C544D-5515-47F5-B9E3-C13615D0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953" y="2474913"/>
            <a:ext cx="35440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3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3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Enlinjemodell</a:t>
            </a:r>
          </a:p>
        </p:txBody>
      </p:sp>
      <p:sp>
        <p:nvSpPr>
          <p:cNvPr id="16" name="Mätpunkt A">
            <a:extLst xmlns:a="http://schemas.openxmlformats.org/drawingml/2006/main">
              <a:ext uri="{FF2B5EF4-FFF2-40B4-BE49-F238E27FC236}">
                <a16:creationId xmlns:a16="http://schemas.microsoft.com/office/drawing/2014/main" id="{496D3A9A-45CB-4574-8510-D21DAF3A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258" y="2726730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1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1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 A</a:t>
            </a:r>
          </a:p>
        </p:txBody>
      </p:sp>
      <p:sp>
        <p:nvSpPr>
          <p:cNvPr id="17" name="Mätpunkt B">
            <a:extLst xmlns:a="http://schemas.openxmlformats.org/drawingml/2006/main">
              <a:ext uri="{FF2B5EF4-FFF2-40B4-BE49-F238E27FC236}">
                <a16:creationId xmlns:a16="http://schemas.microsoft.com/office/drawing/2014/main" id="{6B0A73E1-A78A-4143-BB01-EC1E055E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1289" y="2726730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1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1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 B</a:t>
            </a:r>
          </a:p>
        </p:txBody>
      </p:sp>
      <p:sp>
        <p:nvSpPr>
          <p:cNvPr id="18" name="Driftläge och matningsväg påverkar analysen">
            <a:extLst xmlns:a="http://schemas.openxmlformats.org/drawingml/2006/main">
              <a:ext uri="{FF2B5EF4-FFF2-40B4-BE49-F238E27FC236}">
                <a16:creationId xmlns:a16="http://schemas.microsoft.com/office/drawing/2014/main" id="{AC795E88-ADC7-4C8F-A0A5-CE850A5A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Driftläge och matningsväg påverkar analysen</a:t>
            </a:r>
          </a:p>
        </p:txBody>
      </p:sp>
      <p:sp>
        <p:nvSpPr>
          <p:cNvPr id="19" name="Reservmatning kan ändra tillgänglig kortslutningsström.&#10;Skydden s">
            <a:extLst xmlns:a="http://schemas.openxmlformats.org/drawingml/2006/main">
              <a:ext uri="{FF2B5EF4-FFF2-40B4-BE49-F238E27FC236}">
                <a16:creationId xmlns:a16="http://schemas.microsoft.com/office/drawing/2014/main" id="{55F40289-D9A6-4BF1-A9C4-2104B2BB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kan ändra tillgänglig kortslutningsström.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Skydden ska fungera även i de avsedda reservdriftfallen.</a:t>
            </a:r>
          </a:p>
        </p:txBody>
      </p:sp>
      <p:sp>
        <p:nvSpPr>
          <p:cNvPr id="20" name="4">
            <a:extLst xmlns:a="http://schemas.openxmlformats.org/drawingml/2006/main">
              <a:ext uri="{FF2B5EF4-FFF2-40B4-BE49-F238E27FC236}">
                <a16:creationId xmlns:a16="http://schemas.microsoft.com/office/drawing/2014/main" id="{B614B1D8-5AA2-4ABB-9110-B0E0D649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fd530539b4c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N-system">
            <a:extLst xmlns:a="http://schemas.openxmlformats.org/drawingml/2006/main">
              <a:ext uri="{FF2B5EF4-FFF2-40B4-BE49-F238E27FC236}">
                <a16:creationId xmlns:a16="http://schemas.microsoft.com/office/drawing/2014/main" id="{771CB3BD-C384-47ED-9CF2-2377CDAD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TN-system</a:t>
            </a:r>
          </a:p>
        </p:txBody>
      </p:sp>
      <p:sp>
        <p:nvSpPr>
          <p:cNvPr id="3" name="En punkt i källan är jordad. Utsatta delar ansluts till denna&#10;pun">
            <a:extLst xmlns:a="http://schemas.openxmlformats.org/drawingml/2006/main">
              <a:ext uri="{FF2B5EF4-FFF2-40B4-BE49-F238E27FC236}">
                <a16:creationId xmlns:a16="http://schemas.microsoft.com/office/drawing/2014/main" id="{34ED8F1A-12FD-461D-8620-F08F0431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punkt i källan är jordad. Utsatta delar ansluts till denna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punkt genom skyddsledarsystemet.</a:t>
            </a:r>
          </a:p>
        </p:txBody>
      </p:sp>
      <p:sp>
        <p:nvSpPr>
          <p:cNvPr id="4" name="TN-S: separat PE och N">
            <a:extLst xmlns:a="http://schemas.openxmlformats.org/drawingml/2006/main">
              <a:ext uri="{FF2B5EF4-FFF2-40B4-BE49-F238E27FC236}">
                <a16:creationId xmlns:a16="http://schemas.microsoft.com/office/drawing/2014/main" id="{2A3E947A-D8F1-454D-B5A6-6B65496A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TN-S: separat PE och N</a:t>
            </a:r>
          </a:p>
        </p:txBody>
      </p:sp>
      <p:sp>
        <p:nvSpPr>
          <p:cNvPr id="5" name="Felströmsslingans impedans påverkar bortkopplingen.&#10;PE och N har ">
            <a:extLst xmlns:a="http://schemas.openxmlformats.org/drawingml/2006/main">
              <a:ext uri="{FF2B5EF4-FFF2-40B4-BE49-F238E27FC236}">
                <a16:creationId xmlns:a16="http://schemas.microsoft.com/office/drawing/2014/main" id="{A66DDDDB-ADEA-4427-9DFD-E01910F0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Felströmsslingans impedans påverkar bortkopplingen.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 och N har olika funktion även om potentialerna kan vara nära.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FC41295D-334E-4DEA-B2C1-293EDA08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N-S-system: källan med L1, L2, L3, N oc" descr="TN-S-system: källan med L1, L2, L3, N och PE; ett fel mellan L1 och höljet ger en felslinga via PE tillbaka till kä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216e2a3af4b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T-system">
            <a:extLst xmlns:a="http://schemas.openxmlformats.org/drawingml/2006/main">
              <a:ext uri="{FF2B5EF4-FFF2-40B4-BE49-F238E27FC236}">
                <a16:creationId xmlns:a16="http://schemas.microsoft.com/office/drawing/2014/main" id="{370839FF-7817-4B25-88AB-44C3FB27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</a:t>
            </a:r>
          </a:p>
        </p:txBody>
      </p:sp>
      <p:sp>
        <p:nvSpPr>
          <p:cNvPr id="3" name="Källans jordning och installationens jordtag är åtskilda i princi">
            <a:extLst xmlns:a="http://schemas.openxmlformats.org/drawingml/2006/main">
              <a:ext uri="{FF2B5EF4-FFF2-40B4-BE49-F238E27FC236}">
                <a16:creationId xmlns:a16="http://schemas.microsoft.com/office/drawing/2014/main" id="{BC31FFAF-5183-4915-8CE2-3A8DE917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Källans jordning och installationens jordtag är åtskilda i princip.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Jordfelsslingan går genom jordningsvägarna.</a:t>
            </a:r>
          </a:p>
        </p:txBody>
      </p:sp>
      <p:sp>
        <p:nvSpPr>
          <p:cNvPr id="4" name="Jordfelsfunktionen är central i skyddet">
            <a:extLst xmlns:a="http://schemas.openxmlformats.org/drawingml/2006/main">
              <a:ext uri="{FF2B5EF4-FFF2-40B4-BE49-F238E27FC236}">
                <a16:creationId xmlns:a16="http://schemas.microsoft.com/office/drawing/2014/main" id="{CA4BCA23-91FB-41D8-B1CF-902ECBF8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Jordfelsfunktionen är central i skyddet</a:t>
            </a:r>
          </a:p>
        </p:txBody>
      </p:sp>
      <p:sp>
        <p:nvSpPr>
          <p:cNvPr id="5" name="Jordtagsresistanser kan begränsa felströmmen så att&#10;överströmssky">
            <a:extLst xmlns:a="http://schemas.openxmlformats.org/drawingml/2006/main">
              <a:ext uri="{FF2B5EF4-FFF2-40B4-BE49-F238E27FC236}">
                <a16:creationId xmlns:a16="http://schemas.microsoft.com/office/drawing/2014/main" id="{AF211427-DF2B-4F72-8BF1-B3E2DF76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Jordtagsresistanser kan begränsa felströmmen så att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överströmsskydd ensamt inte ger avsedd bortkoppling.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FFE841C-9041-4381-A621-80D1372A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T-system: källans systemjord RB och ins" descr="TT-system: källans systemjord RB och installationens jordtag RA; felströmmen går genom jorden mellan jordtag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45bc750a4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ystemets gräns">
            <a:extLst xmlns:a="http://schemas.openxmlformats.org/drawingml/2006/main">
              <a:ext uri="{FF2B5EF4-FFF2-40B4-BE49-F238E27FC236}">
                <a16:creationId xmlns:a16="http://schemas.microsoft.com/office/drawing/2014/main" id="{1F678BD2-0878-475B-8BEE-FB985F53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systemets gräns</a:t>
            </a:r>
          </a:p>
        </p:txBody>
      </p:sp>
      <p:sp>
        <p:nvSpPr>
          <p:cNvPr id="10" name="Ett enlinjeschema visar en transformator mellan huvudnätet och et">
            <a:extLst xmlns:a="http://schemas.openxmlformats.org/drawingml/2006/main">
              <a:ext uri="{FF2B5EF4-FFF2-40B4-BE49-F238E27FC236}">
                <a16:creationId xmlns:a16="http://schemas.microsoft.com/office/drawing/2014/main" id="{CE2F07E9-356F-4AA1-A2D6-44CE75AF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en transformator mellan huvudnätet och ett separat styrnät.</a:t>
            </a:r>
          </a:p>
        </p:txBody>
      </p:sp>
      <p:sp>
        <p:nvSpPr>
          <p:cNvPr id="11" name="Varje delnäts jordningssätt bedöms för sig">
            <a:extLst xmlns:a="http://schemas.openxmlformats.org/drawingml/2006/main">
              <a:ext uri="{FF2B5EF4-FFF2-40B4-BE49-F238E27FC236}">
                <a16:creationId xmlns:a16="http://schemas.microsoft.com/office/drawing/2014/main" id="{DCD19A2C-0E91-44BF-8DC3-AFD1602D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delnäts jordningssätt bedöms för sig</a:t>
            </a:r>
          </a:p>
        </p:txBody>
      </p:sp>
      <p:sp>
        <p:nvSpPr>
          <p:cNvPr id="12" name="1. Identifiera sekundärsystemets källa och ledare.&#10;2. Kontrollera">
            <a:extLst xmlns:a="http://schemas.openxmlformats.org/drawingml/2006/main">
              <a:ext uri="{FF2B5EF4-FFF2-40B4-BE49-F238E27FC236}">
                <a16:creationId xmlns:a16="http://schemas.microsoft.com/office/drawing/2014/main" id="{F7468257-F167-4212-8BE8-F4253E30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Identifiera sekundärsystemets källa och ledare.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Kontrollera dess relation till jord samt skyddsförbindelser.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Bestäm skydd och övervakning för just det delnätet.</a:t>
            </a:r>
          </a:p>
        </p:txBody>
      </p:sp>
      <p:sp>
        <p:nvSpPr>
          <p:cNvPr id="13" name="Primärsidans jordningssystem bevisar inte hur sekundärsidan är up">
            <a:extLst xmlns:a="http://schemas.openxmlformats.org/drawingml/2006/main">
              <a:ext uri="{FF2B5EF4-FFF2-40B4-BE49-F238E27FC236}">
                <a16:creationId xmlns:a16="http://schemas.microsoft.com/office/drawing/2014/main" id="{93537A5A-0143-49CF-90B5-496A1476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Primärsidans jordningssystem bevisar inte hur sekundärsidan är uppbyggd.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A5A47F88-5D98-46A6-980D-4872693D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d90d01acc41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092A218-C8F9-42FF-9A84-59258242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N leder normal returström, PE har skyddsfunktion">
            <a:extLst xmlns:a="http://schemas.openxmlformats.org/drawingml/2006/main">
              <a:ext uri="{FF2B5EF4-FFF2-40B4-BE49-F238E27FC236}">
                <a16:creationId xmlns:a16="http://schemas.microsoft.com/office/drawing/2014/main" id="{8A89EB7B-4313-421B-860D-B0E4366C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 leder normal returström, PE har skyddsfunktion</a:t>
            </a:r>
          </a:p>
        </p:txBody>
      </p:sp>
      <p:sp>
        <p:nvSpPr>
          <p:cNvPr id="11" name="I TN-S är neutralledare N och skyddsledare PE separata längs den ">
            <a:extLst xmlns:a="http://schemas.openxmlformats.org/drawingml/2006/main">
              <a:ext uri="{FF2B5EF4-FFF2-40B4-BE49-F238E27FC236}">
                <a16:creationId xmlns:a16="http://schemas.microsoft.com/office/drawing/2014/main" id="{5B8C4896-0CE1-47F3-8917-5278D661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TN-S är neutralledare N och skyddsledare PE separata längs den berörda delen av systemet.</a:t>
            </a:r>
          </a:p>
        </p:txBody>
      </p:sp>
      <p:sp>
        <p:nvSpPr>
          <p:cNvPr id="12" name="Förutsättningar: Frågan gäller TN-S. Andra system får inte antas ">
            <a:extLst xmlns:a="http://schemas.openxmlformats.org/drawingml/2006/main">
              <a:ext uri="{FF2B5EF4-FFF2-40B4-BE49-F238E27FC236}">
                <a16:creationId xmlns:a16="http://schemas.microsoft.com/office/drawing/2014/main" id="{713F8469-F677-467D-92E0-96C1AFA8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TN-S. Andra system får inte antas ha samma uppbyggnad.</a:t>
            </a:r>
          </a:p>
        </p:txBody>
      </p:sp>
      <p:sp>
        <p:nvSpPr>
          <p:cNvPr id="13" name="Arbetsgång: Jämför ledarnas uppgift i normaldrift och vid fel. Sk">
            <a:extLst xmlns:a="http://schemas.openxmlformats.org/drawingml/2006/main">
              <a:ext uri="{FF2B5EF4-FFF2-40B4-BE49-F238E27FC236}">
                <a16:creationId xmlns:a16="http://schemas.microsoft.com/office/drawing/2014/main" id="{33B8A29D-4FE7-4BF8-991C-289110FB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ledarnas uppgift i normaldrift och vid fel. Skilj funktion från ett tillfälligt lika potentialvärde.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20A8978C-3C85-48B6-B4C3-86DCA64E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71be557cf46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7CEB3A5-677B-496C-90A8-73050109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TN-S">
            <a:extLst xmlns:a="http://schemas.openxmlformats.org/drawingml/2006/main">
              <a:ext uri="{FF2B5EF4-FFF2-40B4-BE49-F238E27FC236}">
                <a16:creationId xmlns:a16="http://schemas.microsoft.com/office/drawing/2014/main" id="{B1B054CE-D8C0-471F-996C-D3E7D977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</a:t>
            </a:r>
          </a:p>
        </p:txBody>
      </p:sp>
      <p:sp>
        <p:nvSpPr>
          <p:cNvPr id="4" name="Vad skiljer PE och N i ett TN-S-system?">
            <a:extLst xmlns:a="http://schemas.openxmlformats.org/drawingml/2006/main">
              <a:ext uri="{FF2B5EF4-FFF2-40B4-BE49-F238E27FC236}">
                <a16:creationId xmlns:a16="http://schemas.microsoft.com/office/drawing/2014/main" id="{DFE4F6BF-7AD1-43C9-8625-070A4BFD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skiljer PE och N i ett TN-S-system?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3053CC0-80FF-4B68-8FCC-CFCD62F5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643FE3C-AFE8-4E95-A218-6AB6D2B9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05be65bea49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865327B7-78A0-4D03-B630-E16303BE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fel ≈ U/Zfel">
            <a:extLst xmlns:a="http://schemas.openxmlformats.org/drawingml/2006/main">
              <a:ext uri="{FF2B5EF4-FFF2-40B4-BE49-F238E27FC236}">
                <a16:creationId xmlns:a16="http://schemas.microsoft.com/office/drawing/2014/main" id="{03C7A29A-89C8-44C3-B8C7-66BAEEF8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</a:p>
        </p:txBody>
      </p:sp>
      <p:sp>
        <p:nvSpPr>
          <p:cNvPr id="11" name="Hög impedans i jordfelsslingan begränsar strömmen. Ett överströms">
            <a:extLst xmlns:a="http://schemas.openxmlformats.org/drawingml/2006/main">
              <a:ext uri="{FF2B5EF4-FFF2-40B4-BE49-F238E27FC236}">
                <a16:creationId xmlns:a16="http://schemas.microsoft.com/office/drawing/2014/main" id="{85468642-3D43-4B9B-AB1B-FDC623AB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 impedans i jordfelsslingan begränsar strömmen. Ett överströmsskydd kan då sakna tillräcklig utlösningsström.</a:t>
            </a:r>
          </a:p>
        </p:txBody>
      </p:sp>
      <p:sp>
        <p:nvSpPr>
          <p:cNvPr id="12" name="Förutsättningar: TT-system med jordningsväg genom separata jordta">
            <a:extLst xmlns:a="http://schemas.openxmlformats.org/drawingml/2006/main">
              <a:ext uri="{FF2B5EF4-FFF2-40B4-BE49-F238E27FC236}">
                <a16:creationId xmlns:a16="http://schemas.microsoft.com/office/drawing/2014/main" id="{CCD3CEFA-6FCB-4341-AD9A-1C4FA5A6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TT-system med jordningsväg genom separata jordtag. Jordfelsfunktionen kan upptäcka differensström.</a:t>
            </a:r>
          </a:p>
        </p:txBody>
      </p:sp>
      <p:sp>
        <p:nvSpPr>
          <p:cNvPr id="13" name="Arbetsgång: Förklara varför felström och skyddets utlösning måste">
            <a:extLst xmlns:a="http://schemas.openxmlformats.org/drawingml/2006/main">
              <a:ext uri="{FF2B5EF4-FFF2-40B4-BE49-F238E27FC236}">
                <a16:creationId xmlns:a16="http://schemas.microsoft.com/office/drawing/2014/main" id="{F1BEB743-6EB3-43D3-B553-E7522D73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felström och skyddets utlösning måste jämföras, och vad jordfelsfunktionen tillför.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99FB3B0-9725-4C05-AEA1-E9A42CE2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7bdcd6bea45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F47CC46-E4D8-4A9A-B244-D9FEB57E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T-princip">
            <a:extLst xmlns:a="http://schemas.openxmlformats.org/drawingml/2006/main">
              <a:ext uri="{FF2B5EF4-FFF2-40B4-BE49-F238E27FC236}">
                <a16:creationId xmlns:a16="http://schemas.microsoft.com/office/drawing/2014/main" id="{E27B7D4E-BC00-41C5-AF12-259A760C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TT-princip</a:t>
            </a:r>
          </a:p>
        </p:txBody>
      </p:sp>
      <p:sp>
        <p:nvSpPr>
          <p:cNvPr id="4" name="Varför är jordfelsbrytare ofta avgörande för felbortkoppling i TT">
            <a:extLst xmlns:a="http://schemas.openxmlformats.org/drawingml/2006/main">
              <a:ext uri="{FF2B5EF4-FFF2-40B4-BE49-F238E27FC236}">
                <a16:creationId xmlns:a16="http://schemas.microsoft.com/office/drawing/2014/main" id="{F9817D97-F544-4FD9-A188-1FBF361B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jordfelsbrytare ofta avgörande för felbortkoppling i TT-system?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082AAB-ABCF-4FB9-B9A7-F96FFEAF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090A7AE3-4474-493C-BB72-9832FCA8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45964eb9743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3AB988A2-2A4F-423C-86E7-82153949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IT-systemets isolation övervakas mot jord">
            <a:extLst xmlns:a="http://schemas.openxmlformats.org/drawingml/2006/main">
              <a:ext uri="{FF2B5EF4-FFF2-40B4-BE49-F238E27FC236}">
                <a16:creationId xmlns:a16="http://schemas.microsoft.com/office/drawing/2014/main" id="{9B59CA4D-A7F3-4A14-8620-23498107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IT-systemets isolation övervakas mot jord</a:t>
            </a:r>
          </a:p>
        </p:txBody>
      </p:sp>
      <p:sp>
        <p:nvSpPr>
          <p:cNvPr id="11" name="Aktiva ledare är isolerade från jord eller anslutna via hög imped">
            <a:extLst xmlns:a="http://schemas.openxmlformats.org/drawingml/2006/main">
              <a:ext uri="{FF2B5EF4-FFF2-40B4-BE49-F238E27FC236}">
                <a16:creationId xmlns:a16="http://schemas.microsoft.com/office/drawing/2014/main" id="{B91F01DB-938B-444E-8D95-19525E22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ledare är isolerade från jord eller anslutna via hög impedans. Utsatta delar har skyddsförbindelse.</a:t>
            </a:r>
          </a:p>
        </p:txBody>
      </p:sp>
      <p:sp>
        <p:nvSpPr>
          <p:cNvPr id="12" name="Förutsättningar: Principfråga om isolationsövervakningsdon. Ingen">
            <a:extLst xmlns:a="http://schemas.openxmlformats.org/drawingml/2006/main">
              <a:ext uri="{FF2B5EF4-FFF2-40B4-BE49-F238E27FC236}">
                <a16:creationId xmlns:a16="http://schemas.microsoft.com/office/drawing/2014/main" id="{A875EBD0-C032-485A-941A-258F0416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Principfråga om isolationsövervakningsdon. Ingen viss larmgräns anges.</a:t>
            </a:r>
          </a:p>
        </p:txBody>
      </p:sp>
      <p:sp>
        <p:nvSpPr>
          <p:cNvPr id="13" name="Arbetsgång: Ange vad donet övervakar och varför en försämring ska">
            <a:extLst xmlns:a="http://schemas.openxmlformats.org/drawingml/2006/main">
              <a:ext uri="{FF2B5EF4-FFF2-40B4-BE49-F238E27FC236}">
                <a16:creationId xmlns:a16="http://schemas.microsoft.com/office/drawing/2014/main" id="{8FD54FB6-5279-4903-A0B8-30D7DB6F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donet övervakar och varför en försämring ska uppmärksammas.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3324B7FF-03BB-47F8-B559-E054660F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505b245a0942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7E1A5CC-4F15-454E-B77E-EC36D08D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IT-princip">
            <a:extLst xmlns:a="http://schemas.openxmlformats.org/drawingml/2006/main">
              <a:ext uri="{FF2B5EF4-FFF2-40B4-BE49-F238E27FC236}">
                <a16:creationId xmlns:a16="http://schemas.microsoft.com/office/drawing/2014/main" id="{E2E1AB08-1B9E-46F0-BADA-E7D0F6F8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IT-princip</a:t>
            </a:r>
          </a:p>
        </p:txBody>
      </p:sp>
      <p:sp>
        <p:nvSpPr>
          <p:cNvPr id="4" name="Vad övervakar ett isolationsövervakningsdon i ett IT-system på pr">
            <a:extLst xmlns:a="http://schemas.openxmlformats.org/drawingml/2006/main">
              <a:ext uri="{FF2B5EF4-FFF2-40B4-BE49-F238E27FC236}">
                <a16:creationId xmlns:a16="http://schemas.microsoft.com/office/drawing/2014/main" id="{5136DE54-A272-4C2D-AA49-3427F256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övervakar ett isolationsövervakningsdon i ett IT-system på principiell nivå?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667E5BD-349C-4265-9B4B-E7BD8A68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9725580-6B48-4811-8BF3-3B9E6CA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b45bebc2544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1F0585AA-283A-4574-9EDD-5993DE4B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Första fel och andra fel har olika konsekvenser">
            <a:extLst xmlns:a="http://schemas.openxmlformats.org/drawingml/2006/main">
              <a:ext uri="{FF2B5EF4-FFF2-40B4-BE49-F238E27FC236}">
                <a16:creationId xmlns:a16="http://schemas.microsoft.com/office/drawing/2014/main" id="{1AF6F604-9EAB-468C-9188-2D286F4D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fel och andra fel har olika konsekvenser</a:t>
            </a:r>
          </a:p>
        </p:txBody>
      </p:sp>
      <p:sp>
        <p:nvSpPr>
          <p:cNvPr id="11" name="Första fel kan ge liten ström i ett korrekt utformat IT-system. E">
            <a:extLst xmlns:a="http://schemas.openxmlformats.org/drawingml/2006/main">
              <a:ext uri="{FF2B5EF4-FFF2-40B4-BE49-F238E27FC236}">
                <a16:creationId xmlns:a16="http://schemas.microsoft.com/office/drawing/2014/main" id="{EC9CF433-66CD-409E-9ADE-01C50DE5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Första fel kan ge liten ström i ett korrekt utformat IT-system. Ett andra fel på annan ledare kan bli allvarligt.</a:t>
            </a:r>
          </a:p>
        </p:txBody>
      </p:sp>
      <p:sp>
        <p:nvSpPr>
          <p:cNvPr id="12" name="Förutsättningar: Isolationslarm föreligger, men lasten fungerar. ">
            <a:extLst xmlns:a="http://schemas.openxmlformats.org/drawingml/2006/main">
              <a:ext uri="{FF2B5EF4-FFF2-40B4-BE49-F238E27FC236}">
                <a16:creationId xmlns:a16="http://schemas.microsoft.com/office/drawing/2014/main" id="{C547B411-0E79-4BC4-A9ED-5243A38E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Isolationslarm föreligger, men lasten fungerar. Fortsatt drift beror på systemets skydd och rutiner.</a:t>
            </a:r>
          </a:p>
        </p:txBody>
      </p:sp>
      <p:sp>
        <p:nvSpPr>
          <p:cNvPr id="13" name="Arbetsgång: Förklara varför fungerande last inte betyder felfri i">
            <a:extLst xmlns:a="http://schemas.openxmlformats.org/drawingml/2006/main">
              <a:ext uri="{FF2B5EF4-FFF2-40B4-BE49-F238E27FC236}">
                <a16:creationId xmlns:a16="http://schemas.microsoft.com/office/drawing/2014/main" id="{8960CB74-B4A8-4995-A931-9FE428F8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fungerande last inte betyder felfri isolation. Ange behov av felhantering.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32C8385C-EA7C-4DA9-862C-F4610B56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4de39bd0c4b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6EF8E2-A33A-48C4-8170-A675F57D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Larm utan stopp">
            <a:extLst xmlns:a="http://schemas.openxmlformats.org/drawingml/2006/main">
              <a:ext uri="{FF2B5EF4-FFF2-40B4-BE49-F238E27FC236}">
                <a16:creationId xmlns:a16="http://schemas.microsoft.com/office/drawing/2014/main" id="{B88D14C4-480D-43B9-AFA9-B74B0434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utan stopp</a:t>
            </a:r>
          </a:p>
        </p:txBody>
      </p:sp>
      <p:sp>
        <p:nvSpPr>
          <p:cNvPr id="4" name="Isolationslarmet går i ett IT-system men lasten fortsätter. Varfö">
            <a:extLst xmlns:a="http://schemas.openxmlformats.org/drawingml/2006/main">
              <a:ext uri="{FF2B5EF4-FFF2-40B4-BE49-F238E27FC236}">
                <a16:creationId xmlns:a16="http://schemas.microsoft.com/office/drawing/2014/main" id="{6D121F47-C453-4954-9B45-6184CD30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Isolationslarmet går i ett IT-system men lasten fortsätter. Varför är detta ingen grund för att ignorera larmet?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A747EF3-BF1A-42B7-8D8C-E8C909A5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56EC091E-C5E5-4E63-B069-C6D6AD46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a66a27f6041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92CB029-5BD9-481F-A3B9-6E91F97F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Transformatorer och systemgränser skiljer delnät">
            <a:extLst xmlns:a="http://schemas.openxmlformats.org/drawingml/2006/main">
              <a:ext uri="{FF2B5EF4-FFF2-40B4-BE49-F238E27FC236}">
                <a16:creationId xmlns:a16="http://schemas.microsoft.com/office/drawing/2014/main" id="{720FB712-C90D-46FD-B977-055D39EC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Transformatorer och systemgränser skiljer delnät</a:t>
            </a:r>
          </a:p>
        </p:txBody>
      </p:sp>
      <p:sp>
        <p:nvSpPr>
          <p:cNvPr id="11" name="Olika delnät kan ha olika relation till jord, olika skydd och oli">
            <a:extLst xmlns:a="http://schemas.openxmlformats.org/drawingml/2006/main">
              <a:ext uri="{FF2B5EF4-FFF2-40B4-BE49-F238E27FC236}">
                <a16:creationId xmlns:a16="http://schemas.microsoft.com/office/drawing/2014/main" id="{250A23D6-AA70-4E2E-B32D-DF53E8CE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delnät kan ha olika relation till jord, olika skydd och olika matningskällor.</a:t>
            </a:r>
          </a:p>
        </p:txBody>
      </p:sp>
      <p:sp>
        <p:nvSpPr>
          <p:cNvPr id="12" name="Förutsättningar: Fartyget har flera transformatorer och delnät. E">
            <a:extLst xmlns:a="http://schemas.openxmlformats.org/drawingml/2006/main">
              <a:ext uri="{FF2B5EF4-FFF2-40B4-BE49-F238E27FC236}">
                <a16:creationId xmlns:a16="http://schemas.microsoft.com/office/drawing/2014/main" id="{56008AF3-B71C-4C2E-9180-F0977713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Fartyget har flera transformatorer och delnät. Enlinjeschema saknas i frågan.</a:t>
            </a:r>
          </a:p>
        </p:txBody>
      </p:sp>
      <p:sp>
        <p:nvSpPr>
          <p:cNvPr id="13" name="Arbetsgång: Ange vilket underlag som behövs för att klassificera ">
            <a:extLst xmlns:a="http://schemas.openxmlformats.org/drawingml/2006/main">
              <a:ext uri="{FF2B5EF4-FFF2-40B4-BE49-F238E27FC236}">
                <a16:creationId xmlns:a16="http://schemas.microsoft.com/office/drawing/2014/main" id="{0260E971-2833-4CEE-8C33-146540FE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vilket underlag som behövs för att klassificera varje del. Undvik att anta ett system för hela fartyget.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B2010BAE-FB55-4F1D-9057-4C29F4F6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29e7c470049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F66CF717-36AA-45A7-8DC0-A17930FD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Fartygssystem">
            <a:extLst xmlns:a="http://schemas.openxmlformats.org/drawingml/2006/main">
              <a:ext uri="{FF2B5EF4-FFF2-40B4-BE49-F238E27FC236}">
                <a16:creationId xmlns:a16="http://schemas.microsoft.com/office/drawing/2014/main" id="{80C4F0AA-45A8-498E-A94F-58F28A1D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Fartygssystem</a:t>
            </a:r>
          </a:p>
        </p:txBody>
      </p:sp>
      <p:sp>
        <p:nvSpPr>
          <p:cNvPr id="4" name="Ett fartyg har flera transformatorer och delnät. Kan hela fartyge">
            <a:extLst xmlns:a="http://schemas.openxmlformats.org/drawingml/2006/main">
              <a:ext uri="{FF2B5EF4-FFF2-40B4-BE49-F238E27FC236}">
                <a16:creationId xmlns:a16="http://schemas.microsoft.com/office/drawing/2014/main" id="{F1B755FD-5E5C-45F3-873D-592FC42B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har flera transformatorer och delnät. Kan hela fartyget klassas som ett enda jordningssystem utan schema?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F62177-4D38-4B20-98F7-F565C753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6AF66DD-67B4-4622-B591-3FB0FC15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34348521e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3F29C2A-8FBF-4FDF-B5C1-5DCC99EE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IT-system och övervakning&#10;Första och andra felet&#10;Beräkning som st">
            <a:extLst xmlns:a="http://schemas.openxmlformats.org/drawingml/2006/main">
              <a:ext uri="{FF2B5EF4-FFF2-40B4-BE49-F238E27FC236}">
                <a16:creationId xmlns:a16="http://schemas.microsoft.com/office/drawing/2014/main" id="{A2735DBC-E1FD-48D9-8B5B-0953B307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1D7650A-6F67-4884-A821-2C11695E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3C8A97F0-6109-46A4-A04C-103A0D76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25551d58f4a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T-system och övervakning">
            <a:extLst xmlns:a="http://schemas.openxmlformats.org/drawingml/2006/main"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</p:txBody>
      </p:sp>
      <p:sp>
        <p:nvSpPr>
          <p:cNvPr id="3" name="Källan är isolerad från jord eller ansluten genom hög impedans.&#10;U">
            <a:extLst xmlns:a="http://schemas.openxmlformats.org/drawingml/2006/main"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är isolerad från jord eller ansluten genom hög impedans.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Utsatta delar har skyddsjordning eller motsvarande skyddsutjämning.</a:t>
            </a:r>
          </a:p>
        </p:txBody>
      </p:sp>
      <p:sp>
        <p:nvSpPr>
          <p:cNvPr id="4" name="Första isolationsfelet ska upptäckas och hanteras">
            <a:extLst xmlns:a="http://schemas.openxmlformats.org/drawingml/2006/main"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isolationsfelet ska upptäckas och hanteras</a:t>
            </a:r>
          </a:p>
        </p:txBody>
      </p:sp>
      <p:sp>
        <p:nvSpPr>
          <p:cNvPr id="5" name="Isolationsövervakningen ger information om försämrad isolation.&#10;F">
            <a:extLst xmlns:a="http://schemas.openxmlformats.org/drawingml/2006/main"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Isolationsövervakningen ger information om försämrad isolation.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Fortsatt drift är villkorad av systemets skydd och rutiner.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ombord: källan isolerad från s" descr="IT-system ombord: källan isolerad från skrovet, isolationsvakt mellan systemet och skrovet; första jordfelet ger liten ström och lar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03142481f4c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örsta och andra felet">
            <a:extLst xmlns:a="http://schemas.openxmlformats.org/drawingml/2006/main">
              <a:ext uri="{FF2B5EF4-FFF2-40B4-BE49-F238E27FC236}">
                <a16:creationId xmlns:a16="http://schemas.microsoft.com/office/drawing/2014/main" id="{0CFC47F9-BF82-45C3-B885-8FFD8996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</p:txBody>
      </p:sp>
      <p:sp>
        <p:nvSpPr>
          <p:cNvPr id="3" name="Ett första jordfel i ett korrekt utformat IT-system kan ge låg fe">
            <a:extLst xmlns:a="http://schemas.openxmlformats.org/drawingml/2006/main">
              <a:ext uri="{FF2B5EF4-FFF2-40B4-BE49-F238E27FC236}">
                <a16:creationId xmlns:a16="http://schemas.microsoft.com/office/drawing/2014/main" id="{9C269332-77BB-4AF9-A1C0-89A05452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första jordfel i ett korrekt utformat IT-system kan ge låg felström.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andra fel på annan aktiv ledare kan ge stor ström.</a:t>
            </a:r>
          </a:p>
        </p:txBody>
      </p:sp>
      <p:sp>
        <p:nvSpPr>
          <p:cNvPr id="4" name="Driftkontinuitet kräver snabb felhantering">
            <a:extLst xmlns:a="http://schemas.openxmlformats.org/drawingml/2006/main">
              <a:ext uri="{FF2B5EF4-FFF2-40B4-BE49-F238E27FC236}">
                <a16:creationId xmlns:a16="http://schemas.microsoft.com/office/drawing/2014/main" id="{C679F965-1C1F-41B1-9A9A-63EB87F3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Driftkontinuitet kräver snabb felhantering</a:t>
            </a:r>
          </a:p>
        </p:txBody>
      </p:sp>
      <p:sp>
        <p:nvSpPr>
          <p:cNvPr id="5" name="Ett larm får inte ignoreras bara för att lasten fortfarande går.&#10;">
            <a:extLst xmlns:a="http://schemas.openxmlformats.org/drawingml/2006/main">
              <a:ext uri="{FF2B5EF4-FFF2-40B4-BE49-F238E27FC236}">
                <a16:creationId xmlns:a16="http://schemas.microsoft.com/office/drawing/2014/main" id="{24B5AFFC-31A3-4526-897F-C64E6C42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får inte ignoreras bara för att lasten fortfarande går.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första fel försämrar marginalen inför nästa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F5E8DE8-71D2-48E6-A0EE-03745118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med ett andra jordfel på en an" descr="IT-system med ett andra jordfel på en annan fas: kortslutning mellan L1 och L2 via skro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499dec2e842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äkning som stöd">
            <a:extLst xmlns:a="http://schemas.openxmlformats.org/drawingml/2006/main">
              <a:ext uri="{FF2B5EF4-FFF2-40B4-BE49-F238E27FC236}">
                <a16:creationId xmlns:a16="http://schemas.microsoft.com/office/drawing/2014/main" id="{B3C3F5E6-A4E7-4CE5-B623-75927A42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3" name="För en enkel DC-slinga gäller ΔU = IR.&#10;En förenklad felströmsmode">
            <a:extLst xmlns:a="http://schemas.openxmlformats.org/drawingml/2006/main">
              <a:ext uri="{FF2B5EF4-FFF2-40B4-BE49-F238E27FC236}">
                <a16:creationId xmlns:a16="http://schemas.microsoft.com/office/drawing/2014/main" id="{6E99042F-5037-48E3-AF1F-5723CF50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enkel DC-slinga gäller ΔU = IR.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felströmsmodell använder hela slingimpedansen.</a:t>
            </a:r>
          </a:p>
        </p:txBody>
      </p:sp>
      <p:sp>
        <p:nvSpPr>
          <p:cNvPr id="4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D9B9557F-2CC2-4D47-9BFE-BC895336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" name="230 V och Zs = 0,46 Ω ger cirka 500 A.&#10;Verklig dimensionering krä">
            <a:extLst xmlns:a="http://schemas.openxmlformats.org/drawingml/2006/main">
              <a:ext uri="{FF2B5EF4-FFF2-40B4-BE49-F238E27FC236}">
                <a16:creationId xmlns:a16="http://schemas.microsoft.com/office/drawing/2014/main" id="{6E53ADE1-2AD7-4C6D-A0B7-369F8B4C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230 V och 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0,32 Ω ger cirka 720 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dimensionering kräver skyddsdata och fler villkor.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32C34DC-9900-4944-9341-E7219CC2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3225eb2874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elström och impedans">
            <a:extLst xmlns:a="http://schemas.openxmlformats.org/drawingml/2006/main">
              <a:ext uri="{FF2B5EF4-FFF2-40B4-BE49-F238E27FC236}">
                <a16:creationId xmlns:a16="http://schemas.microsoft.com/office/drawing/2014/main" id="{9C2C2AA4-93F2-4B9F-961F-AB8549B7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felström och impedans</a:t>
            </a:r>
          </a:p>
        </p:txBody>
      </p:sp>
      <p:sp>
        <p:nvSpPr>
          <p:cNvPr id="10" name="En förenklad felströmsslinga har U₀ = 230 V och Zs = 0,575 Ω.">
            <a:extLst xmlns:a="http://schemas.openxmlformats.org/drawingml/2006/main">
              <a:ext uri="{FF2B5EF4-FFF2-40B4-BE49-F238E27FC236}">
                <a16:creationId xmlns:a16="http://schemas.microsoft.com/office/drawing/2014/main" id="{405EA40D-551D-4B02-A03A-785324AE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felströmsslinga har U₀ = 230 V och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0,575 Ω.</a:t>
            </a:r>
          </a:p>
        </p:txBody>
      </p:sp>
      <p:sp>
        <p:nvSpPr>
          <p:cNvPr id="11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BDFAFC85-4E3C-45E6-906A-CF1D51E1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2" name="1. Iₖ ≈ 230/0,575 = 400 A.&#10;2. Om Zs fördubblas till 1,15 Ω blir I">
            <a:extLst xmlns:a="http://schemas.openxmlformats.org/drawingml/2006/main">
              <a:ext uri="{FF2B5EF4-FFF2-40B4-BE49-F238E27FC236}">
                <a16:creationId xmlns:a16="http://schemas.microsoft.com/office/drawing/2014/main" id="{F3305B63-8B55-4DC0-AD1E-51B79CFE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Iₖ ≈ 230/0,575 = 400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Om 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fördubblas till 1,15 Ω blir Iₖ ≈ 230/1,15 = 200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Jämför båda strömmarna med aktuellt skydds utlösningskurva.</a:t>
            </a:r>
          </a:p>
        </p:txBody>
      </p:sp>
      <p:sp>
        <p:nvSpPr>
          <p:cNvPr id="13" name="Utlösningstid kan inte bestämmas utan skyddsdata. Modellen visar ">
            <a:extLst xmlns:a="http://schemas.openxmlformats.org/drawingml/2006/main">
              <a:ext uri="{FF2B5EF4-FFF2-40B4-BE49-F238E27FC236}">
                <a16:creationId xmlns:a16="http://schemas.microsoft.com/office/drawing/2014/main" id="{ED588332-9567-43E7-9FD7-4AF4E898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Utlösningstid kan inte bestämmas utan skyddsdata. Modellen visar hur högre 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5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minskar felströmmen.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55C1AD3-9710-4848-9CF7-EB5F634D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Felström som funktion av slingimpedans: " descr="Felström som funktion av slingimpedans: 0,575 ohm ger 400 A och 1,15 ohm ger 200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7d0ef7e7e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BC9DA63-F5CA-4F7A-AD83-BFD6EC5A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ΔU = I · Rslinga     Ulast = Ukälla − ΔU">
            <a:extLst xmlns:a="http://schemas.openxmlformats.org/drawingml/2006/main">
              <a:ext uri="{FF2B5EF4-FFF2-40B4-BE49-F238E27FC236}">
                <a16:creationId xmlns:a16="http://schemas.microsoft.com/office/drawing/2014/main" id="{1454C24D-A047-4A6E-BCC1-EA60B88A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ΔU</a:t>
            </a:r>
          </a:p>
        </p:txBody>
      </p:sp>
      <p:sp>
        <p:nvSpPr>
          <p:cNvPr id="11" name="Rslinga omfattar både fram- och returväg. U och ΔU anges i V, I i">
            <a:extLst xmlns:a="http://schemas.openxmlformats.org/drawingml/2006/main">
              <a:ext uri="{FF2B5EF4-FFF2-40B4-BE49-F238E27FC236}">
                <a16:creationId xmlns:a16="http://schemas.microsoft.com/office/drawing/2014/main" id="{3D0B2632-EE3A-4095-B00D-55DD2C84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omfattar både fram- och returväg. U och ΔU anges i V, I i A och R i Ω.</a:t>
            </a:r>
          </a:p>
        </p:txBody>
      </p:sp>
      <p:sp>
        <p:nvSpPr>
          <p:cNvPr id="12" name="Förutsättningar: Konstant DC: Ukälla = 24 V, I = 6 A, Rslinga = 0">
            <a:extLst xmlns:a="http://schemas.openxmlformats.org/drawingml/2006/main">
              <a:ext uri="{FF2B5EF4-FFF2-40B4-BE49-F238E27FC236}">
                <a16:creationId xmlns:a16="http://schemas.microsoft.com/office/drawing/2014/main" id="{B0AA3E7F-4EB2-40EE-A591-8040B2FB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Konstant DC: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 = 6 A,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0,15 Ω.</a:t>
            </a:r>
          </a:p>
        </p:txBody>
      </p:sp>
      <p:sp>
        <p:nvSpPr>
          <p:cNvPr id="13" name="Arbetsgång: Beräkna fallet i slingan och subtrahera det från käll">
            <a:extLst xmlns:a="http://schemas.openxmlformats.org/drawingml/2006/main">
              <a:ext uri="{FF2B5EF4-FFF2-40B4-BE49-F238E27FC236}">
                <a16:creationId xmlns:a16="http://schemas.microsoft.com/office/drawing/2014/main" id="{2AA1F7B6-AE66-4D46-9FB0-358CFC2D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fallet i slingan och subtrahera det från källspänningen.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E2599A5-188F-4E0C-AC2E-7904AF72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80793400346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05231F9A-A059-46DE-87CD-95EDE7E0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DC-fördelning">
            <a:extLst xmlns:a="http://schemas.openxmlformats.org/drawingml/2006/main">
              <a:ext uri="{FF2B5EF4-FFF2-40B4-BE49-F238E27FC236}">
                <a16:creationId xmlns:a16="http://schemas.microsoft.com/office/drawing/2014/main" id="{7C94AD93-828C-459C-B21A-B171D257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DC-fördelning</a:t>
            </a:r>
          </a:p>
        </p:txBody>
      </p:sp>
      <p:sp>
        <p:nvSpPr>
          <p:cNvPr id="4" name="En 24 V-last tar 6 A. Slingresistansen i matningen är 0,15 Ω. Ber">
            <a:extLst xmlns:a="http://schemas.openxmlformats.org/drawingml/2006/main">
              <a:ext uri="{FF2B5EF4-FFF2-40B4-BE49-F238E27FC236}">
                <a16:creationId xmlns:a16="http://schemas.microsoft.com/office/drawing/2014/main" id="{FBA6D4C9-0B44-416E-BC9E-4649314E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 V-last tar 6 A. Slingresistansen i matningen är 0,15 Ω. Beräkna spänningsfallet och lastspänningen.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4701A4A-CF5B-4322-923D-EAEE9421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F4E6348-7F07-4CB9-9C66-A11C4E0B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matning till en last som tar 6 A vi" descr="24 V-matning till en last som tar 6 A via ledningar med slingresistansen 0,15 ohm; spänningsfall och lastspänning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40f6d4f1854b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971724C-840C-4350-AB65-38937CBD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722E0769-0224-4868-BBB4-DD98722A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1" name="Iₖ är beräknad felström, U₀ drivande spänning och Zs hela felströ">
            <a:extLst xmlns:a="http://schemas.openxmlformats.org/drawingml/2006/main">
              <a:ext uri="{FF2B5EF4-FFF2-40B4-BE49-F238E27FC236}">
                <a16:creationId xmlns:a16="http://schemas.microsoft.com/office/drawing/2014/main" id="{DC052884-9C84-4949-AEAD-6E5E2BC7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Iₖ är beräknad felström, U₀ drivande spänning och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hela felströmsslingans impedansbelopp.</a:t>
            </a:r>
          </a:p>
        </p:txBody>
      </p:sp>
      <p:sp>
        <p:nvSpPr>
          <p:cNvPr id="12" name="Förutsättningar: Förenklad modell: U₀ = 230 V och Zs = 0,46 Ω.">
            <a:extLst xmlns:a="http://schemas.openxmlformats.org/drawingml/2006/main">
              <a:ext uri="{FF2B5EF4-FFF2-40B4-BE49-F238E27FC236}">
                <a16:creationId xmlns:a16="http://schemas.microsoft.com/office/drawing/2014/main" id="{273A3035-5FC5-4C1B-8A0B-06C0E4FC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modell: U₀ = 230 V och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0,46 Ω.</a:t>
            </a:r>
          </a:p>
        </p:txBody>
      </p:sp>
      <p:sp>
        <p:nvSpPr>
          <p:cNvPr id="13" name="Arbetsgång: Dividera spänningen med hela slingimpedansen. Resulta">
            <a:extLst xmlns:a="http://schemas.openxmlformats.org/drawingml/2006/main">
              <a:ext uri="{FF2B5EF4-FFF2-40B4-BE49-F238E27FC236}">
                <a16:creationId xmlns:a16="http://schemas.microsoft.com/office/drawing/2014/main" id="{4726AFF4-0421-4D24-9646-5A5069C6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spänningen med hela slingimpedansen. Resultatet räcker inte ensamt för skyddsdimensionering.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E073FC2-9173-4516-99CE-5246F188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b840de27749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72285B9-AB1D-4704-BABB-E9716B7E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Förenklad kortslutningsström">
            <a:extLst xmlns:a="http://schemas.openxmlformats.org/drawingml/2006/main">
              <a:ext uri="{FF2B5EF4-FFF2-40B4-BE49-F238E27FC236}">
                <a16:creationId xmlns:a16="http://schemas.microsoft.com/office/drawing/2014/main" id="{0F5BC77C-994B-4E89-B691-8D589EE6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Förenklad kortslutningsström</a:t>
            </a:r>
          </a:p>
        </p:txBody>
      </p:sp>
      <p:sp>
        <p:nvSpPr>
          <p:cNvPr id="4" name="I en beräkningsmodell är U₀ = 230 V och Zs = 0,46 Ω. Beräkna Iₖ.">
            <a:extLst xmlns:a="http://schemas.openxmlformats.org/drawingml/2006/main">
              <a:ext uri="{FF2B5EF4-FFF2-40B4-BE49-F238E27FC236}">
                <a16:creationId xmlns:a16="http://schemas.microsoft.com/office/drawing/2014/main" id="{42E9AAE5-86D2-49FB-AE85-8CC55849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beräkningsmodell är U₀ = 230 V och 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0,46 Ω. Beräkna Iₖ.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146570-50E1-4236-BBEB-8471DAE6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0DBFC5B0-F1E5-4A61-A0EF-83EB1AFB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örenklad felströmsslinga med U0 = 230 V" descr="Förenklad felströmsslinga med U0 = 230 V och Zs = 0,46 ohm; fe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fa4c1bab9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CA7CA5BE-41DB-44BD-AC25-2E7F26B8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₁ = U₀/Zs₁     I₂ = U₀/Zs₂">
            <a:extLst xmlns:a="http://schemas.openxmlformats.org/drawingml/2006/main">
              <a:ext uri="{FF2B5EF4-FFF2-40B4-BE49-F238E27FC236}">
                <a16:creationId xmlns:a16="http://schemas.microsoft.com/office/drawing/2014/main" id="{3C306A24-7FFA-48AF-9C5A-7221DCC4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U₀/Zs₁     I₂ = U₀/Zs₂</a:t>
            </a:r>
          </a:p>
        </p:txBody>
      </p:sp>
      <p:sp>
        <p:nvSpPr>
          <p:cNvPr id="11" name="Index 1 och 2 betecknar två fall. Vid samma U₀ är strömmen omvänt">
            <a:extLst xmlns:a="http://schemas.openxmlformats.org/drawingml/2006/main">
              <a:ext uri="{FF2B5EF4-FFF2-40B4-BE49-F238E27FC236}">
                <a16:creationId xmlns:a16="http://schemas.microsoft.com/office/drawing/2014/main" id="{CF70891A-F288-4FF4-BB01-49D973AD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Index 1 och 2 betecknar två fall. Vid samma U₀ är strömmen omvänt proportionell mot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Förutsättningar: U₀ = 230 V. Impedansen ökar från 0,46 till 0,92 ">
            <a:extLst xmlns:a="http://schemas.openxmlformats.org/drawingml/2006/main">
              <a:ext uri="{FF2B5EF4-FFF2-40B4-BE49-F238E27FC236}">
                <a16:creationId xmlns:a16="http://schemas.microsoft.com/office/drawing/2014/main" id="{6D645868-5FC5-4A27-88E8-7586ED17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U₀ = 230 V. Impedansen ökar från 0,46 till 0,92 Ω.</a:t>
            </a:r>
          </a:p>
        </p:txBody>
      </p:sp>
      <p:sp>
        <p:nvSpPr>
          <p:cNvPr id="13" name="Arbetsgång: Räkna båda strömmarna eller jämför impedanskvoten. An">
            <a:extLst xmlns:a="http://schemas.openxmlformats.org/drawingml/2006/main">
              <a:ext uri="{FF2B5EF4-FFF2-40B4-BE49-F238E27FC236}">
                <a16:creationId xmlns:a16="http://schemas.microsoft.com/office/drawing/2014/main" id="{20DAE299-9EEE-43BA-85BA-6961BCA6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båda strömmarna eller jämför impedanskvoten. Ange ändring och nytt belopp.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1298FB30-5A4D-41D2-B34C-8E1AF063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a57e7aece47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E570A6-944A-4295-9AFE-E7BBCFEA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Ändrad slingimpedans">
            <a:extLst xmlns:a="http://schemas.openxmlformats.org/drawingml/2006/main">
              <a:ext uri="{FF2B5EF4-FFF2-40B4-BE49-F238E27FC236}">
                <a16:creationId xmlns:a16="http://schemas.microsoft.com/office/drawing/2014/main" id="{88F841AB-B9CC-4958-A2CB-ED20CA3F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slingimpedans</a:t>
            </a:r>
          </a:p>
        </p:txBody>
      </p:sp>
      <p:sp>
        <p:nvSpPr>
          <p:cNvPr id="4" name="Zs ökar från 0,46 till 0,92 Ω vid oförändrade 230 V. Hur ändras f">
            <a:extLst xmlns:a="http://schemas.openxmlformats.org/drawingml/2006/main">
              <a:ext uri="{FF2B5EF4-FFF2-40B4-BE49-F238E27FC236}">
                <a16:creationId xmlns:a16="http://schemas.microsoft.com/office/drawing/2014/main" id="{AB17A55C-8A60-4051-A593-DB9891B3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ökar från 0,46 till 0,92 Ω vid oförändrade 230 V. Hur ändras felströmmen?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D001803-23E0-4C60-95FE-667CEA48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6F0E91D4-A7A8-4614-A97E-8707801A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828a2e53744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A3118CA-C687-4BC2-894B-65EBFB56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Skydd måste ge avsedd bortkoppling i varje driftfall">
            <a:extLst xmlns:a="http://schemas.openxmlformats.org/drawingml/2006/main">
              <a:ext uri="{FF2B5EF4-FFF2-40B4-BE49-F238E27FC236}">
                <a16:creationId xmlns:a16="http://schemas.microsoft.com/office/drawing/2014/main" id="{694645F8-3A04-40CC-89BA-418F98C2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måste ge avsedd bortkoppling i varje driftfall</a:t>
            </a:r>
          </a:p>
        </p:txBody>
      </p:sp>
      <p:sp>
        <p:nvSpPr>
          <p:cNvPr id="11" name="Ett överströmsskydds tid beror på strömmen och dess ström–tidsege">
            <a:extLst xmlns:a="http://schemas.openxmlformats.org/drawingml/2006/main">
              <a:ext uri="{FF2B5EF4-FFF2-40B4-BE49-F238E27FC236}">
                <a16:creationId xmlns:a16="http://schemas.microsoft.com/office/drawing/2014/main" id="{0F0C41F9-D8F1-41C7-8414-17CD610D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överströmsskydds tid beror på strömmen och dess ström–tidsegenskap.</a:t>
            </a:r>
          </a:p>
        </p:txBody>
      </p:sp>
      <p:sp>
        <p:nvSpPr>
          <p:cNvPr id="12" name="Förutsättningar: Möjlig felström är 1 000 A på nät och 200 A på r">
            <a:extLst xmlns:a="http://schemas.openxmlformats.org/drawingml/2006/main">
              <a:ext uri="{FF2B5EF4-FFF2-40B4-BE49-F238E27FC236}">
                <a16:creationId xmlns:a16="http://schemas.microsoft.com/office/drawing/2014/main" id="{2A8D28D6-6066-4402-990C-A5CD4CC6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felström är 1 000 A på nät och 200 A på reserv. Inga utlösningskurvor är givna.</a:t>
            </a:r>
          </a:p>
        </p:txBody>
      </p:sp>
      <p:sp>
        <p:nvSpPr>
          <p:cNvPr id="13" name="Arbetsgång: Ange vilken kontroll som måste göras i båda fallen. B">
            <a:extLst xmlns:a="http://schemas.openxmlformats.org/drawingml/2006/main">
              <a:ext uri="{FF2B5EF4-FFF2-40B4-BE49-F238E27FC236}">
                <a16:creationId xmlns:a16="http://schemas.microsoft.com/office/drawing/2014/main" id="{D70E7C74-7063-430A-8310-E3354B55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vilken kontroll som måste göras i båda fallen. Bestäm ingen exakt utlösningstid utan skyddsdata.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ACFB6CCD-7412-4C7F-9EB0-497FA4EB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232b26af34c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EAB795A-F06F-4C72-B19F-DE7C9B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Reservkraft">
            <a:extLst xmlns:a="http://schemas.openxmlformats.org/drawingml/2006/main">
              <a:ext uri="{FF2B5EF4-FFF2-40B4-BE49-F238E27FC236}">
                <a16:creationId xmlns:a16="http://schemas.microsoft.com/office/drawing/2014/main" id="{E47160B8-6D5D-4A9D-A395-E0818B1C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Reservkraft</a:t>
            </a:r>
          </a:p>
        </p:txBody>
      </p:sp>
      <p:sp>
        <p:nvSpPr>
          <p:cNvPr id="4" name="Vid nätmatning är möjlig felström 1 000 A, vid reservdrift 200 A.">
            <a:extLst xmlns:a="http://schemas.openxmlformats.org/drawingml/2006/main">
              <a:ext uri="{FF2B5EF4-FFF2-40B4-BE49-F238E27FC236}">
                <a16:creationId xmlns:a16="http://schemas.microsoft.com/office/drawing/2014/main" id="{F70AA598-4B32-479B-95BB-2B89D219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nätmatning är möjlig felström 1 000 A, vid reservdrift 200 A. Vad behöver kontrolleras i skyddsplaneringen?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0C7FA03-3AC2-4100-B952-D3D8160C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1C721297-255A-4C31-A62C-F3A89459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8d2d51a051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974ADA18-7BBA-4200-92AB-1FCF9E7F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Nödlastens behov styr frågor om matningsoberoende">
            <a:extLst xmlns:a="http://schemas.openxmlformats.org/drawingml/2006/main">
              <a:ext uri="{FF2B5EF4-FFF2-40B4-BE49-F238E27FC236}">
                <a16:creationId xmlns:a16="http://schemas.microsoft.com/office/drawing/2014/main" id="{CED20B64-F664-4E59-97E4-C4DD5D13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Nödlastens behov styr frågor om matningsoberoende</a:t>
            </a:r>
          </a:p>
        </p:txBody>
      </p:sp>
      <p:sp>
        <p:nvSpPr>
          <p:cNvPr id="11" name="Samma fel eller bortfall får inte bedömas utan att veta vilka fun">
            <a:extLst xmlns:a="http://schemas.openxmlformats.org/drawingml/2006/main">
              <a:ext uri="{FF2B5EF4-FFF2-40B4-BE49-F238E27FC236}">
                <a16:creationId xmlns:a16="http://schemas.microsoft.com/office/drawing/2014/main" id="{90E362E2-6FCC-4BC7-BA41-2C1B920F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fel eller bortfall får inte bedömas utan att veta vilka funktioner som måste kunna fortsätta.</a:t>
            </a:r>
          </a:p>
        </p:txBody>
      </p:sp>
      <p:sp>
        <p:nvSpPr>
          <p:cNvPr id="12" name="Förutsättningar: Ordinarie utrustning och nödutrustning delar en ">
            <a:extLst xmlns:a="http://schemas.openxmlformats.org/drawingml/2006/main">
              <a:ext uri="{FF2B5EF4-FFF2-40B4-BE49-F238E27FC236}">
                <a16:creationId xmlns:a16="http://schemas.microsoft.com/office/drawing/2014/main" id="{7B7FB0AD-AD3C-4D19-AE82-58DC3AA8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Ordinarie utrustning och nödutrustning delar en fördelning. Fartygsdata och tillämpliga krav saknas.</a:t>
            </a:r>
          </a:p>
        </p:txBody>
      </p:sp>
      <p:sp>
        <p:nvSpPr>
          <p:cNvPr id="13" name="Arbetsgång: Identifiera behövda nödlasters funktion, reservmatnin">
            <a:extLst xmlns:a="http://schemas.openxmlformats.org/drawingml/2006/main">
              <a:ext uri="{FF2B5EF4-FFF2-40B4-BE49-F238E27FC236}">
                <a16:creationId xmlns:a16="http://schemas.microsoft.com/office/drawing/2014/main" id="{D502D328-D2AE-4BEA-AC9B-3F62BDCE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behövda nödlasters funktion, reservmatning och möjliga gemensamma felpunkter.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A158EC7-E6AC-49A9-A61E-2E7ABB8C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c55528662143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7FECC215-7014-4D88-BC51-87A6757C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Nödmatning">
            <a:extLst xmlns:a="http://schemas.openxmlformats.org/drawingml/2006/main">
              <a:ext uri="{FF2B5EF4-FFF2-40B4-BE49-F238E27FC236}">
                <a16:creationId xmlns:a16="http://schemas.microsoft.com/office/drawing/2014/main" id="{6FA4D705-2033-416E-A9C8-96849D72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Nödmatning</a:t>
            </a:r>
          </a:p>
        </p:txBody>
      </p:sp>
      <p:sp>
        <p:nvSpPr>
          <p:cNvPr id="4" name="En enda fördelning matar både ordinarie utrustning och nödutrustn">
            <a:extLst xmlns:a="http://schemas.openxmlformats.org/drawingml/2006/main">
              <a:ext uri="{FF2B5EF4-FFF2-40B4-BE49-F238E27FC236}">
                <a16:creationId xmlns:a16="http://schemas.microsoft.com/office/drawing/2014/main" id="{12A16C02-7547-41A3-9634-7E7BE5BF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enda fördelning matar både ordinarie utrustning och nödutrustning. Vilken dokumentationsfråga är viktig innan systemet bedöms?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64C0F1-41E5-43F3-8F92-B6448681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854DA0D-3393-4B11-8EE3-4F9D466A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c418783f4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2B175B9-2C28-4BAA-B992-3694430B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nytt fel kan göra ett kvarstående första isolationsfel bet">
            <a:extLst xmlns:a="http://schemas.openxmlformats.org/drawingml/2006/main">
              <a:ext uri="{FF2B5EF4-FFF2-40B4-BE49-F238E27FC236}">
                <a16:creationId xmlns:a16="http://schemas.microsoft.com/office/drawing/2014/main" id="{3E62ADDF-DACC-443B-A62D-01006DF8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nytt fel kan göra ett kvarstående första isolationsfel betydligt farligare?</a:t>
            </a:r>
          </a:p>
        </p:txBody>
      </p:sp>
      <p:sp>
        <p:nvSpPr>
          <p:cNvPr id="4" name="Spara systemskiss och beräkningar till v44-inlämningen. Markera v">
            <a:extLst xmlns:a="http://schemas.openxmlformats.org/drawingml/2006/main">
              <a:ext uri="{FF2B5EF4-FFF2-40B4-BE49-F238E27FC236}">
                <a16:creationId xmlns:a16="http://schemas.microsoft.com/office/drawing/2014/main" id="{78EB9395-7BEA-4F03-8432-83AF306E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systemskiss och beräkningar till v44-inlämningen. Markera vad som är beräkningsmodell och vilka skyddsdata som saknas.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80E2F7A-7B06-4F24-9244-2B3DA084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8a458df3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8C001EF-6544-4000-A1F8-2308CBDA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AE7D96BB-24BC-471E-890B-6A1B4A24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TN, TT och IT">
            <a:extLst xmlns:a="http://schemas.openxmlformats.org/drawingml/2006/main">
              <a:ext uri="{FF2B5EF4-FFF2-40B4-BE49-F238E27FC236}">
                <a16:creationId xmlns:a16="http://schemas.microsoft.com/office/drawing/2014/main" id="{A094E522-9017-437C-BEC7-7A50BC6D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b87b7cc612e4c1f"/>
              </a:rPr>
              <a:t>Schneider Electric: TN, TT och IT</a:t>
            </a:r>
          </a:p>
        </p:txBody>
      </p:sp>
      <p:sp>
        <p:nvSpPr>
          <p:cNvPr id="5" name="Schneider Electric: IT-systemets princip">
            <a:extLst xmlns:a="http://schemas.openxmlformats.org/drawingml/2006/main">
              <a:ext uri="{FF2B5EF4-FFF2-40B4-BE49-F238E27FC236}">
                <a16:creationId xmlns:a16="http://schemas.microsoft.com/office/drawing/2014/main" id="{CDBD007A-D771-44B2-954B-ED347E8D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8e3217e45a54fe0"/>
              </a:rPr>
              <a:t>Schneider Electric: IT-systemets princip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05500486-4404-4A2D-A933-D2377125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e3a53b9408143ff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33D3BE5-D6DA-4440-ADD9-BA96C9DF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2026-09-20T20:10:13.3120000Z</dcterms:created>
  <dcterms:modified xsi:type="dcterms:W3CDTF">2026-09-20T20:10:13.3120000Z</dcterms:modified>
</coreProperties>
</file>