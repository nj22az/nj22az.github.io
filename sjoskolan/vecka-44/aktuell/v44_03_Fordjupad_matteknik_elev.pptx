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7c34ddacd4546b1" Type="http://schemas.openxmlformats.org/officeDocument/2006/relationships/officeDocument" Target="ppt/presentation.xml"/><Relationship Id="R861db07599aa41dd" Type="http://schemas.openxmlformats.org/officeDocument/2006/relationships/extended-properties" Target="docProps/app.xml"/><Relationship Id="Rd8cf384cba124e9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a38d8fb4f6ec40e4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ed11355ea2543db" Type="http://schemas.openxmlformats.org/officeDocument/2006/relationships/theme" Target="theme/theme1.xml"/><Relationship Id="R4a30431852bc4203" Type="http://schemas.openxmlformats.org/officeDocument/2006/relationships/presProps" Target="presProps.xml"/><Relationship Id="R59b04d653c184694" Type="http://schemas.openxmlformats.org/officeDocument/2006/relationships/tableStyles" Target="tableStyles.xml"/><Relationship Id="Ra38d8fb4f6ec40e4" Type="http://schemas.openxmlformats.org/officeDocument/2006/relationships/slideMaster" Target="slideMasters/slideMaster1.xml"/><Relationship Id="Rba35c611fa944afe" Type="http://schemas.openxmlformats.org/officeDocument/2006/relationships/viewProps" Target="viewProp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e9bbca99fd0e4bf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bed5ff74e9b430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d90e2e815ac47c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599dc8b372340a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7876e5b8ebd495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9291271a5e94ac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c894096355d480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8fa3bb3d3b84b8b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8b9ffc4a04cc45db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db49676138543fe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fd61dd6cc9ae4a5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71AF29-9BF1-473B-AFA6-17086F16A4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8C47869-AB2E-4353-993A-C5F3CBCD7A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4BDD63-2879-4553-A7D4-C8B90F669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7559E2-D642-40B2-A622-29E6C6C09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BCBF1D-E8D4-4C02-B339-40A7E12B7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22FDD0-541F-4732-A589-6E09DA58B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9FD4EB-ED93-4F84-9A20-8F3AF861C5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7B3B2F-39C7-4AB3-B336-4AA52F5371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14936C-5A60-4749-9BA4-077B860C9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221E00-8DF1-4F1B-832D-71DC043B5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2DB1BD-E287-4420-8511-29126B061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B11597-97EC-49B5-A400-7D26520A3C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742E12-71EE-4A0A-A25A-482AF08CB5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99B004-C36A-4FB2-9F9D-CE473319A9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7C9783-743E-4094-A2AE-9E44E3D473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C4FC59-7B72-4123-8378-0EA508843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7F9AEE-67E4-463F-959F-E9E3A1B888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354C6D0-6530-44C0-8216-34BD311A97A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428CFC9-6708-459E-B81E-1E9C142577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003C71-1529-40B2-8C48-8F715F571D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643222D-12A8-4E31-8062-7D5BCCBAB7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7D2405-3A74-4011-A349-9548796B9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8F98B1-4335-49A0-A5DC-F7821F48D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11721C-4555-47B9-A29D-0F448969C4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2D7DE53-B347-45DD-AFFA-3E8BE03250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F97C298-A28D-4A26-BDCA-B098B846E5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9775CF6-BCDA-455B-8823-96F499D329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36C5186-AD15-4D60-94C6-61F1173F25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9823F44-4193-4A09-BFAF-ED3CD7668F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F9FE2D-754C-44B3-B95C-26D7D5C75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BD55E16-C4C4-4E3D-A0B4-2831B64AB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8325CBA-1C76-41B1-899E-BE2E85DBB7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41280AB-E4E6-40DF-AAAA-D319DDAE7A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AB46744-49A1-4DBC-9FD7-6DAC1E5B0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8BE22B4-F4D3-45EC-8704-71421CA0A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07804CA-1F56-49BC-A4BE-414873B51D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C616F8-21C9-44E4-AE61-31E60C006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3E4261-CE3E-4ACE-850C-97041401DE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EF0A03-62CA-44B8-B680-52B1168AC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26F306-817F-41C5-8A16-96C7343CE1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2F4B232-2E06-41D6-B343-B9F3343442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5369E5-14C4-43E7-8C70-94F9D8946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D77C1B-88A0-480F-A3F3-2C46ED54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0DD105B-4990-483D-9F9F-A9235A346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207939-C386-457A-BB29-427E4DC69A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3222363-8D26-4BF7-AEF5-9A8D193537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AD7074-23A8-4F9E-B387-FF125010E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74EEA3-8E26-4876-9CCC-AEB28DB19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1926D-3764-4E58-9CFE-1C39C0C59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EA9798-D720-420B-B587-FB2D341F8B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280F96-07A9-471D-BB10-6FD8F834C8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65504D-A0FC-4E9E-8009-F569A5C984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1D87B-E274-4EF8-9A16-0DB1EAB639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4ED1D95-F8F3-4745-B8E4-98B6A31BF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93952F-F53B-42A5-B3B5-39F8406C72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05298D-E759-46A6-B3C3-B7B73450F0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DC9778-2E8A-4C7F-84B7-05E3D6E237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066A76-6749-4154-81E1-8128725557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62cd79811f54438" Type="http://schemas.openxmlformats.org/officeDocument/2006/relationships/slideLayout" Target="../slideLayouts/slideLayout10.xml"/><Relationship Id="R170b8970d5204efa" Type="http://schemas.openxmlformats.org/officeDocument/2006/relationships/slideLayout" Target="../slideLayouts/slideLayout9.xml"/><Relationship Id="R7099d2b2aa324873" Type="http://schemas.openxmlformats.org/officeDocument/2006/relationships/theme" Target="theme/theme2.xml"/><Relationship Id="R7be85162f4ec45ce" Type="http://schemas.openxmlformats.org/officeDocument/2006/relationships/slideLayout" Target="../slideLayouts/slideLayout8.xml"/><Relationship Id="R82b356f2f0c249f8" Type="http://schemas.openxmlformats.org/officeDocument/2006/relationships/slideLayout" Target="../slideLayouts/slideLayout4.xml"/><Relationship Id="R83d3169839ae4a0d" Type="http://schemas.openxmlformats.org/officeDocument/2006/relationships/slideLayout" Target="../slideLayouts/slideLayout7.xml"/><Relationship Id="Ra1c6ad5e34ce4900" Type="http://schemas.openxmlformats.org/officeDocument/2006/relationships/slideLayout" Target="../slideLayouts/slideLayout5.xml"/><Relationship Id="Rb613688b8cb2457e" Type="http://schemas.openxmlformats.org/officeDocument/2006/relationships/slideLayout" Target="../slideLayouts/slideLayout1.xml"/><Relationship Id="Rc5987082cc9f429b" Type="http://schemas.openxmlformats.org/officeDocument/2006/relationships/slideLayout" Target="../slideLayouts/slideLayout2.xml"/><Relationship Id="Re60a86bc3ab141e2" Type="http://schemas.openxmlformats.org/officeDocument/2006/relationships/slideLayout" Target="../slideLayouts/slideLayout3.xml"/><Relationship Id="Rf39fc677f541417c" Type="http://schemas.openxmlformats.org/officeDocument/2006/relationships/slideLayout" Target="../slideLayouts/slideLayout11.xml"/><Relationship Id="Rf7c405d8b6a04f8d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772F057-7340-4065-8845-BB8E9AD55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DE1F7C-60E1-400E-B38F-52BF24F21A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15F1D9-83F8-4DB0-BD2B-BDD3E15813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5894D5-5CF7-4EDE-B022-CF2BDFF8D0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0839A-B350-41EB-9FE9-191EB435D5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3688b8cb2457e"/>
    <p:sldLayoutId xmlns:r="http://schemas.openxmlformats.org/officeDocument/2006/relationships" id="2147483650" r:id="Rc5987082cc9f429b"/>
    <p:sldLayoutId xmlns:r="http://schemas.openxmlformats.org/officeDocument/2006/relationships" id="2147483651" r:id="Re60a86bc3ab141e2"/>
    <p:sldLayoutId xmlns:r="http://schemas.openxmlformats.org/officeDocument/2006/relationships" id="2147483652" r:id="R82b356f2f0c249f8"/>
    <p:sldLayoutId xmlns:r="http://schemas.openxmlformats.org/officeDocument/2006/relationships" id="2147483653" r:id="Ra1c6ad5e34ce4900"/>
    <p:sldLayoutId xmlns:r="http://schemas.openxmlformats.org/officeDocument/2006/relationships" id="2147483654" r:id="Rf7c405d8b6a04f8d"/>
    <p:sldLayoutId xmlns:r="http://schemas.openxmlformats.org/officeDocument/2006/relationships" id="2147483655" r:id="R83d3169839ae4a0d"/>
    <p:sldLayoutId xmlns:r="http://schemas.openxmlformats.org/officeDocument/2006/relationships" id="2147483656" r:id="R7be85162f4ec45ce"/>
    <p:sldLayoutId xmlns:r="http://schemas.openxmlformats.org/officeDocument/2006/relationships" id="2147483657" r:id="R170b8970d5204efa"/>
    <p:sldLayoutId xmlns:r="http://schemas.openxmlformats.org/officeDocument/2006/relationships" id="2147483658" r:id="R162cd79811f54438"/>
    <p:sldLayoutId xmlns:r="http://schemas.openxmlformats.org/officeDocument/2006/relationships" id="2147483659" r:id="Rf39fc677f541417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j22az.github.io/sjoskolan/vecka-44/aktuell/Del_3.html" TargetMode="External"/><Relationship Id="rId3" Type="http://schemas.openxmlformats.org/officeDocument/2006/relationships/hyperlink" Target="https://www.fluke.com/en-us/learn/blog/clamps/using-accessory-current-clamps-with-fluke-dmms" TargetMode="External"/><Relationship Id="rId4" Type="http://schemas.openxmlformats.org/officeDocument/2006/relationships/hyperlink" Target="https://www.tek.com/en/documents/whitepaper/abcs-probes-primer" TargetMode="External"/><Relationship Id="rId5" Type="http://schemas.openxmlformats.org/officeDocument/2006/relationships/hyperlink" Target="https://www.megger.com/en-gb/et-online/november-2007/a-guide-to-earth-testing" TargetMode="External"/><Relationship Id="rId6" Type="http://schemas.openxmlformats.org/officeDocument/2006/relationships/hyperlink" Target="https://dam-assets.fluke.com.cn/s3fs-public/2100079_6003_ENG_D_W.PDF" TargetMode="External"/><Relationship Id="rId7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mslag_v44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9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gradFill rotWithShape="1">
            <a:gsLst>
              <a:gs pos="0">
                <a:srgbClr val="001427">
                  <a:alpha val="70000"/>
                </a:srgbClr>
              </a:gs>
              <a:gs pos="45000">
                <a:srgbClr val="001427">
                  <a:alpha val="55000"/>
                </a:srgbClr>
              </a:gs>
              <a:gs pos="75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Fördjupad mätteknik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66928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Strömtång, isolation, oscilloskop och osäkerhet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58521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Vecka 44 · Tisdag 27 oktober · 15.00–16.00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585216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Del 3 av 5 · Elteknik och ellära</a:t>
            </a:r>
          </a:p>
        </p:txBody>
      </p:sp>
      <p:sp>
        <p:nvSpPr>
          <p:cNvPr id="8" name="Dag: Tisdag 27 oktober"/>
          <p:cNvSpPr/>
          <p:nvPr/>
        </p:nvSpPr>
        <p:spPr>
          <a:xfrm>
            <a:off x="548640" y="411480"/>
            <a:ext cx="2944368" cy="438912"/>
          </a:xfrm>
          <a:prstGeom prst="roundRect">
            <a:avLst>
              <a:gd name="adj" fmla="val 18000"/>
            </a:avLst>
          </a:prstGeom>
          <a:solidFill>
            <a:srgbClr val="24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Tisdag 27 oktober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Kursplanen i 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453896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17320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kan mäta spänning, ström och resistans i likström, växelström och trefas.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7128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30552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arbetar elsäkert när du mäter, kontrollerar och letar fel.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843784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förstår vad dina mätvärden betyder och drar rätt slutsats.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94176"/>
            <a:ext cx="80467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Efter lektionen kan 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51376"/>
            <a:ext cx="8046720" cy="1746503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välja mätprincip för en definierad fråga.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mäta säkert med isolationsprovare och oscilloskop.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tolka mätdata tillsammans med instrumentets begränsningar.</a:t>
            </a:r>
          </a:p>
        </p:txBody>
      </p:sp>
      <p:pic>
        <p:nvPicPr>
          <p:cNvPr id="12" name="Picture 11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Startfråga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Varför kan en strömtång visa nästan noll runt en kabel där lasten drar 10 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74920"/>
            <a:ext cx="80467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064F91"/>
                </a:solidFill>
                <a:latin typeface="Calibri"/>
              </a:rPr>
              <a:t>Skriv en gissning i chatten, med ett ord om varför.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Så går lektionen till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15.00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417320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Start och startfråga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15.05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84248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1: Mätkedja, strömtång, isolation och jordtag (avsnitt 1–4) och ett exempel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51176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15.25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51176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 3.1–3.3 tillsammans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18104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15.40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118104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2: Oscilloskop, felgräns och kalibrering (avsnitt 5–7) och ett exempel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85032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15.55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685032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Avslutsfråga, sammanfattning och det här gör du nu</a:t>
            </a:r>
          </a:p>
        </p:txBody>
      </p:sp>
      <p:pic>
        <p:nvPicPr>
          <p:cNvPr id="14" name="Picture 13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Mätkedjan och enheterna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Varje led i mätkedjan påverkar vad visningen betyder.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givare kan omvandla ström till en liten spänning.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Känslighet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i mV/A talar om hur signalen räknas om.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Probfaktor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korrigerar visningen bara om instrumentet inte redan gör det.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Mätmetod, område och driftvillkor behövs för att tolka varje resultat.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  ·  Del 3 · avsnitt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Strömtångens mätprincip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300" b="1" i="0">
                <a:solidFill>
                  <a:srgbClr val="064F91"/>
                </a:solidFill>
                <a:latin typeface="Calibri"/>
              </a:rPr>
              <a:t>Fram- och returström kan ta ut varandra.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En strömtång känner det magnetfält som omslutna strömmar skapar.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För lastström omsluts normalt en ledare.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Differensström: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alla aktiva ledare genom tången, faserna och N om den finns, men inte PE.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Använd en läckströmstång för mA-området. Vid omriktare: true RMS, mät på nätsidan.</a:t>
            </a:r>
          </a:p>
        </p:txBody>
      </p:sp>
      <p:pic>
        <p:nvPicPr>
          <p:cNvPr id="5" name="Figur: Tre strömtänger. Runt en ledare visar tången lastströmmen, runt fram- och returledaren nästan noll och runt L1–L3 och N differensströmmen. Trefas utan N: bara L1–L3. PE hålls alltid utanför." descr="Tre strömtänger. Runt en ledare visar tången lastströmmen, runt fram- och returledaren nästan noll och runt L1–L3 och N differensströmmen. Trefas utan N: bara L1–L3. PE hålls alltid utanfö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44988"/>
            <a:ext cx="3794760" cy="2733783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  ·  Del 3 · avsnitt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Isolationsmätning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Provspänning och metod väljs för utrustningen.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Instrumentet lägger på en definierad provspänning och mäter responsen.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Resultatet påverkas av objekt, temperatur, fukt och mättid.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Verifiera spänningslöshet. Koppla bort isolationsvakt, omriktare och elektronik.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Provspänning enligt utrustningens anvisning, för 440 V-utrustning ofta 500 V DC. Urladda till jord efteråt.</a:t>
            </a:r>
          </a:p>
        </p:txBody>
      </p:sp>
      <p:pic>
        <p:nvPicPr>
          <p:cNvPr id="5" name="Figur: Isolationsprovare mellan kabelns ledare och skrovet. Provspänningen driver en läckström genom isolationsresistansen. Objektet är spänningslöst och elektroniken bortkopplad. Urladda efteråt." descr="Isolationsprovare mellan kabelns ledare och skrovet. Provspänningen driver en läckström genom isolationsresistansen. Objektet är spänningslöst och elektroniken bortkopplad. Urladda efterå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00780"/>
            <a:ext cx="3794760" cy="2822198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  ·  Del 3 · avsnitt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Jordresistansmätning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R = U/I i den förenklade mätmodellen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Metoden behöver skilja jordtagets egenskaper från parallella vägar.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Hjälpelektroder eller selektiva metoder används beroende på systemet.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Mätgeometri och anslutningar påverkar resultatet.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Ett lågt tal utan metodbeskrivning är otillräckligt.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  ·  Del 3 · avsnitt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resistans från läckström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900" b="0" i="1">
                <a:solidFill>
                  <a:srgbClr val="4A4A4A"/>
                </a:solidFill>
                <a:latin typeface="Calibri"/>
              </a:rPr>
              <a:t>En stationär resistiv modell ger 0,10 mA vid 250 V provspänning.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R = U/I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0,10 mA = 0,00010 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R = 250/0,00010 = 2 500 000 Ω.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R = 2,5 MΩ efter division med 1 000 000.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Kontroll: 2 500 000 Ω · 0,00010 A = 250 V. Ingen praktisk provning ingår här.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  ·  Del 3 · exempel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3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3.1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Två ledare i tången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34056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Tångens utgång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10712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410712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3.3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410712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Isolationsdata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8046720" cy="1673351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Fem minuter per övning. Skriv ditt svar i chatten. Övning 3.4–3.6 gör du själv efter lektionen.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nj22az.github.io/sjoskolan/vecka-44/aktuell/Del_3.html</a:t>
            </a:r>
          </a:p>
        </p:txBody>
      </p:sp>
      <p:pic>
        <p:nvPicPr>
          <p:cNvPr id="15" name="Picture 1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  ·  Del 3 · 4 Övningar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Oscilloskopets referens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Jordad eller isolerad mätning måste vara planerad.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Ett vanligt bänkinstruments probjord är kopplad till skyddsjord.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Fel anslutning kan skapa en kortslutning mot jord.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Flytande mätningar kräver differentialprob med rätt mätkategori.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I IT-nät ger probjord på en fas ett jordfel och larm, och kortslutning om ett annat fel redan finns.</a:t>
            </a:r>
          </a:p>
        </p:txBody>
      </p:sp>
      <p:pic>
        <p:nvPicPr>
          <p:cNvPr id="5" name="Figur: Oscilloskopets probjord är förbunden med skyddsjorden (PE). Kopplas probjorden till en spänningssatt ledare blir det kortslutning via skyddsjorden. Flytande mätning görs med differentialprob." descr="Oscilloskopets probjord är förbunden med skyddsjorden (PE). Kopplas probjorden till en spänningssatt ledare blir det kortslutning via skyddsjorden. Flytande mätning görs med differentialprob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00780"/>
            <a:ext cx="3794760" cy="2822198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  ·  Del 3 · avsnitt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Osäkerhet och felgräns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Resultatets intervall behöver följa med slutsatsen.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Upplösning, instrumentspecifikation och spridning är olika bidrag.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Enkel summering kan användas som konservativ gräns i uppgifter.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1 % av 50,00 V + 3 steg à 0,01 V ger ±0,53 V.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En full mätosäkerhetsbudget kräver en beskriven modell.</a:t>
            </a:r>
          </a:p>
        </p:txBody>
      </p:sp>
      <p:pic>
        <p:nvPicPr>
          <p:cNvPr id="5" name="Figur: Visningen 50,00 V med felgränsen ±0,53 V ger intervallet 49,47–50,53 V." descr="Visningen 50,00 V med felgränsen ±0,53 V ger intervallet 49,47–50,53 V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52671"/>
            <a:ext cx="3794760" cy="2118416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  ·  Del 3 · avsnitt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Kalibrering och kontroll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Status, datum, användning och kontrollresultat.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Kalibrering jämför instrumentet med en spårbar referens.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Justering och kalibrering är olika moment.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Ett kalibreringsbevis garanterar inte att instrumentet förblir felfritt efter exempelvis fall, överlast eller skadad ledning.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  ·  Del 3 · avsnitt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oscilloskopets skalor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1">
                <a:solidFill>
                  <a:srgbClr val="4A4A4A"/>
                </a:solidFill>
                <a:latin typeface="Calibri"/>
              </a:rPr>
              <a:t>En hel period upptar 5 rutor à 2 ms. Visad topp är 1,5 V med 10:1-prob utan automatisk kompensation.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069080" cy="3703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100" b="1" i="0">
                <a:solidFill>
                  <a:srgbClr val="064F91"/>
                </a:solidFill>
                <a:latin typeface="Calibri"/>
              </a:rPr>
              <a:t>T = rutor · tidsbas; f = 1/T; û = probfaktor · û</a:t>
            </a:r>
            <a:r>
              <a:rPr sz="2100" b="1" i="0" baseline="-25000">
                <a:solidFill>
                  <a:srgbClr val="064F91"/>
                </a:solidFill>
                <a:latin typeface="Calibri"/>
              </a:rPr>
              <a:t>visad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1. T = 5 · 2 = 10 ms = 0,010 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2. f = 1/0,010 = 100 Hz.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3. û = 10 · 1,5 = 15 V.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 i="0">
                <a:solidFill>
                  <a:srgbClr val="111111"/>
                </a:solidFill>
                <a:latin typeface="Calibri"/>
              </a:rPr>
              <a:t>Tidsskalan styr frekvensberäkningen. Probfaktorn korrigerar spänning, inte tid.</a:t>
            </a:r>
          </a:p>
        </p:txBody>
      </p:sp>
      <p:pic>
        <p:nvPicPr>
          <p:cNvPr id="6" name="Figur: Oscilloskopskärm med en sinus: 2 ms per ruta, 1 V per ruta och 10:1-prob. En period är fem rutor, och toppen ligger en och en halv ruta över mitten." descr="Oscilloskopskärm med en sinus: 2 ms per ruta, 1 V per ruta och 10:1-prob. En period är fem rutor, och toppen ligger en och en halv ruta över mitte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89400"/>
            <a:ext cx="3794760" cy="2822198"/>
          </a:xfrm>
          <a:prstGeom prst="rect">
            <a:avLst/>
          </a:prstGeom>
        </p:spPr>
      </p:pic>
      <p:pic>
        <p:nvPicPr>
          <p:cNvPr id="7" name="Picture 6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  ·  Del 3 · exempel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Avslutsfråga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Vilken del av en mätning måste dokumenteras utöver det visade talet?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804672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Bifoga beräkningar, mätvillkor, felgränser och motiverade slutsatser. Inlämningen senast fredag 30 oktober.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Sammanfattning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Mätkedjan avgör vad visningen betyder. Strömtången mäter summan av de omslutna strömmarna.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Isolationsprov görs på ett spänningslöst objekt med elektroniken bortkopplad. Oscilloskopets referens planeras före mätningen.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Resultatets intervall följer med slutsatsen. Ett kalibreringsbevis garanterar inte att instrumentet är felfritt efter fall eller överlast.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Det här gör du nu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Läs del 3: alla sju avsnitt och de två exemplen. Tryck på ”Jag har läst del 3” längst ned på sidan.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Gör övning 3.4–3.6 på delsidan. Ledtrådar och facit finns där.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Gör labben Mätaren påverkar i Multimeterlabbet.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4. Gör isolationsmätningen i Isolationslabbet. Den hör till inlämning 3.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5. Efter pausen 16.00: del 4, Analys av mätresultat.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4A4A4A"/>
                </a:solidFill>
                <a:latin typeface="Calibri"/>
              </a:rPr>
              <a:t>Inlämningen och analysen av mätdata senast fredag 30 oktober. Allt finns på veckosidan.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Källor och fortsatt läsning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2"/>
              </a:rPr>
              <a:t>Sjöskolan: vecka 44, del 3 Fördjupad mätteknik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Calibri"/>
              </a:rPr>
              <a:t>Kursplanen för Elteknik och ellära, lärandemål 4, 6 och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3"/>
              </a:rPr>
              <a:t>Fluke: mätning med strömtång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4"/>
              </a:rPr>
              <a:t>Tektronix: oscilloskopprober och säkerhet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5"/>
              </a:rPr>
              <a:t>Megger: jordresistansmätning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6"/>
              </a:rPr>
              <a:t>Fluke: multimeterns funktioner och mätning</a:t>
            </a:r>
          </a:p>
        </p:txBody>
      </p:sp>
      <p:pic>
        <p:nvPicPr>
          <p:cNvPr id="10" name="Picture 9" descr="sidfo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Tisdag · Fördjupad mätteknik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2026-09-20T20:09:37.2430000Z</dcterms:created>
  <dcterms:modified xsi:type="dcterms:W3CDTF">2026-09-20T20:09:37.2430000Z</dcterms:modified>
</coreProperties>
</file>