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7a385097ff2a498e" Type="http://schemas.openxmlformats.org/package/2006/relationships/metadata/core-properties" Target="docProps/core.xml"/><Relationship Id="R9e679e704c894915" Type="http://schemas.openxmlformats.org/officeDocument/2006/relationships/extended-properties" Target="docProps/app.xml"/><Relationship Id="Rb2f8b7e05e0a4a9a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8fedca857828436c"/>
  </p:sldMasterIdLst>
  <p:sldIdLst>
    <p:sldId id="256" r:id="R349c6a8765b34566"/>
    <p:sldId id="257" r:id="R95f635f938b74d02"/>
    <p:sldId id="258" r:id="R7e6330b712b049a0"/>
    <p:sldId id="259" r:id="Rb4bde1e978f14f23"/>
    <p:sldId id="260" r:id="Rf61a0c7f69304fb3"/>
    <p:sldId id="261" r:id="R124b4a52b84f4f58"/>
    <p:sldId id="262" r:id="R17707bb845c54061"/>
    <p:sldId id="263" r:id="R822a34f454154def"/>
    <p:sldId id="264" r:id="R49c68b4e526c49cf"/>
    <p:sldId id="265" r:id="R40d2f34c22234776"/>
    <p:sldId id="266" r:id="Re864b5e7ede2434e"/>
    <p:sldId id="267" r:id="Rcc7cbf522bf94766"/>
    <p:sldId id="268" r:id="R3727ce3f32614111"/>
    <p:sldId id="269" r:id="R68d893ed00f147a2"/>
    <p:sldId id="270" r:id="R6e3eda4f37b644d9"/>
    <p:sldId id="271" r:id="Rfad4b41d54204223"/>
    <p:sldId id="272" r:id="Rd6290f3c7a5841dc"/>
    <p:sldId id="273" r:id="Rc5cf5c54e34844a8"/>
    <p:sldId id="274" r:id="Rcb773bad39a24bb0"/>
    <p:sldId id="275" r:id="Rc26a87144a814103"/>
    <p:sldId id="276" r:id="Rf8ed752cb7eb45a4"/>
    <p:sldId id="277" r:id="R3d808d6cc6ef445b"/>
    <p:sldId id="278" r:id="R8087815bdded4908"/>
    <p:sldId id="279" r:id="Rd8280c5cbf5748d3"/>
    <p:sldId id="280" r:id="Rb0af39f318754c8e"/>
    <p:sldId id="281" r:id="Rd3c5c1c0981b40a0"/>
    <p:sldId id="282" r:id="R98679caad43148b0"/>
    <p:sldId id="283" r:id="Rc0466d97b8b44caa"/>
    <p:sldId id="284" r:id="R29ae7c870c9d4d7b"/>
    <p:sldId id="285" r:id="Rdf704a86ef354f9e"/>
    <p:sldId id="286" r:id="Ra735f35b73884c17"/>
    <p:sldId id="287" r:id="Rf6eab5a4108b46ee"/>
    <p:sldId id="288" r:id="R0a03502166f44a50"/>
    <p:sldId id="289" r:id="Rc85397470bb849b4"/>
    <p:sldId id="290" r:id="R9eb09122628c41df"/>
    <p:sldId id="291" r:id="R388fb8a4c7bd41b9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459df48e2314fe6" Type="http://schemas.openxmlformats.org/officeDocument/2006/relationships/theme" Target="theme/theme1.xml"/><Relationship Id="R0a03502166f44a50" Type="http://schemas.openxmlformats.org/officeDocument/2006/relationships/slide" Target="slides/slide33.xml"/><Relationship Id="R0d998e0ebd5d4a43" Type="http://schemas.openxmlformats.org/officeDocument/2006/relationships/viewProps" Target="viewProps.xml"/><Relationship Id="R124b4a52b84f4f58" Type="http://schemas.openxmlformats.org/officeDocument/2006/relationships/slide" Target="slides/slide6.xml"/><Relationship Id="R17707bb845c54061" Type="http://schemas.openxmlformats.org/officeDocument/2006/relationships/slide" Target="slides/slide7.xml"/><Relationship Id="R1b36ac446a5a4fea" Type="http://schemas.openxmlformats.org/officeDocument/2006/relationships/tableStyles" Target="tableStyles.xml"/><Relationship Id="R1ed02f33b0f64ae5" Type="http://schemas.openxmlformats.org/officeDocument/2006/relationships/presProps" Target="presProps.xml"/><Relationship Id="R29ae7c870c9d4d7b" Type="http://schemas.openxmlformats.org/officeDocument/2006/relationships/slide" Target="slides/slide29.xml"/><Relationship Id="R349c6a8765b34566" Type="http://schemas.openxmlformats.org/officeDocument/2006/relationships/slide" Target="slides/slide1.xml"/><Relationship Id="R3727ce3f32614111" Type="http://schemas.openxmlformats.org/officeDocument/2006/relationships/slide" Target="slides/slide13.xml"/><Relationship Id="R388fb8a4c7bd41b9" Type="http://schemas.openxmlformats.org/officeDocument/2006/relationships/slide" Target="slides/slide36.xml"/><Relationship Id="R3d808d6cc6ef445b" Type="http://schemas.openxmlformats.org/officeDocument/2006/relationships/slide" Target="slides/slide22.xml"/><Relationship Id="R40d2f34c22234776" Type="http://schemas.openxmlformats.org/officeDocument/2006/relationships/slide" Target="slides/slide10.xml"/><Relationship Id="R49c68b4e526c49cf" Type="http://schemas.openxmlformats.org/officeDocument/2006/relationships/slide" Target="slides/slide9.xml"/><Relationship Id="R68d893ed00f147a2" Type="http://schemas.openxmlformats.org/officeDocument/2006/relationships/slide" Target="slides/slide14.xml"/><Relationship Id="R6e3eda4f37b644d9" Type="http://schemas.openxmlformats.org/officeDocument/2006/relationships/slide" Target="slides/slide15.xml"/><Relationship Id="R7e6330b712b049a0" Type="http://schemas.openxmlformats.org/officeDocument/2006/relationships/slide" Target="slides/slide3.xml"/><Relationship Id="R8087815bdded4908" Type="http://schemas.openxmlformats.org/officeDocument/2006/relationships/slide" Target="slides/slide23.xml"/><Relationship Id="R822a34f454154def" Type="http://schemas.openxmlformats.org/officeDocument/2006/relationships/slide" Target="slides/slide8.xml"/><Relationship Id="R8fedca857828436c" Type="http://schemas.openxmlformats.org/officeDocument/2006/relationships/slideMaster" Target="slideMasters/slideMaster1.xml"/><Relationship Id="R95f635f938b74d02" Type="http://schemas.openxmlformats.org/officeDocument/2006/relationships/slide" Target="slides/slide2.xml"/><Relationship Id="R98679caad43148b0" Type="http://schemas.openxmlformats.org/officeDocument/2006/relationships/slide" Target="slides/slide27.xml"/><Relationship Id="R9eb09122628c41df" Type="http://schemas.openxmlformats.org/officeDocument/2006/relationships/slide" Target="slides/slide35.xml"/><Relationship Id="Ra735f35b73884c17" Type="http://schemas.openxmlformats.org/officeDocument/2006/relationships/slide" Target="slides/slide31.xml"/><Relationship Id="Rb0af39f318754c8e" Type="http://schemas.openxmlformats.org/officeDocument/2006/relationships/slide" Target="slides/slide25.xml"/><Relationship Id="Rb4bde1e978f14f23" Type="http://schemas.openxmlformats.org/officeDocument/2006/relationships/slide" Target="slides/slide4.xml"/><Relationship Id="Rc0466d97b8b44caa" Type="http://schemas.openxmlformats.org/officeDocument/2006/relationships/slide" Target="slides/slide28.xml"/><Relationship Id="Rc26a87144a814103" Type="http://schemas.openxmlformats.org/officeDocument/2006/relationships/slide" Target="slides/slide20.xml"/><Relationship Id="Rc5cf5c54e34844a8" Type="http://schemas.openxmlformats.org/officeDocument/2006/relationships/slide" Target="slides/slide18.xml"/><Relationship Id="Rc85397470bb849b4" Type="http://schemas.openxmlformats.org/officeDocument/2006/relationships/slide" Target="slides/slide34.xml"/><Relationship Id="Rcb773bad39a24bb0" Type="http://schemas.openxmlformats.org/officeDocument/2006/relationships/slide" Target="slides/slide19.xml"/><Relationship Id="Rcc7cbf522bf94766" Type="http://schemas.openxmlformats.org/officeDocument/2006/relationships/slide" Target="slides/slide12.xml"/><Relationship Id="Rd3c5c1c0981b40a0" Type="http://schemas.openxmlformats.org/officeDocument/2006/relationships/slide" Target="slides/slide26.xml"/><Relationship Id="Rd6290f3c7a5841dc" Type="http://schemas.openxmlformats.org/officeDocument/2006/relationships/slide" Target="slides/slide17.xml"/><Relationship Id="Rd8280c5cbf5748d3" Type="http://schemas.openxmlformats.org/officeDocument/2006/relationships/slide" Target="slides/slide24.xml"/><Relationship Id="Rdf704a86ef354f9e" Type="http://schemas.openxmlformats.org/officeDocument/2006/relationships/slide" Target="slides/slide30.xml"/><Relationship Id="Re864b5e7ede2434e" Type="http://schemas.openxmlformats.org/officeDocument/2006/relationships/slide" Target="slides/slide11.xml"/><Relationship Id="Rf61a0c7f69304fb3" Type="http://schemas.openxmlformats.org/officeDocument/2006/relationships/slide" Target="slides/slide5.xml"/><Relationship Id="Rf6eab5a4108b46ee" Type="http://schemas.openxmlformats.org/officeDocument/2006/relationships/slide" Target="slides/slide32.xml"/><Relationship Id="Rf8ed752cb7eb45a4" Type="http://schemas.openxmlformats.org/officeDocument/2006/relationships/slide" Target="slides/slide21.xml"/><Relationship Id="Rfad4b41d54204223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83c416ce21ec47c7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c64a7650784640c3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91c104847ebc4de0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332a66de38344eef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2c7e7a4734194834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2b14c10f6db54115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dfb5682ec3f448ae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1fc4150ca01c4b15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4b34873c77d544df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3b3a5a960bfb4726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7fc10d6e2aa04fa7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5B37379-A7E2-4B9A-9A86-964F357E8CB5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1E2E568C-C3A1-438C-AEA2-A8C0DC383E7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84A4B92-7E55-466A-A523-383F14D1F1D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4FE103F-822D-4ECE-9E11-3887B159D61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E8EB52B-2F58-494C-ABE6-50661666511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CD06958-1606-4E18-AEE2-B019FFE8EA5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18697F6-A555-4DE2-A443-3B8D1DACB46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6416F08-F508-4252-AF3D-A0577C7EA8D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512D2A0-C89C-4E5B-8F4D-08C3175549F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ED014A3-5514-4480-B53D-82E7103FCD3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7FFFD34-E0FD-4FD1-A1BC-69217073079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967D161-9EFB-4CD5-BEDB-42958CFEE2D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44A9DDB-9712-4668-80C8-F5A9FDAE5C0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E6B7E85-292E-463D-BAEC-C0A006A5BA8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6D0C487-CFA4-45EA-A166-ED3BCA656B4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03C85A5-B8B6-492F-A1BF-8F7AB62B65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4B023F-18C0-4A3D-A5A2-22371598EDA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50A1E42D-7E69-476A-AFEC-C7CCD8643AD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A1199F6D-F3A4-4C6D-BE82-DD250B0208E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56DA2FD4-5995-4778-8A9D-6901BA38600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CB00F04-8E1A-49A7-B33F-808530DD78C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1F65C6C-93DC-4F2D-B952-4C0B3567C5B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5B588F8-7D31-4876-8FC2-9628FB04C46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BFD21CD5-90E0-4DBB-A76F-7AC51F18623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031460D5-F55B-425B-9EDA-7E953FF2CD07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F287D9EE-D39A-4678-9345-8772E04AC948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4A5F959F-44C1-41CE-95D9-D207A4E0A27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C86C9C45-8AB2-4CD2-93D2-5DE14EF6483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41EBF8BD-8683-4ADE-BA17-24B1F0252BF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B4B3F25-C47D-4B74-9333-71EC3C2D36E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2AF73B7E-BF6B-49FF-8359-FF4843F1AAE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7064A7BC-E323-4C96-B239-DB7A1A1F945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DA557E1D-A2F4-4DA3-9A83-50C11D3FB03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DDCA1576-6CD5-4B23-9AEB-1547205E995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038495C5-B5E1-4F72-8612-DB23FB6ECEC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92B41556-8C27-4F64-97C1-F1F2563F794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3EAAC5C-7884-450C-AE64-280692FF0A5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E68FC31-7653-4387-B0DF-8FEA783EE7A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6A032C4-620E-49F2-946A-14EB0CAC500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E34A640-390F-4CBE-A11A-A0C9F29CEFE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9739D8CF-0FF8-4075-9B13-8CE7989DADE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A100D93-6D51-49BD-BD9D-31A41231AF8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C26C364-35E4-429B-8FDB-02571DD4621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06AD0E2A-B47A-4A53-9206-BC444923CE5C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C44DFA79-9591-4C6F-88AA-323B6BD7410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96E0C652-BE1B-4451-A9BE-FFC6FEA7A88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BCC923E9-B8C8-4776-BC89-073988142C5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3EBAAAB-F819-4211-92DF-D86668FEF1E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9D3C1B1-65C7-4D1A-AC96-5C29E7791DA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B58486F5-F17E-4576-8759-0B9626EFCEA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DE37E0C-CDD0-4187-8783-3F8DF0E0AE8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C58ACD9-A42C-4930-B98E-F665432EA99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29F6E06-B3B3-47ED-831D-2A295AF0EE7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22534DBF-6B53-4723-A429-CD0A7D2DDCA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B872D98F-4551-47C2-9E62-12B944E07EC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8CA2BD6-5167-465B-9922-09B5DAD6845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B82E837-37BC-4A08-A01D-8B3811930B4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84DE07E-D260-40F5-9913-DEC58B3009F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46db52551e0f458d" Type="http://schemas.openxmlformats.org/officeDocument/2006/relationships/slideLayout" Target="../slideLayouts/slideLayout2.xml"/><Relationship Id="R5d94113fb6cf4137" Type="http://schemas.openxmlformats.org/officeDocument/2006/relationships/slideLayout" Target="../slideLayouts/slideLayout8.xml"/><Relationship Id="R64d7228cd90d498a" Type="http://schemas.openxmlformats.org/officeDocument/2006/relationships/slideLayout" Target="../slideLayouts/slideLayout6.xml"/><Relationship Id="R65823ef6c44348eb" Type="http://schemas.openxmlformats.org/officeDocument/2006/relationships/slideLayout" Target="../slideLayouts/slideLayout7.xml"/><Relationship Id="R7e25507f6b5743e7" Type="http://schemas.openxmlformats.org/officeDocument/2006/relationships/slideLayout" Target="../slideLayouts/slideLayout5.xml"/><Relationship Id="R7e6694d36f0d402d" Type="http://schemas.openxmlformats.org/officeDocument/2006/relationships/slideLayout" Target="../slideLayouts/slideLayout10.xml"/><Relationship Id="R7eee5f98a34f46e2" Type="http://schemas.openxmlformats.org/officeDocument/2006/relationships/slideLayout" Target="../slideLayouts/slideLayout11.xml"/><Relationship Id="Rb33bf1b71e984a15" Type="http://schemas.openxmlformats.org/officeDocument/2006/relationships/slideLayout" Target="../slideLayouts/slideLayout3.xml"/><Relationship Id="Rb4693d9f4a544297" Type="http://schemas.openxmlformats.org/officeDocument/2006/relationships/theme" Target="theme/theme2.xml"/><Relationship Id="Rb6cf7fc34ffa4470" Type="http://schemas.openxmlformats.org/officeDocument/2006/relationships/slideLayout" Target="../slideLayouts/slideLayout1.xml"/><Relationship Id="Rc8b6caf24dd3448f" Type="http://schemas.openxmlformats.org/officeDocument/2006/relationships/slideLayout" Target="../slideLayouts/slideLayout9.xml"/><Relationship Id="Rd0e181fedddf4fea" Type="http://schemas.openxmlformats.org/officeDocument/2006/relationships/slideLayout" Target="../slideLayouts/slideLayout4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F312D4CC-1EB9-4393-B393-062DBF426CE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08A9615-E18B-4A44-A55D-F4D7A95DADA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B4CA6A4-2B3F-41FC-9F89-588408E8E270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6FA2F5E-DB50-42D3-BE08-D4432A8C311C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49D0B2B-6CD3-4103-B29F-00FA94323B1D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6cf7fc34ffa4470"/>
    <p:sldLayoutId xmlns:r="http://schemas.openxmlformats.org/officeDocument/2006/relationships" id="2147483650" r:id="R46db52551e0f458d"/>
    <p:sldLayoutId xmlns:r="http://schemas.openxmlformats.org/officeDocument/2006/relationships" id="2147483651" r:id="Rb33bf1b71e984a15"/>
    <p:sldLayoutId xmlns:r="http://schemas.openxmlformats.org/officeDocument/2006/relationships" id="2147483652" r:id="Rd0e181fedddf4fea"/>
    <p:sldLayoutId xmlns:r="http://schemas.openxmlformats.org/officeDocument/2006/relationships" id="2147483653" r:id="R7e25507f6b5743e7"/>
    <p:sldLayoutId xmlns:r="http://schemas.openxmlformats.org/officeDocument/2006/relationships" id="2147483654" r:id="R64d7228cd90d498a"/>
    <p:sldLayoutId xmlns:r="http://schemas.openxmlformats.org/officeDocument/2006/relationships" id="2147483655" r:id="R65823ef6c44348eb"/>
    <p:sldLayoutId xmlns:r="http://schemas.openxmlformats.org/officeDocument/2006/relationships" id="2147483656" r:id="R5d94113fb6cf4137"/>
    <p:sldLayoutId xmlns:r="http://schemas.openxmlformats.org/officeDocument/2006/relationships" id="2147483657" r:id="Rc8b6caf24dd3448f"/>
    <p:sldLayoutId xmlns:r="http://schemas.openxmlformats.org/officeDocument/2006/relationships" id="2147483658" r:id="R7e6694d36f0d402d"/>
    <p:sldLayoutId xmlns:r="http://schemas.openxmlformats.org/officeDocument/2006/relationships" id="2147483659" r:id="R7eee5f98a34f46e2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a71d343dc9e94183" Type="http://schemas.openxmlformats.org/officeDocument/2006/relationships/image" Target="../media/image.jpeg"/><Relationship Id="Rcafe8d1ffbe64972" Type="http://schemas.openxmlformats.org/officeDocument/2006/relationships/image" Target="../media/image.png"/><Relationship Id="Rd3010d62854f448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b22ba4344cbb46ec" Type="http://schemas.openxmlformats.org/officeDocument/2006/relationships/image" Target="../media/image.jpeg"/><Relationship Id="Rd8fd72d6a82f447a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d3bb22ff41d34fe5" Type="http://schemas.openxmlformats.org/officeDocument/2006/relationships/slideLayout" Target="../slideLayouts/slideLayout1.xml"/><Relationship Id="Rfed4b7b05cf34f0c" Type="http://schemas.openxmlformats.org/officeDocument/2006/relationships/image" Target="../media/image.jpeg"/></Relationships>
</file>

<file path=ppt/slides/_rels/slide4.xml.rels><?xml version='1.0' encoding='UTF-8' standalone='yes'?>
<Relationships xmlns="http://schemas.openxmlformats.org/package/2006/relationships"><Relationship Id="Rb2252e9ae95e4bce" Type="http://schemas.openxmlformats.org/officeDocument/2006/relationships/image" Target="../media/image.jpeg"/><Relationship Id="Rffcc37610d7f4533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92a194a94cac46b3" Type="http://schemas.openxmlformats.org/officeDocument/2006/relationships/image" Target="../media/image.jpeg"/><Relationship Id="R9aa75ddeace54eff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5510e1193d714c50" Type="http://schemas.openxmlformats.org/officeDocument/2006/relationships/slideLayout" Target="../slideLayouts/slideLayout1.xml"/><Relationship Id="R78d4e345205c4702" Type="http://schemas.openxmlformats.org/officeDocument/2006/relationships/image" Target="../media/image.jpeg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0929eaf1966e4810" Type="http://schemas.openxmlformats.org/officeDocument/2006/relationships/slideLayout" Target="../slideLayouts/slideLayout1.xml"/><Relationship Id="R7a06aae37a57456a" Type="http://schemas.openxmlformats.org/officeDocument/2006/relationships/image" Target="../media/image.jpe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158f4dbd000d41d3" Type="http://schemas.openxmlformats.org/officeDocument/2006/relationships/image" Target="../media/image.jpeg"/><Relationship Id="R56ba043c4c914dd3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151a906212fa4e7b" Type="http://schemas.openxmlformats.org/officeDocument/2006/relationships/slideLayout" Target="../slideLayouts/slideLayout1.xml"/><Relationship Id="Rb0a6604250de4da3" Type="http://schemas.openxmlformats.org/officeDocument/2006/relationships/image" Target="../media/image.jpeg"/></Relationships>
</file>

<file path=ppt/slides/_rels/slide10.xml.rels><?xml version='1.0' encoding='UTF-8' standalone='yes'?>
<Relationships xmlns="http://schemas.openxmlformats.org/package/2006/relationships"><Relationship Id="R1f0447e189f342a8" Type="http://schemas.openxmlformats.org/officeDocument/2006/relationships/slideLayout" Target="../slideLayouts/slideLayout1.xml"/><Relationship Id="R55f8530423be49ba" Type="http://schemas.openxmlformats.org/officeDocument/2006/relationships/image" Target="../media/image.jpeg"/></Relationships>
</file>

<file path=ppt/slides/_rels/slide11.xml.rels><?xml version='1.0' encoding='UTF-8' standalone='yes'?>
<Relationships xmlns="http://schemas.openxmlformats.org/package/2006/relationships"><Relationship Id="R0072b3b4347549eb" Type="http://schemas.openxmlformats.org/officeDocument/2006/relationships/image" Target="../media/image.jpeg"/><Relationship Id="R5127a26118824a0a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5a8242edbe7b42ec" Type="http://schemas.openxmlformats.org/officeDocument/2006/relationships/image" Target="../media/image.jpeg"/><Relationship Id="R7b69ca254c9e488e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11d4d1f0afe743e5" Type="http://schemas.openxmlformats.org/officeDocument/2006/relationships/image" Target="../media/image.jpeg"/><Relationship Id="Rf640ad223a174d87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1640067c8bad4c78" Type="http://schemas.openxmlformats.org/officeDocument/2006/relationships/image" Target="../media/image.jpeg"/><Relationship Id="Rb2bc7657052c40a0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5d2f098647b44b92" Type="http://schemas.openxmlformats.org/officeDocument/2006/relationships/slideLayout" Target="../slideLayouts/slideLayout1.xml"/><Relationship Id="R9ffee07bf1de4bb5" Type="http://schemas.openxmlformats.org/officeDocument/2006/relationships/image" Target="../media/image.jpeg"/></Relationships>
</file>

<file path=ppt/slides/_rels/slide16.xml.rels><?xml version='1.0' encoding='UTF-8' standalone='yes'?>
<Relationships xmlns="http://schemas.openxmlformats.org/package/2006/relationships"><Relationship Id="R3420256df5ca4d40" Type="http://schemas.openxmlformats.org/officeDocument/2006/relationships/slideLayout" Target="../slideLayouts/slideLayout1.xml"/><Relationship Id="R6cbf1b8ee34e44aa" Type="http://schemas.openxmlformats.org/officeDocument/2006/relationships/image" Target="../media/image.jpeg"/></Relationships>
</file>

<file path=ppt/slides/_rels/slide17.xml.rels><?xml version='1.0' encoding='UTF-8' standalone='yes'?>
<Relationships xmlns="http://schemas.openxmlformats.org/package/2006/relationships"><Relationship Id="R1ddb9ee0b448430f" Type="http://schemas.openxmlformats.org/officeDocument/2006/relationships/slideLayout" Target="../slideLayouts/slideLayout1.xml"/><Relationship Id="Re166789a33ac4fb1" Type="http://schemas.openxmlformats.org/officeDocument/2006/relationships/image" Target="../media/image.jpeg"/><Relationship Id="rId3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292461fb52184ad5" Type="http://schemas.openxmlformats.org/officeDocument/2006/relationships/slideLayout" Target="../slideLayouts/slideLayout1.xml"/><Relationship Id="Ra1c576ac751941ac" Type="http://schemas.openxmlformats.org/officeDocument/2006/relationships/image" Target="../media/image.jpeg"/></Relationships>
</file>

<file path=ppt/slides/_rels/slide19.xml.rels><?xml version='1.0' encoding='UTF-8' standalone='yes'?>
<Relationships xmlns="http://schemas.openxmlformats.org/package/2006/relationships"><Relationship Id="R4697e19666c24fa3" Type="http://schemas.openxmlformats.org/officeDocument/2006/relationships/image" Target="../media/image.jpeg"/><Relationship Id="Rd439ade04c6f4bb4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631a32ed4c374491" Type="http://schemas.openxmlformats.org/officeDocument/2006/relationships/image" Target="../media/image.jpeg"/><Relationship Id="Re83395e0cebe4c1d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26ebcdc72470451d" Type="http://schemas.openxmlformats.org/officeDocument/2006/relationships/slideLayout" Target="../slideLayouts/slideLayout1.xml"/><Relationship Id="R815286ece7374412" Type="http://schemas.openxmlformats.org/officeDocument/2006/relationships/image" Target="../media/image.jpeg"/><Relationship Id="rId3" Type="http://schemas.openxmlformats.org/officeDocument/2006/relationships/image" Target="../media/image4.png"/></Relationships>
</file>

<file path=ppt/slides/_rels/slide22.xml.rels><?xml version='1.0' encoding='UTF-8' standalone='yes'?>
<Relationships xmlns="http://schemas.openxmlformats.org/package/2006/relationships"><Relationship Id="Re760f37ef8fe45ce" Type="http://schemas.openxmlformats.org/officeDocument/2006/relationships/slideLayout" Target="../slideLayouts/slideLayout1.xml"/><Relationship Id="Ree29964bc3ae4abc" Type="http://schemas.openxmlformats.org/officeDocument/2006/relationships/image" Target="../media/image.jpeg"/><Relationship Id="rId3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502e565394f7437c" Type="http://schemas.openxmlformats.org/officeDocument/2006/relationships/image" Target="../media/image.jpeg"/><Relationship Id="R9f4c6f849ec94f43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50599f439cae4adb" Type="http://schemas.openxmlformats.org/officeDocument/2006/relationships/image" Target="../media/image.jpeg"/><Relationship Id="R55551811922d450c" Type="http://schemas.openxmlformats.org/officeDocument/2006/relationships/slideLayout" Target="../slideLayouts/slideLayout1.xml"/><Relationship Id="rId3" Type="http://schemas.openxmlformats.org/officeDocument/2006/relationships/image" Target="../media/image6.png"/></Relationships>
</file>

<file path=ppt/slides/_rels/slide25.xml.rels><?xml version='1.0' encoding='UTF-8' standalone='yes'?>
<Relationships xmlns="http://schemas.openxmlformats.org/package/2006/relationships"><Relationship Id="Rd921ae11c982415f" Type="http://schemas.openxmlformats.org/officeDocument/2006/relationships/image" Target="../media/image.jpeg"/><Relationship Id="Re153a2caafc14992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7d2511d4d7c0437a" Type="http://schemas.openxmlformats.org/officeDocument/2006/relationships/slideLayout" Target="../slideLayouts/slideLayout1.xml"/><Relationship Id="R84f52339140a44f7" Type="http://schemas.openxmlformats.org/officeDocument/2006/relationships/image" Target="../media/image.jpeg"/><Relationship Id="rId3" Type="http://schemas.openxmlformats.org/officeDocument/2006/relationships/image" Target="../media/image7.png"/></Relationships>
</file>

<file path=ppt/slides/_rels/slide27.xml.rels><?xml version='1.0' encoding='UTF-8' standalone='yes'?>
<Relationships xmlns="http://schemas.openxmlformats.org/package/2006/relationships"><Relationship Id="R488c6d6e0d604eb1" Type="http://schemas.openxmlformats.org/officeDocument/2006/relationships/slideLayout" Target="../slideLayouts/slideLayout1.xml"/><Relationship Id="R7bd6973d63714c2b" Type="http://schemas.openxmlformats.org/officeDocument/2006/relationships/image" Target="../media/image.jpeg"/></Relationships>
</file>

<file path=ppt/slides/_rels/slide28.xml.rels><?xml version='1.0' encoding='UTF-8' standalone='yes'?>
<Relationships xmlns="http://schemas.openxmlformats.org/package/2006/relationships"><Relationship Id="R2c5d21651f4a42de" Type="http://schemas.openxmlformats.org/officeDocument/2006/relationships/image" Target="../media/image.jpeg"/><Relationship Id="R4e7a076d960b4d3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508d6565413d4593" Type="http://schemas.openxmlformats.org/officeDocument/2006/relationships/slideLayout" Target="../slideLayouts/slideLayout1.xml"/><Relationship Id="Rd295fd946d36404f" Type="http://schemas.openxmlformats.org/officeDocument/2006/relationships/image" Target="../media/image.jpeg"/></Relationships>
</file>

<file path=ppt/slides/_rels/slide30.xml.rels><?xml version='1.0' encoding='UTF-8' standalone='yes'?>
<Relationships xmlns="http://schemas.openxmlformats.org/package/2006/relationships"><Relationship Id="R72fc33040d004514" Type="http://schemas.openxmlformats.org/officeDocument/2006/relationships/image" Target="../media/image.jpeg"/><Relationship Id="R8f88d5ebc16b4f66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79df228892754c6f" Type="http://schemas.openxmlformats.org/officeDocument/2006/relationships/slideLayout" Target="../slideLayouts/slideLayout1.xml"/><Relationship Id="R8ee2b70a10d4416f" Type="http://schemas.openxmlformats.org/officeDocument/2006/relationships/image" Target="../media/image.jpeg"/></Relationships>
</file>

<file path=ppt/slides/_rels/slide32.xml.rels><?xml version='1.0' encoding='UTF-8' standalone='yes'?>
<Relationships xmlns="http://schemas.openxmlformats.org/package/2006/relationships"><Relationship Id="R390e9ffa280f4aa3" Type="http://schemas.openxmlformats.org/officeDocument/2006/relationships/slideLayout" Target="../slideLayouts/slideLayout1.xml"/><Relationship Id="R8601bf21a7634548" Type="http://schemas.openxmlformats.org/officeDocument/2006/relationships/image" Target="../media/image.jpeg"/></Relationships>
</file>

<file path=ppt/slides/_rels/slide33.xml.rels><?xml version='1.0' encoding='UTF-8' standalone='yes'?>
<Relationships xmlns="http://schemas.openxmlformats.org/package/2006/relationships"><Relationship Id="R5c39cabd73f34409" Type="http://schemas.openxmlformats.org/officeDocument/2006/relationships/slideLayout" Target="../slideLayouts/slideLayout1.xml"/><Relationship Id="R94bb47ae66a54665" Type="http://schemas.openxmlformats.org/officeDocument/2006/relationships/image" Target="../media/image.jpeg"/></Relationships>
</file>

<file path=ppt/slides/_rels/slide34.xml.rels><?xml version='1.0' encoding='UTF-8' standalone='yes'?>
<Relationships xmlns="http://schemas.openxmlformats.org/package/2006/relationships"><Relationship Id="R87605dec9a50477e" Type="http://schemas.openxmlformats.org/officeDocument/2006/relationships/image" Target="../media/image.jpeg"/><Relationship Id="Rfbb24f0a4f4c485c" Type="http://schemas.openxmlformats.org/officeDocument/2006/relationships/slideLayout" Target="../slideLayouts/slideLayout1.xml"/></Relationships>
</file>

<file path=ppt/slides/_rels/slide35.xml.rels><?xml version='1.0' encoding='UTF-8' standalone='yes'?>
<Relationships xmlns="http://schemas.openxmlformats.org/package/2006/relationships"><Relationship Id="R3c01c49885f34edc" Type="http://schemas.openxmlformats.org/officeDocument/2006/relationships/image" Target="../media/image.jpeg"/><Relationship Id="R3fa65d4cacff419e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0a8222e8dde1488e" Type="http://schemas.openxmlformats.org/officeDocument/2006/relationships/hyperlink" Target="https://dam-assets.fluke.com.cn/s3fs-public/2100079_6003_ENG_D_W.PDF" TargetMode="External"/><Relationship Id="R17f2c3263f4a49f5" Type="http://schemas.openxmlformats.org/officeDocument/2006/relationships/image" Target="../media/image.jpeg"/><Relationship Id="R2f706671006d4648" Type="http://schemas.openxmlformats.org/officeDocument/2006/relationships/hyperlink" Target="https://www.tek.com/en/documents/whitepaper/abcs-probes-primer" TargetMode="External"/><Relationship Id="Rca5bb007e3d14992" Type="http://schemas.openxmlformats.org/officeDocument/2006/relationships/slideLayout" Target="../slideLayouts/slideLayout1.xml"/><Relationship Id="Rdc95cec4e6384225" Type="http://schemas.openxmlformats.org/officeDocument/2006/relationships/hyperlink" Target="https://www.fluke.com/en-us/learn/blog/clamps/using-accessory-current-clamps-with-fluke-dmms" TargetMode="External"/><Relationship Id="Rf2fc8c2ef8584230" Type="http://schemas.openxmlformats.org/officeDocument/2006/relationships/hyperlink" Target="https://www.megger.com/en-gb/et-online/november-2007/a-guide-to-earth-testing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1d343dc9e9418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fe8d1ffbe64972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D79B6C6A-23EA-4AD5-90B3-202E86101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7948D3F9-CB8A-4C5B-8FAC-47855058F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Fördjupad mätteknik</a:t>
            </a:r>
          </a:p>
        </p:txBody>
      </p:sp>
      <p:sp>
        <p:nvSpPr>
          <p:cNvPr id="13" name="Strömtång, isolation, oscilloskop och osäkerhet">
            <a:extLst xmlns:a="http://schemas.openxmlformats.org/drawingml/2006/main">
              <a:ext uri="{FF2B5EF4-FFF2-40B4-BE49-F238E27FC236}">
                <a16:creationId xmlns:a16="http://schemas.microsoft.com/office/drawing/2014/main" id="{2B0C649A-4915-4983-B263-A0D7511C2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Strömtång, isolation, oscilloskop och osäkerhet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46B4465F-B840-49C5-A848-A5A065DD3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2ba4344cbb46e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408F1919-52ED-433E-ADA2-02DCB964D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Välja mätprincip för en definierad fråga.">
            <a:extLst xmlns:a="http://schemas.openxmlformats.org/drawingml/2006/main">
              <a:ext uri="{FF2B5EF4-FFF2-40B4-BE49-F238E27FC236}">
                <a16:creationId xmlns:a16="http://schemas.microsoft.com/office/drawing/2014/main" id="{5F443B0C-DAF4-4692-A48F-6F5B70DF2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Välja mätprincip för en definierad fråga.</a:t>
            </a:r>
          </a:p>
        </p:txBody>
      </p:sp>
      <p:sp>
        <p:nvSpPr>
          <p:cNvPr id="4" name="Tolka mätdata tillsammans med instrumentets begränsningar.">
            <a:extLst xmlns:a="http://schemas.openxmlformats.org/drawingml/2006/main">
              <a:ext uri="{FF2B5EF4-FFF2-40B4-BE49-F238E27FC236}">
                <a16:creationId xmlns:a16="http://schemas.microsoft.com/office/drawing/2014/main" id="{20F0A901-E35F-4B21-A311-CEF649D6C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Tolka mätdata tillsammans med instrumentets begränsningar.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FDC5FAEF-5B07-4105-AEF9-482835ADC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arför kan en strömtång visa nästan noll runt en kabel där lasten">
            <a:extLst xmlns:a="http://schemas.openxmlformats.org/drawingml/2006/main">
              <a:ext uri="{FF2B5EF4-FFF2-40B4-BE49-F238E27FC236}">
                <a16:creationId xmlns:a16="http://schemas.microsoft.com/office/drawing/2014/main" id="{BDFCB336-2E36-466F-9350-CAF6E54F3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Varför kan en strömtång visa nästan noll runt en kabel där lasten drar 10 A?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C09F29D1-35F0-4867-A718-298DF499A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d4b7b05cf34f0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E407EEA2-2771-433B-9FF7-7310A9E07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30514ED3-A459-4335-9DDC-A03290E9D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555CFC7A-3D18-4C11-A213-D14D0B42A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3.1, 3.2 och 3.4,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8A5EE0B5-6134-4C45-8514-E283DDFDF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7839F812-97A0-4A15-BC3D-A833E75D5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3.6, 3.7 och 3.8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4DA88C73-FD0A-431C-87E5-7AA86FB48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E90FCFF9-6106-499E-A234-3518402C0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252e9ae95e4bc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Mätkedjan och enheterna">
            <a:extLst xmlns:a="http://schemas.openxmlformats.org/drawingml/2006/main">
              <a:ext uri="{FF2B5EF4-FFF2-40B4-BE49-F238E27FC236}">
                <a16:creationId xmlns:a16="http://schemas.microsoft.com/office/drawing/2014/main" id="{0CDD86FE-8440-4B7A-88F0-EFC8DEA0D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Mätkedjan och enheterna</a:t>
            </a:r>
          </a:p>
        </p:txBody>
      </p:sp>
      <p:sp>
        <p:nvSpPr>
          <p:cNvPr id="10" name="En givare kan omvandla ström till en liten spänning.">
            <a:extLst xmlns:a="http://schemas.openxmlformats.org/drawingml/2006/main">
              <a:ext uri="{FF2B5EF4-FFF2-40B4-BE49-F238E27FC236}">
                <a16:creationId xmlns:a16="http://schemas.microsoft.com/office/drawing/2014/main" id="{D9A84BA9-4BB7-4177-9A46-BA83743B1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givare kan omvandla ström till en liten spänning.</a:t>
            </a:r>
          </a:p>
        </p:txBody>
      </p:sp>
      <p:sp>
        <p:nvSpPr>
          <p:cNvPr id="11" name="Känslighet i mV/A talar om hur signalen räknas om.">
            <a:extLst xmlns:a="http://schemas.openxmlformats.org/drawingml/2006/main">
              <a:ext uri="{FF2B5EF4-FFF2-40B4-BE49-F238E27FC236}">
                <a16:creationId xmlns:a16="http://schemas.microsoft.com/office/drawing/2014/main" id="{32F9F78C-93D2-4F3C-B3D4-18B0D5636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Känslighet i mV/A talar om hur signalen räknas om.</a:t>
            </a:r>
          </a:p>
        </p:txBody>
      </p:sp>
      <p:sp>
        <p:nvSpPr>
          <p:cNvPr id="12" name="Probfaktor korrigerar visningen bara om instrumentet inte redan g">
            <a:extLst xmlns:a="http://schemas.openxmlformats.org/drawingml/2006/main">
              <a:ext uri="{FF2B5EF4-FFF2-40B4-BE49-F238E27FC236}">
                <a16:creationId xmlns:a16="http://schemas.microsoft.com/office/drawing/2014/main" id="{9CEEBF47-51DD-4701-A218-55D5B6603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Probfaktor korrigerar visningen bara om instrumentet inte redan gör det.</a:t>
            </a:r>
          </a:p>
        </p:txBody>
      </p:sp>
      <p:sp>
        <p:nvSpPr>
          <p:cNvPr id="13" name="Mätmetod, område och driftvillkor behövs för att tolka varje resu">
            <a:extLst xmlns:a="http://schemas.openxmlformats.org/drawingml/2006/main">
              <a:ext uri="{FF2B5EF4-FFF2-40B4-BE49-F238E27FC236}">
                <a16:creationId xmlns:a16="http://schemas.microsoft.com/office/drawing/2014/main" id="{E9C25BC8-11F1-4E04-9FA9-B7B70CDB6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Mätmetod, område och driftvillkor behövs för att tolka varje resultat.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D60CA374-B01C-4B0C-A048-BAE42B102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a194a94cac46b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151C7850-775F-4EF4-86FE-5F71E91F9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8BDB32D9-42D2-49ED-9467-D0DBE3C64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8B613272-DDD7-4CDC-98F2-AA111180F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B4D4E24C-E844-4660-8178-E97BE4815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7D06B3B4-ABDC-4915-8A7B-EE1DA0243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EB471818-747A-4ADC-B953-F3D4FC565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A3D8F4DD-7954-405A-97C0-CB27E68AA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4E4BE79B-03A4-4F33-8DD8-11C361FB8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d4e345205c470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trömtångens mätprincip">
            <a:extLst xmlns:a="http://schemas.openxmlformats.org/drawingml/2006/main">
              <a:ext uri="{FF2B5EF4-FFF2-40B4-BE49-F238E27FC236}">
                <a16:creationId xmlns:a16="http://schemas.microsoft.com/office/drawing/2014/main" id="{EA7DDC04-BE3A-4D6D-BE2A-04F7640A8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Strömtångens mätprincip</a:t>
            </a:r>
          </a:p>
        </p:txBody>
      </p:sp>
      <p:sp>
        <p:nvSpPr>
          <p:cNvPr id="3" name="En strömtång känner det magnetfält som omslutna strömmar skapar.&#10;">
            <a:extLst xmlns:a="http://schemas.openxmlformats.org/drawingml/2006/main">
              <a:ext uri="{FF2B5EF4-FFF2-40B4-BE49-F238E27FC236}">
                <a16:creationId xmlns:a16="http://schemas.microsoft.com/office/drawing/2014/main" id="{CAB17A27-A45A-4995-B6A4-9A1C5C8DF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strömtång känner det magnetfält som omslutna strömmar skapar.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 lastström omsluts normalt en ledare.</a:t>
            </a:r>
          </a:p>
        </p:txBody>
      </p:sp>
      <p:sp>
        <p:nvSpPr>
          <p:cNvPr id="4" name="Fram- och returström kan ta ut varandra">
            <a:extLst xmlns:a="http://schemas.openxmlformats.org/drawingml/2006/main">
              <a:ext uri="{FF2B5EF4-FFF2-40B4-BE49-F238E27FC236}">
                <a16:creationId xmlns:a16="http://schemas.microsoft.com/office/drawing/2014/main" id="{84CE3EE7-4636-4177-939E-B30412FAE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Fram- och returström kan ta ut varandra</a:t>
            </a:r>
          </a:p>
        </p:txBody>
      </p:sp>
      <p:sp>
        <p:nvSpPr>
          <p:cNvPr id="5" name="AC-tång och AC/DC-tång har olika mätförmåga.&#10;Kontrollera område, ">
            <a:extLst xmlns:a="http://schemas.openxmlformats.org/drawingml/2006/main">
              <a:ext uri="{FF2B5EF4-FFF2-40B4-BE49-F238E27FC236}">
                <a16:creationId xmlns:a16="http://schemas.microsoft.com/office/drawing/2014/main" id="{D92130C1-87DE-40A6-B760-58127036C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Differensström: alla aktiva ledare genom tången, faserna och N om den finns, men inte PE.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Använd en läckströmstång för mA-området. Vid omriktare: true RMS, mät på nätsidan.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0F01F33F-AB90-46E9-BBD1-C9AD3C5A1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römtång runt en ledare visar lastström" descr="Strömtång runt en ledare visar lastströmmen, runt fram- och returledaren nästan noll, och runt L1–L3 och N men inte PE differensströmmen (läckströmmen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7996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06aae37a57456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Isolationsmätning">
            <a:extLst xmlns:a="http://schemas.openxmlformats.org/drawingml/2006/main">
              <a:ext uri="{FF2B5EF4-FFF2-40B4-BE49-F238E27FC236}">
                <a16:creationId xmlns:a16="http://schemas.microsoft.com/office/drawing/2014/main" id="{4DEEF0A8-491C-4F37-BFCC-399FCD60D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Isolationsmätning</a:t>
            </a:r>
          </a:p>
        </p:txBody>
      </p:sp>
      <p:sp>
        <p:nvSpPr>
          <p:cNvPr id="3" name="Instrumentet lägger på en definierad provspänning och mäter respo">
            <a:extLst xmlns:a="http://schemas.openxmlformats.org/drawingml/2006/main">
              <a:ext uri="{FF2B5EF4-FFF2-40B4-BE49-F238E27FC236}">
                <a16:creationId xmlns:a16="http://schemas.microsoft.com/office/drawing/2014/main" id="{AE7990B1-47EF-411C-BF35-7D65D0A8E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Instrumentet lägger på en definierad provspänning och mäter responsen.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Resultatet påverkas av objekt, temperatur, fukt och mättid.</a:t>
            </a:r>
          </a:p>
        </p:txBody>
      </p:sp>
      <p:sp>
        <p:nvSpPr>
          <p:cNvPr id="4" name="Provspänning och metod väljs för utrustningen">
            <a:extLst xmlns:a="http://schemas.openxmlformats.org/drawingml/2006/main">
              <a:ext uri="{FF2B5EF4-FFF2-40B4-BE49-F238E27FC236}">
                <a16:creationId xmlns:a16="http://schemas.microsoft.com/office/drawing/2014/main" id="{2622A037-86AD-43D4-A888-B1C464378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Provspänning och metod väljs för utrustningen</a:t>
            </a:r>
          </a:p>
        </p:txBody>
      </p:sp>
      <p:sp>
        <p:nvSpPr>
          <p:cNvPr id="5" name="Känslig elektronik och lagrad laddning kräver särskild hantering.">
            <a:extLst xmlns:a="http://schemas.openxmlformats.org/drawingml/2006/main">
              <a:ext uri="{FF2B5EF4-FFF2-40B4-BE49-F238E27FC236}">
                <a16:creationId xmlns:a16="http://schemas.microsoft.com/office/drawing/2014/main" id="{C53BF3F9-8766-4FFA-9CCF-A27F129C0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Verifiera spänningslöshet. Koppla bort isolationsvakt, omriktare och elektronik.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Provspänning enligt utrustningens anvisning, för 440 V-utrustning ofta 500 V DC. Urladda till jord efteråt.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71D8F7C1-4AA0-4781-8759-100AB7F68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Isolationsprovare mellan kabelns ledare " descr="Isolationsprovare mellan kabelns ledare och skrovet; provspänning och läckström genom isolationsresistans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890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8f4dbd000d41d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Jordresistansmätning">
            <a:extLst xmlns:a="http://schemas.openxmlformats.org/drawingml/2006/main">
              <a:ext uri="{FF2B5EF4-FFF2-40B4-BE49-F238E27FC236}">
                <a16:creationId xmlns:a16="http://schemas.microsoft.com/office/drawing/2014/main" id="{B657503A-A3BC-4F8A-BF63-6AABE9C55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Jordresistansmätning</a:t>
            </a:r>
          </a:p>
        </p:txBody>
      </p:sp>
      <p:sp>
        <p:nvSpPr>
          <p:cNvPr id="3" name="Metoden behöver skilja jordtagets egenskaper från parallella väga">
            <a:extLst xmlns:a="http://schemas.openxmlformats.org/drawingml/2006/main">
              <a:ext uri="{FF2B5EF4-FFF2-40B4-BE49-F238E27FC236}">
                <a16:creationId xmlns:a16="http://schemas.microsoft.com/office/drawing/2014/main" id="{ABA34940-1C5A-4B13-956B-9D45AF029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Metoden behöver skilja jordtagets egenskaper från parallella vägar.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Hjälpelektroder eller selektiva metoder används beroende på systemet.</a:t>
            </a:r>
          </a:p>
        </p:txBody>
      </p:sp>
      <p:sp>
        <p:nvSpPr>
          <p:cNvPr id="4" name="R = U/I i den förenklade mätmodellen">
            <a:extLst xmlns:a="http://schemas.openxmlformats.org/drawingml/2006/main">
              <a:ext uri="{FF2B5EF4-FFF2-40B4-BE49-F238E27FC236}">
                <a16:creationId xmlns:a16="http://schemas.microsoft.com/office/drawing/2014/main" id="{984AD68E-13BE-42B6-900E-DC3E42335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 = U/I i den förenklade mätmodellen</a:t>
            </a:r>
          </a:p>
        </p:txBody>
      </p:sp>
      <p:sp>
        <p:nvSpPr>
          <p:cNvPr id="5" name="Mätgeometri och anslutningar påverkar resultatet.&#10;Ett lågt tal ut">
            <a:extLst xmlns:a="http://schemas.openxmlformats.org/drawingml/2006/main">
              <a:ext uri="{FF2B5EF4-FFF2-40B4-BE49-F238E27FC236}">
                <a16:creationId xmlns:a16="http://schemas.microsoft.com/office/drawing/2014/main" id="{E8431FC4-820A-4349-89FE-BE02897D8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Mätgeometri och anslutningar påverkar resultatet.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lågt tal utan metodbeskrivning är otillräckligt.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D6900D61-B8E1-4D7F-AD0E-B42CAA9A2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a6604250de4da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resistans från läckström">
            <a:extLst xmlns:a="http://schemas.openxmlformats.org/drawingml/2006/main">
              <a:ext uri="{FF2B5EF4-FFF2-40B4-BE49-F238E27FC236}">
                <a16:creationId xmlns:a16="http://schemas.microsoft.com/office/drawing/2014/main" id="{10AB7CB0-1BD6-42B0-85B5-A6D665E97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resistans från läckström</a:t>
            </a:r>
          </a:p>
        </p:txBody>
      </p:sp>
      <p:sp>
        <p:nvSpPr>
          <p:cNvPr id="10" name="En stationär resistiv modell ger 0,10 mA vid 250 V provspänning.">
            <a:extLst xmlns:a="http://schemas.openxmlformats.org/drawingml/2006/main">
              <a:ext uri="{FF2B5EF4-FFF2-40B4-BE49-F238E27FC236}">
                <a16:creationId xmlns:a16="http://schemas.microsoft.com/office/drawing/2014/main" id="{99FF3188-3F4C-4AD6-A130-739614E40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stationär resistiv modell ger 0,10 mA vid 250 V provspänning.</a:t>
            </a:r>
          </a:p>
        </p:txBody>
      </p:sp>
      <p:sp>
        <p:nvSpPr>
          <p:cNvPr id="11" name="R = U/I">
            <a:extLst xmlns:a="http://schemas.openxmlformats.org/drawingml/2006/main">
              <a:ext uri="{FF2B5EF4-FFF2-40B4-BE49-F238E27FC236}">
                <a16:creationId xmlns:a16="http://schemas.microsoft.com/office/drawing/2014/main" id="{3CEDA44C-0B8A-4567-AAFF-A9522CE8D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 = U/I</a:t>
            </a:r>
          </a:p>
        </p:txBody>
      </p:sp>
      <p:sp>
        <p:nvSpPr>
          <p:cNvPr id="12" name="1. 0,10 mA = 0,00010 A.&#10;2. R = 250/0,00010 = 2 500 000 Ω.&#10;3. R = ">
            <a:extLst xmlns:a="http://schemas.openxmlformats.org/drawingml/2006/main">
              <a:ext uri="{FF2B5EF4-FFF2-40B4-BE49-F238E27FC236}">
                <a16:creationId xmlns:a16="http://schemas.microsoft.com/office/drawing/2014/main" id="{ECB63878-CF7E-446D-94EE-7011E16A2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0,10 mA = 0,00010 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R = 250/0,00010 = 2 500 000 Ω.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R = 2,5 MΩ efter division med 1 000 000.</a:t>
            </a:r>
          </a:p>
        </p:txBody>
      </p:sp>
      <p:sp>
        <p:nvSpPr>
          <p:cNvPr id="13" name="Kontroll: 2 500 000 Ω · 0,00010 A = 250 V. Ingen praktisk provnin">
            <a:extLst xmlns:a="http://schemas.openxmlformats.org/drawingml/2006/main">
              <a:ext uri="{FF2B5EF4-FFF2-40B4-BE49-F238E27FC236}">
                <a16:creationId xmlns:a16="http://schemas.microsoft.com/office/drawing/2014/main" id="{347A15DB-6720-4973-85F6-57E98F60C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Kontroll: 2 500 000 Ω · 0,00010 A = 250 V. Ingen praktisk provning ingår här.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70F08ADC-3455-40EB-B5B8-C082EF5CB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f8530423be49b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9433D1A3-6704-4CF5-91E3-F7A9D5001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3.1</a:t>
            </a:r>
          </a:p>
        </p:txBody>
      </p:sp>
      <p:sp>
        <p:nvSpPr>
          <p:cNvPr id="10" name="Tångens bidrag = algebraisk strömsumma">
            <a:extLst xmlns:a="http://schemas.openxmlformats.org/drawingml/2006/main">
              <a:ext uri="{FF2B5EF4-FFF2-40B4-BE49-F238E27FC236}">
                <a16:creationId xmlns:a16="http://schemas.microsoft.com/office/drawing/2014/main" id="{2AD47F67-D1B6-4559-876D-34B9CEF8F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Tångens bidrag = algebraisk strömsumma</a:t>
            </a:r>
          </a:p>
        </p:txBody>
      </p:sp>
      <p:sp>
        <p:nvSpPr>
          <p:cNvPr id="11" name="Lika ström fram och tillbaka har motsatt magnetisk riktning när b">
            <a:extLst xmlns:a="http://schemas.openxmlformats.org/drawingml/2006/main">
              <a:ext uri="{FF2B5EF4-FFF2-40B4-BE49-F238E27FC236}">
                <a16:creationId xmlns:a16="http://schemas.microsoft.com/office/drawing/2014/main" id="{B067BD03-4D83-45A5-B120-E1B6791A5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Strömmarna fram och tillbaka går åt olika håll, så deras magnetfält tar ut varandra när tången omsluter båda ledarna.</a:t>
            </a:r>
          </a:p>
        </p:txBody>
      </p:sp>
      <p:sp>
        <p:nvSpPr>
          <p:cNvPr id="12" name="Förutsättningar: 10 A ut och 10 A tillbaka. Ingen ström tar annan">
            <a:extLst xmlns:a="http://schemas.openxmlformats.org/drawingml/2006/main">
              <a:ext uri="{FF2B5EF4-FFF2-40B4-BE49-F238E27FC236}">
                <a16:creationId xmlns:a16="http://schemas.microsoft.com/office/drawing/2014/main" id="{BFBCB786-7743-4590-B605-1E6F0C3A6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10 A ut och 10 A tillbaka. Ingen ström tar någon annan väg. Tången är ideal och passar för strömmen.</a:t>
            </a:r>
          </a:p>
        </p:txBody>
      </p:sp>
      <p:sp>
        <p:nvSpPr>
          <p:cNvPr id="13" name="Arbetsgång: Summera strömmarnas bidrag med riktning. Jämför med m">
            <a:extLst xmlns:a="http://schemas.openxmlformats.org/drawingml/2006/main">
              <a:ext uri="{FF2B5EF4-FFF2-40B4-BE49-F238E27FC236}">
                <a16:creationId xmlns:a16="http://schemas.microsoft.com/office/drawing/2014/main" id="{8B8F8180-310B-48AD-9D6B-A7CE0F14A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Lägg ihop strömmarna med tecken och jämför med en mätning runt bara en ledare.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C1B5E787-DF31-4242-B8B8-C55FFE88D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72b3b4347549e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53122A8A-2478-4E50-B0D7-73C02BAAB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3.1</a:t>
            </a:r>
          </a:p>
        </p:txBody>
      </p:sp>
      <p:sp>
        <p:nvSpPr>
          <p:cNvPr id="3" name="Två ledare i tången">
            <a:extLst xmlns:a="http://schemas.openxmlformats.org/drawingml/2006/main">
              <a:ext uri="{FF2B5EF4-FFF2-40B4-BE49-F238E27FC236}">
                <a16:creationId xmlns:a16="http://schemas.microsoft.com/office/drawing/2014/main" id="{B626183A-477D-4241-A3DC-65996C9E0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Två ledare i tången</a:t>
            </a:r>
          </a:p>
        </p:txBody>
      </p:sp>
      <p:sp>
        <p:nvSpPr>
          <p:cNvPr id="4" name="Lasten tar 10 A. Tången omsluter både fram- och returledaren. Vad">
            <a:extLst xmlns:a="http://schemas.openxmlformats.org/drawingml/2006/main">
              <a:ext uri="{FF2B5EF4-FFF2-40B4-BE49-F238E27FC236}">
                <a16:creationId xmlns:a16="http://schemas.microsoft.com/office/drawing/2014/main" id="{093F52D0-2F4E-41E9-9354-589F1A38A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Lasten tar 10 A. Tången omsluter både fram- och returledaren. Vad visar en ideal tång om ingen ström tar någon annan väg?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793D7A6-8F13-4675-A8B8-8EE0950E4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64497269-D5D4-4BCE-B2E9-25842452A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8242edbe7b42e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BFCD923F-A0BA-4C36-9B56-2256DA27A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3.2</a:t>
            </a:r>
          </a:p>
        </p:txBody>
      </p:sp>
      <p:sp>
        <p:nvSpPr>
          <p:cNvPr id="10" name="I = Utång/k">
            <a:extLst xmlns:a="http://schemas.openxmlformats.org/drawingml/2006/main">
              <a:ext uri="{FF2B5EF4-FFF2-40B4-BE49-F238E27FC236}">
                <a16:creationId xmlns:a16="http://schemas.microsoft.com/office/drawing/2014/main" id="{B3C18875-66AB-45DF-9CAF-87209CCBE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 = Utång/k</a:t>
            </a:r>
          </a:p>
        </p:txBody>
      </p:sp>
      <p:sp>
        <p:nvSpPr>
          <p:cNvPr id="11" name="k är tångens känslighet i mV/A. Utång är dess utspänning i mV. mV">
            <a:extLst xmlns:a="http://schemas.openxmlformats.org/drawingml/2006/main">
              <a:ext uri="{FF2B5EF4-FFF2-40B4-BE49-F238E27FC236}">
                <a16:creationId xmlns:a16="http://schemas.microsoft.com/office/drawing/2014/main" id="{7D15F491-0F84-44FA-8E8C-94DE67FA2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 är tångens känslighet i mV/A och Utång dess utspänning i mV.</a:t>
            </a:r>
          </a:p>
        </p:txBody>
      </p:sp>
      <p:sp>
        <p:nvSpPr>
          <p:cNvPr id="12" name="Förutsättningar: Känslighet 10 mV/A och visning 250 mV. Nollfel o">
            <a:extLst xmlns:a="http://schemas.openxmlformats.org/drawingml/2006/main">
              <a:ext uri="{FF2B5EF4-FFF2-40B4-BE49-F238E27FC236}">
                <a16:creationId xmlns:a16="http://schemas.microsoft.com/office/drawing/2014/main" id="{FE1C7F37-7BA5-49F7-9548-6FF466940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Känslighet 10 mV/A och visning 250 mV. Bortse från nollfel och andra instrumentfel.</a:t>
            </a:r>
          </a:p>
        </p:txBody>
      </p:sp>
      <p:sp>
        <p:nvSpPr>
          <p:cNvPr id="13" name="Arbetsgång: Dividera visningen med känsligheten. Behåll mV på båd">
            <a:extLst xmlns:a="http://schemas.openxmlformats.org/drawingml/2006/main">
              <a:ext uri="{FF2B5EF4-FFF2-40B4-BE49-F238E27FC236}">
                <a16:creationId xmlns:a16="http://schemas.microsoft.com/office/drawing/2014/main" id="{CAA17DEF-20D4-4B5B-8FD9-6FB03CA0E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Dela visningen med känsligheten – mV delat med mV/A ger A.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558C1BDF-8BD2-4511-A09A-791C1D855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d4d1f0afe743e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27EC46FE-30C7-4197-9B1C-710F2D799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3.2</a:t>
            </a:r>
          </a:p>
        </p:txBody>
      </p:sp>
      <p:sp>
        <p:nvSpPr>
          <p:cNvPr id="3" name="Tångens utgång">
            <a:extLst xmlns:a="http://schemas.openxmlformats.org/drawingml/2006/main">
              <a:ext uri="{FF2B5EF4-FFF2-40B4-BE49-F238E27FC236}">
                <a16:creationId xmlns:a16="http://schemas.microsoft.com/office/drawing/2014/main" id="{74E482A9-6D09-4F84-A3EA-3DDDC1DEB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Tångens utgång</a:t>
            </a:r>
          </a:p>
        </p:txBody>
      </p:sp>
      <p:sp>
        <p:nvSpPr>
          <p:cNvPr id="4" name="En strömtång ger 10 mV/A. En mätare visar 250 mV. Beräkna strömme">
            <a:extLst xmlns:a="http://schemas.openxmlformats.org/drawingml/2006/main">
              <a:ext uri="{FF2B5EF4-FFF2-40B4-BE49-F238E27FC236}">
                <a16:creationId xmlns:a16="http://schemas.microsoft.com/office/drawing/2014/main" id="{8403C001-C993-4AA1-BFFD-32B3B2316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strömtång ger 10 mV/A. En mätare visar 250 mV. Beräkna strömmen.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1E461C0-CA54-4EE8-9904-8F7653A33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DB24F0C8-1EAA-45DE-9B2D-FC7AE612A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40067c8bad4c7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8A38968B-3BA9-4A54-A4FB-324A19D9E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3.3</a:t>
            </a:r>
          </a:p>
        </p:txBody>
      </p:sp>
      <p:sp>
        <p:nvSpPr>
          <p:cNvPr id="10" name="R = Uprov/Iläck">
            <a:extLst xmlns:a="http://schemas.openxmlformats.org/drawingml/2006/main">
              <a:ext uri="{FF2B5EF4-FFF2-40B4-BE49-F238E27FC236}">
                <a16:creationId xmlns:a16="http://schemas.microsoft.com/office/drawing/2014/main" id="{4DF2110B-CA00-455E-9077-11B69EA6B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 = Uprov/Iläck</a:t>
            </a:r>
          </a:p>
        </p:txBody>
      </p:sp>
      <p:sp>
        <p:nvSpPr>
          <p:cNvPr id="11" name="Uprov anges i V, Iläck i A och R i Ω. 1 mA = 0,001 A. 1 MΩ = 1 00">
            <a:extLst xmlns:a="http://schemas.openxmlformats.org/drawingml/2006/main">
              <a:ext uri="{FF2B5EF4-FFF2-40B4-BE49-F238E27FC236}">
                <a16:creationId xmlns:a16="http://schemas.microsoft.com/office/drawing/2014/main" id="{2C8435B2-48E5-45BD-ABCB-EEE836951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 mA = 0,001 A och 1 MΩ = 1 000 000 Ω.</a:t>
            </a:r>
          </a:p>
        </p:txBody>
      </p:sp>
      <p:sp>
        <p:nvSpPr>
          <p:cNvPr id="12" name="Förutsättningar: Förenklad stationär resistiv modell: 500 V och 0">
            <a:extLst xmlns:a="http://schemas.openxmlformats.org/drawingml/2006/main">
              <a:ext uri="{FF2B5EF4-FFF2-40B4-BE49-F238E27FC236}">
                <a16:creationId xmlns:a16="http://schemas.microsoft.com/office/drawing/2014/main" id="{07DC93EC-39A7-4CE0-B911-7BC6E4308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Isolationen räknas som en ren resistans: 500 V och 0,25 mA. Uppgiften är bara en beräkning.</a:t>
            </a:r>
          </a:p>
        </p:txBody>
      </p:sp>
      <p:sp>
        <p:nvSpPr>
          <p:cNvPr id="13" name="Arbetsgång: Omvandla läckströmmen till A. Dividera och omvandla s">
            <a:extLst xmlns:a="http://schemas.openxmlformats.org/drawingml/2006/main">
              <a:ext uri="{FF2B5EF4-FFF2-40B4-BE49-F238E27FC236}">
                <a16:creationId xmlns:a16="http://schemas.microsoft.com/office/drawing/2014/main" id="{0F7C2AA3-1C20-4211-8F43-A880DCF3A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Gör om läckströmmen till A, dela spänningen med strömmen och gör om svaret till MΩ.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6BD08574-AAD5-4985-889C-447D1E237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fee07bf1de4bb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5653DA88-A4C2-485F-AA1B-C5022BC92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3.3</a:t>
            </a:r>
          </a:p>
        </p:txBody>
      </p:sp>
      <p:sp>
        <p:nvSpPr>
          <p:cNvPr id="3" name="Isolationsdata">
            <a:extLst xmlns:a="http://schemas.openxmlformats.org/drawingml/2006/main">
              <a:ext uri="{FF2B5EF4-FFF2-40B4-BE49-F238E27FC236}">
                <a16:creationId xmlns:a16="http://schemas.microsoft.com/office/drawing/2014/main" id="{80CBAE43-39F4-4B39-8968-4A4FCF6C0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Isolationsdata</a:t>
            </a:r>
          </a:p>
        </p:txBody>
      </p:sp>
      <p:sp>
        <p:nvSpPr>
          <p:cNvPr id="4" name="En förenklad isolationsmodell har 500 V provspänning och 0,25 mA ">
            <a:extLst xmlns:a="http://schemas.openxmlformats.org/drawingml/2006/main">
              <a:ext uri="{FF2B5EF4-FFF2-40B4-BE49-F238E27FC236}">
                <a16:creationId xmlns:a16="http://schemas.microsoft.com/office/drawing/2014/main" id="{9104B3C9-A073-46F3-9C19-D1FB781D8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isolationsprov med 500 V ger en stabil läckström på 0,25 mA. Beräkna isolationsresistansen.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D01FCFDD-8C50-4AC5-9A65-A97DDC270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A060C270-7F98-4F77-BE8A-570C7449C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bf1b8ee34e44a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826CD4C3-3CE1-4AE9-B301-898F454A6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3.4</a:t>
            </a:r>
          </a:p>
        </p:txBody>
      </p:sp>
      <p:sp>
        <p:nvSpPr>
          <p:cNvPr id="10" name="Rp = R₁R₂/(R₁ + R₂)">
            <a:extLst xmlns:a="http://schemas.openxmlformats.org/drawingml/2006/main">
              <a:ext uri="{FF2B5EF4-FFF2-40B4-BE49-F238E27FC236}">
                <a16:creationId xmlns:a16="http://schemas.microsoft.com/office/drawing/2014/main" id="{112C5A14-9A1B-43CF-9D37-0CD0F5B82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/(R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+ 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)</a:t>
            </a:r>
          </a:p>
        </p:txBody>
      </p:sp>
      <p:sp>
        <p:nvSpPr>
          <p:cNvPr id="11" name="Två parallella isolationsvägar leder tillsammans större läckström">
            <a:extLst xmlns:a="http://schemas.openxmlformats.org/drawingml/2006/main">
              <a:ext uri="{FF2B5EF4-FFF2-40B4-BE49-F238E27FC236}">
                <a16:creationId xmlns:a16="http://schemas.microsoft.com/office/drawing/2014/main" id="{35B3225B-C08A-4E9E-A661-DBCC91592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parallella vägar släpper tillsammans igenom mer läckström än en ensam.</a:t>
            </a:r>
          </a:p>
        </p:txBody>
      </p:sp>
      <p:sp>
        <p:nvSpPr>
          <p:cNvPr id="12" name="Förutsättningar: R₁ = R₂ = 20 MΩ. Båda vägarna ligger mellan samm">
            <a:extLst xmlns:a="http://schemas.openxmlformats.org/drawingml/2006/main">
              <a:ext uri="{FF2B5EF4-FFF2-40B4-BE49-F238E27FC236}">
                <a16:creationId xmlns:a16="http://schemas.microsoft.com/office/drawing/2014/main" id="{694644CC-288E-4389-8D65-D5822C973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R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20 MΩ. Båda vägarna går mellan samma ledare och jord.</a:t>
            </a:r>
          </a:p>
        </p:txBody>
      </p:sp>
      <p:sp>
        <p:nvSpPr>
          <p:cNvPr id="13" name="Arbetsgång: Använd parallellformeln med MΩ genom hela beräkningen">
            <a:extLst xmlns:a="http://schemas.openxmlformats.org/drawingml/2006/main">
              <a:ext uri="{FF2B5EF4-FFF2-40B4-BE49-F238E27FC236}">
                <a16:creationId xmlns:a16="http://schemas.microsoft.com/office/drawing/2014/main" id="{F12E72A3-9937-40C7-AFC3-6D713184D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Använd parallellformeln och räkna i MΩ hela vägen.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486E2954-1042-47C9-87AD-F4B77C8F3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66789a33ac4fb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45439BD2-2A54-4A92-A259-D6E30C5B1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3.4</a:t>
            </a:r>
          </a:p>
        </p:txBody>
      </p:sp>
      <p:sp>
        <p:nvSpPr>
          <p:cNvPr id="3" name="Parallell isolation">
            <a:extLst xmlns:a="http://schemas.openxmlformats.org/drawingml/2006/main">
              <a:ext uri="{FF2B5EF4-FFF2-40B4-BE49-F238E27FC236}">
                <a16:creationId xmlns:a16="http://schemas.microsoft.com/office/drawing/2014/main" id="{2C3E74E1-B10E-4108-BBE9-27F814618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Parallell isolation</a:t>
            </a:r>
          </a:p>
        </p:txBody>
      </p:sp>
      <p:sp>
        <p:nvSpPr>
          <p:cNvPr id="4" name="Två oberoende isolationsvägar på 20 MΩ och 20 MΩ ligger parallell">
            <a:extLst xmlns:a="http://schemas.openxmlformats.org/drawingml/2006/main">
              <a:ext uri="{FF2B5EF4-FFF2-40B4-BE49-F238E27FC236}">
                <a16:creationId xmlns:a16="http://schemas.microsoft.com/office/drawing/2014/main" id="{4FDDEDA2-FC8A-44EA-B62F-C793F8F22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isolationsvägar på 20 MΩ vardera går parallellt från samma ledare till jord. Beräkna den sammanlagda resistansen.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AAC7F9D-A875-4104-9144-A0C42D948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7253E6BB-51AE-4C24-82BB-969016A2A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vå isolationsvägar på 20 megaohm parall" descr="Två isolationsvägar på 20 megaohm parallellt mellan en aktiv ledare och jord; ekvivalent resistans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c576ac751941a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3885DA01-A868-4867-ABBB-8B1D85522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3.5</a:t>
            </a:r>
          </a:p>
        </p:txBody>
      </p:sp>
      <p:sp>
        <p:nvSpPr>
          <p:cNvPr id="10" name="R = U/I">
            <a:extLst xmlns:a="http://schemas.openxmlformats.org/drawingml/2006/main">
              <a:ext uri="{FF2B5EF4-FFF2-40B4-BE49-F238E27FC236}">
                <a16:creationId xmlns:a16="http://schemas.microsoft.com/office/drawing/2014/main" id="{BCCD86E6-656B-4881-85FE-4EADEC332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 = U/I</a:t>
            </a:r>
          </a:p>
        </p:txBody>
      </p:sp>
      <p:sp>
        <p:nvSpPr>
          <p:cNvPr id="11" name="U är mätspänning i V och I provström i A. Enheten V/A är Ω.">
            <a:extLst xmlns:a="http://schemas.openxmlformats.org/drawingml/2006/main">
              <a:ext uri="{FF2B5EF4-FFF2-40B4-BE49-F238E27FC236}">
                <a16:creationId xmlns:a16="http://schemas.microsoft.com/office/drawing/2014/main" id="{19F8DCA2-2A2E-4A3B-AD41-CDBCB44F4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V/A ger Ω.</a:t>
            </a:r>
          </a:p>
        </p:txBody>
      </p:sp>
      <p:sp>
        <p:nvSpPr>
          <p:cNvPr id="12" name="Förutsättningar: Mätmodell med 0,40 V och 20 mA. Övriga bidrag fö">
            <a:extLst xmlns:a="http://schemas.openxmlformats.org/drawingml/2006/main">
              <a:ext uri="{FF2B5EF4-FFF2-40B4-BE49-F238E27FC236}">
                <a16:creationId xmlns:a16="http://schemas.microsoft.com/office/drawing/2014/main" id="{622AB740-3563-424E-A5BF-57DEEC999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0,40 V och 20 mA. Andra bidrag försummas.</a:t>
            </a:r>
          </a:p>
        </p:txBody>
      </p:sp>
      <p:sp>
        <p:nvSpPr>
          <p:cNvPr id="13" name="Arbetsgång: Omvandla mA till A innan du dividerar.">
            <a:extLst xmlns:a="http://schemas.openxmlformats.org/drawingml/2006/main">
              <a:ext uri="{FF2B5EF4-FFF2-40B4-BE49-F238E27FC236}">
                <a16:creationId xmlns:a16="http://schemas.microsoft.com/office/drawing/2014/main" id="{6462A537-EF64-496D-9602-DB817CD18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Gör om mA till A innan du delar.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592B9DE2-A857-40BE-A8E1-1870A672A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97e19666c24fa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E80B8C73-4507-4144-BD0A-0979DC340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3.5</a:t>
            </a:r>
          </a:p>
        </p:txBody>
      </p:sp>
      <p:sp>
        <p:nvSpPr>
          <p:cNvPr id="3" name="Jordresistansmodell">
            <a:extLst xmlns:a="http://schemas.openxmlformats.org/drawingml/2006/main">
              <a:ext uri="{FF2B5EF4-FFF2-40B4-BE49-F238E27FC236}">
                <a16:creationId xmlns:a16="http://schemas.microsoft.com/office/drawing/2014/main" id="{FDAA659C-C5DE-4FF4-AFC2-B6AFB5FEF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Jordresistansmodell</a:t>
            </a:r>
          </a:p>
        </p:txBody>
      </p:sp>
      <p:sp>
        <p:nvSpPr>
          <p:cNvPr id="4" name="En kontrollerad mätmodell ger 0,40 V vid provström 20 mA. Beräkna">
            <a:extLst xmlns:a="http://schemas.openxmlformats.org/drawingml/2006/main">
              <a:ext uri="{FF2B5EF4-FFF2-40B4-BE49-F238E27FC236}">
                <a16:creationId xmlns:a16="http://schemas.microsoft.com/office/drawing/2014/main" id="{FC342834-0EEC-46C0-A2C0-D2BFC88AD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jordtagsmätning ger 0,40 V vid provströmmen 20 mA. Beräkna R.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61CBC8C-2578-4C6E-838F-DC4A1638F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106FF880-8CBE-4372-B964-3D6860FD3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1a32ed4c37449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F348D261-77E5-41B0-85AA-A75534D00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Oscilloskopets referens&#10;Osäkerhet och felgräns&#10;Kalibrering och ko">
            <a:extLst xmlns:a="http://schemas.openxmlformats.org/drawingml/2006/main">
              <a:ext uri="{FF2B5EF4-FFF2-40B4-BE49-F238E27FC236}">
                <a16:creationId xmlns:a16="http://schemas.microsoft.com/office/drawing/2014/main" id="{883B5993-35BB-4888-8A69-79B74326A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Oscilloskopets referens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Osäkerhet och felgräns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Kalibrering och kontroll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9660A87D-B61A-417C-BF53-ACBA7D120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3.6–3.10.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80CEA901-E6F9-45E1-9C28-53B37F363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5286ece737441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Oscilloskopets referens">
            <a:extLst xmlns:a="http://schemas.openxmlformats.org/drawingml/2006/main">
              <a:ext uri="{FF2B5EF4-FFF2-40B4-BE49-F238E27FC236}">
                <a16:creationId xmlns:a16="http://schemas.microsoft.com/office/drawing/2014/main" id="{5C677535-F9FA-4D31-879D-F9A38BA51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Oscilloskopets referens</a:t>
            </a:r>
          </a:p>
        </p:txBody>
      </p:sp>
      <p:sp>
        <p:nvSpPr>
          <p:cNvPr id="3" name="Ett vanligt bänkinstruments probjord är kopplad till skyddsjord.&#10;">
            <a:extLst xmlns:a="http://schemas.openxmlformats.org/drawingml/2006/main">
              <a:ext uri="{FF2B5EF4-FFF2-40B4-BE49-F238E27FC236}">
                <a16:creationId xmlns:a16="http://schemas.microsoft.com/office/drawing/2014/main" id="{E8E2D808-818F-4A1C-B7F2-5887EA25C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vanligt bänkinstruments probjord är kopplad till skyddsjord.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Fel anslutning kan skapa en kortslutning mot jord.</a:t>
            </a:r>
          </a:p>
        </p:txBody>
      </p:sp>
      <p:sp>
        <p:nvSpPr>
          <p:cNvPr id="4" name="Jordad eller isolerad mätning måste vara planerad">
            <a:extLst xmlns:a="http://schemas.openxmlformats.org/drawingml/2006/main">
              <a:ext uri="{FF2B5EF4-FFF2-40B4-BE49-F238E27FC236}">
                <a16:creationId xmlns:a16="http://schemas.microsoft.com/office/drawing/2014/main" id="{70D0A2A0-0E48-4296-B5ED-04A3FB624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Jordad eller isolerad mätning måste vara planerad</a:t>
            </a:r>
          </a:p>
        </p:txBody>
      </p:sp>
      <p:sp>
        <p:nvSpPr>
          <p:cNvPr id="5" name="Flytande mätningar kräver avsedd differential- eller isolerad lös">
            <a:extLst xmlns:a="http://schemas.openxmlformats.org/drawingml/2006/main">
              <a:ext uri="{FF2B5EF4-FFF2-40B4-BE49-F238E27FC236}">
                <a16:creationId xmlns:a16="http://schemas.microsoft.com/office/drawing/2014/main" id="{048750FE-C8CE-496C-8C75-AC0C4A4E6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Flytande mätningar kräver differentialprob med rätt mätkategori.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IT-nät ger probjord på en fas ett jordfel och larm, och kortslutning om ett annat fel redan finns.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E5F6130E-7AD4-4A4B-8B57-0276155D0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Oscilloskopets probjord är förbunden med" descr="Oscilloskopets probjord är förbunden med skyddsjorden; kopplas den till en spänningssatt ledare blir det kortslutning via skyddsjord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890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29964bc3ae4ab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Osäkerhet och felgräns">
            <a:extLst xmlns:a="http://schemas.openxmlformats.org/drawingml/2006/main">
              <a:ext uri="{FF2B5EF4-FFF2-40B4-BE49-F238E27FC236}">
                <a16:creationId xmlns:a16="http://schemas.microsoft.com/office/drawing/2014/main" id="{72EE1EC2-6993-422E-B593-7E6C41701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Osäkerhet och felgräns</a:t>
            </a:r>
          </a:p>
        </p:txBody>
      </p:sp>
      <p:sp>
        <p:nvSpPr>
          <p:cNvPr id="3" name="Upplösning, instrumentspecifikation och spridning är olika bidrag">
            <a:extLst xmlns:a="http://schemas.openxmlformats.org/drawingml/2006/main">
              <a:ext uri="{FF2B5EF4-FFF2-40B4-BE49-F238E27FC236}">
                <a16:creationId xmlns:a16="http://schemas.microsoft.com/office/drawing/2014/main" id="{83CBD8BC-7F53-44F3-8657-B76005311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Upplösning, instrumentspecifikation och spridning är olika bidrag.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Enkel summering kan användas som konservativ gräns i uppgifter.</a:t>
            </a:r>
          </a:p>
        </p:txBody>
      </p:sp>
      <p:sp>
        <p:nvSpPr>
          <p:cNvPr id="4" name="Resultatets intervall behöver följa med slutsatsen">
            <a:extLst xmlns:a="http://schemas.openxmlformats.org/drawingml/2006/main">
              <a:ext uri="{FF2B5EF4-FFF2-40B4-BE49-F238E27FC236}">
                <a16:creationId xmlns:a16="http://schemas.microsoft.com/office/drawing/2014/main" id="{CF5D0E7C-B2D1-4F84-BCBB-DCF5E5E7C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Resultatets intervall behöver följa med slutsatsen</a:t>
            </a:r>
          </a:p>
        </p:txBody>
      </p:sp>
      <p:sp>
        <p:nvSpPr>
          <p:cNvPr id="5" name="0,5 % av 100,0 V + 2 steg à 0,1 V ger ±0,7 V.&#10;En full mätosäkerhe">
            <a:extLst xmlns:a="http://schemas.openxmlformats.org/drawingml/2006/main">
              <a:ext uri="{FF2B5EF4-FFF2-40B4-BE49-F238E27FC236}">
                <a16:creationId xmlns:a16="http://schemas.microsoft.com/office/drawing/2014/main" id="{C835AFC0-8757-48E2-811D-64B88EF28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1 % av 50,00 V + 3 steg à 0,01 V ger ±0,53 V.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full mätosäkerhetsbudget kräver en beskriven modell.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863FC3C9-A78A-4159-BE52-91D24E27C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Visning 50,00 V med felgränsen ±0,53 V g" descr="Visning 50,00 V med felgränsen ±0,53 V ger intervallet 49,47 till 50,53 V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169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2e565394f7437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alibrering och kontroll">
            <a:extLst xmlns:a="http://schemas.openxmlformats.org/drawingml/2006/main">
              <a:ext uri="{FF2B5EF4-FFF2-40B4-BE49-F238E27FC236}">
                <a16:creationId xmlns:a16="http://schemas.microsoft.com/office/drawing/2014/main" id="{610CF3D4-317B-4AD1-A8FE-9FB3403B9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Kalibrering och kontroll</a:t>
            </a:r>
          </a:p>
        </p:txBody>
      </p:sp>
      <p:sp>
        <p:nvSpPr>
          <p:cNvPr id="3" name="Kalibrering jämför instrumentet med en spårbar referens.&#10;Justerin">
            <a:extLst xmlns:a="http://schemas.openxmlformats.org/drawingml/2006/main">
              <a:ext uri="{FF2B5EF4-FFF2-40B4-BE49-F238E27FC236}">
                <a16:creationId xmlns:a16="http://schemas.microsoft.com/office/drawing/2014/main" id="{F4C805CC-89C9-435A-A9F3-5D9286D24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Kalibrering jämför instrumentet med en spårbar referens.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Justering och kalibrering är olika moment.</a:t>
            </a:r>
          </a:p>
        </p:txBody>
      </p:sp>
      <p:sp>
        <p:nvSpPr>
          <p:cNvPr id="4" name="Status, datum, användning och kontrollresultat">
            <a:extLst xmlns:a="http://schemas.openxmlformats.org/drawingml/2006/main">
              <a:ext uri="{FF2B5EF4-FFF2-40B4-BE49-F238E27FC236}">
                <a16:creationId xmlns:a16="http://schemas.microsoft.com/office/drawing/2014/main" id="{94366C30-64F3-497B-B524-3269D83FE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Status, datum, användning och kontrollresultat</a:t>
            </a:r>
          </a:p>
        </p:txBody>
      </p:sp>
      <p:sp>
        <p:nvSpPr>
          <p:cNvPr id="5" name="Ett kalibreringsbevis garanterar inte att instrumentet förblir&#10;fe">
            <a:extLst xmlns:a="http://schemas.openxmlformats.org/drawingml/2006/main">
              <a:ext uri="{FF2B5EF4-FFF2-40B4-BE49-F238E27FC236}">
                <a16:creationId xmlns:a16="http://schemas.microsoft.com/office/drawing/2014/main" id="{119AFB82-8409-47A4-8987-AB0C00F86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kalibreringsbevis garanterar inte att instrumentet förblir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felfritt efter exempelvis fall, överlast eller skadad ledning.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90C8E536-3897-4AD1-BA61-0248B2E1D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599f439cae4ad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oscilloskopets skalor">
            <a:extLst xmlns:a="http://schemas.openxmlformats.org/drawingml/2006/main">
              <a:ext uri="{FF2B5EF4-FFF2-40B4-BE49-F238E27FC236}">
                <a16:creationId xmlns:a16="http://schemas.microsoft.com/office/drawing/2014/main" id="{F89540E7-280E-425D-AF84-73180E71A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oscilloskopets skalor</a:t>
            </a:r>
          </a:p>
        </p:txBody>
      </p:sp>
      <p:sp>
        <p:nvSpPr>
          <p:cNvPr id="10" name="En hel period upptar 5 rutor à 2 ms. Visad topp är 1,5 V med 10:1">
            <a:extLst xmlns:a="http://schemas.openxmlformats.org/drawingml/2006/main">
              <a:ext uri="{FF2B5EF4-FFF2-40B4-BE49-F238E27FC236}">
                <a16:creationId xmlns:a16="http://schemas.microsoft.com/office/drawing/2014/main" id="{B87AD465-E739-4149-8463-EB88859F0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hel period upptar 5 rutor à 2 ms. Visad topp är 1,5 V med 10:1-prob utan automatisk kompensation.</a:t>
            </a:r>
          </a:p>
        </p:txBody>
      </p:sp>
      <p:sp>
        <p:nvSpPr>
          <p:cNvPr id="11" name="T = rutor · tidsbas     f = 1/T&#10;û = probfaktor · ûvisad">
            <a:extLst xmlns:a="http://schemas.openxmlformats.org/drawingml/2006/main">
              <a:ext uri="{FF2B5EF4-FFF2-40B4-BE49-F238E27FC236}">
                <a16:creationId xmlns:a16="http://schemas.microsoft.com/office/drawing/2014/main" id="{5AFCAD3F-4BEC-4840-95A2-3ADAD17BF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3977639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8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 = rutor · tidsbas     f = 1/T</a:t>
            </a:r>
          </a:p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8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û = probfaktor · </a:t>
            </a:r>
            <a:r>
              <a:rPr sz="18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û</a:t>
            </a:r>
            <a:r>
              <a:rPr sz="18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visad</a:t>
            </a:r>
          </a:p>
        </p:txBody>
      </p:sp>
      <p:sp>
        <p:nvSpPr>
          <p:cNvPr id="12" name="1. T = 5 · 2 = 10 ms = 0,010 s.&#10;2. f = 1/0,010 = 100 Hz.&#10;3. û = 1">
            <a:extLst xmlns:a="http://schemas.openxmlformats.org/drawingml/2006/main">
              <a:ext uri="{FF2B5EF4-FFF2-40B4-BE49-F238E27FC236}">
                <a16:creationId xmlns:a16="http://schemas.microsoft.com/office/drawing/2014/main" id="{7488B684-0D66-453B-92EB-B1C16FA7E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3977639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T = 5 · 2 = 10 ms = 0,010 s.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f = 1/0,010 = 100 Hz.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û = 10 · 1,5 = 15 V.</a:t>
            </a:r>
          </a:p>
        </p:txBody>
      </p:sp>
      <p:sp>
        <p:nvSpPr>
          <p:cNvPr id="13" name="Tidsskalan styr frekvensberäkningen. Probfaktorn korrigerar spänn">
            <a:extLst xmlns:a="http://schemas.openxmlformats.org/drawingml/2006/main">
              <a:ext uri="{FF2B5EF4-FFF2-40B4-BE49-F238E27FC236}">
                <a16:creationId xmlns:a16="http://schemas.microsoft.com/office/drawing/2014/main" id="{6C1D5556-BF1B-476E-97BA-7D6939779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3977639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Tidsskalan styr frekvensberäkningen. Probfaktorn korrigerar spänning, inte tid.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F5630004-4A35-4CE4-B191-4129840AC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Oscilloskopskärm med sinus: en period på" descr="Oscilloskopskärm med sinus: en period på fem rutor vid 2 ms per ruta, 10:1-prob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890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21ae11c982415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0FDFD75D-8763-4D33-83F1-5C42E5F92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3.6</a:t>
            </a:r>
          </a:p>
        </p:txBody>
      </p:sp>
      <p:sp>
        <p:nvSpPr>
          <p:cNvPr id="10" name="T = antal rutor · tid/ruta     f = 1/T">
            <a:extLst xmlns:a="http://schemas.openxmlformats.org/drawingml/2006/main">
              <a:ext uri="{FF2B5EF4-FFF2-40B4-BE49-F238E27FC236}">
                <a16:creationId xmlns:a16="http://schemas.microsoft.com/office/drawing/2014/main" id="{824DF9E3-A8EF-4419-A9B7-E0C62F4A3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 = antal rutor · tid/ruta; f = 1/T</a:t>
            </a:r>
          </a:p>
        </p:txBody>
      </p:sp>
      <p:sp>
        <p:nvSpPr>
          <p:cNvPr id="11" name="T ska uttryckas i s när frekvensen beräknas i Hz. 1 ms = 0,001 s.">
            <a:extLst xmlns:a="http://schemas.openxmlformats.org/drawingml/2006/main">
              <a:ext uri="{FF2B5EF4-FFF2-40B4-BE49-F238E27FC236}">
                <a16:creationId xmlns:a16="http://schemas.microsoft.com/office/drawing/2014/main" id="{501CCA9C-3ABC-43B9-802A-DC2BC3E5B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 måste vara i sekunder för att f ska bli i Hz. 1 ms = 0,001 s.</a:t>
            </a:r>
          </a:p>
        </p:txBody>
      </p:sp>
      <p:sp>
        <p:nvSpPr>
          <p:cNvPr id="12" name="Förutsättningar: En hel period upptar 4 rutor. Tidsbasen är 5 ms ">
            <a:extLst xmlns:a="http://schemas.openxmlformats.org/drawingml/2006/main">
              <a:ext uri="{FF2B5EF4-FFF2-40B4-BE49-F238E27FC236}">
                <a16:creationId xmlns:a16="http://schemas.microsoft.com/office/drawing/2014/main" id="{100BD81A-FC01-443E-9376-EC3F9F17A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 hel period tar 4 rutor. Tidsbasen är 5 ms per ruta.</a:t>
            </a:r>
          </a:p>
        </p:txBody>
      </p:sp>
      <p:sp>
        <p:nvSpPr>
          <p:cNvPr id="13" name="Arbetsgång: Beräkna perioden i ms, omvandla till s och ta sedan i">
            <a:extLst xmlns:a="http://schemas.openxmlformats.org/drawingml/2006/main">
              <a:ext uri="{FF2B5EF4-FFF2-40B4-BE49-F238E27FC236}">
                <a16:creationId xmlns:a16="http://schemas.microsoft.com/office/drawing/2014/main" id="{548FAC71-3D84-47C7-8393-D8D1D779A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periodtiden i ms, gör om till s och dela sedan 1 med den.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45299C3D-DCB9-4A82-809F-CF8BD2FBB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f52339140a44f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8B23AEA7-3E7B-40B9-852F-00EE19FA8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3.6</a:t>
            </a:r>
          </a:p>
        </p:txBody>
      </p:sp>
      <p:sp>
        <p:nvSpPr>
          <p:cNvPr id="3" name="Oscilloskopets tidsbas">
            <a:extLst xmlns:a="http://schemas.openxmlformats.org/drawingml/2006/main">
              <a:ext uri="{FF2B5EF4-FFF2-40B4-BE49-F238E27FC236}">
                <a16:creationId xmlns:a16="http://schemas.microsoft.com/office/drawing/2014/main" id="{D82F20A1-B629-40CC-A5F8-872BA9DDD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Oscilloskopets tidsbas</a:t>
            </a:r>
          </a:p>
        </p:txBody>
      </p:sp>
      <p:sp>
        <p:nvSpPr>
          <p:cNvPr id="4" name="En period täcker fyra rutor. Tidsbasen är 5 ms/ruta. Beräkna peri">
            <a:extLst xmlns:a="http://schemas.openxmlformats.org/drawingml/2006/main">
              <a:ext uri="{FF2B5EF4-FFF2-40B4-BE49-F238E27FC236}">
                <a16:creationId xmlns:a16="http://schemas.microsoft.com/office/drawing/2014/main" id="{8D5A925D-50A6-469B-AC3A-7F9499CE4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period tar fyra rutor, och tidsbasen är 5 ms per ruta. Beräkna periodtid och frekvens.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3ED344E-024C-4601-8894-3857EE2FE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45926DC1-070C-447B-BE0B-A2BD79A79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Oscilloskopskärm där en period täcker fy" descr="Oscilloskopskärm där en period täcker fyra rutor vid 5 ms per ruta; period och frekvens okän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6535" y="2331720"/>
            <a:ext cx="3811489" cy="28346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d6973d63714c2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60859721-048E-494B-AFF9-311AE292E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3.7</a:t>
            </a:r>
          </a:p>
        </p:txBody>
      </p:sp>
      <p:sp>
        <p:nvSpPr>
          <p:cNvPr id="10" name="ûverklig = probfaktor · ûvisad">
            <a:extLst xmlns:a="http://schemas.openxmlformats.org/drawingml/2006/main">
              <a:ext uri="{FF2B5EF4-FFF2-40B4-BE49-F238E27FC236}">
                <a16:creationId xmlns:a16="http://schemas.microsoft.com/office/drawing/2014/main" id="{E4583622-2B5A-48B2-A7D9-4B9163A20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ûverklig = probfaktor · ûvisad</a:t>
            </a:r>
          </a:p>
        </p:txBody>
      </p:sp>
      <p:sp>
        <p:nvSpPr>
          <p:cNvPr id="11" name="En 10:1-prob dämpar spänningen till en tiondel före instrumentets">
            <a:extLst xmlns:a="http://schemas.openxmlformats.org/drawingml/2006/main">
              <a:ext uri="{FF2B5EF4-FFF2-40B4-BE49-F238E27FC236}">
                <a16:creationId xmlns:a16="http://schemas.microsoft.com/office/drawing/2014/main" id="{D698C4F2-5BFA-4156-B9EA-891FDB0B1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10:1-prob dämpar spänningen till en tiondel innan den når oscilloskopet.</a:t>
            </a:r>
          </a:p>
        </p:txBody>
      </p:sp>
      <p:sp>
        <p:nvSpPr>
          <p:cNvPr id="12" name="Förutsättningar: Probfaktor 10, visad topp 2,0 V. Automatisk prob">
            <a:extLst xmlns:a="http://schemas.openxmlformats.org/drawingml/2006/main">
              <a:ext uri="{FF2B5EF4-FFF2-40B4-BE49-F238E27FC236}">
                <a16:creationId xmlns:a16="http://schemas.microsoft.com/office/drawing/2014/main" id="{CCA696AB-8697-46E3-8A3D-512E2741F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Probfaktor 10, visat toppvärde 2,0 V. Den automatiska omräkningen är avstängd.</a:t>
            </a:r>
          </a:p>
        </p:txBody>
      </p:sp>
      <p:sp>
        <p:nvSpPr>
          <p:cNvPr id="13" name="Arbetsgång: Multiplicera en gång med 10. Med aktiv automatisk kom">
            <a:extLst xmlns:a="http://schemas.openxmlformats.org/drawingml/2006/main">
              <a:ext uri="{FF2B5EF4-FFF2-40B4-BE49-F238E27FC236}">
                <a16:creationId xmlns:a16="http://schemas.microsoft.com/office/drawing/2014/main" id="{2B48B25E-9519-41F0-8CC2-2F0352D87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Multiplicera en gång med 10. Om oscilloskopet redan räknar om automatiskt får du inte multiplicera igen.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90DBF85B-CC59-4732-B592-1D67356DF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5d21651f4a42d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9EF8F86D-1903-4CC6-9981-479AA6D45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3.7</a:t>
            </a:r>
          </a:p>
        </p:txBody>
      </p:sp>
      <p:sp>
        <p:nvSpPr>
          <p:cNvPr id="3" name="Probens dämpning">
            <a:extLst xmlns:a="http://schemas.openxmlformats.org/drawingml/2006/main">
              <a:ext uri="{FF2B5EF4-FFF2-40B4-BE49-F238E27FC236}">
                <a16:creationId xmlns:a16="http://schemas.microsoft.com/office/drawing/2014/main" id="{AB8341C9-A7E7-45C9-A0B4-494F99374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Probens dämpning</a:t>
            </a:r>
          </a:p>
        </p:txBody>
      </p:sp>
      <p:sp>
        <p:nvSpPr>
          <p:cNvPr id="4" name="En 10:1-prob används. Skärmen visar 2,0 V topp utan automatisk pr">
            <a:extLst xmlns:a="http://schemas.openxmlformats.org/drawingml/2006/main">
              <a:ext uri="{FF2B5EF4-FFF2-40B4-BE49-F238E27FC236}">
                <a16:creationId xmlns:a16="http://schemas.microsoft.com/office/drawing/2014/main" id="{4A08C6E8-A944-449F-BC3F-7572754B6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prob med dämpningen 10:1 används. Skärmen visar toppvärdet 2,0 V, och oscilloskopet räknar inte om automatiskt. Bestäm signalens verkliga toppvärde.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51DA3D6-D59F-4DEC-9DF2-65ECF986E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7A634DA7-F906-4BA3-9544-7D5181C54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95fd946d36404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D8071A52-6114-42CC-815C-DA89909CF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3.8</a:t>
            </a:r>
          </a:p>
        </p:txBody>
      </p:sp>
      <p:sp>
        <p:nvSpPr>
          <p:cNvPr id="10" name="δ = (a/100) · visning + n · steg&#10;Intervall: visning − δ till visn">
            <a:extLst xmlns:a="http://schemas.openxmlformats.org/drawingml/2006/main">
              <a:ext uri="{FF2B5EF4-FFF2-40B4-BE49-F238E27FC236}">
                <a16:creationId xmlns:a16="http://schemas.microsoft.com/office/drawing/2014/main" id="{C77ACA90-7ECE-4108-9EE5-1F6392151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 = (a/100) · visning + n · steg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Intervall: visning − δ till visning + δ</a:t>
            </a:r>
          </a:p>
        </p:txBody>
      </p:sp>
      <p:sp>
        <p:nvSpPr>
          <p:cNvPr id="11" name="a är procenttal, n antal siffror, steg upplösning och δ den summe">
            <a:extLst xmlns:a="http://schemas.openxmlformats.org/drawingml/2006/main">
              <a:ext uri="{FF2B5EF4-FFF2-40B4-BE49-F238E27FC236}">
                <a16:creationId xmlns:a16="http://schemas.microsoft.com/office/drawing/2014/main" id="{E9BAD5DE-5BE8-459E-8373-A22B22B1B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 är procenttalet, n antalet siffror, steg upplösningen och δ den totala felgränsen.</a:t>
            </a:r>
          </a:p>
        </p:txBody>
      </p:sp>
      <p:sp>
        <p:nvSpPr>
          <p:cNvPr id="12" name="Förutsättningar: Visning 100,0 V, a = 0,5, n = 2 och steg = 0,1 V">
            <a:extLst xmlns:a="http://schemas.openxmlformats.org/drawingml/2006/main">
              <a:ext uri="{FF2B5EF4-FFF2-40B4-BE49-F238E27FC236}">
                <a16:creationId xmlns:a16="http://schemas.microsoft.com/office/drawing/2014/main" id="{CD401234-7E7B-4960-891A-D2F80D8D7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Visat värde 100,0 V, a = 0,5, n = 2 och steg = 0,1 V.</a:t>
            </a:r>
          </a:p>
        </p:txBody>
      </p:sp>
      <p:sp>
        <p:nvSpPr>
          <p:cNvPr id="13" name="Arbetsgång: Räkna de två bidragen var för sig. Summera dem och be">
            <a:extLst xmlns:a="http://schemas.openxmlformats.org/drawingml/2006/main">
              <a:ext uri="{FF2B5EF4-FFF2-40B4-BE49-F238E27FC236}">
                <a16:creationId xmlns:a16="http://schemas.microsoft.com/office/drawing/2014/main" id="{5C0DE0EF-E58D-406D-BB9C-9AE78044B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de två delarna var för sig, lägg ihop dem och räkna ut intervallets båda gränser.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EB9BEA37-12F0-440F-9556-7880CF961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fc33040d00451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F969F77F-5D83-4676-B284-D9D8C4CB6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3.8</a:t>
            </a:r>
          </a:p>
        </p:txBody>
      </p:sp>
      <p:sp>
        <p:nvSpPr>
          <p:cNvPr id="3" name="Instrumentgräns">
            <a:extLst xmlns:a="http://schemas.openxmlformats.org/drawingml/2006/main">
              <a:ext uri="{FF2B5EF4-FFF2-40B4-BE49-F238E27FC236}">
                <a16:creationId xmlns:a16="http://schemas.microsoft.com/office/drawing/2014/main" id="{F706272B-37CC-4FE1-AA70-9E4F7C2DA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Instrumentgräns</a:t>
            </a:r>
          </a:p>
        </p:txBody>
      </p:sp>
      <p:sp>
        <p:nvSpPr>
          <p:cNvPr id="4" name="Visning 100,0 V, specifikation ±(0,5 % + 2 siffror), upplösning 0">
            <a:extLst xmlns:a="http://schemas.openxmlformats.org/drawingml/2006/main">
              <a:ext uri="{FF2B5EF4-FFF2-40B4-BE49-F238E27FC236}">
                <a16:creationId xmlns:a16="http://schemas.microsoft.com/office/drawing/2014/main" id="{6F8E675D-0C5F-420F-9179-74A96E60F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Instrumentet visar 100,0 V. Specifikationen är ±(0,5 % + 2 siffror) och upplösningen 0,1 V. Beräkna felgränsen och intervallet.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2D3D9C6D-4B05-48CC-8C3C-40A8AF630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EA257BA4-92B5-4184-90FD-E746D3E56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e2b70a10d4416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95EFD344-F515-4FDB-AFC5-FEBA30C49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3.9</a:t>
            </a:r>
          </a:p>
        </p:txBody>
      </p:sp>
      <p:sp>
        <p:nvSpPr>
          <p:cNvPr id="10" name="Medel = (x₁ + x₂ + x₃)/3&#10;Variationsbredd = xmax − xmin">
            <a:extLst xmlns:a="http://schemas.openxmlformats.org/drawingml/2006/main">
              <a:ext uri="{FF2B5EF4-FFF2-40B4-BE49-F238E27FC236}">
                <a16:creationId xmlns:a16="http://schemas.microsoft.com/office/drawing/2014/main" id="{5F33DE30-5AAB-4351-9F1E-3667A8315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Medel = (x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+ x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+ x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)/3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Variationsbredd = xmax − xmin</a:t>
            </a:r>
          </a:p>
        </p:txBody>
      </p:sp>
      <p:sp>
        <p:nvSpPr>
          <p:cNvPr id="11" name="Medel beskriver centrum. Variationsbredd beskriver största minus ">
            <a:extLst xmlns:a="http://schemas.openxmlformats.org/drawingml/2006/main">
              <a:ext uri="{FF2B5EF4-FFF2-40B4-BE49-F238E27FC236}">
                <a16:creationId xmlns:a16="http://schemas.microsoft.com/office/drawing/2014/main" id="{9DF73094-D7BA-4933-86D5-34C302EFD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Medelvärdet visar var värdena ligger, och variationsbredden är största minus minsta värdet.</a:t>
            </a:r>
          </a:p>
        </p:txBody>
      </p:sp>
      <p:sp>
        <p:nvSpPr>
          <p:cNvPr id="12" name="Förutsättningar: Givna värden 9,8, 10,0 och 10,2 V. Ingen sannoli">
            <a:extLst xmlns:a="http://schemas.openxmlformats.org/drawingml/2006/main">
              <a:ext uri="{FF2B5EF4-FFF2-40B4-BE49-F238E27FC236}">
                <a16:creationId xmlns:a16="http://schemas.microsoft.com/office/drawing/2014/main" id="{455B0A14-2823-419D-93C7-B20D2F531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Mätvärdena 9,8, 10,0 och 10,2 V. Ingen statistisk analys behövs.</a:t>
            </a:r>
          </a:p>
        </p:txBody>
      </p:sp>
      <p:sp>
        <p:nvSpPr>
          <p:cNvPr id="13" name="Arbetsgång: Summera och dividera med tre. Beräkna därefter bredde">
            <a:extLst xmlns:a="http://schemas.openxmlformats.org/drawingml/2006/main">
              <a:ext uri="{FF2B5EF4-FFF2-40B4-BE49-F238E27FC236}">
                <a16:creationId xmlns:a16="http://schemas.microsoft.com/office/drawing/2014/main" id="{41420592-3D1C-42D2-BA2D-F7FEC6F58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Lägg ihop värdena och dela med tre. Räkna sedan variationsbredden för sig.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7B4A6D81-B578-42CD-8781-6F89AE1B2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01bf21a763454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AFEB7427-21AA-4AB6-ACEA-1DE18FF57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3.9</a:t>
            </a:r>
          </a:p>
        </p:txBody>
      </p:sp>
      <p:sp>
        <p:nvSpPr>
          <p:cNvPr id="3" name="Upprepade mätningar">
            <a:extLst xmlns:a="http://schemas.openxmlformats.org/drawingml/2006/main">
              <a:ext uri="{FF2B5EF4-FFF2-40B4-BE49-F238E27FC236}">
                <a16:creationId xmlns:a16="http://schemas.microsoft.com/office/drawing/2014/main" id="{78079CB3-1FF0-4DC7-8097-95C2B6D9D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Upprepade mätningar</a:t>
            </a:r>
          </a:p>
        </p:txBody>
      </p:sp>
      <p:sp>
        <p:nvSpPr>
          <p:cNvPr id="4" name="Tre värden är 9,8, 10,0 och 10,2 V. Beräkna medelvärde och variat">
            <a:extLst xmlns:a="http://schemas.openxmlformats.org/drawingml/2006/main">
              <a:ext uri="{FF2B5EF4-FFF2-40B4-BE49-F238E27FC236}">
                <a16:creationId xmlns:a16="http://schemas.microsoft.com/office/drawing/2014/main" id="{8B57A9F4-9DD5-4A88-8BA3-C108870AA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mätningar ger 9,8, 10,0 och 10,2 V. Beräkna medelvärde och variationsbredd.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2C967CE-D70F-4614-BE02-801134B1C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06BE9A49-18A5-4B96-B5EB-0F6D3459A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bb47ae66a5466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BF8D568E-B3DF-400A-A9CC-C30199C07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3.10</a:t>
            </a:r>
          </a:p>
        </p:txBody>
      </p:sp>
      <p:sp>
        <p:nvSpPr>
          <p:cNvPr id="10" name="Jämförbara mätvillkor krävs för en trend">
            <a:extLst xmlns:a="http://schemas.openxmlformats.org/drawingml/2006/main">
              <a:ext uri="{FF2B5EF4-FFF2-40B4-BE49-F238E27FC236}">
                <a16:creationId xmlns:a16="http://schemas.microsoft.com/office/drawing/2014/main" id="{3AC180DC-BB9D-4936-9353-62FDE1C9D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Jämförbara mätvillkor krävs för en trend</a:t>
            </a:r>
          </a:p>
        </p:txBody>
      </p:sp>
      <p:sp>
        <p:nvSpPr>
          <p:cNvPr id="11" name="Provspänning, mättid, temperatur, fukt och inkopplad utrustning k">
            <a:extLst xmlns:a="http://schemas.openxmlformats.org/drawingml/2006/main">
              <a:ext uri="{FF2B5EF4-FFF2-40B4-BE49-F238E27FC236}">
                <a16:creationId xmlns:a16="http://schemas.microsoft.com/office/drawing/2014/main" id="{22CF4530-B8C3-41E7-A536-0AA7AD4EB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Provspänning, mättid, temperatur, fukt och inkopplad utrustning påverkar värdet.</a:t>
            </a:r>
          </a:p>
        </p:txBody>
      </p:sp>
      <p:sp>
        <p:nvSpPr>
          <p:cNvPr id="12" name="Förutsättningar: Värdet har ändrats från 100 till 10 MΩ, men mätv">
            <a:extLst xmlns:a="http://schemas.openxmlformats.org/drawingml/2006/main">
              <a:ext uri="{FF2B5EF4-FFF2-40B4-BE49-F238E27FC236}">
                <a16:creationId xmlns:a16="http://schemas.microsoft.com/office/drawing/2014/main" id="{AEB484CF-5541-4841-A693-1789F0F0C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Värdet har gått från 100 till 10 MΩ, men det står inget om under vilka förhållanden mätningarna gjordes.</a:t>
            </a:r>
          </a:p>
        </p:txBody>
      </p:sp>
      <p:sp>
        <p:nvSpPr>
          <p:cNvPr id="13" name="Arbetsgång: Ange vilka villkor som ska jämföras före diagnos. Ski">
            <a:extLst xmlns:a="http://schemas.openxmlformats.org/drawingml/2006/main">
              <a:ext uri="{FF2B5EF4-FFF2-40B4-BE49-F238E27FC236}">
                <a16:creationId xmlns:a16="http://schemas.microsoft.com/office/drawing/2014/main" id="{C6AA0990-D37E-4C1D-8C24-3A9AB3612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vilka förhållanden som måste jämföras innan du drar en slutsats. Håll isär ett lägre mätvärde och en bevisad skada.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F78CA0BA-40B8-4651-82B0-C40F67209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605dec9a50477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AF939B57-C4BB-4CE4-AE8F-E93CBD0ED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3.10</a:t>
            </a:r>
          </a:p>
        </p:txBody>
      </p:sp>
      <p:sp>
        <p:nvSpPr>
          <p:cNvPr id="3" name="Spårbar slutsats">
            <a:extLst xmlns:a="http://schemas.openxmlformats.org/drawingml/2006/main">
              <a:ext uri="{FF2B5EF4-FFF2-40B4-BE49-F238E27FC236}">
                <a16:creationId xmlns:a16="http://schemas.microsoft.com/office/drawing/2014/main" id="{104E60F9-5B08-4214-9675-771C3B3C5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Spårbar slutsats</a:t>
            </a:r>
          </a:p>
        </p:txBody>
      </p:sp>
      <p:sp>
        <p:nvSpPr>
          <p:cNvPr id="4" name="En isolationsmätning ändras från 100 MΩ till 10 MΩ. Varför räcker">
            <a:extLst xmlns:a="http://schemas.openxmlformats.org/drawingml/2006/main">
              <a:ext uri="{FF2B5EF4-FFF2-40B4-BE49-F238E27FC236}">
                <a16:creationId xmlns:a16="http://schemas.microsoft.com/office/drawing/2014/main" id="{5666643E-9815-4F2A-920A-0A3D53AF0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isolationsmätning ändras från 100 MΩ till 10 MΩ. Varför räcker det inte att direkt säga att isoleringen har skadats?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81F4CA4-95A9-4295-803F-408D00C66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3E4E48A7-ECB1-4ED8-9846-0A65CFB3F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01c49885f34ed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81E15330-7A1C-474E-8FF7-96285103C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en del av en mätning måste dokumenteras utöver det visade tal">
            <a:extLst xmlns:a="http://schemas.openxmlformats.org/drawingml/2006/main">
              <a:ext uri="{FF2B5EF4-FFF2-40B4-BE49-F238E27FC236}">
                <a16:creationId xmlns:a16="http://schemas.microsoft.com/office/drawing/2014/main" id="{797592AE-34F7-46B4-AF95-E600CC8C8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Vilken del av en mätning måste dokumenteras utöver det visade talet?</a:t>
            </a:r>
          </a:p>
        </p:txBody>
      </p:sp>
      <p:sp>
        <p:nvSpPr>
          <p:cNvPr id="4" name="Lämna v44-inlämningen senast söndag 1 november. Bifoga beräkninga">
            <a:extLst xmlns:a="http://schemas.openxmlformats.org/drawingml/2006/main">
              <a:ext uri="{FF2B5EF4-FFF2-40B4-BE49-F238E27FC236}">
                <a16:creationId xmlns:a16="http://schemas.microsoft.com/office/drawing/2014/main" id="{35B4E59B-8511-46C4-ABC6-C30CE72B7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Lämna v44-inlämningen senast söndag 1 november. Bifoga beräkningar, mätvillkor, felgränser och motiverade slutsatser.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8E1A5155-02FC-4E1D-9C7E-3E44DC5DA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f2c3263f4a49f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0560063A-1781-4D0B-B015-400C2D12F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8651BCC9-9641-463B-BE37-FC9B0A979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Fluke: mätning med strömtång">
            <a:extLst xmlns:a="http://schemas.openxmlformats.org/drawingml/2006/main">
              <a:ext uri="{FF2B5EF4-FFF2-40B4-BE49-F238E27FC236}">
                <a16:creationId xmlns:a16="http://schemas.microsoft.com/office/drawing/2014/main" id="{65B28275-7C90-47AD-A813-89DD86907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dc95cec4e6384225"/>
              </a:rPr>
              <a:t>Fluke: mätning med strömtång</a:t>
            </a:r>
          </a:p>
        </p:txBody>
      </p:sp>
      <p:sp>
        <p:nvSpPr>
          <p:cNvPr id="5" name="Tektronix: oscilloskopprober och säkerhet">
            <a:extLst xmlns:a="http://schemas.openxmlformats.org/drawingml/2006/main">
              <a:ext uri="{FF2B5EF4-FFF2-40B4-BE49-F238E27FC236}">
                <a16:creationId xmlns:a16="http://schemas.microsoft.com/office/drawing/2014/main" id="{45833594-AF86-4AC9-B018-5172627E4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2f706671006d4648"/>
              </a:rPr>
              <a:t>Tektronix: oscilloskopprober och säkerhet</a:t>
            </a:r>
          </a:p>
        </p:txBody>
      </p:sp>
      <p:sp>
        <p:nvSpPr>
          <p:cNvPr id="6" name="Megger: jordresistansmätning">
            <a:extLst xmlns:a="http://schemas.openxmlformats.org/drawingml/2006/main">
              <a:ext uri="{FF2B5EF4-FFF2-40B4-BE49-F238E27FC236}">
                <a16:creationId xmlns:a16="http://schemas.microsoft.com/office/drawing/2014/main" id="{5328DC4D-B231-4689-BD80-D169085DA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f2fc8c2ef8584230"/>
              </a:rPr>
              <a:t>Megger: jordresistansmätning</a:t>
            </a:r>
          </a:p>
        </p:txBody>
      </p:sp>
      <p:sp>
        <p:nvSpPr>
          <p:cNvPr id="7" name="Fluke: multimeterns funktioner och mätning">
            <a:extLst xmlns:a="http://schemas.openxmlformats.org/drawingml/2006/main">
              <a:ext uri="{FF2B5EF4-FFF2-40B4-BE49-F238E27FC236}">
                <a16:creationId xmlns:a16="http://schemas.microsoft.com/office/drawing/2014/main" id="{51C0FEB5-0D3B-4A6B-8B75-751D6EDD3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5297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0a8222e8dde1488e"/>
              </a:rPr>
              <a:t>Fluke: multimeterns funktioner och mätning</a:t>
            </a:r>
          </a:p>
        </p:txBody>
      </p:sp>
      <p:sp>
        <p:nvSpPr>
          <p:cNvPr id="9" name="22">
            <a:extLst xmlns:a="http://schemas.openxmlformats.org/drawingml/2006/main">
              <a:ext uri="{FF2B5EF4-FFF2-40B4-BE49-F238E27FC236}">
                <a16:creationId xmlns:a16="http://schemas.microsoft.com/office/drawing/2014/main" id="{873A21E5-7658-482A-B944-0D5B7603C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2026-09-20T20:10:25.3640000Z</dcterms:created>
  <dcterms:modified xsi:type="dcterms:W3CDTF">2026-09-20T20:10:25.3640000Z</dcterms:modified>
</coreProperties>
</file>