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4/aktuell/Del_2.html" TargetMode="External"/><Relationship Id="rId3" Type="http://schemas.openxmlformats.org/officeDocument/2006/relationships/hyperlink" Target="https://www.elsakerhetsverket.se/elolyckor-i-arbetslivet/vad-ar-en-elolycka/" TargetMode="External"/><Relationship Id="rId4" Type="http://schemas.openxmlformats.org/officeDocument/2006/relationships/hyperlink" Target="https://elstandard.se/documents/preview/3246401" TargetMode="External"/><Relationship Id="rId5" Type="http://schemas.openxmlformats.org/officeDocument/2006/relationships/hyperlink" Target="https://www.electrical-installation.org/enwiki/Coordination_between_circuit-breakers" TargetMode="External"/><Relationship Id="rId6" Type="http://schemas.openxmlformats.org/officeDocument/2006/relationships/hyperlink" Target="https://www.electrical-installation.org/enwiki/Installed_apparent_power_%28kVA%29" TargetMode="External"/><Relationship Id="rId7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4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Högspänningssystem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Ställverk, skydd och säker arbetsplanering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44 · Måndag 26 oktober · 10.00–11.00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2 av 5 · Elteknik och ellära</a:t>
            </a:r>
          </a:p>
        </p:txBody>
      </p:sp>
      <p:sp>
        <p:nvSpPr>
          <p:cNvPr id="8" name="Dag: Måndag 26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Måndag 26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förklara hur el kan skada och hur man arbetar säkert, vid både låg och hög spänning.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känner igen vanliga komponenter, skydd och mätinstrument och vet vad de gör.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följer reglerna för säkert elarbete ombord när du mäter och bedömer risker.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beskriva högspänningssystemets viktigaste funktioner.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beräkna linjeström och strömtransformatorns sekundärström.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identifiera nödvändigt underlag för säkra arbetsgränser.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Varför kan samma effekt överföras med lägre ström vid högre spänning?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en kort förklaring i chatten.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Spänningsnivå, ställverk och mättransformatorer (avsnitt 1–4)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2.1, 2.2 och 2.3 tillsammans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Skydd, arbetsgräns och neutralpunktsjordning (avsnitt 5–8) och ett exempel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10.50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4" name="Picture 13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Spänning och skyddsfunktion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AC och DC har olika spänningsgränser i kursens terminologi.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I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L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är linjeström. U</a:t>
            </a:r>
            <a:r>
              <a:rPr sz="2000" b="0" i="0" baseline="-25000">
                <a:solidFill>
                  <a:srgbClr val="111111"/>
                </a:solidFill>
                <a:latin typeface="Calibri"/>
              </a:rPr>
              <a:t>L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är linjespänning i trefasformlerna.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Mättransformator ger signal, reläskydd fattar beslut och brytare kopplar bort.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Manöver, frånskiljning och jordning är skilda funktioner med särskilda villkor.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Spänningsnivå och överföring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P = √3 · 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L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· I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L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· PF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Högspänning (HV) är över 1 000 V AC eller över 1 500 V DC i den terminologi som används här.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Vid given effekt och PF minskar strömmen när spänningen ökar.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Isolering och arbetssäkerhet kräver samtidigt andra lösningar.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Ställverkets funktioner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Apparaternas funktioner ska framgå av schema och data.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Brytare kopplar last och avsedda felströmmar.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Frånskiljning och jordning har särskilda uppgifter.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Förreglingar kan hindra farliga manöverföljder. De ersätter inte arbetsberedning och verifierad status.</a:t>
            </a:r>
          </a:p>
        </p:txBody>
      </p:sp>
      <p:pic>
        <p:nvPicPr>
          <p:cNvPr id="5" name="Figur: Ställverksfack: samlingsskena, frånskiljare, brytare, strömtransformator och jordningskopplare mot kabeln till förbrukaren, med förregling." descr="Ställverksfack: samlingsskena, frånskiljare, brytare, strömtransformator och jordningskopplare mot kabeln till förbrukaren, med förregl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714500"/>
            <a:ext cx="3794760" cy="379476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Mättransformatorer och reläskydd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Kedjan: mätning, skyddslogik, utlösning och brytare.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Ström- och spänningstransformatorer ger signaler till mätning och skydd.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Reläskyddet bedömer tillstånd och kan ge brytkommando.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strömtransformator kräver föreskriven sekundärhantering.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En belastad sekundärkrets får inte öppnas godtyckligt.</a:t>
            </a:r>
          </a:p>
        </p:txBody>
      </p:sp>
      <p:pic>
        <p:nvPicPr>
          <p:cNvPr id="5" name="Figur: Strömtransformatorn mäter, skyddsreläet beslutar och brytaren kopplar bort." descr="Strömtransformatorn mäter, skyddsreläet beslutar och brytaren kopplar bor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289195"/>
            <a:ext cx="3794760" cy="2645368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ström vid högre spänning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Symmetrisk trefaslast med P = 500 kW och PF = 0,80. Jämför 5 kV och 500 V linjespänning.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I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L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= P/(√3 · U</a:t>
            </a:r>
            <a:r>
              <a:rPr sz="2500" b="1" i="0" baseline="-25000">
                <a:solidFill>
                  <a:srgbClr val="064F91"/>
                </a:solidFill>
                <a:latin typeface="Calibri"/>
              </a:rPr>
              <a:t>L</a:t>
            </a:r>
            <a:r>
              <a:rPr sz="2500" b="1" i="0">
                <a:solidFill>
                  <a:srgbClr val="064F91"/>
                </a:solidFill>
                <a:latin typeface="Calibri"/>
              </a:rPr>
              <a:t> · PF)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Vid 5 kV: I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L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500 000/(√3 · 5 000 · 0,80) ≈ 72,2 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Vid 500 V: I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L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≈ 721,7 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Spänningskvoten 5 000/500 = 10 ger omvänd strömkvot.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Samma effekt och PF ger tio gånger större ström vid en tiondel av spänningen.</a:t>
            </a:r>
          </a:p>
        </p:txBody>
      </p:sp>
      <p:pic>
        <p:nvPicPr>
          <p:cNvPr id="6" name="Figur: Stapeldiagram: linjeströmmen är 72,2 A vid 5 kV och 721,7 A vid 500 V för 500 kW och PF 0,80." descr="Stapeldiagram: linjeströmmen är 72,2 A vid 5 kV och 721,7 A vid 500 V för 500 kW och PF 0,8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677815"/>
            <a:ext cx="3794760" cy="264536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exempel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2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Spänningsbegrepp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Ström vid 6,6 kV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Samma effekt vid 400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Övning 2.4–2.6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nj22az.github.io/sjoskolan/vecka-44/aktuell/Del_2.html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strömtransformator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En ideal strömtransformator är märkt 400/5 A. Primärströmmen är 320 A. Endast beräkning på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k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I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= I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1,märk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/I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2,märk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och I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2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= I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1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/k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I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k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I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400/5 = 80.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I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2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320/80 = 4,0 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Kontroll: 4,0/5 = 320/400 = 0,80 av märkström på båda sidor.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Sekundärkretsen hanteras enligt anläggningens instruktion. Exemplet är ingen kopplingsanvisning.</a:t>
            </a:r>
          </a:p>
        </p:txBody>
      </p:sp>
      <p:pic>
        <p:nvPicPr>
          <p:cNvPr id="6" name="Figur: Strömtransformator 400/5 A med primärströmmen 320 A och sekundärströmmen 4,0 A. Sekundärkretsen får inte brytas under drift." descr="Strömtransformator 400/5 A med primärströmmen 320 A och sekundärströmmen 4,0 A. Sekundärkretsen får inte brytas under drif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766230"/>
            <a:ext cx="3794760" cy="2468539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Skyddsfunktioner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Inställning och verifiering hör till anläggningens skyddsplan.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Överström, jordfel och differentialskydd reagerar på olika felbilder.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Selektivitet ska begränsa bortkoppling till avsett område.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skydd som inte löser och ett som löser felaktigt kan båda hota driftsäkerheten.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avsnitt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Avstånd och arbetsgräns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Inget generellt kursmått ersätter en fastställd arbetsplan.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Områdes- och arbetsavstånd beror på anläggning och arbetsmetod.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Verktyg, material och rörelseutrymme påverkar gränsen.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Ansvarig använder aktuell standard och lokala anvisningar för spänningsnivån och den konkreta arbetsplatsen.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Beredning för ett dokumentationsfall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Teoretisk planering utan praktiska HV-manövrer.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Underlaget ska visa objekt, matningsvägar och aktuell driftstatus.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Roller, kommunikation och stoppvillkor behöver vara tydliga.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Okänd matning, bristande dokumentation eller oklar status innebär att förutsättningarna behöver klarläggas.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Neutralpunktsjordning i HV-nät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Ett motstånd i neutralpunkten begränsar jordfelsströmmen till en bestämd nivå.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Fartygens 6,6 och 11 kV-nät har ofta neutralpunkten jordad via ett sådant motstånd (NER).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Jordfelsreläet larmar eller löser ut enligt skyddsplanen.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Hur många generatorer som har jordad neutralpunkt samtidigt styrs så att felströmmen blir den avsedda.</a:t>
            </a:r>
          </a:p>
        </p:txBody>
      </p:sp>
      <p:pic>
        <p:nvPicPr>
          <p:cNvPr id="5" name="Figur: Generator 6,6 kV med neutralpunkten jordad via ett motstånd (NER) och ett jordfelsrelä. Ett jordfel på L1 ger en felström genom skrovet och motståndet, begränsad av motståndet." descr="Generator 6,6 kV med neutralpunkten jordad via ett motstånd (NER) och ett jordfelsrelä. Ett jordfel på L1 ger en felström genom skrovet och motståndet, begränsad av motstånde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112366"/>
            <a:ext cx="3794760" cy="2999027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  ·  Del 2 · avsnitt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Vilka anläggningsuppgifter behövs innan ett arbetsavstånd kan bestämmas?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Uppgiften Högspänning och strömtransformator i inlämningen bygger på del 2. Inga praktiska HV-manövrer ingår i distanspasset.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Högspänning är över 1 000 V AC eller över 1 500 V DC. Linjeströmmen räknas med I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L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 = P/(√3 · U</a:t>
            </a:r>
            <a:r>
              <a:rPr sz="2100" b="0" i="0" baseline="-25000">
                <a:solidFill>
                  <a:srgbClr val="111111"/>
                </a:solidFill>
                <a:latin typeface="Calibri"/>
              </a:rPr>
              <a:t>L</a:t>
            </a:r>
            <a:r>
              <a:rPr sz="2100" b="0" i="0">
                <a:solidFill>
                  <a:srgbClr val="111111"/>
                </a:solidFill>
                <a:latin typeface="Calibri"/>
              </a:rPr>
              <a:t> · PF).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Ställverkets apparater har olika uppgifter. Förreglingar ersätter inte arbetsberedning och verifierad status.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Arbetsgränsen bestäms för anläggningen och arbetsmetoden enligt aktuell standard och lokala anvisningar.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2 på delsidan: teorin och de två exemplen. Tryck på ”Jag har läst del 2” längst ned på sidan.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2.4–2.6 på delsidan. Övning 2.7–2.10 är extra.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I morgon tisdag 15.00: del 3, Fördjupad mätteknik, och del 4, Analys av mätresultat.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 och analysen av mätdata senast fredag 30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44, del 2 Högspänningssystem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Studieplanen YH03151, 18 september 2026: Elteknik och ellära, lärandemål 1, 2 och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Elsäkerhetsverket: Vad är en elolycka och vad betyder de olika begreppen?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SS-EN 50110-1 utgåva 4:2024, Skötsel av elektriska anläggningar (SEK Svensk Elstandard)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Schneider Electric: samordning av skydd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6"/>
              </a:rPr>
              <a:t>Schneider Electric: skenbar effekt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Måndag · Högspänningssystem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