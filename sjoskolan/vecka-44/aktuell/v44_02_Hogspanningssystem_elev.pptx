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37c34ddacd4546b1" Type="http://schemas.openxmlformats.org/officeDocument/2006/relationships/officeDocument" Target="ppt/presentation.xml"/><Relationship Id="R861db07599aa41dd" Type="http://schemas.openxmlformats.org/officeDocument/2006/relationships/extended-properties" Target="docProps/app.xml"/><Relationship Id="Rd8cf384cba124e90" Type="http://schemas.openxmlformats.org/package/2006/relationships/metadata/core-properties" Target="docProps/core.xml"/></Relationships>
</file>

<file path=ppt/presentation.xml><?xml version="1.0" encoding="utf-8"?>
<p:presentation xmlns:p="http://schemas.openxmlformats.org/presentationml/2006/main" xmlns:r="http://schemas.openxmlformats.org/officeDocument/2006/relationships">
  <p:sldMasterIdLst>
    <p:sldMasterId id="2147483648" r:id="Ra38d8fb4f6ec40e4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</p:sldIdLst>
  <p:sldSz cx="9144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 snapToObjects="1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2008" cy="72008"/>
</p:viewPr>
</file>

<file path=ppt/_rels/presentation.xml.rels><?xml version='1.0' encoding='UTF-8' standalone='yes'?>
<Relationships xmlns="http://schemas.openxmlformats.org/package/2006/relationships"><Relationship Id="R0ed11355ea2543db" Type="http://schemas.openxmlformats.org/officeDocument/2006/relationships/theme" Target="theme/theme1.xml"/><Relationship Id="R4a30431852bc4203" Type="http://schemas.openxmlformats.org/officeDocument/2006/relationships/presProps" Target="presProps.xml"/><Relationship Id="R59b04d653c184694" Type="http://schemas.openxmlformats.org/officeDocument/2006/relationships/tableStyles" Target="tableStyles.xml"/><Relationship Id="Ra38d8fb4f6ec40e4" Type="http://schemas.openxmlformats.org/officeDocument/2006/relationships/slideMaster" Target="slideMasters/slideMaster1.xml"/><Relationship Id="Rba35c611fa944afe" Type="http://schemas.openxmlformats.org/officeDocument/2006/relationships/viewProps" Target="viewProp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slide" Target="slides/slide17.xml"/><Relationship Id="rId23" Type="http://schemas.openxmlformats.org/officeDocument/2006/relationships/slide" Target="slides/slide18.xml"/><Relationship Id="rId24" Type="http://schemas.openxmlformats.org/officeDocument/2006/relationships/slide" Target="slides/slide19.xml"/></Relationships>
</file>

<file path=ppt/slideLayouts/_rels/slideLayout1.xml.rels><?xml version='1.0' encoding='UTF-8' standalone='yes'?>
<Relationships xmlns="http://schemas.openxmlformats.org/package/2006/relationships"><Relationship Id="Re9bbca99fd0e4bfe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dbed5ff74e9b4304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8d90e2e815ac47ca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3599dc8b372340a0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57876e5b8ebd4956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d9291271a5e94ac2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0c894096355d4803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08fa3bb3d3b84b8b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8b9ffc4a04cc45db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7db49676138543fe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fd61dd6cc9ae4a5f" Type="http://schemas.openxmlformats.org/officeDocument/2006/relationships/slideMaster" Target="../slideMasters/slideMaster1.xml"/></Relationships>
</file>

<file path=ppt/slideLayouts/slideLayout1.xml><?xml version="1.0" encoding="utf-8"?>
<p:sldLayout xmlns:p="http://schemas.openxmlformats.org/presentationml/2006/main" type="title" preserve="1">
  <p:cSld name="Rubrikbild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3171AF29-9BF1-473B-AFA6-17086F16A420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685800" y="1122363"/>
            <a:ext cx="7772400" cy="2387600"/>
          </a:xfrm>
        </p:spPr>
        <p:txBody>
          <a:bodyPr xmlns:a="http://schemas.openxmlformats.org/drawingml/2006/main" anchor="b"/>
          <a:lstStyle xmlns:a="http://schemas.openxmlformats.org/drawingml/2006/main">
            <a:lvl1pPr algn="ctr">
              <a:buNone/>
              <a:defRPr sz="6000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E8C47869-AB2E-4353-993A-C5F3CBCD7A53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143000" y="3602038"/>
            <a:ext cx="6858000" cy="1655762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>
            <a:r>
              <a:t>Click to edit Master subtitle style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0E4BDD63-2879-4553-A7D4-C8B90F669440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C1F3D7D-73CF-D940-97F9-D65067452AC9}" type="datetimeFigureOut">
              <a:t>2026-08-26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B47559E2-D642-40B2-A622-29E6C6C0906B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ECBCBF1D-E8D4-4C02-B339-40A7E12B7A5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D56CE70-7EE1-9D47-B86A-0F053C401563}" type="slidenum">
              <a:t>‹#›</a:t>
            </a:fld>
            <a:endParaRPr/>
          </a:p>
        </p:txBody>
      </p:sp>
    </p:spTree>
  </p:cSld>
</p:sldLayout>
</file>

<file path=ppt/slideLayouts/slideLayout2.xml><?xml version="1.0" encoding="utf-8"?>
<p:sldLayout xmlns:p="http://schemas.openxmlformats.org/presentationml/2006/main" type="obj" preserve="1">
  <p:cSld name="Rubrik och innehåll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E722FDD0-541F-4732-A589-6E09DA58B33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AA9FD4EB-ED93-4F84-9A20-8F3AF861C5D9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C87B3B2F-39C7-4AB3-B336-4AA52F537126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C1F3D7D-73CF-D940-97F9-D65067452AC9}" type="datetimeFigureOut">
              <a:t>2026-08-26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FC14936C-5A60-4749-9BA4-077B860C97E5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1C221E00-8DF1-4F1B-832D-71DC043B581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D56CE70-7EE1-9D47-B86A-0F053C401563}" type="slidenum">
              <a:t>‹#›</a:t>
            </a:fld>
            <a:endParaRPr/>
          </a:p>
        </p:txBody>
      </p:sp>
    </p:spTree>
  </p:cSld>
</p:sldLayout>
</file>

<file path=ppt/slideLayouts/slideLayout3.xml><?xml version="1.0" encoding="utf-8"?>
<p:sldLayout xmlns:p="http://schemas.openxmlformats.org/presentationml/2006/main" type="secHead" preserve="1">
  <p:cSld name="Avsnittsrubrik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442DB1BD-E287-4420-8511-29126B06189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23888" y="1709739"/>
            <a:ext cx="7886700" cy="2852737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6000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B9B11597-97EC-49B5-A400-7D26520A3C0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23888" y="4589464"/>
            <a:ext cx="7886700" cy="1500187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0F742E12-71EE-4A0A-A25A-482AF08CB59C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C1F3D7D-73CF-D940-97F9-D65067452AC9}" type="datetimeFigureOut">
              <a:t>2026-08-26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7B99B004-C36A-4FB2-9F9D-CE473319A95C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707C9783-743E-4094-A2AE-9E44E3D473E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D56CE70-7EE1-9D47-B86A-0F053C401563}" type="slidenum">
              <a:t>‹#›</a:t>
            </a:fld>
            <a:endParaRPr/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Obj" preserve="1">
  <p:cSld name="Två dela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A8C4FC59-7B72-4123-8378-0EA50884325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F37F9AEE-67E4-463F-959F-E9E3A1B888F0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628650" y="1825625"/>
            <a:ext cx="38862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6354C6D0-6530-44C0-8216-34BD311A97A4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4629150" y="1825625"/>
            <a:ext cx="38862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6428CFC9-6708-459E-B81E-1E9C14257725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C1F3D7D-73CF-D940-97F9-D65067452AC9}" type="datetimeFigureOut">
              <a:t>2026-08-26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76003C71-1529-40B2-8C48-8F715F571DCE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9643222D-12A8-4E31-8062-7D5BCCBAB7A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D56CE70-7EE1-9D47-B86A-0F053C401563}" type="slidenum">
              <a:t>‹#›</a:t>
            </a:fld>
            <a:endParaRPr/>
          </a:p>
        </p:txBody>
      </p:sp>
    </p:spTree>
  </p:cSld>
</p:sldLayout>
</file>

<file path=ppt/slideLayouts/slideLayout5.xml><?xml version="1.0" encoding="utf-8"?>
<p:sldLayout xmlns:p="http://schemas.openxmlformats.org/presentationml/2006/main" type="twoTxTwoObj" preserve="1">
  <p:cSld name="Jämförels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397D2405-3A74-4011-A349-9548796B9D3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29841" y="365126"/>
            <a:ext cx="78867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E78F98B1-4335-49A0-A5DC-F7821F48D4D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29842" y="1681163"/>
            <a:ext cx="3868340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3911721C-4555-47B9-A29D-0F448969C4F8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629842" y="2505075"/>
            <a:ext cx="3868340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5" name="Text Placeholder 4">
            <a:extLst xmlns:a="http://schemas.openxmlformats.org/drawingml/2006/main">
              <a:ext uri="{FF2B5EF4-FFF2-40B4-BE49-F238E27FC236}">
                <a16:creationId xmlns:a16="http://schemas.microsoft.com/office/drawing/2014/main" id="{C2D7DE53-B347-45DD-AFFA-3E8BE03250CE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4629150" y="1681163"/>
            <a:ext cx="3887391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6" name="Content Placeholder 5">
            <a:extLst xmlns:a="http://schemas.openxmlformats.org/drawingml/2006/main">
              <a:ext uri="{FF2B5EF4-FFF2-40B4-BE49-F238E27FC236}">
                <a16:creationId xmlns:a16="http://schemas.microsoft.com/office/drawing/2014/main" id="{EF97C298-A28D-4A26-BDCA-B098B846E554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4629150" y="2505075"/>
            <a:ext cx="3887391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7" name="Date Placeholder 6">
            <a:extLst xmlns:a="http://schemas.openxmlformats.org/drawingml/2006/main">
              <a:ext uri="{FF2B5EF4-FFF2-40B4-BE49-F238E27FC236}">
                <a16:creationId xmlns:a16="http://schemas.microsoft.com/office/drawing/2014/main" id="{09775CF6-BCDA-455B-8823-96F499D329B1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C1F3D7D-73CF-D940-97F9-D65067452AC9}" type="datetimeFigureOut">
              <a:t>2026-08-26</a:t>
            </a:fld>
            <a:endParaRPr/>
          </a:p>
        </p:txBody>
      </p:sp>
      <p:sp>
        <p:nvSpPr>
          <p:cNvPr id="8" name="Footer Placeholder 7">
            <a:extLst xmlns:a="http://schemas.openxmlformats.org/drawingml/2006/main">
              <a:ext uri="{FF2B5EF4-FFF2-40B4-BE49-F238E27FC236}">
                <a16:creationId xmlns:a16="http://schemas.microsoft.com/office/drawing/2014/main" id="{E36C5186-AD15-4D60-94C6-61F1173F2509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Slide Number Placeholder 8">
            <a:extLst xmlns:a="http://schemas.openxmlformats.org/drawingml/2006/main">
              <a:ext uri="{FF2B5EF4-FFF2-40B4-BE49-F238E27FC236}">
                <a16:creationId xmlns:a16="http://schemas.microsoft.com/office/drawing/2014/main" id="{C9823F44-4193-4A09-BFAF-ED3CD7668FF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D56CE70-7EE1-9D47-B86A-0F053C401563}" type="slidenum">
              <a:t>‹#›</a:t>
            </a:fld>
            <a:endParaRPr/>
          </a:p>
        </p:txBody>
      </p:sp>
    </p:spTree>
  </p:cSld>
</p:sldLayout>
</file>

<file path=ppt/slideLayouts/slideLayout6.xml><?xml version="1.0" encoding="utf-8"?>
<p:sldLayout xmlns:p="http://schemas.openxmlformats.org/presentationml/2006/main" type="titleOnly" preserve="1">
  <p:cSld name="Endast rubrik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D8F9FE2D-754C-44B3-B95C-26D7D5C7516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Date Placeholder 2">
            <a:extLst xmlns:a="http://schemas.openxmlformats.org/drawingml/2006/main">
              <a:ext uri="{FF2B5EF4-FFF2-40B4-BE49-F238E27FC236}">
                <a16:creationId xmlns:a16="http://schemas.microsoft.com/office/drawing/2014/main" id="{6BD55E16-C4C4-4E3D-A0B4-2831B64AB90E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C1F3D7D-73CF-D940-97F9-D65067452AC9}" type="datetimeFigureOut">
              <a:t>2026-08-26</a:t>
            </a:fld>
            <a:endParaRPr/>
          </a:p>
        </p:txBody>
      </p:sp>
      <p:sp>
        <p:nvSpPr>
          <p:cNvPr id="4" name="Footer Placeholder 3">
            <a:extLst xmlns:a="http://schemas.openxmlformats.org/drawingml/2006/main">
              <a:ext uri="{FF2B5EF4-FFF2-40B4-BE49-F238E27FC236}">
                <a16:creationId xmlns:a16="http://schemas.microsoft.com/office/drawing/2014/main" id="{38325CBA-1C76-41B1-899E-BE2E85DBB7E7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D41280AB-E4E6-40DF-AAAA-D319DDAE7A3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D56CE70-7EE1-9D47-B86A-0F053C401563}" type="slidenum">
              <a:t>‹#›</a:t>
            </a:fld>
            <a:endParaRPr/>
          </a:p>
        </p:txBody>
      </p:sp>
    </p:spTree>
  </p:cSld>
</p:sldLayout>
</file>

<file path=ppt/slideLayouts/slideLayout7.xml><?xml version="1.0" encoding="utf-8"?>
<p:sldLayout xmlns:p="http://schemas.openxmlformats.org/presentationml/2006/main" type="blank" preserve="1">
  <p:cSld name="Tom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Date Placeholder 1">
            <a:extLst xmlns:a="http://schemas.openxmlformats.org/drawingml/2006/main">
              <a:ext uri="{FF2B5EF4-FFF2-40B4-BE49-F238E27FC236}">
                <a16:creationId xmlns:a16="http://schemas.microsoft.com/office/drawing/2014/main" id="{4AB46744-49A1-4DBC-9FD7-6DAC1E5B0DC9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C1F3D7D-73CF-D940-97F9-D65067452AC9}" type="datetimeFigureOut">
              <a:t>2026-08-26</a:t>
            </a:fld>
            <a:endParaRPr/>
          </a:p>
        </p:txBody>
      </p:sp>
      <p:sp>
        <p:nvSpPr>
          <p:cNvPr id="3" name="Footer Placeholder 2">
            <a:extLst xmlns:a="http://schemas.openxmlformats.org/drawingml/2006/main">
              <a:ext uri="{FF2B5EF4-FFF2-40B4-BE49-F238E27FC236}">
                <a16:creationId xmlns:a16="http://schemas.microsoft.com/office/drawing/2014/main" id="{18BE22B4-F4D3-45EC-8704-71421CA0A1E7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707804CA-1F56-49BC-A4BE-414873B51DD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D56CE70-7EE1-9D47-B86A-0F053C401563}" type="slidenum">
              <a:t>‹#›</a:t>
            </a:fld>
            <a:endParaRPr/>
          </a:p>
        </p:txBody>
      </p:sp>
    </p:spTree>
  </p:cSld>
</p:sldLayout>
</file>

<file path=ppt/slideLayouts/slideLayout8.xml><?xml version="1.0" encoding="utf-8"?>
<p:sldLayout xmlns:p="http://schemas.openxmlformats.org/presentationml/2006/main" type="objTx" preserve="1">
  <p:cSld name="Text med bild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1CC616F8-21C9-44E4-AE61-31E60C00685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29841" y="457200"/>
            <a:ext cx="2949178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023E4261-CE3E-4ACE-850C-97041401DE29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887391" y="987426"/>
            <a:ext cx="4629150" cy="4873625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70EF0A03-62CA-44B8-B680-52B1168AC435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29841" y="2057400"/>
            <a:ext cx="2949178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2B26F306-817F-41C5-8A16-96C7343CE1CE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C1F3D7D-73CF-D940-97F9-D65067452AC9}" type="datetimeFigureOut">
              <a:t>2026-08-26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F2F4B232-2E06-41D6-B343-B9F33434424A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845369E5-14C4-43E7-8C70-94F9D8946D0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D56CE70-7EE1-9D47-B86A-0F053C401563}" type="slidenum">
              <a:t>‹#›</a:t>
            </a:fld>
            <a:endParaRPr/>
          </a:p>
        </p:txBody>
      </p:sp>
    </p:spTree>
  </p:cSld>
</p:sldLayout>
</file>

<file path=ppt/slideLayouts/slideLayout9.xml><?xml version="1.0" encoding="utf-8"?>
<p:sldLayout xmlns:p="http://schemas.openxmlformats.org/presentationml/2006/main" type="picTx" preserve="1">
  <p:cSld name="Bild med bild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04D77C1B-88A0-480F-A3F3-2C46ED54C19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29841" y="457200"/>
            <a:ext cx="2949178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Picture Placeholder 2">
            <a:extLst xmlns:a="http://schemas.openxmlformats.org/drawingml/2006/main">
              <a:ext uri="{FF2B5EF4-FFF2-40B4-BE49-F238E27FC236}">
                <a16:creationId xmlns:a16="http://schemas.microsoft.com/office/drawing/2014/main" id="{A0DD105B-4990-483D-9F9F-A9235A346E70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3887391" y="987426"/>
            <a:ext cx="4629150" cy="4873625"/>
          </a:xfrm>
        </p:spPr>
        <p:txBody>
          <a:bodyPr xmlns:a="http://schemas.openxmlformats.org/drawingml/2006/main" anchor="t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>
            <a:r>
              <a:t>Click icon to add picture</a:t>
            </a:r>
            <a:endParaRPr/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2A207939-C386-457A-BB29-427E4DC69A28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29841" y="2057400"/>
            <a:ext cx="2949178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F3222363-8D26-4BF7-AEF5-9A8D193537F4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C1F3D7D-73CF-D940-97F9-D65067452AC9}" type="datetimeFigureOut">
              <a:t>2026-08-26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C1AD7074-23A8-4F9E-B387-FF125010E360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7974EEA3-8E26-4876-9CCC-AEB28DB192D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D56CE70-7EE1-9D47-B86A-0F053C401563}" type="slidenum">
              <a:t>‹#›</a:t>
            </a:fld>
            <a:endParaRPr/>
          </a:p>
        </p:txBody>
      </p:sp>
    </p:spTree>
  </p:cSld>
</p:sldLayout>
</file>

<file path=ppt/slideLayouts/slideLayout10.xml><?xml version="1.0" encoding="utf-8"?>
<p:sldLayout xmlns:p="http://schemas.openxmlformats.org/presentationml/2006/main" type="vertTx" preserve="1">
  <p:cSld name="Rubrik och lodrät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02C1926D-3764-4E58-9CFE-1C39C0C5990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E1EA9798-D720-420B-B587-FB2D341F8B8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5B280F96-07A9-471D-BB10-6FD8F834C84E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C1F3D7D-73CF-D940-97F9-D65067452AC9}" type="datetimeFigureOut">
              <a:t>2026-08-26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3765504D-A0FC-4E9E-8009-F569A5C98420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99C1D87B-E274-4EF8-9A16-0DB1EAB639A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D56CE70-7EE1-9D47-B86A-0F053C401563}" type="slidenum">
              <a:t>‹#›</a:t>
            </a:fld>
            <a:endParaRPr/>
          </a:p>
        </p:txBody>
      </p:sp>
    </p:spTree>
  </p:cSld>
</p:sldLayout>
</file>

<file path=ppt/slideLayouts/slideLayout11.xml><?xml version="1.0" encoding="utf-8"?>
<p:sldLayout xmlns:p="http://schemas.openxmlformats.org/presentationml/2006/main" type="vertTitleAndTx" preserve="1">
  <p:cSld name="Lodrät rubrik och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Vertical Title 1">
            <a:extLst xmlns:a="http://schemas.openxmlformats.org/drawingml/2006/main">
              <a:ext uri="{FF2B5EF4-FFF2-40B4-BE49-F238E27FC236}">
                <a16:creationId xmlns:a16="http://schemas.microsoft.com/office/drawing/2014/main" id="{24ED1D95-F8F3-4745-B8E4-98B6A31BFBD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543675" y="365125"/>
            <a:ext cx="1971675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D893952F-F53B-42A5-B3B5-39F8406C721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28650" y="365125"/>
            <a:ext cx="5800725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AB05298D-E759-46A6-B3C3-B7B73450F0E6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C1F3D7D-73CF-D940-97F9-D65067452AC9}" type="datetimeFigureOut">
              <a:t>2026-08-26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93DC9778-2E8A-4C7F-84B7-05E3D6E2377D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F9066A76-6749-4154-81E1-81287255579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D56CE70-7EE1-9D47-B86A-0F053C401563}" type="slidenum">
              <a:t>‹#›</a:t>
            </a:fld>
            <a:endParaRPr/>
          </a:p>
        </p:txBody>
      </p:sp>
    </p:spTree>
  </p:cSld>
</p:sldLayout>
</file>

<file path=ppt/slideMasters/_rels/slideMaster1.xml.rels><?xml version='1.0' encoding='UTF-8' standalone='yes'?>
<Relationships xmlns="http://schemas.openxmlformats.org/package/2006/relationships"><Relationship Id="R162cd79811f54438" Type="http://schemas.openxmlformats.org/officeDocument/2006/relationships/slideLayout" Target="../slideLayouts/slideLayout10.xml"/><Relationship Id="R170b8970d5204efa" Type="http://schemas.openxmlformats.org/officeDocument/2006/relationships/slideLayout" Target="../slideLayouts/slideLayout9.xml"/><Relationship Id="R7099d2b2aa324873" Type="http://schemas.openxmlformats.org/officeDocument/2006/relationships/theme" Target="theme/theme2.xml"/><Relationship Id="R7be85162f4ec45ce" Type="http://schemas.openxmlformats.org/officeDocument/2006/relationships/slideLayout" Target="../slideLayouts/slideLayout8.xml"/><Relationship Id="R82b356f2f0c249f8" Type="http://schemas.openxmlformats.org/officeDocument/2006/relationships/slideLayout" Target="../slideLayouts/slideLayout4.xml"/><Relationship Id="R83d3169839ae4a0d" Type="http://schemas.openxmlformats.org/officeDocument/2006/relationships/slideLayout" Target="../slideLayouts/slideLayout7.xml"/><Relationship Id="Ra1c6ad5e34ce4900" Type="http://schemas.openxmlformats.org/officeDocument/2006/relationships/slideLayout" Target="../slideLayouts/slideLayout5.xml"/><Relationship Id="Rb613688b8cb2457e" Type="http://schemas.openxmlformats.org/officeDocument/2006/relationships/slideLayout" Target="../slideLayouts/slideLayout1.xml"/><Relationship Id="Rc5987082cc9f429b" Type="http://schemas.openxmlformats.org/officeDocument/2006/relationships/slideLayout" Target="../slideLayouts/slideLayout2.xml"/><Relationship Id="Re60a86bc3ab141e2" Type="http://schemas.openxmlformats.org/officeDocument/2006/relationships/slideLayout" Target="../slideLayouts/slideLayout3.xml"/><Relationship Id="Rf39fc677f541417c" Type="http://schemas.openxmlformats.org/officeDocument/2006/relationships/slideLayout" Target="../slideLayouts/slideLayout11.xml"/><Relationship Id="Rf7c405d8b6a04f8d" Type="http://schemas.openxmlformats.org/officeDocument/2006/relationships/slideLayout" Target="../slideLayouts/slideLayout6.xml"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A772F057-7340-4065-8845-BB8E9AD557B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28650" y="365126"/>
            <a:ext cx="7886700" cy="13255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r>
              <a:t>Klicka här för att ändra mall för rubrikformat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17DE1F7C-60E1-400E-B38F-52BF24F21A7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28650" y="1825625"/>
            <a:ext cx="7886700" cy="43513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Klicka här för att ändra format på bakgrundstexten</a:t>
            </a:r>
          </a:p>
          <a:p xmlns:a="http://schemas.openxmlformats.org/drawingml/2006/main">
            <a:pPr lvl="1">
              <a:buNone/>
            </a:pPr>
            <a:r>
              <a:t>Nivå två</a:t>
            </a:r>
          </a:p>
          <a:p xmlns:a="http://schemas.openxmlformats.org/drawingml/2006/main">
            <a:pPr lvl="2">
              <a:buNone/>
            </a:pPr>
            <a:r>
              <a:t>Nivå tre</a:t>
            </a:r>
          </a:p>
          <a:p xmlns:a="http://schemas.openxmlformats.org/drawingml/2006/main">
            <a:pPr lvl="3">
              <a:buNone/>
            </a:pPr>
            <a:r>
              <a:t>Nivå fyra</a:t>
            </a:r>
          </a:p>
          <a:p xmlns:a="http://schemas.openxmlformats.org/drawingml/2006/main">
            <a:pPr lvl="4">
              <a:buNone/>
            </a:pPr>
            <a:r>
              <a:t>Nivå fem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DB15F1D9-83F8-4DB0-BD2B-BDD3E158134A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628650" y="6356351"/>
            <a:ext cx="20574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CC1F3D7D-73CF-D940-97F9-D65067452AC9}" type="datetimeFigureOut">
              <a:t>2026-08-26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905894D5-5CF7-4EDE-B022-CF2BDFF8D013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028950" y="6356351"/>
            <a:ext cx="30861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7720839A-B350-41EB-9FE9-191EB435D5E3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6457950" y="6356351"/>
            <a:ext cx="20574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6D56CE70-7EE1-9D47-B86A-0F053C401563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613688b8cb2457e"/>
    <p:sldLayoutId xmlns:r="http://schemas.openxmlformats.org/officeDocument/2006/relationships" id="2147483650" r:id="Rc5987082cc9f429b"/>
    <p:sldLayoutId xmlns:r="http://schemas.openxmlformats.org/officeDocument/2006/relationships" id="2147483651" r:id="Re60a86bc3ab141e2"/>
    <p:sldLayoutId xmlns:r="http://schemas.openxmlformats.org/officeDocument/2006/relationships" id="2147483652" r:id="R82b356f2f0c249f8"/>
    <p:sldLayoutId xmlns:r="http://schemas.openxmlformats.org/officeDocument/2006/relationships" id="2147483653" r:id="Ra1c6ad5e34ce4900"/>
    <p:sldLayoutId xmlns:r="http://schemas.openxmlformats.org/officeDocument/2006/relationships" id="2147483654" r:id="Rf7c405d8b6a04f8d"/>
    <p:sldLayoutId xmlns:r="http://schemas.openxmlformats.org/officeDocument/2006/relationships" id="2147483655" r:id="R83d3169839ae4a0d"/>
    <p:sldLayoutId xmlns:r="http://schemas.openxmlformats.org/officeDocument/2006/relationships" id="2147483656" r:id="R7be85162f4ec45ce"/>
    <p:sldLayoutId xmlns:r="http://schemas.openxmlformats.org/officeDocument/2006/relationships" id="2147483657" r:id="R170b8970d5204efa"/>
    <p:sldLayoutId xmlns:r="http://schemas.openxmlformats.org/officeDocument/2006/relationships" id="2147483658" r:id="R162cd79811f54438"/>
    <p:sldLayoutId xmlns:r="http://schemas.openxmlformats.org/officeDocument/2006/relationships" id="2147483659" r:id="Rf39fc677f541417c"/>
  </p:sldLayoutIdLst>
  <p:txStyles>
    <p:titleStyle>
      <a:lvl1pPr xmlns:a="http://schemas.openxmlformats.org/drawingml/2006/main" algn="l" defTabSz="914400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-tema">
  <a:themeElements>
    <a:clrScheme name="Office-tema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-tema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-tema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2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2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2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2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2.jp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nj22az.github.io/sjoskolan/vecka-44/aktuell/Del_2.html" TargetMode="External"/><Relationship Id="rId3" Type="http://schemas.openxmlformats.org/officeDocument/2006/relationships/hyperlink" Target="https://www.elsakerhetsverket.se/elolyckor-i-arbetslivet/vad-ar-en-elolycka/" TargetMode="External"/><Relationship Id="rId4" Type="http://schemas.openxmlformats.org/officeDocument/2006/relationships/hyperlink" Target="https://elstandard.se/documents/preview/3246401" TargetMode="External"/><Relationship Id="rId5" Type="http://schemas.openxmlformats.org/officeDocument/2006/relationships/hyperlink" Target="https://www.electrical-installation.org/enwiki/Coordination_between_circuit-breakers" TargetMode="External"/><Relationship Id="rId6" Type="http://schemas.openxmlformats.org/officeDocument/2006/relationships/hyperlink" Target="https://www.electrical-installation.org/enwiki/Installed_apparent_power_%28kVA%29" TargetMode="External"/><Relationship Id="rId7" Type="http://schemas.openxmlformats.org/officeDocument/2006/relationships/image" Target="../media/image2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omslag_v44_0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09904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9144000" cy="6099048"/>
          </a:xfrm>
          <a:prstGeom prst="rect">
            <a:avLst/>
          </a:prstGeom>
          <a:gradFill rotWithShape="1">
            <a:gsLst>
              <a:gs pos="0">
                <a:srgbClr val="001427">
                  <a:alpha val="70000"/>
                </a:srgbClr>
              </a:gs>
              <a:gs pos="45000">
                <a:srgbClr val="001427">
                  <a:alpha val="55000"/>
                </a:srgbClr>
              </a:gs>
              <a:gs pos="75000">
                <a:srgbClr val="001427">
                  <a:alpha val="0"/>
                </a:srgbClr>
              </a:gs>
              <a:gs pos="100000">
                <a:srgbClr val="001427">
                  <a:alpha val="0"/>
                </a:srgbClr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6035040" cy="914400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4400" b="1" i="0">
                <a:solidFill>
                  <a:srgbClr val="FFFFFF"/>
                </a:solidFill>
                <a:latin typeface="Calibri"/>
              </a:rPr>
              <a:t>Högspänningssystem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965960"/>
            <a:ext cx="5669280" cy="914400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2200" b="0" i="0">
                <a:solidFill>
                  <a:srgbClr val="FFFFFF"/>
                </a:solidFill>
                <a:latin typeface="Calibri"/>
              </a:rPr>
              <a:t>Ställverk, skydd och säker arbetsplanering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971800"/>
            <a:ext cx="5852160" cy="411480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600" b="0" i="0">
                <a:solidFill>
                  <a:srgbClr val="FFFFFF"/>
                </a:solidFill>
                <a:latin typeface="Calibri"/>
              </a:rPr>
              <a:t>Vecka 44 · Måndag 26 oktober · 10.00–11.00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5212080"/>
            <a:ext cx="5852160" cy="365760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400" b="0" i="0">
                <a:solidFill>
                  <a:srgbClr val="FFFFFF"/>
                </a:solidFill>
                <a:latin typeface="Calibri"/>
              </a:rPr>
              <a:t>Del 2 av 5 · Elteknik och ellära</a:t>
            </a:r>
          </a:p>
        </p:txBody>
      </p:sp>
      <p:sp>
        <p:nvSpPr>
          <p:cNvPr id="8" name="Dag: Måndag 26 oktober"/>
          <p:cNvSpPr/>
          <p:nvPr/>
        </p:nvSpPr>
        <p:spPr>
          <a:xfrm>
            <a:off x="548640" y="411480"/>
            <a:ext cx="2944368" cy="438912"/>
          </a:xfrm>
          <a:prstGeom prst="roundRect">
            <a:avLst>
              <a:gd name="adj" fmla="val 18000"/>
            </a:avLst>
          </a:prstGeom>
          <a:solidFill>
            <a:srgbClr val="0083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/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Måndag 26 oktober</a:t>
            </a:r>
          </a:p>
        </p:txBody>
      </p:sp>
      <p:pic>
        <p:nvPicPr>
          <p:cNvPr id="9" name="Picture 8" descr="sidfot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6099048"/>
            <a:ext cx="9144000" cy="758952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463040" y="6400800"/>
            <a:ext cx="6217920" cy="310896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Vecka 44 · Måndag · Högspänningssystem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10144" y="6400800"/>
            <a:ext cx="704088" cy="310896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r">
              <a:lnSpc>
                <a:spcPct val="108000"/>
              </a:lnSpc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9184"/>
            <a:ext cx="8046720" cy="731520"/>
          </a:xfrm>
          <a:prstGeom prst="rect">
            <a:avLst/>
          </a:prstGeom>
          <a:noFill/>
        </p:spPr>
        <p:txBody>
          <a:bodyPr wrap="square" anchor="b" lIns="27432" rIns="27432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3000" b="1" i="0">
                <a:solidFill>
                  <a:srgbClr val="111111"/>
                </a:solidFill>
                <a:latin typeface="Calibri"/>
              </a:rPr>
              <a:t>Kursplanen i dag</a:t>
            </a:r>
          </a:p>
        </p:txBody>
      </p:sp>
      <p:sp>
        <p:nvSpPr>
          <p:cNvPr id="3" name="Rectangle 2"/>
          <p:cNvSpPr/>
          <p:nvPr/>
        </p:nvSpPr>
        <p:spPr>
          <a:xfrm>
            <a:off x="576072" y="1097280"/>
            <a:ext cx="822960" cy="64008"/>
          </a:xfrm>
          <a:prstGeom prst="rect">
            <a:avLst/>
          </a:prstGeom>
          <a:solidFill>
            <a:srgbClr val="EDA1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Rounded Rectangle 3"/>
          <p:cNvSpPr/>
          <p:nvPr/>
        </p:nvSpPr>
        <p:spPr>
          <a:xfrm>
            <a:off x="548640" y="1453896"/>
            <a:ext cx="960120" cy="420624"/>
          </a:xfrm>
          <a:prstGeom prst="roundRect">
            <a:avLst>
              <a:gd name="adj" fmla="val 18000"/>
            </a:avLst>
          </a:prstGeom>
          <a:solidFill>
            <a:srgbClr val="EDA1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/>
          <a:lstStyle/>
          <a:p>
            <a:pPr algn="ctr"/>
            <a:r>
              <a:rPr sz="1600" b="1" i="0">
                <a:solidFill>
                  <a:srgbClr val="111111"/>
                </a:solidFill>
                <a:latin typeface="Calibri"/>
              </a:rPr>
              <a:t>LM-2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37360" y="1417320"/>
            <a:ext cx="6858000" cy="868680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2000" b="0" i="0">
                <a:solidFill>
                  <a:srgbClr val="111111"/>
                </a:solidFill>
                <a:latin typeface="Calibri"/>
              </a:rPr>
              <a:t>Du kan förklara hur el kan skada och hur man arbetar säkert, vid både låg och hög spänning.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167128"/>
            <a:ext cx="960120" cy="420624"/>
          </a:xfrm>
          <a:prstGeom prst="roundRect">
            <a:avLst>
              <a:gd name="adj" fmla="val 18000"/>
            </a:avLst>
          </a:prstGeom>
          <a:solidFill>
            <a:srgbClr val="1BAF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/>
          <a:lstStyle/>
          <a:p>
            <a:pPr algn="ctr"/>
            <a:r>
              <a:rPr sz="1600" b="1" i="0">
                <a:solidFill>
                  <a:srgbClr val="111111"/>
                </a:solidFill>
                <a:latin typeface="Calibri"/>
              </a:rPr>
              <a:t>LM-1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737360" y="2130552"/>
            <a:ext cx="6858000" cy="868680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2000" b="0" i="0">
                <a:solidFill>
                  <a:srgbClr val="111111"/>
                </a:solidFill>
                <a:latin typeface="Calibri"/>
              </a:rPr>
              <a:t>Du känner igen vanliga komponenter, skydd och mätinstrument och vet vad de gör.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880360"/>
            <a:ext cx="960120" cy="420624"/>
          </a:xfrm>
          <a:prstGeom prst="roundRect">
            <a:avLst>
              <a:gd name="adj" fmla="val 18000"/>
            </a:avLst>
          </a:prstGeom>
          <a:solidFill>
            <a:srgbClr val="EDA1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/>
          <a:lstStyle/>
          <a:p>
            <a:pPr algn="ctr"/>
            <a:r>
              <a:rPr sz="1600" b="1" i="0">
                <a:solidFill>
                  <a:srgbClr val="111111"/>
                </a:solidFill>
                <a:latin typeface="Calibri"/>
              </a:rPr>
              <a:t>LM-3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737360" y="2843784"/>
            <a:ext cx="6858000" cy="868680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2000" b="0" i="0">
                <a:solidFill>
                  <a:srgbClr val="111111"/>
                </a:solidFill>
                <a:latin typeface="Calibri"/>
              </a:rPr>
              <a:t>Du följer reglerna för säkert elarbete ombord när du mäter och bedömer risker.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694176"/>
            <a:ext cx="8046720" cy="411480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2200" b="1" i="0">
                <a:solidFill>
                  <a:srgbClr val="064F91"/>
                </a:solidFill>
                <a:latin typeface="Calibri"/>
              </a:rPr>
              <a:t>Efter lektionen kan du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4151376"/>
            <a:ext cx="8046720" cy="1746503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1200"/>
              </a:spcAft>
            </a:pPr>
            <a:r>
              <a:rPr sz="2100" b="0" i="0">
                <a:solidFill>
                  <a:srgbClr val="111111"/>
                </a:solidFill>
                <a:latin typeface="Calibri"/>
              </a:rPr>
              <a:t>1. beskriva högspänningssystemets viktigaste funktioner.</a:t>
            </a:r>
          </a:p>
          <a:p>
            <a:pPr algn="l">
              <a:lnSpc>
                <a:spcPct val="108000"/>
              </a:lnSpc>
              <a:spcAft>
                <a:spcPts val="1200"/>
              </a:spcAft>
            </a:pPr>
            <a:r>
              <a:rPr sz="2100" b="0" i="0">
                <a:solidFill>
                  <a:srgbClr val="111111"/>
                </a:solidFill>
                <a:latin typeface="Calibri"/>
              </a:rPr>
              <a:t>2. beräkna linjeström och strömtransformatorns sekundärström.</a:t>
            </a:r>
          </a:p>
          <a:p>
            <a:pPr algn="l">
              <a:lnSpc>
                <a:spcPct val="108000"/>
              </a:lnSpc>
              <a:spcAft>
                <a:spcPts val="1200"/>
              </a:spcAft>
            </a:pPr>
            <a:r>
              <a:rPr sz="2100" b="0" i="0">
                <a:solidFill>
                  <a:srgbClr val="111111"/>
                </a:solidFill>
                <a:latin typeface="Calibri"/>
              </a:rPr>
              <a:t>3. identifiera nödvändigt underlag för säkra arbetsgränser.</a:t>
            </a:r>
          </a:p>
        </p:txBody>
      </p:sp>
      <p:pic>
        <p:nvPicPr>
          <p:cNvPr id="12" name="Picture 11" descr="sidfo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099048"/>
            <a:ext cx="9144000" cy="758952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463040" y="6400800"/>
            <a:ext cx="6217920" cy="310896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Vecka 44 · Måndag · Högspänningssystem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10144" y="6400800"/>
            <a:ext cx="704088" cy="310896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r">
              <a:lnSpc>
                <a:spcPct val="108000"/>
              </a:lnSpc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9184"/>
            <a:ext cx="8046720" cy="731520"/>
          </a:xfrm>
          <a:prstGeom prst="rect">
            <a:avLst/>
          </a:prstGeom>
          <a:noFill/>
        </p:spPr>
        <p:txBody>
          <a:bodyPr wrap="square" anchor="b" lIns="27432" rIns="27432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3000" b="1" i="0">
                <a:solidFill>
                  <a:srgbClr val="111111"/>
                </a:solidFill>
                <a:latin typeface="Calibri"/>
              </a:rPr>
              <a:t>Startfråga</a:t>
            </a:r>
          </a:p>
        </p:txBody>
      </p:sp>
      <p:sp>
        <p:nvSpPr>
          <p:cNvPr id="3" name="Rectangle 2"/>
          <p:cNvSpPr/>
          <p:nvPr/>
        </p:nvSpPr>
        <p:spPr>
          <a:xfrm>
            <a:off x="576072" y="1097280"/>
            <a:ext cx="822960" cy="64008"/>
          </a:xfrm>
          <a:prstGeom prst="rect">
            <a:avLst/>
          </a:prstGeom>
          <a:solidFill>
            <a:srgbClr val="EDA1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548640" y="1828800"/>
            <a:ext cx="8046720" cy="2011680"/>
          </a:xfrm>
          <a:prstGeom prst="rect">
            <a:avLst/>
          </a:prstGeom>
          <a:noFill/>
        </p:spPr>
        <p:txBody>
          <a:bodyPr wrap="square" anchor="ctr" lIns="27432" rIns="27432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800"/>
              </a:spcAft>
            </a:pPr>
            <a:r>
              <a:rPr sz="3200" b="1" i="0">
                <a:solidFill>
                  <a:srgbClr val="111111"/>
                </a:solidFill>
                <a:latin typeface="Calibri"/>
              </a:rPr>
              <a:t>Varför kan samma effekt överföras med lägre ström vid högre spänning?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074920"/>
            <a:ext cx="8046720" cy="548640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800"/>
              </a:spcAft>
            </a:pPr>
            <a:r>
              <a:rPr sz="1800" b="0" i="0">
                <a:solidFill>
                  <a:srgbClr val="064F91"/>
                </a:solidFill>
                <a:latin typeface="Calibri"/>
              </a:rPr>
              <a:t>Skriv en kort förklaring i chatten.</a:t>
            </a:r>
          </a:p>
        </p:txBody>
      </p:sp>
      <p:pic>
        <p:nvPicPr>
          <p:cNvPr id="6" name="Picture 5" descr="sidfo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099048"/>
            <a:ext cx="9144000" cy="75895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463040" y="6400800"/>
            <a:ext cx="6217920" cy="310896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Vecka 44 · Måndag · Högspänningssystem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10144" y="6400800"/>
            <a:ext cx="704088" cy="310896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r">
              <a:lnSpc>
                <a:spcPct val="108000"/>
              </a:lnSpc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9184"/>
            <a:ext cx="8046720" cy="731520"/>
          </a:xfrm>
          <a:prstGeom prst="rect">
            <a:avLst/>
          </a:prstGeom>
          <a:noFill/>
        </p:spPr>
        <p:txBody>
          <a:bodyPr wrap="square" anchor="b" lIns="27432" rIns="27432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3000" b="1" i="0">
                <a:solidFill>
                  <a:srgbClr val="111111"/>
                </a:solidFill>
                <a:latin typeface="Calibri"/>
              </a:rPr>
              <a:t>Så går lektionen till</a:t>
            </a:r>
          </a:p>
        </p:txBody>
      </p:sp>
      <p:sp>
        <p:nvSpPr>
          <p:cNvPr id="3" name="Rectangle 2"/>
          <p:cNvSpPr/>
          <p:nvPr/>
        </p:nvSpPr>
        <p:spPr>
          <a:xfrm>
            <a:off x="576072" y="1097280"/>
            <a:ext cx="822960" cy="64008"/>
          </a:xfrm>
          <a:prstGeom prst="rect">
            <a:avLst/>
          </a:prstGeom>
          <a:solidFill>
            <a:srgbClr val="EDA1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640080" y="1417320"/>
            <a:ext cx="1005840" cy="512064"/>
          </a:xfrm>
          <a:prstGeom prst="rect">
            <a:avLst/>
          </a:prstGeom>
          <a:noFill/>
        </p:spPr>
        <p:txBody>
          <a:bodyPr wrap="square" anchor="ctr" lIns="27432" rIns="27432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800" b="1" i="0">
                <a:solidFill>
                  <a:srgbClr val="064F91"/>
                </a:solidFill>
                <a:latin typeface="Calibri"/>
              </a:rPr>
              <a:t>10.00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83080" y="1417320"/>
            <a:ext cx="6720840" cy="512064"/>
          </a:xfrm>
          <a:prstGeom prst="rect">
            <a:avLst/>
          </a:prstGeom>
          <a:noFill/>
        </p:spPr>
        <p:txBody>
          <a:bodyPr wrap="square" anchor="ctr" lIns="27432" rIns="27432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800" b="0" i="0">
                <a:solidFill>
                  <a:srgbClr val="111111"/>
                </a:solidFill>
                <a:latin typeface="Calibri"/>
              </a:rPr>
              <a:t>Start och startfråga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984248"/>
            <a:ext cx="1005840" cy="512064"/>
          </a:xfrm>
          <a:prstGeom prst="rect">
            <a:avLst/>
          </a:prstGeom>
          <a:noFill/>
        </p:spPr>
        <p:txBody>
          <a:bodyPr wrap="square" anchor="ctr" lIns="27432" rIns="27432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800" b="1" i="0">
                <a:solidFill>
                  <a:srgbClr val="064F91"/>
                </a:solidFill>
                <a:latin typeface="Calibri"/>
              </a:rPr>
              <a:t>10.05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783080" y="1984248"/>
            <a:ext cx="6720840" cy="512064"/>
          </a:xfrm>
          <a:prstGeom prst="rect">
            <a:avLst/>
          </a:prstGeom>
          <a:noFill/>
        </p:spPr>
        <p:txBody>
          <a:bodyPr wrap="square" anchor="ctr" lIns="27432" rIns="27432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800" b="0" i="0">
                <a:solidFill>
                  <a:srgbClr val="111111"/>
                </a:solidFill>
                <a:latin typeface="Calibri"/>
              </a:rPr>
              <a:t>Pass 1: Spänningsnivå, ställverk och mättransformatorer (avsnitt 1–4) och ett exempel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551176"/>
            <a:ext cx="1005840" cy="512064"/>
          </a:xfrm>
          <a:prstGeom prst="rect">
            <a:avLst/>
          </a:prstGeom>
          <a:noFill/>
        </p:spPr>
        <p:txBody>
          <a:bodyPr wrap="square" anchor="ctr" lIns="27432" rIns="27432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800" b="1" i="0">
                <a:solidFill>
                  <a:srgbClr val="064F91"/>
                </a:solidFill>
                <a:latin typeface="Calibri"/>
              </a:rPr>
              <a:t>10.20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783080" y="2551176"/>
            <a:ext cx="6720840" cy="512064"/>
          </a:xfrm>
          <a:prstGeom prst="rect">
            <a:avLst/>
          </a:prstGeom>
          <a:noFill/>
        </p:spPr>
        <p:txBody>
          <a:bodyPr wrap="square" anchor="ctr" lIns="27432" rIns="27432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800" b="0" i="0">
                <a:solidFill>
                  <a:srgbClr val="111111"/>
                </a:solidFill>
                <a:latin typeface="Calibri"/>
              </a:rPr>
              <a:t>Övning 2.1, 2.2 och 2.3 tillsammans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118104"/>
            <a:ext cx="1005840" cy="512064"/>
          </a:xfrm>
          <a:prstGeom prst="rect">
            <a:avLst/>
          </a:prstGeom>
          <a:noFill/>
        </p:spPr>
        <p:txBody>
          <a:bodyPr wrap="square" anchor="ctr" lIns="27432" rIns="27432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800" b="1" i="0">
                <a:solidFill>
                  <a:srgbClr val="064F91"/>
                </a:solidFill>
                <a:latin typeface="Calibri"/>
              </a:rPr>
              <a:t>10.35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83080" y="3118104"/>
            <a:ext cx="6720840" cy="512064"/>
          </a:xfrm>
          <a:prstGeom prst="rect">
            <a:avLst/>
          </a:prstGeom>
          <a:noFill/>
        </p:spPr>
        <p:txBody>
          <a:bodyPr wrap="square" anchor="ctr" lIns="27432" rIns="27432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800" b="0" i="0">
                <a:solidFill>
                  <a:srgbClr val="111111"/>
                </a:solidFill>
                <a:latin typeface="Calibri"/>
              </a:rPr>
              <a:t>Pass 2: Skydd, arbetsgräns och neutralpunktsjordning (avsnitt 5–8) och ett exempel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3685032"/>
            <a:ext cx="1005840" cy="512064"/>
          </a:xfrm>
          <a:prstGeom prst="rect">
            <a:avLst/>
          </a:prstGeom>
          <a:noFill/>
        </p:spPr>
        <p:txBody>
          <a:bodyPr wrap="square" anchor="ctr" lIns="27432" rIns="27432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800" b="1" i="0">
                <a:solidFill>
                  <a:srgbClr val="064F91"/>
                </a:solidFill>
                <a:latin typeface="Calibri"/>
              </a:rPr>
              <a:t>10.50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783080" y="3685032"/>
            <a:ext cx="6720840" cy="512064"/>
          </a:xfrm>
          <a:prstGeom prst="rect">
            <a:avLst/>
          </a:prstGeom>
          <a:noFill/>
        </p:spPr>
        <p:txBody>
          <a:bodyPr wrap="square" anchor="ctr" lIns="27432" rIns="27432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800" b="0" i="0">
                <a:solidFill>
                  <a:srgbClr val="111111"/>
                </a:solidFill>
                <a:latin typeface="Calibri"/>
              </a:rPr>
              <a:t>Avslutsfråga, sammanfattning och det här gör du nu</a:t>
            </a:r>
          </a:p>
        </p:txBody>
      </p:sp>
      <p:pic>
        <p:nvPicPr>
          <p:cNvPr id="14" name="Picture 13" descr="sidfo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099048"/>
            <a:ext cx="9144000" cy="758952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1463040" y="6400800"/>
            <a:ext cx="6217920" cy="310896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Vecka 44 · Måndag · Högspänningssystem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10144" y="6400800"/>
            <a:ext cx="704088" cy="310896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r">
              <a:lnSpc>
                <a:spcPct val="108000"/>
              </a:lnSpc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9184"/>
            <a:ext cx="8046720" cy="731520"/>
          </a:xfrm>
          <a:prstGeom prst="rect">
            <a:avLst/>
          </a:prstGeom>
          <a:noFill/>
        </p:spPr>
        <p:txBody>
          <a:bodyPr wrap="square" anchor="b" lIns="27432" rIns="27432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3000" b="1" i="0">
                <a:solidFill>
                  <a:srgbClr val="111111"/>
                </a:solidFill>
                <a:latin typeface="Calibri"/>
              </a:rPr>
              <a:t>Spänning och skyddsfunktion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576072" y="1097280"/>
            <a:ext cx="822960" cy="64008"/>
          </a:xfrm>
          <a:prstGeom prst="rect">
            <a:avLst/>
          </a:prstGeom>
          <a:solidFill>
            <a:srgbClr val="EDA1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548640" y="1417320"/>
            <a:ext cx="8046720" cy="4480560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1200"/>
              </a:spcAft>
            </a:pPr>
            <a:r>
              <a:rPr sz="2500" b="1" i="0">
                <a:solidFill>
                  <a:srgbClr val="064F91"/>
                </a:solidFill>
                <a:latin typeface="Calibri"/>
              </a:rPr>
              <a:t>AC och DC har olika spänningsgränser i kursens terminologi.</a:t>
            </a:r>
          </a:p>
          <a:p>
            <a:pPr algn="l">
              <a:lnSpc>
                <a:spcPct val="108000"/>
              </a:lnSpc>
              <a:spcAft>
                <a:spcPts val="1000"/>
              </a:spcAft>
            </a:pPr>
            <a:r>
              <a:rPr sz="2000" b="0" i="0">
                <a:solidFill>
                  <a:srgbClr val="111111"/>
                </a:solidFill>
                <a:latin typeface="Calibri"/>
              </a:rPr>
              <a:t>I</a:t>
            </a:r>
            <a:r>
              <a:rPr sz="2000" b="0" i="0" baseline="-25000">
                <a:solidFill>
                  <a:srgbClr val="111111"/>
                </a:solidFill>
                <a:latin typeface="Calibri"/>
              </a:rPr>
              <a:t>L</a:t>
            </a:r>
            <a:r>
              <a:rPr sz="2000" b="0" i="0">
                <a:solidFill>
                  <a:srgbClr val="111111"/>
                </a:solidFill>
                <a:latin typeface="Calibri"/>
              </a:rPr>
              <a:t> är linjeström. U</a:t>
            </a:r>
            <a:r>
              <a:rPr sz="2000" b="0" i="0" baseline="-25000">
                <a:solidFill>
                  <a:srgbClr val="111111"/>
                </a:solidFill>
                <a:latin typeface="Calibri"/>
              </a:rPr>
              <a:t>L</a:t>
            </a:r>
            <a:r>
              <a:rPr sz="2000" b="0" i="0">
                <a:solidFill>
                  <a:srgbClr val="111111"/>
                </a:solidFill>
                <a:latin typeface="Calibri"/>
              </a:rPr>
              <a:t> är linjespänning i trefasformlerna.</a:t>
            </a:r>
          </a:p>
          <a:p>
            <a:pPr algn="l">
              <a:lnSpc>
                <a:spcPct val="108000"/>
              </a:lnSpc>
              <a:spcAft>
                <a:spcPts val="1000"/>
              </a:spcAft>
            </a:pPr>
            <a:r>
              <a:rPr sz="2000" b="0" i="0">
                <a:solidFill>
                  <a:srgbClr val="111111"/>
                </a:solidFill>
                <a:latin typeface="Calibri"/>
              </a:rPr>
              <a:t>Mättransformator ger signal, reläskydd fattar beslut och brytare kopplar bort.</a:t>
            </a:r>
          </a:p>
          <a:p>
            <a:pPr algn="l">
              <a:lnSpc>
                <a:spcPct val="108000"/>
              </a:lnSpc>
              <a:spcAft>
                <a:spcPts val="1000"/>
              </a:spcAft>
            </a:pPr>
            <a:r>
              <a:rPr sz="2000" b="0" i="0">
                <a:solidFill>
                  <a:srgbClr val="111111"/>
                </a:solidFill>
                <a:latin typeface="Calibri"/>
              </a:rPr>
              <a:t>Manöver, frånskiljning och jordning är skilda funktioner med särskilda villkor.</a:t>
            </a:r>
          </a:p>
        </p:txBody>
      </p:sp>
      <p:pic>
        <p:nvPicPr>
          <p:cNvPr id="5" name="Picture 4" descr="sidfo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099048"/>
            <a:ext cx="9144000" cy="75895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463040" y="6400800"/>
            <a:ext cx="6217920" cy="310896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Vecka 44 · Måndag · Högspänningssystem  ·  Del 2 · avsnitt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10144" y="6400800"/>
            <a:ext cx="704088" cy="310896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r">
              <a:lnSpc>
                <a:spcPct val="108000"/>
              </a:lnSpc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9184"/>
            <a:ext cx="8046720" cy="731520"/>
          </a:xfrm>
          <a:prstGeom prst="rect">
            <a:avLst/>
          </a:prstGeom>
          <a:noFill/>
        </p:spPr>
        <p:txBody>
          <a:bodyPr wrap="square" anchor="b" lIns="27432" rIns="27432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3000" b="1" i="0">
                <a:solidFill>
                  <a:srgbClr val="111111"/>
                </a:solidFill>
                <a:latin typeface="Calibri"/>
              </a:rPr>
              <a:t>Spänningsnivå och överföring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576072" y="1097280"/>
            <a:ext cx="822960" cy="64008"/>
          </a:xfrm>
          <a:prstGeom prst="rect">
            <a:avLst/>
          </a:prstGeom>
          <a:solidFill>
            <a:srgbClr val="EDA1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548640" y="1417320"/>
            <a:ext cx="8046720" cy="4480560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1200"/>
              </a:spcAft>
            </a:pPr>
            <a:r>
              <a:rPr sz="2500" b="1" i="0">
                <a:solidFill>
                  <a:srgbClr val="064F91"/>
                </a:solidFill>
                <a:latin typeface="Calibri"/>
              </a:rPr>
              <a:t>P = √3 · U</a:t>
            </a:r>
            <a:r>
              <a:rPr sz="2500" b="1" i="0" baseline="-25000">
                <a:solidFill>
                  <a:srgbClr val="064F91"/>
                </a:solidFill>
                <a:latin typeface="Calibri"/>
              </a:rPr>
              <a:t>L</a:t>
            </a:r>
            <a:r>
              <a:rPr sz="2500" b="1" i="0">
                <a:solidFill>
                  <a:srgbClr val="064F91"/>
                </a:solidFill>
                <a:latin typeface="Calibri"/>
              </a:rPr>
              <a:t> · I</a:t>
            </a:r>
            <a:r>
              <a:rPr sz="2500" b="1" i="0" baseline="-25000">
                <a:solidFill>
                  <a:srgbClr val="064F91"/>
                </a:solidFill>
                <a:latin typeface="Calibri"/>
              </a:rPr>
              <a:t>L</a:t>
            </a:r>
            <a:r>
              <a:rPr sz="2500" b="1" i="0">
                <a:solidFill>
                  <a:srgbClr val="064F91"/>
                </a:solidFill>
                <a:latin typeface="Calibri"/>
              </a:rPr>
              <a:t> · PF</a:t>
            </a:r>
          </a:p>
          <a:p>
            <a:pPr algn="l">
              <a:lnSpc>
                <a:spcPct val="108000"/>
              </a:lnSpc>
              <a:spcAft>
                <a:spcPts val="1000"/>
              </a:spcAft>
            </a:pPr>
            <a:r>
              <a:rPr sz="2000" b="0" i="0">
                <a:solidFill>
                  <a:srgbClr val="111111"/>
                </a:solidFill>
                <a:latin typeface="Calibri"/>
              </a:rPr>
              <a:t>Högspänning (HV) är över 1 000 V AC eller över 1 500 V DC i den terminologi som används här.</a:t>
            </a:r>
          </a:p>
          <a:p>
            <a:pPr algn="l">
              <a:lnSpc>
                <a:spcPct val="108000"/>
              </a:lnSpc>
              <a:spcAft>
                <a:spcPts val="1000"/>
              </a:spcAft>
            </a:pPr>
            <a:r>
              <a:rPr sz="2000" b="0" i="0">
                <a:solidFill>
                  <a:srgbClr val="111111"/>
                </a:solidFill>
                <a:latin typeface="Calibri"/>
              </a:rPr>
              <a:t>Vid given effekt och PF minskar strömmen när spänningen ökar.</a:t>
            </a:r>
          </a:p>
          <a:p>
            <a:pPr algn="l">
              <a:lnSpc>
                <a:spcPct val="108000"/>
              </a:lnSpc>
              <a:spcAft>
                <a:spcPts val="1000"/>
              </a:spcAft>
            </a:pPr>
            <a:r>
              <a:rPr sz="2000" b="0" i="0">
                <a:solidFill>
                  <a:srgbClr val="111111"/>
                </a:solidFill>
                <a:latin typeface="Calibri"/>
              </a:rPr>
              <a:t>Isolering och arbetssäkerhet kräver samtidigt andra lösningar.</a:t>
            </a:r>
          </a:p>
        </p:txBody>
      </p:sp>
      <p:pic>
        <p:nvPicPr>
          <p:cNvPr id="5" name="Picture 4" descr="sidfo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099048"/>
            <a:ext cx="9144000" cy="75895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463040" y="6400800"/>
            <a:ext cx="6217920" cy="310896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Vecka 44 · Måndag · Högspänningssystem  ·  Del 2 · avsnitt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10144" y="6400800"/>
            <a:ext cx="704088" cy="310896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r">
              <a:lnSpc>
                <a:spcPct val="108000"/>
              </a:lnSpc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9184"/>
            <a:ext cx="8046720" cy="731520"/>
          </a:xfrm>
          <a:prstGeom prst="rect">
            <a:avLst/>
          </a:prstGeom>
          <a:noFill/>
        </p:spPr>
        <p:txBody>
          <a:bodyPr wrap="square" anchor="b" lIns="27432" rIns="27432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3000" b="1" i="0">
                <a:solidFill>
                  <a:srgbClr val="111111"/>
                </a:solidFill>
                <a:latin typeface="Calibri"/>
              </a:rPr>
              <a:t>Ställverkets funktioner</a:t>
            </a:r>
          </a:p>
        </p:txBody>
      </p:sp>
      <p:sp>
        <p:nvSpPr>
          <p:cNvPr id="3" name="Rectangle 2"/>
          <p:cNvSpPr/>
          <p:nvPr/>
        </p:nvSpPr>
        <p:spPr>
          <a:xfrm>
            <a:off x="576072" y="1097280"/>
            <a:ext cx="822960" cy="64008"/>
          </a:xfrm>
          <a:prstGeom prst="rect">
            <a:avLst/>
          </a:prstGeom>
          <a:solidFill>
            <a:srgbClr val="EDA1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548640" y="1417320"/>
            <a:ext cx="4069080" cy="4480560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1200"/>
              </a:spcAft>
            </a:pPr>
            <a:r>
              <a:rPr sz="2500" b="1" i="0">
                <a:solidFill>
                  <a:srgbClr val="064F91"/>
                </a:solidFill>
                <a:latin typeface="Calibri"/>
              </a:rPr>
              <a:t>Apparaternas funktioner ska framgå av schema och data.</a:t>
            </a:r>
          </a:p>
          <a:p>
            <a:pPr algn="l">
              <a:lnSpc>
                <a:spcPct val="108000"/>
              </a:lnSpc>
              <a:spcAft>
                <a:spcPts val="1000"/>
              </a:spcAft>
            </a:pPr>
            <a:r>
              <a:rPr sz="2000" b="0" i="0">
                <a:solidFill>
                  <a:srgbClr val="111111"/>
                </a:solidFill>
                <a:latin typeface="Calibri"/>
              </a:rPr>
              <a:t>Brytare kopplar last och avsedda felströmmar.</a:t>
            </a:r>
          </a:p>
          <a:p>
            <a:pPr algn="l">
              <a:lnSpc>
                <a:spcPct val="108000"/>
              </a:lnSpc>
              <a:spcAft>
                <a:spcPts val="1000"/>
              </a:spcAft>
            </a:pPr>
            <a:r>
              <a:rPr sz="2000" b="0" i="0">
                <a:solidFill>
                  <a:srgbClr val="111111"/>
                </a:solidFill>
                <a:latin typeface="Calibri"/>
              </a:rPr>
              <a:t>Frånskiljning och jordning har särskilda uppgifter.</a:t>
            </a:r>
          </a:p>
          <a:p>
            <a:pPr algn="l">
              <a:lnSpc>
                <a:spcPct val="108000"/>
              </a:lnSpc>
              <a:spcAft>
                <a:spcPts val="1000"/>
              </a:spcAft>
            </a:pPr>
            <a:r>
              <a:rPr sz="2000" b="0" i="0">
                <a:solidFill>
                  <a:srgbClr val="111111"/>
                </a:solidFill>
                <a:latin typeface="Calibri"/>
              </a:rPr>
              <a:t>Förreglingar kan hindra farliga manöverföljder. De ersätter inte arbetsberedning och verifierad status.</a:t>
            </a:r>
          </a:p>
        </p:txBody>
      </p:sp>
      <p:pic>
        <p:nvPicPr>
          <p:cNvPr id="5" name="Figur: Ställverksfack: samlingsskena, frånskiljare, brytare, strömtransformator och jordningskopplare mot kabeln till förbrukaren, med förregling." descr="Ställverksfack: samlingsskena, frånskiljare, brytare, strömtransformator och jordningskopplare mot kabeln till förbrukaren, med förregling.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6320" y="1714500"/>
            <a:ext cx="3794760" cy="3794760"/>
          </a:xfrm>
          <a:prstGeom prst="rect">
            <a:avLst/>
          </a:prstGeom>
        </p:spPr>
      </p:pic>
      <p:pic>
        <p:nvPicPr>
          <p:cNvPr id="6" name="Picture 5" descr="sidfot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6099048"/>
            <a:ext cx="9144000" cy="75895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463040" y="6400800"/>
            <a:ext cx="6217920" cy="310896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Vecka 44 · Måndag · Högspänningssystem  ·  Del 2 · avsnitt 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10144" y="6400800"/>
            <a:ext cx="704088" cy="310896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r">
              <a:lnSpc>
                <a:spcPct val="108000"/>
              </a:lnSpc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9184"/>
            <a:ext cx="8046720" cy="731520"/>
          </a:xfrm>
          <a:prstGeom prst="rect">
            <a:avLst/>
          </a:prstGeom>
          <a:noFill/>
        </p:spPr>
        <p:txBody>
          <a:bodyPr wrap="square" anchor="b" lIns="27432" rIns="27432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3000" b="1" i="0">
                <a:solidFill>
                  <a:srgbClr val="111111"/>
                </a:solidFill>
                <a:latin typeface="Calibri"/>
              </a:rPr>
              <a:t>Mättransformatorer och reläskydd</a:t>
            </a:r>
          </a:p>
        </p:txBody>
      </p:sp>
      <p:sp>
        <p:nvSpPr>
          <p:cNvPr id="3" name="Rectangle 2"/>
          <p:cNvSpPr/>
          <p:nvPr/>
        </p:nvSpPr>
        <p:spPr>
          <a:xfrm>
            <a:off x="576072" y="1097280"/>
            <a:ext cx="822960" cy="64008"/>
          </a:xfrm>
          <a:prstGeom prst="rect">
            <a:avLst/>
          </a:prstGeom>
          <a:solidFill>
            <a:srgbClr val="EDA1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548640" y="1417320"/>
            <a:ext cx="4069080" cy="4480560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1200"/>
              </a:spcAft>
            </a:pPr>
            <a:r>
              <a:rPr sz="2500" b="1" i="0">
                <a:solidFill>
                  <a:srgbClr val="064F91"/>
                </a:solidFill>
                <a:latin typeface="Calibri"/>
              </a:rPr>
              <a:t>Kedjan: mätning, skyddslogik, utlösning och brytare.</a:t>
            </a:r>
          </a:p>
          <a:p>
            <a:pPr algn="l">
              <a:lnSpc>
                <a:spcPct val="108000"/>
              </a:lnSpc>
              <a:spcAft>
                <a:spcPts val="1000"/>
              </a:spcAft>
            </a:pPr>
            <a:r>
              <a:rPr sz="1900" b="0" i="0">
                <a:solidFill>
                  <a:srgbClr val="111111"/>
                </a:solidFill>
                <a:latin typeface="Calibri"/>
              </a:rPr>
              <a:t>Ström- och spänningstransformatorer ger signaler till mätning och skydd.</a:t>
            </a:r>
          </a:p>
          <a:p>
            <a:pPr algn="l">
              <a:lnSpc>
                <a:spcPct val="108000"/>
              </a:lnSpc>
              <a:spcAft>
                <a:spcPts val="1000"/>
              </a:spcAft>
            </a:pPr>
            <a:r>
              <a:rPr sz="1900" b="0" i="0">
                <a:solidFill>
                  <a:srgbClr val="111111"/>
                </a:solidFill>
                <a:latin typeface="Calibri"/>
              </a:rPr>
              <a:t>Reläskyddet bedömer tillstånd och kan ge brytkommando.</a:t>
            </a:r>
          </a:p>
          <a:p>
            <a:pPr algn="l">
              <a:lnSpc>
                <a:spcPct val="108000"/>
              </a:lnSpc>
              <a:spcAft>
                <a:spcPts val="1000"/>
              </a:spcAft>
            </a:pPr>
            <a:r>
              <a:rPr sz="1900" b="0" i="0">
                <a:solidFill>
                  <a:srgbClr val="111111"/>
                </a:solidFill>
                <a:latin typeface="Calibri"/>
              </a:rPr>
              <a:t>En strömtransformator kräver föreskriven sekundärhantering.</a:t>
            </a:r>
          </a:p>
          <a:p>
            <a:pPr algn="l">
              <a:lnSpc>
                <a:spcPct val="108000"/>
              </a:lnSpc>
              <a:spcAft>
                <a:spcPts val="1000"/>
              </a:spcAft>
            </a:pPr>
            <a:r>
              <a:rPr sz="1900" b="0" i="0">
                <a:solidFill>
                  <a:srgbClr val="111111"/>
                </a:solidFill>
                <a:latin typeface="Calibri"/>
              </a:rPr>
              <a:t>En belastad sekundärkrets får inte öppnas godtyckligt.</a:t>
            </a:r>
          </a:p>
        </p:txBody>
      </p:sp>
      <p:pic>
        <p:nvPicPr>
          <p:cNvPr id="5" name="Figur: Strömtransformatorn mäter, skyddsreläet beslutar och brytaren kopplar bort." descr="Strömtransformatorn mäter, skyddsreläet beslutar och brytaren kopplar bort.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6320" y="2289195"/>
            <a:ext cx="3794760" cy="2645368"/>
          </a:xfrm>
          <a:prstGeom prst="rect">
            <a:avLst/>
          </a:prstGeom>
        </p:spPr>
      </p:pic>
      <p:pic>
        <p:nvPicPr>
          <p:cNvPr id="6" name="Picture 5" descr="sidfot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6099048"/>
            <a:ext cx="9144000" cy="75895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463040" y="6400800"/>
            <a:ext cx="6217920" cy="310896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Vecka 44 · Måndag · Högspänningssystem  ·  Del 2 · avsnitt 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10144" y="6400800"/>
            <a:ext cx="704088" cy="310896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r">
              <a:lnSpc>
                <a:spcPct val="108000"/>
              </a:lnSpc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9184"/>
            <a:ext cx="8046720" cy="731520"/>
          </a:xfrm>
          <a:prstGeom prst="rect">
            <a:avLst/>
          </a:prstGeom>
          <a:noFill/>
        </p:spPr>
        <p:txBody>
          <a:bodyPr wrap="square" anchor="b" lIns="27432" rIns="27432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3000" b="1" i="0">
                <a:solidFill>
                  <a:srgbClr val="111111"/>
                </a:solidFill>
                <a:latin typeface="Calibri"/>
              </a:rPr>
              <a:t>Exempel: ström vid högre spänning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576072" y="1097280"/>
            <a:ext cx="822960" cy="64008"/>
          </a:xfrm>
          <a:prstGeom prst="rect">
            <a:avLst/>
          </a:prstGeom>
          <a:solidFill>
            <a:srgbClr val="EDA1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548640" y="1417320"/>
            <a:ext cx="8046720" cy="731520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800" b="0" i="1">
                <a:solidFill>
                  <a:srgbClr val="4A4A4A"/>
                </a:solidFill>
                <a:latin typeface="Calibri"/>
              </a:rPr>
              <a:t>Symmetrisk trefaslast med P = 500 kW och PF = 0,80. Jämför 5 kV och 500 V linjespänning.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194560"/>
            <a:ext cx="4069080" cy="3703320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1200"/>
              </a:spcAft>
            </a:pPr>
            <a:r>
              <a:rPr sz="2500" b="1" i="0">
                <a:solidFill>
                  <a:srgbClr val="064F91"/>
                </a:solidFill>
                <a:latin typeface="Calibri"/>
              </a:rPr>
              <a:t>I</a:t>
            </a:r>
            <a:r>
              <a:rPr sz="2500" b="1" i="0" baseline="-25000">
                <a:solidFill>
                  <a:srgbClr val="064F91"/>
                </a:solidFill>
                <a:latin typeface="Calibri"/>
              </a:rPr>
              <a:t>L</a:t>
            </a:r>
            <a:r>
              <a:rPr sz="2500" b="1" i="0">
                <a:solidFill>
                  <a:srgbClr val="064F91"/>
                </a:solidFill>
                <a:latin typeface="Calibri"/>
              </a:rPr>
              <a:t> = P/(√3 · U</a:t>
            </a:r>
            <a:r>
              <a:rPr sz="2500" b="1" i="0" baseline="-25000">
                <a:solidFill>
                  <a:srgbClr val="064F91"/>
                </a:solidFill>
                <a:latin typeface="Calibri"/>
              </a:rPr>
              <a:t>L</a:t>
            </a:r>
            <a:r>
              <a:rPr sz="2500" b="1" i="0">
                <a:solidFill>
                  <a:srgbClr val="064F91"/>
                </a:solidFill>
                <a:latin typeface="Calibri"/>
              </a:rPr>
              <a:t> · PF)</a:t>
            </a:r>
          </a:p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1800" b="0" i="0">
                <a:solidFill>
                  <a:srgbClr val="111111"/>
                </a:solidFill>
                <a:latin typeface="Calibri"/>
              </a:rPr>
              <a:t>1. Vid 5 kV: I</a:t>
            </a:r>
            <a:r>
              <a:rPr sz="1800" b="0" i="0" baseline="-25000">
                <a:solidFill>
                  <a:srgbClr val="111111"/>
                </a:solidFill>
                <a:latin typeface="Calibri"/>
              </a:rPr>
              <a:t>L</a:t>
            </a:r>
            <a:r>
              <a:rPr sz="1800" b="0" i="0">
                <a:solidFill>
                  <a:srgbClr val="111111"/>
                </a:solidFill>
                <a:latin typeface="Calibri"/>
              </a:rPr>
              <a:t> = 500 000/(√3 · 5 000 · 0,80) ≈ 72,2 A.</a:t>
            </a:r>
          </a:p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1800" b="0" i="0">
                <a:solidFill>
                  <a:srgbClr val="111111"/>
                </a:solidFill>
                <a:latin typeface="Calibri"/>
              </a:rPr>
              <a:t>2. Vid 500 V: I</a:t>
            </a:r>
            <a:r>
              <a:rPr sz="1800" b="0" i="0" baseline="-25000">
                <a:solidFill>
                  <a:srgbClr val="111111"/>
                </a:solidFill>
                <a:latin typeface="Calibri"/>
              </a:rPr>
              <a:t>L</a:t>
            </a:r>
            <a:r>
              <a:rPr sz="1800" b="0" i="0">
                <a:solidFill>
                  <a:srgbClr val="111111"/>
                </a:solidFill>
                <a:latin typeface="Calibri"/>
              </a:rPr>
              <a:t> ≈ 721,7 A.</a:t>
            </a:r>
          </a:p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1800" b="0" i="0">
                <a:solidFill>
                  <a:srgbClr val="111111"/>
                </a:solidFill>
                <a:latin typeface="Calibri"/>
              </a:rPr>
              <a:t>3. Spänningskvoten 5 000/500 = 10 ger omvänd strömkvot.</a:t>
            </a:r>
          </a:p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800" b="1" i="0">
                <a:solidFill>
                  <a:srgbClr val="111111"/>
                </a:solidFill>
                <a:latin typeface="Calibri"/>
              </a:rPr>
              <a:t>Samma effekt och PF ger tio gånger större ström vid en tiondel av spänningen.</a:t>
            </a:r>
          </a:p>
        </p:txBody>
      </p:sp>
      <p:pic>
        <p:nvPicPr>
          <p:cNvPr id="6" name="Figur: Stapeldiagram: linjeströmmen är 72,2 A vid 5 kV och 721,7 A vid 500 V för 500 kW och PF 0,80." descr="Stapeldiagram: linjeströmmen är 72,2 A vid 5 kV och 721,7 A vid 500 V för 500 kW och PF 0,80.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6320" y="2677815"/>
            <a:ext cx="3794760" cy="2645368"/>
          </a:xfrm>
          <a:prstGeom prst="rect">
            <a:avLst/>
          </a:prstGeom>
        </p:spPr>
      </p:pic>
      <p:pic>
        <p:nvPicPr>
          <p:cNvPr id="7" name="Picture 6" descr="sidfot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6099048"/>
            <a:ext cx="9144000" cy="758952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463040" y="6400800"/>
            <a:ext cx="6217920" cy="310896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Vecka 44 · Måndag · Högspänningssystem  ·  Del 2 · exempel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10144" y="6400800"/>
            <a:ext cx="704088" cy="310896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r">
              <a:lnSpc>
                <a:spcPct val="108000"/>
              </a:lnSpc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9184"/>
            <a:ext cx="8046720" cy="731520"/>
          </a:xfrm>
          <a:prstGeom prst="rect">
            <a:avLst/>
          </a:prstGeom>
          <a:noFill/>
        </p:spPr>
        <p:txBody>
          <a:bodyPr wrap="square" anchor="b" lIns="27432" rIns="27432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3000" b="1" i="0">
                <a:solidFill>
                  <a:srgbClr val="111111"/>
                </a:solidFill>
                <a:latin typeface="Calibri"/>
              </a:rPr>
              <a:t>Övningar tillsammans</a:t>
            </a:r>
          </a:p>
        </p:txBody>
      </p:sp>
      <p:sp>
        <p:nvSpPr>
          <p:cNvPr id="3" name="Rectangle 2"/>
          <p:cNvSpPr/>
          <p:nvPr/>
        </p:nvSpPr>
        <p:spPr>
          <a:xfrm>
            <a:off x="576072" y="1097280"/>
            <a:ext cx="822960" cy="64008"/>
          </a:xfrm>
          <a:prstGeom prst="rect">
            <a:avLst/>
          </a:prstGeom>
          <a:solidFill>
            <a:srgbClr val="EDA1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548640" y="1417320"/>
            <a:ext cx="8046720" cy="502920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2200" b="1" i="0">
                <a:solidFill>
                  <a:srgbClr val="064F91"/>
                </a:solidFill>
                <a:latin typeface="Calibri"/>
              </a:rPr>
              <a:t>Öppna del 2 och gå till 4 Övningar.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2057400"/>
            <a:ext cx="8046720" cy="566928"/>
          </a:xfrm>
          <a:prstGeom prst="rect">
            <a:avLst/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2057400"/>
            <a:ext cx="1737360" cy="566928"/>
          </a:xfrm>
          <a:prstGeom prst="rect">
            <a:avLst/>
          </a:prstGeom>
          <a:noFill/>
        </p:spPr>
        <p:txBody>
          <a:bodyPr wrap="square" anchor="ctr" lIns="27432" rIns="27432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2000" b="1" i="0">
                <a:solidFill>
                  <a:srgbClr val="111111"/>
                </a:solidFill>
                <a:latin typeface="Calibri"/>
              </a:rPr>
              <a:t>Övning 2.1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468880" y="2057400"/>
            <a:ext cx="6035040" cy="566928"/>
          </a:xfrm>
          <a:prstGeom prst="rect">
            <a:avLst/>
          </a:prstGeom>
          <a:noFill/>
        </p:spPr>
        <p:txBody>
          <a:bodyPr wrap="square" anchor="ctr" lIns="27432" rIns="27432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2000" b="0" i="0">
                <a:solidFill>
                  <a:srgbClr val="111111"/>
                </a:solidFill>
                <a:latin typeface="Calibri"/>
              </a:rPr>
              <a:t>Spänningsbegrepp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2734056"/>
            <a:ext cx="8046720" cy="566928"/>
          </a:xfrm>
          <a:prstGeom prst="rect">
            <a:avLst/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685800" y="2734056"/>
            <a:ext cx="1737360" cy="566928"/>
          </a:xfrm>
          <a:prstGeom prst="rect">
            <a:avLst/>
          </a:prstGeom>
          <a:noFill/>
        </p:spPr>
        <p:txBody>
          <a:bodyPr wrap="square" anchor="ctr" lIns="27432" rIns="27432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2000" b="1" i="0">
                <a:solidFill>
                  <a:srgbClr val="111111"/>
                </a:solidFill>
                <a:latin typeface="Calibri"/>
              </a:rPr>
              <a:t>Övning 2.2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468880" y="2734056"/>
            <a:ext cx="6035040" cy="566928"/>
          </a:xfrm>
          <a:prstGeom prst="rect">
            <a:avLst/>
          </a:prstGeom>
          <a:noFill/>
        </p:spPr>
        <p:txBody>
          <a:bodyPr wrap="square" anchor="ctr" lIns="27432" rIns="27432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2000" b="0" i="0">
                <a:solidFill>
                  <a:srgbClr val="111111"/>
                </a:solidFill>
                <a:latin typeface="Calibri"/>
              </a:rPr>
              <a:t>Ström vid 6,6 kV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3410712"/>
            <a:ext cx="8046720" cy="566928"/>
          </a:xfrm>
          <a:prstGeom prst="rect">
            <a:avLst/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685800" y="3410712"/>
            <a:ext cx="1737360" cy="566928"/>
          </a:xfrm>
          <a:prstGeom prst="rect">
            <a:avLst/>
          </a:prstGeom>
          <a:noFill/>
        </p:spPr>
        <p:txBody>
          <a:bodyPr wrap="square" anchor="ctr" lIns="27432" rIns="27432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2000" b="1" i="0">
                <a:solidFill>
                  <a:srgbClr val="111111"/>
                </a:solidFill>
                <a:latin typeface="Calibri"/>
              </a:rPr>
              <a:t>Övning 2.3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468880" y="3410712"/>
            <a:ext cx="6035040" cy="566928"/>
          </a:xfrm>
          <a:prstGeom prst="rect">
            <a:avLst/>
          </a:prstGeom>
          <a:noFill/>
        </p:spPr>
        <p:txBody>
          <a:bodyPr wrap="square" anchor="ctr" lIns="27432" rIns="27432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2000" b="0" i="0">
                <a:solidFill>
                  <a:srgbClr val="111111"/>
                </a:solidFill>
                <a:latin typeface="Calibri"/>
              </a:rPr>
              <a:t>Samma effekt vid 400 V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4224528"/>
            <a:ext cx="8046720" cy="1673351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800"/>
              </a:spcAft>
            </a:pPr>
            <a:r>
              <a:rPr sz="1900" b="0" i="0">
                <a:solidFill>
                  <a:srgbClr val="111111"/>
                </a:solidFill>
                <a:latin typeface="Calibri"/>
              </a:rPr>
              <a:t>Fem minuter per övning. Skriv ditt svar i chatten. Övning 2.4–2.6 gör du själv efter lektionen.</a:t>
            </a:r>
          </a:p>
          <a:p>
            <a:pPr algn="l">
              <a:lnSpc>
                <a:spcPct val="108000"/>
              </a:lnSpc>
              <a:spcAft>
                <a:spcPts val="800"/>
              </a:spcAft>
            </a:pPr>
            <a:r>
              <a:rPr sz="1400" b="0" i="0">
                <a:solidFill>
                  <a:srgbClr val="4A4A4A"/>
                </a:solidFill>
                <a:latin typeface="Calibri"/>
              </a:rPr>
              <a:t>nj22az.github.io/sjoskolan/vecka-44/aktuell/Del_2.html</a:t>
            </a:r>
          </a:p>
        </p:txBody>
      </p:sp>
      <p:pic>
        <p:nvPicPr>
          <p:cNvPr id="15" name="Picture 14" descr="sidfo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099048"/>
            <a:ext cx="9144000" cy="758952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1463040" y="6400800"/>
            <a:ext cx="6217920" cy="310896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Vecka 44 · Måndag · Högspänningssystem  ·  Del 2 · 4 Övningar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10144" y="6400800"/>
            <a:ext cx="704088" cy="310896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r">
              <a:lnSpc>
                <a:spcPct val="108000"/>
              </a:lnSpc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9184"/>
            <a:ext cx="8046720" cy="731520"/>
          </a:xfrm>
          <a:prstGeom prst="rect">
            <a:avLst/>
          </a:prstGeom>
          <a:noFill/>
        </p:spPr>
        <p:txBody>
          <a:bodyPr wrap="square" anchor="b" lIns="27432" rIns="27432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3000" b="1" i="0">
                <a:solidFill>
                  <a:srgbClr val="111111"/>
                </a:solidFill>
                <a:latin typeface="Calibri"/>
              </a:rPr>
              <a:t>Exempel: strömtransformator</a:t>
            </a:r>
          </a:p>
        </p:txBody>
      </p:sp>
      <p:sp>
        <p:nvSpPr>
          <p:cNvPr id="3" name="Rectangle 2"/>
          <p:cNvSpPr/>
          <p:nvPr/>
        </p:nvSpPr>
        <p:spPr>
          <a:xfrm>
            <a:off x="576072" y="1097280"/>
            <a:ext cx="822960" cy="64008"/>
          </a:xfrm>
          <a:prstGeom prst="rect">
            <a:avLst/>
          </a:prstGeom>
          <a:solidFill>
            <a:srgbClr val="EDA1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548640" y="1417320"/>
            <a:ext cx="8046720" cy="731520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800" b="0" i="1">
                <a:solidFill>
                  <a:srgbClr val="4A4A4A"/>
                </a:solidFill>
                <a:latin typeface="Calibri"/>
              </a:rPr>
              <a:t>En ideal strömtransformator är märkt 400/5 A. Primärströmmen är 320 A. Endast beräkning på data.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194560"/>
            <a:ext cx="4069080" cy="3703320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1200"/>
              </a:spcAft>
            </a:pPr>
            <a:r>
              <a:rPr sz="2100" b="1" i="0">
                <a:solidFill>
                  <a:srgbClr val="064F91"/>
                </a:solidFill>
                <a:latin typeface="Calibri"/>
              </a:rPr>
              <a:t>k</a:t>
            </a:r>
            <a:r>
              <a:rPr sz="2100" b="1" i="0" baseline="-25000">
                <a:solidFill>
                  <a:srgbClr val="064F91"/>
                </a:solidFill>
                <a:latin typeface="Calibri"/>
              </a:rPr>
              <a:t>I</a:t>
            </a:r>
            <a:r>
              <a:rPr sz="2100" b="1" i="0">
                <a:solidFill>
                  <a:srgbClr val="064F91"/>
                </a:solidFill>
                <a:latin typeface="Calibri"/>
              </a:rPr>
              <a:t> = I</a:t>
            </a:r>
            <a:r>
              <a:rPr sz="2100" b="1" i="0" baseline="-25000">
                <a:solidFill>
                  <a:srgbClr val="064F91"/>
                </a:solidFill>
                <a:latin typeface="Calibri"/>
              </a:rPr>
              <a:t>1,märk</a:t>
            </a:r>
            <a:r>
              <a:rPr sz="2100" b="1" i="0">
                <a:solidFill>
                  <a:srgbClr val="064F91"/>
                </a:solidFill>
                <a:latin typeface="Calibri"/>
              </a:rPr>
              <a:t>/I</a:t>
            </a:r>
            <a:r>
              <a:rPr sz="2100" b="1" i="0" baseline="-25000">
                <a:solidFill>
                  <a:srgbClr val="064F91"/>
                </a:solidFill>
                <a:latin typeface="Calibri"/>
              </a:rPr>
              <a:t>2,märk</a:t>
            </a:r>
            <a:r>
              <a:rPr sz="2100" b="1" i="0">
                <a:solidFill>
                  <a:srgbClr val="064F91"/>
                </a:solidFill>
                <a:latin typeface="Calibri"/>
              </a:rPr>
              <a:t> och I</a:t>
            </a:r>
            <a:r>
              <a:rPr sz="2100" b="1" i="0" baseline="-25000">
                <a:solidFill>
                  <a:srgbClr val="064F91"/>
                </a:solidFill>
                <a:latin typeface="Calibri"/>
              </a:rPr>
              <a:t>2</a:t>
            </a:r>
            <a:r>
              <a:rPr sz="2100" b="1" i="0">
                <a:solidFill>
                  <a:srgbClr val="064F91"/>
                </a:solidFill>
                <a:latin typeface="Calibri"/>
              </a:rPr>
              <a:t> = I</a:t>
            </a:r>
            <a:r>
              <a:rPr sz="2100" b="1" i="0" baseline="-25000">
                <a:solidFill>
                  <a:srgbClr val="064F91"/>
                </a:solidFill>
                <a:latin typeface="Calibri"/>
              </a:rPr>
              <a:t>1</a:t>
            </a:r>
            <a:r>
              <a:rPr sz="2100" b="1" i="0">
                <a:solidFill>
                  <a:srgbClr val="064F91"/>
                </a:solidFill>
                <a:latin typeface="Calibri"/>
              </a:rPr>
              <a:t>/k</a:t>
            </a:r>
            <a:r>
              <a:rPr sz="2100" b="1" i="0" baseline="-25000">
                <a:solidFill>
                  <a:srgbClr val="064F91"/>
                </a:solidFill>
                <a:latin typeface="Calibri"/>
              </a:rPr>
              <a:t>I</a:t>
            </a:r>
          </a:p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1800" b="0" i="0">
                <a:solidFill>
                  <a:srgbClr val="111111"/>
                </a:solidFill>
                <a:latin typeface="Calibri"/>
              </a:rPr>
              <a:t>1. k</a:t>
            </a:r>
            <a:r>
              <a:rPr sz="1800" b="0" i="0" baseline="-25000">
                <a:solidFill>
                  <a:srgbClr val="111111"/>
                </a:solidFill>
                <a:latin typeface="Calibri"/>
              </a:rPr>
              <a:t>I</a:t>
            </a:r>
            <a:r>
              <a:rPr sz="1800" b="0" i="0">
                <a:solidFill>
                  <a:srgbClr val="111111"/>
                </a:solidFill>
                <a:latin typeface="Calibri"/>
              </a:rPr>
              <a:t> = 400/5 = 80.</a:t>
            </a:r>
          </a:p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1800" b="0" i="0">
                <a:solidFill>
                  <a:srgbClr val="111111"/>
                </a:solidFill>
                <a:latin typeface="Calibri"/>
              </a:rPr>
              <a:t>2. I</a:t>
            </a:r>
            <a:r>
              <a:rPr sz="1800" b="0" i="0" baseline="-25000">
                <a:solidFill>
                  <a:srgbClr val="111111"/>
                </a:solidFill>
                <a:latin typeface="Calibri"/>
              </a:rPr>
              <a:t>2</a:t>
            </a:r>
            <a:r>
              <a:rPr sz="1800" b="0" i="0">
                <a:solidFill>
                  <a:srgbClr val="111111"/>
                </a:solidFill>
                <a:latin typeface="Calibri"/>
              </a:rPr>
              <a:t> = 320/80 = 4,0 A.</a:t>
            </a:r>
          </a:p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1800" b="0" i="0">
                <a:solidFill>
                  <a:srgbClr val="111111"/>
                </a:solidFill>
                <a:latin typeface="Calibri"/>
              </a:rPr>
              <a:t>3. Kontroll: 4,0/5 = 320/400 = 0,80 av märkström på båda sidor.</a:t>
            </a:r>
          </a:p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800" b="1" i="0">
                <a:solidFill>
                  <a:srgbClr val="111111"/>
                </a:solidFill>
                <a:latin typeface="Calibri"/>
              </a:rPr>
              <a:t>Sekundärkretsen hanteras enligt anläggningens instruktion. Exemplet är ingen kopplingsanvisning.</a:t>
            </a:r>
          </a:p>
        </p:txBody>
      </p:sp>
      <p:pic>
        <p:nvPicPr>
          <p:cNvPr id="6" name="Figur: Strömtransformator 400/5 A med primärströmmen 320 A och sekundärströmmen 4,0 A. Sekundärkretsen får inte brytas under drift." descr="Strömtransformator 400/5 A med primärströmmen 320 A och sekundärströmmen 4,0 A. Sekundärkretsen får inte brytas under drift.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6320" y="2766230"/>
            <a:ext cx="3794760" cy="2468539"/>
          </a:xfrm>
          <a:prstGeom prst="rect">
            <a:avLst/>
          </a:prstGeom>
        </p:spPr>
      </p:pic>
      <p:pic>
        <p:nvPicPr>
          <p:cNvPr id="7" name="Picture 6" descr="sidfot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6099048"/>
            <a:ext cx="9144000" cy="758952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463040" y="6400800"/>
            <a:ext cx="6217920" cy="310896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Vecka 44 · Måndag · Högspänningssystem  ·  Del 2 · exempel 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10144" y="6400800"/>
            <a:ext cx="704088" cy="310896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r">
              <a:lnSpc>
                <a:spcPct val="108000"/>
              </a:lnSpc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9184"/>
            <a:ext cx="8046720" cy="731520"/>
          </a:xfrm>
          <a:prstGeom prst="rect">
            <a:avLst/>
          </a:prstGeom>
          <a:noFill/>
        </p:spPr>
        <p:txBody>
          <a:bodyPr wrap="square" anchor="b" lIns="27432" rIns="27432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3000" b="1" i="0">
                <a:solidFill>
                  <a:srgbClr val="111111"/>
                </a:solidFill>
                <a:latin typeface="Calibri"/>
              </a:rPr>
              <a:t>Skyddsfunktioner</a:t>
            </a:r>
          </a:p>
        </p:txBody>
      </p:sp>
      <p:sp>
        <p:nvSpPr>
          <p:cNvPr id="3" name="Rectangle 2"/>
          <p:cNvSpPr/>
          <p:nvPr/>
        </p:nvSpPr>
        <p:spPr>
          <a:xfrm>
            <a:off x="576072" y="1097280"/>
            <a:ext cx="822960" cy="64008"/>
          </a:xfrm>
          <a:prstGeom prst="rect">
            <a:avLst/>
          </a:prstGeom>
          <a:solidFill>
            <a:srgbClr val="EDA1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548640" y="1417320"/>
            <a:ext cx="8046720" cy="4480560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1200"/>
              </a:spcAft>
            </a:pPr>
            <a:r>
              <a:rPr sz="2500" b="1" i="0">
                <a:solidFill>
                  <a:srgbClr val="064F91"/>
                </a:solidFill>
                <a:latin typeface="Calibri"/>
              </a:rPr>
              <a:t>Inställning och verifiering hör till anläggningens skyddsplan.</a:t>
            </a:r>
          </a:p>
          <a:p>
            <a:pPr algn="l">
              <a:lnSpc>
                <a:spcPct val="108000"/>
              </a:lnSpc>
              <a:spcAft>
                <a:spcPts val="1000"/>
              </a:spcAft>
            </a:pPr>
            <a:r>
              <a:rPr sz="2000" b="0" i="0">
                <a:solidFill>
                  <a:srgbClr val="111111"/>
                </a:solidFill>
                <a:latin typeface="Calibri"/>
              </a:rPr>
              <a:t>Överström, jordfel och differentialskydd reagerar på olika felbilder.</a:t>
            </a:r>
          </a:p>
          <a:p>
            <a:pPr algn="l">
              <a:lnSpc>
                <a:spcPct val="108000"/>
              </a:lnSpc>
              <a:spcAft>
                <a:spcPts val="1000"/>
              </a:spcAft>
            </a:pPr>
            <a:r>
              <a:rPr sz="2000" b="0" i="0">
                <a:solidFill>
                  <a:srgbClr val="111111"/>
                </a:solidFill>
                <a:latin typeface="Calibri"/>
              </a:rPr>
              <a:t>Selektivitet ska begränsa bortkoppling till avsett område.</a:t>
            </a:r>
          </a:p>
          <a:p>
            <a:pPr algn="l">
              <a:lnSpc>
                <a:spcPct val="108000"/>
              </a:lnSpc>
              <a:spcAft>
                <a:spcPts val="1000"/>
              </a:spcAft>
            </a:pPr>
            <a:r>
              <a:rPr sz="2000" b="0" i="0">
                <a:solidFill>
                  <a:srgbClr val="111111"/>
                </a:solidFill>
                <a:latin typeface="Calibri"/>
              </a:rPr>
              <a:t>Ett skydd som inte löser och ett som löser felaktigt kan båda hota driftsäkerheten.</a:t>
            </a:r>
          </a:p>
        </p:txBody>
      </p:sp>
      <p:pic>
        <p:nvPicPr>
          <p:cNvPr id="5" name="Picture 4" descr="sidfo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099048"/>
            <a:ext cx="9144000" cy="75895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463040" y="6400800"/>
            <a:ext cx="6217920" cy="310896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Vecka 44 · Måndag · Högspänningssystem  ·  Del 2 · avsnitt 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10144" y="6400800"/>
            <a:ext cx="704088" cy="310896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r">
              <a:lnSpc>
                <a:spcPct val="108000"/>
              </a:lnSpc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Calibri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9184"/>
            <a:ext cx="8046720" cy="731520"/>
          </a:xfrm>
          <a:prstGeom prst="rect">
            <a:avLst/>
          </a:prstGeom>
          <a:noFill/>
        </p:spPr>
        <p:txBody>
          <a:bodyPr wrap="square" anchor="b" lIns="27432" rIns="27432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3000" b="1" i="0">
                <a:solidFill>
                  <a:srgbClr val="111111"/>
                </a:solidFill>
                <a:latin typeface="Calibri"/>
              </a:rPr>
              <a:t>Avstånd och arbetsgräns</a:t>
            </a:r>
          </a:p>
        </p:txBody>
      </p:sp>
      <p:sp>
        <p:nvSpPr>
          <p:cNvPr id="3" name="Rectangle 2"/>
          <p:cNvSpPr/>
          <p:nvPr/>
        </p:nvSpPr>
        <p:spPr>
          <a:xfrm>
            <a:off x="576072" y="1097280"/>
            <a:ext cx="822960" cy="64008"/>
          </a:xfrm>
          <a:prstGeom prst="rect">
            <a:avLst/>
          </a:prstGeom>
          <a:solidFill>
            <a:srgbClr val="EDA1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548640" y="1417320"/>
            <a:ext cx="8046720" cy="4480560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1200"/>
              </a:spcAft>
            </a:pPr>
            <a:r>
              <a:rPr sz="2500" b="1" i="0">
                <a:solidFill>
                  <a:srgbClr val="064F91"/>
                </a:solidFill>
                <a:latin typeface="Calibri"/>
              </a:rPr>
              <a:t>Inget generellt kursmått ersätter en fastställd arbetsplan.</a:t>
            </a:r>
          </a:p>
          <a:p>
            <a:pPr algn="l">
              <a:lnSpc>
                <a:spcPct val="108000"/>
              </a:lnSpc>
              <a:spcAft>
                <a:spcPts val="1000"/>
              </a:spcAft>
            </a:pPr>
            <a:r>
              <a:rPr sz="2000" b="0" i="0">
                <a:solidFill>
                  <a:srgbClr val="111111"/>
                </a:solidFill>
                <a:latin typeface="Calibri"/>
              </a:rPr>
              <a:t>Områdes- och arbetsavstånd beror på anläggning och arbetsmetod.</a:t>
            </a:r>
          </a:p>
          <a:p>
            <a:pPr algn="l">
              <a:lnSpc>
                <a:spcPct val="108000"/>
              </a:lnSpc>
              <a:spcAft>
                <a:spcPts val="1000"/>
              </a:spcAft>
            </a:pPr>
            <a:r>
              <a:rPr sz="2000" b="0" i="0">
                <a:solidFill>
                  <a:srgbClr val="111111"/>
                </a:solidFill>
                <a:latin typeface="Calibri"/>
              </a:rPr>
              <a:t>Verktyg, material och rörelseutrymme påverkar gränsen.</a:t>
            </a:r>
          </a:p>
          <a:p>
            <a:pPr algn="l">
              <a:lnSpc>
                <a:spcPct val="108000"/>
              </a:lnSpc>
              <a:spcAft>
                <a:spcPts val="1000"/>
              </a:spcAft>
            </a:pPr>
            <a:r>
              <a:rPr sz="2000" b="0" i="0">
                <a:solidFill>
                  <a:srgbClr val="111111"/>
                </a:solidFill>
                <a:latin typeface="Calibri"/>
              </a:rPr>
              <a:t>Ansvarig använder aktuell standard och lokala anvisningar för spänningsnivån och den konkreta arbetsplatsen.</a:t>
            </a:r>
          </a:p>
        </p:txBody>
      </p:sp>
      <p:pic>
        <p:nvPicPr>
          <p:cNvPr id="5" name="Picture 4" descr="sidfo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099048"/>
            <a:ext cx="9144000" cy="75895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463040" y="6400800"/>
            <a:ext cx="6217920" cy="310896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Vecka 44 · Måndag · Högspänningssystem  ·  Del 2 · avsnitt 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10144" y="6400800"/>
            <a:ext cx="704088" cy="310896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r">
              <a:lnSpc>
                <a:spcPct val="108000"/>
              </a:lnSpc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Calibri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9184"/>
            <a:ext cx="8046720" cy="731520"/>
          </a:xfrm>
          <a:prstGeom prst="rect">
            <a:avLst/>
          </a:prstGeom>
          <a:noFill/>
        </p:spPr>
        <p:txBody>
          <a:bodyPr wrap="square" anchor="b" lIns="27432" rIns="27432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3000" b="1" i="0">
                <a:solidFill>
                  <a:srgbClr val="111111"/>
                </a:solidFill>
                <a:latin typeface="Calibri"/>
              </a:rPr>
              <a:t>Beredning för ett dokumentationsfall</a:t>
            </a:r>
          </a:p>
        </p:txBody>
      </p:sp>
      <p:sp>
        <p:nvSpPr>
          <p:cNvPr id="3" name="Rectangle 2"/>
          <p:cNvSpPr/>
          <p:nvPr/>
        </p:nvSpPr>
        <p:spPr>
          <a:xfrm>
            <a:off x="576072" y="1097280"/>
            <a:ext cx="822960" cy="64008"/>
          </a:xfrm>
          <a:prstGeom prst="rect">
            <a:avLst/>
          </a:prstGeom>
          <a:solidFill>
            <a:srgbClr val="EDA1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548640" y="1417320"/>
            <a:ext cx="8046720" cy="4480560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1200"/>
              </a:spcAft>
            </a:pPr>
            <a:r>
              <a:rPr sz="2500" b="1" i="0">
                <a:solidFill>
                  <a:srgbClr val="064F91"/>
                </a:solidFill>
                <a:latin typeface="Calibri"/>
              </a:rPr>
              <a:t>Teoretisk planering utan praktiska HV-manövrer.</a:t>
            </a:r>
          </a:p>
          <a:p>
            <a:pPr algn="l">
              <a:lnSpc>
                <a:spcPct val="108000"/>
              </a:lnSpc>
              <a:spcAft>
                <a:spcPts val="1000"/>
              </a:spcAft>
            </a:pPr>
            <a:r>
              <a:rPr sz="2000" b="0" i="0">
                <a:solidFill>
                  <a:srgbClr val="111111"/>
                </a:solidFill>
                <a:latin typeface="Calibri"/>
              </a:rPr>
              <a:t>Underlaget ska visa objekt, matningsvägar och aktuell driftstatus.</a:t>
            </a:r>
          </a:p>
          <a:p>
            <a:pPr algn="l">
              <a:lnSpc>
                <a:spcPct val="108000"/>
              </a:lnSpc>
              <a:spcAft>
                <a:spcPts val="1000"/>
              </a:spcAft>
            </a:pPr>
            <a:r>
              <a:rPr sz="2000" b="0" i="0">
                <a:solidFill>
                  <a:srgbClr val="111111"/>
                </a:solidFill>
                <a:latin typeface="Calibri"/>
              </a:rPr>
              <a:t>Roller, kommunikation och stoppvillkor behöver vara tydliga.</a:t>
            </a:r>
          </a:p>
          <a:p>
            <a:pPr algn="l">
              <a:lnSpc>
                <a:spcPct val="108000"/>
              </a:lnSpc>
              <a:spcAft>
                <a:spcPts val="1000"/>
              </a:spcAft>
            </a:pPr>
            <a:r>
              <a:rPr sz="2000" b="0" i="0">
                <a:solidFill>
                  <a:srgbClr val="111111"/>
                </a:solidFill>
                <a:latin typeface="Calibri"/>
              </a:rPr>
              <a:t>Okänd matning, bristande dokumentation eller oklar status innebär att förutsättningarna behöver klarläggas.</a:t>
            </a:r>
          </a:p>
        </p:txBody>
      </p:sp>
      <p:pic>
        <p:nvPicPr>
          <p:cNvPr id="5" name="Picture 4" descr="sidfo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099048"/>
            <a:ext cx="9144000" cy="75895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463040" y="6400800"/>
            <a:ext cx="6217920" cy="310896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Vecka 44 · Måndag · Högspänningssystem  ·  Del 2 · avsnitt 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10144" y="6400800"/>
            <a:ext cx="704088" cy="310896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r">
              <a:lnSpc>
                <a:spcPct val="108000"/>
              </a:lnSpc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Calibri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9184"/>
            <a:ext cx="8046720" cy="731520"/>
          </a:xfrm>
          <a:prstGeom prst="rect">
            <a:avLst/>
          </a:prstGeom>
          <a:noFill/>
        </p:spPr>
        <p:txBody>
          <a:bodyPr wrap="square" anchor="b" lIns="27432" rIns="27432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3000" b="1" i="0">
                <a:solidFill>
                  <a:srgbClr val="111111"/>
                </a:solidFill>
                <a:latin typeface="Calibri"/>
              </a:rPr>
              <a:t>Neutralpunktsjordning i HV-nät</a:t>
            </a:r>
          </a:p>
        </p:txBody>
      </p:sp>
      <p:sp>
        <p:nvSpPr>
          <p:cNvPr id="3" name="Rectangle 2"/>
          <p:cNvSpPr/>
          <p:nvPr/>
        </p:nvSpPr>
        <p:spPr>
          <a:xfrm>
            <a:off x="576072" y="1097280"/>
            <a:ext cx="822960" cy="64008"/>
          </a:xfrm>
          <a:prstGeom prst="rect">
            <a:avLst/>
          </a:prstGeom>
          <a:solidFill>
            <a:srgbClr val="EDA1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548640" y="1417320"/>
            <a:ext cx="4069080" cy="4480560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1200"/>
              </a:spcAft>
            </a:pPr>
            <a:r>
              <a:rPr sz="2500" b="1" i="0">
                <a:solidFill>
                  <a:srgbClr val="064F91"/>
                </a:solidFill>
                <a:latin typeface="Calibri"/>
              </a:rPr>
              <a:t>Ett motstånd i neutralpunkten begränsar jordfelsströmmen till en bestämd nivå.</a:t>
            </a:r>
          </a:p>
          <a:p>
            <a:pPr algn="l">
              <a:lnSpc>
                <a:spcPct val="108000"/>
              </a:lnSpc>
              <a:spcAft>
                <a:spcPts val="1000"/>
              </a:spcAft>
            </a:pPr>
            <a:r>
              <a:rPr sz="1900" b="0" i="0">
                <a:solidFill>
                  <a:srgbClr val="111111"/>
                </a:solidFill>
                <a:latin typeface="Calibri"/>
              </a:rPr>
              <a:t>Fartygens 6,6 och 11 kV-nät har ofta neutralpunkten jordad via ett sådant motstånd (NER).</a:t>
            </a:r>
          </a:p>
          <a:p>
            <a:pPr algn="l">
              <a:lnSpc>
                <a:spcPct val="108000"/>
              </a:lnSpc>
              <a:spcAft>
                <a:spcPts val="1000"/>
              </a:spcAft>
            </a:pPr>
            <a:r>
              <a:rPr sz="1900" b="0" i="0">
                <a:solidFill>
                  <a:srgbClr val="111111"/>
                </a:solidFill>
                <a:latin typeface="Calibri"/>
              </a:rPr>
              <a:t>Jordfelsreläet larmar eller löser ut enligt skyddsplanen.</a:t>
            </a:r>
          </a:p>
          <a:p>
            <a:pPr algn="l">
              <a:lnSpc>
                <a:spcPct val="108000"/>
              </a:lnSpc>
              <a:spcAft>
                <a:spcPts val="1000"/>
              </a:spcAft>
            </a:pPr>
            <a:r>
              <a:rPr sz="1900" b="0" i="0">
                <a:solidFill>
                  <a:srgbClr val="111111"/>
                </a:solidFill>
                <a:latin typeface="Calibri"/>
              </a:rPr>
              <a:t>Hur många generatorer som har jordad neutralpunkt samtidigt styrs så att felströmmen blir den avsedda.</a:t>
            </a:r>
          </a:p>
        </p:txBody>
      </p:sp>
      <p:pic>
        <p:nvPicPr>
          <p:cNvPr id="5" name="Figur: Generator 6,6 kV med neutralpunkten jordad via ett motstånd (NER) och ett jordfelsrelä. Ett jordfel på L1 ger en felström genom skrovet och motståndet, begränsad av motståndet." descr="Generator 6,6 kV med neutralpunkten jordad via ett motstånd (NER) och ett jordfelsrelä. Ett jordfel på L1 ger en felström genom skrovet och motståndet, begränsad av motståndet.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6320" y="2112366"/>
            <a:ext cx="3794760" cy="2999027"/>
          </a:xfrm>
          <a:prstGeom prst="rect">
            <a:avLst/>
          </a:prstGeom>
        </p:spPr>
      </p:pic>
      <p:pic>
        <p:nvPicPr>
          <p:cNvPr id="6" name="Picture 5" descr="sidfot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6099048"/>
            <a:ext cx="9144000" cy="75895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463040" y="6400800"/>
            <a:ext cx="6217920" cy="310896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Vecka 44 · Måndag · Högspänningssystem  ·  Del 2 · avsnitt 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10144" y="6400800"/>
            <a:ext cx="704088" cy="310896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r">
              <a:lnSpc>
                <a:spcPct val="108000"/>
              </a:lnSpc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Calibri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9184"/>
            <a:ext cx="8046720" cy="731520"/>
          </a:xfrm>
          <a:prstGeom prst="rect">
            <a:avLst/>
          </a:prstGeom>
          <a:noFill/>
        </p:spPr>
        <p:txBody>
          <a:bodyPr wrap="square" anchor="b" lIns="27432" rIns="27432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3000" b="1" i="0">
                <a:solidFill>
                  <a:srgbClr val="111111"/>
                </a:solidFill>
                <a:latin typeface="Calibri"/>
              </a:rPr>
              <a:t>Avslutsfråga</a:t>
            </a:r>
          </a:p>
        </p:txBody>
      </p:sp>
      <p:sp>
        <p:nvSpPr>
          <p:cNvPr id="3" name="Rectangle 2"/>
          <p:cNvSpPr/>
          <p:nvPr/>
        </p:nvSpPr>
        <p:spPr>
          <a:xfrm>
            <a:off x="576072" y="1097280"/>
            <a:ext cx="822960" cy="64008"/>
          </a:xfrm>
          <a:prstGeom prst="rect">
            <a:avLst/>
          </a:prstGeom>
          <a:solidFill>
            <a:srgbClr val="EDA1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548640" y="1828800"/>
            <a:ext cx="8046720" cy="2011680"/>
          </a:xfrm>
          <a:prstGeom prst="rect">
            <a:avLst/>
          </a:prstGeom>
          <a:noFill/>
        </p:spPr>
        <p:txBody>
          <a:bodyPr wrap="square" anchor="ctr" lIns="27432" rIns="27432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800"/>
              </a:spcAft>
            </a:pPr>
            <a:r>
              <a:rPr sz="3200" b="1" i="0">
                <a:solidFill>
                  <a:srgbClr val="111111"/>
                </a:solidFill>
                <a:latin typeface="Calibri"/>
              </a:rPr>
              <a:t>Vilka anläggningsuppgifter behövs innan ett arbetsavstånd kan bestämmas?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069080"/>
            <a:ext cx="8046720" cy="1463040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800"/>
              </a:spcAft>
            </a:pPr>
            <a:r>
              <a:rPr sz="2000" b="0" i="0">
                <a:solidFill>
                  <a:srgbClr val="4A4A4A"/>
                </a:solidFill>
                <a:latin typeface="Calibri"/>
              </a:rPr>
              <a:t>Uppgiften Högspänning och strömtransformator i inlämningen bygger på del 2. Inga praktiska HV-manövrer ingår i distanspasset.</a:t>
            </a:r>
          </a:p>
        </p:txBody>
      </p:sp>
      <p:pic>
        <p:nvPicPr>
          <p:cNvPr id="6" name="Picture 5" descr="sidfo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099048"/>
            <a:ext cx="9144000" cy="75895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463040" y="6400800"/>
            <a:ext cx="6217920" cy="310896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Vecka 44 · Måndag · Högspänningssystem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10144" y="6400800"/>
            <a:ext cx="704088" cy="310896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r">
              <a:lnSpc>
                <a:spcPct val="108000"/>
              </a:lnSpc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Calibri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9184"/>
            <a:ext cx="8046720" cy="731520"/>
          </a:xfrm>
          <a:prstGeom prst="rect">
            <a:avLst/>
          </a:prstGeom>
          <a:noFill/>
        </p:spPr>
        <p:txBody>
          <a:bodyPr wrap="square" anchor="b" lIns="27432" rIns="27432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3000" b="1" i="0">
                <a:solidFill>
                  <a:srgbClr val="111111"/>
                </a:solidFill>
                <a:latin typeface="Calibri"/>
              </a:rPr>
              <a:t>Sammanfattning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576072" y="1097280"/>
            <a:ext cx="822960" cy="64008"/>
          </a:xfrm>
          <a:prstGeom prst="rect">
            <a:avLst/>
          </a:prstGeom>
          <a:solidFill>
            <a:srgbClr val="EDA1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548640" y="1463040"/>
            <a:ext cx="8046720" cy="4434840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1400"/>
              </a:spcAft>
            </a:pPr>
            <a:r>
              <a:rPr sz="2100" b="0" i="0">
                <a:solidFill>
                  <a:srgbClr val="111111"/>
                </a:solidFill>
                <a:latin typeface="Calibri"/>
              </a:rPr>
              <a:t>1. Högspänning är över 1 000 V AC eller över 1 500 V DC. Linjeströmmen räknas med I</a:t>
            </a:r>
            <a:r>
              <a:rPr sz="2100" b="0" i="0" baseline="-25000">
                <a:solidFill>
                  <a:srgbClr val="111111"/>
                </a:solidFill>
                <a:latin typeface="Calibri"/>
              </a:rPr>
              <a:t>L</a:t>
            </a:r>
            <a:r>
              <a:rPr sz="2100" b="0" i="0">
                <a:solidFill>
                  <a:srgbClr val="111111"/>
                </a:solidFill>
                <a:latin typeface="Calibri"/>
              </a:rPr>
              <a:t> = P/(√3 · U</a:t>
            </a:r>
            <a:r>
              <a:rPr sz="2100" b="0" i="0" baseline="-25000">
                <a:solidFill>
                  <a:srgbClr val="111111"/>
                </a:solidFill>
                <a:latin typeface="Calibri"/>
              </a:rPr>
              <a:t>L</a:t>
            </a:r>
            <a:r>
              <a:rPr sz="2100" b="0" i="0">
                <a:solidFill>
                  <a:srgbClr val="111111"/>
                </a:solidFill>
                <a:latin typeface="Calibri"/>
              </a:rPr>
              <a:t> · PF).</a:t>
            </a:r>
          </a:p>
          <a:p>
            <a:pPr algn="l">
              <a:lnSpc>
                <a:spcPct val="108000"/>
              </a:lnSpc>
              <a:spcAft>
                <a:spcPts val="1400"/>
              </a:spcAft>
            </a:pPr>
            <a:r>
              <a:rPr sz="2100" b="0" i="0">
                <a:solidFill>
                  <a:srgbClr val="111111"/>
                </a:solidFill>
                <a:latin typeface="Calibri"/>
              </a:rPr>
              <a:t>2. Ställverkets apparater har olika uppgifter. Förreglingar ersätter inte arbetsberedning och verifierad status.</a:t>
            </a:r>
          </a:p>
          <a:p>
            <a:pPr algn="l">
              <a:lnSpc>
                <a:spcPct val="108000"/>
              </a:lnSpc>
              <a:spcAft>
                <a:spcPts val="1400"/>
              </a:spcAft>
            </a:pPr>
            <a:r>
              <a:rPr sz="2100" b="0" i="0">
                <a:solidFill>
                  <a:srgbClr val="111111"/>
                </a:solidFill>
                <a:latin typeface="Calibri"/>
              </a:rPr>
              <a:t>3. Arbetsgränsen bestäms för anläggningen och arbetsmetoden enligt aktuell standard och lokala anvisningar.</a:t>
            </a:r>
          </a:p>
        </p:txBody>
      </p:sp>
      <p:pic>
        <p:nvPicPr>
          <p:cNvPr id="5" name="Picture 4" descr="sidfo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099048"/>
            <a:ext cx="9144000" cy="75895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463040" y="6400800"/>
            <a:ext cx="6217920" cy="310896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Vecka 44 · Måndag · Högspänningssystem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10144" y="6400800"/>
            <a:ext cx="704088" cy="310896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r">
              <a:lnSpc>
                <a:spcPct val="108000"/>
              </a:lnSpc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Calibri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9184"/>
            <a:ext cx="8046720" cy="731520"/>
          </a:xfrm>
          <a:prstGeom prst="rect">
            <a:avLst/>
          </a:prstGeom>
          <a:noFill/>
        </p:spPr>
        <p:txBody>
          <a:bodyPr wrap="square" anchor="b" lIns="27432" rIns="27432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3000" b="1" i="0">
                <a:solidFill>
                  <a:srgbClr val="111111"/>
                </a:solidFill>
                <a:latin typeface="Calibri"/>
              </a:rPr>
              <a:t>Det här gör du nu</a:t>
            </a:r>
          </a:p>
        </p:txBody>
      </p:sp>
      <p:sp>
        <p:nvSpPr>
          <p:cNvPr id="3" name="Rectangle 2"/>
          <p:cNvSpPr/>
          <p:nvPr/>
        </p:nvSpPr>
        <p:spPr>
          <a:xfrm>
            <a:off x="576072" y="1097280"/>
            <a:ext cx="822960" cy="64008"/>
          </a:xfrm>
          <a:prstGeom prst="rect">
            <a:avLst/>
          </a:prstGeom>
          <a:solidFill>
            <a:srgbClr val="EDA1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548640" y="1463040"/>
            <a:ext cx="8046720" cy="4434840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1400"/>
              </a:spcAft>
            </a:pPr>
            <a:r>
              <a:rPr sz="2000" b="0" i="0">
                <a:solidFill>
                  <a:srgbClr val="111111"/>
                </a:solidFill>
                <a:latin typeface="Calibri"/>
              </a:rPr>
              <a:t>1. Läs del 2 på delsidan: teorin och de två exemplen. Tryck på ”Jag har läst del 2” längst ned på sidan.</a:t>
            </a:r>
          </a:p>
          <a:p>
            <a:pPr algn="l">
              <a:lnSpc>
                <a:spcPct val="108000"/>
              </a:lnSpc>
              <a:spcAft>
                <a:spcPts val="1400"/>
              </a:spcAft>
            </a:pPr>
            <a:r>
              <a:rPr sz="2000" b="0" i="0">
                <a:solidFill>
                  <a:srgbClr val="111111"/>
                </a:solidFill>
                <a:latin typeface="Calibri"/>
              </a:rPr>
              <a:t>2. Gör övning 2.4–2.6 på delsidan. Övning 2.7–2.10 är extra. Ledtrådar och facit finns där.</a:t>
            </a:r>
          </a:p>
          <a:p>
            <a:pPr algn="l">
              <a:lnSpc>
                <a:spcPct val="108000"/>
              </a:lnSpc>
              <a:spcAft>
                <a:spcPts val="1400"/>
              </a:spcAft>
            </a:pPr>
            <a:r>
              <a:rPr sz="2000" b="0" i="0">
                <a:solidFill>
                  <a:srgbClr val="111111"/>
                </a:solidFill>
                <a:latin typeface="Calibri"/>
              </a:rPr>
              <a:t>3. I morgon tisdag 15.00: del 3, Fördjupad mätteknik, och del 4, Analys av mätresultat.</a:t>
            </a:r>
          </a:p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700" b="0" i="0">
                <a:solidFill>
                  <a:srgbClr val="4A4A4A"/>
                </a:solidFill>
                <a:latin typeface="Calibri"/>
              </a:rPr>
              <a:t>Inlämningen, uppgift 1–4, senast fredag 30 oktober. Allt finns på veckosidan.</a:t>
            </a:r>
          </a:p>
        </p:txBody>
      </p:sp>
      <p:pic>
        <p:nvPicPr>
          <p:cNvPr id="5" name="Picture 4" descr="sidfo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099048"/>
            <a:ext cx="9144000" cy="75895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463040" y="6400800"/>
            <a:ext cx="6217920" cy="310896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Vecka 44 · Måndag · Högspänningssystem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10144" y="6400800"/>
            <a:ext cx="704088" cy="310896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r">
              <a:lnSpc>
                <a:spcPct val="108000"/>
              </a:lnSpc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Calibri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9184"/>
            <a:ext cx="8046720" cy="731520"/>
          </a:xfrm>
          <a:prstGeom prst="rect">
            <a:avLst/>
          </a:prstGeom>
          <a:noFill/>
        </p:spPr>
        <p:txBody>
          <a:bodyPr wrap="square" anchor="b" lIns="27432" rIns="27432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3000" b="1" i="0">
                <a:solidFill>
                  <a:srgbClr val="111111"/>
                </a:solidFill>
                <a:latin typeface="Calibri"/>
              </a:rPr>
              <a:t>Källor och fortsatt läsning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576072" y="1097280"/>
            <a:ext cx="822960" cy="64008"/>
          </a:xfrm>
          <a:prstGeom prst="rect">
            <a:avLst/>
          </a:prstGeom>
          <a:solidFill>
            <a:srgbClr val="EDA1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548640" y="1463040"/>
            <a:ext cx="8046720" cy="384048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700" b="0" i="0">
                <a:solidFill>
                  <a:srgbClr val="064F91"/>
                </a:solidFill>
                <a:latin typeface="Calibri"/>
                <a:hlinkClick r:id="rId2"/>
              </a:rPr>
              <a:t>Sjöskolan: vecka 44, del 2 Högspänningssystem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920240"/>
            <a:ext cx="8046720" cy="384048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700" b="0" i="0">
                <a:solidFill>
                  <a:srgbClr val="111111"/>
                </a:solidFill>
                <a:latin typeface="Calibri"/>
              </a:rPr>
              <a:t>Kursplanen för Elteknik och ellära, lärandemål 1, 2 och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377440"/>
            <a:ext cx="8046720" cy="384048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700" b="0" i="0">
                <a:solidFill>
                  <a:srgbClr val="064F91"/>
                </a:solidFill>
                <a:latin typeface="Calibri"/>
                <a:hlinkClick r:id="rId3"/>
              </a:rPr>
              <a:t>Elsäkerhetsverket: Vad är en elolycka och vad betyder de olika begreppen?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834640"/>
            <a:ext cx="8046720" cy="384048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700" b="0" i="0">
                <a:solidFill>
                  <a:srgbClr val="064F91"/>
                </a:solidFill>
                <a:latin typeface="Calibri"/>
                <a:hlinkClick r:id="rId4"/>
              </a:rPr>
              <a:t>SS-EN 50110-1 utgåva 4:2024, Skötsel av elektriska anläggningar (SEK Svensk Elstandard)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291840"/>
            <a:ext cx="8046720" cy="384048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700" b="0" i="0">
                <a:solidFill>
                  <a:srgbClr val="064F91"/>
                </a:solidFill>
                <a:latin typeface="Calibri"/>
                <a:hlinkClick r:id="rId5"/>
              </a:rPr>
              <a:t>Schneider Electric: samordning av skydd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749039"/>
            <a:ext cx="8046720" cy="384048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700" b="0" i="0">
                <a:solidFill>
                  <a:srgbClr val="064F91"/>
                </a:solidFill>
                <a:latin typeface="Calibri"/>
                <a:hlinkClick r:id="rId6"/>
              </a:rPr>
              <a:t>Schneider Electric: skenbar effekt</a:t>
            </a:r>
          </a:p>
        </p:txBody>
      </p:sp>
      <p:pic>
        <p:nvPicPr>
          <p:cNvPr id="10" name="Picture 9" descr="sidfot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0" y="6099048"/>
            <a:ext cx="9144000" cy="75895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463040" y="6400800"/>
            <a:ext cx="6217920" cy="310896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Vecka 44 · Måndag · Högspänningssystem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10144" y="6400800"/>
            <a:ext cx="704088" cy="310896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r">
              <a:lnSpc>
                <a:spcPct val="108000"/>
              </a:lnSpc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Calibri"/>
              </a:rPr>
              <a:t>19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-tema">
  <a:themeElements>
    <a:clrScheme name="Office-tema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-tema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-tema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Properties xmlns="http://schemas.openxmlformats.org/officeDocument/2006/extended-properties">
  <Application>Microsoft PowerPoint</Application>
  <Slides>36</Slides>
  <Notes>0</Notes>
  <HiddenSlides>0</HiddenSlides>
</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2026-09-20T20:09:37.2430000Z</dcterms:created>
  <dcterms:modified xsi:type="dcterms:W3CDTF">2026-09-20T20:09:37.2430000Z</dcterms:modified>
</coreProperties>
</file>