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9186673ff74403f" Type="http://schemas.openxmlformats.org/package/2006/relationships/metadata/core-properties" Target="docProps/core.xml"/><Relationship Id="Rc6cf8cfe10b54f1a" Type="http://schemas.openxmlformats.org/officeDocument/2006/relationships/officeDocument" Target="ppt/presentation.xml"/><Relationship Id="Rce8fb720eb3f416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d1e0337b1c0c4a61"/>
  </p:sldMasterIdLst>
  <p:sldIdLst>
    <p:sldId id="256" r:id="R652091ddefba4eb4"/>
    <p:sldId id="257" r:id="R6cf1ca08c5e642ae"/>
    <p:sldId id="258" r:id="Ra9046ac6ae2c45c1"/>
    <p:sldId id="259" r:id="R2e8cfb1170bf40f4"/>
    <p:sldId id="260" r:id="R7dbf53d3bb324a7f"/>
    <p:sldId id="261" r:id="Rf7beeadbd96f435d"/>
    <p:sldId id="262" r:id="R3d7e2e0239a24a70"/>
    <p:sldId id="263" r:id="Ra0d31a21785e4fd6"/>
    <p:sldId id="264" r:id="R7e7665ec8853492b"/>
    <p:sldId id="265" r:id="R0b5c5dbb65e04676"/>
    <p:sldId id="266" r:id="R3328a3f979974dd1"/>
    <p:sldId id="267" r:id="Rd590c0999d844719"/>
    <p:sldId id="268" r:id="R29d4640b669a4172"/>
    <p:sldId id="269" r:id="R2b1bfb7501434d44"/>
    <p:sldId id="270" r:id="R8f9970a0dcf04e16"/>
    <p:sldId id="271" r:id="R085f438c8241476c"/>
    <p:sldId id="272" r:id="R7724370b7aa8499d"/>
    <p:sldId id="273" r:id="R2efdeb90631c44cd"/>
    <p:sldId id="274" r:id="Rc32f15474e874938"/>
    <p:sldId id="275" r:id="R65dffe3cc07549c0"/>
    <p:sldId id="276" r:id="Rdef22bf3c6eb46fe"/>
    <p:sldId id="277" r:id="R48ae9d52ec844a15"/>
    <p:sldId id="278" r:id="R6c4ca7bd877148fa"/>
    <p:sldId id="279" r:id="R6d5f0e3fffc64aa0"/>
    <p:sldId id="280" r:id="R1dbe2ddd2e144c9b"/>
    <p:sldId id="281" r:id="Ref0216866705410c"/>
    <p:sldId id="282" r:id="R6e4ce487ea5845b1"/>
    <p:sldId id="283" r:id="R2e529372beb7434e"/>
    <p:sldId id="284" r:id="R05f737ffb89945de"/>
    <p:sldId id="285" r:id="R94678cfe414f4334"/>
    <p:sldId id="286" r:id="R8c3f7d6cee074879"/>
    <p:sldId id="287" r:id="R716256072aa948c3"/>
    <p:sldId id="288" r:id="Ra7f4ebee833a4f74"/>
    <p:sldId id="289" r:id="R0000a7b983604b3a"/>
    <p:sldId id="290" r:id="Rd396813b1fbe4bb0"/>
    <p:sldId id="291" r:id="R67f40229d9fb4bd2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00a7b983604b3a" Type="http://schemas.openxmlformats.org/officeDocument/2006/relationships/slide" Target="slides/slide34.xml"/><Relationship Id="R05f737ffb89945de" Type="http://schemas.openxmlformats.org/officeDocument/2006/relationships/slide" Target="slides/slide29.xml"/><Relationship Id="R085f438c8241476c" Type="http://schemas.openxmlformats.org/officeDocument/2006/relationships/slide" Target="slides/slide16.xml"/><Relationship Id="R0b5c5dbb65e04676" Type="http://schemas.openxmlformats.org/officeDocument/2006/relationships/slide" Target="slides/slide10.xml"/><Relationship Id="R1dbe2ddd2e144c9b" Type="http://schemas.openxmlformats.org/officeDocument/2006/relationships/slide" Target="slides/slide25.xml"/><Relationship Id="R29d4640b669a4172" Type="http://schemas.openxmlformats.org/officeDocument/2006/relationships/slide" Target="slides/slide13.xml"/><Relationship Id="R2b1bfb7501434d44" Type="http://schemas.openxmlformats.org/officeDocument/2006/relationships/slide" Target="slides/slide14.xml"/><Relationship Id="R2e529372beb7434e" Type="http://schemas.openxmlformats.org/officeDocument/2006/relationships/slide" Target="slides/slide28.xml"/><Relationship Id="R2e8cfb1170bf40f4" Type="http://schemas.openxmlformats.org/officeDocument/2006/relationships/slide" Target="slides/slide4.xml"/><Relationship Id="R2efdeb90631c44cd" Type="http://schemas.openxmlformats.org/officeDocument/2006/relationships/slide" Target="slides/slide18.xml"/><Relationship Id="R3328a3f979974dd1" Type="http://schemas.openxmlformats.org/officeDocument/2006/relationships/slide" Target="slides/slide11.xml"/><Relationship Id="R3d7e2e0239a24a70" Type="http://schemas.openxmlformats.org/officeDocument/2006/relationships/slide" Target="slides/slide7.xml"/><Relationship Id="R48ae9d52ec844a15" Type="http://schemas.openxmlformats.org/officeDocument/2006/relationships/slide" Target="slides/slide22.xml"/><Relationship Id="R652091ddefba4eb4" Type="http://schemas.openxmlformats.org/officeDocument/2006/relationships/slide" Target="slides/slide1.xml"/><Relationship Id="R65dffe3cc07549c0" Type="http://schemas.openxmlformats.org/officeDocument/2006/relationships/slide" Target="slides/slide20.xml"/><Relationship Id="R66459692bf7b4b20" Type="http://schemas.openxmlformats.org/officeDocument/2006/relationships/presProps" Target="presProps.xml"/><Relationship Id="R67f40229d9fb4bd2" Type="http://schemas.openxmlformats.org/officeDocument/2006/relationships/slide" Target="slides/slide36.xml"/><Relationship Id="R6c4ca7bd877148fa" Type="http://schemas.openxmlformats.org/officeDocument/2006/relationships/slide" Target="slides/slide23.xml"/><Relationship Id="R6cf1ca08c5e642ae" Type="http://schemas.openxmlformats.org/officeDocument/2006/relationships/slide" Target="slides/slide2.xml"/><Relationship Id="R6d5f0e3fffc64aa0" Type="http://schemas.openxmlformats.org/officeDocument/2006/relationships/slide" Target="slides/slide24.xml"/><Relationship Id="R6e4ce487ea5845b1" Type="http://schemas.openxmlformats.org/officeDocument/2006/relationships/slide" Target="slides/slide27.xml"/><Relationship Id="R716256072aa948c3" Type="http://schemas.openxmlformats.org/officeDocument/2006/relationships/slide" Target="slides/slide32.xml"/><Relationship Id="R7724370b7aa8499d" Type="http://schemas.openxmlformats.org/officeDocument/2006/relationships/slide" Target="slides/slide17.xml"/><Relationship Id="R7dbf53d3bb324a7f" Type="http://schemas.openxmlformats.org/officeDocument/2006/relationships/slide" Target="slides/slide5.xml"/><Relationship Id="R7e7665ec8853492b" Type="http://schemas.openxmlformats.org/officeDocument/2006/relationships/slide" Target="slides/slide9.xml"/><Relationship Id="R8c3f7d6cee074879" Type="http://schemas.openxmlformats.org/officeDocument/2006/relationships/slide" Target="slides/slide31.xml"/><Relationship Id="R8f9970a0dcf04e16" Type="http://schemas.openxmlformats.org/officeDocument/2006/relationships/slide" Target="slides/slide15.xml"/><Relationship Id="R94678cfe414f4334" Type="http://schemas.openxmlformats.org/officeDocument/2006/relationships/slide" Target="slides/slide30.xml"/><Relationship Id="Ra0d31a21785e4fd6" Type="http://schemas.openxmlformats.org/officeDocument/2006/relationships/slide" Target="slides/slide8.xml"/><Relationship Id="Ra4cb26d7fa314534" Type="http://schemas.openxmlformats.org/officeDocument/2006/relationships/theme" Target="theme/theme1.xml"/><Relationship Id="Ra7f4ebee833a4f74" Type="http://schemas.openxmlformats.org/officeDocument/2006/relationships/slide" Target="slides/slide33.xml"/><Relationship Id="Ra9046ac6ae2c45c1" Type="http://schemas.openxmlformats.org/officeDocument/2006/relationships/slide" Target="slides/slide3.xml"/><Relationship Id="Rc32f15474e874938" Type="http://schemas.openxmlformats.org/officeDocument/2006/relationships/slide" Target="slides/slide19.xml"/><Relationship Id="Rc33fd9eacccf4beb" Type="http://schemas.openxmlformats.org/officeDocument/2006/relationships/viewProps" Target="viewProps.xml"/><Relationship Id="Rd1e0337b1c0c4a61" Type="http://schemas.openxmlformats.org/officeDocument/2006/relationships/slideMaster" Target="slideMasters/slideMaster1.xml"/><Relationship Id="Rd396813b1fbe4bb0" Type="http://schemas.openxmlformats.org/officeDocument/2006/relationships/slide" Target="slides/slide35.xml"/><Relationship Id="Rd590c0999d844719" Type="http://schemas.openxmlformats.org/officeDocument/2006/relationships/slide" Target="slides/slide12.xml"/><Relationship Id="Rdef22bf3c6eb46fe" Type="http://schemas.openxmlformats.org/officeDocument/2006/relationships/slide" Target="slides/slide21.xml"/><Relationship Id="Re18b0d268be64b63" Type="http://schemas.openxmlformats.org/officeDocument/2006/relationships/tableStyles" Target="tableStyles.xml"/><Relationship Id="Ref0216866705410c" Type="http://schemas.openxmlformats.org/officeDocument/2006/relationships/slide" Target="slides/slide26.xml"/><Relationship Id="Rf7beeadbd96f435d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b80d251be40f45e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6ed3f3b3a865495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c49ab9c1e1249a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901677e65dd43c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761b5f26e28b4fe9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8f5b11fb0a4e451f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afa6c79e370462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609a4202b254468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601d1694ceca473e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09820c73f06401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6d87c7db224438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205A76-294A-42BF-B345-3EB85F995A5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197A042-E3CD-4415-B0A1-0E709A9AA4E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40A22E-275F-4253-825E-A1FA0746C3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B2973B8-7EC4-419A-83C0-35A55DA6D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B65846-E7EE-4DFE-AC54-F3D36EF13F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420ECA-66A9-459F-AE34-AB6CC98456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00282F6-24E5-4C12-808B-D15594FB031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833580D-CFBF-44D5-9F65-85C651113F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5D0166-A1C4-4804-A665-A0D9DBC374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977E18A-672F-4828-A111-5F0571504B3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079391-9D0C-40FB-9C64-A762022DF7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A750850-880F-4AAF-9C7A-3BBE2859A2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79F723D-EBCC-4823-944B-198EDD162C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38F5CE-2694-4DD1-BCD8-A42A6B9A21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C26F3D7-BF5D-456F-A2A8-21971994F3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9DAC9D5-797C-439B-A86A-5BF312AA1F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945BD4A-7299-4AE9-8323-5A17015D50C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4C65710-6920-48D9-AD50-48957464B05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8C126A3-5399-493B-80BE-8A56CC9DFF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2E31411-CF37-41A9-9253-55D2EB88B24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21E5FF6-F13C-47D9-B2EC-5E89AE87B2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35A8E5-4631-4301-B38D-325FD849D1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8DE863D-1F08-46FD-905F-343A55F0D4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050C573-48BE-49DA-B7D0-7FBCD79B7E2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FFD29E6-69FF-455B-8C5C-2B3C9BB5AC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89ED1B6-C626-4837-98BC-3C468A4F599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F9D4052-9495-43E8-B7EC-6FB22DD7E6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ACBD23-3378-414A-BEB4-3577A262FD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A8F3F33-4D1D-482A-8AB3-3AE1CEF91F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D858B5-C940-4433-9066-658285A08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1D64941-01F8-4FED-8C91-AD5B2D920D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7209B3C-569B-43FB-97EC-D07FDFF6025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20776B3-6215-4CA4-AA5E-2B8DE5553C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B63D244-1381-4D19-9ACF-BECAE479F8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27F330D-B5BF-435C-9A4A-DD9A94DB29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9CD9EF4-60B0-45EE-9E80-A32A9B08C4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046C0E-AC98-4FF6-8522-C4F6B039DC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60E0009-3E52-43AC-A0F5-29B07BD1875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0DAEDBB-F0D0-4977-A1C9-94DF4FDF7FD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7DC9365-AEE5-4625-ADDD-3F9520BD11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454EF9B-FA83-416F-83C2-D6925DA9CF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6703BB3-5E5A-4389-91AC-B961445AED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EA0E335-06C5-4F37-BC14-19240A7037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81C4835-71E8-4301-B391-2CAE1A2560A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1A4BDF7-2CC2-4E82-8F1A-D597D996CC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F2B15CE-3183-422F-A1D4-B82820BC2E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042148F-D73F-424A-A4A5-A70FB447CC9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D0D945-EF3E-4775-9495-B9FB42761E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C5C93A-F555-47F3-883A-04D1779826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96FEA8-624E-4AF6-839B-86856DB049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06BCD2-2C73-4971-BC04-DFE1E5576B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19326C-6E55-407B-8554-4773B07E4D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EA3D9D-CC79-494A-8CCC-8ED37278C2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CA4395E-5952-4CD1-8DEE-E4A1127AD5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D501B11-6151-46BB-B641-0568517B60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1EB8FEF-4B15-4189-812E-A7B8D27A563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AE9A706-35D9-4530-8193-6AAD7E945F9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C746C92-CDA0-474A-8D1A-58CD9C6B40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74b79b1734b46a5" Type="http://schemas.openxmlformats.org/officeDocument/2006/relationships/theme" Target="theme/theme2.xml"/><Relationship Id="R43b05cea85514b43" Type="http://schemas.openxmlformats.org/officeDocument/2006/relationships/slideLayout" Target="../slideLayouts/slideLayout4.xml"/><Relationship Id="R4450a0b39c274a24" Type="http://schemas.openxmlformats.org/officeDocument/2006/relationships/slideLayout" Target="../slideLayouts/slideLayout6.xml"/><Relationship Id="R4a9dca74022d406c" Type="http://schemas.openxmlformats.org/officeDocument/2006/relationships/slideLayout" Target="../slideLayouts/slideLayout5.xml"/><Relationship Id="R54b1cdd9cb684c6f" Type="http://schemas.openxmlformats.org/officeDocument/2006/relationships/slideLayout" Target="../slideLayouts/slideLayout1.xml"/><Relationship Id="R8bcdb1ad1eec4bab" Type="http://schemas.openxmlformats.org/officeDocument/2006/relationships/slideLayout" Target="../slideLayouts/slideLayout8.xml"/><Relationship Id="R9b52abd1926445e0" Type="http://schemas.openxmlformats.org/officeDocument/2006/relationships/slideLayout" Target="../slideLayouts/slideLayout9.xml"/><Relationship Id="R9e2d82380aaa4d83" Type="http://schemas.openxmlformats.org/officeDocument/2006/relationships/slideLayout" Target="../slideLayouts/slideLayout3.xml"/><Relationship Id="R9f3ca94bf03342f3" Type="http://schemas.openxmlformats.org/officeDocument/2006/relationships/slideLayout" Target="../slideLayouts/slideLayout10.xml"/><Relationship Id="Rb05a059bb5d945fa" Type="http://schemas.openxmlformats.org/officeDocument/2006/relationships/slideLayout" Target="../slideLayouts/slideLayout7.xml"/><Relationship Id="Rd1e2e42a18f747a0" Type="http://schemas.openxmlformats.org/officeDocument/2006/relationships/slideLayout" Target="../slideLayouts/slideLayout2.xml"/><Relationship Id="Rf4b85d7c3f0241a9" Type="http://schemas.openxmlformats.org/officeDocument/2006/relationships/slideLayout" Target="../slideLayouts/slideLayout1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41B7000-C848-4373-86EF-19CD19331F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C2C4C3-7ADE-4760-A9ED-69AB5570750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0E6D105-70C8-4808-9787-66F313F30F8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443845-6360-478C-A7CB-19445ACFA59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84DCA1-75B6-41F1-B978-90FAF70FFB0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b1cdd9cb684c6f"/>
    <p:sldLayoutId xmlns:r="http://schemas.openxmlformats.org/officeDocument/2006/relationships" id="2147483650" r:id="Rd1e2e42a18f747a0"/>
    <p:sldLayoutId xmlns:r="http://schemas.openxmlformats.org/officeDocument/2006/relationships" id="2147483651" r:id="R9e2d82380aaa4d83"/>
    <p:sldLayoutId xmlns:r="http://schemas.openxmlformats.org/officeDocument/2006/relationships" id="2147483652" r:id="R43b05cea85514b43"/>
    <p:sldLayoutId xmlns:r="http://schemas.openxmlformats.org/officeDocument/2006/relationships" id="2147483653" r:id="R4a9dca74022d406c"/>
    <p:sldLayoutId xmlns:r="http://schemas.openxmlformats.org/officeDocument/2006/relationships" id="2147483654" r:id="R4450a0b39c274a24"/>
    <p:sldLayoutId xmlns:r="http://schemas.openxmlformats.org/officeDocument/2006/relationships" id="2147483655" r:id="Rb05a059bb5d945fa"/>
    <p:sldLayoutId xmlns:r="http://schemas.openxmlformats.org/officeDocument/2006/relationships" id="2147483656" r:id="R8bcdb1ad1eec4bab"/>
    <p:sldLayoutId xmlns:r="http://schemas.openxmlformats.org/officeDocument/2006/relationships" id="2147483657" r:id="R9b52abd1926445e0"/>
    <p:sldLayoutId xmlns:r="http://schemas.openxmlformats.org/officeDocument/2006/relationships" id="2147483658" r:id="R9f3ca94bf03342f3"/>
    <p:sldLayoutId xmlns:r="http://schemas.openxmlformats.org/officeDocument/2006/relationships" id="2147483659" r:id="Rf4b85d7c3f0241a9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9dd960c3a2c46c2" Type="http://schemas.openxmlformats.org/officeDocument/2006/relationships/image" Target="../media/image.png"/><Relationship Id="R8e9815a59286417d" Type="http://schemas.openxmlformats.org/officeDocument/2006/relationships/image" Target="../media/image.jpeg"/><Relationship Id="Rfda342740101454e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acf2d8ecb1e4e6e" Type="http://schemas.openxmlformats.org/officeDocument/2006/relationships/image" Target="../media/image.jpeg"/><Relationship Id="R83a901c63d874f86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94f7810e6ea43a5" Type="http://schemas.openxmlformats.org/officeDocument/2006/relationships/image" Target="../media/image.jpeg"/><Relationship Id="R2c76c55f275d4e0d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a1c4e6a304a64ec6" Type="http://schemas.openxmlformats.org/officeDocument/2006/relationships/image" Target="../media/image.jpeg"/><Relationship Id="Recffe6cc0433417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578087c372a64285" Type="http://schemas.openxmlformats.org/officeDocument/2006/relationships/image" Target="../media/image.jpeg"/><Relationship Id="Rdae0e1b66fcf4240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a432d169374ced" Type="http://schemas.openxmlformats.org/officeDocument/2006/relationships/image" Target="../media/image.jpeg"/><Relationship Id="Rb93b15ee181042bd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bb035d0559a4105" Type="http://schemas.openxmlformats.org/officeDocument/2006/relationships/image" Target="../media/image.jpeg"/><Relationship Id="Ra099f35607614eaf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1fe504c69964e24" Type="http://schemas.openxmlformats.org/officeDocument/2006/relationships/image" Target="../media/image.jpeg"/><Relationship Id="R76216467864a4bb0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6219d0e7b3804265" Type="http://schemas.openxmlformats.org/officeDocument/2006/relationships/slideLayout" Target="../slideLayouts/slideLayout1.xml"/><Relationship Id="Rbc98ee6ded634266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e667284ba8e445d" Type="http://schemas.openxmlformats.org/officeDocument/2006/relationships/slideLayout" Target="../slideLayouts/slideLayout1.xml"/><Relationship Id="R6ee304147dc44ccd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d7580b2914a4928" Type="http://schemas.openxmlformats.org/officeDocument/2006/relationships/slideLayout" Target="../slideLayouts/slideLayout1.xml"/><Relationship Id="R23eb8994fe0548c1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0f516415d3934b3b" Type="http://schemas.openxmlformats.org/officeDocument/2006/relationships/image" Target="../media/image.jpeg"/><Relationship Id="R44cb78914e544ea2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3965f4b427624581" Type="http://schemas.openxmlformats.org/officeDocument/2006/relationships/image" Target="../media/image.jpeg"/><Relationship Id="Re566a6fa14ad4bc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9b287987d43b4ed3" Type="http://schemas.openxmlformats.org/officeDocument/2006/relationships/slideLayout" Target="../slideLayouts/slideLayout1.xml"/><Relationship Id="Rd3546cb6326c4de1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5262df7f609442b6" Type="http://schemas.openxmlformats.org/officeDocument/2006/relationships/image" Target="../media/image.jpeg"/><Relationship Id="R718532a058654ee8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8b610909fd744544" Type="http://schemas.openxmlformats.org/officeDocument/2006/relationships/slideLayout" Target="../slideLayouts/slideLayout1.xml"/><Relationship Id="Rbbf37ed73b894c8d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3980df7ea13d4baf" Type="http://schemas.openxmlformats.org/officeDocument/2006/relationships/slideLayout" Target="../slideLayouts/slideLayout1.xml"/><Relationship Id="R9f5d2ebf13134b04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7e3935debcfd4e21" Type="http://schemas.openxmlformats.org/officeDocument/2006/relationships/slideLayout" Target="../slideLayouts/slideLayout1.xml"/><Relationship Id="Raed08caab4284a35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45af1b133a5a4429" Type="http://schemas.openxmlformats.org/officeDocument/2006/relationships/image" Target="../media/image.jpeg"/><Relationship Id="R5922d8694ae74b4e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33f2a0b32f1c4c7e" Type="http://schemas.openxmlformats.org/officeDocument/2006/relationships/image" Target="../media/image.jpeg"/><Relationship Id="R4b9a07bacc6840fd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83a5c65f357a4806" Type="http://schemas.openxmlformats.org/officeDocument/2006/relationships/image" Target="../media/image.jpeg"/><Relationship Id="Rd995ea4b93524d9c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c4fa4ad392a145a7" Type="http://schemas.openxmlformats.org/officeDocument/2006/relationships/slideLayout" Target="../slideLayouts/slideLayout1.xml"/><Relationship Id="Rf0e4c7babcfa419b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00bb2a8c57424345" Type="http://schemas.openxmlformats.org/officeDocument/2006/relationships/slideLayout" Target="../slideLayouts/slideLayout1.xml"/><Relationship Id="Rc3dcc715f6724c79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2d55e96d54504df9" Type="http://schemas.openxmlformats.org/officeDocument/2006/relationships/image" Target="../media/image.jpeg"/><Relationship Id="R84691671201245ed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5d6c389254f348da" Type="http://schemas.openxmlformats.org/officeDocument/2006/relationships/image" Target="../media/image.jpeg"/><Relationship Id="Rf48854f831234612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976b08d160b4020" Type="http://schemas.openxmlformats.org/officeDocument/2006/relationships/image" Target="../media/image.jpeg"/><Relationship Id="R5df68f7f531e4818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0a6e2d691db54f8f" Type="http://schemas.openxmlformats.org/officeDocument/2006/relationships/slideLayout" Target="../slideLayouts/slideLayout1.xml"/><Relationship Id="R24ad23b657de4ad5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15773e7c5dae4477" Type="http://schemas.openxmlformats.org/officeDocument/2006/relationships/image" Target="../media/image.jpeg"/><Relationship Id="R533a5bfff017458a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8dc850ba152944bc" Type="http://schemas.openxmlformats.org/officeDocument/2006/relationships/slideLayout" Target="../slideLayouts/slideLayout1.xml"/><Relationship Id="Re00a458edeeb4d22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3b15478b7d3347e8" Type="http://schemas.openxmlformats.org/officeDocument/2006/relationships/image" Target="../media/image.jpeg"/><Relationship Id="R4d6accf2b8254aa3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8dda85cbbe7c41c8" Type="http://schemas.openxmlformats.org/officeDocument/2006/relationships/slideLayout" Target="../slideLayouts/slideLayout1.xml"/><Relationship Id="Raf67bd89ad6c4321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c44c25b6989a4c04" Type="http://schemas.openxmlformats.org/officeDocument/2006/relationships/slideLayout" Target="../slideLayouts/slideLayout1.xml"/><Relationship Id="Rd394d4b35e204223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826e84521c514294" Type="http://schemas.openxmlformats.org/officeDocument/2006/relationships/image" Target="../media/image.jpeg"/><Relationship Id="Rbc95e679746641b2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93cc3166bde943d8" Type="http://schemas.openxmlformats.org/officeDocument/2006/relationships/image" Target="../media/image.jpeg"/><Relationship Id="Rd840dd7e2100466a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1fb9ef88741b4d22" Type="http://schemas.openxmlformats.org/officeDocument/2006/relationships/image" Target="../media/image.jpeg"/><Relationship Id="Rbf218a1ff2ce4cb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394067d3c4e4418" Type="http://schemas.openxmlformats.org/officeDocument/2006/relationships/slideLayout" Target="../slideLayouts/slideLayout1.xml"/><Relationship Id="R0d59c31fa9e64e82" Type="http://schemas.openxmlformats.org/officeDocument/2006/relationships/hyperlink" Target="https://www.transportstyrelsen.se/sv/om-oss/dina-rattigheter-lagar-och-regler/lagar-och-regler/regler-for-sjofart/regler-for-nationell-sjofart/regler-kompletterade-upplysningar/elektrisk-utrustning-och-elinstallationer/" TargetMode="External"/><Relationship Id="Rc7ea66f6d9c34b7b" Type="http://schemas.openxmlformats.org/officeDocument/2006/relationships/image" Target="../media/image.jpeg"/><Relationship Id="Rf6a9691bcba04ca9" Type="http://schemas.openxmlformats.org/officeDocument/2006/relationships/hyperlink" Target="https://elstandard.se/documents/preview/3246401" TargetMode="External"/><Relationship Id="Rfd23dde3dbcb448c" Type="http://schemas.openxmlformats.org/officeDocument/2006/relationships/hyperlink" Target="https://www.transportstyrelsen.se/sv/sjofart/Fartyg/Fartygskonstruktion/Elinstallationer/Lagar-foreskrifter-och-standarder/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9815a5928641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dd960c3a2c46c2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F3DB1C41-432F-4323-9448-5819596A8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A2E52080-CF7A-4BBE-8724-B2851D15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Riskbedömning och skydd</a:t>
            </a:r>
          </a:p>
        </p:txBody>
      </p:sp>
      <p:sp>
        <p:nvSpPr>
          <p:cNvPr id="13" name="Arbetsberedning, utrustning och dokumentation">
            <a:extLst xmlns:a="http://schemas.openxmlformats.org/drawingml/2006/main">
              <a:ext uri="{FF2B5EF4-FFF2-40B4-BE49-F238E27FC236}">
                <a16:creationId xmlns:a16="http://schemas.microsoft.com/office/drawing/2014/main" id="{5505EC12-B23E-46C1-BCB7-CB383FA2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Arbetsberedning, utrustning och dokumentation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72793322-4BAA-4768-84CD-50422029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cf2d8ecb1e4e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75204143-B8C5-425A-B195-2A7C7EBB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Koppla varje identifierad fara till en konkret skyddsåtgärd.">
            <a:extLst xmlns:a="http://schemas.openxmlformats.org/drawingml/2006/main">
              <a:ext uri="{FF2B5EF4-FFF2-40B4-BE49-F238E27FC236}">
                <a16:creationId xmlns:a16="http://schemas.microsoft.com/office/drawing/2014/main" id="{F4C6D5E8-F316-4A3C-BEBC-D0B21E78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Koppla varje identifierad fara till en konkret skyddsåtgärd.</a:t>
            </a:r>
          </a:p>
        </p:txBody>
      </p:sp>
      <p:sp>
        <p:nvSpPr>
          <p:cNvPr id="4" name="Redovisa kvarstående risk och villkor för att börja.">
            <a:extLst xmlns:a="http://schemas.openxmlformats.org/drawingml/2006/main">
              <a:ext uri="{FF2B5EF4-FFF2-40B4-BE49-F238E27FC236}">
                <a16:creationId xmlns:a16="http://schemas.microsoft.com/office/drawing/2014/main" id="{F5B735C5-37AC-4172-89F5-D8F49E0C0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kvarstående risk och villkor för att börja.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F5700151-9BA2-42F8-B3BF-E85382CF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saknas i en riskbedömning som bara säger ”använd skyddshandsk">
            <a:extLst xmlns:a="http://schemas.openxmlformats.org/drawingml/2006/main">
              <a:ext uri="{FF2B5EF4-FFF2-40B4-BE49-F238E27FC236}">
                <a16:creationId xmlns:a16="http://schemas.microsoft.com/office/drawing/2014/main" id="{5F47B3F4-32C6-4808-B86C-CFD7144D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saknas i en riskbedömning som bara säger ”använd skyddshandskar”?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9FA882F-B602-43E5-92F2-1EF52FE7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4f7810e6ea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28B4A97D-B150-4815-AF94-CA1A85E7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8453082D-3D0E-4104-89B8-708E1CA6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9CCB5BA-B180-41FD-BA02-D871459F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3.1, 3.2 och 3.4,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EF67ADCC-2D7B-487C-B0A2-3C95D4C6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C9E55AC2-26DD-447F-BB6D-3015D324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3.6, 3.7 och 3.8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59881019-43C9-42BC-A143-97A68956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894945E5-1246-4D2E-BCE5-FDC4BB3A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4e6a304a64e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rån identifierad fara till beslut">
            <a:extLst xmlns:a="http://schemas.openxmlformats.org/drawingml/2006/main">
              <a:ext uri="{FF2B5EF4-FFF2-40B4-BE49-F238E27FC236}">
                <a16:creationId xmlns:a16="http://schemas.microsoft.com/office/drawing/2014/main" id="{85E5D514-1EEA-4F24-BB2A-88481C55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Från identifierad fara till beslut</a:t>
            </a:r>
          </a:p>
        </p:txBody>
      </p:sp>
      <p:sp>
        <p:nvSpPr>
          <p:cNvPr id="10" name="Observation är vad vi vet om arbetsplatsen eller utrustningen.">
            <a:extLst xmlns:a="http://schemas.openxmlformats.org/drawingml/2006/main">
              <a:ext uri="{FF2B5EF4-FFF2-40B4-BE49-F238E27FC236}">
                <a16:creationId xmlns:a16="http://schemas.microsoft.com/office/drawing/2014/main" id="{5EABB5FF-0726-4CAD-A8E9-711B2319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 är vad vi vet om arbetsplatsen eller utrustningen.</a:t>
            </a:r>
          </a:p>
        </p:txBody>
      </p:sp>
      <p:sp>
        <p:nvSpPr>
          <p:cNvPr id="11" name="Riskbedömning beskriver möjliga händelser och konsekvenser.">
            <a:extLst xmlns:a="http://schemas.openxmlformats.org/drawingml/2006/main">
              <a:ext uri="{FF2B5EF4-FFF2-40B4-BE49-F238E27FC236}">
                <a16:creationId xmlns:a16="http://schemas.microsoft.com/office/drawing/2014/main" id="{CEB1FEA9-771E-4BC5-8912-40FB9C7B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 beskriver möjliga händelser och konsekvenser.</a:t>
            </a:r>
          </a:p>
        </p:txBody>
      </p:sp>
      <p:sp>
        <p:nvSpPr>
          <p:cNvPr id="12" name="Åtgärd behöver en ansvarig och ett sätt att verifiera effekten.">
            <a:extLst xmlns:a="http://schemas.openxmlformats.org/drawingml/2006/main">
              <a:ext uri="{FF2B5EF4-FFF2-40B4-BE49-F238E27FC236}">
                <a16:creationId xmlns:a16="http://schemas.microsoft.com/office/drawing/2014/main" id="{2E82E3DA-1B1D-4BD7-9DB6-47069A8F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 behöver en ansvarig och ett sätt att verifiera effekten.</a:t>
            </a:r>
          </a:p>
        </p:txBody>
      </p:sp>
      <p:sp>
        <p:nvSpPr>
          <p:cNvPr id="13" name="Startbeslut kräver att villkoren för det avgränsade arbetet är up">
            <a:extLst xmlns:a="http://schemas.openxmlformats.org/drawingml/2006/main">
              <a:ext uri="{FF2B5EF4-FFF2-40B4-BE49-F238E27FC236}">
                <a16:creationId xmlns:a16="http://schemas.microsoft.com/office/drawing/2014/main" id="{B4CD553F-A091-4C63-A255-B27CE1C5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Startbeslut kräver att villkoren för det avgränsade arbetet är uppfyllda.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2508040E-4942-4E6F-90BF-6BE21C05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8087c372a642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B280470D-9557-439A-86B4-4550886A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6CA0DD9E-616E-4A10-97CF-D3175948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7A84599-1B48-451C-AC03-78E305CC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8B96529D-D44C-4DAE-AF95-CC97C705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891FD9A7-CEAA-4B21-A944-E20B0CAD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45B5708-B77E-45B4-B007-58B72C87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5E42DB93-56B7-4DB4-A60E-9E7D7BBD9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CCC30207-F91C-4262-9A58-B3AC7038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a432d169374c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rbetsmomentets gränser">
            <a:extLst xmlns:a="http://schemas.openxmlformats.org/drawingml/2006/main">
              <a:ext uri="{FF2B5EF4-FFF2-40B4-BE49-F238E27FC236}">
                <a16:creationId xmlns:a16="http://schemas.microsoft.com/office/drawing/2014/main" id="{CA639B9E-61DE-493C-B7D7-77F20CE1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Arbetsmomentets gränser</a:t>
            </a:r>
          </a:p>
        </p:txBody>
      </p:sp>
      <p:sp>
        <p:nvSpPr>
          <p:cNvPr id="3" name="Riskbedömningen börjar med en konkret uppgift och arbetsplats.&#10;An">
            <a:extLst xmlns:a="http://schemas.openxmlformats.org/drawingml/2006/main">
              <a:ext uri="{FF2B5EF4-FFF2-40B4-BE49-F238E27FC236}">
                <a16:creationId xmlns:a16="http://schemas.microsoft.com/office/drawing/2014/main" id="{601789C8-2DB4-4517-BF36-96F2FD6A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börjar med en konkret uppgift och arbetsplats.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vad som ingår och vad som ligger utanför uppdraget.</a:t>
            </a:r>
          </a:p>
        </p:txBody>
      </p:sp>
      <p:sp>
        <p:nvSpPr>
          <p:cNvPr id="4" name="Fara, händelse, konsekvens, åtgärd">
            <a:extLst xmlns:a="http://schemas.openxmlformats.org/drawingml/2006/main">
              <a:ext uri="{FF2B5EF4-FFF2-40B4-BE49-F238E27FC236}">
                <a16:creationId xmlns:a16="http://schemas.microsoft.com/office/drawing/2014/main" id="{04A6B7B8-6951-4244-AC92-D4E86B95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händelse, konsekvens, åtgärd</a:t>
            </a:r>
          </a:p>
        </p:txBody>
      </p:sp>
      <p:sp>
        <p:nvSpPr>
          <p:cNvPr id="5" name="Exempel: skadad kabel kan ge spänningsförande hölje.&#10;Åtgärden beh">
            <a:extLst xmlns:a="http://schemas.openxmlformats.org/drawingml/2006/main">
              <a:ext uri="{FF2B5EF4-FFF2-40B4-BE49-F238E27FC236}">
                <a16:creationId xmlns:a16="http://schemas.microsoft.com/office/drawing/2014/main" id="{837A9D9A-AEAE-4DA5-B7FB-2F3ABC9D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skadad kabel kan ge spänningsförande hölje.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Åtgärden behöver hindra både exponering och återanvändning.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2BEF7AEB-AF66-412E-BABD-ED53B77B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b035d0559a41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rioritering av skydd">
            <a:extLst xmlns:a="http://schemas.openxmlformats.org/drawingml/2006/main">
              <a:ext uri="{FF2B5EF4-FFF2-40B4-BE49-F238E27FC236}">
                <a16:creationId xmlns:a16="http://schemas.microsoft.com/office/drawing/2014/main" id="{25BB79E1-BC51-4363-8768-4E7140F1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Prioritering av skydd</a:t>
            </a:r>
          </a:p>
        </p:txBody>
      </p:sp>
      <p:sp>
        <p:nvSpPr>
          <p:cNvPr id="3" name="Planeringen ska i första hand minska eller avlägsna faran.&#10;Person">
            <a:extLst xmlns:a="http://schemas.openxmlformats.org/drawingml/2006/main">
              <a:ext uri="{FF2B5EF4-FFF2-40B4-BE49-F238E27FC236}">
                <a16:creationId xmlns:a16="http://schemas.microsoft.com/office/drawing/2014/main" id="{27D4F065-7147-4DC7-BAE5-313109EE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Planeringen ska i första hand minska eller avlägsna faran.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Personlig skyddsutrustning kompletterar övriga åtgärder.</a:t>
            </a:r>
          </a:p>
        </p:txBody>
      </p:sp>
      <p:sp>
        <p:nvSpPr>
          <p:cNvPr id="4" name="Skyddsutrustning väljs mot den bedömda risken">
            <a:extLst xmlns:a="http://schemas.openxmlformats.org/drawingml/2006/main">
              <a:ext uri="{FF2B5EF4-FFF2-40B4-BE49-F238E27FC236}">
                <a16:creationId xmlns:a16="http://schemas.microsoft.com/office/drawing/2014/main" id="{17027DEF-9060-4EF5-B213-A9885E85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Skyddsutrustning väljs mot den bedömda risken</a:t>
            </a:r>
          </a:p>
        </p:txBody>
      </p:sp>
      <p:sp>
        <p:nvSpPr>
          <p:cNvPr id="5" name="Vanliga arbetshandskar är inte automatiskt elektriskt isolerande.">
            <a:extLst xmlns:a="http://schemas.openxmlformats.org/drawingml/2006/main">
              <a:ext uri="{FF2B5EF4-FFF2-40B4-BE49-F238E27FC236}">
                <a16:creationId xmlns:a16="http://schemas.microsoft.com/office/drawing/2014/main" id="{632E071E-AA50-4281-98CE-164BB056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Vanliga arbetshandskar är inte automatiskt elektriskt isolerande.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ljusbåge behöver rätt klassning och användning.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632BE33B-72F1-43BF-B293-EA012FF4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kyddsåtgärder i prioritetsordning: ta b" descr="Skyddsåtgärder i prioritetsordning: ta bort faran, ersätt, tekniska skydd, organisatoriska åtgärder, personlig skyddsutrust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9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fe504c69964e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rovare, låsning och märkning">
            <a:extLst xmlns:a="http://schemas.openxmlformats.org/drawingml/2006/main">
              <a:ext uri="{FF2B5EF4-FFF2-40B4-BE49-F238E27FC236}">
                <a16:creationId xmlns:a16="http://schemas.microsoft.com/office/drawing/2014/main" id="{F48C5BF8-A0A0-44FD-8F65-0E1D96E3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Provare, låsning och märkning</a:t>
            </a:r>
          </a:p>
        </p:txBody>
      </p:sp>
      <p:sp>
        <p:nvSpPr>
          <p:cNvPr id="3" name="Spänningsprovare väljs för systemet och den avsedda kontrollen.&#10;L">
            <a:extLst xmlns:a="http://schemas.openxmlformats.org/drawingml/2006/main">
              <a:ext uri="{FF2B5EF4-FFF2-40B4-BE49-F238E27FC236}">
                <a16:creationId xmlns:a16="http://schemas.microsoft.com/office/drawing/2014/main" id="{1D4FCC60-4C28-4FC7-918A-93BBBBBF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Tvåpolig spänningsprovare väljs för systemets spänning och kategori.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Låsning och märkning stöder skydd mot återinkoppling.</a:t>
            </a:r>
          </a:p>
        </p:txBody>
      </p:sp>
      <p:sp>
        <p:nvSpPr>
          <p:cNvPr id="4" name="Instrumentets funktion måste vara tillförlitlig">
            <a:extLst xmlns:a="http://schemas.openxmlformats.org/drawingml/2006/main">
              <a:ext uri="{FF2B5EF4-FFF2-40B4-BE49-F238E27FC236}">
                <a16:creationId xmlns:a16="http://schemas.microsoft.com/office/drawing/2014/main" id="{7BED159C-6BF9-4833-AED6-7BD34297D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Instrumentets funktion måste vara tillförlitlig</a:t>
            </a:r>
          </a:p>
        </p:txBody>
      </p:sp>
      <p:sp>
        <p:nvSpPr>
          <p:cNvPr id="5" name="Vald kontrollmetod, instrumentkontroll och arbetsgräns&#10;framgår av">
            <a:extLst xmlns:a="http://schemas.openxmlformats.org/drawingml/2006/main">
              <a:ext uri="{FF2B5EF4-FFF2-40B4-BE49-F238E27FC236}">
                <a16:creationId xmlns:a16="http://schemas.microsoft.com/office/drawing/2014/main" id="{35A53DFA-CB7D-45CA-85A3-BDFBF72B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Vald kontrollmetod, instrumentkontroll och arbetsgräns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framgår av den lokala arbetsinstruktionen.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28F17307-852F-4511-9302-62533C7EE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ova, mät, prova: spänningsprovaren kon" descr="Prova, mät, prova: spänningsprovaren kontrolleras mot känd källa före och efter mätningen på objekt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98ee6ded6342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n användbar riskrad">
            <a:extLst xmlns:a="http://schemas.openxmlformats.org/drawingml/2006/main">
              <a:ext uri="{FF2B5EF4-FFF2-40B4-BE49-F238E27FC236}">
                <a16:creationId xmlns:a16="http://schemas.microsoft.com/office/drawing/2014/main" id="{D898E433-965C-4E77-8472-C906FA01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en användbar riskrad</a:t>
            </a:r>
          </a:p>
        </p:txBody>
      </p:sp>
      <p:sp>
        <p:nvSpPr>
          <p:cNvPr id="10" name="Moment: undersöka frånskild kopplingslåda K4. En möjlig reservmat">
            <a:extLst xmlns:a="http://schemas.openxmlformats.org/drawingml/2006/main">
              <a:ext uri="{FF2B5EF4-FFF2-40B4-BE49-F238E27FC236}">
                <a16:creationId xmlns:a16="http://schemas.microsoft.com/office/drawing/2014/main" id="{AC5AB998-CA10-4FAB-B899-056F6A61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Moment: undersöka frånskild kopplingslåda K4. En möjlig reservmatning är ännu inte identifierad.</a:t>
            </a:r>
          </a:p>
        </p:txBody>
      </p:sp>
      <p:sp>
        <p:nvSpPr>
          <p:cNvPr id="11" name="Fara, händelse, konsekvens och verifierbar åtgärd">
            <a:extLst xmlns:a="http://schemas.openxmlformats.org/drawingml/2006/main">
              <a:ext uri="{FF2B5EF4-FFF2-40B4-BE49-F238E27FC236}">
                <a16:creationId xmlns:a16="http://schemas.microsoft.com/office/drawing/2014/main" id="{1E96D5D4-E941-4B66-A571-DF46E0BE4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händelse, konsekvens och verifierbar åtgärd</a:t>
            </a:r>
          </a:p>
        </p:txBody>
      </p:sp>
      <p:sp>
        <p:nvSpPr>
          <p:cNvPr id="12" name="1. Fara: möjlig kvarvarande energitillförsel till K4.&#10;2. Händelse">
            <a:extLst xmlns:a="http://schemas.openxmlformats.org/drawingml/2006/main">
              <a:ext uri="{FF2B5EF4-FFF2-40B4-BE49-F238E27FC236}">
                <a16:creationId xmlns:a16="http://schemas.microsoft.com/office/drawing/2014/main" id="{0E7A052D-3209-4578-A9AC-F5ACC9ED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Fara: möjlig kvarvarande energitillförsel till K4.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Händelse och följd: beröring kan ge strömgenomgång.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Åtgärd: utsedd ansvarig kartlägger matningen enligt aktuell plan.</a:t>
            </a:r>
          </a:p>
        </p:txBody>
      </p:sp>
      <p:sp>
        <p:nvSpPr>
          <p:cNvPr id="13" name="Startvillkor: samtliga berörda källor och skyddsåtgärder är verif">
            <a:extLst xmlns:a="http://schemas.openxmlformats.org/drawingml/2006/main">
              <a:ext uri="{FF2B5EF4-FFF2-40B4-BE49-F238E27FC236}">
                <a16:creationId xmlns:a16="http://schemas.microsoft.com/office/drawing/2014/main" id="{EB3EF1F3-0FF0-49A3-B47F-EF868B04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Startvillkor: samtliga berörda källor och skyddsåtgärder är verifierade. Oklar matning ger stopp.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7CEBCF00-298E-4AB0-AC9E-0F89181D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304147dc44c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EB8D9A0-4E3A-4428-98E5-A4FD2DC0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</a:t>
            </a:r>
          </a:p>
        </p:txBody>
      </p:sp>
      <p:sp>
        <p:nvSpPr>
          <p:cNvPr id="10" name="Arbetsgränsen identifierar objekt och berörda delar">
            <a:extLst xmlns:a="http://schemas.openxmlformats.org/drawingml/2006/main">
              <a:ext uri="{FF2B5EF4-FFF2-40B4-BE49-F238E27FC236}">
                <a16:creationId xmlns:a16="http://schemas.microsoft.com/office/drawing/2014/main" id="{95792D9B-4D04-477B-AC78-238C6DAD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Arbetsgränsen identifierar objekt och berörda delar</a:t>
            </a:r>
          </a:p>
        </p:txBody>
      </p:sp>
      <p:sp>
        <p:nvSpPr>
          <p:cNvPr id="11" name="Rumsnamn visar plats men avgränsar inte vilka ledare, anslutninga">
            <a:extLst xmlns:a="http://schemas.openxmlformats.org/drawingml/2006/main">
              <a:ext uri="{FF2B5EF4-FFF2-40B4-BE49-F238E27FC236}">
                <a16:creationId xmlns:a16="http://schemas.microsoft.com/office/drawing/2014/main" id="{FE27DAB8-3307-4329-AFD7-AA64DD71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rum anger en plats, men inte vilka ledare, anslutningar och matningar som berörs.</a:t>
            </a:r>
          </a:p>
        </p:txBody>
      </p:sp>
      <p:sp>
        <p:nvSpPr>
          <p:cNvPr id="12" name="Förutsättningar: Arbete gäller kopplingslåda K2 i maskinrummet. I">
            <a:extLst xmlns:a="http://schemas.openxmlformats.org/drawingml/2006/main">
              <a:ext uri="{FF2B5EF4-FFF2-40B4-BE49-F238E27FC236}">
                <a16:creationId xmlns:a16="http://schemas.microsoft.com/office/drawing/2014/main" id="{2E41EF00-CC06-4F16-8D67-FDF2C05F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Arbetet gäller kopplingslådan K2 i maskinrummet. Inga anslutningar är angivna.</a:t>
            </a:r>
          </a:p>
        </p:txBody>
      </p:sp>
      <p:sp>
        <p:nvSpPr>
          <p:cNvPr id="13" name="Arbetsgång: Ange objekt-ID, delar som ingår, matningar och närlig">
            <a:extLst xmlns:a="http://schemas.openxmlformats.org/drawingml/2006/main">
              <a:ext uri="{FF2B5EF4-FFF2-40B4-BE49-F238E27FC236}">
                <a16:creationId xmlns:a16="http://schemas.microsoft.com/office/drawing/2014/main" id="{27B26C17-DCE8-48A5-A76E-E93B21AD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behöver klargöras: exakt vilken apparat, vilka delar som ingår, matningar och risker i närheten.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79F9D30E-D0CF-4C2A-9A4A-B6514010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eb8994fe0548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6F24A9A-E653-494B-9A4D-6B07EACE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</a:t>
            </a:r>
          </a:p>
        </p:txBody>
      </p:sp>
      <p:sp>
        <p:nvSpPr>
          <p:cNvPr id="3" name="Arbetsgräns">
            <a:extLst xmlns:a="http://schemas.openxmlformats.org/drawingml/2006/main">
              <a:ext uri="{FF2B5EF4-FFF2-40B4-BE49-F238E27FC236}">
                <a16:creationId xmlns:a16="http://schemas.microsoft.com/office/drawing/2014/main" id="{C3205DD8-9EDA-4BAE-9963-D13F06A8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</a:t>
            </a:r>
          </a:p>
        </p:txBody>
      </p:sp>
      <p:sp>
        <p:nvSpPr>
          <p:cNvPr id="4" name="Uppgiften är att undersöka kopplingslåda K2. Underlaget säger bar">
            <a:extLst xmlns:a="http://schemas.openxmlformats.org/drawingml/2006/main">
              <a:ext uri="{FF2B5EF4-FFF2-40B4-BE49-F238E27FC236}">
                <a16:creationId xmlns:a16="http://schemas.microsoft.com/office/drawing/2014/main" id="{2598AFC7-900A-48BD-B8E1-AB21AEFE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Uppgiften är att undersöka kopplingslådan K2. Underlaget säger bara ”i maskinrummet”. Vad behöver du veta mer exakt?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C492EE5-DA2F-4788-8EDC-E996EAD1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31EF54F8-0A82-4878-8108-77622E44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516415d3934b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1FF9E56-F40E-4D28-A493-1AADFF97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3.2</a:t>
            </a:r>
          </a:p>
        </p:txBody>
      </p:sp>
      <p:sp>
        <p:nvSpPr>
          <p:cNvPr id="10" name="Fara, möjlig händelse och konsekvens">
            <a:extLst xmlns:a="http://schemas.openxmlformats.org/drawingml/2006/main">
              <a:ext uri="{FF2B5EF4-FFF2-40B4-BE49-F238E27FC236}">
                <a16:creationId xmlns:a16="http://schemas.microsoft.com/office/drawing/2014/main" id="{FCFD73C1-CBF8-4C50-8B21-51736BDA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möjlig händelse och konsekvens</a:t>
            </a:r>
          </a:p>
        </p:txBody>
      </p:sp>
      <p:sp>
        <p:nvSpPr>
          <p:cNvPr id="11" name="Fara är exempelvis skadad isolation. Händelsen kan vara beröring.">
            <a:extLst xmlns:a="http://schemas.openxmlformats.org/drawingml/2006/main">
              <a:ext uri="{FF2B5EF4-FFF2-40B4-BE49-F238E27FC236}">
                <a16:creationId xmlns:a16="http://schemas.microsoft.com/office/drawing/2014/main" id="{AB2B99E4-3980-4AC8-87F9-49A56EA4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 är det som kan skada. Händelsen är det som kan inträffa. Konsekvensen är skadan som kan följa.</a:t>
            </a:r>
          </a:p>
        </p:txBody>
      </p:sp>
      <p:sp>
        <p:nvSpPr>
          <p:cNvPr id="12" name="Förutsättningar: Kabel med synlig skada i våt miljö. Verklig spän">
            <a:extLst xmlns:a="http://schemas.openxmlformats.org/drawingml/2006/main">
              <a:ext uri="{FF2B5EF4-FFF2-40B4-BE49-F238E27FC236}">
                <a16:creationId xmlns:a16="http://schemas.microsoft.com/office/drawing/2014/main" id="{0038EA58-D6E9-4C16-AC07-A2DB47A8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kabel med synlig skada i våt miljö. Ingen har kontrollerat om den är spänningssatt.</a:t>
            </a:r>
          </a:p>
        </p:txBody>
      </p:sp>
      <p:sp>
        <p:nvSpPr>
          <p:cNvPr id="13" name="Arbetsgång: Bygg en orsakskedja utan att framställa en antagen sp">
            <a:extLst xmlns:a="http://schemas.openxmlformats.org/drawingml/2006/main">
              <a:ext uri="{FF2B5EF4-FFF2-40B4-BE49-F238E27FC236}">
                <a16:creationId xmlns:a16="http://schemas.microsoft.com/office/drawing/2014/main" id="{A69976E6-FCE2-45E0-8060-8F41E65D6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Bygg en orsakskedja utan att framställa en antagen spänningssättning som observation.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12EF3129-DADB-4596-9AAB-74EC0B1D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65f4b4276245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736ECC6-25E8-4456-A126-649048F2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3.2</a:t>
            </a:r>
          </a:p>
        </p:txBody>
      </p:sp>
      <p:sp>
        <p:nvSpPr>
          <p:cNvPr id="3" name="Fara och konsekvens">
            <a:extLst xmlns:a="http://schemas.openxmlformats.org/drawingml/2006/main">
              <a:ext uri="{FF2B5EF4-FFF2-40B4-BE49-F238E27FC236}">
                <a16:creationId xmlns:a16="http://schemas.microsoft.com/office/drawing/2014/main" id="{087E785F-828A-4181-88EA-A49543F0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 och konsekvens</a:t>
            </a:r>
          </a:p>
        </p:txBody>
      </p:sp>
      <p:sp>
        <p:nvSpPr>
          <p:cNvPr id="4" name="Formulera en fara och en möjlig konsekvens för en skadad kabel i ">
            <a:extLst xmlns:a="http://schemas.openxmlformats.org/drawingml/2006/main">
              <a:ext uri="{FF2B5EF4-FFF2-40B4-BE49-F238E27FC236}">
                <a16:creationId xmlns:a16="http://schemas.microsoft.com/office/drawing/2014/main" id="{6C9D0DF8-AF4B-4AC6-B40C-F794BC97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Formulera en fara och en möjlig konsekvens för en skadad kabel i en våt miljö.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CC12090-009E-412B-898F-1A4C6BBA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55464522-592E-43AB-ABCF-FAEF6AD5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546cb6326c4d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E10462-A8ED-4BD5-931B-7C1A8715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3.3</a:t>
            </a:r>
          </a:p>
        </p:txBody>
      </p:sp>
      <p:sp>
        <p:nvSpPr>
          <p:cNvPr id="10" name="Skydd behöver väljas mot en konkret risk">
            <a:extLst xmlns:a="http://schemas.openxmlformats.org/drawingml/2006/main">
              <a:ext uri="{FF2B5EF4-FFF2-40B4-BE49-F238E27FC236}">
                <a16:creationId xmlns:a16="http://schemas.microsoft.com/office/drawing/2014/main" id="{D64E63C5-A1B5-4CCF-97B0-5845FD7F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behöver väljas mot en konkret risk</a:t>
            </a:r>
          </a:p>
        </p:txBody>
      </p:sp>
      <p:sp>
        <p:nvSpPr>
          <p:cNvPr id="11" name="Personlig skyddsutrustning kompletterar åtgärder som minskar fara">
            <a:extLst xmlns:a="http://schemas.openxmlformats.org/drawingml/2006/main">
              <a:ext uri="{FF2B5EF4-FFF2-40B4-BE49-F238E27FC236}">
                <a16:creationId xmlns:a16="http://schemas.microsoft.com/office/drawing/2014/main" id="{11DCF74B-8EDC-4A4E-8C51-1E3108E9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Personlig skyddsutrustning är ett komplement till åtgärder som minskar faran.</a:t>
            </a:r>
          </a:p>
        </p:txBody>
      </p:sp>
      <p:sp>
        <p:nvSpPr>
          <p:cNvPr id="12" name="Förutsättningar: Riskraden anger bara ”risk för elchock, använd h">
            <a:extLst xmlns:a="http://schemas.openxmlformats.org/drawingml/2006/main">
              <a:ext uri="{FF2B5EF4-FFF2-40B4-BE49-F238E27FC236}">
                <a16:creationId xmlns:a16="http://schemas.microsoft.com/office/drawing/2014/main" id="{B74F66B7-916E-4905-AE09-1A7124CB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Riskraden säger bara ”risk för elchock, använd handskar”. Det står inget om klassning, arbetsmetod eller ansvar.</a:t>
            </a:r>
          </a:p>
        </p:txBody>
      </p:sp>
      <p:sp>
        <p:nvSpPr>
          <p:cNvPr id="13" name="Arbetsgång: Förklara vad som saknas för att bedöma skyddets effek">
            <a:extLst xmlns:a="http://schemas.openxmlformats.org/drawingml/2006/main">
              <a:ext uri="{FF2B5EF4-FFF2-40B4-BE49-F238E27FC236}">
                <a16:creationId xmlns:a16="http://schemas.microsoft.com/office/drawing/2014/main" id="{CECFCC78-B759-4347-A789-A758DE0D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vad som saknas för att kunna bedöma om skyddet räcker. Vanliga arbetshandskar skyddar inte mot el.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A8A145C4-D2B0-43F6-B87C-68B89C6B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2df7f609442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345810BC-CD57-4B8B-8575-6E72DCA1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3.3</a:t>
            </a:r>
          </a:p>
        </p:txBody>
      </p:sp>
      <p:sp>
        <p:nvSpPr>
          <p:cNvPr id="3" name="PPE som enda åtgärd">
            <a:extLst xmlns:a="http://schemas.openxmlformats.org/drawingml/2006/main">
              <a:ext uri="{FF2B5EF4-FFF2-40B4-BE49-F238E27FC236}">
                <a16:creationId xmlns:a16="http://schemas.microsoft.com/office/drawing/2014/main" id="{4A965FAC-6753-44E9-8DF6-D60EFEA6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Skyddsutrustning som enda åtgärd</a:t>
            </a:r>
          </a:p>
        </p:txBody>
      </p:sp>
      <p:sp>
        <p:nvSpPr>
          <p:cNvPr id="4" name="Riskraden säger ”risk för elchock, använd handskar”. Varför är de">
            <a:extLst xmlns:a="http://schemas.openxmlformats.org/drawingml/2006/main">
              <a:ext uri="{FF2B5EF4-FFF2-40B4-BE49-F238E27FC236}">
                <a16:creationId xmlns:a16="http://schemas.microsoft.com/office/drawing/2014/main" id="{2DE23E45-DDD6-4CAA-A843-CBA979C7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Riskraden säger ”risk för elchock, använd handskar”. Varför räcker det inte?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4F4424A-08E3-4889-B35F-25AAE180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49FDC030-385D-4EC8-AF8D-FFB7E2E8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f37ed73b894c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01E4F826-4A9A-4228-AC63-EDC3D436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3.4</a:t>
            </a:r>
          </a:p>
        </p:txBody>
      </p:sp>
      <p:sp>
        <p:nvSpPr>
          <p:cNvPr id="10" name="Märkning informerar, skydd mot tillkoppling ska fungera">
            <a:extLst xmlns:a="http://schemas.openxmlformats.org/drawingml/2006/main">
              <a:ext uri="{FF2B5EF4-FFF2-40B4-BE49-F238E27FC236}">
                <a16:creationId xmlns:a16="http://schemas.microsoft.com/office/drawing/2014/main" id="{B8895894-63DF-4689-BCC6-B8F986CC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 informerar, skydd mot återinkoppling ska fungera</a:t>
            </a:r>
          </a:p>
        </p:txBody>
      </p:sp>
      <p:sp>
        <p:nvSpPr>
          <p:cNvPr id="11" name="En skylt visar ett budskap. Den hindrar inte automatiskt någon fr">
            <a:extLst xmlns:a="http://schemas.openxmlformats.org/drawingml/2006/main">
              <a:ext uri="{FF2B5EF4-FFF2-40B4-BE49-F238E27FC236}">
                <a16:creationId xmlns:a16="http://schemas.microsoft.com/office/drawing/2014/main" id="{3C1DADAA-C379-48DB-A70D-CA5CB4CC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skylt visar ett budskap. Den hindrar inte automatiskt någon från att slå till.</a:t>
            </a:r>
          </a:p>
        </p:txBody>
      </p:sp>
      <p:sp>
        <p:nvSpPr>
          <p:cNvPr id="12" name="Förutsättningar: Arbetsplanens skydd mot återinkoppling är inte g">
            <a:extLst xmlns:a="http://schemas.openxmlformats.org/drawingml/2006/main">
              <a:ext uri="{FF2B5EF4-FFF2-40B4-BE49-F238E27FC236}">
                <a16:creationId xmlns:a16="http://schemas.microsoft.com/office/drawing/2014/main" id="{E14F03A0-90F5-4AE1-A5F1-FE2CD8C5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mot återinkoppling i arbetsplanen är inte genomfört. Det finns bara en skylt.</a:t>
            </a:r>
          </a:p>
        </p:txBody>
      </p:sp>
      <p:sp>
        <p:nvSpPr>
          <p:cNvPr id="13" name="Arbetsgång: Jämför den faktiska åtgärden med planens skyddsfunkti">
            <a:extLst xmlns:a="http://schemas.openxmlformats.org/drawingml/2006/main">
              <a:ext uri="{FF2B5EF4-FFF2-40B4-BE49-F238E27FC236}">
                <a16:creationId xmlns:a16="http://schemas.microsoft.com/office/drawing/2014/main" id="{3773A242-8E2F-4A34-8F3E-DB8F5AF6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den faktiska åtgärden med planens skyddsfunktion och motivera beslutet.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9EC9A78F-3E4B-497B-853F-A33E9F0F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Brytare med bara en skylt ”Arbete pågår”" descr="Brytare med bara en skylt ”Arbete pågår” och frågan om skylten hindrar återinkop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5d2ebf13134b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68D32D7-76B0-48AE-B05F-FDFE2438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3.4</a:t>
            </a:r>
          </a:p>
        </p:txBody>
      </p:sp>
      <p:sp>
        <p:nvSpPr>
          <p:cNvPr id="3" name="Lås och skylt">
            <a:extLst xmlns:a="http://schemas.openxmlformats.org/drawingml/2006/main">
              <a:ext uri="{FF2B5EF4-FFF2-40B4-BE49-F238E27FC236}">
                <a16:creationId xmlns:a16="http://schemas.microsoft.com/office/drawing/2014/main" id="{CBF84A94-A515-482B-945E-706297470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Lås och skylt</a:t>
            </a:r>
          </a:p>
        </p:txBody>
      </p:sp>
      <p:sp>
        <p:nvSpPr>
          <p:cNvPr id="4" name="En skylt finns på en brytare men återinkoppling är inte förhindra">
            <a:extLst xmlns:a="http://schemas.openxmlformats.org/drawingml/2006/main">
              <a:ext uri="{FF2B5EF4-FFF2-40B4-BE49-F238E27FC236}">
                <a16:creationId xmlns:a16="http://schemas.microsoft.com/office/drawing/2014/main" id="{F4347F9B-F753-4807-9237-89507CC8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sitter en skylt på en brytare, men inget hindrar att den slås till igen. Räcker skylten?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C8C8A5D-652F-4CDB-9747-BEF29A12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426834B0-A543-4E4B-AE76-71E58B21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08caab4284a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0F6BC4D-4B8B-4329-A338-12F72ED2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3.5</a:t>
            </a:r>
          </a:p>
        </p:txBody>
      </p:sp>
      <p:sp>
        <p:nvSpPr>
          <p:cNvPr id="10" name="En skadad provare ger otillförlitliga förutsättningar">
            <a:extLst xmlns:a="http://schemas.openxmlformats.org/drawingml/2006/main">
              <a:ext uri="{FF2B5EF4-FFF2-40B4-BE49-F238E27FC236}">
                <a16:creationId xmlns:a16="http://schemas.microsoft.com/office/drawing/2014/main" id="{E9E94C13-9FAC-4E32-9414-283B825E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skadad provare ger otillförlitliga förutsättningar</a:t>
            </a:r>
          </a:p>
        </p:txBody>
      </p:sp>
      <p:sp>
        <p:nvSpPr>
          <p:cNvPr id="11" name="Mätledningar och isolering ingår i provarens funktion och skydd.">
            <a:extLst xmlns:a="http://schemas.openxmlformats.org/drawingml/2006/main">
              <a:ext uri="{FF2B5EF4-FFF2-40B4-BE49-F238E27FC236}">
                <a16:creationId xmlns:a16="http://schemas.microsoft.com/office/drawing/2014/main" id="{03CFF14F-4F1A-42D5-80E3-5865F62D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Mätsladdarna och deras isolering är en del av provarens funktion och skydd.</a:t>
            </a:r>
          </a:p>
        </p:txBody>
      </p:sp>
      <p:sp>
        <p:nvSpPr>
          <p:cNvPr id="12" name="Förutsättningar: Synlig kabelskada finns före kontrollen. Instrum">
            <a:extLst xmlns:a="http://schemas.openxmlformats.org/drawingml/2006/main">
              <a:ext uri="{FF2B5EF4-FFF2-40B4-BE49-F238E27FC236}">
                <a16:creationId xmlns:a16="http://schemas.microsoft.com/office/drawing/2014/main" id="{2362C4EC-EEB1-4F52-840D-EDB793E0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Skadan syns innan kontrollen har börjat. Ingen har bedömt att provaren kan användas.</a:t>
            </a:r>
          </a:p>
        </p:txBody>
      </p:sp>
      <p:sp>
        <p:nvSpPr>
          <p:cNvPr id="13" name="Arbetsgång: Ange hur instrumentet tas ur bruk och vilken förutsät">
            <a:extLst xmlns:a="http://schemas.openxmlformats.org/drawingml/2006/main">
              <a:ext uri="{FF2B5EF4-FFF2-40B4-BE49-F238E27FC236}">
                <a16:creationId xmlns:a16="http://schemas.microsoft.com/office/drawing/2014/main" id="{F9F3C7DF-8FAC-464F-B4D6-333941D3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hur provaren tas ur bruk och vad som krävs innan kontrollen kan göras.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AA70F911-9BC1-48D3-A9B2-4269C794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f1b133a5a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20B60D44-8112-4EDA-8332-F2AA1998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3.5</a:t>
            </a:r>
          </a:p>
        </p:txBody>
      </p:sp>
      <p:sp>
        <p:nvSpPr>
          <p:cNvPr id="3" name="Provare med skada">
            <a:extLst xmlns:a="http://schemas.openxmlformats.org/drawingml/2006/main">
              <a:ext uri="{FF2B5EF4-FFF2-40B4-BE49-F238E27FC236}">
                <a16:creationId xmlns:a16="http://schemas.microsoft.com/office/drawing/2014/main" id="{834F1F21-4698-4096-A4B2-9D9F960A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Provare med skada</a:t>
            </a:r>
          </a:p>
        </p:txBody>
      </p:sp>
      <p:sp>
        <p:nvSpPr>
          <p:cNvPr id="4" name="Spänningsprovarens kabel har synlig skada. Vad blir beslutet före">
            <a:extLst xmlns:a="http://schemas.openxmlformats.org/drawingml/2006/main">
              <a:ext uri="{FF2B5EF4-FFF2-40B4-BE49-F238E27FC236}">
                <a16:creationId xmlns:a16="http://schemas.microsoft.com/office/drawing/2014/main" id="{CA9FDD10-96A5-4F2C-84E9-0EC810A6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Spänningsprovarens kabel har synlig skada. Vad blir beslutet före kontrollen?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1873513-05EB-41D9-83EC-DC19625A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BF9608C-8BF8-4950-B842-D6D6499D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f2a0b32f1c4c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3666EBBC-D8F7-4D8E-AC71-34B3E717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Jordning och kortslutning&#10;Kvarstående risk och stoppvillkor&#10;Exemp">
            <a:extLst xmlns:a="http://schemas.openxmlformats.org/drawingml/2006/main">
              <a:ext uri="{FF2B5EF4-FFF2-40B4-BE49-F238E27FC236}">
                <a16:creationId xmlns:a16="http://schemas.microsoft.com/office/drawing/2014/main" id="{ECE3A91D-E2E9-402F-8D65-184608A8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 och kortslutning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Kvarstående risk och stoppvillkor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Exempel på riskrad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94F41F1A-2832-4335-B043-91AA198C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3.6–3.10.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6A15CC7B-F7F7-4010-B22F-5E4ED334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5c65f357a48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ning och kortslutning">
            <a:extLst xmlns:a="http://schemas.openxmlformats.org/drawingml/2006/main">
              <a:ext uri="{FF2B5EF4-FFF2-40B4-BE49-F238E27FC236}">
                <a16:creationId xmlns:a16="http://schemas.microsoft.com/office/drawing/2014/main" id="{AABDBC57-1CA9-4A20-A9DB-38128D03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Jordning och kortslutning</a:t>
            </a:r>
          </a:p>
        </p:txBody>
      </p:sp>
      <p:sp>
        <p:nvSpPr>
          <p:cNvPr id="3" name="Åtgärden kan skydda mot oavsiktlig återspänningssättning&#10;och andr">
            <a:extLst xmlns:a="http://schemas.openxmlformats.org/drawingml/2006/main">
              <a:ext uri="{FF2B5EF4-FFF2-40B4-BE49-F238E27FC236}">
                <a16:creationId xmlns:a16="http://schemas.microsoft.com/office/drawing/2014/main" id="{A99834B8-329C-44B7-9BCC-8260F88D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Åtgärden kan skydda mot oavsiktlig återspänningssättning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andra elektriska risker i arbetsområdet.</a:t>
            </a:r>
          </a:p>
        </p:txBody>
      </p:sp>
      <p:sp>
        <p:nvSpPr>
          <p:cNvPr id="4" name="Behov och utförande styrs av anläggning och metod">
            <a:extLst xmlns:a="http://schemas.openxmlformats.org/drawingml/2006/main">
              <a:ext uri="{FF2B5EF4-FFF2-40B4-BE49-F238E27FC236}">
                <a16:creationId xmlns:a16="http://schemas.microsoft.com/office/drawing/2014/main" id="{68570D3B-76BA-4816-8AF5-9E3A03AA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Behov och utförande styrs av anläggning och metod</a:t>
            </a:r>
          </a:p>
        </p:txBody>
      </p:sp>
      <p:sp>
        <p:nvSpPr>
          <p:cNvPr id="5" name="Högspänning kräver särskild utrustning, kompetens och plan.&#10;Kursf">
            <a:extLst xmlns:a="http://schemas.openxmlformats.org/drawingml/2006/main">
              <a:ext uri="{FF2B5EF4-FFF2-40B4-BE49-F238E27FC236}">
                <a16:creationId xmlns:a16="http://schemas.microsoft.com/office/drawing/2014/main" id="{82AD4E69-93A8-4DC3-9AAA-1176F5AA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Högspänning kräver särskild utrustning, kompetens och plan.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Kursfallet är en dokumentationsövning utan verkligt handhavande.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60BF6CA2-30B5-4F0E-BB12-028759E0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er frånskilda; jordning och korts" descr="Tre faser frånskilda; jordning och kortslutning nära arbetsstället och synlig därifrå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e4c7babcfa41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varstående risk och stoppvillkor">
            <a:extLst xmlns:a="http://schemas.openxmlformats.org/drawingml/2006/main">
              <a:ext uri="{FF2B5EF4-FFF2-40B4-BE49-F238E27FC236}">
                <a16:creationId xmlns:a16="http://schemas.microsoft.com/office/drawing/2014/main" id="{2F113741-8FBD-4858-91CB-71BC3EAA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risk och stoppvillkor</a:t>
            </a:r>
          </a:p>
        </p:txBody>
      </p:sp>
      <p:sp>
        <p:nvSpPr>
          <p:cNvPr id="3" name="En åtgärd behöver ha ansvarig person och verifiering.&#10;Osäker arbe">
            <a:extLst xmlns:a="http://schemas.openxmlformats.org/drawingml/2006/main">
              <a:ext uri="{FF2B5EF4-FFF2-40B4-BE49-F238E27FC236}">
                <a16:creationId xmlns:a16="http://schemas.microsoft.com/office/drawing/2014/main" id="{DB4878AC-4782-4976-9020-7A19BF93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åtgärd behöver ha ansvarig person och verifiering.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Osäker arbetsgräns eller ändrade förutsättningar kräver nytt beslut.</a:t>
            </a:r>
          </a:p>
        </p:txBody>
      </p:sp>
      <p:sp>
        <p:nvSpPr>
          <p:cNvPr id="4" name="Villkor för start, avbrott och återlämning">
            <a:extLst xmlns:a="http://schemas.openxmlformats.org/drawingml/2006/main">
              <a:ext uri="{FF2B5EF4-FFF2-40B4-BE49-F238E27FC236}">
                <a16:creationId xmlns:a16="http://schemas.microsoft.com/office/drawing/2014/main" id="{EC0B9F47-BB38-420D-B401-5D86CF47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Villkor för start, avbrott och återlämning</a:t>
            </a:r>
          </a:p>
        </p:txBody>
      </p:sp>
      <p:sp>
        <p:nvSpPr>
          <p:cNvPr id="5" name="”Klart” behöver betyda att angivna kontroller är utförda.&#10;Skriv h">
            <a:extLst xmlns:a="http://schemas.openxmlformats.org/drawingml/2006/main">
              <a:ext uri="{FF2B5EF4-FFF2-40B4-BE49-F238E27FC236}">
                <a16:creationId xmlns:a16="http://schemas.microsoft.com/office/drawing/2014/main" id="{6C2A148F-6E70-461C-9AD7-ABACB116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”Klart” behöver betyda att angivna kontroller är utförda.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hur avvikelser hanteras och kommuniceras.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818ABE35-855B-4797-B0B4-BECA02167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dcc715f6724c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xempel på riskrad">
            <a:extLst xmlns:a="http://schemas.openxmlformats.org/drawingml/2006/main">
              <a:ext uri="{FF2B5EF4-FFF2-40B4-BE49-F238E27FC236}">
                <a16:creationId xmlns:a16="http://schemas.microsoft.com/office/drawing/2014/main" id="{F2274B6F-307A-4938-9735-23E5A206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 på riskrad</a:t>
            </a:r>
          </a:p>
        </p:txBody>
      </p:sp>
      <p:sp>
        <p:nvSpPr>
          <p:cNvPr id="3" name="Moment: inspektion av frånskild kopplingslåda i fuktig miljö.&#10;Far">
            <a:extLst xmlns:a="http://schemas.openxmlformats.org/drawingml/2006/main">
              <a:ext uri="{FF2B5EF4-FFF2-40B4-BE49-F238E27FC236}">
                <a16:creationId xmlns:a16="http://schemas.microsoft.com/office/drawing/2014/main" id="{1A615499-D884-41D8-BA6D-34EE9C6F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Moment: inspektion av frånskild kopplingslåda i fuktig miljö.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Fara: alternativ matning och skadad isolering.</a:t>
            </a:r>
          </a:p>
        </p:txBody>
      </p:sp>
      <p:sp>
        <p:nvSpPr>
          <p:cNvPr id="4" name="Åtgärd: kartläggning, säkring och verifiering enligt plan">
            <a:extLst xmlns:a="http://schemas.openxmlformats.org/drawingml/2006/main">
              <a:ext uri="{FF2B5EF4-FFF2-40B4-BE49-F238E27FC236}">
                <a16:creationId xmlns:a16="http://schemas.microsoft.com/office/drawing/2014/main" id="{43413F97-78E9-4657-93D6-FC567A75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Åtgärd: kartläggning, säkring och verifiering enligt plan</a:t>
            </a:r>
          </a:p>
        </p:txBody>
      </p:sp>
      <p:sp>
        <p:nvSpPr>
          <p:cNvPr id="5" name="Ansvarig och kontrollresultat anges före startbesked.&#10;Kvarstående">
            <a:extLst xmlns:a="http://schemas.openxmlformats.org/drawingml/2006/main">
              <a:ext uri="{FF2B5EF4-FFF2-40B4-BE49-F238E27FC236}">
                <a16:creationId xmlns:a16="http://schemas.microsoft.com/office/drawing/2014/main" id="{F6B38A8A-70C2-4AC2-AC43-07102DA7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Ansvarig och kontrollresultat anges före startbesked.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osäkerhet om matning innebär att arbetet väntar.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2E1058E-0E4F-4AF5-B875-3927E454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55e96d54504d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iskpoäng med begränsning">
            <a:extLst xmlns:a="http://schemas.openxmlformats.org/drawingml/2006/main">
              <a:ext uri="{FF2B5EF4-FFF2-40B4-BE49-F238E27FC236}">
                <a16:creationId xmlns:a16="http://schemas.microsoft.com/office/drawing/2014/main" id="{8B51E54A-E73F-4BE4-9BF6-900CA693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riskpoäng med begränsning</a:t>
            </a:r>
          </a:p>
        </p:txBody>
      </p:sp>
      <p:sp>
        <p:nvSpPr>
          <p:cNvPr id="10" name="En övningsmatris anger sannolikhet 4, konsekvens 3. Efter åtgärd ">
            <a:extLst xmlns:a="http://schemas.openxmlformats.org/drawingml/2006/main">
              <a:ext uri="{FF2B5EF4-FFF2-40B4-BE49-F238E27FC236}">
                <a16:creationId xmlns:a16="http://schemas.microsoft.com/office/drawing/2014/main" id="{2026BC7F-7231-4E96-A0CA-179A1152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övningsmatris anger sannolikhet 4, konsekvens 2. Efter åtgärd bedöms sannolikheten till 2.</a:t>
            </a:r>
          </a:p>
        </p:txBody>
      </p:sp>
      <p:sp>
        <p:nvSpPr>
          <p:cNvPr id="11" name="Riskpoäng = sannolikhet · konsekvens">
            <a:extLst xmlns:a="http://schemas.openxmlformats.org/drawingml/2006/main">
              <a:ext uri="{FF2B5EF4-FFF2-40B4-BE49-F238E27FC236}">
                <a16:creationId xmlns:a16="http://schemas.microsoft.com/office/drawing/2014/main" id="{DEEB346A-19F1-4A26-A8A4-FE0A7D1A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 = sannolikhet · konsekvens</a:t>
            </a:r>
          </a:p>
        </p:txBody>
      </p:sp>
      <p:sp>
        <p:nvSpPr>
          <p:cNvPr id="12" name="1. Före: 4 · 3 = 12.&#10;2. Efter: 2 · 3 = 6.&#10;3. Poängen har halverat">
            <a:extLst xmlns:a="http://schemas.openxmlformats.org/drawingml/2006/main">
              <a:ext uri="{FF2B5EF4-FFF2-40B4-BE49-F238E27FC236}">
                <a16:creationId xmlns:a16="http://schemas.microsoft.com/office/drawing/2014/main" id="{EE078332-DA96-4158-945E-1AF297D0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Före: 4 · 2 = 8.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Efter: 2 · 2 = 4.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Poängen sjunker i denna matris. Det betyder inte att risken har halverats.</a:t>
            </a:r>
          </a:p>
        </p:txBody>
      </p:sp>
      <p:sp>
        <p:nvSpPr>
          <p:cNvPr id="13" name="Ingen tillåten gräns är given. Poängtalet visar därför inte att a">
            <a:extLst xmlns:a="http://schemas.openxmlformats.org/drawingml/2006/main">
              <a:ext uri="{FF2B5EF4-FFF2-40B4-BE49-F238E27FC236}">
                <a16:creationId xmlns:a16="http://schemas.microsoft.com/office/drawing/2014/main" id="{8EDDA810-5035-4169-BB9E-81257DBC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Ingen tillåten gräns är given. Poängtalet visar därför inte att arbetet får starta.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B1AA3BFE-72DF-44FF-B4C4-EFB7A293C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Riskmatris fem gånger fem med poäng; för" descr="Riskmatris fem gånger fem med poäng; före åtgärd sannolikhet 4 och konsekvens 2, efter åtgärd 2 och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6c389254f348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E1220DFB-2923-4F0D-B9FF-7E2E953D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3.6</a:t>
            </a:r>
          </a:p>
        </p:txBody>
      </p:sp>
      <p:sp>
        <p:nvSpPr>
          <p:cNvPr id="10" name="Jordningsåtgärd kräver objekt, metod och ansvar">
            <a:extLst xmlns:a="http://schemas.openxmlformats.org/drawingml/2006/main">
              <a:ext uri="{FF2B5EF4-FFF2-40B4-BE49-F238E27FC236}">
                <a16:creationId xmlns:a16="http://schemas.microsoft.com/office/drawing/2014/main" id="{EAB87651-6655-4251-AB65-764CF77A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Jordningsåtgärd kräver objekt, metod och ansvar</a:t>
            </a:r>
          </a:p>
        </p:txBody>
      </p:sp>
      <p:sp>
        <p:nvSpPr>
          <p:cNvPr id="11" name="Utrustningens dimensionering och användning måste passa anläggnin">
            <a:extLst xmlns:a="http://schemas.openxmlformats.org/drawingml/2006/main">
              <a:ext uri="{FF2B5EF4-FFF2-40B4-BE49-F238E27FC236}">
                <a16:creationId xmlns:a16="http://schemas.microsoft.com/office/drawing/2014/main" id="{A40D03EC-1D5E-43BD-BD72-44EF34BA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Jordningsutrustningen måste vara dimensionerad för anläggningen och användas enligt den fastställda metoden.</a:t>
            </a:r>
          </a:p>
        </p:txBody>
      </p:sp>
      <p:sp>
        <p:nvSpPr>
          <p:cNvPr id="12" name="Förutsättningar: Högspänningsfallet är en dokumentationsövning. I">
            <a:extLst xmlns:a="http://schemas.openxmlformats.org/drawingml/2006/main">
              <a:ext uri="{FF2B5EF4-FFF2-40B4-BE49-F238E27FC236}">
                <a16:creationId xmlns:a16="http://schemas.microsoft.com/office/drawing/2014/main" id="{AD4A95EC-50C9-4ED2-B9CB-8DC7308F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Högspänningsfallet är en övning i dokumentation. Inget får utföras i praktiken utifrån den här beskrivningen.</a:t>
            </a:r>
          </a:p>
        </p:txBody>
      </p:sp>
      <p:sp>
        <p:nvSpPr>
          <p:cNvPr id="13" name="Arbetsgång: Ange minst två konkreta kompletteringar. Beskriv vad ">
            <a:extLst xmlns:a="http://schemas.openxmlformats.org/drawingml/2006/main">
              <a:ext uri="{FF2B5EF4-FFF2-40B4-BE49-F238E27FC236}">
                <a16:creationId xmlns:a16="http://schemas.microsoft.com/office/drawing/2014/main" id="{9DE1DCBA-23CD-4D7B-8C74-390CA952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minst två konkreta tillägg. Beskriv vad som ska kontrolleras – inte hur du själv skulle manövrera.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B924EF3A-5472-4FE5-9CED-F1E16296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76b08d160b40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6D974F2-C7BC-438C-A6E2-9BB4336D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</a:t>
            </a:r>
          </a:p>
        </p:txBody>
      </p:sp>
      <p:sp>
        <p:nvSpPr>
          <p:cNvPr id="3" name="Jordningsutrustning">
            <a:extLst xmlns:a="http://schemas.openxmlformats.org/drawingml/2006/main">
              <a:ext uri="{FF2B5EF4-FFF2-40B4-BE49-F238E27FC236}">
                <a16:creationId xmlns:a16="http://schemas.microsoft.com/office/drawing/2014/main" id="{3E38FE04-3B18-45A0-8008-3183F857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Jordningsutrustning</a:t>
            </a:r>
          </a:p>
        </p:txBody>
      </p:sp>
      <p:sp>
        <p:nvSpPr>
          <p:cNvPr id="4" name="En högspänningsberedning nämner ”jorda” utan objekt, utrustning e">
            <a:extLst xmlns:a="http://schemas.openxmlformats.org/drawingml/2006/main">
              <a:ext uri="{FF2B5EF4-FFF2-40B4-BE49-F238E27FC236}">
                <a16:creationId xmlns:a16="http://schemas.microsoft.com/office/drawing/2014/main" id="{8A6A5591-313B-4194-B820-49F92B5A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beredning för ett högspänningsarbete står det bara ”jorda”, utan objekt, utrustning eller ansvarig. Ange två saker som måste läggas till.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9D3AA9D-247E-44F6-8616-9C14986E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BE25EA2-B503-442C-834F-E16BC57C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ad23b657de4a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A9C39BC-9CA0-4058-817D-59ED2C53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3.7</a:t>
            </a:r>
          </a:p>
        </p:txBody>
      </p:sp>
      <p:sp>
        <p:nvSpPr>
          <p:cNvPr id="10" name="Ändrad matning kräver omprövad riskbedömning">
            <a:extLst xmlns:a="http://schemas.openxmlformats.org/drawingml/2006/main">
              <a:ext uri="{FF2B5EF4-FFF2-40B4-BE49-F238E27FC236}">
                <a16:creationId xmlns:a16="http://schemas.microsoft.com/office/drawing/2014/main" id="{DE9B8D86-71E4-4696-8057-DBDB0A99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matning kräver omprövad riskbedömning</a:t>
            </a:r>
          </a:p>
        </p:txBody>
      </p:sp>
      <p:sp>
        <p:nvSpPr>
          <p:cNvPr id="11" name="En UPS kan hålla delar spänningssatta eller ändra vilka delar som">
            <a:extLst xmlns:a="http://schemas.openxmlformats.org/drawingml/2006/main">
              <a:ext uri="{FF2B5EF4-FFF2-40B4-BE49-F238E27FC236}">
                <a16:creationId xmlns:a16="http://schemas.microsoft.com/office/drawing/2014/main" id="{0730282B-796F-4FF0-BC5C-CD68EF70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UPS kan hålla delar spänningssatta eller ändra vad som behöver frånskiljas.</a:t>
            </a:r>
          </a:p>
        </p:txBody>
      </p:sp>
      <p:sp>
        <p:nvSpPr>
          <p:cNvPr id="12" name="Förutsättningar: En tidigare okänd UPS upptäcks under arbetet och">
            <a:extLst xmlns:a="http://schemas.openxmlformats.org/drawingml/2006/main">
              <a:ext uri="{FF2B5EF4-FFF2-40B4-BE49-F238E27FC236}">
                <a16:creationId xmlns:a16="http://schemas.microsoft.com/office/drawing/2014/main" id="{0F3282E6-035B-44FD-B21F-53B3F1EB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UPS som ingen kände till upptäcks under arbetet. Den finns inte med i beredningen.</a:t>
            </a:r>
          </a:p>
        </p:txBody>
      </p:sp>
      <p:sp>
        <p:nvSpPr>
          <p:cNvPr id="13" name="Arbetsgång: Avgränsa berört arbete, kartlägg den nya källan och a">
            <a:extLst xmlns:a="http://schemas.openxmlformats.org/drawingml/2006/main">
              <a:ext uri="{FF2B5EF4-FFF2-40B4-BE49-F238E27FC236}">
                <a16:creationId xmlns:a16="http://schemas.microsoft.com/office/drawing/2014/main" id="{E7D95344-9C3E-4E0C-B7D8-A906656E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Stoppa det berörda arbetet, ta reda på vad UPS:en matar och ange vad som krävs för ett nytt startbesked.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C8970A07-3A16-49C9-9377-40DC1701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773e7c5dae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283C695-340A-4A6C-84E8-B1E85713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3.7</a:t>
            </a:r>
          </a:p>
        </p:txBody>
      </p:sp>
      <p:sp>
        <p:nvSpPr>
          <p:cNvPr id="3" name="Ändrade förutsättningar">
            <a:extLst xmlns:a="http://schemas.openxmlformats.org/drawingml/2006/main">
              <a:ext uri="{FF2B5EF4-FFF2-40B4-BE49-F238E27FC236}">
                <a16:creationId xmlns:a16="http://schemas.microsoft.com/office/drawing/2014/main" id="{94DA6775-F6F6-45C3-B98C-3A9B5653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Ändrade förutsättningar</a:t>
            </a:r>
          </a:p>
        </p:txBody>
      </p:sp>
      <p:sp>
        <p:nvSpPr>
          <p:cNvPr id="4" name="Under arbetet upptäcks en UPS som inte finns i beredningen. Vad b">
            <a:extLst xmlns:a="http://schemas.openxmlformats.org/drawingml/2006/main">
              <a:ext uri="{FF2B5EF4-FFF2-40B4-BE49-F238E27FC236}">
                <a16:creationId xmlns:a16="http://schemas.microsoft.com/office/drawing/2014/main" id="{6327F978-6187-4D66-A00E-275E5B62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 arbetet upptäcker ni en UPS som inte finns med i beredningen. Vad ska hända med riskbedömningen?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E2A01E6-83BF-41F4-849C-CC98C84B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CA5C7CDA-4549-4504-AEA9-054E32CB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a458edeeb4d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61653DF-CD83-4F7F-8157-B1F53B37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3.8</a:t>
            </a:r>
          </a:p>
        </p:txBody>
      </p:sp>
      <p:sp>
        <p:nvSpPr>
          <p:cNvPr id="10" name="Riskpoäng = sannolikhet · konsekvens">
            <a:extLst xmlns:a="http://schemas.openxmlformats.org/drawingml/2006/main">
              <a:ext uri="{FF2B5EF4-FFF2-40B4-BE49-F238E27FC236}">
                <a16:creationId xmlns:a16="http://schemas.microsoft.com/office/drawing/2014/main" id="{6C485635-FD1D-40C1-823F-47DA80DA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 = sannolikhet · konsekvens</a:t>
            </a:r>
          </a:p>
        </p:txBody>
      </p:sp>
      <p:sp>
        <p:nvSpPr>
          <p:cNvPr id="11" name="Poängen är ett mått i den angivna övningsmatrisen. Siffrorna är b">
            <a:extLst xmlns:a="http://schemas.openxmlformats.org/drawingml/2006/main">
              <a:ext uri="{FF2B5EF4-FFF2-40B4-BE49-F238E27FC236}">
                <a16:creationId xmlns:a16="http://schemas.microsoft.com/office/drawing/2014/main" id="{8F75B917-9D88-4175-B1CD-D394F097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Poängen gäller bara i den här matrisen. Siffrorna är uppskattningar och har ingen enhet.</a:t>
            </a:r>
          </a:p>
        </p:txBody>
      </p:sp>
      <p:sp>
        <p:nvSpPr>
          <p:cNvPr id="12" name="Förutsättningar: Före: 3 och 4. Efter: 1 och 4. Ingen godkännande">
            <a:extLst xmlns:a="http://schemas.openxmlformats.org/drawingml/2006/main">
              <a:ext uri="{FF2B5EF4-FFF2-40B4-BE49-F238E27FC236}">
                <a16:creationId xmlns:a16="http://schemas.microsoft.com/office/drawing/2014/main" id="{7B09E293-2E30-406B-9E91-D8D929D9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Före: 3 och 4. Efter: 1 och 4. Det finns ingen gräns för vad som är godtagbart.</a:t>
            </a:r>
          </a:p>
        </p:txBody>
      </p:sp>
      <p:sp>
        <p:nvSpPr>
          <p:cNvPr id="13" name="Arbetsgång: Multiplicera före och efter. Förklara varför lägre po">
            <a:extLst xmlns:a="http://schemas.openxmlformats.org/drawingml/2006/main">
              <a:ext uri="{FF2B5EF4-FFF2-40B4-BE49-F238E27FC236}">
                <a16:creationId xmlns:a16="http://schemas.microsoft.com/office/drawing/2014/main" id="{EB4CAF30-770B-43D3-8963-4775A3575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poängen före och efter och förklara varför en lägre poäng inte bevisar att kraven är uppfyllda.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D981A6C-973C-44D9-A8E2-AD2BB990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15478b7d3347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58A76544-05C0-4F79-85F6-783AF162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3.8</a:t>
            </a:r>
          </a:p>
        </p:txBody>
      </p:sp>
      <p:sp>
        <p:nvSpPr>
          <p:cNvPr id="3" name="Riskpoäng">
            <a:extLst xmlns:a="http://schemas.openxmlformats.org/drawingml/2006/main">
              <a:ext uri="{FF2B5EF4-FFF2-40B4-BE49-F238E27FC236}">
                <a16:creationId xmlns:a16="http://schemas.microsoft.com/office/drawing/2014/main" id="{04268EC0-F906-4607-ACD3-5273C5BC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</a:t>
            </a:r>
          </a:p>
        </p:txBody>
      </p:sp>
      <p:sp>
        <p:nvSpPr>
          <p:cNvPr id="4" name="I en övningsmatris är sannolikhet 3 och konsekvens 4. Riskpoäng d">
            <a:extLst xmlns:a="http://schemas.openxmlformats.org/drawingml/2006/main">
              <a:ext uri="{FF2B5EF4-FFF2-40B4-BE49-F238E27FC236}">
                <a16:creationId xmlns:a16="http://schemas.microsoft.com/office/drawing/2014/main" id="{64180D46-EDA9-40CD-AB92-9B9D5DCE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riskmatris för övningen är sannolikheten 3 och konsekvensen 4. Riskpoängen är produkten av de två. Efter en åtgärd bedöms värdena till 1 och 4. Beräkna poängen och förklara vad den inte säger.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53C0BFF-0567-4230-94E4-013D0644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03D25D12-6CFB-4B4D-8908-12324DBD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67bd89ad6c43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80E66CBD-2745-4F56-9461-B06C464F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3.9</a:t>
            </a:r>
          </a:p>
        </p:txBody>
      </p:sp>
      <p:sp>
        <p:nvSpPr>
          <p:cNvPr id="10" name="Åtgärd = vem, vad, hur och verifierat resultat">
            <a:extLst xmlns:a="http://schemas.openxmlformats.org/drawingml/2006/main">
              <a:ext uri="{FF2B5EF4-FFF2-40B4-BE49-F238E27FC236}">
                <a16:creationId xmlns:a16="http://schemas.microsoft.com/office/drawing/2014/main" id="{C53F7CBF-B4D1-409E-9649-BEA5AC66E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= vem, vad, hur och verifierat resultat</a:t>
            </a:r>
          </a:p>
        </p:txBody>
      </p:sp>
      <p:sp>
        <p:nvSpPr>
          <p:cNvPr id="11" name="En uppföljningsbar åtgärd behöver objekt, ansvarig, kontrollmetod">
            <a:extLst xmlns:a="http://schemas.openxmlformats.org/drawingml/2006/main">
              <a:ext uri="{FF2B5EF4-FFF2-40B4-BE49-F238E27FC236}">
                <a16:creationId xmlns:a16="http://schemas.microsoft.com/office/drawing/2014/main" id="{7A6AC77E-9387-44AD-A7D5-F74262C7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att en åtgärd ska kunna följas upp behövs objekt, ansvarig, kontrollmetod och ett redovisat resultat.</a:t>
            </a:r>
          </a:p>
        </p:txBody>
      </p:sp>
      <p:sp>
        <p:nvSpPr>
          <p:cNvPr id="12" name="Förutsättningar: Den ursprungliga texten är ”kontrollera kabeln”.">
            <a:extLst xmlns:a="http://schemas.openxmlformats.org/drawingml/2006/main">
              <a:ext uri="{FF2B5EF4-FFF2-40B4-BE49-F238E27FC236}">
                <a16:creationId xmlns:a16="http://schemas.microsoft.com/office/drawing/2014/main" id="{6B51565F-201C-4069-9061-80CAA798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Texten är ”kontrollera kabeln”. Kabeltyp och metod är inte angivna ännu.</a:t>
            </a:r>
          </a:p>
        </p:txBody>
      </p:sp>
      <p:sp>
        <p:nvSpPr>
          <p:cNvPr id="13" name="Arbetsgång: Skriv en tydligare mall. Markera att tillämplig instr">
            <a:extLst xmlns:a="http://schemas.openxmlformats.org/drawingml/2006/main">
              <a:ext uri="{FF2B5EF4-FFF2-40B4-BE49-F238E27FC236}">
                <a16:creationId xmlns:a16="http://schemas.microsoft.com/office/drawing/2014/main" id="{CED91907-5CFA-49ED-9B27-D33253EA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tydligare formulering och ange att den gällande instruktionen bestämmer metod och vad som är godkänt.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B1212A-12C0-4E97-836E-6BCB2C0A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94d4b35e2042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DDA45B2B-AA44-42D6-A921-892FBCDA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3.9</a:t>
            </a:r>
          </a:p>
        </p:txBody>
      </p:sp>
      <p:sp>
        <p:nvSpPr>
          <p:cNvPr id="3" name="Åtgärdens verifiering">
            <a:extLst xmlns:a="http://schemas.openxmlformats.org/drawingml/2006/main">
              <a:ext uri="{FF2B5EF4-FFF2-40B4-BE49-F238E27FC236}">
                <a16:creationId xmlns:a16="http://schemas.microsoft.com/office/drawing/2014/main" id="{CDE9B538-4349-4411-B4A4-5DA2CD0B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 av åtgärden</a:t>
            </a:r>
          </a:p>
        </p:txBody>
      </p:sp>
      <p:sp>
        <p:nvSpPr>
          <p:cNvPr id="4" name="Riskraden säger ”kontrollera kabeln”. Skriv en mer användbar form">
            <a:extLst xmlns:a="http://schemas.openxmlformats.org/drawingml/2006/main">
              <a:ext uri="{FF2B5EF4-FFF2-40B4-BE49-F238E27FC236}">
                <a16:creationId xmlns:a16="http://schemas.microsoft.com/office/drawing/2014/main" id="{0C2375E4-3051-42D8-A835-8ABC3A1F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Riskraden säger ”kontrollera kabeln”. Skriv om den så att det framgår vem som ansvarar och vad resultatet ska bli.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B5226D3-7AEC-4288-8172-E260FEE7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F3674DB-A29C-4730-BFE6-61B30514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6e84521c5142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8A9444D1-0E40-430C-A8F0-DE177C29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3.10</a:t>
            </a:r>
          </a:p>
        </p:txBody>
      </p:sp>
      <p:sp>
        <p:nvSpPr>
          <p:cNvPr id="10" name="Start kräver verifierade förutsättningar för vald metod">
            <a:extLst xmlns:a="http://schemas.openxmlformats.org/drawingml/2006/main">
              <a:ext uri="{FF2B5EF4-FFF2-40B4-BE49-F238E27FC236}">
                <a16:creationId xmlns:a16="http://schemas.microsoft.com/office/drawing/2014/main" id="{552E455B-F1ED-4AA1-BCA8-3F039A3A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 kräver verifierade förutsättningar för vald metod</a:t>
            </a:r>
          </a:p>
        </p:txBody>
      </p:sp>
      <p:sp>
        <p:nvSpPr>
          <p:cNvPr id="11" name="Tillgänglig skyddsutrustning löser inte oklar energitillförsel ti">
            <a:extLst xmlns:a="http://schemas.openxmlformats.org/drawingml/2006/main">
              <a:ext uri="{FF2B5EF4-FFF2-40B4-BE49-F238E27FC236}">
                <a16:creationId xmlns:a16="http://schemas.microsoft.com/office/drawing/2014/main" id="{6398231E-E5CA-4936-AEB7-0F3B62F8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det som är verifierat med det som den valda arbetsmetoden kräver.</a:t>
            </a:r>
          </a:p>
        </p:txBody>
      </p:sp>
      <p:sp>
        <p:nvSpPr>
          <p:cNvPr id="12" name="Förutsättningar: Två matningar är identifierade men bara en verif">
            <a:extLst xmlns:a="http://schemas.openxmlformats.org/drawingml/2006/main">
              <a:ext uri="{FF2B5EF4-FFF2-40B4-BE49-F238E27FC236}">
                <a16:creationId xmlns:a16="http://schemas.microsoft.com/office/drawing/2014/main" id="{71DDFDFE-AC77-4CA0-B0FC-223B0D27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matningar är kända, men bara den ena är kontrollerad. Arbetet planeras som arbete utan spänning.</a:t>
            </a:r>
          </a:p>
        </p:txBody>
      </p:sp>
      <p:sp>
        <p:nvSpPr>
          <p:cNvPr id="13" name="Arbetsgång: Jämför kända kontroller med arbetsmetodens förutsättn">
            <a:extLst xmlns:a="http://schemas.openxmlformats.org/drawingml/2006/main">
              <a:ext uri="{FF2B5EF4-FFF2-40B4-BE49-F238E27FC236}">
                <a16:creationId xmlns:a16="http://schemas.microsoft.com/office/drawing/2014/main" id="{6EDE76DB-FA78-4A30-BEEB-541DE9B8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kända kontroller med arbetsmetodens förutsättningar. Ange vad som måste klarläggas före start.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2828EB7B-BAC0-4EDE-97CA-805005FE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cc3166bde943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30A7BF47-D8E9-4F2C-BF04-F4509ED4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3.10</a:t>
            </a:r>
          </a:p>
        </p:txBody>
      </p:sp>
      <p:sp>
        <p:nvSpPr>
          <p:cNvPr id="3" name="Samlad bedömning">
            <a:extLst xmlns:a="http://schemas.openxmlformats.org/drawingml/2006/main">
              <a:ext uri="{FF2B5EF4-FFF2-40B4-BE49-F238E27FC236}">
                <a16:creationId xmlns:a16="http://schemas.microsoft.com/office/drawing/2014/main" id="{35D3762E-A1C5-496A-8AE4-F4E8C65C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Samlad bedömning</a:t>
            </a:r>
          </a:p>
        </p:txBody>
      </p:sp>
      <p:sp>
        <p:nvSpPr>
          <p:cNvPr id="4" name="En grupp har identifierat två matningar men kan bara verifiera en">
            <a:extLst xmlns:a="http://schemas.openxmlformats.org/drawingml/2006/main">
              <a:ext uri="{FF2B5EF4-FFF2-40B4-BE49-F238E27FC236}">
                <a16:creationId xmlns:a16="http://schemas.microsoft.com/office/drawing/2014/main" id="{426CBFCE-3A9B-4D99-859E-CAFFDDA2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grupp har hittat två matningar men kan bara kontrollera den ena. Skyddsutrustning finns. Kan arbetet börja som arbete utan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CAC09A9-3292-4998-B7C9-D1D7E6D0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6EBBC62F-B37F-45C2-856F-6B350FC9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9ef88741b4d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5EA20242-CADF-4222-B7EE-3052DFD2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kontroll visar att din viktigaste skyddsåtgärd faktiskt fu">
            <a:extLst xmlns:a="http://schemas.openxmlformats.org/drawingml/2006/main">
              <a:ext uri="{FF2B5EF4-FFF2-40B4-BE49-F238E27FC236}">
                <a16:creationId xmlns:a16="http://schemas.microsoft.com/office/drawing/2014/main" id="{4949C8D9-16D9-4897-BE8A-3C3CAA29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kontroll visar att din viktigaste skyddsåtgärd faktiskt fungerar?</a:t>
            </a:r>
          </a:p>
        </p:txBody>
      </p:sp>
      <p:sp>
        <p:nvSpPr>
          <p:cNvPr id="4" name="Lämna riskbedömningen senast söndag 18 oktober. Ange arbetsgräns,">
            <a:extLst xmlns:a="http://schemas.openxmlformats.org/drawingml/2006/main">
              <a:ext uri="{FF2B5EF4-FFF2-40B4-BE49-F238E27FC236}">
                <a16:creationId xmlns:a16="http://schemas.microsoft.com/office/drawing/2014/main" id="{C068253E-278C-495D-B83C-3C93A81D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riskbedömningen senast söndag 18 oktober. Ange arbetsgräns, faror, åtgärder, ansvar, kvarstående risk och kontrollerad regelhänvisning.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23C3589-CABB-4A58-8CB3-B1AE272C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ea66f6d9c34b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EBD5BB4A-7B56-4679-BB26-AFDD67EB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76F5B547-2EA9-439A-94BD-802AF154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9133E1B3-409B-4F1C-86B9-CE718C44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6a9691bcba04ca9"/>
              </a:rPr>
              <a:t>SEK: SS-EN 50110-1, utgåva 4:2024</a:t>
            </a:r>
          </a:p>
        </p:txBody>
      </p:sp>
      <p:sp>
        <p:nvSpPr>
          <p:cNvPr id="5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FCF99F97-D7EB-41BF-844C-A2EDE3A8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d23dde3dbcb448c"/>
              </a:rPr>
              <a:t>Transportstyrelsen: regler för el ombord</a:t>
            </a:r>
          </a:p>
        </p:txBody>
      </p:sp>
      <p:sp>
        <p:nvSpPr>
          <p:cNvPr id="6" name="Transportstyrelsen: elektriska installationer">
            <a:extLst xmlns:a="http://schemas.openxmlformats.org/drawingml/2006/main">
              <a:ext uri="{FF2B5EF4-FFF2-40B4-BE49-F238E27FC236}">
                <a16:creationId xmlns:a16="http://schemas.microsoft.com/office/drawing/2014/main" id="{8CFA32FA-3499-4541-A3D0-7C54404A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d59c31fa9e64e82"/>
              </a:rPr>
              <a:t>Transportstyrelsen: elektriska installationer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2BF1835-DE22-4F64-8E1F-FA02CC07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2026-09-20T20:09:49.1250000Z</dcterms:created>
  <dcterms:modified xsi:type="dcterms:W3CDTF">2026-09-20T20:09:49.1250000Z</dcterms:modified>
</coreProperties>
</file>