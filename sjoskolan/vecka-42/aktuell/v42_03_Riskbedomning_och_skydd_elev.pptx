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7c34ddacd4546b1" Type="http://schemas.openxmlformats.org/officeDocument/2006/relationships/officeDocument" Target="ppt/presentation.xml"/><Relationship Id="R861db07599aa41dd" Type="http://schemas.openxmlformats.org/officeDocument/2006/relationships/extended-properties" Target="docProps/app.xml"/><Relationship Id="Rd8cf384cba124e9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a38d8fb4f6ec40e4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ed11355ea2543db" Type="http://schemas.openxmlformats.org/officeDocument/2006/relationships/theme" Target="theme/theme1.xml"/><Relationship Id="R4a30431852bc4203" Type="http://schemas.openxmlformats.org/officeDocument/2006/relationships/presProps" Target="presProps.xml"/><Relationship Id="R59b04d653c184694" Type="http://schemas.openxmlformats.org/officeDocument/2006/relationships/tableStyles" Target="tableStyles.xml"/><Relationship Id="Ra38d8fb4f6ec40e4" Type="http://schemas.openxmlformats.org/officeDocument/2006/relationships/slideMaster" Target="slideMasters/slideMaster1.xml"/><Relationship Id="Rba35c611fa944afe" Type="http://schemas.openxmlformats.org/officeDocument/2006/relationships/viewProps" Target="viewProp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e9bbca99fd0e4bf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bed5ff74e9b430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d90e2e815ac47c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599dc8b372340a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7876e5b8ebd495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9291271a5e94ac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c894096355d480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8fa3bb3d3b84b8b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8b9ffc4a04cc45db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db49676138543fe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fd61dd6cc9ae4a5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71AF29-9BF1-473B-AFA6-17086F16A4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8C47869-AB2E-4353-993A-C5F3CBCD7A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4BDD63-2879-4553-A7D4-C8B90F669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7559E2-D642-40B2-A622-29E6C6C09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BCBF1D-E8D4-4C02-B339-40A7E12B7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22FDD0-541F-4732-A589-6E09DA58B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9FD4EB-ED93-4F84-9A20-8F3AF861C5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7B3B2F-39C7-4AB3-B336-4AA52F5371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14936C-5A60-4749-9BA4-077B860C9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221E00-8DF1-4F1B-832D-71DC043B5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2DB1BD-E287-4420-8511-29126B061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B11597-97EC-49B5-A400-7D26520A3C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742E12-71EE-4A0A-A25A-482AF08CB5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99B004-C36A-4FB2-9F9D-CE473319A9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7C9783-743E-4094-A2AE-9E44E3D473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C4FC59-7B72-4123-8378-0EA508843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7F9AEE-67E4-463F-959F-E9E3A1B888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354C6D0-6530-44C0-8216-34BD311A97A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428CFC9-6708-459E-B81E-1E9C142577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003C71-1529-40B2-8C48-8F715F571D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643222D-12A8-4E31-8062-7D5BCCBAB7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7D2405-3A74-4011-A349-9548796B9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8F98B1-4335-49A0-A5DC-F7821F48D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11721C-4555-47B9-A29D-0F448969C4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2D7DE53-B347-45DD-AFFA-3E8BE03250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F97C298-A28D-4A26-BDCA-B098B846E5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9775CF6-BCDA-455B-8823-96F499D329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36C5186-AD15-4D60-94C6-61F1173F25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9823F44-4193-4A09-BFAF-ED3CD7668F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F9FE2D-754C-44B3-B95C-26D7D5C75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BD55E16-C4C4-4E3D-A0B4-2831B64AB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8325CBA-1C76-41B1-899E-BE2E85DBB7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41280AB-E4E6-40DF-AAAA-D319DDAE7A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AB46744-49A1-4DBC-9FD7-6DAC1E5B0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8BE22B4-F4D3-45EC-8704-71421CA0A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07804CA-1F56-49BC-A4BE-414873B51D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C616F8-21C9-44E4-AE61-31E60C006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3E4261-CE3E-4ACE-850C-97041401DE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EF0A03-62CA-44B8-B680-52B1168AC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26F306-817F-41C5-8A16-96C7343CE1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2F4B232-2E06-41D6-B343-B9F3343442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5369E5-14C4-43E7-8C70-94F9D8946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D77C1B-88A0-480F-A3F3-2C46ED54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0DD105B-4990-483D-9F9F-A9235A346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207939-C386-457A-BB29-427E4DC69A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3222363-8D26-4BF7-AEF5-9A8D193537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AD7074-23A8-4F9E-B387-FF125010E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74EEA3-8E26-4876-9CCC-AEB28DB19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1926D-3764-4E58-9CFE-1C39C0C59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EA9798-D720-420B-B587-FB2D341F8B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280F96-07A9-471D-BB10-6FD8F834C8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65504D-A0FC-4E9E-8009-F569A5C984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1D87B-E274-4EF8-9A16-0DB1EAB639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4ED1D95-F8F3-4745-B8E4-98B6A31BF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93952F-F53B-42A5-B3B5-39F8406C72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05298D-E759-46A6-B3C3-B7B73450F0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DC9778-2E8A-4C7F-84B7-05E3D6E237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066A76-6749-4154-81E1-8128725557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62cd79811f54438" Type="http://schemas.openxmlformats.org/officeDocument/2006/relationships/slideLayout" Target="../slideLayouts/slideLayout10.xml"/><Relationship Id="R170b8970d5204efa" Type="http://schemas.openxmlformats.org/officeDocument/2006/relationships/slideLayout" Target="../slideLayouts/slideLayout9.xml"/><Relationship Id="R7099d2b2aa324873" Type="http://schemas.openxmlformats.org/officeDocument/2006/relationships/theme" Target="theme/theme2.xml"/><Relationship Id="R7be85162f4ec45ce" Type="http://schemas.openxmlformats.org/officeDocument/2006/relationships/slideLayout" Target="../slideLayouts/slideLayout8.xml"/><Relationship Id="R82b356f2f0c249f8" Type="http://schemas.openxmlformats.org/officeDocument/2006/relationships/slideLayout" Target="../slideLayouts/slideLayout4.xml"/><Relationship Id="R83d3169839ae4a0d" Type="http://schemas.openxmlformats.org/officeDocument/2006/relationships/slideLayout" Target="../slideLayouts/slideLayout7.xml"/><Relationship Id="Ra1c6ad5e34ce4900" Type="http://schemas.openxmlformats.org/officeDocument/2006/relationships/slideLayout" Target="../slideLayouts/slideLayout5.xml"/><Relationship Id="Rb613688b8cb2457e" Type="http://schemas.openxmlformats.org/officeDocument/2006/relationships/slideLayout" Target="../slideLayouts/slideLayout1.xml"/><Relationship Id="Rc5987082cc9f429b" Type="http://schemas.openxmlformats.org/officeDocument/2006/relationships/slideLayout" Target="../slideLayouts/slideLayout2.xml"/><Relationship Id="Re60a86bc3ab141e2" Type="http://schemas.openxmlformats.org/officeDocument/2006/relationships/slideLayout" Target="../slideLayouts/slideLayout3.xml"/><Relationship Id="Rf39fc677f541417c" Type="http://schemas.openxmlformats.org/officeDocument/2006/relationships/slideLayout" Target="../slideLayouts/slideLayout11.xml"/><Relationship Id="Rf7c405d8b6a04f8d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772F057-7340-4065-8845-BB8E9AD55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DE1F7C-60E1-400E-B38F-52BF24F21A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15F1D9-83F8-4DB0-BD2B-BDD3E15813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5894D5-5CF7-4EDE-B022-CF2BDFF8D0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0839A-B350-41EB-9FE9-191EB435D5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3688b8cb2457e"/>
    <p:sldLayoutId xmlns:r="http://schemas.openxmlformats.org/officeDocument/2006/relationships" id="2147483650" r:id="Rc5987082cc9f429b"/>
    <p:sldLayoutId xmlns:r="http://schemas.openxmlformats.org/officeDocument/2006/relationships" id="2147483651" r:id="Re60a86bc3ab141e2"/>
    <p:sldLayoutId xmlns:r="http://schemas.openxmlformats.org/officeDocument/2006/relationships" id="2147483652" r:id="R82b356f2f0c249f8"/>
    <p:sldLayoutId xmlns:r="http://schemas.openxmlformats.org/officeDocument/2006/relationships" id="2147483653" r:id="Ra1c6ad5e34ce4900"/>
    <p:sldLayoutId xmlns:r="http://schemas.openxmlformats.org/officeDocument/2006/relationships" id="2147483654" r:id="Rf7c405d8b6a04f8d"/>
    <p:sldLayoutId xmlns:r="http://schemas.openxmlformats.org/officeDocument/2006/relationships" id="2147483655" r:id="R83d3169839ae4a0d"/>
    <p:sldLayoutId xmlns:r="http://schemas.openxmlformats.org/officeDocument/2006/relationships" id="2147483656" r:id="R7be85162f4ec45ce"/>
    <p:sldLayoutId xmlns:r="http://schemas.openxmlformats.org/officeDocument/2006/relationships" id="2147483657" r:id="R170b8970d5204efa"/>
    <p:sldLayoutId xmlns:r="http://schemas.openxmlformats.org/officeDocument/2006/relationships" id="2147483658" r:id="R162cd79811f54438"/>
    <p:sldLayoutId xmlns:r="http://schemas.openxmlformats.org/officeDocument/2006/relationships" id="2147483659" r:id="Rf39fc677f541417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j22az.github.io/sjoskolan/vecka-42/aktuell/Del_3.html" TargetMode="External"/><Relationship Id="rId3" Type="http://schemas.openxmlformats.org/officeDocument/2006/relationships/hyperlink" Target="https://nj22az.github.io/sjoskolan/vecka-42/aktuell/Transportstyrelsen_riktlinjer_riskanalysarbete.pdf" TargetMode="External"/><Relationship Id="rId4" Type="http://schemas.openxmlformats.org/officeDocument/2006/relationships/hyperlink" Target="https://www.transportstyrelsen.se/sv/om-oss/dina-rattigheter-lagar-och-regler/lagar-och-regler/regler-for-sjofart/regler-for-nationell-sjofart/regler-kompletterade-upplysningar/elektrisk-utrustning-och-elinstallationer/" TargetMode="External"/><Relationship Id="rId5" Type="http://schemas.openxmlformats.org/officeDocument/2006/relationships/hyperlink" Target="https://elstandard.se/documents/preview/3246401" TargetMode="External"/><Relationship Id="rId6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mslag_v42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9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gradFill rotWithShape="1">
            <a:gsLst>
              <a:gs pos="0">
                <a:srgbClr val="001427">
                  <a:alpha val="70000"/>
                </a:srgbClr>
              </a:gs>
              <a:gs pos="45000">
                <a:srgbClr val="001427">
                  <a:alpha val="55000"/>
                </a:srgbClr>
              </a:gs>
              <a:gs pos="75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1645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Riskbedömning och skydd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66928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Från identifierad fara till beslut och verifierad åtgärd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58521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Vecka 42 · Fredag 16 oktober · 09.00–11.00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585216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Del 3 av 3 · Elteknik och ellära</a:t>
            </a:r>
          </a:p>
        </p:txBody>
      </p:sp>
      <p:sp>
        <p:nvSpPr>
          <p:cNvPr id="8" name="Dag: Fredag 16 oktober"/>
          <p:cNvSpPr/>
          <p:nvPr/>
        </p:nvSpPr>
        <p:spPr>
          <a:xfrm>
            <a:off x="548640" y="411480"/>
            <a:ext cx="2944368" cy="438912"/>
          </a:xfrm>
          <a:prstGeom prst="roundRect">
            <a:avLst>
              <a:gd name="adj" fmla="val 18000"/>
            </a:avLst>
          </a:prstGeom>
          <a:solidFill>
            <a:srgbClr val="B51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Fredag 16 oktober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Kursplanen i 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453896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17320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ser till att felsökning och kontroll görs rätt och skrivs ner i ett protokoll.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7128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30552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arbetar elsäkert när du mäter, kontrollerar och letar fel.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843784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känner igen vanliga komponenter, skydd och mätinstrument och vet vad de gör.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94176"/>
            <a:ext cx="80467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Efter lektionen kan 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51376"/>
            <a:ext cx="8046720" cy="1746503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skriva en riskrad med fara, händelse, konsekvens och en åtgärd som går att verifiera.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välja skydd i rätt ordning: minska faran först, skyddsutrustning sist.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ange villkor för start, avbrott och återlämning.</a:t>
            </a:r>
          </a:p>
        </p:txBody>
      </p:sp>
      <p:pic>
        <p:nvPicPr>
          <p:cNvPr id="12" name="Picture 11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Startfråga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Vad saknas i en riskbedömning som bara säger ”använd skyddshandskar”?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74920"/>
            <a:ext cx="80467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064F91"/>
                </a:solidFill>
                <a:latin typeface="Calibri"/>
              </a:rPr>
              <a:t>Skriv ett ord i chatten om vad som saknas.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Så går lektionen till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417320"/>
            <a:ext cx="6720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Start och startfråga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71675"/>
            <a:ext cx="1005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71675"/>
            <a:ext cx="6720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1: Från fara till beslut (avsnitt 1–3) och två exempel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26030"/>
            <a:ext cx="1005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26030"/>
            <a:ext cx="6720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 3.1, 3.2 och 3.3 tillsammans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80385"/>
            <a:ext cx="8046720" cy="499491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3080385"/>
            <a:ext cx="1005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080385"/>
            <a:ext cx="6720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34740"/>
            <a:ext cx="1005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634740"/>
            <a:ext cx="6720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2: Provare, jordning och stoppvillkor (avsnitt 4–6) och ett exempel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89095"/>
            <a:ext cx="1005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189095"/>
            <a:ext cx="6720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 3.4 och 3.5 tillsammans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43450"/>
            <a:ext cx="1005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743450"/>
            <a:ext cx="6720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Veckans labb: Välj CAT-klass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97805"/>
            <a:ext cx="1005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297805"/>
            <a:ext cx="6720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Avslutsfråga, sammanfattning och det här gör du nu</a:t>
            </a:r>
          </a:p>
        </p:txBody>
      </p:sp>
      <p:pic>
        <p:nvPicPr>
          <p:cNvPr id="21" name="Picture 20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Från identifierad fara till beslut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Från observation till startbeslut i fyra steg.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Observation: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det vi vet om arbetsplatsen eller utrustningen.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Riskbedömning: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möjliga händelser och konsekvenser.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Åtgärd: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en ansvarig och ett sätt att verifiera effekten.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Startbeslut: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villkoren för det avgränsade arbetet är uppfyllda.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  ·  Del 3 · avsnitt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Arbetsmomentets gränser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Fara, händelse, konsekvens, åtgärd.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Riskbedömningen börjar med en konkret uppgift och arbetsplats.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Ange vad som ingår och vad som ligger utanför uppdraget.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Exempel: en skadad kabel kan ge ett spänningsförande hölje.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Åtgärden behöver hindra både exponering och återanvändning.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  ·  Del 3 · avsnitt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Prioritering av skydd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Skyddsutrustning väljs mot den bedömda risken.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Planeringen ska i första hand minska eller avlägsna faran.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Personlig skyddsutrustning kompletterar övriga åtgärder.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Vanliga arbetshandskar är inte automatiskt elektriskt isolerande.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Skydd mot ljusbåge behöver rätt klassning och användning.</a:t>
            </a:r>
          </a:p>
        </p:txBody>
      </p:sp>
      <p:pic>
        <p:nvPicPr>
          <p:cNvPr id="5" name="Figur: Skyddsåtgärder i prioritetsordning, mest effektivt först: ta bort faran (arbete utan spänning), ersätt (lägre spänning, säkrare utrustning), tekniska skydd (avskärmning, isolering), organisatoriska åtgärder (beredning, instruktion, behörighet)" descr="Skyddsåtgärder i prioritetsordning, mest effektivt först: ta bort faran (arbete utan spänning), ersätt (lägre spänning, säkrare utrustning), tekniska skydd (avskärmning, isolering), organisatoriska åtgärder (beredning, instruktion, behörighet) och sist personlig skyddsutrustning, som komplettera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58707"/>
            <a:ext cx="3794760" cy="3706345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  ·  Del 3 · avsnitt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en användbar riskrad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900" b="0" i="1">
                <a:solidFill>
                  <a:srgbClr val="4A4A4A"/>
                </a:solidFill>
                <a:latin typeface="Calibri"/>
              </a:rPr>
              <a:t>Moment: undersöka den frånskilda kopplingslådan K4. En möjlig reservmatning är ännu inte identifierad.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Fara, händelse, konsekvens och verifierbar åtgärd.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</a:t>
            </a:r>
            <a:r>
              <a:rPr sz="2000" b="1" i="0">
                <a:solidFill>
                  <a:srgbClr val="111111"/>
                </a:solidFill>
                <a:latin typeface="Calibri"/>
              </a:rPr>
              <a:t>Fara: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möjlig kvarvarande energitillförsel till K4.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</a:t>
            </a:r>
            <a:r>
              <a:rPr sz="2000" b="1" i="0">
                <a:solidFill>
                  <a:srgbClr val="111111"/>
                </a:solidFill>
                <a:latin typeface="Calibri"/>
              </a:rPr>
              <a:t>Händelse och följd: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beröring kan ge strömgenomgång.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</a:t>
            </a:r>
            <a:r>
              <a:rPr sz="2000" b="1" i="0">
                <a:solidFill>
                  <a:srgbClr val="111111"/>
                </a:solidFill>
                <a:latin typeface="Calibri"/>
              </a:rPr>
              <a:t>Åtgärd: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en utsedd ansvarig kartlägger matningen enligt aktuell plan.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Startvillkor: alla berörda källor och skyddsåtgärder är verifierade. Oklar matning ger stopp.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  ·  Del 3 · exempel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 på riskrad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900" b="0" i="1">
                <a:solidFill>
                  <a:srgbClr val="4A4A4A"/>
                </a:solidFill>
                <a:latin typeface="Calibri"/>
              </a:rPr>
              <a:t>Moment: inspektion av en frånskild kopplingslåda i fuktig miljö.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Åtgärd: kartläggning, säkring och verifiering enligt plan.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</a:t>
            </a:r>
            <a:r>
              <a:rPr sz="2000" b="1" i="0">
                <a:solidFill>
                  <a:srgbClr val="111111"/>
                </a:solidFill>
                <a:latin typeface="Calibri"/>
              </a:rPr>
              <a:t>Fara: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alternativ matning och skadad isolering.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Ansvarig och kontrollresultat anges före startbesked.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Kvarstående osäkerhet om matningen innebär att arbetet väntar.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  ·  Del 3 · exempel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3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3.1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Arbetsgräns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34056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Fara och konsekvens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10712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410712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3.3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410712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Skyddsutrustning som enda åtgärd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8046720" cy="1673351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Fem minuter per övning. Skriv ditt svar i chatten. Ledtrådar och facit finns på delsidan.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nj22az.github.io/sjoskolan/vecka-42/aktuell/Del_3.html</a:t>
            </a:r>
          </a:p>
        </p:txBody>
      </p:sp>
      <p:pic>
        <p:nvPicPr>
          <p:cNvPr id="15" name="Picture 1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  ·  Del 3 · 4 Övningar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60520" y="2011680"/>
            <a:ext cx="822960" cy="73152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731520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4800" b="1" i="0">
                <a:solidFill>
                  <a:srgbClr val="111111"/>
                </a:solidFill>
                <a:latin typeface="Calibri"/>
              </a:rPr>
              <a:t>Paus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400" b="0" i="0">
                <a:solidFill>
                  <a:srgbClr val="4A4A4A"/>
                </a:solidFill>
                <a:latin typeface="Calibri"/>
              </a:rPr>
              <a:t>Vi fortsätter 10.00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Provare, låsning och märkning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2011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Instrumentets funktion måste vara tillförlitlig.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En tvåpolig spänningsprovare väljs för systemets spänning och kategori.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Låsning och märkning stöder skyddet mot återinkoppling.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Kontrollmetod, instrumentkontroll och arbetsgräns står i den lokala arbetsinstruktionen.</a:t>
            </a:r>
          </a:p>
        </p:txBody>
      </p:sp>
      <p:pic>
        <p:nvPicPr>
          <p:cNvPr id="5" name="Figur: Frånskiljare i läge 0 med hänglås och skylt (namn, datum, telefon). En tvåpolig spänningsprovare mot de utgående plintarna L1, L2, L3 och PE. Provaren kontrolleras före och efter mätningen: prova, mät, prova." descr="Frånskiljare i läge 0 med hänglås och skylt (namn, datum, telefon). En tvåpolig spänningsprovare mot de utgående plintarna L1, L2, L3 och PE. Provaren kontrolleras före och efter mätningen: prova, mät, prova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590" y="3520439"/>
            <a:ext cx="5360818" cy="2377440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  ·  Del 3 · avsnitt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Jordning och kortslutning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2011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Behov och utförande styrs av anläggning och metod.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Åtgärden kan skydda mot oavsiktlig återspänningssättning och andra elektriska risker i arbetsområdet.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Högspänning kräver särskild utrustning, kompetens och plan.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Kursfallet är en dokumentationsövning utan verkligt handhavande.</a:t>
            </a:r>
          </a:p>
        </p:txBody>
      </p:sp>
      <p:pic>
        <p:nvPicPr>
          <p:cNvPr id="5" name="Figur: Frånskiljare med synligt brytställe. Vid arbetsstället ett jordnings- och kortslutningsdon med klämmor på L1, L2 och L3 och jordledaren till jordskenan. Jordledaren ansluts först och tas bort sist." descr="Frånskiljare med synligt brytställe. Vid arbetsstället ett jordnings- och kortslutningsdon med klämmor på L1, L2 och L3 och jordledaren till jordskenan. Jordledaren ansluts först och tas bort sis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899" y="3520440"/>
            <a:ext cx="5684201" cy="2377440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  ·  Del 3 · avsnitt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Kvarstående risk och stoppvillkor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Villkor för start, avbrott och återlämning.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åtgärd behöver en ansvarig person och en verifiering.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osäker arbetsgräns eller ändrade förutsättningar kräver ett nytt beslut.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”Klart” ska betyda att de angivna kontrollerna är utförda.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Skriv hur avvikelser hanteras och kommuniceras.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  ·  Del 3 · avsnitt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riskpoäng med begränsning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1">
                <a:solidFill>
                  <a:srgbClr val="4A4A4A"/>
                </a:solidFill>
                <a:latin typeface="Calibri"/>
              </a:rPr>
              <a:t>En övningsmatris anger sannolikhet 5 och konsekvens 3. Efter åtgärd bedöms sannolikheten till 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069080" cy="3703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Riskpoäng = sannolikhet · konsekvens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1. Före: 5 · 3 = 15.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2. Efter: 2 · 3 = 6.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 i="0">
                <a:solidFill>
                  <a:srgbClr val="111111"/>
                </a:solidFill>
                <a:latin typeface="Calibri"/>
              </a:rPr>
              <a:t>Poängen sjunker i den här matrisen, men det säger inte hur mycket säkrare arbetet har blivit. Ingen tillåten gräns är given, så poängtalet visar inte att arbetet får starta.</a:t>
            </a:r>
          </a:p>
        </p:txBody>
      </p:sp>
      <p:pic>
        <p:nvPicPr>
          <p:cNvPr id="6" name="Figur: Riskmatris fem gånger fem med poäng sannolikhet gånger konsekvens. Före åtgärd sannolikhet 5 och konsekvens 3 (15), efter åtgärd sannolikhet 2 och konsekvens 3 (6). Ingen tillåten gräns är given." descr="Riskmatris fem gånger fem med poäng sannolikhet gånger konsekvens. Före åtgärd sannolikhet 5 och konsekvens 3 (15), efter åtgärd sannolikhet 2 och konsekvens 3 (6). Ingen tillåten gräns är give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166" y="2194559"/>
            <a:ext cx="3451066" cy="3611880"/>
          </a:xfrm>
          <a:prstGeom prst="rect">
            <a:avLst/>
          </a:prstGeom>
        </p:spPr>
      </p:pic>
      <p:pic>
        <p:nvPicPr>
          <p:cNvPr id="7" name="Picture 6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  ·  Del 3 · exempel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3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3.4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Lås och skylt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3.5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34056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Provare med skada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47872"/>
            <a:ext cx="8046720" cy="23500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Fem minuter per övning. Skriv ditt svar i chatten. Övning 3.6–3.10 gör du själv efter lektionen.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nj22az.github.io/sjoskolan/vecka-42/aktuell/Del_3.html</a:t>
            </a:r>
          </a:p>
        </p:txBody>
      </p:sp>
      <p:pic>
        <p:nvPicPr>
          <p:cNvPr id="12" name="Picture 11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  ·  Del 3 · 4 Övningar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Veckans labb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300" b="1" i="0">
                <a:solidFill>
                  <a:srgbClr val="064F91"/>
                </a:solidFill>
                <a:latin typeface="Calibri"/>
              </a:rPr>
              <a:t>Multimeterlabbet: Välj CAT-klass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8046720" cy="3337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Öppna Multimeterlabbet och välj övningen Välj CAT-klass.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Gör uppgifterna i ordning. Skriv en motivering till varje val.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Labben förbereder dig för inlämningsuppgift 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804672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nj22az.github.io/sjoskolan/multimetersimulator/?ovning=category</a:t>
            </a:r>
          </a:p>
        </p:txBody>
      </p:sp>
      <p:pic>
        <p:nvPicPr>
          <p:cNvPr id="7" name="Picture 6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Avslutsfråga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Vilken kontroll visar att din viktigaste skyddsåtgärd faktiskt fungerar?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804672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Lämna riskbedömningen i inlämningen senast i dag, fredag 16 oktober. Ange arbetsgräns, faror, åtgärder, ansvar, kvarstående risk och kontrollerad regelhänvisning.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Sammanfattning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En riskrad har fara, händelse, konsekvens och en åtgärd med ansvarig och verifiering.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Skydd i rätt ordning: minska eller ta bort faran först. Skyddsutrustning kompletterar.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Arbetet startar när villkoren är verifierade. Oklar matning eller ändrade förutsättningar ger stopp och nytt beslut.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Det här gör du nu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Läs del 3. Tryck på ”Jag har läst del 3” längst ned på sidan.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Gör övning 3.6–3.10 på delsidan. Ledtrådar och facit finns där.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Gör labben Välj CAT-klass i Multimeterlabbet.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4. Gör klart inlämningen i dag. Ladda ner PDF-filen och lämna in den i Google Classroom.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4A4A4A"/>
                </a:solidFill>
                <a:latin typeface="Calibri"/>
              </a:rPr>
              <a:t>Inlämningen senast i dag, fredag 16 oktober. Nästa vecka: vecka 43, Komponenter och skydd.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Källor och fortsatt läsning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2"/>
              </a:rPr>
              <a:t>Sjöskolan: vecka 42, del 3 Riskbedömning och skydd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3"/>
              </a:rPr>
              <a:t>Transportstyrelsen: Riktlinjer för riskanalysarbete, fartyg i nationell fart (2019)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4"/>
              </a:rPr>
              <a:t>Transportstyrelsen: elektrisk utrustning och elinstallationer på fartyg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5"/>
              </a:rPr>
              <a:t>SS-EN 50110-1 utgåva 4:2024, Skötsel av elektriska anläggningar (SEK Svensk Elstandard)</a:t>
            </a:r>
          </a:p>
        </p:txBody>
      </p:sp>
      <p:pic>
        <p:nvPicPr>
          <p:cNvPr id="8" name="Picture 7" descr="sidfo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Fredag · Riskbedömning och skydd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2026-09-20T20:09:37.2430000Z</dcterms:created>
  <dcterms:modified xsi:type="dcterms:W3CDTF">2026-09-20T20:09:37.2430000Z</dcterms:modified>
</coreProperties>
</file>