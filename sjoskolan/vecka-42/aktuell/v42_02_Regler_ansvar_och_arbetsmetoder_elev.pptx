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fffc39f2d8641c7" Type="http://schemas.openxmlformats.org/officeDocument/2006/relationships/officeDocument" Target="ppt/presentation.xml"/><Relationship Id="R4be1bc35cda445a2" Type="http://schemas.openxmlformats.org/package/2006/relationships/metadata/core-properties" Target="docProps/core.xml"/><Relationship Id="Ra80f2e96c0b049d1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640ff36bf8b4815"/>
  </p:sldMasterIdLst>
  <p:sldIdLst>
    <p:sldId id="256" r:id="R54ebf50525fd45f7"/>
    <p:sldId id="257" r:id="Rd36e777fcf2b4e53"/>
    <p:sldId id="258" r:id="R0b20062678984548"/>
    <p:sldId id="259" r:id="R16184c275cd14212"/>
    <p:sldId id="260" r:id="R31ad398cc7bc42b3"/>
    <p:sldId id="261" r:id="R2dcd3d92ce1842f9"/>
    <p:sldId id="262" r:id="R64103aacea6f44f7"/>
    <p:sldId id="263" r:id="R56c47c3fd9354573"/>
    <p:sldId id="264" r:id="Rdfb9d924cbf24c25"/>
    <p:sldId id="265" r:id="R0ed8761c5e8042e5"/>
    <p:sldId id="266" r:id="Rd9fcf4ed49934006"/>
    <p:sldId id="267" r:id="Rdbf226e33fc74fab"/>
    <p:sldId id="268" r:id="R9a192d11b4bd4221"/>
    <p:sldId id="269" r:id="R7bbc6bd5576f4f89"/>
    <p:sldId id="270" r:id="Rd488bacadced44ba"/>
    <p:sldId id="271" r:id="R68a48a5880304594"/>
    <p:sldId id="272" r:id="R912f1a43276046f9"/>
    <p:sldId id="273" r:id="R9f9260507d894ada"/>
    <p:sldId id="274" r:id="R6d7adac3217a4462"/>
    <p:sldId id="275" r:id="Rca2a9558da614114"/>
    <p:sldId id="276" r:id="R04528b5aae874468"/>
    <p:sldId id="277" r:id="Rdc299620761a4ff3"/>
    <p:sldId id="278" r:id="R4653225bac914c1d"/>
    <p:sldId id="279" r:id="R134b23bb7b144db2"/>
    <p:sldId id="280" r:id="R129dad26656d4761"/>
    <p:sldId id="281" r:id="Rbe2741e2ff7d4bc9"/>
    <p:sldId id="282" r:id="R98cb878c0b084746"/>
    <p:sldId id="283" r:id="R056882fc60154c72"/>
    <p:sldId id="284" r:id="R0d042e8e28684994"/>
    <p:sldId id="285" r:id="R9a1226493c524c71"/>
    <p:sldId id="286" r:id="R2500e8cbc89b4b59"/>
    <p:sldId id="287" r:id="R503067a7928c4843"/>
    <p:sldId id="288" r:id="R339ec4fb8e754032"/>
    <p:sldId id="289" r:id="R2f4e3faec2d34754"/>
    <p:sldId id="290" r:id="Rdf20fb277b12470f"/>
    <p:sldId id="291" r:id="Ra0b615b23b0c45ae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528b5aae874468" Type="http://schemas.openxmlformats.org/officeDocument/2006/relationships/slide" Target="slides/slide21.xml"/><Relationship Id="R056882fc60154c72" Type="http://schemas.openxmlformats.org/officeDocument/2006/relationships/slide" Target="slides/slide28.xml"/><Relationship Id="R0b20062678984548" Type="http://schemas.openxmlformats.org/officeDocument/2006/relationships/slide" Target="slides/slide3.xml"/><Relationship Id="R0d042e8e28684994" Type="http://schemas.openxmlformats.org/officeDocument/2006/relationships/slide" Target="slides/slide29.xml"/><Relationship Id="R0ed8761c5e8042e5" Type="http://schemas.openxmlformats.org/officeDocument/2006/relationships/slide" Target="slides/slide10.xml"/><Relationship Id="R129dad26656d4761" Type="http://schemas.openxmlformats.org/officeDocument/2006/relationships/slide" Target="slides/slide25.xml"/><Relationship Id="R134b23bb7b144db2" Type="http://schemas.openxmlformats.org/officeDocument/2006/relationships/slide" Target="slides/slide24.xml"/><Relationship Id="R16184c275cd14212" Type="http://schemas.openxmlformats.org/officeDocument/2006/relationships/slide" Target="slides/slide4.xml"/><Relationship Id="R2500e8cbc89b4b59" Type="http://schemas.openxmlformats.org/officeDocument/2006/relationships/slide" Target="slides/slide31.xml"/><Relationship Id="R2dcd3d92ce1842f9" Type="http://schemas.openxmlformats.org/officeDocument/2006/relationships/slide" Target="slides/slide6.xml"/><Relationship Id="R2f4e3faec2d34754" Type="http://schemas.openxmlformats.org/officeDocument/2006/relationships/slide" Target="slides/slide34.xml"/><Relationship Id="R31ad398cc7bc42b3" Type="http://schemas.openxmlformats.org/officeDocument/2006/relationships/slide" Target="slides/slide5.xml"/><Relationship Id="R339ec4fb8e754032" Type="http://schemas.openxmlformats.org/officeDocument/2006/relationships/slide" Target="slides/slide33.xml"/><Relationship Id="R4653225bac914c1d" Type="http://schemas.openxmlformats.org/officeDocument/2006/relationships/slide" Target="slides/slide23.xml"/><Relationship Id="R503067a7928c4843" Type="http://schemas.openxmlformats.org/officeDocument/2006/relationships/slide" Target="slides/slide32.xml"/><Relationship Id="R54ebf50525fd45f7" Type="http://schemas.openxmlformats.org/officeDocument/2006/relationships/slide" Target="slides/slide1.xml"/><Relationship Id="R56c47c3fd9354573" Type="http://schemas.openxmlformats.org/officeDocument/2006/relationships/slide" Target="slides/slide8.xml"/><Relationship Id="R64103aacea6f44f7" Type="http://schemas.openxmlformats.org/officeDocument/2006/relationships/slide" Target="slides/slide7.xml"/><Relationship Id="R68a48a5880304594" Type="http://schemas.openxmlformats.org/officeDocument/2006/relationships/slide" Target="slides/slide16.xml"/><Relationship Id="R6d7adac3217a4462" Type="http://schemas.openxmlformats.org/officeDocument/2006/relationships/slide" Target="slides/slide19.xml"/><Relationship Id="R7bbc6bd5576f4f89" Type="http://schemas.openxmlformats.org/officeDocument/2006/relationships/slide" Target="slides/slide14.xml"/><Relationship Id="R912f1a43276046f9" Type="http://schemas.openxmlformats.org/officeDocument/2006/relationships/slide" Target="slides/slide17.xml"/><Relationship Id="R98cb878c0b084746" Type="http://schemas.openxmlformats.org/officeDocument/2006/relationships/slide" Target="slides/slide27.xml"/><Relationship Id="R9a1226493c524c71" Type="http://schemas.openxmlformats.org/officeDocument/2006/relationships/slide" Target="slides/slide30.xml"/><Relationship Id="R9a192d11b4bd4221" Type="http://schemas.openxmlformats.org/officeDocument/2006/relationships/slide" Target="slides/slide13.xml"/><Relationship Id="R9f9260507d894ada" Type="http://schemas.openxmlformats.org/officeDocument/2006/relationships/slide" Target="slides/slide18.xml"/><Relationship Id="Ra0b615b23b0c45ae" Type="http://schemas.openxmlformats.org/officeDocument/2006/relationships/slide" Target="slides/slide36.xml"/><Relationship Id="Rafa5b71f3c304ba1" Type="http://schemas.openxmlformats.org/officeDocument/2006/relationships/theme" Target="theme/theme1.xml"/><Relationship Id="Rbe2741e2ff7d4bc9" Type="http://schemas.openxmlformats.org/officeDocument/2006/relationships/slide" Target="slides/slide26.xml"/><Relationship Id="Rca2a9558da614114" Type="http://schemas.openxmlformats.org/officeDocument/2006/relationships/slide" Target="slides/slide20.xml"/><Relationship Id="Rd36e777fcf2b4e53" Type="http://schemas.openxmlformats.org/officeDocument/2006/relationships/slide" Target="slides/slide2.xml"/><Relationship Id="Rd488bacadced44ba" Type="http://schemas.openxmlformats.org/officeDocument/2006/relationships/slide" Target="slides/slide15.xml"/><Relationship Id="Rd7be06892f8f4200" Type="http://schemas.openxmlformats.org/officeDocument/2006/relationships/tableStyles" Target="tableStyles.xml"/><Relationship Id="Rd9fcf4ed49934006" Type="http://schemas.openxmlformats.org/officeDocument/2006/relationships/slide" Target="slides/slide11.xml"/><Relationship Id="Rdbf226e33fc74fab" Type="http://schemas.openxmlformats.org/officeDocument/2006/relationships/slide" Target="slides/slide12.xml"/><Relationship Id="Rdc299620761a4ff3" Type="http://schemas.openxmlformats.org/officeDocument/2006/relationships/slide" Target="slides/slide22.xml"/><Relationship Id="Rdf20fb277b12470f" Type="http://schemas.openxmlformats.org/officeDocument/2006/relationships/slide" Target="slides/slide35.xml"/><Relationship Id="Rdfb9d924cbf24c25" Type="http://schemas.openxmlformats.org/officeDocument/2006/relationships/slide" Target="slides/slide9.xml"/><Relationship Id="Re640ff36bf8b4815" Type="http://schemas.openxmlformats.org/officeDocument/2006/relationships/slideMaster" Target="slideMasters/slideMaster1.xml"/><Relationship Id="Rf3d5bd8ce60d4e58" Type="http://schemas.openxmlformats.org/officeDocument/2006/relationships/presProps" Target="presProps.xml"/><Relationship Id="Rffb54e68aa114c5a" Type="http://schemas.openxmlformats.org/officeDocument/2006/relationships/viewProps" Target="viewProps.xml"/></Relationships>
</file>

<file path=ppt/slideLayouts/_rels/slideLayout1.xml.rels><?xml version='1.0' encoding='UTF-8' standalone='yes'?>
<Relationships xmlns="http://schemas.openxmlformats.org/package/2006/relationships"><Relationship Id="Rd78f2ee3ea1f4fa6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90064c14c9bf4be8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62fce443bd11456d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eedeff317cc74316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7798dae06846484d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38211203a2d6494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3d52b5128bf40ea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5c0d3cfa5d044e45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e3037b49cf7460c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180cc2fc1cdc448d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d7d86009b3854c69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C204139-773B-42EB-8BBD-D1C3E7ECF03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01F476B-2DA6-45A0-BF72-B0AC0853768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1D0AA81-4A53-4812-BC9B-1C494D3F67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30DA761-C1C5-42B3-A728-EE110965129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94DDA29-CF67-4256-BBE0-12B657652C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2B0039-ECC6-4FF4-BD0E-26FB241708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999D45E-490E-4A9B-861B-204D0CAC99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1863769-4C75-4857-8511-45F1F9D559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E7EBF14-D368-4462-9676-BB0B490571C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6D6367E-040F-4F12-93C3-5CA3E5D040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EE17EF3-B4B6-462B-B5C3-485FB4A74C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38E033F-6AB9-445E-AFA9-520D85010A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C5DFCA5-E952-40D3-AABB-357FE2FDBA7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A88A484-281D-4E23-83B1-175936B904A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2821E2D-D63F-4C13-BEA5-9AFEDB5B483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16E35D-81BE-4FA6-BFC8-E4B29A0053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837F338-9557-44C3-851D-C4975523C35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4BF7D2D-8134-4D30-8B0E-F7DB04291FE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165787C-1D95-4F4A-834F-2B8CB71754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A52B903-AFED-40C6-AA6E-2556F3A885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C01F136-AE11-493A-A803-1187701F970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978188-FA2C-4BBD-A7C1-95F8136FCA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C4F189-ECF2-4F0A-A8FC-0346E7707E7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269DFC5-28E9-4B3F-893F-311024A1660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178F78A-3C14-4FF0-A183-DF05906A341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4E890E5-5CF9-4CAE-8870-1C1CF0E6937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37E4C61F-9246-4F29-96F1-7138B1CD52F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F8D615D-0A48-4B9F-A52E-B0A63351576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1227764-E8F1-440B-B8D9-00AB3E8E525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61DD800-A4F8-4DC6-8039-951356848E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3D45B2E-8F5C-4ADF-A39E-46341A9A008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28EA6DD-A44C-4D8A-B2C4-7EA890F74A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A28892D-2B12-4E49-BA4D-BC3E80BAB6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765518A9-9827-437A-A430-59EB88744A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7351EAC-6838-4516-A1E2-00D6ADDA403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7201CDE-6AC3-4E90-A106-7A4C15CFFF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94222AD-2246-407A-82E1-8B5BA269E3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A664FDE-8914-43A5-8D89-C04AFF7A599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E23C796-B797-4ABD-AE1B-89E7C40E4F7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04790D5-071E-46F8-AFCE-27E1B205551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BB11E3-0EC7-4052-9751-4EC29B46C81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227F86C-4ACD-43DA-816F-ED73053347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5E5ADD6-2B31-4DCE-B5D9-F80950F911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174A16FE-D591-416F-A7C5-C0B91FD48D98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A630A48-943E-42D1-81DD-E083EBDD503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A4DC598-555C-4B6D-BB63-8C0E8C51D5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8C82BAC-40F2-453C-B984-0BB9F331A9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8D91BC5-656B-4B0D-A738-73B159B951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DF236F-E212-4B5E-8E8E-EB28415E5D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03517C0-8AD1-46B0-B3BE-290487A30E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C60047B-2A8A-4978-A31C-BE54AB882A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252DF68-7608-4DB3-8A9F-2798AEE68FF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13ABBC5-6F1B-4CE1-8EAA-46DB28CA3B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CB444FB-AEFA-4372-A170-9C9E822351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9D9BD57-9972-4FD4-ABD0-A2B2B9529A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279E108-348D-4A13-BEA4-82EE6C51ABC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65F880F-CA07-446B-8DFB-31E87E25E46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7977945-3899-4B78-A506-D9EB2A7DBF9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17f184af33c4770" Type="http://schemas.openxmlformats.org/officeDocument/2006/relationships/slideLayout" Target="../slideLayouts/slideLayout10.xml"/><Relationship Id="R0ac546e4d1db4b24" Type="http://schemas.openxmlformats.org/officeDocument/2006/relationships/slideLayout" Target="../slideLayouts/slideLayout9.xml"/><Relationship Id="R22530b566f1d4155" Type="http://schemas.openxmlformats.org/officeDocument/2006/relationships/slideLayout" Target="../slideLayouts/slideLayout11.xml"/><Relationship Id="R379876eeeb7f4e0b" Type="http://schemas.openxmlformats.org/officeDocument/2006/relationships/slideLayout" Target="../slideLayouts/slideLayout3.xml"/><Relationship Id="R39286e2339684f89" Type="http://schemas.openxmlformats.org/officeDocument/2006/relationships/slideLayout" Target="../slideLayouts/slideLayout1.xml"/><Relationship Id="R3e6491b1a26f4d2b" Type="http://schemas.openxmlformats.org/officeDocument/2006/relationships/slideLayout" Target="../slideLayouts/slideLayout8.xml"/><Relationship Id="R7c32ad22e3d94d4c" Type="http://schemas.openxmlformats.org/officeDocument/2006/relationships/slideLayout" Target="../slideLayouts/slideLayout5.xml"/><Relationship Id="R8ef0117217c349e7" Type="http://schemas.openxmlformats.org/officeDocument/2006/relationships/slideLayout" Target="../slideLayouts/slideLayout4.xml"/><Relationship Id="Rb14eef8fcd2e4b9d" Type="http://schemas.openxmlformats.org/officeDocument/2006/relationships/slideLayout" Target="../slideLayouts/slideLayout7.xml"/><Relationship Id="Rd266558c20f842bc" Type="http://schemas.openxmlformats.org/officeDocument/2006/relationships/theme" Target="theme/theme2.xml"/><Relationship Id="Re507c463075e4643" Type="http://schemas.openxmlformats.org/officeDocument/2006/relationships/slideLayout" Target="../slideLayouts/slideLayout2.xml"/><Relationship Id="Rf2b44dd01f3943d3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1F33D9C-2819-4A6B-B04B-B087FF1421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C0D3C01-2E5E-4096-96EF-5F3F2E153D2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FAB505F-88CA-4054-BC80-9CD2CE4315F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834AA9-4FB7-43DE-BF56-AA74B5A180E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F99B3C7-A2C1-41BB-B707-18FA6E7AD9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9286e2339684f89"/>
    <p:sldLayoutId xmlns:r="http://schemas.openxmlformats.org/officeDocument/2006/relationships" id="2147483650" r:id="Re507c463075e4643"/>
    <p:sldLayoutId xmlns:r="http://schemas.openxmlformats.org/officeDocument/2006/relationships" id="2147483651" r:id="R379876eeeb7f4e0b"/>
    <p:sldLayoutId xmlns:r="http://schemas.openxmlformats.org/officeDocument/2006/relationships" id="2147483652" r:id="R8ef0117217c349e7"/>
    <p:sldLayoutId xmlns:r="http://schemas.openxmlformats.org/officeDocument/2006/relationships" id="2147483653" r:id="R7c32ad22e3d94d4c"/>
    <p:sldLayoutId xmlns:r="http://schemas.openxmlformats.org/officeDocument/2006/relationships" id="2147483654" r:id="Rf2b44dd01f3943d3"/>
    <p:sldLayoutId xmlns:r="http://schemas.openxmlformats.org/officeDocument/2006/relationships" id="2147483655" r:id="Rb14eef8fcd2e4b9d"/>
    <p:sldLayoutId xmlns:r="http://schemas.openxmlformats.org/officeDocument/2006/relationships" id="2147483656" r:id="R3e6491b1a26f4d2b"/>
    <p:sldLayoutId xmlns:r="http://schemas.openxmlformats.org/officeDocument/2006/relationships" id="2147483657" r:id="R0ac546e4d1db4b24"/>
    <p:sldLayoutId xmlns:r="http://schemas.openxmlformats.org/officeDocument/2006/relationships" id="2147483658" r:id="R017f184af33c4770"/>
    <p:sldLayoutId xmlns:r="http://schemas.openxmlformats.org/officeDocument/2006/relationships" id="2147483659" r:id="R22530b566f1d4155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f5b0ad5c9004923" Type="http://schemas.openxmlformats.org/officeDocument/2006/relationships/slideLayout" Target="../slideLayouts/slideLayout1.xml"/><Relationship Id="R865480ebdfde45d0" Type="http://schemas.openxmlformats.org/officeDocument/2006/relationships/image" Target="../media/image.jpeg"/><Relationship Id="Rb3eebadb62c841d5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12a2a1675f304942" Type="http://schemas.openxmlformats.org/officeDocument/2006/relationships/image" Target="../media/image.jpeg"/><Relationship Id="R21331329fa004e6d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1b00b52c1c744ff2" Type="http://schemas.openxmlformats.org/officeDocument/2006/relationships/slideLayout" Target="../slideLayouts/slideLayout1.xml"/><Relationship Id="Rbec8c1272cbc40c7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2d31008bc8cf479f" Type="http://schemas.openxmlformats.org/officeDocument/2006/relationships/image" Target="../media/image.jpeg"/><Relationship Id="Ra3c8a88353964750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2db7b189180a4b92" Type="http://schemas.openxmlformats.org/officeDocument/2006/relationships/slideLayout" Target="../slideLayouts/slideLayout1.xml"/><Relationship Id="Rc83bb16bc7a84c1c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0108dd84537147a6" Type="http://schemas.openxmlformats.org/officeDocument/2006/relationships/image" Target="../media/image.jpeg"/><Relationship Id="R180afe5452484dde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e8dd3c0eb554750" Type="http://schemas.openxmlformats.org/officeDocument/2006/relationships/slideLayout" Target="../slideLayouts/slideLayout1.xml"/><Relationship Id="Rc0da79f08a8a4656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396305c9fffc46cd" Type="http://schemas.openxmlformats.org/officeDocument/2006/relationships/slideLayout" Target="../slideLayouts/slideLayout1.xml"/><Relationship Id="Raadf5702e0a349c8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104c9c42e6134b44" Type="http://schemas.openxmlformats.org/officeDocument/2006/relationships/image" Target="../media/image.jpeg"/><Relationship Id="R7f89ebfac52c434e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3c740986664f447a" Type="http://schemas.openxmlformats.org/officeDocument/2006/relationships/image" Target="../media/image.jpeg"/><Relationship Id="R9bf2ece768784bd7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27a0eeae00de492d" Type="http://schemas.openxmlformats.org/officeDocument/2006/relationships/image" Target="../media/image.jpeg"/><Relationship Id="Rf728e6a067c647be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3c143cc929d04045" Type="http://schemas.openxmlformats.org/officeDocument/2006/relationships/image" Target="../media/image.jpeg"/><Relationship Id="R8e1b956803a04e98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61f58354b84a4c25" Type="http://schemas.openxmlformats.org/officeDocument/2006/relationships/image" Target="../media/image.jpeg"/><Relationship Id="Rfe446d3fdba04f37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aaa3e81ad2884588" Type="http://schemas.openxmlformats.org/officeDocument/2006/relationships/slideLayout" Target="../slideLayouts/slideLayout1.xml"/><Relationship Id="Rf50cb0f619074a39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7fbf5bd2db4b4cde" Type="http://schemas.openxmlformats.org/officeDocument/2006/relationships/slideLayout" Target="../slideLayouts/slideLayout1.xml"/><Relationship Id="Ree98f900e4204984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2ed3e7ad2da04d96" Type="http://schemas.openxmlformats.org/officeDocument/2006/relationships/slideLayout" Target="../slideLayouts/slideLayout1.xml"/><Relationship Id="Rc701c24ddb1b412b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b8353b24ef664a74" Type="http://schemas.openxmlformats.org/officeDocument/2006/relationships/image" Target="../media/image.jpeg"/><Relationship Id="Rd5126de955054789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9b6ef23a9782438b" Type="http://schemas.openxmlformats.org/officeDocument/2006/relationships/slideLayout" Target="../slideLayouts/slideLayout1.xml"/><Relationship Id="R9ebacdae50f64050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0c8fd76d49f1406d" Type="http://schemas.openxmlformats.org/officeDocument/2006/relationships/slideLayout" Target="../slideLayouts/slideLayout1.xml"/><Relationship Id="R6ab937a0017b4e85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297033e3a77446c6" Type="http://schemas.openxmlformats.org/officeDocument/2006/relationships/image" Target="../media/image.jpeg"/><Relationship Id="Rfb3023abe68f4e4b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16b1433e57ff4572" Type="http://schemas.openxmlformats.org/officeDocument/2006/relationships/slideLayout" Target="../slideLayouts/slideLayout1.xml"/><Relationship Id="Rf0c3decc5f874b0e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0d244bb738a24d79" Type="http://schemas.openxmlformats.org/officeDocument/2006/relationships/image" Target="../media/image.jpeg"/><Relationship Id="R9d1a147cf2794194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10c60074eea34ce7" Type="http://schemas.openxmlformats.org/officeDocument/2006/relationships/image" Target="../media/image.jpeg"/><Relationship Id="Rd0c4d843cb00468b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9939156fe21c456f" Type="http://schemas.openxmlformats.org/officeDocument/2006/relationships/image" Target="../media/image.jpeg"/><Relationship Id="Rb14000e34d7e499c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3f1df587b03d48a4" Type="http://schemas.openxmlformats.org/officeDocument/2006/relationships/slideLayout" Target="../slideLayouts/slideLayout1.xml"/><Relationship Id="R64e2cd29b6354a7c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0521864f926b4d6a" Type="http://schemas.openxmlformats.org/officeDocument/2006/relationships/image" Target="../media/image.jpeg"/><Relationship Id="R9dbed566300a4279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a186abc70ab14b04" Type="http://schemas.openxmlformats.org/officeDocument/2006/relationships/image" Target="../media/image.jpeg"/><Relationship Id="Rbe07cb459c184d8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56ed7bb2e0f341b4" Type="http://schemas.openxmlformats.org/officeDocument/2006/relationships/slideLayout" Target="../slideLayouts/slideLayout1.xml"/><Relationship Id="Rb18e7184150141b0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3edcbe491dec40d5" Type="http://schemas.openxmlformats.org/officeDocument/2006/relationships/image" Target="../media/image.jpeg"/><Relationship Id="R979e0ad28945461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b4cb31400ac649b9" Type="http://schemas.openxmlformats.org/officeDocument/2006/relationships/slideLayout" Target="../slideLayouts/slideLayout1.xml"/><Relationship Id="Rbd1a8a2d82354c70" Type="http://schemas.openxmlformats.org/officeDocument/2006/relationships/image" Target="../media/image.jpeg"/></Relationships>
</file>

<file path=ppt/slides/_rels/slide31.xml.rels><?xml version='1.0' encoding='UTF-8' standalone='yes'?>
<Relationships xmlns="http://schemas.openxmlformats.org/package/2006/relationships"><Relationship Id="R10ccb29f6da5413f" Type="http://schemas.openxmlformats.org/officeDocument/2006/relationships/slideLayout" Target="../slideLayouts/slideLayout1.xml"/><Relationship Id="Rd4529ea062f54143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1a941a42deb34458" Type="http://schemas.openxmlformats.org/officeDocument/2006/relationships/image" Target="../media/image.jpeg"/><Relationship Id="Rd0d27151175a4e40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af3477a28e6342d1" Type="http://schemas.openxmlformats.org/officeDocument/2006/relationships/image" Target="../media/image.jpeg"/><Relationship Id="Rc38f45083b124b90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a44537ef70b3495b" Type="http://schemas.openxmlformats.org/officeDocument/2006/relationships/slideLayout" Target="../slideLayouts/slideLayout1.xml"/><Relationship Id="Rf6884e6a20cf4b5a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bbc0e0894b614b55" Type="http://schemas.openxmlformats.org/officeDocument/2006/relationships/image" Target="../media/image.jpeg"/><Relationship Id="Rcec49204afee4432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064d12425fe64e73" Type="http://schemas.openxmlformats.org/officeDocument/2006/relationships/hyperlink" Target="https://www.transportstyrelsen.se/sv/sjofart/Fartyg/Fartygskonstruktion/Elinstallationer/Lagar-foreskrifter-och-standarder/" TargetMode="External"/><Relationship Id="R07536d3dd6bf40dd" Type="http://schemas.openxmlformats.org/officeDocument/2006/relationships/hyperlink" Target="https://elstandard.se/documents/preview/3246401" TargetMode="External"/><Relationship Id="R3defe174d9e043db" Type="http://schemas.openxmlformats.org/officeDocument/2006/relationships/image" Target="../media/image.jpeg"/><Relationship Id="R4acbfd9fbd284480" Type="http://schemas.openxmlformats.org/officeDocument/2006/relationships/slideLayout" Target="../slideLayouts/slideLayout1.xml"/><Relationship Id="Rcb6df3f59e5c448f" Type="http://schemas.openxmlformats.org/officeDocument/2006/relationships/hyperlink" Target="https://www.energiforetagen.se/48f4fe/globalassets/forlag/ebr-meddelanden/ebr-meddelande-nr-1-2026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5480ebdfde45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eebadb62c841d5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82188815-32CB-4AF0-ACA1-CCE67C49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A7A67879-29D2-4A89-91FC-D9D8A8B1C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1005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Regler, ansvar och arbetsmetoder</a:t>
            </a:r>
          </a:p>
        </p:txBody>
      </p:sp>
      <p:sp>
        <p:nvSpPr>
          <p:cNvPr id="13" name="SS-EN 50110-1, ESA och el ombord">
            <a:extLst xmlns:a="http://schemas.openxmlformats.org/drawingml/2006/main">
              <a:ext uri="{FF2B5EF4-FFF2-40B4-BE49-F238E27FC236}">
                <a16:creationId xmlns:a16="http://schemas.microsoft.com/office/drawing/2014/main" id="{2BA83D37-A130-4ECF-8F5D-B1B2F613E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SS-EN 50110-1, ESA och el ombord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8FF0E40F-4DB5-4758-918D-7ABDFA47F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a2a1675f3049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3CEBB835-B83E-4229-81E7-4FE5F6F8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Skilja föreskrift, standard och arbetsanvisning.">
            <a:extLst xmlns:a="http://schemas.openxmlformats.org/drawingml/2006/main">
              <a:ext uri="{FF2B5EF4-FFF2-40B4-BE49-F238E27FC236}">
                <a16:creationId xmlns:a16="http://schemas.microsoft.com/office/drawing/2014/main" id="{FC61AD8F-588A-4F77-BAE9-38FF36E2D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föreskrift, standard och arbetsanvisning.</a:t>
            </a:r>
          </a:p>
        </p:txBody>
      </p:sp>
      <p:sp>
        <p:nvSpPr>
          <p:cNvPr id="4" name="Knyta arbetsmetod och ansvar till ett avgränsat arbetsfall.">
            <a:extLst xmlns:a="http://schemas.openxmlformats.org/drawingml/2006/main">
              <a:ext uri="{FF2B5EF4-FFF2-40B4-BE49-F238E27FC236}">
                <a16:creationId xmlns:a16="http://schemas.microsoft.com/office/drawing/2014/main" id="{906E74F7-FF9D-47CA-9EFC-871554CE4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Knyta arbetsmetod och ansvar till ett avgränsat arbetsfall.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557E8591-D3EC-479B-97EC-F5F84C0BA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Är samma regelverk automatiskt tillämpligt i en fabrik och ombord">
            <a:extLst xmlns:a="http://schemas.openxmlformats.org/drawingml/2006/main">
              <a:ext uri="{FF2B5EF4-FFF2-40B4-BE49-F238E27FC236}">
                <a16:creationId xmlns:a16="http://schemas.microsoft.com/office/drawing/2014/main" id="{6DF34A12-B740-45EB-B6F3-8FEF0E679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Är samma regelverk automatiskt tillämpligt i en fabrik och ombord på ett fartyg?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03BE011B-D6F7-4560-9DAC-F4690E0E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c8c1272cbc40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F5237932-243C-480F-A05D-EAA093F5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28B45650-3ADF-4714-8674-0D886B74A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13B84AB0-463F-487F-A926-CAFFF22AA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2.1, 2.2 och 2.4,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15BB3E26-40E7-42D4-8DEF-93FDFD78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259D6863-BE44-424E-B584-A99DA502A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2.6, 2.7 och 2.8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0671E9C7-59D4-42D2-AA20-4C4C6F4BB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B42AA6AE-A703-4E07-B69C-5C65119B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31008bc8cf47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Underlag för regelval">
            <a:extLst xmlns:a="http://schemas.openxmlformats.org/drawingml/2006/main">
              <a:ext uri="{FF2B5EF4-FFF2-40B4-BE49-F238E27FC236}">
                <a16:creationId xmlns:a16="http://schemas.microsoft.com/office/drawing/2014/main" id="{9692E969-F2B0-4C84-A93F-C908DD58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Underlag för regelval</a:t>
            </a:r>
          </a:p>
        </p:txBody>
      </p:sp>
      <p:sp>
        <p:nvSpPr>
          <p:cNvPr id="10" name="Föreskrift har ett definierat, bindande tillämpningsområde.">
            <a:extLst xmlns:a="http://schemas.openxmlformats.org/drawingml/2006/main">
              <a:ext uri="{FF2B5EF4-FFF2-40B4-BE49-F238E27FC236}">
                <a16:creationId xmlns:a16="http://schemas.microsoft.com/office/drawing/2014/main" id="{5EEE3C7A-FDB1-4E5A-ABE1-D2466F1B6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Föreskrift har ett definierat, bindande tillämpningsområde.</a:t>
            </a:r>
          </a:p>
        </p:txBody>
      </p:sp>
      <p:sp>
        <p:nvSpPr>
          <p:cNvPr id="11" name="Standard kan beskriva tekniska och organisatoriska metoder.">
            <a:extLst xmlns:a="http://schemas.openxmlformats.org/drawingml/2006/main">
              <a:ext uri="{FF2B5EF4-FFF2-40B4-BE49-F238E27FC236}">
                <a16:creationId xmlns:a16="http://schemas.microsoft.com/office/drawing/2014/main" id="{D38DC93F-3FE9-401A-890A-00E3977F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Standard kan beskriva tekniska och organisatoriska metoder.</a:t>
            </a:r>
          </a:p>
        </p:txBody>
      </p:sp>
      <p:sp>
        <p:nvSpPr>
          <p:cNvPr id="12" name="Lokal arbetsanvisning preciserar organisation och arbete.">
            <a:extLst xmlns:a="http://schemas.openxmlformats.org/drawingml/2006/main">
              <a:ext uri="{FF2B5EF4-FFF2-40B4-BE49-F238E27FC236}">
                <a16:creationId xmlns:a16="http://schemas.microsoft.com/office/drawing/2014/main" id="{2CCBB123-F615-470A-B5D5-E51CBF913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Lokal arbetsanvisning preciserar organisation och arbete.</a:t>
            </a:r>
          </a:p>
        </p:txBody>
      </p:sp>
      <p:sp>
        <p:nvSpPr>
          <p:cNvPr id="13" name="Dokumentets nummer, utgåva och tillämpning behövs för en spårbar ">
            <a:extLst xmlns:a="http://schemas.openxmlformats.org/drawingml/2006/main">
              <a:ext uri="{FF2B5EF4-FFF2-40B4-BE49-F238E27FC236}">
                <a16:creationId xmlns:a16="http://schemas.microsoft.com/office/drawing/2014/main" id="{4792A461-AB32-4106-A538-D46D5EBC4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Dokumentets nummer, utgåva och tillämpning behövs för en spårbar hänvisning.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57F0788C-2BA1-4A3E-BFA9-1CE3A0C36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bb16bc7a84c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FD4A175F-1D8F-4108-B066-518E48FB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12663BA-4211-42DC-AF6D-F066A50A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03260A08-6EA4-4F47-B07B-0D71B2633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2C1E286-2607-4F28-B6B4-476A9CA8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B5240C5-102E-4312-B98F-CD30E1DE6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B223A437-487B-47C1-8FC6-16B31AA80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648C22D4-454C-4DC6-B2E2-555524E4B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CDD4676C-E069-48DB-B369-D96DEC33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08dd84537147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glernas olika uppgifter">
            <a:extLst xmlns:a="http://schemas.openxmlformats.org/drawingml/2006/main">
              <a:ext uri="{FF2B5EF4-FFF2-40B4-BE49-F238E27FC236}">
                <a16:creationId xmlns:a16="http://schemas.microsoft.com/office/drawing/2014/main" id="{683E49C1-D469-449E-AE93-186AFE746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Reglernas olika uppgifter</a:t>
            </a:r>
          </a:p>
        </p:txBody>
      </p:sp>
      <p:sp>
        <p:nvSpPr>
          <p:cNvPr id="3" name="Föreskrifter anger bindande krav inom sitt tillämpningsområde.&#10;St">
            <a:extLst xmlns:a="http://schemas.openxmlformats.org/drawingml/2006/main">
              <a:ext uri="{FF2B5EF4-FFF2-40B4-BE49-F238E27FC236}">
                <a16:creationId xmlns:a16="http://schemas.microsoft.com/office/drawing/2014/main" id="{8ACEC2D6-E7F3-43C0-B496-2C50B0EDA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Föreskrifter anger bindande krav inom sitt tillämpningsområde.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Standarder och anvisningar ger tekniskt och organisatoriskt stöd.</a:t>
            </a:r>
          </a:p>
        </p:txBody>
      </p:sp>
      <p:sp>
        <p:nvSpPr>
          <p:cNvPr id="4" name="Tillämpningsområdet måste vara känt">
            <a:extLst xmlns:a="http://schemas.openxmlformats.org/drawingml/2006/main">
              <a:ext uri="{FF2B5EF4-FFF2-40B4-BE49-F238E27FC236}">
                <a16:creationId xmlns:a16="http://schemas.microsoft.com/office/drawing/2014/main" id="{26E70472-6D73-4676-B6A4-9E57F81C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Tillämpningsområdet måste vara känt</a:t>
            </a:r>
          </a:p>
        </p:txBody>
      </p:sp>
      <p:sp>
        <p:nvSpPr>
          <p:cNvPr id="5" name="Fartygets kategori, trafik och byggnadsdata påverkar regelvalet.&#10;">
            <a:extLst xmlns:a="http://schemas.openxmlformats.org/drawingml/2006/main">
              <a:ext uri="{FF2B5EF4-FFF2-40B4-BE49-F238E27FC236}">
                <a16:creationId xmlns:a16="http://schemas.microsoft.com/office/drawing/2014/main" id="{F7B2811D-8BC4-47AF-9EF3-9A1EBBFF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Fartygets kategori, trafik och byggnadsdata påverkar regelvalet.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standardhänvisning ersätter inte bedömningen.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6E066BDD-683D-460A-843C-113BE3D0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da79f08a8a46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S-EN 50110-1 och ESA">
            <a:extLst xmlns:a="http://schemas.openxmlformats.org/drawingml/2006/main">
              <a:ext uri="{FF2B5EF4-FFF2-40B4-BE49-F238E27FC236}">
                <a16:creationId xmlns:a16="http://schemas.microsoft.com/office/drawing/2014/main" id="{1C0C6256-E3E6-4433-BCF8-AD29E6B7B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 och ESA</a:t>
            </a:r>
          </a:p>
        </p:txBody>
      </p:sp>
      <p:sp>
        <p:nvSpPr>
          <p:cNvPr id="3" name="SS-EN 50110-1 utgåva 4:2024 behandlar drift och arbete.&#10;EBR ESA 2">
            <a:extLst xmlns:a="http://schemas.openxmlformats.org/drawingml/2006/main">
              <a:ext uri="{FF2B5EF4-FFF2-40B4-BE49-F238E27FC236}">
                <a16:creationId xmlns:a16="http://schemas.microsoft.com/office/drawing/2014/main" id="{0B04D612-BF72-45F1-B3A0-848F25A5D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 utgåva 4:2024 behandlar drift och arbete.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EBR ESA 2026 gäller från 29 maj 2026 inom sitt system.</a:t>
            </a:r>
          </a:p>
        </p:txBody>
      </p:sp>
      <p:sp>
        <p:nvSpPr>
          <p:cNvPr id="4" name="Här ges kursöversikt, ingen ESA-certifiering">
            <a:extLst xmlns:a="http://schemas.openxmlformats.org/drawingml/2006/main">
              <a:ext uri="{FF2B5EF4-FFF2-40B4-BE49-F238E27FC236}">
                <a16:creationId xmlns:a16="http://schemas.microsoft.com/office/drawing/2014/main" id="{3BC4AF11-DB2A-4EFF-AB5F-878860580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Här ges kursöversikt, ingen ESA-certifiering</a:t>
            </a:r>
          </a:p>
        </p:txBody>
      </p:sp>
      <p:sp>
        <p:nvSpPr>
          <p:cNvPr id="5" name="Fyra arbetsmetoder: utan spänning, med spänning,&#10;inom närområdet ">
            <a:extLst xmlns:a="http://schemas.openxmlformats.org/drawingml/2006/main">
              <a:ext uri="{FF2B5EF4-FFF2-40B4-BE49-F238E27FC236}">
                <a16:creationId xmlns:a16="http://schemas.microsoft.com/office/drawing/2014/main" id="{F599AE42-D601-4C33-A99E-D965803F4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50110-1: tre metoder (utan spänning, med spänning, nära spänning).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ESA: fyra metoder (kompletterar med arbete utanför närområde).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8D92C444-7B17-4822-8D03-C1A283EA3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mråden kring en spänningssatt del: risk" descr="Områden kring en spänningssatt del: riskområde, närområde och utanför närområd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4157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df5702e0a349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em säkerhetsåtgärder">
            <a:extLst xmlns:a="http://schemas.openxmlformats.org/drawingml/2006/main">
              <a:ext uri="{FF2B5EF4-FFF2-40B4-BE49-F238E27FC236}">
                <a16:creationId xmlns:a16="http://schemas.microsoft.com/office/drawing/2014/main" id="{25814D0E-E1D5-486E-B2C2-9282814A9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Fem säkerhetsåtgärder</a:t>
            </a:r>
          </a:p>
        </p:txBody>
      </p:sp>
      <p:sp>
        <p:nvSpPr>
          <p:cNvPr id="3" name="Arbete utan spänning kräver en planerad följd av åtgärder.&#10;Varje ">
            <a:extLst xmlns:a="http://schemas.openxmlformats.org/drawingml/2006/main">
              <a:ext uri="{FF2B5EF4-FFF2-40B4-BE49-F238E27FC236}">
                <a16:creationId xmlns:a16="http://schemas.microsoft.com/office/drawing/2014/main" id="{B20689ED-DB85-471C-A3DA-5D3F5BC1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Arbete utan spänning kräver en planerad följd av åtgärder.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åtgärds tillämpning avgörs för anläggningen och arbetet.</a:t>
            </a:r>
          </a:p>
        </p:txBody>
      </p:sp>
      <p:sp>
        <p:nvSpPr>
          <p:cNvPr id="4" name="Frånskiljning och skydd mot tillkoppling">
            <a:extLst xmlns:a="http://schemas.openxmlformats.org/drawingml/2006/main">
              <a:ext uri="{FF2B5EF4-FFF2-40B4-BE49-F238E27FC236}">
                <a16:creationId xmlns:a16="http://schemas.microsoft.com/office/drawing/2014/main" id="{251308D1-EE10-47DD-BEB4-07DC9285F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Frånskiljning och skydd mot återinkoppling</a:t>
            </a:r>
          </a:p>
        </p:txBody>
      </p:sp>
      <p:sp>
        <p:nvSpPr>
          <p:cNvPr id="5" name="Spänningslöshetskontroll, jordning och kortslutning,&#10;skydd mot nä">
            <a:extLst xmlns:a="http://schemas.openxmlformats.org/drawingml/2006/main">
              <a:ext uri="{FF2B5EF4-FFF2-40B4-BE49-F238E27FC236}">
                <a16:creationId xmlns:a16="http://schemas.microsoft.com/office/drawing/2014/main" id="{CD527D9B-17C0-41DE-81CF-E6260D74B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Spänningslöshetskontroll, jordning och kortslutning,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mot närliggande spänningssatta delar.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5F8FE2B8-27E7-4CF9-9956-AD6898DC6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De fem säkerhetsåtgärderna i ordning: fr" descr="De fem säkerhetsåtgärderna i ordning: frånskilj, skydda mot återinkoppling, kontrollera spänningslöshet, jorda och kortslut, skydda mot närliggande spänningssatta del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97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4c9c42e6134b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regelval utan gissning">
            <a:extLst xmlns:a="http://schemas.openxmlformats.org/drawingml/2006/main">
              <a:ext uri="{FF2B5EF4-FFF2-40B4-BE49-F238E27FC236}">
                <a16:creationId xmlns:a16="http://schemas.microsoft.com/office/drawing/2014/main" id="{1E67099A-2745-4311-BB3F-DA91D5D7F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regelval utan gissning</a:t>
            </a:r>
          </a:p>
        </p:txBody>
      </p:sp>
      <p:sp>
        <p:nvSpPr>
          <p:cNvPr id="10" name="Ett fartyg behöver ändrad elektrisk utrustning. Underlaget anger ">
            <a:extLst xmlns:a="http://schemas.openxmlformats.org/drawingml/2006/main">
              <a:ext uri="{FF2B5EF4-FFF2-40B4-BE49-F238E27FC236}">
                <a16:creationId xmlns:a16="http://schemas.microsoft.com/office/drawing/2014/main" id="{3CB31EFF-7932-45C7-A1CD-13531FCC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fartyg behöver ändrad elektrisk utrustning. Underlaget anger varken fartygstyp eller byggnadsår.</a:t>
            </a:r>
          </a:p>
        </p:txBody>
      </p:sp>
      <p:sp>
        <p:nvSpPr>
          <p:cNvPr id="11" name="Tillämplighet måste kontrolleras före hänvisning">
            <a:extLst xmlns:a="http://schemas.openxmlformats.org/drawingml/2006/main">
              <a:ext uri="{FF2B5EF4-FFF2-40B4-BE49-F238E27FC236}">
                <a16:creationId xmlns:a16="http://schemas.microsoft.com/office/drawing/2014/main" id="{632F68AB-2F2C-432E-9B43-CFBD616E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Tillämplighet måste kontrolleras före hänvisning</a:t>
            </a:r>
          </a:p>
        </p:txBody>
      </p:sp>
      <p:sp>
        <p:nvSpPr>
          <p:cNvPr id="12" name="1. Begär fartygstyp, storlek, trafik och byggnads-/ombyggnadsdata">
            <a:extLst xmlns:a="http://schemas.openxmlformats.org/drawingml/2006/main">
              <a:ext uri="{FF2B5EF4-FFF2-40B4-BE49-F238E27FC236}">
                <a16:creationId xmlns:a16="http://schemas.microsoft.com/office/drawing/2014/main" id="{C1448144-37B0-4D29-BEB3-6E65FA1DD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Begär fartygstyp, storlek, trafik och byggnads-/ombyggnadsdata.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Matcha uppgifterna mot föreskriftens tillämpningsområde.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Dokumentera aktuell version och relevant, kontrollerat avsnitt.</a:t>
            </a:r>
          </a:p>
        </p:txBody>
      </p:sp>
      <p:sp>
        <p:nvSpPr>
          <p:cNvPr id="13" name="Ett standardnamn ensamt visar inte vilka bindande krav som gäller">
            <a:extLst xmlns:a="http://schemas.openxmlformats.org/drawingml/2006/main">
              <a:ext uri="{FF2B5EF4-FFF2-40B4-BE49-F238E27FC236}">
                <a16:creationId xmlns:a16="http://schemas.microsoft.com/office/drawing/2014/main" id="{325C3EB6-7F9C-47B2-93CA-78BAC0B2B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standardnamn ensamt visar inte vilka bindande krav som gäller för ändringen.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03DB73B0-75F2-40E4-B43E-4C441F176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740986664f44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D0FB98F1-1AC1-4C70-BB4E-97BBA4B0E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</a:t>
            </a:r>
          </a:p>
        </p:txBody>
      </p:sp>
      <p:sp>
        <p:nvSpPr>
          <p:cNvPr id="10" name="Föreskrift, standard och lokal anvisning">
            <a:extLst xmlns:a="http://schemas.openxmlformats.org/drawingml/2006/main">
              <a:ext uri="{FF2B5EF4-FFF2-40B4-BE49-F238E27FC236}">
                <a16:creationId xmlns:a16="http://schemas.microsoft.com/office/drawing/2014/main" id="{5429A270-F845-4553-9303-7B154A8F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Föreskrift, standard och lokal anvisning</a:t>
            </a:r>
          </a:p>
        </p:txBody>
      </p:sp>
      <p:sp>
        <p:nvSpPr>
          <p:cNvPr id="11" name="Föreskriften är bindande inom sitt område. Standard kan ge en tek">
            <a:extLst xmlns:a="http://schemas.openxmlformats.org/drawingml/2006/main">
              <a:ext uri="{FF2B5EF4-FFF2-40B4-BE49-F238E27FC236}">
                <a16:creationId xmlns:a16="http://schemas.microsoft.com/office/drawing/2014/main" id="{251AFE51-6921-4547-BEE9-4EDB37AB9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Föreskriften är bindande inom sitt område. En standard kan ge en teknisk metod, och en lokal anvisning beskriver hur arbetet görs.</a:t>
            </a:r>
          </a:p>
        </p:txBody>
      </p:sp>
      <p:sp>
        <p:nvSpPr>
          <p:cNvPr id="12" name="Förutsättningar: Vilka dokument som gäller beror på objekt, arbet">
            <a:extLst xmlns:a="http://schemas.openxmlformats.org/drawingml/2006/main">
              <a:ext uri="{FF2B5EF4-FFF2-40B4-BE49-F238E27FC236}">
                <a16:creationId xmlns:a16="http://schemas.microsoft.com/office/drawing/2014/main" id="{37B7C35E-D87B-49CA-939D-C67DCB2B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Vilka dokument som gäller beror på objekt, arbete och eventuella hänvisningar eller avtal.</a:t>
            </a:r>
          </a:p>
        </p:txBody>
      </p:sp>
      <p:sp>
        <p:nvSpPr>
          <p:cNvPr id="13" name="Arbetsgång: Jämför dokumentens uppgift. Förklara varför tillämpni">
            <a:extLst xmlns:a="http://schemas.openxmlformats.org/drawingml/2006/main">
              <a:ext uri="{FF2B5EF4-FFF2-40B4-BE49-F238E27FC236}">
                <a16:creationId xmlns:a16="http://schemas.microsoft.com/office/drawing/2014/main" id="{49941008-D208-41B1-994C-A965305C8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vad dokumenten är till för och förklara varför du först måste kontrollera tillämpningsområdet.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8F7FC540-2FE2-43E6-8C07-BB3034B8A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a0eeae00de49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A448FA6A-07D0-4C6B-B57D-EE3362BC1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</a:t>
            </a:r>
          </a:p>
        </p:txBody>
      </p:sp>
      <p:sp>
        <p:nvSpPr>
          <p:cNvPr id="3" name="Föreskrift eller standard">
            <a:extLst xmlns:a="http://schemas.openxmlformats.org/drawingml/2006/main">
              <a:ext uri="{FF2B5EF4-FFF2-40B4-BE49-F238E27FC236}">
                <a16:creationId xmlns:a16="http://schemas.microsoft.com/office/drawing/2014/main" id="{14271769-5B78-4357-81D5-5032D9120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Föreskrift eller standard</a:t>
            </a:r>
          </a:p>
        </p:txBody>
      </p:sp>
      <p:sp>
        <p:nvSpPr>
          <p:cNvPr id="4" name="Vad skiljer en myndighetsföreskrift från en teknisk standard i re">
            <a:extLst xmlns:a="http://schemas.openxmlformats.org/drawingml/2006/main">
              <a:ext uri="{FF2B5EF4-FFF2-40B4-BE49-F238E27FC236}">
                <a16:creationId xmlns:a16="http://schemas.microsoft.com/office/drawing/2014/main" id="{B7F96CDF-2E09-48F6-8CDB-362F1D4B5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är skillnaden mellan en myndighetsföreskrift och en teknisk standard när du ska ta reda på vilka regler som gäller?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E3A08F7-470E-4268-B834-4D146E70F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CA4ECF26-9C77-4DD1-8F72-1B3DA1D3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143cc929d040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B21AED6-7EAF-4A61-BAAB-D1E016CB5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2.2</a:t>
            </a:r>
          </a:p>
        </p:txBody>
      </p:sp>
      <p:sp>
        <p:nvSpPr>
          <p:cNvPr id="10" name="Kursunderlag: SS-EN 50110-1 utgåva 4:2024">
            <a:extLst xmlns:a="http://schemas.openxmlformats.org/drawingml/2006/main">
              <a:ext uri="{FF2B5EF4-FFF2-40B4-BE49-F238E27FC236}">
                <a16:creationId xmlns:a16="http://schemas.microsoft.com/office/drawing/2014/main" id="{52A35F72-1781-46CC-9B06-4163BFB66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Utgåvans grund: SS-EN 50110-1 utgåva 4:2024</a:t>
            </a:r>
          </a:p>
        </p:txBody>
      </p:sp>
      <p:sp>
        <p:nvSpPr>
          <p:cNvPr id="11" name="Ett utgåvenummer identifierar en version. En äldre version kan ha">
            <a:extLst xmlns:a="http://schemas.openxmlformats.org/drawingml/2006/main">
              <a:ext uri="{FF2B5EF4-FFF2-40B4-BE49-F238E27FC236}">
                <a16:creationId xmlns:a16="http://schemas.microsoft.com/office/drawing/2014/main" id="{94ACC41E-B7F9-4573-967B-4333FDC30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Utgåvenumret visar vilken version det är. En äldre utgåva kan ha slutat gälla.</a:t>
            </a:r>
          </a:p>
        </p:txBody>
      </p:sp>
      <p:sp>
        <p:nvSpPr>
          <p:cNvPr id="12" name="Förutsättningar: SEK:s uppgift i kursunderlaget: övergången från ">
            <a:extLst xmlns:a="http://schemas.openxmlformats.org/drawingml/2006/main">
              <a:ext uri="{FF2B5EF4-FFF2-40B4-BE49-F238E27FC236}">
                <a16:creationId xmlns:a16="http://schemas.microsoft.com/office/drawing/2014/main" id="{58144076-2D81-4F21-93CB-5109B952B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Enligt SEK löpte övergångstiden för utgåva 3 ut den 29 maj 2026.</a:t>
            </a:r>
          </a:p>
        </p:txBody>
      </p:sp>
      <p:sp>
        <p:nvSpPr>
          <p:cNvPr id="13" name="Arbetsgång: Jämför pärmens version med den angivna aktuella versi">
            <a:extLst xmlns:a="http://schemas.openxmlformats.org/drawingml/2006/main">
              <a:ext uri="{FF2B5EF4-FFF2-40B4-BE49-F238E27FC236}">
                <a16:creationId xmlns:a16="http://schemas.microsoft.com/office/drawing/2014/main" id="{D535EE2B-DBAE-4D94-BED9-0DC2404C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pärmens utgåva med den aktuella och kontrollera även de lokala anvisningarna.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C78F4897-C725-48DE-AFB6-152A0DB2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f58354b84a4c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0A9A5CE8-BFEF-490A-AA01-2CF842FC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2.2</a:t>
            </a:r>
          </a:p>
        </p:txBody>
      </p:sp>
      <p:sp>
        <p:nvSpPr>
          <p:cNvPr id="3" name="Aktuell utgåva">
            <a:extLst xmlns:a="http://schemas.openxmlformats.org/drawingml/2006/main">
              <a:ext uri="{FF2B5EF4-FFF2-40B4-BE49-F238E27FC236}">
                <a16:creationId xmlns:a16="http://schemas.microsoft.com/office/drawing/2014/main" id="{08AE1939-BC19-4657-85B9-0AD4D7431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Aktuell utgåva</a:t>
            </a:r>
          </a:p>
        </p:txBody>
      </p:sp>
      <p:sp>
        <p:nvSpPr>
          <p:cNvPr id="4" name="En äldre pärm hänvisar till SS-EN 50110-1 utgåva 3:2013. Vilken u">
            <a:extLst xmlns:a="http://schemas.openxmlformats.org/drawingml/2006/main">
              <a:ext uri="{FF2B5EF4-FFF2-40B4-BE49-F238E27FC236}">
                <a16:creationId xmlns:a16="http://schemas.microsoft.com/office/drawing/2014/main" id="{29F1F9EF-006E-42FF-86D4-F8695F09D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äldre pärm hänvisar till SS-EN 50110-1 utgåva 3:2013. Vilken utgåva bygger den här boken på?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0FF4AB6-6542-48E3-8534-388E4EB83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869661B9-E372-4B55-AA24-F7A1EB629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cb0f619074a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75DFB3E1-851D-4F27-8349-C042E6C5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2.3</a:t>
            </a:r>
          </a:p>
        </p:txBody>
      </p:sp>
      <p:sp>
        <p:nvSpPr>
          <p:cNvPr id="10" name="Utan spänning, med spänning, inom och utanför närområde">
            <a:extLst xmlns:a="http://schemas.openxmlformats.org/drawingml/2006/main">
              <a:ext uri="{FF2B5EF4-FFF2-40B4-BE49-F238E27FC236}">
                <a16:creationId xmlns:a16="http://schemas.microsoft.com/office/drawing/2014/main" id="{04F6CC2B-186A-461D-885C-E9C650315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Metoderna skiljer sig i hur nära spänning arbetet sker</a:t>
            </a:r>
          </a:p>
        </p:txBody>
      </p:sp>
      <p:sp>
        <p:nvSpPr>
          <p:cNvPr id="11" name="Arbetsmetoderna skiljer sig i exponering och nödvändiga säkerhets">
            <a:extLst xmlns:a="http://schemas.openxmlformats.org/drawingml/2006/main">
              <a:ext uri="{FF2B5EF4-FFF2-40B4-BE49-F238E27FC236}">
                <a16:creationId xmlns:a16="http://schemas.microsoft.com/office/drawing/2014/main" id="{FF9C5FE8-1D47-4CAF-B968-7F64367D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Metoderna skiljer sig i hur nära spänningsförande delar man arbetar och vilka säkerhetskrav som gäller.</a:t>
            </a:r>
          </a:p>
        </p:txBody>
      </p:sp>
      <p:sp>
        <p:nvSpPr>
          <p:cNvPr id="12" name="Förutsättningar: Benämningarna följer EBR ESA 2026 i denna kursöv">
            <a:extLst xmlns:a="http://schemas.openxmlformats.org/drawingml/2006/main">
              <a:ext uri="{FF2B5EF4-FFF2-40B4-BE49-F238E27FC236}">
                <a16:creationId xmlns:a16="http://schemas.microsoft.com/office/drawing/2014/main" id="{F3751E69-50FD-4BF8-9F5C-C973FFD6B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Namnen följer EBR ESA 2026. Boken ger ingen ESA-behörighet.</a:t>
            </a:r>
          </a:p>
        </p:txBody>
      </p:sp>
      <p:sp>
        <p:nvSpPr>
          <p:cNvPr id="13" name="Arbetsgång: Ange de fyra benämningarna. Valet av metod måste moti">
            <a:extLst xmlns:a="http://schemas.openxmlformats.org/drawingml/2006/main">
              <a:ext uri="{FF2B5EF4-FFF2-40B4-BE49-F238E27FC236}">
                <a16:creationId xmlns:a16="http://schemas.microsoft.com/office/drawing/2014/main" id="{9542FD0C-75D1-4D11-86C8-C43448D26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de fyra namnen. Vid ett verkligt arbete måste valet av metod motiveras.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B760C6F2-0D81-493F-9004-FDE3891A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98f900e42049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9A38945-1090-42CD-9F86-20CAA37E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2.3</a:t>
            </a:r>
          </a:p>
        </p:txBody>
      </p:sp>
      <p:sp>
        <p:nvSpPr>
          <p:cNvPr id="3" name="Arbetsmetoder">
            <a:extLst xmlns:a="http://schemas.openxmlformats.org/drawingml/2006/main">
              <a:ext uri="{FF2B5EF4-FFF2-40B4-BE49-F238E27FC236}">
                <a16:creationId xmlns:a16="http://schemas.microsoft.com/office/drawing/2014/main" id="{A9163720-797E-49AC-B580-DA982451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Arbetsmetoder</a:t>
            </a:r>
          </a:p>
        </p:txBody>
      </p:sp>
      <p:sp>
        <p:nvSpPr>
          <p:cNvPr id="4" name="Nämn de fyra arbetsmetoder som tas upp i ESA 2026-översikten.">
            <a:extLst xmlns:a="http://schemas.openxmlformats.org/drawingml/2006/main">
              <a:ext uri="{FF2B5EF4-FFF2-40B4-BE49-F238E27FC236}">
                <a16:creationId xmlns:a16="http://schemas.microsoft.com/office/drawing/2014/main" id="{7ABB8335-304D-446F-BDB3-224E0E402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Nämn de fyra arbetsmetoderna i ESA 2026.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A98F70A-09DB-4E6F-94B4-A672E86D5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E252D2E-A9A9-4A2F-A353-3841674F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01c24ddb1b41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63D8DC39-4797-47EE-B902-BBF28AE87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2.4</a:t>
            </a:r>
          </a:p>
        </p:txBody>
      </p:sp>
      <p:sp>
        <p:nvSpPr>
          <p:cNvPr id="10" name="Frånskiljning är en del av flera åtgärder">
            <a:extLst xmlns:a="http://schemas.openxmlformats.org/drawingml/2006/main">
              <a:ext uri="{FF2B5EF4-FFF2-40B4-BE49-F238E27FC236}">
                <a16:creationId xmlns:a16="http://schemas.microsoft.com/office/drawing/2014/main" id="{8A2B2899-D340-4F14-B427-94E44D916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Frånskiljning är en del av flera åtgärder</a:t>
            </a:r>
          </a:p>
        </p:txBody>
      </p:sp>
      <p:sp>
        <p:nvSpPr>
          <p:cNvPr id="11" name="Skydd mot tillkoppling, spänningslöshetskontroll och skydd mot nä">
            <a:extLst xmlns:a="http://schemas.openxmlformats.org/drawingml/2006/main">
              <a:ext uri="{FF2B5EF4-FFF2-40B4-BE49-F238E27FC236}">
                <a16:creationId xmlns:a16="http://schemas.microsoft.com/office/drawing/2014/main" id="{8BBA93F3-FA67-4FCD-96B9-38E16A4AB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mot återinkoppling, spänningslöshetskontroll och skydd mot närliggande delar ingår i planeringen.</a:t>
            </a:r>
          </a:p>
        </p:txBody>
      </p:sp>
      <p:sp>
        <p:nvSpPr>
          <p:cNvPr id="12" name="Förutsättningar: Jordning och kortslutning tillämpas enligt anläg">
            <a:extLst xmlns:a="http://schemas.openxmlformats.org/drawingml/2006/main">
              <a:ext uri="{FF2B5EF4-FFF2-40B4-BE49-F238E27FC236}">
                <a16:creationId xmlns:a16="http://schemas.microsoft.com/office/drawing/2014/main" id="{716B49FB-A40A-4B0A-8A39-1405F0432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Jordning och kortslutning görs när anläggningen, arbetsmetoden och gällande krav kräver det.</a:t>
            </a:r>
          </a:p>
        </p:txBody>
      </p:sp>
      <p:sp>
        <p:nvSpPr>
          <p:cNvPr id="13" name="Arbetsgång: Förklara vilken risk som kvarstår efter enbart frånsk">
            <a:extLst xmlns:a="http://schemas.openxmlformats.org/drawingml/2006/main">
              <a:ext uri="{FF2B5EF4-FFF2-40B4-BE49-F238E27FC236}">
                <a16:creationId xmlns:a16="http://schemas.microsoft.com/office/drawing/2014/main" id="{BEE03CBC-5928-4626-B6C6-6CE038AC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vilken risk som kvarstår efter enbart frånskiljning. Knyt varje risk till ytterligare åtgärd.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8EFE879A-23F8-465C-A138-AFC4A512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353b24ef664a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D6635E3-63DC-40DC-9B9B-8F975150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2.4</a:t>
            </a:r>
          </a:p>
        </p:txBody>
      </p:sp>
      <p:sp>
        <p:nvSpPr>
          <p:cNvPr id="3" name="Säkerhetsåtgärder">
            <a:extLst xmlns:a="http://schemas.openxmlformats.org/drawingml/2006/main">
              <a:ext uri="{FF2B5EF4-FFF2-40B4-BE49-F238E27FC236}">
                <a16:creationId xmlns:a16="http://schemas.microsoft.com/office/drawing/2014/main" id="{5AB7ED57-EF2B-4B55-BEDD-17C22A287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Säkerhetsåtgärder</a:t>
            </a:r>
          </a:p>
        </p:txBody>
      </p:sp>
      <p:sp>
        <p:nvSpPr>
          <p:cNvPr id="4" name="Varför räcker enbart frånskiljning inte som hela beredningen för ">
            <a:extLst xmlns:a="http://schemas.openxmlformats.org/drawingml/2006/main">
              <a:ext uri="{FF2B5EF4-FFF2-40B4-BE49-F238E27FC236}">
                <a16:creationId xmlns:a16="http://schemas.microsoft.com/office/drawing/2014/main" id="{1C853571-DEB9-4D97-BB3E-C113717F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räcker det inte att frånskilja när du förbereder ett arbete utan 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8BB40CA-A578-4AE5-9C6C-0CD9ED5F9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9DEA7252-561B-41B1-B75D-1C343C6AE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bacdae50f640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FAB55606-DA52-4E29-9BB5-6DD7104B1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2.5</a:t>
            </a:r>
          </a:p>
        </p:txBody>
      </p:sp>
      <p:sp>
        <p:nvSpPr>
          <p:cNvPr id="10" name="Ett startbesked behöver entydiga uppgifter">
            <a:extLst xmlns:a="http://schemas.openxmlformats.org/drawingml/2006/main">
              <a:ext uri="{FF2B5EF4-FFF2-40B4-BE49-F238E27FC236}">
                <a16:creationId xmlns:a16="http://schemas.microsoft.com/office/drawing/2014/main" id="{DFD6B9DE-211A-4B7A-BE3A-8C4274D1C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Ett startbesked behöver entydiga uppgifter</a:t>
            </a:r>
          </a:p>
        </p:txBody>
      </p:sp>
      <p:sp>
        <p:nvSpPr>
          <p:cNvPr id="11" name="Objekt, arbetsgräns, utförda kontroller, ansvarig och mottagare b">
            <a:extLst xmlns:a="http://schemas.openxmlformats.org/drawingml/2006/main">
              <a:ext uri="{FF2B5EF4-FFF2-40B4-BE49-F238E27FC236}">
                <a16:creationId xmlns:a16="http://schemas.microsoft.com/office/drawing/2014/main" id="{2DD5BDCC-4422-4B3E-A31F-50CC7CD52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Objekt, arbetsgräns, utförda kontroller, vem som ger beskedet och vem som tar emot det behöver vara klart.</a:t>
            </a:r>
          </a:p>
        </p:txBody>
      </p:sp>
      <p:sp>
        <p:nvSpPr>
          <p:cNvPr id="12" name="Förutsättningar: Beskedet är: ”Den är nog avstängd, ni kan börja.">
            <a:extLst xmlns:a="http://schemas.openxmlformats.org/drawingml/2006/main">
              <a:ext uri="{FF2B5EF4-FFF2-40B4-BE49-F238E27FC236}">
                <a16:creationId xmlns:a16="http://schemas.microsoft.com/office/drawing/2014/main" id="{571B19CE-8E96-4E02-BC4E-AEF692341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Beskedet är: ”Den är nog avstängd, ni kan börja.” Inga kontroller nämns.</a:t>
            </a:r>
          </a:p>
        </p:txBody>
      </p:sp>
      <p:sp>
        <p:nvSpPr>
          <p:cNvPr id="13" name="Arbetsgång: Identifiera två saknade uppgifter och ange varför var">
            <a:extLst xmlns:a="http://schemas.openxmlformats.org/drawingml/2006/main">
              <a:ext uri="{FF2B5EF4-FFF2-40B4-BE49-F238E27FC236}">
                <a16:creationId xmlns:a16="http://schemas.microsoft.com/office/drawing/2014/main" id="{AE387346-6F2B-49F2-9B94-8ADBE600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två uppgifter som saknas och varför var och en gör att arbetet inte kan börja säkert.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DB59A99C-FADA-4B89-9BE7-F12ECED23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b937a0017b4e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CEF185F4-CEE1-4161-AF99-98AF1ABA8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2.5</a:t>
            </a:r>
          </a:p>
        </p:txBody>
      </p:sp>
      <p:sp>
        <p:nvSpPr>
          <p:cNvPr id="3" name="Otydligt besked">
            <a:extLst xmlns:a="http://schemas.openxmlformats.org/drawingml/2006/main">
              <a:ext uri="{FF2B5EF4-FFF2-40B4-BE49-F238E27FC236}">
                <a16:creationId xmlns:a16="http://schemas.microsoft.com/office/drawing/2014/main" id="{3F19C49E-A7A4-40B0-91C5-1379B856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Otydligt besked</a:t>
            </a:r>
          </a:p>
        </p:txBody>
      </p:sp>
      <p:sp>
        <p:nvSpPr>
          <p:cNvPr id="4" name="”Den är nog avstängd, ni kan börja” sägs via telefon. Ange två br">
            <a:extLst xmlns:a="http://schemas.openxmlformats.org/drawingml/2006/main">
              <a:ext uri="{FF2B5EF4-FFF2-40B4-BE49-F238E27FC236}">
                <a16:creationId xmlns:a16="http://schemas.microsoft.com/office/drawing/2014/main" id="{09B6D7C9-8126-4DED-B203-00B8FEE51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”Den är nog avstängd, ni kan börja” sägs via telefon. Ange två brister i beskedet.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593CC3A-301C-470F-B21E-7D666E4F0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8DBC575-0163-451A-A7EB-B38480E55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7033e3a77446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C767BB25-E324-4364-B9DB-65EC46790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Roller och kommunikation&#10;Regler för fartyg&#10;Avgränsning före beslu">
            <a:extLst xmlns:a="http://schemas.openxmlformats.org/drawingml/2006/main">
              <a:ext uri="{FF2B5EF4-FFF2-40B4-BE49-F238E27FC236}">
                <a16:creationId xmlns:a16="http://schemas.microsoft.com/office/drawing/2014/main" id="{3DA6334A-5474-4630-BEF7-4AAF6566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Roller och kommunikation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Regler för fartyg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Avgränsning före beslut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5B94D8C0-B50C-4401-861E-EC970E561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2.6–2.10.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EE398748-1048-442D-B310-090D695F5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c3decc5f874b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oller och kommunikation">
            <a:extLst xmlns:a="http://schemas.openxmlformats.org/drawingml/2006/main">
              <a:ext uri="{FF2B5EF4-FFF2-40B4-BE49-F238E27FC236}">
                <a16:creationId xmlns:a16="http://schemas.microsoft.com/office/drawing/2014/main" id="{BAC0305F-7922-46A3-B6A5-F5DAC338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Roller och kommunikation</a:t>
            </a:r>
          </a:p>
        </p:txBody>
      </p:sp>
      <p:sp>
        <p:nvSpPr>
          <p:cNvPr id="3" name="Elsäkerhetsledaren leder säkerheten för det aktuella arbetet.&#10;Dri">
            <a:extLst xmlns:a="http://schemas.openxmlformats.org/drawingml/2006/main">
              <a:ext uri="{FF2B5EF4-FFF2-40B4-BE49-F238E27FC236}">
                <a16:creationId xmlns:a16="http://schemas.microsoft.com/office/drawing/2014/main" id="{13785F24-3860-4EA2-AC12-9A666831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Elsäkerhetsledaren leder säkerheten för det aktuella arbetet.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Driftorganisationen samordnar drift och kopplingsåtgärder.</a:t>
            </a:r>
          </a:p>
        </p:txBody>
      </p:sp>
      <p:sp>
        <p:nvSpPr>
          <p:cNvPr id="4" name="Utsedd person, avgränsat uppdrag, tydligt besked">
            <a:extLst xmlns:a="http://schemas.openxmlformats.org/drawingml/2006/main">
              <a:ext uri="{FF2B5EF4-FFF2-40B4-BE49-F238E27FC236}">
                <a16:creationId xmlns:a16="http://schemas.microsoft.com/office/drawing/2014/main" id="{5C0ADCB6-A69D-4311-8E4D-FAA3C1E0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Utsedd person, avgränsat uppdrag, tydligt besked</a:t>
            </a:r>
          </a:p>
        </p:txBody>
      </p:sp>
      <p:sp>
        <p:nvSpPr>
          <p:cNvPr id="5" name="Planens ”kopplingsansvarig” måste preciseras i lokal organisation">
            <a:extLst xmlns:a="http://schemas.openxmlformats.org/drawingml/2006/main">
              <a:ext uri="{FF2B5EF4-FFF2-40B4-BE49-F238E27FC236}">
                <a16:creationId xmlns:a16="http://schemas.microsoft.com/office/drawing/2014/main" id="{EC36CB0A-D197-431D-8545-067862BC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Planens ”kopplingsansvarig” måste preciseras i lokal organisation.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Namn, funktion och överlämning ska vara entydiga.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D4A68107-4BF5-4669-9774-FE12488C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Besked mellan driftorganisation, elsäker" descr="Besked mellan driftorganisation, elsäkerhetsledare och arbetslag: kopplingsbesked, startbesked, klart och återläm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244bb738a24d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gler för fartyg">
            <a:extLst xmlns:a="http://schemas.openxmlformats.org/drawingml/2006/main">
              <a:ext uri="{FF2B5EF4-FFF2-40B4-BE49-F238E27FC236}">
                <a16:creationId xmlns:a16="http://schemas.microsoft.com/office/drawing/2014/main" id="{AD3F0E0B-00AB-4DDC-8C7E-8CE455FB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Regler för fartyg</a:t>
            </a:r>
          </a:p>
        </p:txBody>
      </p:sp>
      <p:sp>
        <p:nvSpPr>
          <p:cNvPr id="3" name="Transportstyrelsen listar olika regelverk för olika fartyg.&#10;Exemp">
            <a:extLst xmlns:a="http://schemas.openxmlformats.org/drawingml/2006/main">
              <a:ext uri="{FF2B5EF4-FFF2-40B4-BE49-F238E27FC236}">
                <a16:creationId xmlns:a16="http://schemas.microsoft.com/office/drawing/2014/main" id="{20489CE9-6B72-4AB1-8A7D-58869D8D1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Transportstyrelsen listar olika regelverk för olika fartyg.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 är TSFS 2019:4 och TSFS 2017:26.</a:t>
            </a:r>
          </a:p>
        </p:txBody>
      </p:sp>
      <p:sp>
        <p:nvSpPr>
          <p:cNvPr id="4" name="Fartygstyp och tillämpningsområde styr">
            <a:extLst xmlns:a="http://schemas.openxmlformats.org/drawingml/2006/main">
              <a:ext uri="{FF2B5EF4-FFF2-40B4-BE49-F238E27FC236}">
                <a16:creationId xmlns:a16="http://schemas.microsoft.com/office/drawing/2014/main" id="{44E40A71-180E-4E3D-8C9D-3F53A250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Fartygstyp och tillämpningsområde styr</a:t>
            </a:r>
          </a:p>
        </p:txBody>
      </p:sp>
      <p:sp>
        <p:nvSpPr>
          <p:cNvPr id="5" name="IEC 60092 behandlar elinstallationer på fartyg.&#10;SS-EN 50110-1 har">
            <a:extLst xmlns:a="http://schemas.openxmlformats.org/drawingml/2006/main">
              <a:ext uri="{FF2B5EF4-FFF2-40B4-BE49-F238E27FC236}">
                <a16:creationId xmlns:a16="http://schemas.microsoft.com/office/drawing/2014/main" id="{5E0494B6-933A-4BAD-8173-2FC92BCA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IEC 60092 behandlar elinstallationer på fartyg.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 har inte utvecklats specifikt för sjögående fartyg.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73123429-D827-476E-989A-31D95E3F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c60074eea34c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gränsning före beslut">
            <a:extLst xmlns:a="http://schemas.openxmlformats.org/drawingml/2006/main">
              <a:ext uri="{FF2B5EF4-FFF2-40B4-BE49-F238E27FC236}">
                <a16:creationId xmlns:a16="http://schemas.microsoft.com/office/drawing/2014/main" id="{2F56A52F-3177-4CFA-8714-AAE81173C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Avgränsning före beslut</a:t>
            </a:r>
          </a:p>
        </p:txBody>
      </p:sp>
      <p:sp>
        <p:nvSpPr>
          <p:cNvPr id="3" name="Arbetsområdet kan påverkas av fler än en matning.&#10;Reservkraft, UP">
            <a:extLst xmlns:a="http://schemas.openxmlformats.org/drawingml/2006/main">
              <a:ext uri="{FF2B5EF4-FFF2-40B4-BE49-F238E27FC236}">
                <a16:creationId xmlns:a16="http://schemas.microsoft.com/office/drawing/2014/main" id="{05FA8609-F920-45A6-A05D-496EAD55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Arbetsområdet kan påverkas av fler än en matning.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Reservkraft, UPS och lagrad energi ingår i kartläggningen.</a:t>
            </a:r>
          </a:p>
        </p:txBody>
      </p:sp>
      <p:sp>
        <p:nvSpPr>
          <p:cNvPr id="4" name="Rätt objekt och alla berörda energikällor">
            <a:extLst xmlns:a="http://schemas.openxmlformats.org/drawingml/2006/main">
              <a:ext uri="{FF2B5EF4-FFF2-40B4-BE49-F238E27FC236}">
                <a16:creationId xmlns:a16="http://schemas.microsoft.com/office/drawing/2014/main" id="{FB476A96-FF74-48FC-B6F4-021D7F08F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objekt och alla berörda energikällor</a:t>
            </a:r>
          </a:p>
        </p:txBody>
      </p:sp>
      <p:sp>
        <p:nvSpPr>
          <p:cNvPr id="5" name="Arbetsberedningen ska ange vad som får påbörjas, av vem&#10;och under">
            <a:extLst xmlns:a="http://schemas.openxmlformats.org/drawingml/2006/main">
              <a:ext uri="{FF2B5EF4-FFF2-40B4-BE49-F238E27FC236}">
                <a16:creationId xmlns:a16="http://schemas.microsoft.com/office/drawing/2014/main" id="{CA49FDE0-B0B6-42D2-B191-AD11CC049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Arbetsberedningen ska ange vad som får påbörjas, av vem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och under vilka verifierade förutsättningar.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3147BA5A-CE83-4B17-A4CA-3652115B7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39156fe21c45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vå matningsvägar">
            <a:extLst xmlns:a="http://schemas.openxmlformats.org/drawingml/2006/main">
              <a:ext uri="{FF2B5EF4-FFF2-40B4-BE49-F238E27FC236}">
                <a16:creationId xmlns:a16="http://schemas.microsoft.com/office/drawing/2014/main" id="{10D77A58-6073-44AC-9124-B05EA85A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två matningsvägar</a:t>
            </a:r>
          </a:p>
        </p:txBody>
      </p:sp>
      <p:sp>
        <p:nvSpPr>
          <p:cNvPr id="10" name="Arbete planeras på K3. Landmatningen är beskriven, men ritningen ">
            <a:extLst xmlns:a="http://schemas.openxmlformats.org/drawingml/2006/main">
              <a:ext uri="{FF2B5EF4-FFF2-40B4-BE49-F238E27FC236}">
                <a16:creationId xmlns:a16="http://schemas.microsoft.com/office/drawing/2014/main" id="{0B54A363-ACDD-4C19-ABF3-07CBD8C2D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Arbete planeras på K3. Landanslutningen är beskriven, men ritningen visar också ett UPS-spår.</a:t>
            </a:r>
          </a:p>
        </p:txBody>
      </p:sp>
      <p:sp>
        <p:nvSpPr>
          <p:cNvPr id="11" name="Arbetsgräns omfattar alla berörda energikällor">
            <a:extLst xmlns:a="http://schemas.openxmlformats.org/drawingml/2006/main">
              <a:ext uri="{FF2B5EF4-FFF2-40B4-BE49-F238E27FC236}">
                <a16:creationId xmlns:a16="http://schemas.microsoft.com/office/drawing/2014/main" id="{B5DEFAC4-9A24-4943-9E10-4FC006AE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 omfattar alla berörda energikällor</a:t>
            </a:r>
          </a:p>
        </p:txBody>
      </p:sp>
      <p:sp>
        <p:nvSpPr>
          <p:cNvPr id="12" name="1. Observation: UPS-vägen finns i ritningen men saknas i planen.&#10;">
            <a:extLst xmlns:a="http://schemas.openxmlformats.org/drawingml/2006/main">
              <a:ext uri="{FF2B5EF4-FFF2-40B4-BE49-F238E27FC236}">
                <a16:creationId xmlns:a16="http://schemas.microsoft.com/office/drawing/2014/main" id="{C22E990A-880E-4849-AE88-6FB01CD4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Observation: UPS-vägen finns i ritningen men saknas i planen.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Osäkerhet: K3 kan ha en ytterligare möjlig matning.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Berörd start väntar tills vägen och skyddsåtgärderna verifierats.</a:t>
            </a:r>
          </a:p>
        </p:txBody>
      </p:sp>
      <p:sp>
        <p:nvSpPr>
          <p:cNvPr id="13" name="Planen ska ange ansvarig, utförda kontroller och ett tydligt besk">
            <a:extLst xmlns:a="http://schemas.openxmlformats.org/drawingml/2006/main">
              <a:ext uri="{FF2B5EF4-FFF2-40B4-BE49-F238E27FC236}">
                <a16:creationId xmlns:a16="http://schemas.microsoft.com/office/drawing/2014/main" id="{6A86CDD0-2316-4B6E-A761-7594E5857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Planen ska ange ansvarig, utförda kontroller och ett tydligt besked för det avgränsade arbetet.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B7520478-E326-47EE-AD26-33266E5E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K3 matas från landanslutning som finns i" descr="K3 matas från landanslutning som finns i planen och från UPS som finns i ritningen men inte i plan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e2cd29b6354a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BFAB9DB7-F46F-4C7A-8D58-F3EBE43D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2.6</a:t>
            </a:r>
          </a:p>
        </p:txBody>
      </p:sp>
      <p:sp>
        <p:nvSpPr>
          <p:cNvPr id="10" name="Uppdrag och befogenheter måste vara utpekade">
            <a:extLst xmlns:a="http://schemas.openxmlformats.org/drawingml/2006/main">
              <a:ext uri="{FF2B5EF4-FFF2-40B4-BE49-F238E27FC236}">
                <a16:creationId xmlns:a16="http://schemas.microsoft.com/office/drawing/2014/main" id="{14BC97BA-FD5B-4FF5-B413-7F617FD36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Uppdrag och befogenheter måste vara utpekade</a:t>
            </a:r>
          </a:p>
        </p:txBody>
      </p:sp>
      <p:sp>
        <p:nvSpPr>
          <p:cNvPr id="11" name="Elsäkerhetsledaren leder säkerheten för arbetet. Driftorganisatio">
            <a:extLst xmlns:a="http://schemas.openxmlformats.org/drawingml/2006/main">
              <a:ext uri="{FF2B5EF4-FFF2-40B4-BE49-F238E27FC236}">
                <a16:creationId xmlns:a16="http://schemas.microsoft.com/office/drawing/2014/main" id="{D33BA79A-BDDF-4DEF-BA54-92E2034F3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Elsäkerhetsledaren leder säkerheten i arbetet, och driftorganisationen samordnar drift och kopplingar.</a:t>
            </a:r>
          </a:p>
        </p:txBody>
      </p:sp>
      <p:sp>
        <p:nvSpPr>
          <p:cNvPr id="12" name="Förutsättningar: Gruppen saknar utsedd ledning för det aktuella a">
            <a:extLst xmlns:a="http://schemas.openxmlformats.org/drawingml/2006/main">
              <a:ext uri="{FF2B5EF4-FFF2-40B4-BE49-F238E27FC236}">
                <a16:creationId xmlns:a16="http://schemas.microsoft.com/office/drawing/2014/main" id="{C276CA73-F4E6-469A-9F05-1EBB11CA5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Ingen är utsedd att leda elsäkerheten i det här arbetet. ”Alla håller koll” är den enda fördelningen av ansvar.</a:t>
            </a:r>
          </a:p>
        </p:txBody>
      </p:sp>
      <p:sp>
        <p:nvSpPr>
          <p:cNvPr id="13" name="Arbetsgång: Förklara vilken besluts- eller samordningsuppgift som">
            <a:extLst xmlns:a="http://schemas.openxmlformats.org/drawingml/2006/main">
              <a:ext uri="{FF2B5EF4-FFF2-40B4-BE49-F238E27FC236}">
                <a16:creationId xmlns:a16="http://schemas.microsoft.com/office/drawing/2014/main" id="{E278B428-EC2E-43FF-B5B9-C684BB054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vilket beslut eller vilken samordning som annars riskerar att ingen tar hand om.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2E8801F8-7A79-4520-9040-25D24D2B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21864f926b4d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577A96E1-F360-4479-9D65-564A7D6E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2.6</a:t>
            </a:r>
          </a:p>
        </p:txBody>
      </p:sp>
      <p:sp>
        <p:nvSpPr>
          <p:cNvPr id="3" name="Rollfördelning">
            <a:extLst xmlns:a="http://schemas.openxmlformats.org/drawingml/2006/main">
              <a:ext uri="{FF2B5EF4-FFF2-40B4-BE49-F238E27FC236}">
                <a16:creationId xmlns:a16="http://schemas.microsoft.com/office/drawing/2014/main" id="{75A1439D-7B4C-4107-92AF-C10836B6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Rollfördelning</a:t>
            </a:r>
          </a:p>
        </p:txBody>
      </p:sp>
      <p:sp>
        <p:nvSpPr>
          <p:cNvPr id="4" name="En grupp saknar utsedd ledning för elsäkerheten i arbetsmomentet.">
            <a:extLst xmlns:a="http://schemas.openxmlformats.org/drawingml/2006/main">
              <a:ext uri="{FF2B5EF4-FFF2-40B4-BE49-F238E27FC236}">
                <a16:creationId xmlns:a16="http://schemas.microsoft.com/office/drawing/2014/main" id="{D955B7C0-2F2A-453B-81CB-5AE0E0A82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Ingen i en arbetsgrupp är utsedd att leda elsäkerheten. Kan ett muntligt ”alla håller koll” ersätta det?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24117FF-8839-42F6-B2F8-215E70C01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449C425A-D5CC-42A6-8AED-A223721C4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86abc70ab14b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E797A30-9420-4D1A-BB6B-F087316D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2.7</a:t>
            </a:r>
          </a:p>
        </p:txBody>
      </p:sp>
      <p:sp>
        <p:nvSpPr>
          <p:cNvPr id="10" name="Regelval bygger på fartygsdata">
            <a:extLst xmlns:a="http://schemas.openxmlformats.org/drawingml/2006/main">
              <a:ext uri="{FF2B5EF4-FFF2-40B4-BE49-F238E27FC236}">
                <a16:creationId xmlns:a16="http://schemas.microsoft.com/office/drawing/2014/main" id="{96D00C5B-8A7E-4169-BD52-7207D87A7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Regelval bygger på fartygsdata</a:t>
            </a:r>
          </a:p>
        </p:txBody>
      </p:sp>
      <p:sp>
        <p:nvSpPr>
          <p:cNvPr id="11" name="Fartygstyp, storlek, trafik, byggnadsdata och berört system påver">
            <a:extLst xmlns:a="http://schemas.openxmlformats.org/drawingml/2006/main">
              <a:ext uri="{FF2B5EF4-FFF2-40B4-BE49-F238E27FC236}">
                <a16:creationId xmlns:a16="http://schemas.microsoft.com/office/drawing/2014/main" id="{189CCD9A-F62F-4A7C-9556-8A6EC7E41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Fartygstyp, storlek, trafik, byggnadsdata och vilket system det gäller påverkar vilka föreskrifter som gäller.</a:t>
            </a:r>
          </a:p>
        </p:txBody>
      </p:sp>
      <p:sp>
        <p:nvSpPr>
          <p:cNvPr id="12" name="Förutsättningar: Inga sådana fartygsdata är givna. Därför ska upp">
            <a:extLst xmlns:a="http://schemas.openxmlformats.org/drawingml/2006/main">
              <a:ext uri="{FF2B5EF4-FFF2-40B4-BE49-F238E27FC236}">
                <a16:creationId xmlns:a16="http://schemas.microsoft.com/office/drawing/2014/main" id="{88687089-8939-497A-B09E-6B8BD646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Inga fartygsdata är givna. Svara därför med vilken information som behövs – gissa inte en paragraf.</a:t>
            </a:r>
          </a:p>
        </p:txBody>
      </p:sp>
      <p:sp>
        <p:nvSpPr>
          <p:cNvPr id="13" name="Arbetsgång: Lista nödvändiga uppgifter och förklara hur de använd">
            <a:extLst xmlns:a="http://schemas.openxmlformats.org/drawingml/2006/main">
              <a:ext uri="{FF2B5EF4-FFF2-40B4-BE49-F238E27FC236}">
                <a16:creationId xmlns:a16="http://schemas.microsoft.com/office/drawing/2014/main" id="{876CEC11-15F9-436E-B449-E3510B98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Lista uppgifterna och förklara hur du använder dem för att kontrollera tillämpningsområdet.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92AEC63-78B8-45CD-BB42-8302EE89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8e7184150141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649881C3-FBB8-4731-8205-C154E871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2.7</a:t>
            </a:r>
          </a:p>
        </p:txBody>
      </p:sp>
      <p:sp>
        <p:nvSpPr>
          <p:cNvPr id="3" name="Regelval ombord">
            <a:extLst xmlns:a="http://schemas.openxmlformats.org/drawingml/2006/main">
              <a:ext uri="{FF2B5EF4-FFF2-40B4-BE49-F238E27FC236}">
                <a16:creationId xmlns:a16="http://schemas.microsoft.com/office/drawing/2014/main" id="{ABE2035D-067E-4D44-9CA9-A098F648A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Regelval ombord</a:t>
            </a:r>
          </a:p>
        </p:txBody>
      </p:sp>
      <p:sp>
        <p:nvSpPr>
          <p:cNvPr id="4" name="Du får ett fall om en elektrisk installation på ett fartyg. Vilka">
            <a:extLst xmlns:a="http://schemas.openxmlformats.org/drawingml/2006/main">
              <a:ext uri="{FF2B5EF4-FFF2-40B4-BE49-F238E27FC236}">
                <a16:creationId xmlns:a16="http://schemas.microsoft.com/office/drawing/2014/main" id="{C476F03A-FD8C-4E42-852E-F606D0AE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Du får ett fall om en elektrisk installation på ett fartyg. Vilka uppgifter behöver du innan du kan hänvisa till rätt TSFS?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88B46EA-F287-4CA6-BBD7-80FFBAF13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E94D67C7-BC67-44AD-8128-7825CC49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dcbe491dec40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2501E75-5C38-4B2A-9E8B-F0A1FD1F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2.8</a:t>
            </a:r>
          </a:p>
        </p:txBody>
      </p:sp>
      <p:sp>
        <p:nvSpPr>
          <p:cNvPr id="10" name="TSFS 2014:1 är upphävd genom TSFS 2019:4">
            <a:extLst xmlns:a="http://schemas.openxmlformats.org/drawingml/2006/main">
              <a:ext uri="{FF2B5EF4-FFF2-40B4-BE49-F238E27FC236}">
                <a16:creationId xmlns:a16="http://schemas.microsoft.com/office/drawing/2014/main" id="{3CAACFBF-BBCB-49D7-90E6-93332714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Kontrollera föreskriftens status i regellistan</a:t>
            </a:r>
          </a:p>
        </p:txBody>
      </p:sp>
      <p:sp>
        <p:nvSpPr>
          <p:cNvPr id="11" name="Transportstyrelsens regellista anger upphävandet. Ett nytt föresk">
            <a:extLst xmlns:a="http://schemas.openxmlformats.org/drawingml/2006/main">
              <a:ext uri="{FF2B5EF4-FFF2-40B4-BE49-F238E27FC236}">
                <a16:creationId xmlns:a16="http://schemas.microsoft.com/office/drawing/2014/main" id="{0C87CE9B-B18F-41AC-9161-C2D23F0BA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Transportstyrelsens regellista visar om en föreskrift gäller eller är upphävd. Ett nytt nummer kräver ändå kontroll av tillämpningen.</a:t>
            </a:r>
          </a:p>
        </p:txBody>
      </p:sp>
      <p:sp>
        <p:nvSpPr>
          <p:cNvPr id="12" name="Förutsättningar: Underlagssidan kallar TSFS 2014:1 aktuell. Kursf">
            <a:extLst xmlns:a="http://schemas.openxmlformats.org/drawingml/2006/main">
              <a:ext uri="{FF2B5EF4-FFF2-40B4-BE49-F238E27FC236}">
                <a16:creationId xmlns:a16="http://schemas.microsoft.com/office/drawing/2014/main" id="{9B46FB68-7C3A-4B0E-AC10-224A55DB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Dokumentet säger att TSFS 2014:1 gäller. Inget i fallet stöder det.</a:t>
            </a:r>
          </a:p>
        </p:txBody>
      </p:sp>
      <p:sp>
        <p:nvSpPr>
          <p:cNvPr id="13" name="Arbetsgång: Ange vilken hänvisning som är inaktuell och vad som b">
            <a:extLst xmlns:a="http://schemas.openxmlformats.org/drawingml/2006/main">
              <a:ext uri="{FF2B5EF4-FFF2-40B4-BE49-F238E27FC236}">
                <a16:creationId xmlns:a16="http://schemas.microsoft.com/office/drawing/2014/main" id="{23C32E39-F384-4CBE-A6C7-8252D6E1A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vilken hänvisning som är inaktuell och vad som behöver verifieras i ersättningsregelverket.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08229965-1C08-4DE1-86F5-28392D880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1a8a2d82354c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6574C073-3481-4BB7-ADEB-A0E410C3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2.8</a:t>
            </a:r>
          </a:p>
        </p:txBody>
      </p:sp>
      <p:sp>
        <p:nvSpPr>
          <p:cNvPr id="3" name="Gammal föreskrift">
            <a:extLst xmlns:a="http://schemas.openxmlformats.org/drawingml/2006/main">
              <a:ext uri="{FF2B5EF4-FFF2-40B4-BE49-F238E27FC236}">
                <a16:creationId xmlns:a16="http://schemas.microsoft.com/office/drawing/2014/main" id="{9B3AE21C-6D04-420F-B600-6DB41B09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Gammal föreskrift</a:t>
            </a:r>
          </a:p>
        </p:txBody>
      </p:sp>
      <p:sp>
        <p:nvSpPr>
          <p:cNvPr id="4" name="En underlagssida anger TSFS 2014:1 som aktuell. Vad visar Transpo">
            <a:extLst xmlns:a="http://schemas.openxmlformats.org/drawingml/2006/main">
              <a:ext uri="{FF2B5EF4-FFF2-40B4-BE49-F238E27FC236}">
                <a16:creationId xmlns:a16="http://schemas.microsoft.com/office/drawing/2014/main" id="{0E446E9B-BC1C-47C5-85B9-4BC6189FE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dokument anger att TSFS 2014:1 gäller. Vad säger Transportstyrelsens regellista?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96DD380-39FF-44FF-93A3-D435944B8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27430EF6-51BA-4C41-9370-3C80CE77D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529ea062f541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147E4F3-F034-458C-91BF-62B14CDC8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2.9</a:t>
            </a:r>
          </a:p>
        </p:txBody>
      </p:sp>
      <p:sp>
        <p:nvSpPr>
          <p:cNvPr id="10" name="Alla möjliga matningsvägar ingår i avgränsningen">
            <a:extLst xmlns:a="http://schemas.openxmlformats.org/drawingml/2006/main">
              <a:ext uri="{FF2B5EF4-FFF2-40B4-BE49-F238E27FC236}">
                <a16:creationId xmlns:a16="http://schemas.microsoft.com/office/drawing/2014/main" id="{AAD48168-6BE1-4F2C-9E23-99EF07D88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Alla möjliga matningsvägar ingår i avgränsningen</a:t>
            </a:r>
          </a:p>
        </p:txBody>
      </p:sp>
      <p:sp>
        <p:nvSpPr>
          <p:cNvPr id="11" name="Normalmatning, reservmatning och möjlig återspänningssättning påv">
            <a:extLst xmlns:a="http://schemas.openxmlformats.org/drawingml/2006/main">
              <a:ext uri="{FF2B5EF4-FFF2-40B4-BE49-F238E27FC236}">
                <a16:creationId xmlns:a16="http://schemas.microsoft.com/office/drawing/2014/main" id="{D418EC37-F47E-435C-A895-4D7F08369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Normal matning, reservmatning och risken att spänningen kommer tillbaka påverkar samma arbetsområde.</a:t>
            </a:r>
          </a:p>
        </p:txBody>
      </p:sp>
      <p:sp>
        <p:nvSpPr>
          <p:cNvPr id="12" name="Förutsättningar: Fördelningen kan matas från land eller generator">
            <a:extLst xmlns:a="http://schemas.openxmlformats.org/drawingml/2006/main">
              <a:ext uri="{FF2B5EF4-FFF2-40B4-BE49-F238E27FC236}">
                <a16:creationId xmlns:a16="http://schemas.microsoft.com/office/drawing/2014/main" id="{74F49907-E034-491D-87FC-22930E99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Fördelningen kan matas från land eller generator. Planen nämner bara landanslutningen.</a:t>
            </a:r>
          </a:p>
        </p:txBody>
      </p:sp>
      <p:sp>
        <p:nvSpPr>
          <p:cNvPr id="13" name="Arbetsgång: Jämför planens energikällor med fallets. Ange vilken ">
            <a:extLst xmlns:a="http://schemas.openxmlformats.org/drawingml/2006/main">
              <a:ext uri="{FF2B5EF4-FFF2-40B4-BE49-F238E27FC236}">
                <a16:creationId xmlns:a16="http://schemas.microsoft.com/office/drawing/2014/main" id="{B10AFA01-8AE7-4AE0-B654-BF87411B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energikällorna i planen med dem i fallet och ange vad som måste läggas till innan arbetet kan börja.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8A36CD37-5901-41DC-AE03-6825A35EB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En fördelning matas från landanslutning," descr="En fördelning matas från landanslutning, som finns i planen, och från generat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941a42deb344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126C550-F824-46D2-9ACA-72F0A9221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2.9</a:t>
            </a:r>
          </a:p>
        </p:txBody>
      </p:sp>
      <p:sp>
        <p:nvSpPr>
          <p:cNvPr id="3" name="Två matningar">
            <a:extLst xmlns:a="http://schemas.openxmlformats.org/drawingml/2006/main">
              <a:ext uri="{FF2B5EF4-FFF2-40B4-BE49-F238E27FC236}">
                <a16:creationId xmlns:a16="http://schemas.microsoft.com/office/drawing/2014/main" id="{7086C060-5846-421E-ACD3-9D734EF9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matningar</a:t>
            </a:r>
          </a:p>
        </p:txBody>
      </p:sp>
      <p:sp>
        <p:nvSpPr>
          <p:cNvPr id="4" name="En fördelning kan få el från landanslutning eller generator. Plan">
            <a:extLst xmlns:a="http://schemas.openxmlformats.org/drawingml/2006/main">
              <a:ext uri="{FF2B5EF4-FFF2-40B4-BE49-F238E27FC236}">
                <a16:creationId xmlns:a16="http://schemas.microsoft.com/office/drawing/2014/main" id="{A4C4E70E-F4EB-4D5F-BAA5-327039465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fördelning kan få el från landanslutning eller generator. Planen nämner bara landanslutningen. Vilken brist finns?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44D84C2-F460-462B-AECB-185B5C7AE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E9783B61-6679-41D2-A6D0-99EA712C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3477a28e6342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5C5A750-4C42-4124-A41B-886C7A13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2.10</a:t>
            </a:r>
          </a:p>
        </p:txBody>
      </p:sp>
      <p:sp>
        <p:nvSpPr>
          <p:cNvPr id="10" name="Spårbar hänvisning = dokument, version och tillämpning">
            <a:extLst xmlns:a="http://schemas.openxmlformats.org/drawingml/2006/main">
              <a:ext uri="{FF2B5EF4-FFF2-40B4-BE49-F238E27FC236}">
                <a16:creationId xmlns:a16="http://schemas.microsoft.com/office/drawing/2014/main" id="{AD8FC484-B371-4453-B7EC-5A849B95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Spårbar hänvisning = dokument, version och tillämpning</a:t>
            </a:r>
          </a:p>
        </p:txBody>
      </p:sp>
      <p:sp>
        <p:nvSpPr>
          <p:cNvPr id="11" name="En hänvisning ska visa kontrollerat avsnitt och varför det gäller">
            <a:extLst xmlns:a="http://schemas.openxmlformats.org/drawingml/2006/main">
              <a:ext uri="{FF2B5EF4-FFF2-40B4-BE49-F238E27FC236}">
                <a16:creationId xmlns:a16="http://schemas.microsoft.com/office/drawing/2014/main" id="{87DFEABB-67B1-44DB-B0C1-E2D99E015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hänvisning ska visa vilket avsnitt som är kontrollerat och varför det gäller just det här arbetet.</a:t>
            </a:r>
          </a:p>
        </p:txBody>
      </p:sp>
      <p:sp>
        <p:nvSpPr>
          <p:cNvPr id="12" name="Förutsättningar: Uppgiften kräver ett exempel på struktur. Saknad">
            <a:extLst xmlns:a="http://schemas.openxmlformats.org/drawingml/2006/main">
              <a:ext uri="{FF2B5EF4-FFF2-40B4-BE49-F238E27FC236}">
                <a16:creationId xmlns:a16="http://schemas.microsoft.com/office/drawing/2014/main" id="{892A614C-1FB7-42D7-8DF1-D1D97E9A3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Det räcker att visa hur hänvisningen ska byggas upp. Fartygsdata eller avsnitt som saknas skrivs som öppna frågor.</a:t>
            </a:r>
          </a:p>
        </p:txBody>
      </p:sp>
      <p:sp>
        <p:nvSpPr>
          <p:cNvPr id="13" name="Arbetsgång: Skriv en hänvisningsmall med dokument och motivering.">
            <a:extLst xmlns:a="http://schemas.openxmlformats.org/drawingml/2006/main">
              <a:ext uri="{FF2B5EF4-FFF2-40B4-BE49-F238E27FC236}">
                <a16:creationId xmlns:a16="http://schemas.microsoft.com/office/drawing/2014/main" id="{3E68E873-ABE3-4FFA-AC96-3AEBEFE32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en mall med dokument och motivering. Skriv aldrig en påhittad paragraf som om den vore fakta.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6E0F4F08-A2BB-420B-AA58-44179ADC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884e6a20cf4b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4A4C86E3-77C8-4EE9-BA83-9EFA6640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2.10</a:t>
            </a:r>
          </a:p>
        </p:txBody>
      </p:sp>
      <p:sp>
        <p:nvSpPr>
          <p:cNvPr id="3" name="Rätt hänvisning i riskbedömning">
            <a:extLst xmlns:a="http://schemas.openxmlformats.org/drawingml/2006/main">
              <a:ext uri="{FF2B5EF4-FFF2-40B4-BE49-F238E27FC236}">
                <a16:creationId xmlns:a16="http://schemas.microsoft.com/office/drawing/2014/main" id="{58F5F73A-21CE-4449-BDF3-E2624643C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hänvisning i riskbedömning</a:t>
            </a:r>
          </a:p>
        </p:txBody>
      </p:sp>
      <p:sp>
        <p:nvSpPr>
          <p:cNvPr id="4" name="Skriv ett exempel på hur en regelhänvisning kan göras spårbar uta">
            <a:extLst xmlns:a="http://schemas.openxmlformats.org/drawingml/2006/main">
              <a:ext uri="{FF2B5EF4-FFF2-40B4-BE49-F238E27FC236}">
                <a16:creationId xmlns:a16="http://schemas.microsoft.com/office/drawing/2014/main" id="{B5DF0502-1821-4049-9718-C677B93DD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ett exempel på en hänvisning till en regel som går att kontrollera i efterhand, utan att du gissar en paragraf.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6F715F5-056D-40F4-B189-15FB9A40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26320A93-E711-4C66-9823-77CE78CC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c0e0894b614b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86795D3B-78E8-4E38-BB92-B8BE14165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Hur visar du att en regelhänvisning verkligen gäller ditt arbetsf">
            <a:extLst xmlns:a="http://schemas.openxmlformats.org/drawingml/2006/main">
              <a:ext uri="{FF2B5EF4-FFF2-40B4-BE49-F238E27FC236}">
                <a16:creationId xmlns:a16="http://schemas.microsoft.com/office/drawing/2014/main" id="{854517A9-2298-498A-88D7-79E21840C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Hur visar du att en regelhänvisning verkligen gäller ditt arbetsfall?</a:t>
            </a:r>
          </a:p>
        </p:txBody>
      </p:sp>
      <p:sp>
        <p:nvSpPr>
          <p:cNvPr id="4" name="Komplettera riskbedömningen med ansvar, vald arbetsmetod och moti">
            <a:extLst xmlns:a="http://schemas.openxmlformats.org/drawingml/2006/main">
              <a:ext uri="{FF2B5EF4-FFF2-40B4-BE49-F238E27FC236}">
                <a16:creationId xmlns:a16="http://schemas.microsoft.com/office/drawing/2014/main" id="{3FF04521-6B40-4A54-9141-FC9940F24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Komplettera riskbedömningen med ansvar, vald arbetsmetod och motiverad regelhänvisning. Inlämning senast 18 oktober.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F9E83745-4883-4D96-9D92-D80ABB26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efe174d9e043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EB69E1F-6F8E-4419-9EFF-BB48DF6D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76B8ECCB-BA73-4F75-8AE7-B3DC3E72F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E1BA26A4-2E2B-4F17-8F3D-6A25DA8F5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7536d3dd6bf40dd"/>
              </a:rPr>
              <a:t>SEK: SS-EN 50110-1, utgåva 4:2024</a:t>
            </a:r>
          </a:p>
        </p:txBody>
      </p:sp>
      <p:sp>
        <p:nvSpPr>
          <p:cNvPr id="5" name="Energiföretagen: EBR ESA 2026">
            <a:extLst xmlns:a="http://schemas.openxmlformats.org/drawingml/2006/main">
              <a:ext uri="{FF2B5EF4-FFF2-40B4-BE49-F238E27FC236}">
                <a16:creationId xmlns:a16="http://schemas.microsoft.com/office/drawing/2014/main" id="{0B92B6B2-014D-41D0-9C96-F9F295CC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b6df3f59e5c448f"/>
              </a:rPr>
              <a:t>Energiföretagen: EBR ESA 2026</a:t>
            </a:r>
          </a:p>
        </p:txBody>
      </p:sp>
      <p:sp>
        <p:nvSpPr>
          <p:cNvPr id="6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9FB8C4E5-413B-4FAA-B2CB-144E52404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64d12425fe64e73"/>
              </a:rPr>
              <a:t>Transportstyrelsen: regler för el ombord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108F625B-6759-488B-8893-AC6EF628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2026-09-20T20:09:43.1820000Z</dcterms:created>
  <dcterms:modified xsi:type="dcterms:W3CDTF">2026-09-20T20:09:43.1820000Z</dcterms:modified>
</coreProperties>
</file>