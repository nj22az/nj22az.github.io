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ed11355ea2543db" Type="http://schemas.openxmlformats.org/officeDocument/2006/relationships/theme" Target="theme/theme1.xml"/><Relationship Id="R4a30431852bc4203" Type="http://schemas.openxmlformats.org/officeDocument/2006/relationships/presProps" Target="presProps.xml"/><Relationship Id="R59b04d653c184694" Type="http://schemas.openxmlformats.org/officeDocument/2006/relationships/tableStyles" Target="tableStyles.xml"/><Relationship Id="Ra38d8fb4f6ec40e4" Type="http://schemas.openxmlformats.org/officeDocument/2006/relationships/slideMaster" Target="slideMasters/slideMaster1.xml"/><Relationship Id="Rba35c611fa944afe" Type="http://schemas.openxmlformats.org/officeDocument/2006/relationships/viewProps" Target="viewProp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j22az.github.io/sjoskolan/vecka-42/aktuell/Del_1.html" TargetMode="External"/><Relationship Id="rId3" Type="http://schemas.openxmlformats.org/officeDocument/2006/relationships/hyperlink" Target="https://www.elsakerhetsverket.se/privatpersoner/om-du-drabbas-av-en-elolycka/vad-kan-orsaka-en-elolycka/" TargetMode="External"/><Relationship Id="rId4" Type="http://schemas.openxmlformats.org/officeDocument/2006/relationships/hyperlink" Target="https://www.elsakerhetsverket.se/privatpersoner/om-du-drabbas-av-en-elolycka/vad-gor-jag-vid-en-elolycka/" TargetMode="External"/><Relationship Id="rId5" Type="http://schemas.openxmlformats.org/officeDocument/2006/relationships/hyperlink" Target="https://www.transportstyrelsen.se/sv/sjofart/fartyg/utrustning-pa-fartyg/elinstallationer/lagar-foreskrifter-och-standarder/" TargetMode="External"/><Relationship Id="rId6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mslag_v42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99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gradFill rotWithShape="1">
            <a:gsLst>
              <a:gs pos="0">
                <a:srgbClr val="001427">
                  <a:alpha val="70000"/>
                </a:srgbClr>
              </a:gs>
              <a:gs pos="45000">
                <a:srgbClr val="001427">
                  <a:alpha val="55000"/>
                </a:srgbClr>
              </a:gs>
              <a:gs pos="75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Elektriska risker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566928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Calibri"/>
              </a:rPr>
              <a:t>Hur el skadar och hur du beskriver risken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71800"/>
            <a:ext cx="585216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Vecka 42 · Måndag 12 oktober · 09.00–11.00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585216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Del 1 av 3 · Elteknik och ellära</a:t>
            </a:r>
          </a:p>
        </p:txBody>
      </p:sp>
      <p:sp>
        <p:nvSpPr>
          <p:cNvPr id="8" name="Dag: Måndag 12 oktober"/>
          <p:cNvSpPr/>
          <p:nvPr/>
        </p:nvSpPr>
        <p:spPr>
          <a:xfrm>
            <a:off x="548640" y="411480"/>
            <a:ext cx="2944368" cy="438912"/>
          </a:xfrm>
          <a:prstGeom prst="roundRect">
            <a:avLst>
              <a:gd name="adj" fmla="val 18000"/>
            </a:avLst>
          </a:prstGeom>
          <a:solidFill>
            <a:srgbClr val="008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Måndag 12 oktober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Kursplanen i 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145389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1732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200" b="0" i="0">
                <a:solidFill>
                  <a:srgbClr val="111111"/>
                </a:solidFill>
                <a:latin typeface="Calibri"/>
              </a:rPr>
              <a:t>Du kan förklara hur el kan skada och hur man arbetar säkert, vid både låg och hög spänning.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Elsäkerhet och regler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Efter lektionen kan 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8046720" cy="29260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förklara tre sätt som el skadar: strömgenomgång, ljusbåge och följdolycka.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beskriva en risk med fara, exponering och konsekvens.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säga vad du gör vid en elolycka och varför ett tillbud ska rapporteras.</a:t>
            </a:r>
          </a:p>
        </p:txBody>
      </p:sp>
      <p:pic>
        <p:nvPicPr>
          <p:cNvPr id="8" name="Picture 7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Startfråga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Kan ett system vara farligt även om ingen person får ström genom kroppen?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74920"/>
            <a:ext cx="804672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064F91"/>
                </a:solidFill>
                <a:latin typeface="Calibri"/>
              </a:rPr>
              <a:t>Skriv ja eller nej i chatten, och ett ord om varför.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går lektionen 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41732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Start och startfråga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8424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8424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1: Hur el skadar (avsnitt 1–4) och ett exempel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51176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551176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1.2, 1.3 och 1.4 tillsammans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18104"/>
            <a:ext cx="8046720" cy="512064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3118104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118104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85032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685032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2: Marin miljö, elolycka och tillbud (avsnitt 5–7)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5196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5196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1.1 och 1.5 tillsammans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1888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81888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Avslutsfråga, sammanfattning och det här gör du nu</a:t>
            </a:r>
          </a:p>
        </p:txBody>
      </p:sp>
      <p:pic>
        <p:nvPicPr>
          <p:cNvPr id="19" name="Picture 18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Fara, händelse och skada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En risk beskriver du med tre ord.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Fara: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det som kan orsaka skada. Till exempel en spänningsförande del som går att nå.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Exponering: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hur en person kan utsättas för faran. Vem, var och när?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Konsekvens: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den skada som kan följa. Till exempel en stöt, en brännskada eller ett fall.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Riskbedömningen kopplar arbetsmomentet till både möjlig händelse och följd.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avsnitt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Strömmens väg genom kroppen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Spänningen ensam bestämmer inte skadan.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Skadans allvar beror på strömmen, hur länge den går och vilken väg den tar.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Fukt, kontaktyta och hudens tillstånd påverkar kontakten.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väg genom bröstkorgen kan påverka hjärtat.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Ett generellt kroppsmotstånd kan inte ge en säker gräns.</a:t>
            </a:r>
          </a:p>
        </p:txBody>
      </p:sp>
      <p:pic>
        <p:nvPicPr>
          <p:cNvPr id="5" name="Figur: Två strömvägar genom kroppen: hand till hand och hand till fot. Båda passerar bröstkorgen nära hjärtat." descr="Två strömvägar genom kroppen: hand till hand och hand till fot. Båda passerar bröstkorgen nära hjärta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758707"/>
            <a:ext cx="3794760" cy="3706345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avsnitt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Beröringsspänning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22402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U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beröring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 = |V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A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 − V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B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|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Spänningen mellan två punkter som en person kan röra samtidigt.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Vid ett isolationsfel kan utsatt metall bli spänningsförande.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I = U/R är en förenklad beräkningsmodell.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Kroppens elektriska egenskaper varierar med situationen.</a:t>
            </a:r>
          </a:p>
        </p:txBody>
      </p:sp>
      <p:pic>
        <p:nvPicPr>
          <p:cNvPr id="5" name="Figur: Pumpmotor på gummidämpare på stålskrovet. Isolationsfel mellan fasen och höljet, skyddsledaren (PE) är bruten. Handen rör höljet (punkt A) och fötterna står på däcket (punkt B)." descr="Pumpmotor på gummidämpare på stålskrovet. Isolationsfel mellan fasen och höljet, skyddsledaren (PE) är bruten. Handen rör höljet (punkt A) och fötterna står på däcket (punkt B)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1614" y="3749039"/>
            <a:ext cx="4500771" cy="2148840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avsnitt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Ljusbågens konsekvenser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En ljusbåge kan skada utan att ström går genom kroppen.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Ljusbågen ger värme, tryck, starkt ljus och splitter av smält metall.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Hur mycket felenergi som finns och hur länge felet varar avgör följden.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Ett tappat verktyg eller en felaktig mätanslutning kan starta en ljusbåge.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Riskbedömningen behöver omfatta hela arbetsmomentet.</a:t>
            </a:r>
          </a:p>
        </p:txBody>
      </p:sp>
      <p:pic>
        <p:nvPicPr>
          <p:cNvPr id="5" name="Figur: Ljusbåge mellan skenorna L1 och L2 i ett öppet ställverksfack: värme och starkt ljus, tryckvåg och splitter av smält metall." descr="Ljusbåge mellan skenorna L1 och L2 i ett öppet ställverksfack: värme och starkt ljus, tryckvåg och splitter av smält metall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450417"/>
            <a:ext cx="3794760" cy="2322924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avsnitt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en riskförklaring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1">
                <a:solidFill>
                  <a:srgbClr val="4A4A4A"/>
                </a:solidFill>
                <a:latin typeface="Calibri"/>
              </a:rPr>
              <a:t>En vinkelslip har en kabel som legat klämd under en tung låda. Ingen använder maskinen just nu.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069080" cy="3703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100" b="1" i="0">
                <a:solidFill>
                  <a:srgbClr val="064F91"/>
                </a:solidFill>
                <a:latin typeface="Calibri"/>
              </a:rPr>
              <a:t>Fara, möjlig exponering och konsekvens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1. </a:t>
            </a:r>
            <a:r>
              <a:rPr sz="1800" b="1" i="0">
                <a:solidFill>
                  <a:srgbClr val="111111"/>
                </a:solidFill>
                <a:latin typeface="Calibri"/>
              </a:rPr>
              <a:t>Observation: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kabeln är tillplattad och manteln har en spricka.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2. </a:t>
            </a:r>
            <a:r>
              <a:rPr sz="1800" b="1" i="0">
                <a:solidFill>
                  <a:srgbClr val="111111"/>
                </a:solidFill>
                <a:latin typeface="Calibri"/>
              </a:rPr>
              <a:t>Möjlig händelse: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någon rör en del där isolationen är trasig.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3. </a:t>
            </a:r>
            <a:r>
              <a:rPr sz="1800" b="1" i="0">
                <a:solidFill>
                  <a:srgbClr val="111111"/>
                </a:solidFill>
                <a:latin typeface="Calibri"/>
              </a:rPr>
              <a:t>Möjlig följd: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strömgenomgång, eller att maskinen tappas och skadar någon.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Ingen vet om kabeln är spänningssatt. Den synliga skadan räcker för att stoppa användningen.</a:t>
            </a:r>
          </a:p>
        </p:txBody>
      </p:sp>
      <p:pic>
        <p:nvPicPr>
          <p:cNvPr id="6" name="Figur: Vinkelslip på en arbetsbänk. Kabeln har legat klämd under en tung låda och är tillplattad, med en spricka i manteln. Maskinen används inte tills vidare." descr="Vinkelslip på en arbetsbänk. Kabeln har legat klämd under en tung låda och är tillplattad, med en spricka i manteln. Maskinen används inte tills vidar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589400"/>
            <a:ext cx="3794760" cy="2822198"/>
          </a:xfrm>
          <a:prstGeom prst="rect">
            <a:avLst/>
          </a:prstGeom>
        </p:spPr>
      </p:pic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exempel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1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Två sorters skada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Beröringspunkter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10712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3410712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410712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Räkneexempel med begränsning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24528"/>
            <a:ext cx="8046720" cy="1673351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 per övning. Skriv ditt svar i chatten. Ledtrådar och facit finns på delsidan.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nj22az.github.io/sjoskolan/vecka-42/aktuell/Del_1.html</a:t>
            </a:r>
          </a:p>
        </p:txBody>
      </p:sp>
      <p:pic>
        <p:nvPicPr>
          <p:cNvPr id="15" name="Picture 1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4 Övningar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4160520" y="2011680"/>
            <a:ext cx="822960" cy="7315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240280"/>
            <a:ext cx="731520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4800" b="1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4A4A4A"/>
                </a:solidFill>
                <a:latin typeface="Calibri"/>
              </a:rPr>
              <a:t>Vi fortsätter 10.00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Risker i marin miljö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Varje möjlig matningsväg behöver identifieras.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Fukt, trånga utrymmen och ett ledande skrov och däck påverkar arbetet.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Reservmatning och batterier kan ge flera energikällor.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stoppad maskin eller en släckt panel visar inte att det är säkert att röra.</a:t>
            </a:r>
          </a:p>
        </p:txBody>
      </p:sp>
      <p:pic>
        <p:nvPicPr>
          <p:cNvPr id="5" name="Figur: En fördelning som kan matas från generator, nödgenerator med autostart, landanslutning, batteri och UPS." descr="En fördelning som kan matas från generator, nödgenerator med autostart, landanslutning, batteri och UP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023951"/>
            <a:ext cx="3794760" cy="3175856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avsnitt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En inträffad elolycka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Skydda dig själv först.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Bryt strömmen bara om det kan ske säkert.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Larma enligt fartygets nödinstruktion. I hamn: 112. Till sjöss: radiomedicinsk rådgivning (TMAS).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När platsen är säker: bedöm andningen och ge HLR vid behov.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Vid högspänning: håll avstånd tills en behörig person har säkrat platsen.</a:t>
            </a:r>
          </a:p>
        </p:txBody>
      </p:sp>
      <p:pic>
        <p:nvPicPr>
          <p:cNvPr id="5" name="Figur: Fem steg vid en elolycka ombord: skydda dig själv, bryt strömmen om det går säkert, larma enligt nödinstruktionen, andning och HLR när platsen är säker, medicinsk rådgivning även utan synlig skada." descr="Fem steg vid en elolycka ombord: skydda dig själv, bryt strömmen om det går säkert, larma enligt nödinstruktionen, andning och HLR när platsen är säker, medicinsk rådgivning även utan synlig skad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670292"/>
            <a:ext cx="3794760" cy="3883174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avsnitt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Tillbud och lärande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Rapportera även när ingen skadades.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Ett tillbud är en händelse som kunde ha lett till skada.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Skriv vad som hände och vilka skydd som brast.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Skilj på observation, bakomliggande orsak och åtgärd.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”Proben var skadad” är en observation. ”Ingen förkontroll ingick” kan förklara varför risken fanns kvar.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avsnitt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tillbud och förbättring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900" b="0" i="1">
                <a:solidFill>
                  <a:srgbClr val="4A4A4A"/>
                </a:solidFill>
                <a:latin typeface="Calibri"/>
              </a:rPr>
              <a:t>Ett låsbleck för frånskiljaren är böjt och går inte att stänga. Det upptäcks innan arbetet börjar.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Direkt åtgärd och förebyggande kontroll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Ta det böjda låsblecket ur bruk och märk det enligt rutinen.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Hämta ett helt låsbleck innan frånskiljaren låses.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Följ upp hur skadan uppstod och om låsutrustningen kontrolleras före användning.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Rapporten skiljer vad som observerats från antagen orsak. Åtgärden ska kunna följas upp.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exempel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1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Fuktig miljö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Släckt panel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47872"/>
            <a:ext cx="8046720" cy="235000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 per övning. Skriv ditt svar i chatten. Övning 1.6–1.10 gör du själv efter lektionen.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nj22az.github.io/sjoskolan/vecka-42/aktuell/Del_1.html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4 Övningar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Avslutsfråga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Vilka uppgifter saknas oftast när någon bara säger ”det är 24 V”?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04672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000" b="0" i="0">
                <a:solidFill>
                  <a:srgbClr val="4A4A4A"/>
                </a:solidFill>
                <a:latin typeface="Calibri"/>
              </a:rPr>
              <a:t>Påbörja v42-riskbedömningen. Beskriv arbetsmoment, miljö, energikällor och möjliga konsekvenser.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Sammanfattning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El skadar på tre sätt: strömgenomgång, ljusbåge och följdolycka.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Beskriv risken med fara, exponering och konsekvens. Ombord finns ofta flera energikällor.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Vid en elolycka skyddar du dig själv först. Ett tillbud rapporteras även när ingen skadades.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Det här gör du nu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Läs del 1. Tryck på ”Jag har läst del 1” längst ned på sidan.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Gör övning 1.6–1.10 på delsidan. Ledtrådar och facit finns där.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Titta på filmen Fem steg (repetition från vecka 40).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4. Veckans läxa: läs de fyra texterna från Transportstyrelsen.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5. I morgon tisdag 15.00: del 2, Regler, ansvar och arbetsmetoder.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4A4A4A"/>
                </a:solidFill>
                <a:latin typeface="Calibri"/>
              </a:rPr>
              <a:t>Läs texterna och gör quizet senast torsdag 15 oktober. Inlämningen senast fredag 16 oktober. Allt finns på veckosidan.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Källor och fortsatt läsning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2"/>
              </a:rPr>
              <a:t>Sjöskolan: vecka 42, del 1 Elektriska risker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Calibri"/>
              </a:rPr>
              <a:t>Kursplanen för Elteknik och ellära, lärandemål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3"/>
              </a:rPr>
              <a:t>Elsäkerhetsverket: Vad kan orsaka en elolycka?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4"/>
              </a:rPr>
              <a:t>Elsäkerhetsverket: Vad gör jag vid en elolycka?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5"/>
              </a:rPr>
              <a:t>Transportstyrelsen: Elinstallationer på fartyg – lagar, föreskrifter och standarder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