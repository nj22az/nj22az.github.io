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8937a66a68294c29"/>
    <p:sldId id="257" r:id="R737686c15d094cf9"/>
    <p:sldId id="258" r:id="Rbe12f269a52e43ab"/>
    <p:sldId id="259" r:id="R4dcb2a6760fd4ee2"/>
    <p:sldId id="260" r:id="Rb3da85d105934436"/>
    <p:sldId id="261" r:id="R8028809383354da9"/>
    <p:sldId id="262" r:id="R8917cc2784954f47"/>
    <p:sldId id="263" r:id="R88f7c406a5e844ac"/>
    <p:sldId id="264" r:id="R1ac4564b261547bd"/>
    <p:sldId id="265" r:id="R92b53b82ac6e4cd1"/>
    <p:sldId id="266" r:id="R628408ac441a4c87"/>
    <p:sldId id="267" r:id="R03a58ea155084618"/>
    <p:sldId id="268" r:id="R46d961227cc04408"/>
    <p:sldId id="269" r:id="Rfc88c8de01c04fdd"/>
    <p:sldId id="270" r:id="R4c2fef8aee464352"/>
    <p:sldId id="271" r:id="R95c00703872946cd"/>
    <p:sldId id="272" r:id="R658ad219a49c4bed"/>
    <p:sldId id="273" r:id="Ra401d7e7d0104e7d"/>
    <p:sldId id="274" r:id="R34593bb966d24987"/>
    <p:sldId id="275" r:id="R6f134d3a7a2b43db"/>
    <p:sldId id="276" r:id="R02d894049618453e"/>
    <p:sldId id="277" r:id="Re7fd682179454b25"/>
    <p:sldId id="278" r:id="R99962f0528244cdf"/>
    <p:sldId id="279" r:id="R9fbfe314e0254d53"/>
    <p:sldId id="280" r:id="R936d037d230c4cb3"/>
    <p:sldId id="281" r:id="Rdf49b1fe8725428d"/>
    <p:sldId id="282" r:id="Rc6573a0b27104146"/>
    <p:sldId id="283" r:id="Rf2a6893256e84b37"/>
    <p:sldId id="284" r:id="R56a29f42b98d471d"/>
    <p:sldId id="285" r:id="Ra001404536a0487e"/>
    <p:sldId id="286" r:id="Re32281e2529d41f5"/>
    <p:sldId id="287" r:id="R216ce579fcfc46e2"/>
    <p:sldId id="288" r:id="R4723b7da23b74ed4"/>
    <p:sldId id="289" r:id="R31b8ffd2e60b4e6c"/>
    <p:sldId id="290" r:id="Rc213b1102002473c"/>
    <p:sldId id="291" r:id="R83d620ba580045ad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d894049618453e" Type="http://schemas.openxmlformats.org/officeDocument/2006/relationships/slide" Target="slides/slide21.xml"/><Relationship Id="R03a58ea155084618" Type="http://schemas.openxmlformats.org/officeDocument/2006/relationships/slide" Target="slides/slide12.xml"/><Relationship Id="R0ed11355ea2543db" Type="http://schemas.openxmlformats.org/officeDocument/2006/relationships/theme" Target="theme/theme1.xml"/><Relationship Id="R1ac4564b261547bd" Type="http://schemas.openxmlformats.org/officeDocument/2006/relationships/slide" Target="slides/slide9.xml"/><Relationship Id="R216ce579fcfc46e2" Type="http://schemas.openxmlformats.org/officeDocument/2006/relationships/slide" Target="slides/slide32.xml"/><Relationship Id="R31b8ffd2e60b4e6c" Type="http://schemas.openxmlformats.org/officeDocument/2006/relationships/slide" Target="slides/slide34.xml"/><Relationship Id="R34593bb966d24987" Type="http://schemas.openxmlformats.org/officeDocument/2006/relationships/slide" Target="slides/slide19.xml"/><Relationship Id="R46d961227cc04408" Type="http://schemas.openxmlformats.org/officeDocument/2006/relationships/slide" Target="slides/slide13.xml"/><Relationship Id="R4723b7da23b74ed4" Type="http://schemas.openxmlformats.org/officeDocument/2006/relationships/slide" Target="slides/slide33.xml"/><Relationship Id="R4a30431852bc4203" Type="http://schemas.openxmlformats.org/officeDocument/2006/relationships/presProps" Target="presProps.xml"/><Relationship Id="R4c2fef8aee464352" Type="http://schemas.openxmlformats.org/officeDocument/2006/relationships/slide" Target="slides/slide15.xml"/><Relationship Id="R4dcb2a6760fd4ee2" Type="http://schemas.openxmlformats.org/officeDocument/2006/relationships/slide" Target="slides/slide4.xml"/><Relationship Id="R56a29f42b98d471d" Type="http://schemas.openxmlformats.org/officeDocument/2006/relationships/slide" Target="slides/slide29.xml"/><Relationship Id="R59b04d653c184694" Type="http://schemas.openxmlformats.org/officeDocument/2006/relationships/tableStyles" Target="tableStyles.xml"/><Relationship Id="R628408ac441a4c87" Type="http://schemas.openxmlformats.org/officeDocument/2006/relationships/slide" Target="slides/slide11.xml"/><Relationship Id="R658ad219a49c4bed" Type="http://schemas.openxmlformats.org/officeDocument/2006/relationships/slide" Target="slides/slide17.xml"/><Relationship Id="R6f134d3a7a2b43db" Type="http://schemas.openxmlformats.org/officeDocument/2006/relationships/slide" Target="slides/slide20.xml"/><Relationship Id="R737686c15d094cf9" Type="http://schemas.openxmlformats.org/officeDocument/2006/relationships/slide" Target="slides/slide2.xml"/><Relationship Id="R8028809383354da9" Type="http://schemas.openxmlformats.org/officeDocument/2006/relationships/slide" Target="slides/slide6.xml"/><Relationship Id="R83d620ba580045ad" Type="http://schemas.openxmlformats.org/officeDocument/2006/relationships/slide" Target="slides/slide36.xml"/><Relationship Id="R88f7c406a5e844ac" Type="http://schemas.openxmlformats.org/officeDocument/2006/relationships/slide" Target="slides/slide8.xml"/><Relationship Id="R8917cc2784954f47" Type="http://schemas.openxmlformats.org/officeDocument/2006/relationships/slide" Target="slides/slide7.xml"/><Relationship Id="R8937a66a68294c29" Type="http://schemas.openxmlformats.org/officeDocument/2006/relationships/slide" Target="slides/slide1.xml"/><Relationship Id="R92b53b82ac6e4cd1" Type="http://schemas.openxmlformats.org/officeDocument/2006/relationships/slide" Target="slides/slide10.xml"/><Relationship Id="R936d037d230c4cb3" Type="http://schemas.openxmlformats.org/officeDocument/2006/relationships/slide" Target="slides/slide25.xml"/><Relationship Id="R95c00703872946cd" Type="http://schemas.openxmlformats.org/officeDocument/2006/relationships/slide" Target="slides/slide16.xml"/><Relationship Id="R99962f0528244cdf" Type="http://schemas.openxmlformats.org/officeDocument/2006/relationships/slide" Target="slides/slide23.xml"/><Relationship Id="R9fbfe314e0254d53" Type="http://schemas.openxmlformats.org/officeDocument/2006/relationships/slide" Target="slides/slide24.xml"/><Relationship Id="Ra001404536a0487e" Type="http://schemas.openxmlformats.org/officeDocument/2006/relationships/slide" Target="slides/slide30.xml"/><Relationship Id="Ra38d8fb4f6ec40e4" Type="http://schemas.openxmlformats.org/officeDocument/2006/relationships/slideMaster" Target="slideMasters/slideMaster1.xml"/><Relationship Id="Ra401d7e7d0104e7d" Type="http://schemas.openxmlformats.org/officeDocument/2006/relationships/slide" Target="slides/slide18.xml"/><Relationship Id="Rb3da85d105934436" Type="http://schemas.openxmlformats.org/officeDocument/2006/relationships/slide" Target="slides/slide5.xml"/><Relationship Id="Rba35c611fa944afe" Type="http://schemas.openxmlformats.org/officeDocument/2006/relationships/viewProps" Target="viewProps.xml"/><Relationship Id="Rbe12f269a52e43ab" Type="http://schemas.openxmlformats.org/officeDocument/2006/relationships/slide" Target="slides/slide3.xml"/><Relationship Id="Rc213b1102002473c" Type="http://schemas.openxmlformats.org/officeDocument/2006/relationships/slide" Target="slides/slide35.xml"/><Relationship Id="Rc6573a0b27104146" Type="http://schemas.openxmlformats.org/officeDocument/2006/relationships/slide" Target="slides/slide27.xml"/><Relationship Id="Rdf49b1fe8725428d" Type="http://schemas.openxmlformats.org/officeDocument/2006/relationships/slide" Target="slides/slide26.xml"/><Relationship Id="Re32281e2529d41f5" Type="http://schemas.openxmlformats.org/officeDocument/2006/relationships/slide" Target="slides/slide31.xml"/><Relationship Id="Re7fd682179454b25" Type="http://schemas.openxmlformats.org/officeDocument/2006/relationships/slide" Target="slides/slide22.xml"/><Relationship Id="Rf2a6893256e84b37" Type="http://schemas.openxmlformats.org/officeDocument/2006/relationships/slide" Target="slides/slide28.xml"/><Relationship Id="Rfc88c8de01c04fdd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02962b425c471f" Type="http://schemas.openxmlformats.org/officeDocument/2006/relationships/slideLayout" Target="../slideLayouts/slideLayout1.xml"/><Relationship Id="R77b33199fd774e6f" Type="http://schemas.openxmlformats.org/officeDocument/2006/relationships/image" Target="../media/image.jpeg"/><Relationship Id="Re66b1ea933df462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f741f257a6040be" Type="http://schemas.openxmlformats.org/officeDocument/2006/relationships/image" Target="../media/image.jpeg"/><Relationship Id="R4f95497d495a412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07bdd172d8874365" Type="http://schemas.openxmlformats.org/officeDocument/2006/relationships/image" Target="../media/image.jpeg"/><Relationship Id="R8f63a380d24244e7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189883bf7d94e2a" Type="http://schemas.openxmlformats.org/officeDocument/2006/relationships/slideLayout" Target="../slideLayouts/slideLayout1.xml"/><Relationship Id="R6e628171cd954b6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b919af8b4f24814" Type="http://schemas.openxmlformats.org/officeDocument/2006/relationships/image" Target="../media/image.jpeg"/><Relationship Id="R1d1dc0730c4544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e978b2dfdd6d41d2" Type="http://schemas.openxmlformats.org/officeDocument/2006/relationships/image" Target="../media/image.jpeg"/><Relationship Id="Rfa76fc0236064cf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2edf0f9cf0984de7" Type="http://schemas.openxmlformats.org/officeDocument/2006/relationships/slideLayout" Target="../slideLayouts/slideLayout1.xml"/><Relationship Id="Ra45ef4a54c9a44b4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9891a431b7e4a96" Type="http://schemas.openxmlformats.org/officeDocument/2006/relationships/image" Target="../media/image.jpeg"/><Relationship Id="Rf8b9c9d0fb32452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9a38dfcfd72045af" Type="http://schemas.openxmlformats.org/officeDocument/2006/relationships/slideLayout" Target="../slideLayouts/slideLayout1.xml"/><Relationship Id="Rc23bbc79ff8f458d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015f90d837ff4904" Type="http://schemas.openxmlformats.org/officeDocument/2006/relationships/image" Target="../media/image.jpeg"/><Relationship Id="Rd98e49595adf422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c40218d1e8546ac" Type="http://schemas.openxmlformats.org/officeDocument/2006/relationships/slideLayout" Target="../slideLayouts/slideLayout1.xml"/><Relationship Id="R881428d06c2f4d6e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29477e5b7566487f" Type="http://schemas.openxmlformats.org/officeDocument/2006/relationships/slideLayout" Target="../slideLayouts/slideLayout1.xml"/><Relationship Id="Ra2ec67ec803f41f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0693f3a607924ec4" Type="http://schemas.openxmlformats.org/officeDocument/2006/relationships/slideLayout" Target="../slideLayouts/slideLayout1.xml"/><Relationship Id="Rd53b79b596af4cc8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596e67f5a7a54757" Type="http://schemas.openxmlformats.org/officeDocument/2006/relationships/slideLayout" Target="../slideLayouts/slideLayout1.xml"/><Relationship Id="Rf9758ea74372405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2301406b3d4b486f" Type="http://schemas.openxmlformats.org/officeDocument/2006/relationships/slideLayout" Target="../slideLayouts/slideLayout1.xml"/><Relationship Id="R747e191df45747e4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a3fdf27a92d46f8" Type="http://schemas.openxmlformats.org/officeDocument/2006/relationships/image" Target="../media/image.jpeg"/><Relationship Id="R8033d51a5f3748c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2550d0d8336e4c5d" Type="http://schemas.openxmlformats.org/officeDocument/2006/relationships/slideLayout" Target="../slideLayouts/slideLayout1.xml"/><Relationship Id="R9c11b4bb84ba43b2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9d0eb515912448b" Type="http://schemas.openxmlformats.org/officeDocument/2006/relationships/image" Target="../media/image.jpeg"/><Relationship Id="R3cd05832c55c4f7a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41b573b09e2146b8" Type="http://schemas.openxmlformats.org/officeDocument/2006/relationships/image" Target="../media/image.jpeg"/><Relationship Id="Re0105b9412fb4236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4848abe33334a21" Type="http://schemas.openxmlformats.org/officeDocument/2006/relationships/slideLayout" Target="../slideLayouts/slideLayout1.xml"/><Relationship Id="Rc0320814c05e4fa5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6d16fbc176554895" Type="http://schemas.openxmlformats.org/officeDocument/2006/relationships/image" Target="../media/image.jpeg"/><Relationship Id="Rb2b443f4b60e4167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4ddb99f7e954cc7" Type="http://schemas.openxmlformats.org/officeDocument/2006/relationships/image" Target="../media/image.jpeg"/><Relationship Id="R5c8c626668e0420b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cd2a143aedfd4df6" Type="http://schemas.openxmlformats.org/officeDocument/2006/relationships/image" Target="../media/image.jpeg"/><Relationship Id="Rf25329069a004477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cbc798c3d8e4021" Type="http://schemas.openxmlformats.org/officeDocument/2006/relationships/image" Target="../media/image.jpeg"/><Relationship Id="R819d44e4192348e4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8e5326fb7319451e" Type="http://schemas.openxmlformats.org/officeDocument/2006/relationships/image" Target="../media/image.jpeg"/><Relationship Id="Ra696a511a55d40ee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05d0d62a7fb045bd" Type="http://schemas.openxmlformats.org/officeDocument/2006/relationships/slideLayout" Target="../slideLayouts/slideLayout1.xml"/><Relationship Id="R9e263887e5e8468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6759ea1a2743413d" Type="http://schemas.openxmlformats.org/officeDocument/2006/relationships/slideLayout" Target="../slideLayouts/slideLayout1.xml"/><Relationship Id="Re7c65180fc6e4111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9ca4cacda6a490b" Type="http://schemas.openxmlformats.org/officeDocument/2006/relationships/slideLayout" Target="../slideLayouts/slideLayout1.xml"/><Relationship Id="Rb2c8c5e4e75245dc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02686813fe234b30" Type="http://schemas.openxmlformats.org/officeDocument/2006/relationships/slideLayout" Target="../slideLayouts/slideLayout1.xml"/><Relationship Id="Rb4add299dce4468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462b013d08a54a91" Type="http://schemas.openxmlformats.org/officeDocument/2006/relationships/image" Target="../media/image.jpeg"/><Relationship Id="R92ec662bc450413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5331a7ec330a4abb" Type="http://schemas.openxmlformats.org/officeDocument/2006/relationships/slideLayout" Target="../slideLayouts/slideLayout1.xml"/><Relationship Id="Rce5446d8103e4e74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3e72b11af6044b0" Type="http://schemas.openxmlformats.org/officeDocument/2006/relationships/slideLayout" Target="../slideLayouts/slideLayout1.xml"/><Relationship Id="Ra20f5db796544a5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9bfd33a937544315" Type="http://schemas.openxmlformats.org/officeDocument/2006/relationships/image" Target="../media/image.jpeg"/><Relationship Id="Rbd9cd659ef5e4870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7511ed9d209a4df5" Type="http://schemas.openxmlformats.org/officeDocument/2006/relationships/slideLayout" Target="../slideLayouts/slideLayout1.xml"/><Relationship Id="Ra66e141091eb4c05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74dfa2076f6c49cd" Type="http://schemas.openxmlformats.org/officeDocument/2006/relationships/slideLayout" Target="../slideLayouts/slideLayout1.xml"/><Relationship Id="Ra43856d7448548f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3fa0584909a845f2" Type="http://schemas.openxmlformats.org/officeDocument/2006/relationships/hyperlink" Target="https://www.elsakerhetsverket.se/privatpersoner/om-du-drabbas-av-en-elolycka/vad-gor-jag-vid-en-elolycka/" TargetMode="External"/><Relationship Id="R50d0c94938d3441c" Type="http://schemas.openxmlformats.org/officeDocument/2006/relationships/hyperlink" Target="https://www.transportstyrelsen.se/sv/sjofart/Fartyg/Fartygskonstruktion/Elinstallationer/Lagar-foreskrifter-och-standarder/" TargetMode="External"/><Relationship Id="R7fd1e4a8dba44e1d" Type="http://schemas.openxmlformats.org/officeDocument/2006/relationships/hyperlink" Target="https://www.elsakerhetsverket.se/privatpersoner/om-du-drabbas-av-en-elolycka/vad-kan-orsaka-en-elolycka/" TargetMode="External"/><Relationship Id="Rc0c8c8e7aad942a5" Type="http://schemas.openxmlformats.org/officeDocument/2006/relationships/slideLayout" Target="../slideLayouts/slideLayout1.xml"/><Relationship Id="Rccc57655f2854570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33199fd774e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6b1ea933df4624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CCD8FD32-39DC-45B4-B342-D2C10498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62BEE53A-04C3-477C-9A34-DD254A51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Elektriska risker</a:t>
            </a:r>
          </a:p>
        </p:txBody>
      </p:sp>
      <p:sp>
        <p:nvSpPr>
          <p:cNvPr id="13" name="Strömgenomgång, beröringsspänning och ljusbåge">
            <a:extLst xmlns:a="http://schemas.openxmlformats.org/drawingml/2006/main">
              <a:ext uri="{FF2B5EF4-FFF2-40B4-BE49-F238E27FC236}">
                <a16:creationId xmlns:a16="http://schemas.microsoft.com/office/drawing/2014/main" id="{BEDDB4A0-13FD-4F33-AD90-8C2419C0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Strömgenomgång, beröringsspänning och ljusbåge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958E9964-01AA-4699-AD66-D4A16E82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41f257a60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9039CD16-F843-47CC-BFA6-E3288E9E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Identifiera riskkällor i ett arbetsfall.">
            <a:extLst xmlns:a="http://schemas.openxmlformats.org/drawingml/2006/main">
              <a:ext uri="{FF2B5EF4-FFF2-40B4-BE49-F238E27FC236}">
                <a16:creationId xmlns:a16="http://schemas.microsoft.com/office/drawing/2014/main" id="{0CBB1406-381E-40EB-B4F8-64DB4659B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riskkällor i ett arbetsfall.</a:t>
            </a:r>
          </a:p>
        </p:txBody>
      </p:sp>
      <p:sp>
        <p:nvSpPr>
          <p:cNvPr id="4" name="Skilja strömgenomgång, ljusbåge och följdolyckor.">
            <a:extLst xmlns:a="http://schemas.openxmlformats.org/drawingml/2006/main">
              <a:ext uri="{FF2B5EF4-FFF2-40B4-BE49-F238E27FC236}">
                <a16:creationId xmlns:a16="http://schemas.microsoft.com/office/drawing/2014/main" id="{2B8F2FC7-8FF2-4957-A005-784F9232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strömgenomgång, ljusbåge och följdolyckor.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9C56196-6722-4290-B4F8-39146F0D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tt system vara farligt även om ingen person får ström genom ">
            <a:extLst xmlns:a="http://schemas.openxmlformats.org/drawingml/2006/main">
              <a:ext uri="{FF2B5EF4-FFF2-40B4-BE49-F238E27FC236}">
                <a16:creationId xmlns:a16="http://schemas.microsoft.com/office/drawing/2014/main" id="{6D0A4CF6-D1CC-43DF-8009-48308135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ett system vara farligt även om ingen person får ström genom kroppen?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F51CD1C-BC8E-4593-BD09-06524760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dd172d8874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3DC734F-F540-4A27-9945-E26C225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0ED786B3-E39C-43C2-B7E6-4B0B00E0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767B219-A5AC-482F-B883-7B8EB790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1240D54-DB86-4FEA-8F28-7D05B112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3A55230B-5176-4791-BCE8-3F6612993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146EC3C6-F2C7-4761-8676-628BC40C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052582F-99D7-42A0-947E-C13BFAA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628171cd95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ra, händelse och skada">
            <a:extLst xmlns:a="http://schemas.openxmlformats.org/drawingml/2006/main">
              <a:ext uri="{FF2B5EF4-FFF2-40B4-BE49-F238E27FC236}">
                <a16:creationId xmlns:a16="http://schemas.microsoft.com/office/drawing/2014/main" id="{775B6E9A-DA75-45D0-8A55-5F36B4D0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Fara, händelse och skada</a:t>
            </a:r>
          </a:p>
        </p:txBody>
      </p:sp>
      <p:sp>
        <p:nvSpPr>
          <p:cNvPr id="10" name="Fara är en egenskap eller situation som kan orsaka skada.">
            <a:extLst xmlns:a="http://schemas.openxmlformats.org/drawingml/2006/main">
              <a:ext uri="{FF2B5EF4-FFF2-40B4-BE49-F238E27FC236}">
                <a16:creationId xmlns:a16="http://schemas.microsoft.com/office/drawing/2014/main" id="{0EE6C3D4-B9CF-40E9-931B-FDFAD167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en egenskap eller situation som kan orsaka skada.</a:t>
            </a:r>
          </a:p>
        </p:txBody>
      </p:sp>
      <p:sp>
        <p:nvSpPr>
          <p:cNvPr id="11" name="Exponering beskriver hur en person kan utsättas för faran.">
            <a:extLst xmlns:a="http://schemas.openxmlformats.org/drawingml/2006/main">
              <a:ext uri="{FF2B5EF4-FFF2-40B4-BE49-F238E27FC236}">
                <a16:creationId xmlns:a16="http://schemas.microsoft.com/office/drawing/2014/main" id="{5D2CBB78-6DBB-4B65-9C69-975FFA18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Exponering beskriver hur en person kan utsättas för faran.</a:t>
            </a:r>
          </a:p>
        </p:txBody>
      </p:sp>
      <p:sp>
        <p:nvSpPr>
          <p:cNvPr id="12" name="Konsekvens är den skada som kan följa.">
            <a:extLst xmlns:a="http://schemas.openxmlformats.org/drawingml/2006/main">
              <a:ext uri="{FF2B5EF4-FFF2-40B4-BE49-F238E27FC236}">
                <a16:creationId xmlns:a16="http://schemas.microsoft.com/office/drawing/2014/main" id="{816B00E8-A098-4096-A18A-3EA76C97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Konsekvens är den skada som kan följa.</a:t>
            </a:r>
          </a:p>
        </p:txBody>
      </p:sp>
      <p:sp>
        <p:nvSpPr>
          <p:cNvPr id="13" name="Riskbedömningen kopplar arbetsmomentet till både möjlig händelse ">
            <a:extLst xmlns:a="http://schemas.openxmlformats.org/drawingml/2006/main">
              <a:ext uri="{FF2B5EF4-FFF2-40B4-BE49-F238E27FC236}">
                <a16:creationId xmlns:a16="http://schemas.microsoft.com/office/drawing/2014/main" id="{1317F043-9CC8-49B6-A3EB-6D2BC2F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kopplar arbetsmomentet till både möjlig händelse och följd.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EE8440D8-8DF3-40F8-8EB3-00727B86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19af8b4f248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3030060-72AD-4E4D-AB7E-AD56AB91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5B987C6-A14C-42C9-A4CB-0347E2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5986FA4F-F80D-497B-BDBA-934E4832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0B9C5C1-F2B8-4EF0-98DA-BC7D443E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F553C95E-71CB-4C3A-8892-5B07F5DB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551B4D2-1355-4B8D-A4BF-06E489C3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222D819-4329-4248-9EA1-1384D0F7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9BF274A1-1F05-494B-A2E9-CB9E138E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78b2dfdd6d41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mens väg genom kroppen">
            <a:extLst xmlns:a="http://schemas.openxmlformats.org/drawingml/2006/main">
              <a:ext uri="{FF2B5EF4-FFF2-40B4-BE49-F238E27FC236}">
                <a16:creationId xmlns:a16="http://schemas.microsoft.com/office/drawing/2014/main" id="{33DA9A5B-A5CF-4B16-A4DF-E7933CE9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Strömmens väg genom kroppen</a:t>
            </a:r>
          </a:p>
        </p:txBody>
      </p:sp>
      <p:sp>
        <p:nvSpPr>
          <p:cNvPr id="3" name="Skadans allvar påverkas av ström, varaktighet och strömväg.&#10;Fukt,">
            <a:extLst xmlns:a="http://schemas.openxmlformats.org/drawingml/2006/main">
              <a:ext uri="{FF2B5EF4-FFF2-40B4-BE49-F238E27FC236}">
                <a16:creationId xmlns:a16="http://schemas.microsoft.com/office/drawing/2014/main" id="{46B7BE37-C619-48E6-9E40-EFCAFEBB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Skadans allvar påverkas av ström, varaktighet och strömväg.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kontaktyta och hudens tillstånd påverkar kontakten.</a:t>
            </a:r>
          </a:p>
        </p:txBody>
      </p:sp>
      <p:sp>
        <p:nvSpPr>
          <p:cNvPr id="4" name="Spänning ensam bestämmer inte skadan">
            <a:extLst xmlns:a="http://schemas.openxmlformats.org/drawingml/2006/main">
              <a:ext uri="{FF2B5EF4-FFF2-40B4-BE49-F238E27FC236}">
                <a16:creationId xmlns:a16="http://schemas.microsoft.com/office/drawing/2014/main" id="{F5628B30-6D0B-420D-B93A-2ACB1EE2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 ensam bestämmer inte skadan</a:t>
            </a:r>
          </a:p>
        </p:txBody>
      </p:sp>
      <p:sp>
        <p:nvSpPr>
          <p:cNvPr id="5" name="En väg genom bröstkorgen kan påverka hjärtat.&#10;Ett generellt kropp">
            <a:extLst xmlns:a="http://schemas.openxmlformats.org/drawingml/2006/main">
              <a:ext uri="{FF2B5EF4-FFF2-40B4-BE49-F238E27FC236}">
                <a16:creationId xmlns:a16="http://schemas.microsoft.com/office/drawing/2014/main" id="{3F5E7989-8277-4A53-A70A-8F523E57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väg genom bröstkorgen kan påverka hjärtat.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generellt kroppsmotstånd kan inte ge en säker gräns.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FCA6428E-F83E-4D4B-9037-45416009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igur med två strömvägar genom kroppen: " descr="Figur med två strömvägar genom kroppen: hand till hand och hand till fot; båda passerar bröstkorgen nära hjärta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5ef4a54c9a44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öringsspänning">
            <a:extLst xmlns:a="http://schemas.openxmlformats.org/drawingml/2006/main">
              <a:ext uri="{FF2B5EF4-FFF2-40B4-BE49-F238E27FC236}">
                <a16:creationId xmlns:a16="http://schemas.microsoft.com/office/drawing/2014/main" id="{2A4306CF-1CEE-4A54-95F7-1271A537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</a:t>
            </a:r>
          </a:p>
        </p:txBody>
      </p:sp>
      <p:sp>
        <p:nvSpPr>
          <p:cNvPr id="3" name="Beröringsspänning är en potentialskillnad mellan punkter&#10;som en p">
            <a:extLst xmlns:a="http://schemas.openxmlformats.org/drawingml/2006/main">
              <a:ext uri="{FF2B5EF4-FFF2-40B4-BE49-F238E27FC236}">
                <a16:creationId xmlns:a16="http://schemas.microsoft.com/office/drawing/2014/main" id="{1C534842-E1EA-4ED2-82AA-DE2951EAF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Beröringsspänning är en potentialskillnad mellan punkter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en person kan beröra samtidigt.</a:t>
            </a:r>
          </a:p>
        </p:txBody>
      </p:sp>
      <p:sp>
        <p:nvSpPr>
          <p:cNvPr id="4" name="I = U/R är en förenklad beräkningsmodell">
            <a:extLst xmlns:a="http://schemas.openxmlformats.org/drawingml/2006/main">
              <a:ext uri="{FF2B5EF4-FFF2-40B4-BE49-F238E27FC236}">
                <a16:creationId xmlns:a16="http://schemas.microsoft.com/office/drawing/2014/main" id="{6C8766C6-5108-4C84-A670-E092519B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är en förenklad beräkningsmodell</a:t>
            </a:r>
          </a:p>
        </p:txBody>
      </p:sp>
      <p:sp>
        <p:nvSpPr>
          <p:cNvPr id="5" name="Utsatt metall kan bli spänningsförande vid isolationsfel.&#10;Kroppen">
            <a:extLst xmlns:a="http://schemas.openxmlformats.org/drawingml/2006/main">
              <a:ext uri="{FF2B5EF4-FFF2-40B4-BE49-F238E27FC236}">
                <a16:creationId xmlns:a16="http://schemas.microsoft.com/office/drawing/2014/main" id="{1EB8D050-EF2F-44FB-815B-4DE8EC777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 metall kan bli spänningsförande vid isolationsfel.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Kroppens elektriska egenskaper varierar med situationen.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8E1383B-F082-4DA5-A76D-4FDDD762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etallhölje med isolationsfel och bruten" descr="Metallhölje med isolationsfel och bruten skyddsledare; en person rör höljet och står på ledande stålskrov. Beröringsspänningen är skillnaden mellan höljets och däckets potent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91a431b7e4a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jusbågens konsekvenser">
            <a:extLst xmlns:a="http://schemas.openxmlformats.org/drawingml/2006/main">
              <a:ext uri="{FF2B5EF4-FFF2-40B4-BE49-F238E27FC236}">
                <a16:creationId xmlns:a16="http://schemas.microsoft.com/office/drawing/2014/main" id="{3FF9E2F1-ECD1-47D2-B81B-B952DD46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Ljusbågens konsekvenser</a:t>
            </a:r>
          </a:p>
        </p:txBody>
      </p:sp>
      <p:sp>
        <p:nvSpPr>
          <p:cNvPr id="3" name="En ljusbåge kan ge värme, tryck, starkt ljus och splitter.&#10;Skador">
            <a:extLst xmlns:a="http://schemas.openxmlformats.org/drawingml/2006/main">
              <a:ext uri="{FF2B5EF4-FFF2-40B4-BE49-F238E27FC236}">
                <a16:creationId xmlns:a16="http://schemas.microsoft.com/office/drawing/2014/main" id="{2B4B80D9-9F15-4467-8415-C1D9637C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ljusbåge kan ge värme, tryck, starkt ljus och splitter.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Skador kan uppstå utan strömgenomgång genom kroppen.</a:t>
            </a:r>
          </a:p>
        </p:txBody>
      </p:sp>
      <p:sp>
        <p:nvSpPr>
          <p:cNvPr id="4" name="Tillgänglig felenergi och tid påverkar följden">
            <a:extLst xmlns:a="http://schemas.openxmlformats.org/drawingml/2006/main">
              <a:ext uri="{FF2B5EF4-FFF2-40B4-BE49-F238E27FC236}">
                <a16:creationId xmlns:a16="http://schemas.microsoft.com/office/drawing/2014/main" id="{A8D6BA59-592C-441A-90A9-B33B97B2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Tillgänglig felenergi och tid påverkar följden</a:t>
            </a:r>
          </a:p>
        </p:txBody>
      </p:sp>
      <p:sp>
        <p:nvSpPr>
          <p:cNvPr id="5" name="Ett verktyg eller en felaktig mätanslutning kan initiera fel.&#10;Ris">
            <a:extLst xmlns:a="http://schemas.openxmlformats.org/drawingml/2006/main">
              <a:ext uri="{FF2B5EF4-FFF2-40B4-BE49-F238E27FC236}">
                <a16:creationId xmlns:a16="http://schemas.microsoft.com/office/drawing/2014/main" id="{F75C333B-1634-491C-88E5-BBF2537B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verktyg eller en felaktig mätanslutning kan initiera fel.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behöver omfatta hela arbetsmomentet.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848336A0-EA1C-4AF9-B76F-466E057B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jusbåge mellan två strömskenor med pila" descr="Ljusbåge mellan två strömskenor med pilar för värme, tryck, starkt ljus och spli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bbc79ff8f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riskförklaring">
            <a:extLst xmlns:a="http://schemas.openxmlformats.org/drawingml/2006/main">
              <a:ext uri="{FF2B5EF4-FFF2-40B4-BE49-F238E27FC236}">
                <a16:creationId xmlns:a16="http://schemas.microsoft.com/office/drawing/2014/main" id="{16741695-0F94-43F4-B6EC-C06DC310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riskförklaring</a:t>
            </a:r>
          </a:p>
        </p:txBody>
      </p:sp>
      <p:sp>
        <p:nvSpPr>
          <p:cNvPr id="10" name="En skadad skarvkabel ligger där vatten samlas. Ingen berör den ju">
            <a:extLst xmlns:a="http://schemas.openxmlformats.org/drawingml/2006/main">
              <a:ext uri="{FF2B5EF4-FFF2-40B4-BE49-F238E27FC236}">
                <a16:creationId xmlns:a16="http://schemas.microsoft.com/office/drawing/2014/main" id="{A0A84B18-75B6-4ABD-BC48-5B406B78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skarvkabel ligger där vatten samlas. Ingen berör den just nu.</a:t>
            </a:r>
          </a:p>
        </p:txBody>
      </p:sp>
      <p:sp>
        <p:nvSpPr>
          <p:cNvPr id="11" name="Fara, möjlig exponering och konsekvens">
            <a:extLst xmlns:a="http://schemas.openxmlformats.org/drawingml/2006/main">
              <a:ext uri="{FF2B5EF4-FFF2-40B4-BE49-F238E27FC236}">
                <a16:creationId xmlns:a16="http://schemas.microsoft.com/office/drawing/2014/main" id="{23DFC6E1-D4DB-4B56-80E6-8F29C20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exponering och konsekvens</a:t>
            </a:r>
          </a:p>
        </p:txBody>
      </p:sp>
      <p:sp>
        <p:nvSpPr>
          <p:cNvPr id="12" name="1. Observation: synlig kabelskada och vatten i området.&#10;2. Möjlig">
            <a:extLst xmlns:a="http://schemas.openxmlformats.org/drawingml/2006/main">
              <a:ext uri="{FF2B5EF4-FFF2-40B4-BE49-F238E27FC236}">
                <a16:creationId xmlns:a16="http://schemas.microsoft.com/office/drawing/2014/main" id="{FB7D92F2-8BE2-404D-A9FF-3896B511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Observation: synlig kabelskada och vatten i området.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Möjlig händelse: en person berör en del vars isolation brustit.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Möjlig följd: strömgenomgång eller fallskada.</a:t>
            </a:r>
          </a:p>
        </p:txBody>
      </p:sp>
      <p:sp>
        <p:nvSpPr>
          <p:cNvPr id="13" name="Spänningssättning är ännu inte verifierad. Den synliga skadan räc">
            <a:extLst xmlns:a="http://schemas.openxmlformats.org/drawingml/2006/main">
              <a:ext uri="{FF2B5EF4-FFF2-40B4-BE49-F238E27FC236}">
                <a16:creationId xmlns:a16="http://schemas.microsoft.com/office/drawing/2014/main" id="{50241143-EF95-482F-83A8-8D61F6C4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Spänningssättning är ännu inte verifierad. Den synliga skadan räcker för att stoppa användningen.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FA16483C-A3D9-4233-A3B2-F5FD858E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kadad skarvkabel i vatten på däck, avsp" descr="Skadad skarvkabel i vatten på däck, avspärrad med b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5f90d837ff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B4CA8C7-0765-472E-9FB5-D7193FC5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ra + exponering kan leda till skada">
            <a:extLst xmlns:a="http://schemas.openxmlformats.org/drawingml/2006/main">
              <a:ext uri="{FF2B5EF4-FFF2-40B4-BE49-F238E27FC236}">
                <a16:creationId xmlns:a16="http://schemas.microsoft.com/office/drawing/2014/main" id="{1DCF1EEB-E1DE-4DB6-8F8C-9C95C188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+ exponering kan leda till skada</a:t>
            </a:r>
          </a:p>
        </p:txBody>
      </p:sp>
      <p:sp>
        <p:nvSpPr>
          <p:cNvPr id="11" name="Fukt och kontakt med ledande ytor kan öka möjligheten för ström g">
            <a:extLst xmlns:a="http://schemas.openxmlformats.org/drawingml/2006/main">
              <a:ext uri="{FF2B5EF4-FFF2-40B4-BE49-F238E27FC236}">
                <a16:creationId xmlns:a16="http://schemas.microsoft.com/office/drawing/2014/main" id="{FC4C6C12-7179-44F8-A339-D160E03F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 och kontakt med ledande ytor kan öka möjligheten för ström genom kroppen.</a:t>
            </a:r>
          </a:p>
        </p:txBody>
      </p:sp>
      <p:sp>
        <p:nvSpPr>
          <p:cNvPr id="12" name="Förutsättningar: Skadad arbetslampa på vått metalldäck. Spännings">
            <a:extLst xmlns:a="http://schemas.openxmlformats.org/drawingml/2006/main">
              <a:ext uri="{FF2B5EF4-FFF2-40B4-BE49-F238E27FC236}">
                <a16:creationId xmlns:a16="http://schemas.microsoft.com/office/drawing/2014/main" id="{8AAD717C-CFD6-45A9-88CE-A1E00A4E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Skadad arbetslampa på vått metalldäck. Spänningsnivå och skyddsfunktion är inte verifierade.</a:t>
            </a:r>
          </a:p>
        </p:txBody>
      </p:sp>
      <p:sp>
        <p:nvSpPr>
          <p:cNvPr id="13" name="Arbetsgång: Välj två omständigheter ur fallet och förklara hur va">
            <a:extLst xmlns:a="http://schemas.openxmlformats.org/drawingml/2006/main">
              <a:ext uri="{FF2B5EF4-FFF2-40B4-BE49-F238E27FC236}">
                <a16:creationId xmlns:a16="http://schemas.microsoft.com/office/drawing/2014/main" id="{955E9091-7F36-46AB-9FBF-02AFE4662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två omständigheter ur fallet och förklara hur var och en kan öka risken.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D6A09ED2-DF15-4F46-AF92-1B79508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428d06c2f4d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A68036C-8FC9-4451-9578-CA99FF562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uktig miljö">
            <a:extLst xmlns:a="http://schemas.openxmlformats.org/drawingml/2006/main">
              <a:ext uri="{FF2B5EF4-FFF2-40B4-BE49-F238E27FC236}">
                <a16:creationId xmlns:a16="http://schemas.microsoft.com/office/drawing/2014/main" id="{3A376C46-2839-415D-B53E-BF9A2108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Fuktig miljö</a:t>
            </a:r>
          </a:p>
        </p:txBody>
      </p:sp>
      <p:sp>
        <p:nvSpPr>
          <p:cNvPr id="4" name="En person ska undersöka en skadad arbetslampa på ett vått metalld">
            <a:extLst xmlns:a="http://schemas.openxmlformats.org/drawingml/2006/main">
              <a:ext uri="{FF2B5EF4-FFF2-40B4-BE49-F238E27FC236}">
                <a16:creationId xmlns:a16="http://schemas.microsoft.com/office/drawing/2014/main" id="{FF1A1171-1DB1-4C02-B678-99E515A6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ska undersöka en skadad arbetslampa på ett vått metalldäck. Ange två faktorer som ökar risken.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FB15004-3E17-4E83-A982-2412148A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54D2FF31-FF52-429E-807D-24FF9417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c67ec803f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387BA4A-8B49-4F5F-AFED-7DAA5847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Strömgenomgång respektive ljusbåge">
            <a:extLst xmlns:a="http://schemas.openxmlformats.org/drawingml/2006/main">
              <a:ext uri="{FF2B5EF4-FFF2-40B4-BE49-F238E27FC236}">
                <a16:creationId xmlns:a16="http://schemas.microsoft.com/office/drawing/2014/main" id="{17B2B8A9-3409-473A-BAC7-FB04643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respektive ljusbåge</a:t>
            </a:r>
          </a:p>
        </p:txBody>
      </p:sp>
      <p:sp>
        <p:nvSpPr>
          <p:cNvPr id="11" name="Strömgenomgång innebär en strömväg genom kroppen. Ljusbåge kan ge">
            <a:extLst xmlns:a="http://schemas.openxmlformats.org/drawingml/2006/main">
              <a:ext uri="{FF2B5EF4-FFF2-40B4-BE49-F238E27FC236}">
                <a16:creationId xmlns:a16="http://schemas.microsoft.com/office/drawing/2014/main" id="{3C1DEEDF-431A-43AD-A2D2-0F0B86CB3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Strömgenomgång innebär en strömväg genom kroppen. Ljusbåge kan ge värme, tryck och splitter.</a:t>
            </a:r>
          </a:p>
        </p:txBody>
      </p:sp>
      <p:sp>
        <p:nvSpPr>
          <p:cNvPr id="12" name="Förutsättningar: En ljusbåge kan skada även utan att personen ing">
            <a:extLst xmlns:a="http://schemas.openxmlformats.org/drawingml/2006/main">
              <a:ext uri="{FF2B5EF4-FFF2-40B4-BE49-F238E27FC236}">
                <a16:creationId xmlns:a16="http://schemas.microsoft.com/office/drawing/2014/main" id="{029C44F0-3FEE-4605-A926-CBB3A377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ljusbåge kan skada även utan att personen ingår i den elektriska strömvägen.</a:t>
            </a:r>
          </a:p>
        </p:txBody>
      </p:sp>
      <p:sp>
        <p:nvSpPr>
          <p:cNvPr id="13" name="Arbetsgång: Beskriv skademekanismen för varje händelse och ange d">
            <a:extLst xmlns:a="http://schemas.openxmlformats.org/drawingml/2006/main">
              <a:ext uri="{FF2B5EF4-FFF2-40B4-BE49-F238E27FC236}">
                <a16:creationId xmlns:a16="http://schemas.microsoft.com/office/drawing/2014/main" id="{04757BE8-C19F-4371-8DE9-EFBE4118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skademekanismen för varje händelse och ange den avgörande skillnaden.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E63CF8EE-E6D2-4DA4-B3FA-67DFCF8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3b79b596af4c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32A613C-E376-48F9-96C6-0179ECCE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vå sorters skada">
            <a:extLst xmlns:a="http://schemas.openxmlformats.org/drawingml/2006/main">
              <a:ext uri="{FF2B5EF4-FFF2-40B4-BE49-F238E27FC236}">
                <a16:creationId xmlns:a16="http://schemas.microsoft.com/office/drawing/2014/main" id="{D5021FFC-E292-4C12-8DDE-2425B06C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sorters skada</a:t>
            </a:r>
          </a:p>
        </p:txBody>
      </p:sp>
      <p:sp>
        <p:nvSpPr>
          <p:cNvPr id="4" name="Beskriv skillnaden mellan strömgenomgång och ljusbågsskada.">
            <a:extLst xmlns:a="http://schemas.openxmlformats.org/drawingml/2006/main">
              <a:ext uri="{FF2B5EF4-FFF2-40B4-BE49-F238E27FC236}">
                <a16:creationId xmlns:a16="http://schemas.microsoft.com/office/drawing/2014/main" id="{CDA299BD-A206-4C58-8C47-C4E6CD6D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 skillnaden mellan strömgenomgång och ljusbågsskada.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1E87B6-E65E-47B7-B884-09D0C505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A9BF7A7D-FBDB-43E8-A1C6-A92D047C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58ea7437240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5BC7416-0B40-4834-88FD-39D245A4F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beröring = |VA − VB|">
            <a:extLst xmlns:a="http://schemas.openxmlformats.org/drawingml/2006/main">
              <a:ext uri="{FF2B5EF4-FFF2-40B4-BE49-F238E27FC236}">
                <a16:creationId xmlns:a16="http://schemas.microsoft.com/office/drawing/2014/main" id="{467ABB42-31E7-486C-A9CA-457A805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VA och VB är potentialerna hos två punkter som kan beröras samtid">
            <a:extLst xmlns:a="http://schemas.openxmlformats.org/drawingml/2006/main">
              <a:ext uri="{FF2B5EF4-FFF2-40B4-BE49-F238E27FC236}">
                <a16:creationId xmlns:a16="http://schemas.microsoft.com/office/drawing/2014/main" id="{128CF4A6-2A08-45FF-A43B-47D3EA7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potentialerna hos två punkter som kan beröras samtidigt.</a:t>
            </a:r>
          </a:p>
        </p:txBody>
      </p:sp>
      <p:sp>
        <p:nvSpPr>
          <p:cNvPr id="12" name="Förutsättningar: Hölje och ledande struktur skiljer 60 V i potent">
            <a:extLst xmlns:a="http://schemas.openxmlformats.org/drawingml/2006/main">
              <a:ext uri="{FF2B5EF4-FFF2-40B4-BE49-F238E27FC236}">
                <a16:creationId xmlns:a16="http://schemas.microsoft.com/office/drawing/2014/main" id="{1D611550-03D7-41C1-804D-260124D6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Hölje och ledande struktur skiljer 60 V i potential. Båda kan beröras samtidigt.</a:t>
            </a:r>
          </a:p>
        </p:txBody>
      </p:sp>
      <p:sp>
        <p:nvSpPr>
          <p:cNvPr id="13" name="Arbetsgång: Identifiera de två kontaktpunkterna. Använd deras pot">
            <a:extLst xmlns:a="http://schemas.openxmlformats.org/drawingml/2006/main">
              <a:ext uri="{FF2B5EF4-FFF2-40B4-BE49-F238E27FC236}">
                <a16:creationId xmlns:a16="http://schemas.microsoft.com/office/drawing/2014/main" id="{583426AE-6E18-401B-A39D-F63F07D6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de två kontaktpunkterna. Använd deras potentialskillnad, inte ett godtyckligt jordvärde.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94414F8-1C87-46B8-A844-D5F311B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En person rör samtidigt punkt A på ett h" descr="En person rör samtidigt punkt A på ett hölje och punkt B på en ledande struktur; höljet ligger 60 V över strukturen, beröring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e191df457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67BA1B3-3953-4F31-AD9F-9BDF4AFF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Beröringspunkter">
            <a:extLst xmlns:a="http://schemas.openxmlformats.org/drawingml/2006/main">
              <a:ext uri="{FF2B5EF4-FFF2-40B4-BE49-F238E27FC236}">
                <a16:creationId xmlns:a16="http://schemas.microsoft.com/office/drawing/2014/main" id="{475E4D70-EA34-43AC-9F25-3B3B4DB3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Beröringspunkter</a:t>
            </a:r>
          </a:p>
        </p:txBody>
      </p:sp>
      <p:sp>
        <p:nvSpPr>
          <p:cNvPr id="4" name="Ett metallhölje ligger 60 V över en närliggande ledande struktur.">
            <a:extLst xmlns:a="http://schemas.openxmlformats.org/drawingml/2006/main">
              <a:ext uri="{FF2B5EF4-FFF2-40B4-BE49-F238E27FC236}">
                <a16:creationId xmlns:a16="http://schemas.microsoft.com/office/drawing/2014/main" id="{0FA6634B-3DDF-4476-A837-DBB8B780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metallhölje ligger 60 V över en närliggande ledande struktur. En person kan beröra båda. Vilken spänning är relevant för beröringen?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62F1D19-2A08-4F32-82D3-DB0170C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3F23E25-CC42-4AF4-AEA1-52D5940D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fdf27a92d46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55CCA8A1-622A-4C24-B274-E9110629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 = U/R     I[mA] = 1 000 · I[A]">
            <a:extLst xmlns:a="http://schemas.openxmlformats.org/drawingml/2006/main">
              <a:ext uri="{FF2B5EF4-FFF2-40B4-BE49-F238E27FC236}">
                <a16:creationId xmlns:a16="http://schemas.microsoft.com/office/drawing/2014/main" id="{9625D3A2-5273-460C-9E16-7CD7D6FF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U/R     I[mA] = 1 000 · I[A]</a:t>
            </a:r>
          </a:p>
        </p:txBody>
      </p:sp>
      <p:sp>
        <p:nvSpPr>
          <p:cNvPr id="11" name="U är spänning i V och R den antagna resistansen i Ω. Kroppens ver">
            <a:extLst xmlns:a="http://schemas.openxmlformats.org/drawingml/2006/main">
              <a:ext uri="{FF2B5EF4-FFF2-40B4-BE49-F238E27FC236}">
                <a16:creationId xmlns:a16="http://schemas.microsoft.com/office/drawing/2014/main" id="{7742D427-72D5-4C2C-B07B-D9984E7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spänning i V och R den antagna resistansen i Ω. Kroppens verkliga egenskaper varierar.</a:t>
            </a:r>
          </a:p>
        </p:txBody>
      </p:sp>
      <p:sp>
        <p:nvSpPr>
          <p:cNvPr id="12" name="Förutsättningar: Ren resistiv räknemodell: U = 24 V och R = 2 000">
            <a:extLst xmlns:a="http://schemas.openxmlformats.org/drawingml/2006/main">
              <a:ext uri="{FF2B5EF4-FFF2-40B4-BE49-F238E27FC236}">
                <a16:creationId xmlns:a16="http://schemas.microsoft.com/office/drawing/2014/main" id="{63D1710D-2C98-43E6-A64B-A7054092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resistiv räknemodell: U = 24 V och R = 2 000 Ω. Värdet på R är ett antagande.</a:t>
            </a:r>
          </a:p>
        </p:txBody>
      </p:sp>
      <p:sp>
        <p:nvSpPr>
          <p:cNvPr id="13" name="Arbetsgång: Beräkna modellströmmen. Förklara varför ett antaget R">
            <a:extLst xmlns:a="http://schemas.openxmlformats.org/drawingml/2006/main">
              <a:ext uri="{FF2B5EF4-FFF2-40B4-BE49-F238E27FC236}">
                <a16:creationId xmlns:a16="http://schemas.microsoft.com/office/drawing/2014/main" id="{10D39D1D-F87D-4FFD-A0D0-D5C62DBB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modellströmmen. Förklara varför ett antaget R inte kan fastställa en säker exponeringsgräns.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18B3C7AD-CF13-4414-8925-30E88035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äknemodell: 24 V likspänning över en an" descr="Räknemodell: 24 V likspänning över en antagen resistans på 2 000 ohm; 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1b4bb84b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C56DF881-3CED-49F3-B61A-33E58DDE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Räkneexempel med begränsning">
            <a:extLst xmlns:a="http://schemas.openxmlformats.org/drawingml/2006/main">
              <a:ext uri="{FF2B5EF4-FFF2-40B4-BE49-F238E27FC236}">
                <a16:creationId xmlns:a16="http://schemas.microsoft.com/office/drawing/2014/main" id="{B2F461E3-3F2D-4B42-9750-8CF75BE1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Räkneexempel med begränsning</a:t>
            </a:r>
          </a:p>
        </p:txBody>
      </p:sp>
      <p:sp>
        <p:nvSpPr>
          <p:cNvPr id="4" name="En ren modell antar U = 24 V och R = 2 000 Ω. Beräkna strömmen. V">
            <a:extLst xmlns:a="http://schemas.openxmlformats.org/drawingml/2006/main">
              <a:ext uri="{FF2B5EF4-FFF2-40B4-BE49-F238E27FC236}">
                <a16:creationId xmlns:a16="http://schemas.microsoft.com/office/drawing/2014/main" id="{1E7C96E6-2D23-4399-8C7D-47CB5C1D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modell antar U = 24 V och R = 2 000 Ω. Beräkna strömmen. Varför visar svaret ingen allmän säkerhetsgräns?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10C107F-6168-4232-B71C-738CAF60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F6F0B79-B49C-4BDB-BCED-B49C583D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d0eb515912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88712ACA-9744-4CEA-BF31-7F8245ED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toppfunktion och frånskiljning har olika uppgifter">
            <a:extLst xmlns:a="http://schemas.openxmlformats.org/drawingml/2006/main">
              <a:ext uri="{FF2B5EF4-FFF2-40B4-BE49-F238E27FC236}">
                <a16:creationId xmlns:a16="http://schemas.microsoft.com/office/drawing/2014/main" id="{B3824277-46A4-410D-ACD4-19FE0F9B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Stoppfunktion och frånskiljning har olika uppgifter</a:t>
            </a:r>
          </a:p>
        </p:txBody>
      </p:sp>
      <p:sp>
        <p:nvSpPr>
          <p:cNvPr id="11" name="STOPP kan bryta styrningen medan kraftmatning, reservmatning elle">
            <a:extLst xmlns:a="http://schemas.openxmlformats.org/drawingml/2006/main">
              <a:ext uri="{FF2B5EF4-FFF2-40B4-BE49-F238E27FC236}">
                <a16:creationId xmlns:a16="http://schemas.microsoft.com/office/drawing/2014/main" id="{A312E6BB-67DB-4925-BC05-667CB57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kan bryta styrningen medan kraftmatning, reservmatning eller lagrad energi finns kvar.</a:t>
            </a:r>
          </a:p>
        </p:txBody>
      </p:sp>
      <p:sp>
        <p:nvSpPr>
          <p:cNvPr id="12" name="Förutsättningar: Enda observationen är en släckt panel efter STOP">
            <a:extLst xmlns:a="http://schemas.openxmlformats.org/drawingml/2006/main">
              <a:ext uri="{FF2B5EF4-FFF2-40B4-BE49-F238E27FC236}">
                <a16:creationId xmlns:a16="http://schemas.microsoft.com/office/drawing/2014/main" id="{3D7D820C-5F7B-45DA-A35A-38D7892D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Enda observationen är en släckt panel efter STOPP. Spänningslöshet har inte verifierats.</a:t>
            </a:r>
          </a:p>
        </p:txBody>
      </p:sp>
      <p:sp>
        <p:nvSpPr>
          <p:cNvPr id="13" name="Arbetsgång: Ange vad observationen faktiskt visar och vilken kont">
            <a:extLst xmlns:a="http://schemas.openxmlformats.org/drawingml/2006/main">
              <a:ext uri="{FF2B5EF4-FFF2-40B4-BE49-F238E27FC236}">
                <a16:creationId xmlns:a16="http://schemas.microsoft.com/office/drawing/2014/main" id="{3573C047-2787-4377-A798-9A59FAD1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observationen faktiskt visar och vilken kontroll som ännu saknas enligt arbetsplanen.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3929572E-53D9-4CEF-AE45-8B54A9C7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ftkrets med frånskiljare i okänt läge" descr="Kraftkrets med frånskiljare i okänt läge, kontaktor K1 och motor; styrkretsen med STOPP bruten och en släckt panel. Frågan är om det är spänningslö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573b09e2146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05B08D63-5C55-4714-A44A-9A459F32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läckt panel">
            <a:extLst xmlns:a="http://schemas.openxmlformats.org/drawingml/2006/main">
              <a:ext uri="{FF2B5EF4-FFF2-40B4-BE49-F238E27FC236}">
                <a16:creationId xmlns:a16="http://schemas.microsoft.com/office/drawing/2014/main" id="{C2CEB57F-1301-44D0-A000-D6767E67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Släckt panel</a:t>
            </a:r>
          </a:p>
        </p:txBody>
      </p:sp>
      <p:sp>
        <p:nvSpPr>
          <p:cNvPr id="4" name="Manöverpanelen är släckt efter STOPP. Varför räcker det inte som ">
            <a:extLst xmlns:a="http://schemas.openxmlformats.org/drawingml/2006/main">
              <a:ext uri="{FF2B5EF4-FFF2-40B4-BE49-F238E27FC236}">
                <a16:creationId xmlns:a16="http://schemas.microsoft.com/office/drawing/2014/main" id="{FC0FFD0C-5706-45B2-B454-EFDEA99C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Manöverpanelen är släckt efter STOPP. Varför räcker det inte som bevis för frånvaro av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49E8DAF-76A2-4C5C-A8A8-A8569826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6973C77-300F-4248-A504-134EE7E4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0814c05e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1BFA4991-A40A-4CE1-AA92-AD349CA2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Risker i marin miljö&#10;En inträffad elolycka&#10;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AE3B4BEB-90E5-433E-9505-D717E119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D7DC758-B21F-4851-A4D5-01F00A7B5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FC8A5BB-60F4-4E03-925E-92A042CE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fbc17655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isker i marin miljö">
            <a:extLst xmlns:a="http://schemas.openxmlformats.org/drawingml/2006/main">
              <a:ext uri="{FF2B5EF4-FFF2-40B4-BE49-F238E27FC236}">
                <a16:creationId xmlns:a16="http://schemas.microsoft.com/office/drawing/2014/main" id="{1A2BA673-B7CF-4657-B7E7-216F17C1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Risker i marin miljö</a:t>
            </a:r>
          </a:p>
        </p:txBody>
      </p:sp>
      <p:sp>
        <p:nvSpPr>
          <p:cNvPr id="3" name="Fukt, trånga utrymmen och ledande omgivning påverkar arbetet.&#10;Res">
            <a:extLst xmlns:a="http://schemas.openxmlformats.org/drawingml/2006/main">
              <a:ext uri="{FF2B5EF4-FFF2-40B4-BE49-F238E27FC236}">
                <a16:creationId xmlns:a16="http://schemas.microsoft.com/office/drawing/2014/main" id="{5D7C3E6D-CB1D-4C23-BCCB-E073917C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Fukt, trånga utrymmen och ledande omgivning påverkar arbetet.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och batterier kan ge flera energikällor.</a:t>
            </a:r>
          </a:p>
        </p:txBody>
      </p:sp>
      <p:sp>
        <p:nvSpPr>
          <p:cNvPr id="4" name="Varje möjlig matningsväg behöver identifieras">
            <a:extLst xmlns:a="http://schemas.openxmlformats.org/drawingml/2006/main">
              <a:ext uri="{FF2B5EF4-FFF2-40B4-BE49-F238E27FC236}">
                <a16:creationId xmlns:a16="http://schemas.microsoft.com/office/drawing/2014/main" id="{E62C02B2-D9C2-407A-936D-154B69C5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möjlig matningsväg behöver identifieras</a:t>
            </a:r>
          </a:p>
        </p:txBody>
      </p:sp>
      <p:sp>
        <p:nvSpPr>
          <p:cNvPr id="5" name="Ett stoppat aggregat eller släckt manöverpanel visar inte&#10;att arb">
            <a:extLst xmlns:a="http://schemas.openxmlformats.org/drawingml/2006/main">
              <a:ext uri="{FF2B5EF4-FFF2-40B4-BE49-F238E27FC236}">
                <a16:creationId xmlns:a16="http://schemas.microsoft.com/office/drawing/2014/main" id="{17E23590-3EBD-4EE5-8CBD-72864E01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stoppat aggregat eller släckt manöverpanel visar inte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arbetsområdet är säkert att beröra.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AB6226D-60B0-4787-ABF8-3D155F45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delning som kan matas från generator," descr="Fördelning som kan matas från generator, nödgenerator med autostart, landanslutning, batteri och U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db99f7e9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n inträffad elolycka">
            <a:extLst xmlns:a="http://schemas.openxmlformats.org/drawingml/2006/main">
              <a:ext uri="{FF2B5EF4-FFF2-40B4-BE49-F238E27FC236}">
                <a16:creationId xmlns:a16="http://schemas.microsoft.com/office/drawing/2014/main" id="{D045FFAA-4B49-4217-B204-952D807A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inträffad elolycka</a:t>
            </a:r>
          </a:p>
        </p:txBody>
      </p:sp>
      <p:sp>
        <p:nvSpPr>
          <p:cNvPr id="3" name="Skydda dig själv och bryt energitillförseln om det kan ske säkert">
            <a:extLst xmlns:a="http://schemas.openxmlformats.org/drawingml/2006/main">
              <a:ext uri="{FF2B5EF4-FFF2-40B4-BE49-F238E27FC236}">
                <a16:creationId xmlns:a16="http://schemas.microsoft.com/office/drawing/2014/main" id="{7204B649-34D6-4A45-8790-3D2D248B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Skydda dig själv och bryt energitillförseln om det kan ske säkert.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Larma enligt fartygets nödinstruktion. I hamn: 112.</a:t>
            </a:r>
          </a:p>
        </p:txBody>
      </p:sp>
      <p:sp>
        <p:nvSpPr>
          <p:cNvPr id="4" name="Kontakta sjukvården 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494B7D44-5291-4E99-AA81-F255EB38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 sjöss: radiomedicinsk rådgivning (TMAS)</a:t>
            </a:r>
          </a:p>
        </p:txBody>
      </p:sp>
      <p:sp>
        <p:nvSpPr>
          <p:cNvPr id="5" name="När platsen är säker: bedöm andning och ge HLR vid behov.&#10;Vid hög">
            <a:extLst xmlns:a="http://schemas.openxmlformats.org/drawingml/2006/main">
              <a:ext uri="{FF2B5EF4-FFF2-40B4-BE49-F238E27FC236}">
                <a16:creationId xmlns:a16="http://schemas.microsoft.com/office/drawing/2014/main" id="{2A1991A5-9ED0-437C-93D3-A3138C53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platsen är säker: bedöm andning och ge HLR vid behov.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högspänning håll avstånd tills behörig person säkrat platsen.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9748B7D-FDCC-490E-9104-FF85EBBB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em steg vid en elolycka ombord: skydda " descr="Fem steg vid en elolycka ombord: skydda dig själv, bryt strömmen om det går säkert, larma enligt nödinstruktionen, andning och HLR när platsen är säker, medicinsk rådgivning. Till sjöss TMAS via JRCC, i hamn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97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a143aedfd4d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llbud och lärande">
            <a:extLst xmlns:a="http://schemas.openxmlformats.org/drawingml/2006/main">
              <a:ext uri="{FF2B5EF4-FFF2-40B4-BE49-F238E27FC236}">
                <a16:creationId xmlns:a16="http://schemas.microsoft.com/office/drawing/2014/main" id="{F484A7BA-29FE-485C-B354-59391C2E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3" name="Ett tillbud har kunnat leda till skada även om ingen skadades.&#10;Do">
            <a:extLst xmlns:a="http://schemas.openxmlformats.org/drawingml/2006/main">
              <a:ext uri="{FF2B5EF4-FFF2-40B4-BE49-F238E27FC236}">
                <a16:creationId xmlns:a16="http://schemas.microsoft.com/office/drawing/2014/main" id="{86E17ED4-648B-4F65-A9FE-93B8968D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tillbud har kunnat leda till skada även om ingen skadades.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händelseförlopp och brister i skydden.</a:t>
            </a:r>
          </a:p>
        </p:txBody>
      </p:sp>
      <p:sp>
        <p:nvSpPr>
          <p:cNvPr id="4" name="Observation, bakomliggande orsak, åtgärd">
            <a:extLst xmlns:a="http://schemas.openxmlformats.org/drawingml/2006/main">
              <a:ext uri="{FF2B5EF4-FFF2-40B4-BE49-F238E27FC236}">
                <a16:creationId xmlns:a16="http://schemas.microsoft.com/office/drawing/2014/main" id="{1A6399F1-A034-40C3-A33C-437CABF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Observation, bakomliggande orsak, åtgärd</a:t>
            </a:r>
          </a:p>
        </p:txBody>
      </p:sp>
      <p:sp>
        <p:nvSpPr>
          <p:cNvPr id="5" name="”Proben var skadad” beskriver observationen.&#10;”Ingen förkontroll i">
            <a:extLst xmlns:a="http://schemas.openxmlformats.org/drawingml/2006/main">
              <a:ext uri="{FF2B5EF4-FFF2-40B4-BE49-F238E27FC236}">
                <a16:creationId xmlns:a16="http://schemas.microsoft.com/office/drawing/2014/main" id="{9421F8EE-D0D6-469C-98E9-86BA26FC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”Proben var skadad” beskriver observationen.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”Ingen förkontroll ingick” kan förklara varför risken kvarstod.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01476D71-AF23-4500-91B3-14F3457C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bc798c3d8e40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llbud och förbättring">
            <a:extLst xmlns:a="http://schemas.openxmlformats.org/drawingml/2006/main">
              <a:ext uri="{FF2B5EF4-FFF2-40B4-BE49-F238E27FC236}">
                <a16:creationId xmlns:a16="http://schemas.microsoft.com/office/drawing/2014/main" id="{C6663AFB-9CF7-468F-B96D-7A7DB11D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tillbud och förbättring</a:t>
            </a:r>
          </a:p>
        </p:txBody>
      </p:sp>
      <p:sp>
        <p:nvSpPr>
          <p:cNvPr id="10" name="En skadad prob upptäcks före användning. Mätningen har ännu inte ">
            <a:extLst xmlns:a="http://schemas.openxmlformats.org/drawingml/2006/main">
              <a:ext uri="{FF2B5EF4-FFF2-40B4-BE49-F238E27FC236}">
                <a16:creationId xmlns:a16="http://schemas.microsoft.com/office/drawing/2014/main" id="{CD3ABF0C-B9AE-49F7-81AA-7D37B60C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prob upptäcks före användning. Mätningen har ännu inte påbörjats.</a:t>
            </a:r>
          </a:p>
        </p:txBody>
      </p:sp>
      <p:sp>
        <p:nvSpPr>
          <p:cNvPr id="11" name="Direkt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E92D8A2E-386A-4BFA-9147-C4451CD7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åtgärd och förebyggande kontroll</a:t>
            </a:r>
          </a:p>
        </p:txBody>
      </p:sp>
      <p:sp>
        <p:nvSpPr>
          <p:cNvPr id="12" name="1. Ta den skadade proben ur bruk och märk enligt rutinen.&#10;2. Ordn">
            <a:extLst xmlns:a="http://schemas.openxmlformats.org/drawingml/2006/main">
              <a:ext uri="{FF2B5EF4-FFF2-40B4-BE49-F238E27FC236}">
                <a16:creationId xmlns:a16="http://schemas.microsoft.com/office/drawing/2014/main" id="{10293325-7845-4999-8117-744105CA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Ta den skadade proben ur bruk och märk enligt rutinen.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Ordna avsedd, kontrollerad utrustning innan mätningen.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Följ upp hur skadan uppstod och hur förkontrollen fungerar.</a:t>
            </a:r>
          </a:p>
        </p:txBody>
      </p:sp>
      <p:sp>
        <p:nvSpPr>
          <p:cNvPr id="13" name="Rapporten skiljer vad som observerats från antagen orsak. Åtgärde">
            <a:extLst xmlns:a="http://schemas.openxmlformats.org/drawingml/2006/main">
              <a:ext uri="{FF2B5EF4-FFF2-40B4-BE49-F238E27FC236}">
                <a16:creationId xmlns:a16="http://schemas.microsoft.com/office/drawing/2014/main" id="{18EC648C-02C3-4B91-B60A-EDA65236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skiljer vad som observerats från antagen orsak. Åtgärden ska kunna följas upp.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A6F32A0-2292-41F9-B95C-41376F86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5326fb7319451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F4F405CE-A3CB-4DBA-BF08-0423FF99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fel ≈ U/Rslinga i en enkel modell">
            <a:extLst xmlns:a="http://schemas.openxmlformats.org/drawingml/2006/main">
              <a:ext uri="{FF2B5EF4-FFF2-40B4-BE49-F238E27FC236}">
                <a16:creationId xmlns:a16="http://schemas.microsoft.com/office/drawing/2014/main" id="{0376DACF-8816-45F7-8578-8113807A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i en enkel modell</a:t>
            </a:r>
          </a:p>
        </p:txBody>
      </p:sp>
      <p:sp>
        <p:nvSpPr>
          <p:cNvPr id="11" name="Även vid låg spänning kan liten total resistans ge stor kortslutn">
            <a:extLst xmlns:a="http://schemas.openxmlformats.org/drawingml/2006/main">
              <a:ext uri="{FF2B5EF4-FFF2-40B4-BE49-F238E27FC236}">
                <a16:creationId xmlns:a16="http://schemas.microsoft.com/office/drawing/2014/main" id="{37B55DA7-6ED4-4743-BBED-D9F003F5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Även vid låg spänning kan liten total resistans ge stor kortslutningsström och kraftig uppvärmning.</a:t>
            </a:r>
          </a:p>
        </p:txBody>
      </p:sp>
      <p:sp>
        <p:nvSpPr>
          <p:cNvPr id="12" name="Förutsättningar: 24 V-batteri med stor kortslutningsförmåga. Inge">
            <a:extLst xmlns:a="http://schemas.openxmlformats.org/drawingml/2006/main">
              <a:ext uri="{FF2B5EF4-FFF2-40B4-BE49-F238E27FC236}">
                <a16:creationId xmlns:a16="http://schemas.microsoft.com/office/drawing/2014/main" id="{4D8561AA-0220-4025-8734-295700E4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 V-batteri med stor kortslutningsförmåga. Ingen total felresistans anges, så exakt ström kan inte beräknas.</a:t>
            </a:r>
          </a:p>
        </p:txBody>
      </p:sp>
      <p:sp>
        <p:nvSpPr>
          <p:cNvPr id="13" name="Arbetsgång: Beskriv en följd av hög felström, exempelvis värme el">
            <a:extLst xmlns:a="http://schemas.openxmlformats.org/drawingml/2006/main">
              <a:ext uri="{FF2B5EF4-FFF2-40B4-BE49-F238E27FC236}">
                <a16:creationId xmlns:a16="http://schemas.microsoft.com/office/drawing/2014/main" id="{724ED737-8353-4CA1-9E85-3401EE40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händer i slingan när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liten? Hitta inte på ett amperetal.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85FFE3FF-8FA8-4F53-B1C5-15670D48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24 V-batteri vars poler kortsluts av ett" descr="24 V-batteri vars poler kortsluts av ett verktyg; felströmmen ungefär U delat med slingans resista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63887e5e8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0C25FD9-C8EA-4732-8C34-CE624E7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Batteriets risk">
            <a:extLst xmlns:a="http://schemas.openxmlformats.org/drawingml/2006/main">
              <a:ext uri="{FF2B5EF4-FFF2-40B4-BE49-F238E27FC236}">
                <a16:creationId xmlns:a16="http://schemas.microsoft.com/office/drawing/2014/main" id="{72FE4115-41A0-4D7F-BA17-7974C694D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Batteriets risk</a:t>
            </a:r>
          </a:p>
        </p:txBody>
      </p:sp>
      <p:sp>
        <p:nvSpPr>
          <p:cNvPr id="4" name="Ett 24 V-batteri har stor kortslutningsförmåga. Ange en viktig ri">
            <a:extLst xmlns:a="http://schemas.openxmlformats.org/drawingml/2006/main">
              <a:ext uri="{FF2B5EF4-FFF2-40B4-BE49-F238E27FC236}">
                <a16:creationId xmlns:a16="http://schemas.microsoft.com/office/drawing/2014/main" id="{704436D9-E59D-4252-A049-B7CDAB85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24 V-batteri har stor kortslutningsförmåga. Ange en viktig risk som inte avgörs av spänningstalet ensamt.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B3B2E68-0714-4671-B7AE-61F00369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080064AF-F05E-428F-BF2F-BA3866A8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65180fc6e41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E475B0E7-28C6-45AB-9731-678A7039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Hjälparen får inte utsättas för elektrisk fara">
            <a:extLst xmlns:a="http://schemas.openxmlformats.org/drawingml/2006/main">
              <a:ext uri="{FF2B5EF4-FFF2-40B4-BE49-F238E27FC236}">
                <a16:creationId xmlns:a16="http://schemas.microsoft.com/office/drawing/2014/main" id="{120590F9-3BCA-432C-8FAC-EDE76B1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Hjälparen får inte utsättas för elektrisk fara</a:t>
            </a:r>
          </a:p>
        </p:txBody>
      </p:sp>
      <p:sp>
        <p:nvSpPr>
          <p:cNvPr id="11" name="En skadad person eller föremål kan fortfarande ha kontakt med spä">
            <a:extLst xmlns:a="http://schemas.openxmlformats.org/drawingml/2006/main">
              <a:ext uri="{FF2B5EF4-FFF2-40B4-BE49-F238E27FC236}">
                <a16:creationId xmlns:a16="http://schemas.microsoft.com/office/drawing/2014/main" id="{C0F3550D-BBC5-4448-AEDB-924BE97B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person eller föremål kan fortfarande ha kontakt med spänningssatta delar.</a:t>
            </a:r>
          </a:p>
        </p:txBody>
      </p:sp>
      <p:sp>
        <p:nvSpPr>
          <p:cNvPr id="12" name="Förutsättningar: Platsen kan vara spänningssatt. Vid akut fara la">
            <a:extLst xmlns:a="http://schemas.openxmlformats.org/drawingml/2006/main">
              <a:ext uri="{FF2B5EF4-FFF2-40B4-BE49-F238E27FC236}">
                <a16:creationId xmlns:a16="http://schemas.microsoft.com/office/drawing/2014/main" id="{2B140DD4-EA0A-4FBE-8242-87700DD6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Platsen kan vara spänningssatt. Larm enligt nödinstruktionen. Vid högspänning säkrar behörig person platsen.</a:t>
            </a:r>
          </a:p>
        </p:txBody>
      </p:sp>
      <p:sp>
        <p:nvSpPr>
          <p:cNvPr id="13" name="Arbetsgång: Ange hur säkerheten för hjälparen kommer före direkt ">
            <a:extLst xmlns:a="http://schemas.openxmlformats.org/drawingml/2006/main">
              <a:ext uri="{FF2B5EF4-FFF2-40B4-BE49-F238E27FC236}">
                <a16:creationId xmlns:a16="http://schemas.microsoft.com/office/drawing/2014/main" id="{08692337-D394-433F-B57C-2776BA7F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säkerheten för hjälparen kommer före direkt kroppskontakt. Följ larm- och räddningsinstruktioner.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6834944-4BEE-4C97-A001-C9920948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8c5e4e752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74358F5-3779-436A-B1D2-BEE7F747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Räddning">
            <a:extLst xmlns:a="http://schemas.openxmlformats.org/drawingml/2006/main">
              <a:ext uri="{FF2B5EF4-FFF2-40B4-BE49-F238E27FC236}">
                <a16:creationId xmlns:a16="http://schemas.microsoft.com/office/drawing/2014/main" id="{F57704FE-3AB8-4730-BAF6-F39FA0B3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Räddning</a:t>
            </a:r>
          </a:p>
        </p:txBody>
      </p:sp>
      <p:sp>
        <p:nvSpPr>
          <p:cNvPr id="4" name="En person har skadats vid en elinstallation. Platsen kan fortfara">
            <a:extLst xmlns:a="http://schemas.openxmlformats.org/drawingml/2006/main">
              <a:ext uri="{FF2B5EF4-FFF2-40B4-BE49-F238E27FC236}">
                <a16:creationId xmlns:a16="http://schemas.microsoft.com/office/drawing/2014/main" id="{B6953DE7-4A38-4F32-AE34-70A03DAE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person har skadats vid en elinstallation. Platsen kan fortfarande vara spänningssatt. Vilken princip kommer före kroppskontakt med personen?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B09CF69-C4CB-4BAE-BD6F-9836FC20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3AEDB8BD-1E04-4847-8CE1-E85972A2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dd299dce446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46172EA9-FD6D-45E5-8EE9-9F5C62D0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trömgenomgång kan ge skador som inte syns">
            <a:extLst xmlns:a="http://schemas.openxmlformats.org/drawingml/2006/main">
              <a:ext uri="{FF2B5EF4-FFF2-40B4-BE49-F238E27FC236}">
                <a16:creationId xmlns:a16="http://schemas.microsoft.com/office/drawing/2014/main" id="{C7E9BBC0-C84D-46B7-8971-6D1D8372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Strömgenomgång kan ge skador som inte syns</a:t>
            </a:r>
          </a:p>
        </p:txBody>
      </p:sp>
      <p:sp>
        <p:nvSpPr>
          <p:cNvPr id="11" name="Upplevd liten påverkan utesluter inte skada. Elsäkerhetsverket re">
            <a:extLst xmlns:a="http://schemas.openxmlformats.org/drawingml/2006/main">
              <a:ext uri="{FF2B5EF4-FFF2-40B4-BE49-F238E27FC236}">
                <a16:creationId xmlns:a16="http://schemas.microsoft.com/office/drawing/2014/main" id="{5DC4FBF2-7907-43D2-82EA-795B3AB4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Upplevd liten påverkan utesluter inte skada. Elsäkerhetsverket rekommenderar kontakt med sjukvården.</a:t>
            </a:r>
          </a:p>
        </p:txBody>
      </p:sp>
      <p:sp>
        <p:nvSpPr>
          <p:cNvPr id="12" name="Förutsättningar: Kollegan har varit utsatt för strömgenomgång och">
            <a:extLst xmlns:a="http://schemas.openxmlformats.org/drawingml/2006/main">
              <a:ext uri="{FF2B5EF4-FFF2-40B4-BE49-F238E27FC236}">
                <a16:creationId xmlns:a16="http://schemas.microsoft.com/office/drawing/2014/main" id="{698E27F7-9D7D-40A4-9E29-330B4284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Kollegan har varit utsatt för strömgenomgång och vill fortsätta arbeta.</a:t>
            </a:r>
          </a:p>
        </p:txBody>
      </p:sp>
      <p:sp>
        <p:nvSpPr>
          <p:cNvPr id="13" name="Arbetsgång: Rekommendera avbrott, säker plats och sjukvårdskontak">
            <a:extLst xmlns:a="http://schemas.openxmlformats.org/drawingml/2006/main">
              <a:ext uri="{FF2B5EF4-FFF2-40B4-BE49-F238E27FC236}">
                <a16:creationId xmlns:a16="http://schemas.microsoft.com/office/drawing/2014/main" id="{B0F83BC5-6F3B-41B3-8DA7-1852B91A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Vad rekommenderar du, och varför? Beskriv även rapporteringen enligt rutinen ombord.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3B039810-0392-4A72-8CA6-DB5829FC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b013d08a54a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B385FD84-02A7-4191-83DE-595DCA84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Efter strömgenomgång">
            <a:extLst xmlns:a="http://schemas.openxmlformats.org/drawingml/2006/main">
              <a:ext uri="{FF2B5EF4-FFF2-40B4-BE49-F238E27FC236}">
                <a16:creationId xmlns:a16="http://schemas.microsoft.com/office/drawing/2014/main" id="{90BE8BAE-AC95-4A24-8B9F-9B17199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 strömgenomgång</a:t>
            </a:r>
          </a:p>
        </p:txBody>
      </p:sp>
      <p:sp>
        <p:nvSpPr>
          <p:cNvPr id="4" name="En kollega säger att en strömgenomgång ”inte var så farlig” och v">
            <a:extLst xmlns:a="http://schemas.openxmlformats.org/drawingml/2006/main">
              <a:ext uri="{FF2B5EF4-FFF2-40B4-BE49-F238E27FC236}">
                <a16:creationId xmlns:a16="http://schemas.microsoft.com/office/drawing/2014/main" id="{962032BA-E8B3-4C95-9D60-9D261AEB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kollega säger att en strömgenomgång ”inte var så farlig” och vill fortsätta. Vilket råd ger du?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D48E002-C891-4E23-886B-869A1845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928A560C-EBC7-4FD6-9903-AC6F8335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446d8103e4e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BF733535-883B-4096-A3FF-A59A2926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Tillbud är en händelse som kunde ha skadat">
            <a:extLst xmlns:a="http://schemas.openxmlformats.org/drawingml/2006/main">
              <a:ext uri="{FF2B5EF4-FFF2-40B4-BE49-F238E27FC236}">
                <a16:creationId xmlns:a16="http://schemas.microsoft.com/office/drawing/2014/main" id="{A6753ABC-BC63-4751-B1DE-31C986AC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 är en händelse som kunde ha skadat</a:t>
            </a:r>
          </a:p>
        </p:txBody>
      </p:sp>
      <p:sp>
        <p:nvSpPr>
          <p:cNvPr id="11" name="Avsaknad av personskada säger inget säkert om hur allvarlig nästa">
            <a:extLst xmlns:a="http://schemas.openxmlformats.org/drawingml/2006/main">
              <a:ext uri="{FF2B5EF4-FFF2-40B4-BE49-F238E27FC236}">
                <a16:creationId xmlns:a16="http://schemas.microsoft.com/office/drawing/2014/main" id="{B1EB389C-FE04-4BB9-B6DF-FFD15952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Avsaknad av personskada säger inget säkert om hur allvarlig nästa liknande händelse kan bli.</a:t>
            </a:r>
          </a:p>
        </p:txBody>
      </p:sp>
      <p:sp>
        <p:nvSpPr>
          <p:cNvPr id="12" name="Förutsättningar: Felansluten mätledning gav kortslutning. Ingen s">
            <a:extLst xmlns:a="http://schemas.openxmlformats.org/drawingml/2006/main">
              <a:ext uri="{FF2B5EF4-FFF2-40B4-BE49-F238E27FC236}">
                <a16:creationId xmlns:a16="http://schemas.microsoft.com/office/drawing/2014/main" id="{6AAD9D83-85BF-4D98-977A-E1088A6B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Felansluten mätledning gav kortslutning. Ingen skadades den här gången.</a:t>
            </a:r>
          </a:p>
        </p:txBody>
      </p:sp>
      <p:sp>
        <p:nvSpPr>
          <p:cNvPr id="13" name="Arbetsgång: Koppla rapportering till förebyggande åtgärder. Skilj">
            <a:extLst xmlns:a="http://schemas.openxmlformats.org/drawingml/2006/main">
              <a:ext uri="{FF2B5EF4-FFF2-40B4-BE49-F238E27FC236}">
                <a16:creationId xmlns:a16="http://schemas.microsoft.com/office/drawing/2014/main" id="{5670C5D6-06AE-46F2-A30F-32C4D6A8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Koppla rapportering till förebyggande åtgärder. Skilj händelsen från antaganden om personens avsikt.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363F18F-54FD-431A-9EC6-13F6FFCE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0f5db796544a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A0D0C3C-239B-424C-9896-EFF81C92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illbud">
            <a:extLst xmlns:a="http://schemas.openxmlformats.org/drawingml/2006/main">
              <a:ext uri="{FF2B5EF4-FFF2-40B4-BE49-F238E27FC236}">
                <a16:creationId xmlns:a16="http://schemas.microsoft.com/office/drawing/2014/main" id="{BE2176C5-320C-4E50-9744-56F4D632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Tillbud</a:t>
            </a:r>
          </a:p>
        </p:txBody>
      </p:sp>
      <p:sp>
        <p:nvSpPr>
          <p:cNvPr id="4" name="En felansluten mätledning skapar en kortslutning, men ingen skada">
            <a:extLst xmlns:a="http://schemas.openxmlformats.org/drawingml/2006/main">
              <a:ext uri="{FF2B5EF4-FFF2-40B4-BE49-F238E27FC236}">
                <a16:creationId xmlns:a16="http://schemas.microsoft.com/office/drawing/2014/main" id="{1C90702F-6847-4635-AC8B-520C4063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felansluten mätledning skapar en kortslutning, men ingen skadas. Varför ska händelsen ändå rapporteras?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0D58E82-D5E8-4366-A7E1-0EFB4C0BA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BA38E2C-F0E5-43BB-95B2-7B407D29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d33a9375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35D6D8E9-AEC2-4C80-AB40-92B7C230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Direkt skydd och förebyggande åtgärd">
            <a:extLst xmlns:a="http://schemas.openxmlformats.org/drawingml/2006/main">
              <a:ext uri="{FF2B5EF4-FFF2-40B4-BE49-F238E27FC236}">
                <a16:creationId xmlns:a16="http://schemas.microsoft.com/office/drawing/2014/main" id="{D7FE03E6-79AC-46D4-8944-690D6278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Direkt skydd och förebyggande åtgärd</a:t>
            </a:r>
          </a:p>
        </p:txBody>
      </p:sp>
      <p:sp>
        <p:nvSpPr>
          <p:cNvPr id="11" name="Direkt åtgärd hindrar fortsatt exponering. Förebyggande åtgärd mi">
            <a:extLst xmlns:a="http://schemas.openxmlformats.org/drawingml/2006/main">
              <a:ext uri="{FF2B5EF4-FFF2-40B4-BE49-F238E27FC236}">
                <a16:creationId xmlns:a16="http://schemas.microsoft.com/office/drawing/2014/main" id="{761597B2-FC05-48C9-8C57-2F8D6A34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 åtgärd hindrar fortsatt exponering. Förebyggande åtgärd minskar risken att bristen återkommer.</a:t>
            </a:r>
          </a:p>
        </p:txBody>
      </p:sp>
      <p:sp>
        <p:nvSpPr>
          <p:cNvPr id="12" name="Förutsättningar: Synlig skada på sladd före användning. Ingen rep">
            <a:extLst xmlns:a="http://schemas.openxmlformats.org/drawingml/2006/main">
              <a:ext uri="{FF2B5EF4-FFF2-40B4-BE49-F238E27FC236}">
                <a16:creationId xmlns:a16="http://schemas.microsoft.com/office/drawing/2014/main" id="{FF37A562-6758-43C2-AEE9-48F73319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Synlig skada på sladd före användning. Ingen reparation eller återgång är godkänd.</a:t>
            </a:r>
          </a:p>
        </p:txBody>
      </p:sp>
      <p:sp>
        <p:nvSpPr>
          <p:cNvPr id="13" name="Arbetsgång: Ange vad som händer med utrustningen nu och hur kontr">
            <a:extLst xmlns:a="http://schemas.openxmlformats.org/drawingml/2006/main">
              <a:ext uri="{FF2B5EF4-FFF2-40B4-BE49-F238E27FC236}">
                <a16:creationId xmlns:a16="http://schemas.microsoft.com/office/drawing/2014/main" id="{3BA869E4-705B-462F-A531-0187633B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händer med utrustningen nu och hur kontrollrutinen kan förbättras.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0689528-55BF-4267-A54A-25372C9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e141091eb4c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5EEA22BE-224F-4BEA-A721-286A238D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örebyggande åtgärder">
            <a:extLst xmlns:a="http://schemas.openxmlformats.org/drawingml/2006/main">
              <a:ext uri="{FF2B5EF4-FFF2-40B4-BE49-F238E27FC236}">
                <a16:creationId xmlns:a16="http://schemas.microsoft.com/office/drawing/2014/main" id="{2847B590-9579-4C10-BB38-EC36EC6E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Förebyggande åtgärder</a:t>
            </a:r>
          </a:p>
        </p:txBody>
      </p:sp>
      <p:sp>
        <p:nvSpPr>
          <p:cNvPr id="4" name="En skadad sladd upptäcks före användning. Föreslå åtgärd direkt o">
            <a:extLst xmlns:a="http://schemas.openxmlformats.org/drawingml/2006/main">
              <a:ext uri="{FF2B5EF4-FFF2-40B4-BE49-F238E27FC236}">
                <a16:creationId xmlns:a16="http://schemas.microsoft.com/office/drawing/2014/main" id="{6CA956C1-D8EA-4D21-8D70-AFCF96DD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skadad sladd upptäcks före användning. Föreslå åtgärd direkt och en åtgärd som minskar risken för upprepning.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0E6F6F0-6767-4681-8E47-5DED732A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08CFAAC9-836E-43B1-9E3A-3F14EB66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856d7448548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AAD35A78-0BF9-45E8-BC4F-E207CF1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uppgift saknas oftast när någon bara säger ”det är 24 V”?">
            <a:extLst xmlns:a="http://schemas.openxmlformats.org/drawingml/2006/main">
              <a:ext uri="{FF2B5EF4-FFF2-40B4-BE49-F238E27FC236}">
                <a16:creationId xmlns:a16="http://schemas.microsoft.com/office/drawing/2014/main" id="{F8C0804C-E608-4E16-B3A5-D1BE7A90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uppgifter saknas oftast när någon bara säger ”det är 24 V”?</a:t>
            </a:r>
          </a:p>
        </p:txBody>
      </p:sp>
      <p:sp>
        <p:nvSpPr>
          <p:cNvPr id="4" name="Påbörja v42-riskbedömningen. Beskriv arbetsmoment, miljö, energik">
            <a:extLst xmlns:a="http://schemas.openxmlformats.org/drawingml/2006/main">
              <a:ext uri="{FF2B5EF4-FFF2-40B4-BE49-F238E27FC236}">
                <a16:creationId xmlns:a16="http://schemas.microsoft.com/office/drawing/2014/main" id="{DF8A0FFA-811E-423F-B706-4B095224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Påbörja v42-riskbedömningen. Beskriv arbetsmoment, miljö, energikällor och möjliga konsekvenser.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DD7288C9-AFE2-45BF-9658-05F08BEC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57655f28545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89BDDE88-C653-4E4B-8E0E-386D223B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904C5A5-680E-42FF-A3D1-A2DDED41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Elsäkerhetsverket: elolyckor och risker">
            <a:extLst xmlns:a="http://schemas.openxmlformats.org/drawingml/2006/main">
              <a:ext uri="{FF2B5EF4-FFF2-40B4-BE49-F238E27FC236}">
                <a16:creationId xmlns:a16="http://schemas.microsoft.com/office/drawing/2014/main" id="{08C933DE-066D-4E2B-8787-45CBCBA9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fd1e4a8dba44e1d"/>
              </a:rPr>
              <a:t>Elsäkerhetsverket: elolyckor och risker</a:t>
            </a:r>
          </a:p>
        </p:txBody>
      </p:sp>
      <p:sp>
        <p:nvSpPr>
          <p:cNvPr id="5" name="Elsäkerhetsverket: vid en elolycka">
            <a:extLst xmlns:a="http://schemas.openxmlformats.org/drawingml/2006/main">
              <a:ext uri="{FF2B5EF4-FFF2-40B4-BE49-F238E27FC236}">
                <a16:creationId xmlns:a16="http://schemas.microsoft.com/office/drawing/2014/main" id="{60469472-23A6-4C45-94F1-2E21A9AD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fa0584909a845f2"/>
              </a:rPr>
              <a:t>Elsäkerhetsverket: vid en elolycka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610AF947-BE70-414F-A4CE-942F42FA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0d0c94938d3441c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D0F76BF-0E11-48A3-8074-B799E955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