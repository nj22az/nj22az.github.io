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7c34ddacd4546b1" Type="http://schemas.openxmlformats.org/officeDocument/2006/relationships/officeDocument" Target="ppt/presentation.xml"/><Relationship Id="R861db07599aa41dd" Type="http://schemas.openxmlformats.org/officeDocument/2006/relationships/extended-properties" Target="docProps/app.xml"/><Relationship Id="Rd8cf384cba124e90" Type="http://schemas.openxmlformats.org/package/2006/relationships/metadata/core-properties" Target="docProps/core.xml"/></Relationships>
</file>

<file path=ppt/presentation.xml><?xml version="1.0" encoding="utf-8"?>
<p:presentation xmlns:p="http://schemas.openxmlformats.org/presentationml/2006/main" xmlns:r="http://schemas.openxmlformats.org/officeDocument/2006/relationships">
  <p:sldMasterIdLst>
    <p:sldMasterId id="2147483648" r:id="Ra38d8fb4f6ec40e4"/>
  </p:sldMasterIdLst>
  <p:sldIdLst>
    <p:sldId id="256" r:id="R8937a66a68294c29"/>
    <p:sldId id="257" r:id="R737686c15d094cf9"/>
    <p:sldId id="258" r:id="Rbe12f269a52e43ab"/>
    <p:sldId id="259" r:id="R4dcb2a6760fd4ee2"/>
    <p:sldId id="260" r:id="Rb3da85d105934436"/>
    <p:sldId id="261" r:id="R8028809383354da9"/>
    <p:sldId id="262" r:id="R8917cc2784954f47"/>
    <p:sldId id="263" r:id="R88f7c406a5e844ac"/>
    <p:sldId id="264" r:id="R1ac4564b261547bd"/>
    <p:sldId id="265" r:id="R92b53b82ac6e4cd1"/>
    <p:sldId id="266" r:id="R628408ac441a4c87"/>
    <p:sldId id="267" r:id="R03a58ea155084618"/>
    <p:sldId id="268" r:id="R46d961227cc04408"/>
    <p:sldId id="269" r:id="Rfc88c8de01c04fdd"/>
    <p:sldId id="270" r:id="R4c2fef8aee464352"/>
    <p:sldId id="271" r:id="R95c00703872946cd"/>
    <p:sldId id="272" r:id="R658ad219a49c4bed"/>
    <p:sldId id="273" r:id="Ra401d7e7d0104e7d"/>
    <p:sldId id="274" r:id="R34593bb966d24987"/>
    <p:sldId id="275" r:id="R6f134d3a7a2b43db"/>
    <p:sldId id="276" r:id="R02d894049618453e"/>
    <p:sldId id="277" r:id="Re7fd682179454b25"/>
    <p:sldId id="278" r:id="R99962f0528244cdf"/>
    <p:sldId id="279" r:id="R9fbfe314e0254d53"/>
    <p:sldId id="280" r:id="R936d037d230c4cb3"/>
    <p:sldId id="281" r:id="Rdf49b1fe8725428d"/>
    <p:sldId id="282" r:id="Rc6573a0b27104146"/>
    <p:sldId id="283" r:id="Rf2a6893256e84b37"/>
    <p:sldId id="284" r:id="R56a29f42b98d471d"/>
    <p:sldId id="285" r:id="Ra001404536a0487e"/>
    <p:sldId id="286" r:id="Re32281e2529d41f5"/>
    <p:sldId id="287" r:id="R216ce579fcfc46e2"/>
    <p:sldId id="288" r:id="R4723b7da23b74ed4"/>
    <p:sldId id="289" r:id="R31b8ffd2e60b4e6c"/>
    <p:sldId id="290" r:id="Rc213b1102002473c"/>
    <p:sldId id="291" r:id="R83d620ba580045ad"/>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2d894049618453e" Type="http://schemas.openxmlformats.org/officeDocument/2006/relationships/slide" Target="slides/slide21.xml"/><Relationship Id="R03a58ea155084618" Type="http://schemas.openxmlformats.org/officeDocument/2006/relationships/slide" Target="slides/slide12.xml"/><Relationship Id="R0ed11355ea2543db" Type="http://schemas.openxmlformats.org/officeDocument/2006/relationships/theme" Target="theme/theme1.xml"/><Relationship Id="R1ac4564b261547bd" Type="http://schemas.openxmlformats.org/officeDocument/2006/relationships/slide" Target="slides/slide9.xml"/><Relationship Id="R216ce579fcfc46e2" Type="http://schemas.openxmlformats.org/officeDocument/2006/relationships/slide" Target="slides/slide32.xml"/><Relationship Id="R31b8ffd2e60b4e6c" Type="http://schemas.openxmlformats.org/officeDocument/2006/relationships/slide" Target="slides/slide34.xml"/><Relationship Id="R34593bb966d24987" Type="http://schemas.openxmlformats.org/officeDocument/2006/relationships/slide" Target="slides/slide19.xml"/><Relationship Id="R46d961227cc04408" Type="http://schemas.openxmlformats.org/officeDocument/2006/relationships/slide" Target="slides/slide13.xml"/><Relationship Id="R4723b7da23b74ed4" Type="http://schemas.openxmlformats.org/officeDocument/2006/relationships/slide" Target="slides/slide33.xml"/><Relationship Id="R4a30431852bc4203" Type="http://schemas.openxmlformats.org/officeDocument/2006/relationships/presProps" Target="presProps.xml"/><Relationship Id="R4c2fef8aee464352" Type="http://schemas.openxmlformats.org/officeDocument/2006/relationships/slide" Target="slides/slide15.xml"/><Relationship Id="R4dcb2a6760fd4ee2" Type="http://schemas.openxmlformats.org/officeDocument/2006/relationships/slide" Target="slides/slide4.xml"/><Relationship Id="R56a29f42b98d471d" Type="http://schemas.openxmlformats.org/officeDocument/2006/relationships/slide" Target="slides/slide29.xml"/><Relationship Id="R59b04d653c184694" Type="http://schemas.openxmlformats.org/officeDocument/2006/relationships/tableStyles" Target="tableStyles.xml"/><Relationship Id="R628408ac441a4c87" Type="http://schemas.openxmlformats.org/officeDocument/2006/relationships/slide" Target="slides/slide11.xml"/><Relationship Id="R658ad219a49c4bed" Type="http://schemas.openxmlformats.org/officeDocument/2006/relationships/slide" Target="slides/slide17.xml"/><Relationship Id="R6f134d3a7a2b43db" Type="http://schemas.openxmlformats.org/officeDocument/2006/relationships/slide" Target="slides/slide20.xml"/><Relationship Id="R737686c15d094cf9" Type="http://schemas.openxmlformats.org/officeDocument/2006/relationships/slide" Target="slides/slide2.xml"/><Relationship Id="R8028809383354da9" Type="http://schemas.openxmlformats.org/officeDocument/2006/relationships/slide" Target="slides/slide6.xml"/><Relationship Id="R83d620ba580045ad" Type="http://schemas.openxmlformats.org/officeDocument/2006/relationships/slide" Target="slides/slide36.xml"/><Relationship Id="R88f7c406a5e844ac" Type="http://schemas.openxmlformats.org/officeDocument/2006/relationships/slide" Target="slides/slide8.xml"/><Relationship Id="R8917cc2784954f47" Type="http://schemas.openxmlformats.org/officeDocument/2006/relationships/slide" Target="slides/slide7.xml"/><Relationship Id="R8937a66a68294c29" Type="http://schemas.openxmlformats.org/officeDocument/2006/relationships/slide" Target="slides/slide1.xml"/><Relationship Id="R92b53b82ac6e4cd1" Type="http://schemas.openxmlformats.org/officeDocument/2006/relationships/slide" Target="slides/slide10.xml"/><Relationship Id="R936d037d230c4cb3" Type="http://schemas.openxmlformats.org/officeDocument/2006/relationships/slide" Target="slides/slide25.xml"/><Relationship Id="R95c00703872946cd" Type="http://schemas.openxmlformats.org/officeDocument/2006/relationships/slide" Target="slides/slide16.xml"/><Relationship Id="R99962f0528244cdf" Type="http://schemas.openxmlformats.org/officeDocument/2006/relationships/slide" Target="slides/slide23.xml"/><Relationship Id="R9fbfe314e0254d53" Type="http://schemas.openxmlformats.org/officeDocument/2006/relationships/slide" Target="slides/slide24.xml"/><Relationship Id="Ra001404536a0487e" Type="http://schemas.openxmlformats.org/officeDocument/2006/relationships/slide" Target="slides/slide30.xml"/><Relationship Id="Ra38d8fb4f6ec40e4" Type="http://schemas.openxmlformats.org/officeDocument/2006/relationships/slideMaster" Target="slideMasters/slideMaster1.xml"/><Relationship Id="Ra401d7e7d0104e7d" Type="http://schemas.openxmlformats.org/officeDocument/2006/relationships/slide" Target="slides/slide18.xml"/><Relationship Id="Rb3da85d105934436" Type="http://schemas.openxmlformats.org/officeDocument/2006/relationships/slide" Target="slides/slide5.xml"/><Relationship Id="Rba35c611fa944afe" Type="http://schemas.openxmlformats.org/officeDocument/2006/relationships/viewProps" Target="viewProps.xml"/><Relationship Id="Rbe12f269a52e43ab" Type="http://schemas.openxmlformats.org/officeDocument/2006/relationships/slide" Target="slides/slide3.xml"/><Relationship Id="Rc213b1102002473c" Type="http://schemas.openxmlformats.org/officeDocument/2006/relationships/slide" Target="slides/slide35.xml"/><Relationship Id="Rc6573a0b27104146" Type="http://schemas.openxmlformats.org/officeDocument/2006/relationships/slide" Target="slides/slide27.xml"/><Relationship Id="Rdf49b1fe8725428d" Type="http://schemas.openxmlformats.org/officeDocument/2006/relationships/slide" Target="slides/slide26.xml"/><Relationship Id="Re32281e2529d41f5" Type="http://schemas.openxmlformats.org/officeDocument/2006/relationships/slide" Target="slides/slide31.xml"/><Relationship Id="Re7fd682179454b25" Type="http://schemas.openxmlformats.org/officeDocument/2006/relationships/slide" Target="slides/slide22.xml"/><Relationship Id="Rf2a6893256e84b37" Type="http://schemas.openxmlformats.org/officeDocument/2006/relationships/slide" Target="slides/slide28.xml"/><Relationship Id="Rfc88c8de01c04fdd"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e9bbca99fd0e4bf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bed5ff74e9b430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d90e2e815ac47c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599dc8b372340a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7876e5b8ebd495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9291271a5e94ac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c894096355d480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8fa3bb3d3b84b8b"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8b9ffc4a04cc45db"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db49676138543f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fd61dd6cc9ae4a5f"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Rubrikbi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171AF29-9BF1-473B-AFA6-17086F16A420}"/>
              </a:ext>
            </a:extLst>
          </p:cNvPr>
          <p:cNvSpPr>
            <a:spLocks xmlns:a="http://schemas.openxmlformats.org/drawingml/2006/main" noGrp="1"/>
          </p:cNvSpPr>
          <p:nvPr>
            <p:ph type="ctrTitle" idx="0"/>
          </p:nvPr>
        </p:nvSpPr>
        <p:spPr>
          <a:xfrm xmlns:a="http://schemas.openxmlformats.org/drawingml/2006/main">
            <a:off x="685800" y="1122363"/>
            <a:ext cx="77724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E8C47869-AB2E-4353-993A-C5F3CBCD7A53}"/>
              </a:ext>
            </a:extLst>
          </p:cNvPr>
          <p:cNvSpPr>
            <a:spLocks xmlns:a="http://schemas.openxmlformats.org/drawingml/2006/main" noGrp="1"/>
          </p:cNvSpPr>
          <p:nvPr>
            <p:ph type="subTitle" idx="1"/>
          </p:nvPr>
        </p:nvSpPr>
        <p:spPr>
          <a:xfrm xmlns:a="http://schemas.openxmlformats.org/drawingml/2006/main">
            <a:off x="1143000" y="3602038"/>
            <a:ext cx="6858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E4BDD63-2879-4553-A7D4-C8B90F66944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B47559E2-D642-40B2-A622-29E6C6C0906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CBCBF1D-E8D4-4C02-B339-40A7E12B7A5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2.xml><?xml version="1.0" encoding="utf-8"?>
<p:sldLayout xmlns:p="http://schemas.openxmlformats.org/presentationml/2006/main" type="obj" preserve="1">
  <p:cSld name="Rubrik och innehåll">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22FDD0-541F-4732-A589-6E09DA58B33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A9FD4EB-ED93-4F84-9A20-8F3AF861C5D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87B3B2F-39C7-4AB3-B336-4AA52F53712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FC14936C-5A60-4749-9BA4-077B860C97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C221E00-8DF1-4F1B-832D-71DC043B58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3.xml><?xml version="1.0" encoding="utf-8"?>
<p:sldLayout xmlns:p="http://schemas.openxmlformats.org/presentationml/2006/main" type="secHead" preserve="1">
  <p:cSld name="Avsnittsrubrik">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2DB1BD-E287-4420-8511-29126B061899}"/>
              </a:ext>
            </a:extLst>
          </p:cNvPr>
          <p:cNvSpPr>
            <a:spLocks xmlns:a="http://schemas.openxmlformats.org/drawingml/2006/main" noGrp="1"/>
          </p:cNvSpPr>
          <p:nvPr>
            <p:ph type="title" idx="0"/>
          </p:nvPr>
        </p:nvSpPr>
        <p:spPr>
          <a:xfrm xmlns:a="http://schemas.openxmlformats.org/drawingml/2006/main">
            <a:off x="623888" y="1709739"/>
            <a:ext cx="78867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9B11597-97EC-49B5-A400-7D26520A3C0F}"/>
              </a:ext>
            </a:extLst>
          </p:cNvPr>
          <p:cNvSpPr>
            <a:spLocks xmlns:a="http://schemas.openxmlformats.org/drawingml/2006/main" noGrp="1"/>
          </p:cNvSpPr>
          <p:nvPr>
            <p:ph type="body" idx="1"/>
          </p:nvPr>
        </p:nvSpPr>
        <p:spPr>
          <a:xfrm xmlns:a="http://schemas.openxmlformats.org/drawingml/2006/main">
            <a:off x="623888" y="4589464"/>
            <a:ext cx="7886700" cy="1500187"/>
          </a:xfrm>
        </p:spPr>
        <p:txBody>
          <a:bodyPr xmlns:a="http://schemas.openxmlformats.org/drawingml/2006/main"/>
          <a:lstStyle xmlns:a="http://schemas.openxmlformats.org/drawingml/2006/main">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0F742E12-71EE-4A0A-A25A-482AF08CB59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7B99B004-C36A-4FB2-9F9D-CE473319A95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07C9783-743E-4094-A2AE-9E44E3D473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4.xml><?xml version="1.0" encoding="utf-8"?>
<p:sldLayout xmlns:p="http://schemas.openxmlformats.org/presentationml/2006/main" type="twoObj" preserve="1">
  <p:cSld name="Två dela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8C4FC59-7B72-4123-8378-0EA50884325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7F9AEE-67E4-463F-959F-E9E3A1B888F0}"/>
              </a:ext>
            </a:extLst>
          </p:cNvPr>
          <p:cNvSpPr>
            <a:spLocks xmlns:a="http://schemas.openxmlformats.org/drawingml/2006/main" noGrp="1"/>
          </p:cNvSpPr>
          <p:nvPr>
            <p:ph idx="1"/>
          </p:nvPr>
        </p:nvSpPr>
        <p:spPr>
          <a:xfrm xmlns:a="http://schemas.openxmlformats.org/drawingml/2006/main">
            <a:off x="6286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354C6D0-6530-44C0-8216-34BD311A97A4}"/>
              </a:ext>
            </a:extLst>
          </p:cNvPr>
          <p:cNvSpPr>
            <a:spLocks xmlns:a="http://schemas.openxmlformats.org/drawingml/2006/main" noGrp="1"/>
          </p:cNvSpPr>
          <p:nvPr>
            <p:ph idx="2"/>
          </p:nvPr>
        </p:nvSpPr>
        <p:spPr>
          <a:xfrm xmlns:a="http://schemas.openxmlformats.org/drawingml/2006/main">
            <a:off x="46291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6428CFC9-6708-459E-B81E-1E9C1425772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76003C71-1529-40B2-8C48-8F715F571DC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643222D-12A8-4E31-8062-7D5BCCBAB7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5.xml><?xml version="1.0" encoding="utf-8"?>
<p:sldLayout xmlns:p="http://schemas.openxmlformats.org/presentationml/2006/main" type="twoTxTwoObj" preserve="1">
  <p:cSld name="Jämförels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97D2405-3A74-4011-A349-9548796B9D3D}"/>
              </a:ext>
            </a:extLst>
          </p:cNvPr>
          <p:cNvSpPr>
            <a:spLocks xmlns:a="http://schemas.openxmlformats.org/drawingml/2006/main" noGrp="1"/>
          </p:cNvSpPr>
          <p:nvPr>
            <p:ph type="title" idx="0"/>
          </p:nvPr>
        </p:nvSpPr>
        <p:spPr>
          <a:xfrm xmlns:a="http://schemas.openxmlformats.org/drawingml/2006/main">
            <a:off x="629841" y="365126"/>
            <a:ext cx="7886700"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E78F98B1-4335-49A0-A5DC-F7821F48D4D4}"/>
              </a:ext>
            </a:extLst>
          </p:cNvPr>
          <p:cNvSpPr>
            <a:spLocks xmlns:a="http://schemas.openxmlformats.org/drawingml/2006/main" noGrp="1"/>
          </p:cNvSpPr>
          <p:nvPr>
            <p:ph type="body" idx="1"/>
          </p:nvPr>
        </p:nvSpPr>
        <p:spPr>
          <a:xfrm xmlns:a="http://schemas.openxmlformats.org/drawingml/2006/main">
            <a:off x="629842" y="1681163"/>
            <a:ext cx="3868340"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911721C-4555-47B9-A29D-0F448969C4F8}"/>
              </a:ext>
            </a:extLst>
          </p:cNvPr>
          <p:cNvSpPr>
            <a:spLocks xmlns:a="http://schemas.openxmlformats.org/drawingml/2006/main" noGrp="1"/>
          </p:cNvSpPr>
          <p:nvPr>
            <p:ph idx="2"/>
          </p:nvPr>
        </p:nvSpPr>
        <p:spPr>
          <a:xfrm xmlns:a="http://schemas.openxmlformats.org/drawingml/2006/main">
            <a:off x="629842" y="2505075"/>
            <a:ext cx="3868340"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2D7DE53-B347-45DD-AFFA-3E8BE03250CE}"/>
              </a:ext>
            </a:extLst>
          </p:cNvPr>
          <p:cNvSpPr>
            <a:spLocks xmlns:a="http://schemas.openxmlformats.org/drawingml/2006/main" noGrp="1"/>
          </p:cNvSpPr>
          <p:nvPr>
            <p:ph type="body" idx="3"/>
          </p:nvPr>
        </p:nvSpPr>
        <p:spPr>
          <a:xfrm xmlns:a="http://schemas.openxmlformats.org/drawingml/2006/main">
            <a:off x="4629150" y="1681163"/>
            <a:ext cx="3887391"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EF97C298-A28D-4A26-BDCA-B098B846E554}"/>
              </a:ext>
            </a:extLst>
          </p:cNvPr>
          <p:cNvSpPr>
            <a:spLocks xmlns:a="http://schemas.openxmlformats.org/drawingml/2006/main" noGrp="1"/>
          </p:cNvSpPr>
          <p:nvPr>
            <p:ph idx="4"/>
          </p:nvPr>
        </p:nvSpPr>
        <p:spPr>
          <a:xfrm xmlns:a="http://schemas.openxmlformats.org/drawingml/2006/main">
            <a:off x="4629150" y="2505075"/>
            <a:ext cx="3887391"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09775CF6-BCDA-455B-8823-96F499D329B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8" name="Footer Placeholder 7">
            <a:extLst xmlns:a="http://schemas.openxmlformats.org/drawingml/2006/main">
              <a:ext uri="{FF2B5EF4-FFF2-40B4-BE49-F238E27FC236}">
                <a16:creationId xmlns:a16="http://schemas.microsoft.com/office/drawing/2014/main" id="{E36C5186-AD15-4D60-94C6-61F1173F250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9823F44-4193-4A09-BFAF-ED3CD7668FF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6.xml><?xml version="1.0" encoding="utf-8"?>
<p:sldLayout xmlns:p="http://schemas.openxmlformats.org/presentationml/2006/main" type="titleOnly" preserve="1">
  <p:cSld name="Endast rubrik">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8F9FE2D-754C-44B3-B95C-26D7D5C7516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6BD55E16-C4C4-4E3D-A0B4-2831B64AB90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4" name="Footer Placeholder 3">
            <a:extLst xmlns:a="http://schemas.openxmlformats.org/drawingml/2006/main">
              <a:ext uri="{FF2B5EF4-FFF2-40B4-BE49-F238E27FC236}">
                <a16:creationId xmlns:a16="http://schemas.microsoft.com/office/drawing/2014/main" id="{38325CBA-1C76-41B1-899E-BE2E85DBB7E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41280AB-E4E6-40DF-AAAA-D319DDAE7A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7.xml><?xml version="1.0" encoding="utf-8"?>
<p:sldLayout xmlns:p="http://schemas.openxmlformats.org/presentationml/2006/main" type="blank" preserve="1">
  <p:cSld name="Tom">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AB46744-49A1-4DBC-9FD7-6DAC1E5B0DC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3" name="Footer Placeholder 2">
            <a:extLst xmlns:a="http://schemas.openxmlformats.org/drawingml/2006/main">
              <a:ext uri="{FF2B5EF4-FFF2-40B4-BE49-F238E27FC236}">
                <a16:creationId xmlns:a16="http://schemas.microsoft.com/office/drawing/2014/main" id="{18BE22B4-F4D3-45EC-8704-71421CA0A1E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07804CA-1F56-49BC-A4BE-414873B51D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8.xml><?xml version="1.0" encoding="utf-8"?>
<p:sldLayout xmlns:p="http://schemas.openxmlformats.org/presentationml/2006/main" type="objTx" preserve="1">
  <p:cSld name="Text med bild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C616F8-21C9-44E4-AE61-31E60C006856}"/>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23E4261-CE3E-4ACE-850C-97041401DE29}"/>
              </a:ext>
            </a:extLst>
          </p:cNvPr>
          <p:cNvSpPr>
            <a:spLocks xmlns:a="http://schemas.openxmlformats.org/drawingml/2006/main" noGrp="1"/>
          </p:cNvSpPr>
          <p:nvPr>
            <p:ph idx="1"/>
          </p:nvPr>
        </p:nvSpPr>
        <p:spPr>
          <a:xfrm xmlns:a="http://schemas.openxmlformats.org/drawingml/2006/main">
            <a:off x="3887391" y="987426"/>
            <a:ext cx="462915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EF0A03-62CA-44B8-B680-52B1168AC435}"/>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2B26F306-817F-41C5-8A16-96C7343CE1C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F2F4B232-2E06-41D6-B343-B9F33434424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45369E5-14C4-43E7-8C70-94F9D8946D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9.xml><?xml version="1.0" encoding="utf-8"?>
<p:sldLayout xmlns:p="http://schemas.openxmlformats.org/presentationml/2006/main" type="picTx" preserve="1">
  <p:cSld name="Bild med bild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4D77C1B-88A0-480F-A3F3-2C46ED54C199}"/>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0DD105B-4990-483D-9F9F-A9235A346E70}"/>
              </a:ext>
            </a:extLst>
          </p:cNvPr>
          <p:cNvSpPr>
            <a:spLocks xmlns:a="http://schemas.openxmlformats.org/drawingml/2006/main" noGrp="1"/>
          </p:cNvSpPr>
          <p:nvPr>
            <p:ph type="pic" idx="1"/>
          </p:nvPr>
        </p:nvSpPr>
        <p:spPr>
          <a:xfrm xmlns:a="http://schemas.openxmlformats.org/drawingml/2006/main">
            <a:off x="3887391" y="987426"/>
            <a:ext cx="4629150" cy="4873625"/>
          </a:xfrm>
        </p:spPr>
        <p:txBody>
          <a:bodyPr xmlns:a="http://schemas.openxmlformats.org/drawingml/2006/main" anchor="t"/>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Click icon to add picture</a:t>
            </a:r>
            <a:endParaRPr/>
          </a:p>
        </p:txBody>
      </p:sp>
      <p:sp>
        <p:nvSpPr>
          <p:cNvPr id="4" name="Text Placeholder 3">
            <a:extLst xmlns:a="http://schemas.openxmlformats.org/drawingml/2006/main">
              <a:ext uri="{FF2B5EF4-FFF2-40B4-BE49-F238E27FC236}">
                <a16:creationId xmlns:a16="http://schemas.microsoft.com/office/drawing/2014/main" id="{2A207939-C386-457A-BB29-427E4DC69A28}"/>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3222363-8D26-4BF7-AEF5-9A8D193537F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C1AD7074-23A8-4F9E-B387-FF125010E3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7974EEA3-8E26-4876-9CCC-AEB28DB19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10.xml><?xml version="1.0" encoding="utf-8"?>
<p:sldLayout xmlns:p="http://schemas.openxmlformats.org/presentationml/2006/main" type="vertTx" preserve="1">
  <p:cSld name="Rubrik och lodrät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C1926D-3764-4E58-9CFE-1C39C0C5990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E1EA9798-D720-420B-B587-FB2D341F8B8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B280F96-07A9-471D-BB10-6FD8F834C84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3765504D-A0FC-4E9E-8009-F569A5C984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9C1D87B-E274-4EF8-9A16-0DB1EAB639A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11.xml><?xml version="1.0" encoding="utf-8"?>
<p:sldLayout xmlns:p="http://schemas.openxmlformats.org/presentationml/2006/main" type="vertTitleAndTx" preserve="1">
  <p:cSld name="Lodrät rubrik och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4ED1D95-F8F3-4745-B8E4-98B6A31BFBD3}"/>
              </a:ext>
            </a:extLst>
          </p:cNvPr>
          <p:cNvSpPr>
            <a:spLocks xmlns:a="http://schemas.openxmlformats.org/drawingml/2006/main" noGrp="1"/>
          </p:cNvSpPr>
          <p:nvPr>
            <p:ph type="title" idx="0"/>
          </p:nvPr>
        </p:nvSpPr>
        <p:spPr>
          <a:xfrm xmlns:a="http://schemas.openxmlformats.org/drawingml/2006/main">
            <a:off x="6543675" y="365125"/>
            <a:ext cx="1971675" cy="5811838"/>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893952F-F53B-42A5-B3B5-39F8406C7217}"/>
              </a:ext>
            </a:extLst>
          </p:cNvPr>
          <p:cNvSpPr>
            <a:spLocks xmlns:a="http://schemas.openxmlformats.org/drawingml/2006/main" noGrp="1"/>
          </p:cNvSpPr>
          <p:nvPr>
            <p:ph type="body" idx="1"/>
          </p:nvPr>
        </p:nvSpPr>
        <p:spPr>
          <a:xfrm xmlns:a="http://schemas.openxmlformats.org/drawingml/2006/main">
            <a:off x="628650" y="365125"/>
            <a:ext cx="5800725"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B05298D-E759-46A6-B3C3-B7B73450F0E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93DC9778-2E8A-4C7F-84B7-05E3D6E2377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9066A76-6749-4154-81E1-81287255579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Masters/_rels/slideMaster1.xml.rels><?xml version='1.0' encoding='UTF-8' standalone='yes'?>
<Relationships xmlns="http://schemas.openxmlformats.org/package/2006/relationships"><Relationship Id="R162cd79811f54438" Type="http://schemas.openxmlformats.org/officeDocument/2006/relationships/slideLayout" Target="../slideLayouts/slideLayout10.xml"/><Relationship Id="R170b8970d5204efa" Type="http://schemas.openxmlformats.org/officeDocument/2006/relationships/slideLayout" Target="../slideLayouts/slideLayout9.xml"/><Relationship Id="R7099d2b2aa324873" Type="http://schemas.openxmlformats.org/officeDocument/2006/relationships/theme" Target="theme/theme2.xml"/><Relationship Id="R7be85162f4ec45ce" Type="http://schemas.openxmlformats.org/officeDocument/2006/relationships/slideLayout" Target="../slideLayouts/slideLayout8.xml"/><Relationship Id="R82b356f2f0c249f8" Type="http://schemas.openxmlformats.org/officeDocument/2006/relationships/slideLayout" Target="../slideLayouts/slideLayout4.xml"/><Relationship Id="R83d3169839ae4a0d" Type="http://schemas.openxmlformats.org/officeDocument/2006/relationships/slideLayout" Target="../slideLayouts/slideLayout7.xml"/><Relationship Id="Ra1c6ad5e34ce4900" Type="http://schemas.openxmlformats.org/officeDocument/2006/relationships/slideLayout" Target="../slideLayouts/slideLayout5.xml"/><Relationship Id="Rb613688b8cb2457e" Type="http://schemas.openxmlformats.org/officeDocument/2006/relationships/slideLayout" Target="../slideLayouts/slideLayout1.xml"/><Relationship Id="Rc5987082cc9f429b" Type="http://schemas.openxmlformats.org/officeDocument/2006/relationships/slideLayout" Target="../slideLayouts/slideLayout2.xml"/><Relationship Id="Re60a86bc3ab141e2" Type="http://schemas.openxmlformats.org/officeDocument/2006/relationships/slideLayout" Target="../slideLayouts/slideLayout3.xml"/><Relationship Id="Rf39fc677f541417c" Type="http://schemas.openxmlformats.org/officeDocument/2006/relationships/slideLayout" Target="../slideLayouts/slideLayout11.xml"/><Relationship Id="Rf7c405d8b6a04f8d"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772F057-7340-4065-8845-BB8E9AD557B0}"/>
              </a:ext>
            </a:extLst>
          </p:cNvPr>
          <p:cNvSpPr>
            <a:spLocks xmlns:a="http://schemas.openxmlformats.org/drawingml/2006/main" noGrp="1"/>
          </p:cNvSpPr>
          <p:nvPr>
            <p:ph type="title" idx="0"/>
          </p:nvPr>
        </p:nvSpPr>
        <p:spPr>
          <a:xfrm xmlns:a="http://schemas.openxmlformats.org/drawingml/2006/main">
            <a:off x="628650" y="365126"/>
            <a:ext cx="78867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Klicka här för att ändra mall för rubrikformat</a:t>
            </a:r>
            <a:endParaRPr/>
          </a:p>
        </p:txBody>
      </p:sp>
      <p:sp>
        <p:nvSpPr>
          <p:cNvPr id="3" name="Text Placeholder 2">
            <a:extLst xmlns:a="http://schemas.openxmlformats.org/drawingml/2006/main">
              <a:ext uri="{FF2B5EF4-FFF2-40B4-BE49-F238E27FC236}">
                <a16:creationId xmlns:a16="http://schemas.microsoft.com/office/drawing/2014/main" id="{17DE1F7C-60E1-400E-B38F-52BF24F21A7F}"/>
              </a:ext>
            </a:extLst>
          </p:cNvPr>
          <p:cNvSpPr>
            <a:spLocks xmlns:a="http://schemas.openxmlformats.org/drawingml/2006/main" noGrp="1"/>
          </p:cNvSpPr>
          <p:nvPr>
            <p:ph type="body" idx="1"/>
          </p:nvPr>
        </p:nvSpPr>
        <p:spPr>
          <a:xfrm xmlns:a="http://schemas.openxmlformats.org/drawingml/2006/main">
            <a:off x="628650" y="1825625"/>
            <a:ext cx="78867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Klicka här för att ändra format på bakgrundstexten</a:t>
            </a:r>
          </a:p>
          <a:p xmlns:a="http://schemas.openxmlformats.org/drawingml/2006/main">
            <a:pPr lvl="1">
              <a:buNone/>
            </a:pPr>
            <a:r>
              <a:t>Nivå två</a:t>
            </a:r>
          </a:p>
          <a:p xmlns:a="http://schemas.openxmlformats.org/drawingml/2006/main">
            <a:pPr lvl="2">
              <a:buNone/>
            </a:pPr>
            <a:r>
              <a:t>Nivå tre</a:t>
            </a:r>
          </a:p>
          <a:p xmlns:a="http://schemas.openxmlformats.org/drawingml/2006/main">
            <a:pPr lvl="3">
              <a:buNone/>
            </a:pPr>
            <a:r>
              <a:t>Nivå fyra</a:t>
            </a:r>
          </a:p>
          <a:p xmlns:a="http://schemas.openxmlformats.org/drawingml/2006/main">
            <a:pPr lvl="4">
              <a:buNone/>
            </a:pPr>
            <a:r>
              <a:t>Nivå fem</a:t>
            </a:r>
            <a:endParaRPr/>
          </a:p>
        </p:txBody>
      </p:sp>
      <p:sp>
        <p:nvSpPr>
          <p:cNvPr id="4" name="Date Placeholder 3">
            <a:extLst xmlns:a="http://schemas.openxmlformats.org/drawingml/2006/main">
              <a:ext uri="{FF2B5EF4-FFF2-40B4-BE49-F238E27FC236}">
                <a16:creationId xmlns:a16="http://schemas.microsoft.com/office/drawing/2014/main" id="{DB15F1D9-83F8-4DB0-BD2B-BDD3E158134A}"/>
              </a:ext>
            </a:extLst>
          </p:cNvPr>
          <p:cNvSpPr>
            <a:spLocks xmlns:a="http://schemas.openxmlformats.org/drawingml/2006/main" noGrp="1"/>
          </p:cNvSpPr>
          <p:nvPr>
            <p:ph type="dt" idx="2"/>
          </p:nvPr>
        </p:nvSpPr>
        <p:spPr>
          <a:xfrm xmlns:a="http://schemas.openxmlformats.org/drawingml/2006/main">
            <a:off x="6286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905894D5-5CF7-4EDE-B022-CF2BDFF8D013}"/>
              </a:ext>
            </a:extLst>
          </p:cNvPr>
          <p:cNvSpPr>
            <a:spLocks xmlns:a="http://schemas.openxmlformats.org/drawingml/2006/main" noGrp="1"/>
          </p:cNvSpPr>
          <p:nvPr>
            <p:ph type="ftr" idx="3"/>
          </p:nvPr>
        </p:nvSpPr>
        <p:spPr>
          <a:xfrm xmlns:a="http://schemas.openxmlformats.org/drawingml/2006/main">
            <a:off x="3028950" y="6356351"/>
            <a:ext cx="30861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720839A-B350-41EB-9FE9-191EB435D5E3}"/>
              </a:ext>
            </a:extLst>
          </p:cNvPr>
          <p:cNvSpPr>
            <a:spLocks xmlns:a="http://schemas.openxmlformats.org/drawingml/2006/main" noGrp="1"/>
          </p:cNvSpPr>
          <p:nvPr>
            <p:ph type="sldNum" idx="4"/>
          </p:nvPr>
        </p:nvSpPr>
        <p:spPr>
          <a:xfrm xmlns:a="http://schemas.openxmlformats.org/drawingml/2006/main">
            <a:off x="64579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6D56CE70-7EE1-9D47-B86A-0F053C401563}"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13688b8cb2457e"/>
    <p:sldLayoutId xmlns:r="http://schemas.openxmlformats.org/officeDocument/2006/relationships" id="2147483650" r:id="Rc5987082cc9f429b"/>
    <p:sldLayoutId xmlns:r="http://schemas.openxmlformats.org/officeDocument/2006/relationships" id="2147483651" r:id="Re60a86bc3ab141e2"/>
    <p:sldLayoutId xmlns:r="http://schemas.openxmlformats.org/officeDocument/2006/relationships" id="2147483652" r:id="R82b356f2f0c249f8"/>
    <p:sldLayoutId xmlns:r="http://schemas.openxmlformats.org/officeDocument/2006/relationships" id="2147483653" r:id="Ra1c6ad5e34ce4900"/>
    <p:sldLayoutId xmlns:r="http://schemas.openxmlformats.org/officeDocument/2006/relationships" id="2147483654" r:id="Rf7c405d8b6a04f8d"/>
    <p:sldLayoutId xmlns:r="http://schemas.openxmlformats.org/officeDocument/2006/relationships" id="2147483655" r:id="R83d3169839ae4a0d"/>
    <p:sldLayoutId xmlns:r="http://schemas.openxmlformats.org/officeDocument/2006/relationships" id="2147483656" r:id="R7be85162f4ec45ce"/>
    <p:sldLayoutId xmlns:r="http://schemas.openxmlformats.org/officeDocument/2006/relationships" id="2147483657" r:id="R170b8970d5204efa"/>
    <p:sldLayoutId xmlns:r="http://schemas.openxmlformats.org/officeDocument/2006/relationships" id="2147483658" r:id="R162cd79811f54438"/>
    <p:sldLayoutId xmlns:r="http://schemas.openxmlformats.org/officeDocument/2006/relationships" id="2147483659" r:id="Rf39fc677f541417c"/>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tema">
  <a:themeElements>
    <a:clrScheme name="Office-tema">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tema">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tem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102962b425c471f" Type="http://schemas.openxmlformats.org/officeDocument/2006/relationships/slideLayout" Target="../slideLayouts/slideLayout1.xml"/><Relationship Id="R77b33199fd774e6f" Type="http://schemas.openxmlformats.org/officeDocument/2006/relationships/image" Target="../media/image.jpeg"/><Relationship Id="Re66b1ea933df4624" Type="http://schemas.openxmlformats.org/officeDocument/2006/relationships/image" Target="../media/image.png"/></Relationships>
</file>

<file path=ppt/slides/_rels/slide2.xml.rels><?xml version='1.0' encoding='UTF-8' standalone='yes'?>
<Relationships xmlns="http://schemas.openxmlformats.org/package/2006/relationships"><Relationship Id="R3f741f257a6040be" Type="http://schemas.openxmlformats.org/officeDocument/2006/relationships/image" Target="../media/image.jpeg"/><Relationship Id="R4f95497d495a412a"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7bdd172d8874365" Type="http://schemas.openxmlformats.org/officeDocument/2006/relationships/image" Target="../media/image.jpeg"/><Relationship Id="R8f63a380d24244e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5189883bf7d94e2a" Type="http://schemas.openxmlformats.org/officeDocument/2006/relationships/slideLayout" Target="../slideLayouts/slideLayout1.xml"/><Relationship Id="R6e628171cd954b62" Type="http://schemas.openxmlformats.org/officeDocument/2006/relationships/image" Target="../media/image.jpeg"/></Relationships>
</file>

<file path=ppt/slides/_rels/slide5.xml.rels><?xml version='1.0' encoding='UTF-8' standalone='yes'?>
<Relationships xmlns="http://schemas.openxmlformats.org/package/2006/relationships"><Relationship Id="R0b919af8b4f24814" Type="http://schemas.openxmlformats.org/officeDocument/2006/relationships/image" Target="../media/image.jpeg"/><Relationship Id="R1d1dc0730c45448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e978b2dfdd6d41d2" Type="http://schemas.openxmlformats.org/officeDocument/2006/relationships/image" Target="../media/image.jpeg"/><Relationship Id="Rfa76fc0236064cfa" Type="http://schemas.openxmlformats.org/officeDocument/2006/relationships/slideLayout" Target="../slideLayouts/slideLayout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2edf0f9cf0984de7" Type="http://schemas.openxmlformats.org/officeDocument/2006/relationships/slideLayout" Target="../slideLayouts/slideLayout1.xml"/><Relationship Id="Ra45ef4a54c9a44b4" Type="http://schemas.openxmlformats.org/officeDocument/2006/relationships/image" Target="../media/image.jpe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19891a431b7e4a96" Type="http://schemas.openxmlformats.org/officeDocument/2006/relationships/image" Target="../media/image.jpeg"/><Relationship Id="Rf8b9c9d0fb32452d"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9a38dfcfd72045af" Type="http://schemas.openxmlformats.org/officeDocument/2006/relationships/slideLayout" Target="../slideLayouts/slideLayout1.xml"/><Relationship Id="Rc23bbc79ff8f458d" Type="http://schemas.openxmlformats.org/officeDocument/2006/relationships/image" Target="../media/image.jpe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015f90d837ff4904" Type="http://schemas.openxmlformats.org/officeDocument/2006/relationships/image" Target="../media/image.jpeg"/><Relationship Id="Rd98e49595adf422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c40218d1e8546ac" Type="http://schemas.openxmlformats.org/officeDocument/2006/relationships/slideLayout" Target="../slideLayouts/slideLayout1.xml"/><Relationship Id="R881428d06c2f4d6e" Type="http://schemas.openxmlformats.org/officeDocument/2006/relationships/image" Target="../media/image.jpeg"/></Relationships>
</file>

<file path=ppt/slides/_rels/slide12.xml.rels><?xml version='1.0' encoding='UTF-8' standalone='yes'?>
<Relationships xmlns="http://schemas.openxmlformats.org/package/2006/relationships"><Relationship Id="R29477e5b7566487f" Type="http://schemas.openxmlformats.org/officeDocument/2006/relationships/slideLayout" Target="../slideLayouts/slideLayout1.xml"/><Relationship Id="Ra2ec67ec803f41fb" Type="http://schemas.openxmlformats.org/officeDocument/2006/relationships/image" Target="../media/image.jpeg"/></Relationships>
</file>

<file path=ppt/slides/_rels/slide13.xml.rels><?xml version='1.0' encoding='UTF-8' standalone='yes'?>
<Relationships xmlns="http://schemas.openxmlformats.org/package/2006/relationships"><Relationship Id="R0693f3a607924ec4" Type="http://schemas.openxmlformats.org/officeDocument/2006/relationships/slideLayout" Target="../slideLayouts/slideLayout1.xml"/><Relationship Id="Rd53b79b596af4cc8" Type="http://schemas.openxmlformats.org/officeDocument/2006/relationships/image" Target="../media/image.jpeg"/></Relationships>
</file>

<file path=ppt/slides/_rels/slide14.xml.rels><?xml version='1.0' encoding='UTF-8' standalone='yes'?>
<Relationships xmlns="http://schemas.openxmlformats.org/package/2006/relationships"><Relationship Id="R596e67f5a7a54757" Type="http://schemas.openxmlformats.org/officeDocument/2006/relationships/slideLayout" Target="../slideLayouts/slideLayout1.xml"/><Relationship Id="Rf9758ea743724055" Type="http://schemas.openxmlformats.org/officeDocument/2006/relationships/image" Target="../media/image.jpeg"/><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2301406b3d4b486f" Type="http://schemas.openxmlformats.org/officeDocument/2006/relationships/slideLayout" Target="../slideLayouts/slideLayout1.xml"/><Relationship Id="R747e191df45747e4" Type="http://schemas.openxmlformats.org/officeDocument/2006/relationships/image" Target="../media/image.jpeg"/></Relationships>
</file>

<file path=ppt/slides/_rels/slide16.xml.rels><?xml version='1.0' encoding='UTF-8' standalone='yes'?>
<Relationships xmlns="http://schemas.openxmlformats.org/package/2006/relationships"><Relationship Id="R2a3fdf27a92d46f8" Type="http://schemas.openxmlformats.org/officeDocument/2006/relationships/image" Target="../media/image.jpeg"/><Relationship Id="R8033d51a5f3748c3"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2550d0d8336e4c5d" Type="http://schemas.openxmlformats.org/officeDocument/2006/relationships/slideLayout" Target="../slideLayouts/slideLayout1.xml"/><Relationship Id="R9c11b4bb84ba43b2" Type="http://schemas.openxmlformats.org/officeDocument/2006/relationships/image" Target="../media/image.jpeg"/></Relationships>
</file>

<file path=ppt/slides/_rels/slide18.xml.rels><?xml version='1.0' encoding='UTF-8' standalone='yes'?>
<Relationships xmlns="http://schemas.openxmlformats.org/package/2006/relationships"><Relationship Id="R29d0eb515912448b" Type="http://schemas.openxmlformats.org/officeDocument/2006/relationships/image" Target="../media/image.jpeg"/><Relationship Id="R3cd05832c55c4f7a" Type="http://schemas.openxmlformats.org/officeDocument/2006/relationships/slideLayout" Target="../slideLayouts/slideLayout1.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41b573b09e2146b8" Type="http://schemas.openxmlformats.org/officeDocument/2006/relationships/image" Target="../media/image.jpeg"/><Relationship Id="Re0105b9412fb4236"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4848abe33334a21" Type="http://schemas.openxmlformats.org/officeDocument/2006/relationships/slideLayout" Target="../slideLayouts/slideLayout1.xml"/><Relationship Id="Rc0320814c05e4fa5" Type="http://schemas.openxmlformats.org/officeDocument/2006/relationships/image" Target="../media/image.jpeg"/></Relationships>
</file>

<file path=ppt/slides/_rels/slide21.xml.rels><?xml version='1.0' encoding='UTF-8' standalone='yes'?>
<Relationships xmlns="http://schemas.openxmlformats.org/package/2006/relationships"><Relationship Id="R6d16fbc176554895" Type="http://schemas.openxmlformats.org/officeDocument/2006/relationships/image" Target="../media/image.jpeg"/><Relationship Id="Rb2b443f4b60e4167" Type="http://schemas.openxmlformats.org/officeDocument/2006/relationships/slideLayout" Target="../slideLayouts/slideLayout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04ddb99f7e954cc7" Type="http://schemas.openxmlformats.org/officeDocument/2006/relationships/image" Target="../media/image.jpeg"/><Relationship Id="R5c8c626668e0420b" Type="http://schemas.openxmlformats.org/officeDocument/2006/relationships/slideLayout" Target="../slideLayouts/slideLayout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cd2a143aedfd4df6" Type="http://schemas.openxmlformats.org/officeDocument/2006/relationships/image" Target="../media/image.jpeg"/><Relationship Id="Rf25329069a004477"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cbc798c3d8e4021" Type="http://schemas.openxmlformats.org/officeDocument/2006/relationships/image" Target="../media/image.jpeg"/><Relationship Id="R819d44e4192348e4"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8e5326fb7319451e" Type="http://schemas.openxmlformats.org/officeDocument/2006/relationships/image" Target="../media/image.jpeg"/><Relationship Id="Ra696a511a55d40ee" Type="http://schemas.openxmlformats.org/officeDocument/2006/relationships/slideLayout" Target="../slideLayouts/slideLayout1.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05d0d62a7fb045bd" Type="http://schemas.openxmlformats.org/officeDocument/2006/relationships/slideLayout" Target="../slideLayouts/slideLayout1.xml"/><Relationship Id="R9e263887e5e84682" Type="http://schemas.openxmlformats.org/officeDocument/2006/relationships/image" Target="../media/image.jpeg"/></Relationships>
</file>

<file path=ppt/slides/_rels/slide27.xml.rels><?xml version='1.0' encoding='UTF-8' standalone='yes'?>
<Relationships xmlns="http://schemas.openxmlformats.org/package/2006/relationships"><Relationship Id="R6759ea1a2743413d" Type="http://schemas.openxmlformats.org/officeDocument/2006/relationships/slideLayout" Target="../slideLayouts/slideLayout1.xml"/><Relationship Id="Re7c65180fc6e4111" Type="http://schemas.openxmlformats.org/officeDocument/2006/relationships/image" Target="../media/image.jpeg"/></Relationships>
</file>

<file path=ppt/slides/_rels/slide28.xml.rels><?xml version='1.0' encoding='UTF-8' standalone='yes'?>
<Relationships xmlns="http://schemas.openxmlformats.org/package/2006/relationships"><Relationship Id="R29ca4cacda6a490b" Type="http://schemas.openxmlformats.org/officeDocument/2006/relationships/slideLayout" Target="../slideLayouts/slideLayout1.xml"/><Relationship Id="Rb2c8c5e4e75245dc" Type="http://schemas.openxmlformats.org/officeDocument/2006/relationships/image" Target="../media/image.jpeg"/></Relationships>
</file>

<file path=ppt/slides/_rels/slide29.xml.rels><?xml version='1.0' encoding='UTF-8' standalone='yes'?>
<Relationships xmlns="http://schemas.openxmlformats.org/package/2006/relationships"><Relationship Id="R02686813fe234b30" Type="http://schemas.openxmlformats.org/officeDocument/2006/relationships/slideLayout" Target="../slideLayouts/slideLayout1.xml"/><Relationship Id="Rb4add299dce44683" Type="http://schemas.openxmlformats.org/officeDocument/2006/relationships/image" Target="../media/image.jpeg"/></Relationships>
</file>

<file path=ppt/slides/_rels/slide30.xml.rels><?xml version='1.0' encoding='UTF-8' standalone='yes'?>
<Relationships xmlns="http://schemas.openxmlformats.org/package/2006/relationships"><Relationship Id="R462b013d08a54a91" Type="http://schemas.openxmlformats.org/officeDocument/2006/relationships/image" Target="../media/image.jpeg"/><Relationship Id="R92ec662bc4504133"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5331a7ec330a4abb" Type="http://schemas.openxmlformats.org/officeDocument/2006/relationships/slideLayout" Target="../slideLayouts/slideLayout1.xml"/><Relationship Id="Rce5446d8103e4e74" Type="http://schemas.openxmlformats.org/officeDocument/2006/relationships/image" Target="../media/image.jpeg"/></Relationships>
</file>

<file path=ppt/slides/_rels/slide32.xml.rels><?xml version='1.0' encoding='UTF-8' standalone='yes'?>
<Relationships xmlns="http://schemas.openxmlformats.org/package/2006/relationships"><Relationship Id="R33e72b11af6044b0" Type="http://schemas.openxmlformats.org/officeDocument/2006/relationships/slideLayout" Target="../slideLayouts/slideLayout1.xml"/><Relationship Id="Ra20f5db796544a5c" Type="http://schemas.openxmlformats.org/officeDocument/2006/relationships/image" Target="../media/image.jpeg"/></Relationships>
</file>

<file path=ppt/slides/_rels/slide33.xml.rels><?xml version='1.0' encoding='UTF-8' standalone='yes'?>
<Relationships xmlns="http://schemas.openxmlformats.org/package/2006/relationships"><Relationship Id="R9bfd33a937544315" Type="http://schemas.openxmlformats.org/officeDocument/2006/relationships/image" Target="../media/image.jpeg"/><Relationship Id="Rbd9cd659ef5e4870"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7511ed9d209a4df5" Type="http://schemas.openxmlformats.org/officeDocument/2006/relationships/slideLayout" Target="../slideLayouts/slideLayout1.xml"/><Relationship Id="Ra66e141091eb4c05" Type="http://schemas.openxmlformats.org/officeDocument/2006/relationships/image" Target="../media/image.jpeg"/></Relationships>
</file>

<file path=ppt/slides/_rels/slide35.xml.rels><?xml version='1.0' encoding='UTF-8' standalone='yes'?>
<Relationships xmlns="http://schemas.openxmlformats.org/package/2006/relationships"><Relationship Id="R74dfa2076f6c49cd" Type="http://schemas.openxmlformats.org/officeDocument/2006/relationships/slideLayout" Target="../slideLayouts/slideLayout1.xml"/><Relationship Id="Ra43856d7448548fe" Type="http://schemas.openxmlformats.org/officeDocument/2006/relationships/image" Target="../media/image.jpeg"/></Relationships>
</file>

<file path=ppt/slides/_rels/slide36.xml.rels><?xml version='1.0' encoding='UTF-8' standalone='yes'?>
<Relationships xmlns="http://schemas.openxmlformats.org/package/2006/relationships"><Relationship Id="R3fa0584909a845f2" Type="http://schemas.openxmlformats.org/officeDocument/2006/relationships/hyperlink" Target="https://www.elsakerhetsverket.se/privatpersoner/om-du-drabbas-av-en-elolycka/vad-gor-jag-vid-en-elolycka/" TargetMode="External"/><Relationship Id="R50d0c94938d3441c" Type="http://schemas.openxmlformats.org/officeDocument/2006/relationships/hyperlink" Target="https://www.transportstyrelsen.se/sv/sjofart/Fartyg/Fartygskonstruktion/Elinstallationer/Lagar-foreskrifter-och-standarder/" TargetMode="External"/><Relationship Id="R7fd1e4a8dba44e1d" Type="http://schemas.openxmlformats.org/officeDocument/2006/relationships/hyperlink" Target="https://www.elsakerhetsverket.se/privatpersoner/om-du-drabbas-av-en-elolycka/vad-kan-orsaka-en-elolycka/" TargetMode="External"/><Relationship Id="Rc0c8c8e7aad942a5" Type="http://schemas.openxmlformats.org/officeDocument/2006/relationships/slideLayout" Target="../slideLayouts/slideLayout1.xml"/><Relationship Id="Rccc57655f2854570" Type="http://schemas.openxmlformats.org/officeDocument/2006/relationships/image" Target="../media/image.jpeg"/></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77b33199fd774e6f"/>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pic>
        <p:nvPicPr>
          <p:cNvPr id="18" name="Bildobjekt 1"/>
          <p:cNvPicPr>
            <a:picLocks xmlns:a="http://schemas.openxmlformats.org/drawingml/2006/main" noChangeAspect="1"/>
          </p:cNvPicPr>
          <p:nvPr/>
        </p:nvPicPr>
        <p:blipFill>
          <a:blip xmlns:r="http://schemas.openxmlformats.org/officeDocument/2006/relationships" xmlns:a="http://schemas.openxmlformats.org/drawingml/2006/main" r:embed="Re66b1ea933df4624"/>
          <a:srcRect xmlns:a="http://schemas.openxmlformats.org/drawingml/2006/main" l="0" t="194" r="0" b="194"/>
          <a:stretch xmlns:a="http://schemas.openxmlformats.org/drawingml/2006/main">
            <a:fillRect l="0" t="0" r="0" b="0"/>
          </a:stretch>
        </p:blipFill>
        <p:spPr>
          <a:xfrm xmlns:a="http://schemas.openxmlformats.org/drawingml/2006/main">
            <a:off x="0" y="-185460"/>
            <a:ext cx="9138501" cy="6068674"/>
          </a:xfrm>
          <a:prstGeom xmlns:a="http://schemas.openxmlformats.org/drawingml/2006/main" prst="rect">
            <a:avLst/>
          </a:prstGeom>
        </p:spPr>
      </p:pic>
      <p:sp>
        <p:nvSpPr>
          <p:cNvPr id="11" name="Kontrast för omslagets rubrik">
            <a:extLst xmlns:a="http://schemas.openxmlformats.org/drawingml/2006/main">
              <a:ext uri="{FF2B5EF4-FFF2-40B4-BE49-F238E27FC236}">
                <a16:creationId xmlns:a16="http://schemas.microsoft.com/office/drawing/2014/main" id="{CCD8FD32-39DC-45B4-B342-D2C10498ABCD}"/>
              </a:ext>
            </a:extLst>
          </p:cNvPr>
          <p:cNvSpPr>
            <a:spLocks xmlns:a="http://schemas.openxmlformats.org/drawingml/2006/main" noGrp="1"/>
          </p:cNvSpPr>
          <p:nvPr/>
        </p:nvSpPr>
        <p:spPr>
          <a:xfrm xmlns:a="http://schemas.openxmlformats.org/drawingml/2006/main">
            <a:off x="0" y="0"/>
            <a:ext cx="9138501" cy="5883214"/>
          </a:xfrm>
          <a:prstGeom xmlns:a="http://schemas.openxmlformats.org/drawingml/2006/main" prst="rect">
            <a:avLst/>
          </a:prstGeom>
          <a:gradFill xmlns:a="http://schemas.openxmlformats.org/drawingml/2006/main">
            <a:gsLst>
              <a:gs pos="0">
                <a:srgbClr val="001427">
                  <a:alpha val="38000"/>
                </a:srgbClr>
              </a:gs>
              <a:gs pos="42000">
                <a:srgbClr val="001427">
                  <a:alpha val="45000"/>
                </a:srgbClr>
              </a:gs>
              <a:gs pos="68000">
                <a:srgbClr val="001427">
                  <a:alpha val="0"/>
                </a:srgbClr>
              </a:gs>
              <a:gs pos="100000">
                <a:srgbClr val="001427">
                  <a:alpha val="0"/>
                </a:srgbClr>
              </a:gs>
            </a:gsLst>
            <a:lin ang="5400000"/>
          </a:gradFill>
          <a:ln xmlns:a="http://schemas.openxmlformats.org/drawingml/2006/main" w="0">
            <a:noFill/>
          </a:ln>
        </p:spPr>
        <p:txBody xmlns:a="http://schemas.openxmlformats.org/drawingml/2006/main">
          <a:bodyPr/>
          <a:p/>
        </p:txBody>
      </p:sp>
      <p:sp>
        <p:nvSpPr>
          <p:cNvPr id="12" name="textruta 3">
            <a:extLst xmlns:a="http://schemas.openxmlformats.org/drawingml/2006/main">
              <a:ext uri="{FF2B5EF4-FFF2-40B4-BE49-F238E27FC236}">
                <a16:creationId xmlns:a16="http://schemas.microsoft.com/office/drawing/2014/main" id="{62BEE53A-04C3-477C-9A34-DD254A51C60E}"/>
              </a:ext>
            </a:extLst>
          </p:cNvPr>
          <p:cNvSpPr>
            <a:spLocks xmlns:a="http://schemas.openxmlformats.org/drawingml/2006/main" noGrp="1"/>
          </p:cNvSpPr>
          <p:nvPr/>
        </p:nvSpPr>
        <p:spPr>
          <a:xfrm xmlns:a="http://schemas.openxmlformats.org/drawingml/2006/main">
            <a:off x="2243995" y="704850"/>
            <a:ext cx="6334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l">
              <a:buNone/>
              <a:defRPr sz="3000" b="1">
                <a:solidFill>
                  <a:srgbClr val="FFFFFF"/>
                </a:solidFill>
                <a:latin typeface="Calibri"/>
                <a:ea typeface="Calibri"/>
                <a:cs typeface="Calibri"/>
              </a:defRPr>
            </a:pPr>
            <a:r>
              <a:rPr sz="3000" b="1">
                <a:solidFill>
                  <a:srgbClr val="FFFFFF"/>
                </a:solidFill>
                <a:latin typeface="Calibri"/>
                <a:ea typeface="Calibri"/>
                <a:cs typeface="Calibri"/>
              </a:rPr>
              <a:t>Elektriska risker</a:t>
            </a:r>
          </a:p>
        </p:txBody>
      </p:sp>
      <p:sp>
        <p:nvSpPr>
          <p:cNvPr id="13" name="Strömgenomgång, beröringsspänning och ljusbåge">
            <a:extLst xmlns:a="http://schemas.openxmlformats.org/drawingml/2006/main">
              <a:ext uri="{FF2B5EF4-FFF2-40B4-BE49-F238E27FC236}">
                <a16:creationId xmlns:a16="http://schemas.microsoft.com/office/drawing/2014/main" id="{BEDDB4A0-13FD-4F33-AD90-8C2419C04656}"/>
              </a:ext>
            </a:extLst>
          </p:cNvPr>
          <p:cNvSpPr>
            <a:spLocks xmlns:a="http://schemas.openxmlformats.org/drawingml/2006/main" noGrp="1"/>
          </p:cNvSpPr>
          <p:nvPr/>
        </p:nvSpPr>
        <p:spPr>
          <a:xfrm xmlns:a="http://schemas.openxmlformats.org/drawingml/2006/main">
            <a:off x="2243995" y="1809750"/>
            <a:ext cx="628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a:solidFill>
                  <a:srgbClr val="FFFFFF"/>
                </a:solidFill>
                <a:latin typeface="Calibri"/>
                <a:ea typeface="Calibri"/>
                <a:cs typeface="Calibri"/>
              </a:defRPr>
            </a:pPr>
            <a:r>
              <a:rPr sz="2100">
                <a:solidFill>
                  <a:srgbClr val="FFFFFF"/>
                </a:solidFill>
                <a:latin typeface="Calibri"/>
                <a:ea typeface="Calibri"/>
                <a:cs typeface="Calibri"/>
              </a:rPr>
              <a:t>Strömgenomgång, beröringsspänning och ljusbåge</a:t>
            </a:r>
          </a:p>
        </p:txBody>
      </p:sp>
      <p:sp>
        <p:nvSpPr>
          <p:cNvPr id="14" name="1">
            <a:extLst xmlns:a="http://schemas.openxmlformats.org/drawingml/2006/main">
              <a:ext uri="{FF2B5EF4-FFF2-40B4-BE49-F238E27FC236}">
                <a16:creationId xmlns:a16="http://schemas.microsoft.com/office/drawing/2014/main" id="{958E9964-01AA-4699-AD66-D4A16E828F2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a:solidFill>
                  <a:srgbClr val="FFFFFF"/>
                </a:solidFill>
                <a:latin typeface="Calibri"/>
                <a:ea typeface="Calibri"/>
                <a:cs typeface="Calibri"/>
              </a:defRPr>
            </a:pPr>
            <a:r>
              <a:rPr sz="1500">
                <a:solidFill>
                  <a:srgbClr val="FFFFFF"/>
                </a:solidFill>
                <a:latin typeface="Calibri"/>
                <a:ea typeface="Calibri"/>
                <a:cs typeface="Calibri"/>
              </a:rPr>
              <a:t>1</a:t>
            </a:r>
          </a:p>
        </p:txBody>
      </p:sp>
    </p:spTree>
    <p:extLst>
      <p:ext uri="{BB962C8B-B14F-4D97-AF65-F5344CB8AC3E}">
        <p14:creationId xmlns:p14="http://schemas.microsoft.com/office/powerpoint/2010/main" val="115937386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9" name="Bildobjekt 2"/>
          <p:cNvPicPr>
            <a:picLocks xmlns:a="http://schemas.openxmlformats.org/drawingml/2006/main" noChangeAspect="1"/>
          </p:cNvPicPr>
          <p:nvPr/>
        </p:nvPicPr>
        <p:blipFill>
          <a:blip xmlns:r="http://schemas.openxmlformats.org/officeDocument/2006/relationships" xmlns:a="http://schemas.openxmlformats.org/drawingml/2006/main" r:embed="R3f741f257a6040b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Mål och startfråga">
            <a:extLst xmlns:a="http://schemas.openxmlformats.org/drawingml/2006/main">
              <a:ext uri="{FF2B5EF4-FFF2-40B4-BE49-F238E27FC236}">
                <a16:creationId xmlns:a16="http://schemas.microsoft.com/office/drawing/2014/main" id="{9039CD16-F843-47CC-BFA6-E3288E9EAC41}"/>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Mål och startfråga</a:t>
            </a:r>
          </a:p>
        </p:txBody>
      </p:sp>
      <p:sp>
        <p:nvSpPr>
          <p:cNvPr id="3" name="Identifiera riskkällor i ett arbetsfall.">
            <a:extLst xmlns:a="http://schemas.openxmlformats.org/drawingml/2006/main">
              <a:ext uri="{FF2B5EF4-FFF2-40B4-BE49-F238E27FC236}">
                <a16:creationId xmlns:a16="http://schemas.microsoft.com/office/drawing/2014/main" id="{0CBB1406-381E-40EB-B4F8-64DB4659B3B9}"/>
              </a:ext>
            </a:extLst>
          </p:cNvPr>
          <p:cNvSpPr>
            <a:spLocks xmlns:a="http://schemas.openxmlformats.org/drawingml/2006/main" noGrp="1"/>
          </p:cNvSpPr>
          <p:nvPr/>
        </p:nvSpPr>
        <p:spPr>
          <a:xfrm xmlns:a="http://schemas.openxmlformats.org/drawingml/2006/main">
            <a:off x="762000" y="1657350"/>
            <a:ext cx="7620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Identifiera riskkällor i ett arbetsfall.</a:t>
            </a:r>
          </a:p>
        </p:txBody>
      </p:sp>
      <p:sp>
        <p:nvSpPr>
          <p:cNvPr id="4" name="Skilja strömgenomgång, ljusbåge och följdolyckor.">
            <a:extLst xmlns:a="http://schemas.openxmlformats.org/drawingml/2006/main">
              <a:ext uri="{FF2B5EF4-FFF2-40B4-BE49-F238E27FC236}">
                <a16:creationId xmlns:a16="http://schemas.microsoft.com/office/drawing/2014/main" id="{2B8F2FC7-8FF2-4957-A005-784F92325FD6}"/>
              </a:ext>
            </a:extLst>
          </p:cNvPr>
          <p:cNvSpPr>
            <a:spLocks xmlns:a="http://schemas.openxmlformats.org/drawingml/2006/main" noGrp="1"/>
          </p:cNvSpPr>
          <p:nvPr/>
        </p:nvSpPr>
        <p:spPr>
          <a:xfrm xmlns:a="http://schemas.openxmlformats.org/drawingml/2006/main">
            <a:off x="762000" y="2590800"/>
            <a:ext cx="7620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Skilja strömgenomgång, ljusbåge och följdolyckor.</a:t>
            </a:r>
          </a:p>
        </p:txBody>
      </p:sp>
      <p:sp>
        <p:nvSpPr>
          <p:cNvPr id="5" name="Startfråga">
            <a:extLst xmlns:a="http://schemas.openxmlformats.org/drawingml/2006/main">
              <a:ext uri="{FF2B5EF4-FFF2-40B4-BE49-F238E27FC236}">
                <a16:creationId xmlns:a16="http://schemas.microsoft.com/office/drawing/2014/main" id="{69C56196-6722-4290-B4F8-39146F0D560D}"/>
              </a:ext>
            </a:extLst>
          </p:cNvPr>
          <p:cNvSpPr>
            <a:spLocks xmlns:a="http://schemas.openxmlformats.org/drawingml/2006/main" noGrp="1"/>
          </p:cNvSpPr>
          <p:nvPr/>
        </p:nvSpPr>
        <p:spPr>
          <a:xfrm xmlns:a="http://schemas.openxmlformats.org/drawingml/2006/main">
            <a:off x="762000" y="38576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064F91"/>
                </a:solidFill>
                <a:latin typeface="Calibri"/>
                <a:ea typeface="Calibri"/>
                <a:cs typeface="Calibri"/>
              </a:defRPr>
            </a:pPr>
            <a:r>
              <a:rPr sz="2250" b="1">
                <a:solidFill>
                  <a:srgbClr val="064F91"/>
                </a:solidFill>
                <a:latin typeface="Calibri"/>
                <a:ea typeface="Calibri"/>
                <a:cs typeface="Calibri"/>
              </a:rPr>
              <a:t>Startfråga</a:t>
            </a:r>
          </a:p>
        </p:txBody>
      </p:sp>
      <p:sp>
        <p:nvSpPr>
          <p:cNvPr id="6" name="Kan ett system vara farligt även om ingen person får ström genom ">
            <a:extLst xmlns:a="http://schemas.openxmlformats.org/drawingml/2006/main">
              <a:ext uri="{FF2B5EF4-FFF2-40B4-BE49-F238E27FC236}">
                <a16:creationId xmlns:a16="http://schemas.microsoft.com/office/drawing/2014/main" id="{6D0A4CF6-D1CC-43DF-8009-48308135A44A}"/>
              </a:ext>
            </a:extLst>
          </p:cNvPr>
          <p:cNvSpPr>
            <a:spLocks xmlns:a="http://schemas.openxmlformats.org/drawingml/2006/main" noGrp="1"/>
          </p:cNvSpPr>
          <p:nvPr/>
        </p:nvSpPr>
        <p:spPr>
          <a:xfrm xmlns:a="http://schemas.openxmlformats.org/drawingml/2006/main">
            <a:off x="762000" y="4495800"/>
            <a:ext cx="7620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Kan ett system vara farligt även om ingen person får ström genom kroppen?</a:t>
            </a:r>
          </a:p>
        </p:txBody>
      </p:sp>
      <p:sp>
        <p:nvSpPr>
          <p:cNvPr id="7" name="2">
            <a:extLst xmlns:a="http://schemas.openxmlformats.org/drawingml/2006/main">
              <a:ext uri="{FF2B5EF4-FFF2-40B4-BE49-F238E27FC236}">
                <a16:creationId xmlns:a16="http://schemas.microsoft.com/office/drawing/2014/main" id="{5F51CD1C-BC8E-4593-BD09-065247609D3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a:t>
            </a:r>
          </a:p>
        </p:txBody>
      </p:sp>
    </p:spTree>
    <p:extLst>
      <p:ext uri="{BB962C8B-B14F-4D97-AF65-F5344CB8AC3E}">
        <p14:creationId xmlns:p14="http://schemas.microsoft.com/office/powerpoint/2010/main" val="27479962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07bdd172d887436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10" name="Dagens två pass">
            <a:extLst xmlns:a="http://schemas.openxmlformats.org/drawingml/2006/main">
              <a:ext uri="{FF2B5EF4-FFF2-40B4-BE49-F238E27FC236}">
                <a16:creationId xmlns:a16="http://schemas.microsoft.com/office/drawing/2014/main" id="{03DC734F-F540-4A27-9945-E26C2257ECA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Dagens två pass</a:t>
            </a:r>
          </a:p>
        </p:txBody>
      </p:sp>
      <p:sp>
        <p:nvSpPr>
          <p:cNvPr id="11" name="Pass 1: 45 minuter">
            <a:extLst xmlns:a="http://schemas.openxmlformats.org/drawingml/2006/main">
              <a:ext uri="{FF2B5EF4-FFF2-40B4-BE49-F238E27FC236}">
                <a16:creationId xmlns:a16="http://schemas.microsoft.com/office/drawing/2014/main" id="{0ED786B3-E39C-43C2-B7E6-4B0B00E0AE20}"/>
              </a:ext>
            </a:extLst>
          </p:cNvPr>
          <p:cNvSpPr>
            <a:spLocks xmlns:a="http://schemas.openxmlformats.org/drawingml/2006/main" noGrp="1"/>
          </p:cNvSpPr>
          <p:nvPr/>
        </p:nvSpPr>
        <p:spPr>
          <a:xfrm xmlns:a="http://schemas.openxmlformats.org/drawingml/2006/main">
            <a:off x="762000" y="1619250"/>
            <a:ext cx="7620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064F91"/>
                </a:solidFill>
                <a:latin typeface="Calibri"/>
                <a:ea typeface="Calibri"/>
                <a:cs typeface="Calibri"/>
              </a:defRPr>
            </a:pPr>
            <a:r>
              <a:rPr sz="2550" b="1">
                <a:solidFill>
                  <a:srgbClr val="064F91"/>
                </a:solidFill>
                <a:latin typeface="Calibri"/>
                <a:ea typeface="Calibri"/>
                <a:cs typeface="Calibri"/>
              </a:rPr>
              <a:t>Pass 1: 45 minuter</a:t>
            </a:r>
          </a:p>
        </p:txBody>
      </p:sp>
      <p:sp>
        <p:nvSpPr>
          <p:cNvPr id="12" name="5 min begrepp, 20 min teori och genomräknade exempel&#10;15 min övnin">
            <a:extLst xmlns:a="http://schemas.openxmlformats.org/drawingml/2006/main">
              <a:ext uri="{FF2B5EF4-FFF2-40B4-BE49-F238E27FC236}">
                <a16:creationId xmlns:a16="http://schemas.microsoft.com/office/drawing/2014/main" id="{2767B219-A5AC-482F-B883-7B8EB790B7E6}"/>
              </a:ext>
            </a:extLst>
          </p:cNvPr>
          <p:cNvSpPr>
            <a:spLocks xmlns:a="http://schemas.openxmlformats.org/drawingml/2006/main" noGrp="1"/>
          </p:cNvSpPr>
          <p:nvPr/>
        </p:nvSpPr>
        <p:spPr>
          <a:xfrm xmlns:a="http://schemas.openxmlformats.org/drawingml/2006/main">
            <a:off x="762000" y="220027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5 min begrepp, 20 min teori och genomräknade exempel</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15 min övning 1.1, 1.2 och 1.4, 5 min återkoppling</a:t>
            </a:r>
          </a:p>
        </p:txBody>
      </p:sp>
      <p:sp>
        <p:nvSpPr>
          <p:cNvPr id="13" name="Pass 2: 45 minuter">
            <a:extLst xmlns:a="http://schemas.openxmlformats.org/drawingml/2006/main">
              <a:ext uri="{FF2B5EF4-FFF2-40B4-BE49-F238E27FC236}">
                <a16:creationId xmlns:a16="http://schemas.microsoft.com/office/drawing/2014/main" id="{E1240D54-DB86-4FEA-8F28-7D05B11221B1}"/>
              </a:ext>
            </a:extLst>
          </p:cNvPr>
          <p:cNvSpPr>
            <a:spLocks xmlns:a="http://schemas.openxmlformats.org/drawingml/2006/main" noGrp="1"/>
          </p:cNvSpPr>
          <p:nvPr/>
        </p:nvSpPr>
        <p:spPr>
          <a:xfrm xmlns:a="http://schemas.openxmlformats.org/drawingml/2006/main">
            <a:off x="762000" y="3476625"/>
            <a:ext cx="7620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064F91"/>
                </a:solidFill>
                <a:latin typeface="Calibri"/>
                <a:ea typeface="Calibri"/>
                <a:cs typeface="Calibri"/>
              </a:defRPr>
            </a:pPr>
            <a:r>
              <a:rPr sz="2550" b="1">
                <a:solidFill>
                  <a:srgbClr val="064F91"/>
                </a:solidFill>
                <a:latin typeface="Calibri"/>
                <a:ea typeface="Calibri"/>
                <a:cs typeface="Calibri"/>
              </a:rPr>
              <a:t>Pass 2: 45 minuter</a:t>
            </a:r>
          </a:p>
        </p:txBody>
      </p:sp>
      <p:sp>
        <p:nvSpPr>
          <p:cNvPr id="14" name="20 min teori och exempel, 15 min övning 6, 7, 8&#10;8 min lösningsdis">
            <a:extLst xmlns:a="http://schemas.openxmlformats.org/drawingml/2006/main">
              <a:ext uri="{FF2B5EF4-FFF2-40B4-BE49-F238E27FC236}">
                <a16:creationId xmlns:a16="http://schemas.microsoft.com/office/drawing/2014/main" id="{3A55230B-5176-4791-BCE8-3F6612993834}"/>
              </a:ext>
            </a:extLst>
          </p:cNvPr>
          <p:cNvSpPr>
            <a:spLocks xmlns:a="http://schemas.openxmlformats.org/drawingml/2006/main" noGrp="1"/>
          </p:cNvSpPr>
          <p:nvPr/>
        </p:nvSpPr>
        <p:spPr>
          <a:xfrm xmlns:a="http://schemas.openxmlformats.org/drawingml/2006/main">
            <a:off x="762000" y="405765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20 min teori och exempel, 15 min övning 1.6, 1.7 och 1.8</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8 min lösningsdiskussion, 2 min avslut</a:t>
            </a:r>
          </a:p>
        </p:txBody>
      </p:sp>
      <p:sp>
        <p:nvSpPr>
          <p:cNvPr id="15" name="Stödbilderna används under arbetet. Övriga övningar: egen studiet">
            <a:extLst xmlns:a="http://schemas.openxmlformats.org/drawingml/2006/main">
              <a:ext uri="{FF2B5EF4-FFF2-40B4-BE49-F238E27FC236}">
                <a16:creationId xmlns:a16="http://schemas.microsoft.com/office/drawing/2014/main" id="{146EC3C6-F2C7-4761-8676-628BC40CB946}"/>
              </a:ext>
            </a:extLst>
          </p:cNvPr>
          <p:cNvSpPr>
            <a:spLocks xmlns:a="http://schemas.openxmlformats.org/drawingml/2006/main" noGrp="1"/>
          </p:cNvSpPr>
          <p:nvPr/>
        </p:nvSpPr>
        <p:spPr>
          <a:xfrm xmlns:a="http://schemas.openxmlformats.org/drawingml/2006/main">
            <a:off x="762000" y="5257800"/>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Stödbilderna används under arbetet. Övriga övningar: egen studietid.</a:t>
            </a:r>
          </a:p>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Alla tio med utförlig genomgång: cirka 90–110 min. Paus tillkommer.</a:t>
            </a:r>
          </a:p>
        </p:txBody>
      </p:sp>
      <p:sp>
        <p:nvSpPr>
          <p:cNvPr id="16" name="3">
            <a:extLst xmlns:a="http://schemas.openxmlformats.org/drawingml/2006/main">
              <a:ext uri="{FF2B5EF4-FFF2-40B4-BE49-F238E27FC236}">
                <a16:creationId xmlns:a16="http://schemas.microsoft.com/office/drawing/2014/main" id="{6052582F-99D7-42A0-947E-C13BFAABCC2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a:t>
            </a:r>
          </a:p>
        </p:txBody>
      </p:sp>
    </p:spTree>
    <p:extLst>
      <p:ext uri="{BB962C8B-B14F-4D97-AF65-F5344CB8AC3E}">
        <p14:creationId xmlns:p14="http://schemas.microsoft.com/office/powerpoint/2010/main" val="274799622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6e628171cd954b6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Fara, händelse och skada">
            <a:extLst xmlns:a="http://schemas.openxmlformats.org/drawingml/2006/main">
              <a:ext uri="{FF2B5EF4-FFF2-40B4-BE49-F238E27FC236}">
                <a16:creationId xmlns:a16="http://schemas.microsoft.com/office/drawing/2014/main" id="{775B6E9A-DA75-45D0-8A55-5F36B4D0BF2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Fara, händelse och skada</a:t>
            </a:r>
          </a:p>
        </p:txBody>
      </p:sp>
      <p:sp>
        <p:nvSpPr>
          <p:cNvPr id="10" name="Fara är en egenskap eller situation som kan orsaka skada.">
            <a:extLst xmlns:a="http://schemas.openxmlformats.org/drawingml/2006/main">
              <a:ext uri="{FF2B5EF4-FFF2-40B4-BE49-F238E27FC236}">
                <a16:creationId xmlns:a16="http://schemas.microsoft.com/office/drawing/2014/main" id="{0EE6C3D4-B9CF-40E9-931B-FDFAD167B4A8}"/>
              </a:ext>
            </a:extLst>
          </p:cNvPr>
          <p:cNvSpPr>
            <a:spLocks xmlns:a="http://schemas.openxmlformats.org/drawingml/2006/main" noGrp="1"/>
          </p:cNvSpPr>
          <p:nvPr/>
        </p:nvSpPr>
        <p:spPr>
          <a:xfrm xmlns:a="http://schemas.openxmlformats.org/drawingml/2006/main">
            <a:off x="762000" y="166687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Fara är en egenskap eller situation som kan orsaka skada.</a:t>
            </a:r>
          </a:p>
        </p:txBody>
      </p:sp>
      <p:sp>
        <p:nvSpPr>
          <p:cNvPr id="11" name="Exponering beskriver hur en person kan utsättas för faran.">
            <a:extLst xmlns:a="http://schemas.openxmlformats.org/drawingml/2006/main">
              <a:ext uri="{FF2B5EF4-FFF2-40B4-BE49-F238E27FC236}">
                <a16:creationId xmlns:a16="http://schemas.microsoft.com/office/drawing/2014/main" id="{5D2CBB78-6DBB-4B65-9C69-975FFA18D879}"/>
              </a:ext>
            </a:extLst>
          </p:cNvPr>
          <p:cNvSpPr>
            <a:spLocks xmlns:a="http://schemas.openxmlformats.org/drawingml/2006/main" noGrp="1"/>
          </p:cNvSpPr>
          <p:nvPr/>
        </p:nvSpPr>
        <p:spPr>
          <a:xfrm xmlns:a="http://schemas.openxmlformats.org/drawingml/2006/main">
            <a:off x="762000" y="271462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Exponering beskriver hur en person kan utsättas för faran.</a:t>
            </a:r>
          </a:p>
        </p:txBody>
      </p:sp>
      <p:sp>
        <p:nvSpPr>
          <p:cNvPr id="12" name="Konsekvens är den skada som kan följa.">
            <a:extLst xmlns:a="http://schemas.openxmlformats.org/drawingml/2006/main">
              <a:ext uri="{FF2B5EF4-FFF2-40B4-BE49-F238E27FC236}">
                <a16:creationId xmlns:a16="http://schemas.microsoft.com/office/drawing/2014/main" id="{816B00E8-A098-4096-A18A-3EA76C9780F5}"/>
              </a:ext>
            </a:extLst>
          </p:cNvPr>
          <p:cNvSpPr>
            <a:spLocks xmlns:a="http://schemas.openxmlformats.org/drawingml/2006/main" noGrp="1"/>
          </p:cNvSpPr>
          <p:nvPr/>
        </p:nvSpPr>
        <p:spPr>
          <a:xfrm xmlns:a="http://schemas.openxmlformats.org/drawingml/2006/main">
            <a:off x="762000" y="376237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Konsekvens är den skada som kan följa.</a:t>
            </a:r>
          </a:p>
        </p:txBody>
      </p:sp>
      <p:sp>
        <p:nvSpPr>
          <p:cNvPr id="13" name="Riskbedömningen kopplar arbetsmomentet till både möjlig händelse ">
            <a:extLst xmlns:a="http://schemas.openxmlformats.org/drawingml/2006/main">
              <a:ext uri="{FF2B5EF4-FFF2-40B4-BE49-F238E27FC236}">
                <a16:creationId xmlns:a16="http://schemas.microsoft.com/office/drawing/2014/main" id="{1317F043-9CC8-49B6-A3EB-6D2BC2F9C87A}"/>
              </a:ext>
            </a:extLst>
          </p:cNvPr>
          <p:cNvSpPr>
            <a:spLocks xmlns:a="http://schemas.openxmlformats.org/drawingml/2006/main" noGrp="1"/>
          </p:cNvSpPr>
          <p:nvPr/>
        </p:nvSpPr>
        <p:spPr>
          <a:xfrm xmlns:a="http://schemas.openxmlformats.org/drawingml/2006/main">
            <a:off x="762000" y="481012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Riskbedömningen kopplar arbetsmomentet till både möjlig händelse och följd.</a:t>
            </a:r>
          </a:p>
        </p:txBody>
      </p:sp>
      <p:sp>
        <p:nvSpPr>
          <p:cNvPr id="14" name="4">
            <a:extLst xmlns:a="http://schemas.openxmlformats.org/drawingml/2006/main">
              <a:ext uri="{FF2B5EF4-FFF2-40B4-BE49-F238E27FC236}">
                <a16:creationId xmlns:a16="http://schemas.microsoft.com/office/drawing/2014/main" id="{EE8440D8-8DF3-40F8-8EB3-00727B86BE3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4</a:t>
            </a:r>
          </a:p>
        </p:txBody>
      </p:sp>
    </p:spTree>
    <p:extLst>
      <p:ext uri="{BB962C8B-B14F-4D97-AF65-F5344CB8AC3E}">
        <p14:creationId xmlns:p14="http://schemas.microsoft.com/office/powerpoint/2010/main" val="274799622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0b919af8b4f2481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n lösning som går att följa">
            <a:extLst xmlns:a="http://schemas.openxmlformats.org/drawingml/2006/main">
              <a:ext uri="{FF2B5EF4-FFF2-40B4-BE49-F238E27FC236}">
                <a16:creationId xmlns:a16="http://schemas.microsoft.com/office/drawing/2014/main" id="{23030060-72AD-4E4D-AB7E-AD56AB910BCB}"/>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En lösning som går att följa</a:t>
            </a:r>
          </a:p>
        </p:txBody>
      </p:sp>
      <p:sp>
        <p:nvSpPr>
          <p:cNvPr id="10" name="1. Givet och sökt">
            <a:extLst xmlns:a="http://schemas.openxmlformats.org/drawingml/2006/main">
              <a:ext uri="{FF2B5EF4-FFF2-40B4-BE49-F238E27FC236}">
                <a16:creationId xmlns:a16="http://schemas.microsoft.com/office/drawing/2014/main" id="{B5B987C6-A14C-42C9-A4CB-0347E2AA6F1B}"/>
              </a:ext>
            </a:extLst>
          </p:cNvPr>
          <p:cNvSpPr>
            <a:spLocks xmlns:a="http://schemas.openxmlformats.org/drawingml/2006/main" noGrp="1"/>
          </p:cNvSpPr>
          <p:nvPr/>
        </p:nvSpPr>
        <p:spPr>
          <a:xfrm xmlns:a="http://schemas.openxmlformats.org/drawingml/2006/main">
            <a:off x="762000" y="165735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1. Givet och sökt</a:t>
            </a:r>
          </a:p>
        </p:txBody>
      </p:sp>
      <p:sp>
        <p:nvSpPr>
          <p:cNvPr id="11" name="Skriv av värden, enheter och vad du ska bestämma.">
            <a:extLst xmlns:a="http://schemas.openxmlformats.org/drawingml/2006/main">
              <a:ext uri="{FF2B5EF4-FFF2-40B4-BE49-F238E27FC236}">
                <a16:creationId xmlns:a16="http://schemas.microsoft.com/office/drawing/2014/main" id="{5986FA4F-F80D-497B-BDBA-934E4832D873}"/>
              </a:ext>
            </a:extLst>
          </p:cNvPr>
          <p:cNvSpPr>
            <a:spLocks xmlns:a="http://schemas.openxmlformats.org/drawingml/2006/main" noGrp="1"/>
          </p:cNvSpPr>
          <p:nvPr/>
        </p:nvSpPr>
        <p:spPr>
          <a:xfrm xmlns:a="http://schemas.openxmlformats.org/drawingml/2006/main">
            <a:off x="762000" y="2124075"/>
            <a:ext cx="762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Skriv av värden, enheter och vad du ska bestämma.</a:t>
            </a:r>
          </a:p>
        </p:txBody>
      </p:sp>
      <p:sp>
        <p:nvSpPr>
          <p:cNvPr id="12" name="2. Samband och villkor">
            <a:extLst xmlns:a="http://schemas.openxmlformats.org/drawingml/2006/main">
              <a:ext uri="{FF2B5EF4-FFF2-40B4-BE49-F238E27FC236}">
                <a16:creationId xmlns:a16="http://schemas.microsoft.com/office/drawing/2014/main" id="{E0B9C5C1-F2B8-4EF0-98DA-BC7D443E3FC5}"/>
              </a:ext>
            </a:extLst>
          </p:cNvPr>
          <p:cNvSpPr>
            <a:spLocks xmlns:a="http://schemas.openxmlformats.org/drawingml/2006/main" noGrp="1"/>
          </p:cNvSpPr>
          <p:nvPr/>
        </p:nvSpPr>
        <p:spPr>
          <a:xfrm xmlns:a="http://schemas.openxmlformats.org/drawingml/2006/main">
            <a:off x="762000" y="281940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2. Samband och villkor</a:t>
            </a:r>
          </a:p>
        </p:txBody>
      </p:sp>
      <p:sp>
        <p:nvSpPr>
          <p:cNvPr id="13" name="Välj formel eller princip. Kontrollera koppling, driftfall och an">
            <a:extLst xmlns:a="http://schemas.openxmlformats.org/drawingml/2006/main">
              <a:ext uri="{FF2B5EF4-FFF2-40B4-BE49-F238E27FC236}">
                <a16:creationId xmlns:a16="http://schemas.microsoft.com/office/drawing/2014/main" id="{F553C95E-71CB-4C3A-8892-5B07F5DB8055}"/>
              </a:ext>
            </a:extLst>
          </p:cNvPr>
          <p:cNvSpPr>
            <a:spLocks xmlns:a="http://schemas.openxmlformats.org/drawingml/2006/main" noGrp="1"/>
          </p:cNvSpPr>
          <p:nvPr/>
        </p:nvSpPr>
        <p:spPr>
          <a:xfrm xmlns:a="http://schemas.openxmlformats.org/drawingml/2006/main">
            <a:off x="762000" y="328612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Välj formel eller princip. Kontrollera koppling, driftfall och antaganden.</a:t>
            </a:r>
          </a:p>
        </p:txBody>
      </p:sp>
      <p:sp>
        <p:nvSpPr>
          <p:cNvPr id="14" name="3. Uträkning och kontroll">
            <a:extLst xmlns:a="http://schemas.openxmlformats.org/drawingml/2006/main">
              <a:ext uri="{FF2B5EF4-FFF2-40B4-BE49-F238E27FC236}">
                <a16:creationId xmlns:a16="http://schemas.microsoft.com/office/drawing/2014/main" id="{1551B4D2-1355-4B8D-A4BF-06E489C3EA47}"/>
              </a:ext>
            </a:extLst>
          </p:cNvPr>
          <p:cNvSpPr>
            <a:spLocks xmlns:a="http://schemas.openxmlformats.org/drawingml/2006/main" noGrp="1"/>
          </p:cNvSpPr>
          <p:nvPr/>
        </p:nvSpPr>
        <p:spPr>
          <a:xfrm xmlns:a="http://schemas.openxmlformats.org/drawingml/2006/main">
            <a:off x="762000" y="42767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3. Uträkning och kontroll</a:t>
            </a:r>
          </a:p>
        </p:txBody>
      </p:sp>
      <p:sp>
        <p:nvSpPr>
          <p:cNvPr id="15" name="Omvandla enheter, sätt in värden och tolka resultatet.&#10;I resonema">
            <a:extLst xmlns:a="http://schemas.openxmlformats.org/drawingml/2006/main">
              <a:ext uri="{FF2B5EF4-FFF2-40B4-BE49-F238E27FC236}">
                <a16:creationId xmlns:a16="http://schemas.microsoft.com/office/drawing/2014/main" id="{D222D819-4329-4248-9EA1-1384D0F79904}"/>
              </a:ext>
            </a:extLst>
          </p:cNvPr>
          <p:cNvSpPr>
            <a:spLocks xmlns:a="http://schemas.openxmlformats.org/drawingml/2006/main" noGrp="1"/>
          </p:cNvSpPr>
          <p:nvPr/>
        </p:nvSpPr>
        <p:spPr>
          <a:xfrm xmlns:a="http://schemas.openxmlformats.org/drawingml/2006/main">
            <a:off x="762000" y="4791075"/>
            <a:ext cx="7620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Omvandla enheter, sätt in värden och tolka resultatet.</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I resonemangsfall: koppla observation till en motiverad slutsats.</a:t>
            </a:r>
          </a:p>
        </p:txBody>
      </p:sp>
      <p:sp>
        <p:nvSpPr>
          <p:cNvPr id="16" name="5">
            <a:extLst xmlns:a="http://schemas.openxmlformats.org/drawingml/2006/main">
              <a:ext uri="{FF2B5EF4-FFF2-40B4-BE49-F238E27FC236}">
                <a16:creationId xmlns:a16="http://schemas.microsoft.com/office/drawing/2014/main" id="{9BF274A1-1F05-494B-A2E9-CB9E138EE39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5</a:t>
            </a:r>
          </a:p>
        </p:txBody>
      </p:sp>
    </p:spTree>
    <p:extLst>
      <p:ext uri="{BB962C8B-B14F-4D97-AF65-F5344CB8AC3E}">
        <p14:creationId xmlns:p14="http://schemas.microsoft.com/office/powerpoint/2010/main" val="274799622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e978b2dfdd6d41d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Strömmens väg genom kroppen">
            <a:extLst xmlns:a="http://schemas.openxmlformats.org/drawingml/2006/main">
              <a:ext uri="{FF2B5EF4-FFF2-40B4-BE49-F238E27FC236}">
                <a16:creationId xmlns:a16="http://schemas.microsoft.com/office/drawing/2014/main" id="{33DA9A5B-A5CF-4B16-A4DF-E7933CE9CD0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Strömmens väg genom kroppen</a:t>
            </a:r>
          </a:p>
        </p:txBody>
      </p:sp>
      <p:sp>
        <p:nvSpPr>
          <p:cNvPr id="3" name="Skadans allvar påverkas av ström, varaktighet och strömväg.&#10;Fukt,">
            <a:extLst xmlns:a="http://schemas.openxmlformats.org/drawingml/2006/main">
              <a:ext uri="{FF2B5EF4-FFF2-40B4-BE49-F238E27FC236}">
                <a16:creationId xmlns:a16="http://schemas.microsoft.com/office/drawing/2014/main" id="{46B7BE37-C619-48E6-9E40-EFCAFEBBF36A}"/>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Skadans allvar påverkas av ström, varaktighet och strömväg.</a:t>
            </a:r>
          </a:p>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Fukt, kontaktyta och hudens tillstånd påverkar kontakten.</a:t>
            </a:r>
          </a:p>
        </p:txBody>
      </p:sp>
      <p:sp>
        <p:nvSpPr>
          <p:cNvPr id="4" name="Spänning ensam bestämmer inte skadan">
            <a:extLst xmlns:a="http://schemas.openxmlformats.org/drawingml/2006/main">
              <a:ext uri="{FF2B5EF4-FFF2-40B4-BE49-F238E27FC236}">
                <a16:creationId xmlns:a16="http://schemas.microsoft.com/office/drawing/2014/main" id="{F5628B30-6D0B-420D-B93A-2ACB1EE2030D}"/>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650" b="1">
                <a:solidFill>
                  <a:srgbClr val="064F91"/>
                </a:solidFill>
                <a:latin typeface="Calibri"/>
                <a:ea typeface="Calibri"/>
                <a:cs typeface="Calibri"/>
              </a:rPr>
              <a:t>Spänning ensam bestämmer inte skadan</a:t>
            </a:r>
          </a:p>
        </p:txBody>
      </p:sp>
      <p:sp>
        <p:nvSpPr>
          <p:cNvPr id="5" name="En väg genom bröstkorgen kan påverka hjärtat.&#10;Ett generellt kropp">
            <a:extLst xmlns:a="http://schemas.openxmlformats.org/drawingml/2006/main">
              <a:ext uri="{FF2B5EF4-FFF2-40B4-BE49-F238E27FC236}">
                <a16:creationId xmlns:a16="http://schemas.microsoft.com/office/drawing/2014/main" id="{3F5E7989-8277-4A53-A70A-8F523E577F9E}"/>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En väg genom bröstkorgen kan påverka hjärtat.</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Ett generellt kroppsmotstånd kan inte ge en säker gräns.</a:t>
            </a:r>
          </a:p>
        </p:txBody>
      </p:sp>
      <p:sp>
        <p:nvSpPr>
          <p:cNvPr id="6" name="4">
            <a:extLst xmlns:a="http://schemas.openxmlformats.org/drawingml/2006/main">
              <a:ext uri="{FF2B5EF4-FFF2-40B4-BE49-F238E27FC236}">
                <a16:creationId xmlns:a16="http://schemas.microsoft.com/office/drawing/2014/main" id="{FCA6428E-F83E-4D4B-9037-45416009CE17}"/>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6</a:t>
            </a:r>
          </a:p>
        </p:txBody>
      </p:sp>
      <p:pic xmlns:a="http://schemas.openxmlformats.org/drawingml/2006/main" xmlns:r="http://schemas.openxmlformats.org/officeDocument/2006/relationships">
        <p:nvPicPr>
          <p:cNvPr id="9" name="Figur: Figur med två strömvägar genom kroppen: " descr="Figur med två strömvägar genom kroppen: hand till hand och hand till fot; båda passerar bröstkorgen nära hjärtat"/>
          <p:cNvPicPr>
            <a:picLocks noChangeAspect="1"/>
          </p:cNvPicPr>
          <p:nvPr/>
        </p:nvPicPr>
        <p:blipFill>
          <a:blip r:embed="rId3"/>
          <a:stretch>
            <a:fillRect/>
          </a:stretch>
        </p:blipFill>
        <p:spPr>
          <a:xfrm>
            <a:off x="4892040" y="1645920"/>
            <a:ext cx="3886200" cy="3795655"/>
          </a:xfrm>
          <a:prstGeom prst="rect">
            <a:avLst/>
          </a:prstGeom>
        </p:spPr>
      </p:pic>
    </p:spTree>
    <p:extLst>
      <p:ext uri="{BB962C8B-B14F-4D97-AF65-F5344CB8AC3E}">
        <p14:creationId xmlns:p14="http://schemas.microsoft.com/office/powerpoint/2010/main" val="274799622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45ef4a54c9a44b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Beröringsspänning">
            <a:extLst xmlns:a="http://schemas.openxmlformats.org/drawingml/2006/main">
              <a:ext uri="{FF2B5EF4-FFF2-40B4-BE49-F238E27FC236}">
                <a16:creationId xmlns:a16="http://schemas.microsoft.com/office/drawing/2014/main" id="{2A4306CF-1CEE-4A54-95F7-1271A5379D8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Beröringsspänning</a:t>
            </a:r>
          </a:p>
        </p:txBody>
      </p:sp>
      <p:sp>
        <p:nvSpPr>
          <p:cNvPr id="3" name="Beröringsspänning är en potentialskillnad mellan punkter&#10;som en p">
            <a:extLst xmlns:a="http://schemas.openxmlformats.org/drawingml/2006/main">
              <a:ext uri="{FF2B5EF4-FFF2-40B4-BE49-F238E27FC236}">
                <a16:creationId xmlns:a16="http://schemas.microsoft.com/office/drawing/2014/main" id="{1C534842-E1EA-4ED2-82AA-DE2951EAF1FF}"/>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50" b="0">
                <a:solidFill>
                  <a:srgbClr val="111111"/>
                </a:solidFill>
                <a:latin typeface="Calibri"/>
                <a:ea typeface="Calibri"/>
                <a:cs typeface="Calibri"/>
              </a:rPr>
              <a:t>Beröringsspänning är en potentialskillnad mellan punkter</a:t>
            </a:r>
          </a:p>
          <a:p xmlns:a="http://schemas.openxmlformats.org/drawingml/2006/main">
            <a:pPr algn="l">
              <a:buNone/>
              <a:defRPr sz="2400" b="0">
                <a:solidFill>
                  <a:srgbClr val="111111"/>
                </a:solidFill>
                <a:latin typeface="Calibri"/>
                <a:ea typeface="Calibri"/>
                <a:cs typeface="Calibri"/>
              </a:defRPr>
            </a:pPr>
            <a:r>
              <a:rPr sz="1950" b="0">
                <a:solidFill>
                  <a:srgbClr val="111111"/>
                </a:solidFill>
                <a:latin typeface="Calibri"/>
                <a:ea typeface="Calibri"/>
                <a:cs typeface="Calibri"/>
              </a:rPr>
              <a:t>som en person kan beröra samtidigt.</a:t>
            </a:r>
          </a:p>
        </p:txBody>
      </p:sp>
      <p:sp>
        <p:nvSpPr>
          <p:cNvPr id="4" name="I = U/R är en förenklad beräkningsmodell">
            <a:extLst xmlns:a="http://schemas.openxmlformats.org/drawingml/2006/main">
              <a:ext uri="{FF2B5EF4-FFF2-40B4-BE49-F238E27FC236}">
                <a16:creationId xmlns:a16="http://schemas.microsoft.com/office/drawing/2014/main" id="{6C8766C6-5108-4C84-A670-E092519BCCFE}"/>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650" b="1">
                <a:solidFill>
                  <a:srgbClr val="064F91"/>
                </a:solidFill>
                <a:latin typeface="Calibri"/>
                <a:ea typeface="Calibri"/>
                <a:cs typeface="Calibri"/>
              </a:rPr>
              <a:t>I = U/R är en förenklad beräkningsmodell</a:t>
            </a:r>
          </a:p>
        </p:txBody>
      </p:sp>
      <p:sp>
        <p:nvSpPr>
          <p:cNvPr id="5" name="Utsatt metall kan bli spänningsförande vid isolationsfel.&#10;Kroppen">
            <a:extLst xmlns:a="http://schemas.openxmlformats.org/drawingml/2006/main">
              <a:ext uri="{FF2B5EF4-FFF2-40B4-BE49-F238E27FC236}">
                <a16:creationId xmlns:a16="http://schemas.microsoft.com/office/drawing/2014/main" id="{1EB8D050-EF2F-44FB-815B-4DE8EC7773BB}"/>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Utsatt metall kan bli spänningsförande vid isolationsfel.</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Kroppens elektriska egenskaper varierar med situationen.</a:t>
            </a:r>
          </a:p>
        </p:txBody>
      </p:sp>
      <p:sp>
        <p:nvSpPr>
          <p:cNvPr id="6" name="5">
            <a:extLst xmlns:a="http://schemas.openxmlformats.org/drawingml/2006/main">
              <a:ext uri="{FF2B5EF4-FFF2-40B4-BE49-F238E27FC236}">
                <a16:creationId xmlns:a16="http://schemas.microsoft.com/office/drawing/2014/main" id="{A8E1383B-F082-4DA5-A76D-4FDDD762166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7</a:t>
            </a:r>
          </a:p>
        </p:txBody>
      </p:sp>
      <p:pic xmlns:a="http://schemas.openxmlformats.org/drawingml/2006/main" xmlns:r="http://schemas.openxmlformats.org/officeDocument/2006/relationships">
        <p:nvPicPr>
          <p:cNvPr id="9" name="Figur: Beröringsspänning ombord: pumpmotor på g" descr="Beröringsspänning ombord: pumpmotor på gummidämpare på stålkrovet, med isolationsfel (fasen mot höljet) och bruten skyddsledare (PE). Höljet är jordat bara via PE. En person rör höljet med handen (A) och står på däck (B); U_beröring = |V_A − V_B|"/>
          <p:cNvPicPr>
            <a:picLocks noChangeAspect="1"/>
          </p:cNvPicPr>
          <p:nvPr/>
        </p:nvPicPr>
        <p:blipFill>
          <a:blip r:embed="rId5"/>
          <a:stretch>
            <a:fillRect/>
          </a:stretch>
        </p:blipFill>
        <p:spPr>
          <a:xfrm>
            <a:off x="4892040" y="1645920"/>
            <a:ext cx="3886200" cy="1855420"/>
          </a:xfrm>
          <a:prstGeom prst="rect">
            <a:avLst/>
          </a:prstGeom>
        </p:spPr>
      </p:pic>
    </p:spTree>
    <p:extLst>
      <p:ext uri="{BB962C8B-B14F-4D97-AF65-F5344CB8AC3E}">
        <p14:creationId xmlns:p14="http://schemas.microsoft.com/office/powerpoint/2010/main" val="274799622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19891a431b7e4a96"/>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Ljusbågens konsekvenser">
            <a:extLst xmlns:a="http://schemas.openxmlformats.org/drawingml/2006/main">
              <a:ext uri="{FF2B5EF4-FFF2-40B4-BE49-F238E27FC236}">
                <a16:creationId xmlns:a16="http://schemas.microsoft.com/office/drawing/2014/main" id="{3FF9E2F1-ECD1-47D2-B81B-B952DD461F4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Ljusbågens konsekvenser</a:t>
            </a:r>
          </a:p>
        </p:txBody>
      </p:sp>
      <p:sp>
        <p:nvSpPr>
          <p:cNvPr id="3" name="En ljusbåge kan ge värme, tryck, starkt ljus och splitter.&#10;Skador">
            <a:extLst xmlns:a="http://schemas.openxmlformats.org/drawingml/2006/main">
              <a:ext uri="{FF2B5EF4-FFF2-40B4-BE49-F238E27FC236}">
                <a16:creationId xmlns:a16="http://schemas.microsoft.com/office/drawing/2014/main" id="{2B4B80D9-9F15-4467-8415-C1D9637C161A}"/>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En ljusbåge kan ge värme, tryck, starkt ljus och splitter.</a:t>
            </a:r>
          </a:p>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Skador kan uppstå utan strömgenomgång genom kroppen.</a:t>
            </a:r>
          </a:p>
        </p:txBody>
      </p:sp>
      <p:sp>
        <p:nvSpPr>
          <p:cNvPr id="4" name="Tillgänglig felenergi och tid påverkar följden">
            <a:extLst xmlns:a="http://schemas.openxmlformats.org/drawingml/2006/main">
              <a:ext uri="{FF2B5EF4-FFF2-40B4-BE49-F238E27FC236}">
                <a16:creationId xmlns:a16="http://schemas.microsoft.com/office/drawing/2014/main" id="{A8D6BA59-592C-441A-90A9-B33B97B2BAAF}"/>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400" b="1">
                <a:solidFill>
                  <a:srgbClr val="064F91"/>
                </a:solidFill>
                <a:latin typeface="Calibri"/>
                <a:ea typeface="Calibri"/>
                <a:cs typeface="Calibri"/>
              </a:rPr>
              <a:t>Tillgänglig felenergi och tid påverkar följden</a:t>
            </a:r>
          </a:p>
        </p:txBody>
      </p:sp>
      <p:sp>
        <p:nvSpPr>
          <p:cNvPr id="5" name="Ett verktyg eller en felaktig mätanslutning kan initiera fel.&#10;Ris">
            <a:extLst xmlns:a="http://schemas.openxmlformats.org/drawingml/2006/main">
              <a:ext uri="{FF2B5EF4-FFF2-40B4-BE49-F238E27FC236}">
                <a16:creationId xmlns:a16="http://schemas.microsoft.com/office/drawing/2014/main" id="{F75C333B-1634-491C-88E5-BBF2537BFD45}"/>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1850" b="0">
                <a:solidFill>
                  <a:srgbClr val="111111"/>
                </a:solidFill>
                <a:latin typeface="Calibri"/>
                <a:ea typeface="Calibri"/>
                <a:cs typeface="Calibri"/>
              </a:rPr>
              <a:t>Ett verktyg eller en felaktig mätanslutning kan initiera fel.</a:t>
            </a:r>
          </a:p>
          <a:p xmlns:a="http://schemas.openxmlformats.org/drawingml/2006/main">
            <a:pPr algn="l">
              <a:buNone/>
              <a:defRPr sz="2250" b="0">
                <a:solidFill>
                  <a:srgbClr val="111111"/>
                </a:solidFill>
                <a:latin typeface="Calibri"/>
                <a:ea typeface="Calibri"/>
                <a:cs typeface="Calibri"/>
              </a:defRPr>
            </a:pPr>
            <a:r>
              <a:rPr sz="1850" b="0">
                <a:solidFill>
                  <a:srgbClr val="111111"/>
                </a:solidFill>
                <a:latin typeface="Calibri"/>
                <a:ea typeface="Calibri"/>
                <a:cs typeface="Calibri"/>
              </a:rPr>
              <a:t>Riskbedömningen behöver omfatta hela arbetsmomentet.</a:t>
            </a:r>
          </a:p>
        </p:txBody>
      </p:sp>
      <p:sp>
        <p:nvSpPr>
          <p:cNvPr id="6" name="6">
            <a:extLst xmlns:a="http://schemas.openxmlformats.org/drawingml/2006/main">
              <a:ext uri="{FF2B5EF4-FFF2-40B4-BE49-F238E27FC236}">
                <a16:creationId xmlns:a16="http://schemas.microsoft.com/office/drawing/2014/main" id="{848336A0-EA1C-4AF9-B76F-466E057B5E07}"/>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8</a:t>
            </a:r>
          </a:p>
        </p:txBody>
      </p:sp>
      <p:pic xmlns:a="http://schemas.openxmlformats.org/drawingml/2006/main" xmlns:r="http://schemas.openxmlformats.org/officeDocument/2006/relationships">
        <p:nvPicPr>
          <p:cNvPr id="9" name="Figur: Ljusbåge mellan skenorna L1 och L2 i ett" descr="Ljusbåge mellan skenorna L1 och L2 i ett öppet ställverksfack: värme och starkt ljus, tryckvåg och splitter av smält metall; även giftiga gaser och buller. Skada utan ström genom kroppen"/>
          <p:cNvPicPr>
            <a:picLocks noChangeAspect="1"/>
          </p:cNvPicPr>
          <p:nvPr/>
        </p:nvPicPr>
        <p:blipFill>
          <a:blip r:embed="rId5"/>
          <a:stretch>
            <a:fillRect/>
          </a:stretch>
        </p:blipFill>
        <p:spPr>
          <a:xfrm>
            <a:off x="4892040" y="1645920"/>
            <a:ext cx="3886200" cy="2378898"/>
          </a:xfrm>
          <a:prstGeom prst="rect">
            <a:avLst/>
          </a:prstGeom>
        </p:spPr>
      </p:pic>
    </p:spTree>
    <p:extLst>
      <p:ext uri="{BB962C8B-B14F-4D97-AF65-F5344CB8AC3E}">
        <p14:creationId xmlns:p14="http://schemas.microsoft.com/office/powerpoint/2010/main" val="274799622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c23bbc79ff8f458d"/>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xempel: en riskförklaring">
            <a:extLst xmlns:a="http://schemas.openxmlformats.org/drawingml/2006/main">
              <a:ext uri="{FF2B5EF4-FFF2-40B4-BE49-F238E27FC236}">
                <a16:creationId xmlns:a16="http://schemas.microsoft.com/office/drawing/2014/main" id="{16741695-0F94-43F4-B6EC-C06DC310D84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Exempel: en riskförklaring</a:t>
            </a:r>
          </a:p>
        </p:txBody>
      </p:sp>
      <p:sp>
        <p:nvSpPr>
          <p:cNvPr id="10" name="En skadad skarvkabel ligger där vatten samlas. Ingen berör den ju">
            <a:extLst xmlns:a="http://schemas.openxmlformats.org/drawingml/2006/main">
              <a:ext uri="{FF2B5EF4-FFF2-40B4-BE49-F238E27FC236}">
                <a16:creationId xmlns:a16="http://schemas.microsoft.com/office/drawing/2014/main" id="{A0A84B18-75B6-4ABD-BC48-5B406B78462C}"/>
              </a:ext>
            </a:extLst>
          </p:cNvPr>
          <p:cNvSpPr>
            <a:spLocks xmlns:a="http://schemas.openxmlformats.org/drawingml/2006/main" noGrp="1"/>
          </p:cNvSpPr>
          <p:nvPr/>
        </p:nvSpPr>
        <p:spPr>
          <a:xfrm xmlns:a="http://schemas.openxmlformats.org/drawingml/2006/main">
            <a:off x="762000" y="1571625"/>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1800" b="0">
                <a:solidFill>
                  <a:srgbClr val="111111"/>
                </a:solidFill>
                <a:latin typeface="Calibri"/>
                <a:ea typeface="Calibri"/>
                <a:cs typeface="Calibri"/>
              </a:rPr>
              <a:t>En vinkelslip i verkstaden har en kabel som legat klämd under en tung låda. Ingen använder maskinen just nu.</a:t>
            </a:r>
          </a:p>
        </p:txBody>
      </p:sp>
      <p:sp>
        <p:nvSpPr>
          <p:cNvPr id="11" name="Fara, möjlig exponering och konsekvens">
            <a:extLst xmlns:a="http://schemas.openxmlformats.org/drawingml/2006/main">
              <a:ext uri="{FF2B5EF4-FFF2-40B4-BE49-F238E27FC236}">
                <a16:creationId xmlns:a16="http://schemas.microsoft.com/office/drawing/2014/main" id="{23DFC6E1-D4DB-4B56-80E6-8F29C20B29FE}"/>
              </a:ext>
            </a:extLst>
          </p:cNvPr>
          <p:cNvSpPr>
            <a:spLocks xmlns:a="http://schemas.openxmlformats.org/drawingml/2006/main" noGrp="1"/>
          </p:cNvSpPr>
          <p:nvPr/>
        </p:nvSpPr>
        <p:spPr>
          <a:xfrm xmlns:a="http://schemas.openxmlformats.org/drawingml/2006/main">
            <a:off x="762000" y="2705100"/>
            <a:ext cx="3977639"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64F91"/>
                </a:solidFill>
                <a:latin typeface="Calibri"/>
                <a:ea typeface="Calibri"/>
                <a:cs typeface="Calibri"/>
              </a:defRPr>
            </a:pPr>
            <a:r>
              <a:rPr sz="2325" b="1">
                <a:solidFill>
                  <a:srgbClr val="064F91"/>
                </a:solidFill>
                <a:latin typeface="Calibri"/>
                <a:ea typeface="Calibri"/>
                <a:cs typeface="Calibri"/>
              </a:rPr>
              <a:t>Fara, möjlig exponering och konsekvens</a:t>
            </a:r>
          </a:p>
        </p:txBody>
      </p:sp>
      <p:sp>
        <p:nvSpPr>
          <p:cNvPr id="12" name="1. Observation: synlig kabelskada och vatten i området.&#10;2. Möjlig">
            <a:extLst xmlns:a="http://schemas.openxmlformats.org/drawingml/2006/main">
              <a:ext uri="{FF2B5EF4-FFF2-40B4-BE49-F238E27FC236}">
                <a16:creationId xmlns:a16="http://schemas.microsoft.com/office/drawing/2014/main" id="{FB7D92F2-8BE2-404D-A9FF-3896B5110AC7}"/>
              </a:ext>
            </a:extLst>
          </p:cNvPr>
          <p:cNvSpPr>
            <a:spLocks xmlns:a="http://schemas.openxmlformats.org/drawingml/2006/main" noGrp="1"/>
          </p:cNvSpPr>
          <p:nvPr/>
        </p:nvSpPr>
        <p:spPr>
          <a:xfrm xmlns:a="http://schemas.openxmlformats.org/drawingml/2006/main">
            <a:off x="762000" y="3657600"/>
            <a:ext cx="3977639"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63" b="0">
                <a:solidFill>
                  <a:srgbClr val="111111"/>
                </a:solidFill>
                <a:latin typeface="Calibri"/>
                <a:ea typeface="Calibri"/>
                <a:cs typeface="Calibri"/>
              </a:defRPr>
            </a:pPr>
            <a:r>
              <a:rPr sz="1500" b="0">
                <a:solidFill>
                  <a:srgbClr val="111111"/>
                </a:solidFill>
                <a:latin typeface="Calibri"/>
                <a:ea typeface="Calibri"/>
                <a:cs typeface="Calibri"/>
              </a:rPr>
              <a:t>1. Observation: kabeln är tillplattad och manteln har en spricka.</a:t>
            </a:r>
          </a:p>
          <a:p xmlns:a="http://schemas.openxmlformats.org/drawingml/2006/main">
            <a:pPr algn="l">
              <a:defRPr sz="2063" b="0">
                <a:solidFill>
                  <a:srgbClr val="111111"/>
                </a:solidFill>
                <a:latin typeface="Calibri"/>
                <a:ea typeface="Calibri"/>
                <a:cs typeface="Calibri"/>
              </a:defRPr>
            </a:pPr>
            <a:r>
              <a:rPr sz="1500" b="0">
                <a:solidFill>
                  <a:srgbClr val="111111"/>
                </a:solidFill>
                <a:latin typeface="Calibri"/>
                <a:ea typeface="Calibri"/>
                <a:cs typeface="Calibri"/>
              </a:rPr>
              <a:t>2. Möjlig händelse: någon håller i maskinen och rör en del där isolationen är trasig.</a:t>
            </a:r>
          </a:p>
          <a:p xmlns:a="http://schemas.openxmlformats.org/drawingml/2006/main">
            <a:pPr algn="l">
              <a:defRPr sz="2063" b="0">
                <a:solidFill>
                  <a:srgbClr val="111111"/>
                </a:solidFill>
                <a:latin typeface="Calibri"/>
                <a:ea typeface="Calibri"/>
                <a:cs typeface="Calibri"/>
              </a:defRPr>
            </a:pPr>
            <a:r>
              <a:rPr sz="1500" b="0">
                <a:solidFill>
                  <a:srgbClr val="111111"/>
                </a:solidFill>
                <a:latin typeface="Calibri"/>
                <a:ea typeface="Calibri"/>
                <a:cs typeface="Calibri"/>
              </a:rPr>
              <a:t>3. Möjlig följd: strömgenomgång, eller att personen tappar maskinen och skadar sig.</a:t>
            </a:r>
          </a:p>
        </p:txBody>
      </p:sp>
      <p:sp>
        <p:nvSpPr>
          <p:cNvPr id="13" name="Spänningssättning är ännu inte verifierad. Den synliga skadan räc">
            <a:extLst xmlns:a="http://schemas.openxmlformats.org/drawingml/2006/main">
              <a:ext uri="{FF2B5EF4-FFF2-40B4-BE49-F238E27FC236}">
                <a16:creationId xmlns:a16="http://schemas.microsoft.com/office/drawing/2014/main" id="{50241143-EF95-482F-83A8-8D61F6C4F2CC}"/>
              </a:ext>
            </a:extLst>
          </p:cNvPr>
          <p:cNvSpPr>
            <a:spLocks xmlns:a="http://schemas.openxmlformats.org/drawingml/2006/main" noGrp="1"/>
          </p:cNvSpPr>
          <p:nvPr/>
        </p:nvSpPr>
        <p:spPr>
          <a:xfrm xmlns:a="http://schemas.openxmlformats.org/drawingml/2006/main">
            <a:off x="762000" y="5372100"/>
            <a:ext cx="3977639"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400" b="0">
                <a:solidFill>
                  <a:srgbClr val="111111"/>
                </a:solidFill>
                <a:latin typeface="Calibri"/>
                <a:ea typeface="Calibri"/>
                <a:cs typeface="Calibri"/>
              </a:rPr>
              <a:t>Ingen vet om kabeln är spänningssatt. Den synliga skadan räcker för att stoppa användningen.</a:t>
            </a:r>
          </a:p>
        </p:txBody>
      </p:sp>
      <p:sp>
        <p:nvSpPr>
          <p:cNvPr id="14" name="9">
            <a:extLst xmlns:a="http://schemas.openxmlformats.org/drawingml/2006/main">
              <a:ext uri="{FF2B5EF4-FFF2-40B4-BE49-F238E27FC236}">
                <a16:creationId xmlns:a16="http://schemas.microsoft.com/office/drawing/2014/main" id="{FA16483C-A3D9-4233-A3B2-F5FD858E71D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9</a:t>
            </a:r>
          </a:p>
        </p:txBody>
      </p:sp>
      <p:pic xmlns:a="http://schemas.openxmlformats.org/drawingml/2006/main" xmlns:r="http://schemas.openxmlformats.org/officeDocument/2006/relationships">
        <p:nvPicPr>
          <p:cNvPr id="16" name="Figur: Vinkelslip på en arbetsbänk vars kabel h" descr="Vinkelslip på en arbetsbänk vars kabel har legat klämd under en tung låda: kabeln är tillplattad och manteln har en spricka; maskinen används inte tills vidare beslut"/>
          <p:cNvPicPr>
            <a:picLocks noChangeAspect="1"/>
          </p:cNvPicPr>
          <p:nvPr/>
        </p:nvPicPr>
        <p:blipFill>
          <a:blip r:embed="rId4"/>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015f90d837ff490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1">
            <a:extLst xmlns:a="http://schemas.openxmlformats.org/drawingml/2006/main">
              <a:ext uri="{FF2B5EF4-FFF2-40B4-BE49-F238E27FC236}">
                <a16:creationId xmlns:a16="http://schemas.microsoft.com/office/drawing/2014/main" id="{5B4CA8C7-0765-472E-9FB5-D7193FC5F079}"/>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1.1</a:t>
            </a:r>
          </a:p>
        </p:txBody>
      </p:sp>
      <p:sp>
        <p:nvSpPr>
          <p:cNvPr id="10" name="Fara + exponering kan leda till skada">
            <a:extLst xmlns:a="http://schemas.openxmlformats.org/drawingml/2006/main">
              <a:ext uri="{FF2B5EF4-FFF2-40B4-BE49-F238E27FC236}">
                <a16:creationId xmlns:a16="http://schemas.microsoft.com/office/drawing/2014/main" id="{1DCF1EEB-E1DE-4DB6-8F8C-9C95C1882E1F}"/>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Fara + exponering kan leda till skada</a:t>
            </a:r>
          </a:p>
        </p:txBody>
      </p:sp>
      <p:sp>
        <p:nvSpPr>
          <p:cNvPr id="11" name="Fukt och kontakt med ledande ytor kan öka möjligheten för ström g">
            <a:extLst xmlns:a="http://schemas.openxmlformats.org/drawingml/2006/main">
              <a:ext uri="{FF2B5EF4-FFF2-40B4-BE49-F238E27FC236}">
                <a16:creationId xmlns:a16="http://schemas.microsoft.com/office/drawing/2014/main" id="{FC4C6C12-7179-44F8-A339-D160E03F7FC4}"/>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Fukt och kontakt med ledande ytor gör det lättare för ström att gå genom kroppen.</a:t>
            </a:r>
          </a:p>
        </p:txBody>
      </p:sp>
      <p:sp>
        <p:nvSpPr>
          <p:cNvPr id="12" name="Förutsättningar: Skadad arbetslampa på vått metalldäck. Spännings">
            <a:extLst xmlns:a="http://schemas.openxmlformats.org/drawingml/2006/main">
              <a:ext uri="{FF2B5EF4-FFF2-40B4-BE49-F238E27FC236}">
                <a16:creationId xmlns:a16="http://schemas.microsoft.com/office/drawing/2014/main" id="{8AAD717C-CFD6-45A9-88CE-A1E00A4EFF07}"/>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skadad arbetslampa på ett vått metalldäck. Spänning och skydd är inte kontrollerade.</a:t>
            </a:r>
          </a:p>
        </p:txBody>
      </p:sp>
      <p:sp>
        <p:nvSpPr>
          <p:cNvPr id="13" name="Arbetsgång: Välj två omständigheter ur fallet och förklara hur va">
            <a:extLst xmlns:a="http://schemas.openxmlformats.org/drawingml/2006/main">
              <a:ext uri="{FF2B5EF4-FFF2-40B4-BE49-F238E27FC236}">
                <a16:creationId xmlns:a16="http://schemas.microsoft.com/office/drawing/2014/main" id="{955E9091-7F36-46AB-9FBF-02AFE4662624}"/>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Välj två omständigheter i fallet och förklara hur var och en ökar risken.</a:t>
            </a:r>
          </a:p>
        </p:txBody>
      </p:sp>
      <p:sp>
        <p:nvSpPr>
          <p:cNvPr id="14" name="10">
            <a:extLst xmlns:a="http://schemas.openxmlformats.org/drawingml/2006/main">
              <a:ext uri="{FF2B5EF4-FFF2-40B4-BE49-F238E27FC236}">
                <a16:creationId xmlns:a16="http://schemas.microsoft.com/office/drawing/2014/main" id="{D6A09ED2-DF15-4F46-AF92-1B79508CBD8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10</a:t>
            </a:r>
          </a:p>
        </p:txBody>
      </p:sp>
    </p:spTree>
    <p:extLst>
      <p:ext uri="{BB962C8B-B14F-4D97-AF65-F5344CB8AC3E}">
        <p14:creationId xmlns:p14="http://schemas.microsoft.com/office/powerpoint/2010/main" val="274799622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881428d06c2f4d6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1">
            <a:extLst xmlns:a="http://schemas.openxmlformats.org/drawingml/2006/main">
              <a:ext uri="{FF2B5EF4-FFF2-40B4-BE49-F238E27FC236}">
                <a16:creationId xmlns:a16="http://schemas.microsoft.com/office/drawing/2014/main" id="{AA68036C-8FC9-4451-9578-CA99FF562F0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1.1</a:t>
            </a:r>
          </a:p>
        </p:txBody>
      </p:sp>
      <p:sp>
        <p:nvSpPr>
          <p:cNvPr id="3" name="Fuktig miljö">
            <a:extLst xmlns:a="http://schemas.openxmlformats.org/drawingml/2006/main">
              <a:ext uri="{FF2B5EF4-FFF2-40B4-BE49-F238E27FC236}">
                <a16:creationId xmlns:a16="http://schemas.microsoft.com/office/drawing/2014/main" id="{3A376C46-2839-415D-B53E-BF9A21087261}"/>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Fuktig miljö</a:t>
            </a:r>
          </a:p>
        </p:txBody>
      </p:sp>
      <p:sp>
        <p:nvSpPr>
          <p:cNvPr id="4" name="En person ska undersöka en skadad arbetslampa på ett vått metalld">
            <a:extLst xmlns:a="http://schemas.openxmlformats.org/drawingml/2006/main">
              <a:ext uri="{FF2B5EF4-FFF2-40B4-BE49-F238E27FC236}">
                <a16:creationId xmlns:a16="http://schemas.microsoft.com/office/drawing/2014/main" id="{FF1A1171-1DB1-4C02-B678-99E515A69D9B}"/>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person ska undersöka en skadad arbetslampa på ett vått metalldäck. Ange två faktorer som ökar risken.</a:t>
            </a:r>
          </a:p>
        </p:txBody>
      </p:sp>
      <p:sp>
        <p:nvSpPr>
          <p:cNvPr id="5" name="Redovisa din beräkning eller motivera ditt beslut.">
            <a:extLst xmlns:a="http://schemas.openxmlformats.org/drawingml/2006/main">
              <a:ext uri="{FF2B5EF4-FFF2-40B4-BE49-F238E27FC236}">
                <a16:creationId xmlns:a16="http://schemas.microsoft.com/office/drawing/2014/main" id="{4FB15004-3E17-4E83-A982-2412148A14C9}"/>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7">
            <a:extLst xmlns:a="http://schemas.openxmlformats.org/drawingml/2006/main">
              <a:ext uri="{FF2B5EF4-FFF2-40B4-BE49-F238E27FC236}">
                <a16:creationId xmlns:a16="http://schemas.microsoft.com/office/drawing/2014/main" id="{54D2FF31-FF52-429E-807D-24FF94172EB0}"/>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11</a:t>
            </a:r>
          </a:p>
        </p:txBody>
      </p:sp>
    </p:spTree>
    <p:extLst>
      <p:ext uri="{BB962C8B-B14F-4D97-AF65-F5344CB8AC3E}">
        <p14:creationId xmlns:p14="http://schemas.microsoft.com/office/powerpoint/2010/main" val="274799622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a2ec67ec803f41fb"/>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2">
            <a:extLst xmlns:a="http://schemas.openxmlformats.org/drawingml/2006/main">
              <a:ext uri="{FF2B5EF4-FFF2-40B4-BE49-F238E27FC236}">
                <a16:creationId xmlns:a16="http://schemas.microsoft.com/office/drawing/2014/main" id="{1387BA4A-8B49-4F5F-AFED-7DAA584723A4}"/>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1.2</a:t>
            </a:r>
          </a:p>
        </p:txBody>
      </p:sp>
      <p:sp>
        <p:nvSpPr>
          <p:cNvPr id="10" name="Strömgenomgång respektive ljusbåge">
            <a:extLst xmlns:a="http://schemas.openxmlformats.org/drawingml/2006/main">
              <a:ext uri="{FF2B5EF4-FFF2-40B4-BE49-F238E27FC236}">
                <a16:creationId xmlns:a16="http://schemas.microsoft.com/office/drawing/2014/main" id="{17B2B8A9-3409-473A-BAC7-FB046430EC3E}"/>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Strömgenomgång respektive ljusbåge</a:t>
            </a:r>
          </a:p>
        </p:txBody>
      </p:sp>
      <p:sp>
        <p:nvSpPr>
          <p:cNvPr id="11" name="Strömgenomgång innebär en strömväg genom kroppen. Ljusbåge kan ge">
            <a:extLst xmlns:a="http://schemas.openxmlformats.org/drawingml/2006/main">
              <a:ext uri="{FF2B5EF4-FFF2-40B4-BE49-F238E27FC236}">
                <a16:creationId xmlns:a16="http://schemas.microsoft.com/office/drawing/2014/main" id="{3C1DEEDF-431A-43AD-A2D2-0F0B86CB3B56}"/>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Vid strömgenomgång går strömmen genom kroppen. En ljusbåge ger värme, tryck och splitter.</a:t>
            </a:r>
          </a:p>
        </p:txBody>
      </p:sp>
      <p:sp>
        <p:nvSpPr>
          <p:cNvPr id="12" name="Förutsättningar: En ljusbåge kan skada även utan att personen ing">
            <a:extLst xmlns:a="http://schemas.openxmlformats.org/drawingml/2006/main">
              <a:ext uri="{FF2B5EF4-FFF2-40B4-BE49-F238E27FC236}">
                <a16:creationId xmlns:a16="http://schemas.microsoft.com/office/drawing/2014/main" id="{029C44F0-3FEE-4605-A926-CBB3A3771FAC}"/>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ljusbåge kan skada även om ingen ström går genom personen.</a:t>
            </a:r>
          </a:p>
        </p:txBody>
      </p:sp>
      <p:sp>
        <p:nvSpPr>
          <p:cNvPr id="13" name="Arbetsgång: Beskriv skademekanismen för varje händelse och ange d">
            <a:extLst xmlns:a="http://schemas.openxmlformats.org/drawingml/2006/main">
              <a:ext uri="{FF2B5EF4-FFF2-40B4-BE49-F238E27FC236}">
                <a16:creationId xmlns:a16="http://schemas.microsoft.com/office/drawing/2014/main" id="{04757BE8-C19F-4371-8DE9-EFBE4118DC1D}"/>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Beskriv hur var och en skadar och ange den viktigaste skillnaden.</a:t>
            </a:r>
          </a:p>
        </p:txBody>
      </p:sp>
      <p:sp>
        <p:nvSpPr>
          <p:cNvPr id="14" name="12">
            <a:extLst xmlns:a="http://schemas.openxmlformats.org/drawingml/2006/main">
              <a:ext uri="{FF2B5EF4-FFF2-40B4-BE49-F238E27FC236}">
                <a16:creationId xmlns:a16="http://schemas.microsoft.com/office/drawing/2014/main" id="{E63CF8EE-E6D2-4DA4-B3FA-67DFCF89DBE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12</a:t>
            </a:r>
          </a:p>
        </p:txBody>
      </p:sp>
    </p:spTree>
    <p:extLst>
      <p:ext uri="{BB962C8B-B14F-4D97-AF65-F5344CB8AC3E}">
        <p14:creationId xmlns:p14="http://schemas.microsoft.com/office/powerpoint/2010/main" val="274799622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d53b79b596af4cc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2">
            <a:extLst xmlns:a="http://schemas.openxmlformats.org/drawingml/2006/main">
              <a:ext uri="{FF2B5EF4-FFF2-40B4-BE49-F238E27FC236}">
                <a16:creationId xmlns:a16="http://schemas.microsoft.com/office/drawing/2014/main" id="{432A613C-E376-48F9-96C6-0179ECCED8C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1.2</a:t>
            </a:r>
          </a:p>
        </p:txBody>
      </p:sp>
      <p:sp>
        <p:nvSpPr>
          <p:cNvPr id="3" name="Två sorters skada">
            <a:extLst xmlns:a="http://schemas.openxmlformats.org/drawingml/2006/main">
              <a:ext uri="{FF2B5EF4-FFF2-40B4-BE49-F238E27FC236}">
                <a16:creationId xmlns:a16="http://schemas.microsoft.com/office/drawing/2014/main" id="{D5021FFC-E292-4C12-8DDE-2425B06CB75D}"/>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Två sorters skada</a:t>
            </a:r>
          </a:p>
        </p:txBody>
      </p:sp>
      <p:sp>
        <p:nvSpPr>
          <p:cNvPr id="4" name="Beskriv skillnaden mellan strömgenomgång och ljusbågsskada.">
            <a:extLst xmlns:a="http://schemas.openxmlformats.org/drawingml/2006/main">
              <a:ext uri="{FF2B5EF4-FFF2-40B4-BE49-F238E27FC236}">
                <a16:creationId xmlns:a16="http://schemas.microsoft.com/office/drawing/2014/main" id="{CDA299BD-A206-4C58-8C47-C4E6CD6D6AD0}"/>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Beskriv skillnaden mellan strömgenomgång och ljusbågsskada.</a:t>
            </a:r>
          </a:p>
        </p:txBody>
      </p:sp>
      <p:sp>
        <p:nvSpPr>
          <p:cNvPr id="5" name="Redovisa din beräkning eller motivera ditt beslut.">
            <a:extLst xmlns:a="http://schemas.openxmlformats.org/drawingml/2006/main">
              <a:ext uri="{FF2B5EF4-FFF2-40B4-BE49-F238E27FC236}">
                <a16:creationId xmlns:a16="http://schemas.microsoft.com/office/drawing/2014/main" id="{161E87B6-E65E-47B7-B884-09D0C505F1D8}"/>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8">
            <a:extLst xmlns:a="http://schemas.openxmlformats.org/drawingml/2006/main">
              <a:ext uri="{FF2B5EF4-FFF2-40B4-BE49-F238E27FC236}">
                <a16:creationId xmlns:a16="http://schemas.microsoft.com/office/drawing/2014/main" id="{A9BF7A7D-FBDB-43E8-A1C6-A92D047C36E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13</a:t>
            </a:r>
          </a:p>
        </p:txBody>
      </p:sp>
    </p:spTree>
    <p:extLst>
      <p:ext uri="{BB962C8B-B14F-4D97-AF65-F5344CB8AC3E}">
        <p14:creationId xmlns:p14="http://schemas.microsoft.com/office/powerpoint/2010/main" val="274799622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f9758ea74372405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3">
            <a:extLst xmlns:a="http://schemas.openxmlformats.org/drawingml/2006/main">
              <a:ext uri="{FF2B5EF4-FFF2-40B4-BE49-F238E27FC236}">
                <a16:creationId xmlns:a16="http://schemas.microsoft.com/office/drawing/2014/main" id="{C5BC7416-0B40-4834-88FD-39D245A4F3E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1.3</a:t>
            </a:r>
          </a:p>
        </p:txBody>
      </p:sp>
      <p:sp>
        <p:nvSpPr>
          <p:cNvPr id="10" name="Uberöring = |VA − VB|">
            <a:extLst xmlns:a="http://schemas.openxmlformats.org/drawingml/2006/main">
              <a:ext uri="{FF2B5EF4-FFF2-40B4-BE49-F238E27FC236}">
                <a16:creationId xmlns:a16="http://schemas.microsoft.com/office/drawing/2014/main" id="{467ABB42-31E7-486C-A9CA-457A80543EC0}"/>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U</a:t>
            </a:r>
            <a:r>
              <a:rPr sz="2400" b="1" baseline="-25000">
                <a:solidFill>
                  <a:srgbClr val="064F91"/>
                </a:solidFill>
                <a:latin typeface="Calibri"/>
                <a:ea typeface="Calibri"/>
                <a:cs typeface="Calibri"/>
              </a:rPr>
              <a:t>beröring</a:t>
            </a:r>
            <a:r>
              <a:rPr sz="2400" b="1">
                <a:solidFill>
                  <a:srgbClr val="064F91"/>
                </a:solidFill>
                <a:latin typeface="Calibri"/>
                <a:ea typeface="Calibri"/>
                <a:cs typeface="Calibri"/>
              </a:rPr>
              <a:t> = |V</a:t>
            </a:r>
            <a:r>
              <a:rPr sz="2400" b="1" baseline="-25000">
                <a:solidFill>
                  <a:srgbClr val="064F91"/>
                </a:solidFill>
                <a:latin typeface="Calibri"/>
                <a:ea typeface="Calibri"/>
                <a:cs typeface="Calibri"/>
              </a:rPr>
              <a:t>A</a:t>
            </a:r>
            <a:r>
              <a:rPr sz="2400" b="1">
                <a:solidFill>
                  <a:srgbClr val="064F91"/>
                </a:solidFill>
                <a:latin typeface="Calibri"/>
                <a:ea typeface="Calibri"/>
                <a:cs typeface="Calibri"/>
              </a:rPr>
              <a:t> − V</a:t>
            </a:r>
            <a:r>
              <a:rPr sz="2400" b="1" baseline="-25000">
                <a:solidFill>
                  <a:srgbClr val="064F91"/>
                </a:solidFill>
                <a:latin typeface="Calibri"/>
                <a:ea typeface="Calibri"/>
                <a:cs typeface="Calibri"/>
              </a:rPr>
              <a:t>B</a:t>
            </a:r>
            <a:r>
              <a:rPr sz="2400" b="1">
                <a:solidFill>
                  <a:srgbClr val="064F91"/>
                </a:solidFill>
                <a:latin typeface="Calibri"/>
                <a:ea typeface="Calibri"/>
                <a:cs typeface="Calibri"/>
              </a:rPr>
              <a:t>|</a:t>
            </a:r>
          </a:p>
        </p:txBody>
      </p:sp>
      <p:sp>
        <p:nvSpPr>
          <p:cNvPr id="11" name="VA och VB är potentialerna hos två punkter som kan beröras samtid">
            <a:extLst xmlns:a="http://schemas.openxmlformats.org/drawingml/2006/main">
              <a:ext uri="{FF2B5EF4-FFF2-40B4-BE49-F238E27FC236}">
                <a16:creationId xmlns:a16="http://schemas.microsoft.com/office/drawing/2014/main" id="{128CF4A6-2A08-45FF-A43B-47D3EA761E9D}"/>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050" b="0">
                <a:solidFill>
                  <a:srgbClr val="111111"/>
                </a:solidFill>
                <a:latin typeface="Calibri"/>
                <a:ea typeface="Calibri"/>
                <a:cs typeface="Calibri"/>
              </a:rPr>
              <a:t>V</a:t>
            </a:r>
            <a:r>
              <a:rPr sz="2050" b="0" baseline="-25000">
                <a:solidFill>
                  <a:srgbClr val="111111"/>
                </a:solidFill>
                <a:latin typeface="Calibri"/>
                <a:ea typeface="Calibri"/>
                <a:cs typeface="Calibri"/>
              </a:rPr>
              <a:t>A</a:t>
            </a:r>
            <a:r>
              <a:rPr sz="2050" b="0">
                <a:solidFill>
                  <a:srgbClr val="111111"/>
                </a:solidFill>
                <a:latin typeface="Calibri"/>
                <a:ea typeface="Calibri"/>
                <a:cs typeface="Calibri"/>
              </a:rPr>
              <a:t> och V</a:t>
            </a:r>
            <a:r>
              <a:rPr sz="2050" b="0" baseline="-25000">
                <a:solidFill>
                  <a:srgbClr val="111111"/>
                </a:solidFill>
                <a:latin typeface="Calibri"/>
                <a:ea typeface="Calibri"/>
                <a:cs typeface="Calibri"/>
              </a:rPr>
              <a:t>B</a:t>
            </a:r>
            <a:r>
              <a:rPr sz="2050" b="0">
                <a:solidFill>
                  <a:srgbClr val="111111"/>
                </a:solidFill>
                <a:latin typeface="Calibri"/>
                <a:ea typeface="Calibri"/>
                <a:cs typeface="Calibri"/>
              </a:rPr>
              <a:t> är potentialen i punkterna A och B, mätt mot samma referens, till exempel skrovet.</a:t>
            </a:r>
          </a:p>
        </p:txBody>
      </p:sp>
      <p:sp>
        <p:nvSpPr>
          <p:cNvPr id="12" name="Förutsättningar: Hölje och ledande struktur skiljer 60 V i potent">
            <a:extLst xmlns:a="http://schemas.openxmlformats.org/drawingml/2006/main">
              <a:ext uri="{FF2B5EF4-FFF2-40B4-BE49-F238E27FC236}">
                <a16:creationId xmlns:a16="http://schemas.microsoft.com/office/drawing/2014/main" id="{1D611550-03D7-41C1-804D-260124D68155}"/>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700" b="0">
                <a:solidFill>
                  <a:srgbClr val="111111"/>
                </a:solidFill>
                <a:latin typeface="Calibri"/>
                <a:ea typeface="Calibri"/>
                <a:cs typeface="Calibri"/>
              </a:rPr>
              <a:t>Förutsättningar: Det är 60 V mellan höljet och konstruktionen. Båda kan röras samtidigt.</a:t>
            </a:r>
          </a:p>
        </p:txBody>
      </p:sp>
      <p:sp>
        <p:nvSpPr>
          <p:cNvPr id="13" name="Arbetsgång: Identifiera de två kontaktpunkterna. Använd deras pot">
            <a:extLst xmlns:a="http://schemas.openxmlformats.org/drawingml/2006/main">
              <a:ext uri="{FF2B5EF4-FFF2-40B4-BE49-F238E27FC236}">
                <a16:creationId xmlns:a16="http://schemas.microsoft.com/office/drawing/2014/main" id="{583426AE-6E18-401B-A39D-F63F07D6BBA0}"/>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Det är skillnaden mellan dem som gäller, inte spänningen mot en godtycklig jordpunkt.</a:t>
            </a:r>
          </a:p>
        </p:txBody>
      </p:sp>
      <p:sp>
        <p:nvSpPr>
          <p:cNvPr id="14" name="14">
            <a:extLst xmlns:a="http://schemas.openxmlformats.org/drawingml/2006/main">
              <a:ext uri="{FF2B5EF4-FFF2-40B4-BE49-F238E27FC236}">
                <a16:creationId xmlns:a16="http://schemas.microsoft.com/office/drawing/2014/main" id="{E94414F8-1C87-46B8-A844-D5F311B5D62D}"/>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14</a:t>
            </a:r>
          </a:p>
        </p:txBody>
      </p:sp>
      <p:pic xmlns:a="http://schemas.openxmlformats.org/drawingml/2006/main" xmlns:r="http://schemas.openxmlformats.org/officeDocument/2006/relationships">
        <p:nvPicPr>
          <p:cNvPr id="16" name="Figur: En person rör samtidigt punkt A på ett h" descr="En person rör samtidigt punkt A på ett hölje och punkt B på en ledande struktur; höljet ligger 60 V över strukturen, beröringsspänningen okänd"/>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747e191df45747e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3">
            <a:extLst xmlns:a="http://schemas.openxmlformats.org/drawingml/2006/main">
              <a:ext uri="{FF2B5EF4-FFF2-40B4-BE49-F238E27FC236}">
                <a16:creationId xmlns:a16="http://schemas.microsoft.com/office/drawing/2014/main" id="{167BA1B3-3953-4F31-AD9F-9BDF4AFFB58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1.3</a:t>
            </a:r>
          </a:p>
        </p:txBody>
      </p:sp>
      <p:sp>
        <p:nvSpPr>
          <p:cNvPr id="3" name="Beröringspunkter">
            <a:extLst xmlns:a="http://schemas.openxmlformats.org/drawingml/2006/main">
              <a:ext uri="{FF2B5EF4-FFF2-40B4-BE49-F238E27FC236}">
                <a16:creationId xmlns:a16="http://schemas.microsoft.com/office/drawing/2014/main" id="{475E4D70-EA34-43AC-9F25-3B3B4DB36EC5}"/>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Beröringspunkter</a:t>
            </a:r>
          </a:p>
        </p:txBody>
      </p:sp>
      <p:sp>
        <p:nvSpPr>
          <p:cNvPr id="4" name="Ett metallhölje ligger 60 V över en närliggande ledande struktur.">
            <a:extLst xmlns:a="http://schemas.openxmlformats.org/drawingml/2006/main">
              <a:ext uri="{FF2B5EF4-FFF2-40B4-BE49-F238E27FC236}">
                <a16:creationId xmlns:a16="http://schemas.microsoft.com/office/drawing/2014/main" id="{0FA6634B-3DDF-4476-A837-DBB8B780755F}"/>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metallhölje ligger 60 V högre än en ledande konstruktion alldeles bredvid. En person kan röra vid båda samtidigt. Vilken spänning är det som gäller för beröringen?</a:t>
            </a:r>
          </a:p>
        </p:txBody>
      </p:sp>
      <p:sp>
        <p:nvSpPr>
          <p:cNvPr id="5" name="Redovisa din beräkning eller motivera ditt beslut.">
            <a:extLst xmlns:a="http://schemas.openxmlformats.org/drawingml/2006/main">
              <a:ext uri="{FF2B5EF4-FFF2-40B4-BE49-F238E27FC236}">
                <a16:creationId xmlns:a16="http://schemas.microsoft.com/office/drawing/2014/main" id="{E62F1D19-2A08-4F32-82D3-DB0170C82EBD}"/>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9">
            <a:extLst xmlns:a="http://schemas.openxmlformats.org/drawingml/2006/main">
              <a:ext uri="{FF2B5EF4-FFF2-40B4-BE49-F238E27FC236}">
                <a16:creationId xmlns:a16="http://schemas.microsoft.com/office/drawing/2014/main" id="{93F23E25-CC42-4AF4-AEA1-52D5940D0D54}"/>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15</a:t>
            </a:r>
          </a:p>
        </p:txBody>
      </p:sp>
    </p:spTree>
    <p:extLst>
      <p:ext uri="{BB962C8B-B14F-4D97-AF65-F5344CB8AC3E}">
        <p14:creationId xmlns:p14="http://schemas.microsoft.com/office/powerpoint/2010/main" val="274799622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a3fdf27a92d46f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4">
            <a:extLst xmlns:a="http://schemas.openxmlformats.org/drawingml/2006/main">
              <a:ext uri="{FF2B5EF4-FFF2-40B4-BE49-F238E27FC236}">
                <a16:creationId xmlns:a16="http://schemas.microsoft.com/office/drawing/2014/main" id="{55CCA8A1-622A-4C24-B274-E9110629A85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1.4</a:t>
            </a:r>
          </a:p>
        </p:txBody>
      </p:sp>
      <p:sp>
        <p:nvSpPr>
          <p:cNvPr id="10" name="I = U/R     I[mA] = 1 000 · I[A]">
            <a:extLst xmlns:a="http://schemas.openxmlformats.org/drawingml/2006/main">
              <a:ext uri="{FF2B5EF4-FFF2-40B4-BE49-F238E27FC236}">
                <a16:creationId xmlns:a16="http://schemas.microsoft.com/office/drawing/2014/main" id="{9625D3A2-5273-460C-9E16-7CD7D6FFF740}"/>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I = U/R; I[mA] = 1 000 · I[A]</a:t>
            </a:r>
          </a:p>
        </p:txBody>
      </p:sp>
      <p:sp>
        <p:nvSpPr>
          <p:cNvPr id="11" name="U är spänning i V och R den antagna resistansen i Ω. Kroppens ver">
            <a:extLst xmlns:a="http://schemas.openxmlformats.org/drawingml/2006/main">
              <a:ext uri="{FF2B5EF4-FFF2-40B4-BE49-F238E27FC236}">
                <a16:creationId xmlns:a16="http://schemas.microsoft.com/office/drawing/2014/main" id="{7742D427-72D5-4C2C-B07B-D9984E70F56C}"/>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850" b="0">
                <a:solidFill>
                  <a:srgbClr val="111111"/>
                </a:solidFill>
                <a:latin typeface="Calibri"/>
                <a:ea typeface="Calibri"/>
                <a:cs typeface="Calibri"/>
              </a:rPr>
              <a:t>R är den antagna resistansen i Ω. Kroppens verkliga resistans varierar mycket.</a:t>
            </a:r>
          </a:p>
        </p:txBody>
      </p:sp>
      <p:sp>
        <p:nvSpPr>
          <p:cNvPr id="12" name="Förutsättningar: Ren resistiv räknemodell: U = 24 V och R = 2 000">
            <a:extLst xmlns:a="http://schemas.openxmlformats.org/drawingml/2006/main">
              <a:ext uri="{FF2B5EF4-FFF2-40B4-BE49-F238E27FC236}">
                <a16:creationId xmlns:a16="http://schemas.microsoft.com/office/drawing/2014/main" id="{63D1710D-2C98-43E6-A64B-A7054092E3A2}"/>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700" b="0">
                <a:solidFill>
                  <a:srgbClr val="111111"/>
                </a:solidFill>
                <a:latin typeface="Calibri"/>
                <a:ea typeface="Calibri"/>
                <a:cs typeface="Calibri"/>
              </a:rPr>
              <a:t>Förutsättningar: Förenklad räknemodell med U = 24 V och R = 2 000 Ω. Värdet på R är antaget.</a:t>
            </a:r>
          </a:p>
        </p:txBody>
      </p:sp>
      <p:sp>
        <p:nvSpPr>
          <p:cNvPr id="13" name="Arbetsgång: Beräkna modellströmmen. Förklara varför ett antaget R">
            <a:extLst xmlns:a="http://schemas.openxmlformats.org/drawingml/2006/main">
              <a:ext uri="{FF2B5EF4-FFF2-40B4-BE49-F238E27FC236}">
                <a16:creationId xmlns:a16="http://schemas.microsoft.com/office/drawing/2014/main" id="{10D39D1D-F87D-4FFD-A0D0-D5C62DBBD674}"/>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Räkna ut strömmen och förklara varför ett antaget R inte kan avgöra vad som är säkert.</a:t>
            </a:r>
          </a:p>
        </p:txBody>
      </p:sp>
      <p:sp>
        <p:nvSpPr>
          <p:cNvPr id="14" name="16">
            <a:extLst xmlns:a="http://schemas.openxmlformats.org/drawingml/2006/main">
              <a:ext uri="{FF2B5EF4-FFF2-40B4-BE49-F238E27FC236}">
                <a16:creationId xmlns:a16="http://schemas.microsoft.com/office/drawing/2014/main" id="{18B3C7AD-CF13-4414-8925-30E88035FBB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16</a:t>
            </a:r>
          </a:p>
        </p:txBody>
      </p:sp>
      <p:pic xmlns:a="http://schemas.openxmlformats.org/drawingml/2006/main" xmlns:r="http://schemas.openxmlformats.org/officeDocument/2006/relationships">
        <p:nvPicPr>
          <p:cNvPr id="16" name="Figur: Räknemodell: 24 V likspänning över en an" descr="Räknemodell: 24 V likspänning över en antagen resistans på 2 000 ohm; strömmen okänd"/>
          <p:cNvPicPr>
            <a:picLocks noChangeAspect="1"/>
          </p:cNvPicPr>
          <p:nvPr/>
        </p:nvPicPr>
        <p:blipFill>
          <a:blip r:embed="rId4"/>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9c11b4bb84ba43b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4">
            <a:extLst xmlns:a="http://schemas.openxmlformats.org/drawingml/2006/main">
              <a:ext uri="{FF2B5EF4-FFF2-40B4-BE49-F238E27FC236}">
                <a16:creationId xmlns:a16="http://schemas.microsoft.com/office/drawing/2014/main" id="{C56DF881-3CED-49F3-B61A-33E58DDEFB7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1.4</a:t>
            </a:r>
          </a:p>
        </p:txBody>
      </p:sp>
      <p:sp>
        <p:nvSpPr>
          <p:cNvPr id="3" name="Räkneexempel med begränsning">
            <a:extLst xmlns:a="http://schemas.openxmlformats.org/drawingml/2006/main">
              <a:ext uri="{FF2B5EF4-FFF2-40B4-BE49-F238E27FC236}">
                <a16:creationId xmlns:a16="http://schemas.microsoft.com/office/drawing/2014/main" id="{B2F461E3-3F2D-4B42-9750-8CF75BE1DEC1}"/>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Räkneexempel med begränsning</a:t>
            </a:r>
          </a:p>
        </p:txBody>
      </p:sp>
      <p:sp>
        <p:nvSpPr>
          <p:cNvPr id="4" name="En ren modell antar U = 24 V och R = 2 000 Ω. Beräkna strömmen. V">
            <a:extLst xmlns:a="http://schemas.openxmlformats.org/drawingml/2006/main">
              <a:ext uri="{FF2B5EF4-FFF2-40B4-BE49-F238E27FC236}">
                <a16:creationId xmlns:a16="http://schemas.microsoft.com/office/drawing/2014/main" id="{1E7C96E6-2D23-4399-8C7D-47CB5C1D762A}"/>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I en förenklad räknemodell är U = 24 V och R = 2 000 Ω. Beräkna strömmen. Varför kan svaret inte användas som en allmän säkerhetsgräns?</a:t>
            </a:r>
          </a:p>
        </p:txBody>
      </p:sp>
      <p:sp>
        <p:nvSpPr>
          <p:cNvPr id="5" name="Redovisa din beräkning eller motivera ditt beslut.">
            <a:extLst xmlns:a="http://schemas.openxmlformats.org/drawingml/2006/main">
              <a:ext uri="{FF2B5EF4-FFF2-40B4-BE49-F238E27FC236}">
                <a16:creationId xmlns:a16="http://schemas.microsoft.com/office/drawing/2014/main" id="{A10C107F-6168-4232-B71C-738CAF60EC38}"/>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Redovisa din beräkning eller motivera ditt beslut.</a:t>
            </a:r>
          </a:p>
        </p:txBody>
      </p:sp>
      <p:sp>
        <p:nvSpPr>
          <p:cNvPr id="6" name="10">
            <a:extLst xmlns:a="http://schemas.openxmlformats.org/drawingml/2006/main">
              <a:ext uri="{FF2B5EF4-FFF2-40B4-BE49-F238E27FC236}">
                <a16:creationId xmlns:a16="http://schemas.microsoft.com/office/drawing/2014/main" id="{6F6F0B79-B49C-4BDB-BCED-B49C583D75D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17</a:t>
            </a:r>
          </a:p>
        </p:txBody>
      </p:sp>
    </p:spTree>
    <p:extLst>
      <p:ext uri="{BB962C8B-B14F-4D97-AF65-F5344CB8AC3E}">
        <p14:creationId xmlns:p14="http://schemas.microsoft.com/office/powerpoint/2010/main" val="274799622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9d0eb515912448b"/>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5">
            <a:extLst xmlns:a="http://schemas.openxmlformats.org/drawingml/2006/main">
              <a:ext uri="{FF2B5EF4-FFF2-40B4-BE49-F238E27FC236}">
                <a16:creationId xmlns:a16="http://schemas.microsoft.com/office/drawing/2014/main" id="{88712ACA-9744-4CEA-BF31-7F8245ED38D9}"/>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1.5</a:t>
            </a:r>
          </a:p>
        </p:txBody>
      </p:sp>
      <p:sp>
        <p:nvSpPr>
          <p:cNvPr id="10" name="Stoppfunktion och frånskiljning har olika uppgifter">
            <a:extLst xmlns:a="http://schemas.openxmlformats.org/drawingml/2006/main">
              <a:ext uri="{FF2B5EF4-FFF2-40B4-BE49-F238E27FC236}">
                <a16:creationId xmlns:a16="http://schemas.microsoft.com/office/drawing/2014/main" id="{B3824277-46A4-410D-ACD4-19FE0F9B940B}"/>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200" b="1">
                <a:solidFill>
                  <a:srgbClr val="064F91"/>
                </a:solidFill>
                <a:latin typeface="Calibri"/>
                <a:ea typeface="Calibri"/>
                <a:cs typeface="Calibri"/>
              </a:rPr>
              <a:t>Stoppfunktion och frånskiljning har olika uppgifter</a:t>
            </a:r>
          </a:p>
        </p:txBody>
      </p:sp>
      <p:sp>
        <p:nvSpPr>
          <p:cNvPr id="11" name="STOPP kan bryta styrningen medan kraftmatning, reservmatning elle">
            <a:extLst xmlns:a="http://schemas.openxmlformats.org/drawingml/2006/main">
              <a:ext uri="{FF2B5EF4-FFF2-40B4-BE49-F238E27FC236}">
                <a16:creationId xmlns:a16="http://schemas.microsoft.com/office/drawing/2014/main" id="{A312E6BB-67DB-4925-BC05-667CB5759156}"/>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850" b="0">
                <a:solidFill>
                  <a:srgbClr val="111111"/>
                </a:solidFill>
                <a:latin typeface="Calibri"/>
                <a:ea typeface="Calibri"/>
                <a:cs typeface="Calibri"/>
              </a:rPr>
              <a:t>STOPP kan bryta styrningen medan kraftmatning, reservmatning eller lagrad energi finns kvar.</a:t>
            </a:r>
          </a:p>
        </p:txBody>
      </p:sp>
      <p:sp>
        <p:nvSpPr>
          <p:cNvPr id="12" name="Förutsättningar: Enda observationen är en släckt panel efter STOP">
            <a:extLst xmlns:a="http://schemas.openxmlformats.org/drawingml/2006/main">
              <a:ext uri="{FF2B5EF4-FFF2-40B4-BE49-F238E27FC236}">
                <a16:creationId xmlns:a16="http://schemas.microsoft.com/office/drawing/2014/main" id="{3D7D820C-5F7B-45DA-A35A-38D7892D95D3}"/>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Förutsättningar: Det enda du vet är att panelen är släckt efter STOPP. Ingen har kontrollerat spänningslösheten.</a:t>
            </a:r>
          </a:p>
        </p:txBody>
      </p:sp>
      <p:sp>
        <p:nvSpPr>
          <p:cNvPr id="13" name="Arbetsgång: Ange vad observationen faktiskt visar och vilken kont">
            <a:extLst xmlns:a="http://schemas.openxmlformats.org/drawingml/2006/main">
              <a:ext uri="{FF2B5EF4-FFF2-40B4-BE49-F238E27FC236}">
                <a16:creationId xmlns:a16="http://schemas.microsoft.com/office/drawing/2014/main" id="{3573C047-2787-4377-A798-9A59FAD1998E}"/>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Ange vad den släckta panelen faktiskt visar och vilken kontroll som fortfarande saknas.</a:t>
            </a:r>
          </a:p>
        </p:txBody>
      </p:sp>
      <p:sp>
        <p:nvSpPr>
          <p:cNvPr id="14" name="18">
            <a:extLst xmlns:a="http://schemas.openxmlformats.org/drawingml/2006/main">
              <a:ext uri="{FF2B5EF4-FFF2-40B4-BE49-F238E27FC236}">
                <a16:creationId xmlns:a16="http://schemas.microsoft.com/office/drawing/2014/main" id="{3929572E-53D9-4CEF-AE45-8B54A9C79F2E}"/>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18</a:t>
            </a:r>
          </a:p>
        </p:txBody>
      </p:sp>
      <p:pic xmlns:a="http://schemas.openxmlformats.org/drawingml/2006/main" xmlns:r="http://schemas.openxmlformats.org/officeDocument/2006/relationships">
        <p:nvPicPr>
          <p:cNvPr id="16" name="Figur: Kraftkrets med frånskiljare i okänt läge" descr="Kraftkrets med frånskiljare i okänt läge, kontaktor K1 och motor; styrkretsen med STOPP bruten och en släckt panel. Frågan är om det är spänningslöst"/>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41b573b09e2146b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5">
            <a:extLst xmlns:a="http://schemas.openxmlformats.org/drawingml/2006/main">
              <a:ext uri="{FF2B5EF4-FFF2-40B4-BE49-F238E27FC236}">
                <a16:creationId xmlns:a16="http://schemas.microsoft.com/office/drawing/2014/main" id="{05B08D63-5C55-4714-A44A-9A459F32A29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1.5</a:t>
            </a:r>
          </a:p>
        </p:txBody>
      </p:sp>
      <p:sp>
        <p:nvSpPr>
          <p:cNvPr id="3" name="Släckt panel">
            <a:extLst xmlns:a="http://schemas.openxmlformats.org/drawingml/2006/main">
              <a:ext uri="{FF2B5EF4-FFF2-40B4-BE49-F238E27FC236}">
                <a16:creationId xmlns:a16="http://schemas.microsoft.com/office/drawing/2014/main" id="{C2CEB57F-1301-44D0-A000-D6767E67C143}"/>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Släckt panel</a:t>
            </a:r>
          </a:p>
        </p:txBody>
      </p:sp>
      <p:sp>
        <p:nvSpPr>
          <p:cNvPr id="4" name="Manöverpanelen är släckt efter STOPP. Varför räcker det inte som ">
            <a:extLst xmlns:a="http://schemas.openxmlformats.org/drawingml/2006/main">
              <a:ext uri="{FF2B5EF4-FFF2-40B4-BE49-F238E27FC236}">
                <a16:creationId xmlns:a16="http://schemas.microsoft.com/office/drawing/2014/main" id="{FC0FFD0C-5706-45B2-B454-EFDEA99CE797}"/>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Manöverpanelen är släckt efter STOPP. Varför bevisar det inte att anläggningen är spänningslös?</a:t>
            </a:r>
          </a:p>
        </p:txBody>
      </p:sp>
      <p:sp>
        <p:nvSpPr>
          <p:cNvPr id="5" name="Redovisa din beräkning eller motivera ditt beslut.">
            <a:extLst xmlns:a="http://schemas.openxmlformats.org/drawingml/2006/main">
              <a:ext uri="{FF2B5EF4-FFF2-40B4-BE49-F238E27FC236}">
                <a16:creationId xmlns:a16="http://schemas.microsoft.com/office/drawing/2014/main" id="{549E8DAF-76A2-4C5C-A8A8-A8569826F520}"/>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1">
            <a:extLst xmlns:a="http://schemas.openxmlformats.org/drawingml/2006/main">
              <a:ext uri="{FF2B5EF4-FFF2-40B4-BE49-F238E27FC236}">
                <a16:creationId xmlns:a16="http://schemas.microsoft.com/office/drawing/2014/main" id="{56973C77-300F-4248-A504-134EE7E45B6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19</a:t>
            </a:r>
          </a:p>
        </p:txBody>
      </p:sp>
    </p:spTree>
    <p:extLst>
      <p:ext uri="{BB962C8B-B14F-4D97-AF65-F5344CB8AC3E}">
        <p14:creationId xmlns:p14="http://schemas.microsoft.com/office/powerpoint/2010/main" val="274799622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7" name="Bildobjekt 2"/>
          <p:cNvPicPr>
            <a:picLocks xmlns:a="http://schemas.openxmlformats.org/drawingml/2006/main" noChangeAspect="1"/>
          </p:cNvPicPr>
          <p:nvPr/>
        </p:nvPicPr>
        <p:blipFill>
          <a:blip xmlns:r="http://schemas.openxmlformats.org/officeDocument/2006/relationships" xmlns:a="http://schemas.openxmlformats.org/drawingml/2006/main" r:embed="Rc0320814c05e4fa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Pass 2">
            <a:extLst xmlns:a="http://schemas.openxmlformats.org/drawingml/2006/main">
              <a:ext uri="{FF2B5EF4-FFF2-40B4-BE49-F238E27FC236}">
                <a16:creationId xmlns:a16="http://schemas.microsoft.com/office/drawing/2014/main" id="{1BFA4991-A40A-4CE1-AA92-AD349CA26E6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Pass 2</a:t>
            </a:r>
          </a:p>
        </p:txBody>
      </p:sp>
      <p:sp>
        <p:nvSpPr>
          <p:cNvPr id="3" name="Risker i marin miljö&#10;En inträffad elolycka&#10;Tillbud och lärande">
            <a:extLst xmlns:a="http://schemas.openxmlformats.org/drawingml/2006/main">
              <a:ext uri="{FF2B5EF4-FFF2-40B4-BE49-F238E27FC236}">
                <a16:creationId xmlns:a16="http://schemas.microsoft.com/office/drawing/2014/main" id="{AE3B4BEB-90E5-433E-9505-D717E1197D98}"/>
              </a:ext>
            </a:extLst>
          </p:cNvPr>
          <p:cNvSpPr>
            <a:spLocks xmlns:a="http://schemas.openxmlformats.org/drawingml/2006/main" noGrp="1"/>
          </p:cNvSpPr>
          <p:nvPr/>
        </p:nvSpPr>
        <p:spPr>
          <a:xfrm xmlns:a="http://schemas.openxmlformats.org/drawingml/2006/main">
            <a:off x="762000" y="1981200"/>
            <a:ext cx="7620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Risker i marin miljö</a:t>
            </a:r>
          </a:p>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En inträffad elolycka</a:t>
            </a:r>
          </a:p>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Tillbud och lärande</a:t>
            </a:r>
          </a:p>
        </p:txBody>
      </p:sp>
      <p:sp>
        <p:nvSpPr>
          <p:cNvPr id="4" name="Teori och exempel följs av övning 6–10.&#10;Lösningar och facit ligge">
            <a:extLst xmlns:a="http://schemas.openxmlformats.org/drawingml/2006/main">
              <a:ext uri="{FF2B5EF4-FFF2-40B4-BE49-F238E27FC236}">
                <a16:creationId xmlns:a16="http://schemas.microsoft.com/office/drawing/2014/main" id="{FD7DC758-B21F-4851-A4D5-01F00A7B5A6C}"/>
              </a:ext>
            </a:extLst>
          </p:cNvPr>
          <p:cNvSpPr>
            <a:spLocks xmlns:a="http://schemas.openxmlformats.org/drawingml/2006/main" noGrp="1"/>
          </p:cNvSpPr>
          <p:nvPr/>
        </p:nvSpPr>
        <p:spPr>
          <a:xfrm xmlns:a="http://schemas.openxmlformats.org/drawingml/2006/main">
            <a:off x="762000" y="4686300"/>
            <a:ext cx="7620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Teori och exempel följs av övning 1.6–1.10.</a:t>
            </a:r>
          </a:p>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Redovisa din metod och diskutera resultaten i gruppen.</a:t>
            </a:r>
          </a:p>
        </p:txBody>
      </p:sp>
      <p:sp>
        <p:nvSpPr>
          <p:cNvPr id="5" name="12">
            <a:extLst xmlns:a="http://schemas.openxmlformats.org/drawingml/2006/main">
              <a:ext uri="{FF2B5EF4-FFF2-40B4-BE49-F238E27FC236}">
                <a16:creationId xmlns:a16="http://schemas.microsoft.com/office/drawing/2014/main" id="{8FC8A5BB-60F4-4E03-925E-92A042CEA0A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20</a:t>
            </a:r>
          </a:p>
        </p:txBody>
      </p:sp>
    </p:spTree>
    <p:extLst>
      <p:ext uri="{BB962C8B-B14F-4D97-AF65-F5344CB8AC3E}">
        <p14:creationId xmlns:p14="http://schemas.microsoft.com/office/powerpoint/2010/main" val="274799622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6d16fbc17655489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Risker i marin miljö">
            <a:extLst xmlns:a="http://schemas.openxmlformats.org/drawingml/2006/main">
              <a:ext uri="{FF2B5EF4-FFF2-40B4-BE49-F238E27FC236}">
                <a16:creationId xmlns:a16="http://schemas.microsoft.com/office/drawing/2014/main" id="{1A2BA673-B7CF-4657-B7E7-216F17C1EC7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Risker i marin miljö</a:t>
            </a:r>
          </a:p>
        </p:txBody>
      </p:sp>
      <p:sp>
        <p:nvSpPr>
          <p:cNvPr id="3" name="Fukt, trånga utrymmen och ledande omgivning påverkar arbetet.&#10;Res">
            <a:extLst xmlns:a="http://schemas.openxmlformats.org/drawingml/2006/main">
              <a:ext uri="{FF2B5EF4-FFF2-40B4-BE49-F238E27FC236}">
                <a16:creationId xmlns:a16="http://schemas.microsoft.com/office/drawing/2014/main" id="{5D7C3E6D-CB1D-4C23-BCCB-E073917CB0D5}"/>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Fukt, trånga utrymmen och ledande omgivning påverkar arbetet.</a:t>
            </a:r>
          </a:p>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Reservmatning och batterier kan ge flera energikällor.</a:t>
            </a:r>
          </a:p>
        </p:txBody>
      </p:sp>
      <p:sp>
        <p:nvSpPr>
          <p:cNvPr id="4" name="Varje möjlig matningsväg behöver identifieras">
            <a:extLst xmlns:a="http://schemas.openxmlformats.org/drawingml/2006/main">
              <a:ext uri="{FF2B5EF4-FFF2-40B4-BE49-F238E27FC236}">
                <a16:creationId xmlns:a16="http://schemas.microsoft.com/office/drawing/2014/main" id="{E62C02B2-D9C2-407A-936D-154B69C50E91}"/>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500" b="1">
                <a:solidFill>
                  <a:srgbClr val="064F91"/>
                </a:solidFill>
                <a:latin typeface="Calibri"/>
                <a:ea typeface="Calibri"/>
                <a:cs typeface="Calibri"/>
              </a:rPr>
              <a:t>Varje möjlig matningsväg behöver identifieras</a:t>
            </a:r>
          </a:p>
        </p:txBody>
      </p:sp>
      <p:sp>
        <p:nvSpPr>
          <p:cNvPr id="5" name="Ett stoppat aggregat eller släckt manöverpanel visar inte&#10;att arb">
            <a:extLst xmlns:a="http://schemas.openxmlformats.org/drawingml/2006/main">
              <a:ext uri="{FF2B5EF4-FFF2-40B4-BE49-F238E27FC236}">
                <a16:creationId xmlns:a16="http://schemas.microsoft.com/office/drawing/2014/main" id="{17E23590-3EBD-4EE5-8CBD-72864E01B0E5}"/>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Ett stoppat aggregat eller släckt manöverpanel visar inte</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att arbetsområdet är säkert att beröra.</a:t>
            </a:r>
          </a:p>
        </p:txBody>
      </p:sp>
      <p:sp>
        <p:nvSpPr>
          <p:cNvPr id="6" name="13">
            <a:extLst xmlns:a="http://schemas.openxmlformats.org/drawingml/2006/main">
              <a:ext uri="{FF2B5EF4-FFF2-40B4-BE49-F238E27FC236}">
                <a16:creationId xmlns:a16="http://schemas.microsoft.com/office/drawing/2014/main" id="{3AB6226D-60B0-4787-ABF8-3D155F45A3F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21</a:t>
            </a:r>
          </a:p>
        </p:txBody>
      </p:sp>
      <p:pic xmlns:a="http://schemas.openxmlformats.org/drawingml/2006/main" xmlns:r="http://schemas.openxmlformats.org/officeDocument/2006/relationships">
        <p:nvPicPr>
          <p:cNvPr id="9" name="Figur: Fördelning som kan matas från generator," descr="Fördelning som kan matas från generator, nödgenerator med autostart, landanslutning, batteri och UPS"/>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04ddb99f7e954cc7"/>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En inträffad elolycka">
            <a:extLst xmlns:a="http://schemas.openxmlformats.org/drawingml/2006/main">
              <a:ext uri="{FF2B5EF4-FFF2-40B4-BE49-F238E27FC236}">
                <a16:creationId xmlns:a16="http://schemas.microsoft.com/office/drawing/2014/main" id="{D045FFAA-4B49-4217-B204-952D807AE94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En inträffad elolycka</a:t>
            </a:r>
          </a:p>
        </p:txBody>
      </p:sp>
      <p:sp>
        <p:nvSpPr>
          <p:cNvPr id="3" name="Skydda dig själv och bryt energitillförseln om det kan ske säkert">
            <a:extLst xmlns:a="http://schemas.openxmlformats.org/drawingml/2006/main">
              <a:ext uri="{FF2B5EF4-FFF2-40B4-BE49-F238E27FC236}">
                <a16:creationId xmlns:a16="http://schemas.microsoft.com/office/drawing/2014/main" id="{7204B649-34D6-4A45-8790-3D2D248BAB79}"/>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Skydda dig själv och bryt energitillförseln om det kan ske säkert.</a:t>
            </a:r>
          </a:p>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Larma enligt fartygets nödinstruktion. I hamn: 112.</a:t>
            </a:r>
          </a:p>
        </p:txBody>
      </p:sp>
      <p:sp>
        <p:nvSpPr>
          <p:cNvPr id="4" name="Kontakta sjukvården efter strömgenomgång">
            <a:extLst xmlns:a="http://schemas.openxmlformats.org/drawingml/2006/main">
              <a:ext uri="{FF2B5EF4-FFF2-40B4-BE49-F238E27FC236}">
                <a16:creationId xmlns:a16="http://schemas.microsoft.com/office/drawing/2014/main" id="{494B7D44-5291-4E99-AA81-F255EB3877F3}"/>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550" b="1">
                <a:solidFill>
                  <a:srgbClr val="064F91"/>
                </a:solidFill>
                <a:latin typeface="Calibri"/>
                <a:ea typeface="Calibri"/>
                <a:cs typeface="Calibri"/>
              </a:rPr>
              <a:t>Till sjöss: radiomedicinsk rådgivning (TMAS)</a:t>
            </a:r>
          </a:p>
        </p:txBody>
      </p:sp>
      <p:sp>
        <p:nvSpPr>
          <p:cNvPr id="5" name="När platsen är säker: bedöm andning och ge HLR vid behov.&#10;Vid hög">
            <a:extLst xmlns:a="http://schemas.openxmlformats.org/drawingml/2006/main">
              <a:ext uri="{FF2B5EF4-FFF2-40B4-BE49-F238E27FC236}">
                <a16:creationId xmlns:a16="http://schemas.microsoft.com/office/drawing/2014/main" id="{2A1991A5-9ED0-437C-93D3-A3138C5333E8}"/>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1700" b="0">
                <a:solidFill>
                  <a:srgbClr val="111111"/>
                </a:solidFill>
                <a:latin typeface="Calibri"/>
                <a:ea typeface="Calibri"/>
                <a:cs typeface="Calibri"/>
              </a:rPr>
              <a:t>När platsen är säker: bedöm andning och ge HLR vid behov.</a:t>
            </a:r>
          </a:p>
          <a:p xmlns:a="http://schemas.openxmlformats.org/drawingml/2006/main">
            <a:pPr algn="l">
              <a:buNone/>
              <a:defRPr sz="2250" b="0">
                <a:solidFill>
                  <a:srgbClr val="111111"/>
                </a:solidFill>
                <a:latin typeface="Calibri"/>
                <a:ea typeface="Calibri"/>
                <a:cs typeface="Calibri"/>
              </a:defRPr>
            </a:pPr>
            <a:r>
              <a:rPr sz="1700" b="0">
                <a:solidFill>
                  <a:srgbClr val="111111"/>
                </a:solidFill>
                <a:latin typeface="Calibri"/>
                <a:ea typeface="Calibri"/>
                <a:cs typeface="Calibri"/>
              </a:rPr>
              <a:t>Vid högspänning håll avstånd tills behörig person säkrat platsen.</a:t>
            </a:r>
          </a:p>
        </p:txBody>
      </p:sp>
      <p:sp>
        <p:nvSpPr>
          <p:cNvPr id="6" name="14">
            <a:extLst xmlns:a="http://schemas.openxmlformats.org/drawingml/2006/main">
              <a:ext uri="{FF2B5EF4-FFF2-40B4-BE49-F238E27FC236}">
                <a16:creationId xmlns:a16="http://schemas.microsoft.com/office/drawing/2014/main" id="{09748B7D-FDCC-490E-9104-FF85EBBB2B5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22</a:t>
            </a:r>
          </a:p>
        </p:txBody>
      </p:sp>
      <p:pic xmlns:a="http://schemas.openxmlformats.org/drawingml/2006/main" xmlns:r="http://schemas.openxmlformats.org/officeDocument/2006/relationships">
        <p:nvPicPr>
          <p:cNvPr id="9" name="Figur: Fem steg vid en elolycka ombord: skydda " descr="Fem steg vid en elolycka ombord: skydda dig själv, bryt strömmen om det går säkert, larma enligt nödinstruktionen, andning och HLR när platsen är säker, medicinsk rådgivning. Till sjöss TMAS via JRCC, i hamn 112"/>
          <p:cNvPicPr>
            <a:picLocks noChangeAspect="1"/>
          </p:cNvPicPr>
          <p:nvPr/>
        </p:nvPicPr>
        <p:blipFill>
          <a:blip r:embed="rId3"/>
          <a:stretch>
            <a:fillRect/>
          </a:stretch>
        </p:blipFill>
        <p:spPr>
          <a:xfrm>
            <a:off x="4892040" y="1645920"/>
            <a:ext cx="3886200" cy="3976745"/>
          </a:xfrm>
          <a:prstGeom prst="rect">
            <a:avLst/>
          </a:prstGeom>
        </p:spPr>
      </p:pic>
    </p:spTree>
    <p:extLst>
      <p:ext uri="{BB962C8B-B14F-4D97-AF65-F5344CB8AC3E}">
        <p14:creationId xmlns:p14="http://schemas.microsoft.com/office/powerpoint/2010/main" val="274799622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cd2a143aedfd4df6"/>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Tillbud och lärande">
            <a:extLst xmlns:a="http://schemas.openxmlformats.org/drawingml/2006/main">
              <a:ext uri="{FF2B5EF4-FFF2-40B4-BE49-F238E27FC236}">
                <a16:creationId xmlns:a16="http://schemas.microsoft.com/office/drawing/2014/main" id="{F484A7BA-29FE-485C-B354-59391C2E621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Tillbud och lärande</a:t>
            </a:r>
          </a:p>
        </p:txBody>
      </p:sp>
      <p:sp>
        <p:nvSpPr>
          <p:cNvPr id="3" name="Ett tillbud har kunnat leda till skada även om ingen skadades.&#10;Do">
            <a:extLst xmlns:a="http://schemas.openxmlformats.org/drawingml/2006/main">
              <a:ext uri="{FF2B5EF4-FFF2-40B4-BE49-F238E27FC236}">
                <a16:creationId xmlns:a16="http://schemas.microsoft.com/office/drawing/2014/main" id="{86E17ED4-648B-4F65-A9FE-93B8968D9C35}"/>
              </a:ext>
            </a:extLst>
          </p:cNvPr>
          <p:cNvSpPr>
            <a:spLocks xmlns:a="http://schemas.openxmlformats.org/drawingml/2006/main" noGrp="1"/>
          </p:cNvSpPr>
          <p:nvPr/>
        </p:nvSpPr>
        <p:spPr>
          <a:xfrm xmlns:a="http://schemas.openxmlformats.org/drawingml/2006/main">
            <a:off x="762000" y="1619250"/>
            <a:ext cx="7620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tillbud har kunnat leda till skada även om ingen skadades.</a:t>
            </a:r>
          </a:p>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Dokumentera händelseförlopp och brister i skydden.</a:t>
            </a:r>
          </a:p>
        </p:txBody>
      </p:sp>
      <p:sp>
        <p:nvSpPr>
          <p:cNvPr id="4" name="Observation, bakomliggande orsak, åtgärd">
            <a:extLst xmlns:a="http://schemas.openxmlformats.org/drawingml/2006/main">
              <a:ext uri="{FF2B5EF4-FFF2-40B4-BE49-F238E27FC236}">
                <a16:creationId xmlns:a16="http://schemas.microsoft.com/office/drawing/2014/main" id="{1A6399F1-A034-40C3-A33C-437CABF1D1CB}"/>
              </a:ext>
            </a:extLst>
          </p:cNvPr>
          <p:cNvSpPr>
            <a:spLocks xmlns:a="http://schemas.openxmlformats.org/drawingml/2006/main" noGrp="1"/>
          </p:cNvSpPr>
          <p:nvPr/>
        </p:nvSpPr>
        <p:spPr>
          <a:xfrm xmlns:a="http://schemas.openxmlformats.org/drawingml/2006/main">
            <a:off x="762000" y="3200400"/>
            <a:ext cx="7620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925" b="1">
                <a:solidFill>
                  <a:srgbClr val="064F91"/>
                </a:solidFill>
                <a:latin typeface="Calibri"/>
                <a:ea typeface="Calibri"/>
                <a:cs typeface="Calibri"/>
              </a:rPr>
              <a:t>Observation, bakomliggande orsak, åtgärd</a:t>
            </a:r>
          </a:p>
        </p:txBody>
      </p:sp>
      <p:sp>
        <p:nvSpPr>
          <p:cNvPr id="5" name="”Proben var skadad” beskriver observationen.&#10;”Ingen förkontroll i">
            <a:extLst xmlns:a="http://schemas.openxmlformats.org/drawingml/2006/main">
              <a:ext uri="{FF2B5EF4-FFF2-40B4-BE49-F238E27FC236}">
                <a16:creationId xmlns:a16="http://schemas.microsoft.com/office/drawing/2014/main" id="{9421F8EE-D0D6-469C-98E9-86BA26FC83F7}"/>
              </a:ext>
            </a:extLst>
          </p:cNvPr>
          <p:cNvSpPr>
            <a:spLocks xmlns:a="http://schemas.openxmlformats.org/drawingml/2006/main" noGrp="1"/>
          </p:cNvSpPr>
          <p:nvPr/>
        </p:nvSpPr>
        <p:spPr>
          <a:xfrm xmlns:a="http://schemas.openxmlformats.org/drawingml/2006/main">
            <a:off x="762000" y="4429125"/>
            <a:ext cx="7620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”Proben var skadad” beskriver observationen.</a:t>
            </a:r>
          </a:p>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”Ingen förkontroll ingick” kan förklara varför risken kvarstod.</a:t>
            </a:r>
          </a:p>
        </p:txBody>
      </p:sp>
      <p:sp>
        <p:nvSpPr>
          <p:cNvPr id="6" name="15">
            <a:extLst xmlns:a="http://schemas.openxmlformats.org/drawingml/2006/main">
              <a:ext uri="{FF2B5EF4-FFF2-40B4-BE49-F238E27FC236}">
                <a16:creationId xmlns:a16="http://schemas.microsoft.com/office/drawing/2014/main" id="{01476D71-AF23-4500-91B3-14F3457C26DB}"/>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23</a:t>
            </a:r>
          </a:p>
        </p:txBody>
      </p:sp>
    </p:spTree>
    <p:extLst>
      <p:ext uri="{BB962C8B-B14F-4D97-AF65-F5344CB8AC3E}">
        <p14:creationId xmlns:p14="http://schemas.microsoft.com/office/powerpoint/2010/main" val="274799622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cbc798c3d8e402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xempel: tillbud och förbättring">
            <a:extLst xmlns:a="http://schemas.openxmlformats.org/drawingml/2006/main">
              <a:ext uri="{FF2B5EF4-FFF2-40B4-BE49-F238E27FC236}">
                <a16:creationId xmlns:a16="http://schemas.microsoft.com/office/drawing/2014/main" id="{C6663AFB-9CF7-468F-B96D-7A7DB11DEF8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Exempel: tillbud och förbättring</a:t>
            </a:r>
          </a:p>
        </p:txBody>
      </p:sp>
      <p:sp>
        <p:nvSpPr>
          <p:cNvPr id="10" name="En skadad prob upptäcks före användning. Mätningen har ännu inte ">
            <a:extLst xmlns:a="http://schemas.openxmlformats.org/drawingml/2006/main">
              <a:ext uri="{FF2B5EF4-FFF2-40B4-BE49-F238E27FC236}">
                <a16:creationId xmlns:a16="http://schemas.microsoft.com/office/drawing/2014/main" id="{CD3ABF0C-B9AE-49F7-81AA-7D37B60CDFE6}"/>
              </a:ext>
            </a:extLst>
          </p:cNvPr>
          <p:cNvSpPr>
            <a:spLocks xmlns:a="http://schemas.openxmlformats.org/drawingml/2006/main" noGrp="1"/>
          </p:cNvSpPr>
          <p:nvPr/>
        </p:nvSpPr>
        <p:spPr>
          <a:xfrm xmlns:a="http://schemas.openxmlformats.org/drawingml/2006/main">
            <a:off x="762000" y="1571625"/>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Ett låsbleck för frånskiljaren är böjt och går inte att stänga. Det upptäcks innan arbetet börjar.</a:t>
            </a:r>
          </a:p>
        </p:txBody>
      </p:sp>
      <p:sp>
        <p:nvSpPr>
          <p:cNvPr id="11" name="Direkt åtgärd och förebyggande kontroll">
            <a:extLst xmlns:a="http://schemas.openxmlformats.org/drawingml/2006/main">
              <a:ext uri="{FF2B5EF4-FFF2-40B4-BE49-F238E27FC236}">
                <a16:creationId xmlns:a16="http://schemas.microsoft.com/office/drawing/2014/main" id="{E92D8A2E-386A-4BFA-9147-C4451CD7042C}"/>
              </a:ext>
            </a:extLst>
          </p:cNvPr>
          <p:cNvSpPr>
            <a:spLocks xmlns:a="http://schemas.openxmlformats.org/drawingml/2006/main" noGrp="1"/>
          </p:cNvSpPr>
          <p:nvPr/>
        </p:nvSpPr>
        <p:spPr>
          <a:xfrm xmlns:a="http://schemas.openxmlformats.org/drawingml/2006/main">
            <a:off x="762000" y="2705100"/>
            <a:ext cx="762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64F91"/>
                </a:solidFill>
                <a:latin typeface="Calibri"/>
                <a:ea typeface="Calibri"/>
                <a:cs typeface="Calibri"/>
              </a:defRPr>
            </a:pPr>
            <a:r>
              <a:rPr sz="2325" b="1">
                <a:solidFill>
                  <a:srgbClr val="064F91"/>
                </a:solidFill>
                <a:latin typeface="Calibri"/>
                <a:ea typeface="Calibri"/>
                <a:cs typeface="Calibri"/>
              </a:rPr>
              <a:t>Direkt åtgärd och förebyggande kontroll</a:t>
            </a:r>
          </a:p>
        </p:txBody>
      </p:sp>
      <p:sp>
        <p:nvSpPr>
          <p:cNvPr id="12" name="1. Ta den skadade proben ur bruk och märk enligt rutinen.&#10;2. Ordn">
            <a:extLst xmlns:a="http://schemas.openxmlformats.org/drawingml/2006/main">
              <a:ext uri="{FF2B5EF4-FFF2-40B4-BE49-F238E27FC236}">
                <a16:creationId xmlns:a16="http://schemas.microsoft.com/office/drawing/2014/main" id="{10293325-7845-4999-8117-744105CA26D5}"/>
              </a:ext>
            </a:extLst>
          </p:cNvPr>
          <p:cNvSpPr>
            <a:spLocks xmlns:a="http://schemas.openxmlformats.org/drawingml/2006/main" noGrp="1"/>
          </p:cNvSpPr>
          <p:nvPr/>
        </p:nvSpPr>
        <p:spPr>
          <a:xfrm xmlns:a="http://schemas.openxmlformats.org/drawingml/2006/main">
            <a:off x="762000" y="3657600"/>
            <a:ext cx="7620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1. Ta det böjda låsblecket ur bruk och märk det enligt rutinen.</a:t>
            </a:r>
          </a:p>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2. Hämta ett helt låsbleck innan frånskiljaren låses.</a:t>
            </a:r>
          </a:p>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3. Följ upp hur skadan uppstod och om låsutrustningen kontrolleras före användning.</a:t>
            </a:r>
          </a:p>
        </p:txBody>
      </p:sp>
      <p:sp>
        <p:nvSpPr>
          <p:cNvPr id="13" name="Rapporten skiljer vad som observerats från antagen orsak. Åtgärde">
            <a:extLst xmlns:a="http://schemas.openxmlformats.org/drawingml/2006/main">
              <a:ext uri="{FF2B5EF4-FFF2-40B4-BE49-F238E27FC236}">
                <a16:creationId xmlns:a16="http://schemas.microsoft.com/office/drawing/2014/main" id="{18EC648C-02C3-4B91-B60A-EDA652366C35}"/>
              </a:ext>
            </a:extLst>
          </p:cNvPr>
          <p:cNvSpPr>
            <a:spLocks xmlns:a="http://schemas.openxmlformats.org/drawingml/2006/main" noGrp="1"/>
          </p:cNvSpPr>
          <p:nvPr/>
        </p:nvSpPr>
        <p:spPr>
          <a:xfrm xmlns:a="http://schemas.openxmlformats.org/drawingml/2006/main">
            <a:off x="762000" y="537210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Rapporten skiljer vad som observerats från antagen orsak. Åtgärden ska kunna följas upp.</a:t>
            </a:r>
          </a:p>
        </p:txBody>
      </p:sp>
      <p:sp>
        <p:nvSpPr>
          <p:cNvPr id="14" name="24">
            <a:extLst xmlns:a="http://schemas.openxmlformats.org/drawingml/2006/main">
              <a:ext uri="{FF2B5EF4-FFF2-40B4-BE49-F238E27FC236}">
                <a16:creationId xmlns:a16="http://schemas.microsoft.com/office/drawing/2014/main" id="{1A6F32A0-2292-41F9-B95C-41376F863A7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24</a:t>
            </a:r>
          </a:p>
        </p:txBody>
      </p:sp>
    </p:spTree>
    <p:extLst>
      <p:ext uri="{BB962C8B-B14F-4D97-AF65-F5344CB8AC3E}">
        <p14:creationId xmlns:p14="http://schemas.microsoft.com/office/powerpoint/2010/main" val="274799622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8e5326fb7319451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6">
            <a:extLst xmlns:a="http://schemas.openxmlformats.org/drawingml/2006/main">
              <a:ext uri="{FF2B5EF4-FFF2-40B4-BE49-F238E27FC236}">
                <a16:creationId xmlns:a16="http://schemas.microsoft.com/office/drawing/2014/main" id="{F4F405CE-A3CB-4DBA-BF08-0423FF99C47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1.6</a:t>
            </a:r>
          </a:p>
        </p:txBody>
      </p:sp>
      <p:sp>
        <p:nvSpPr>
          <p:cNvPr id="10" name="Ifel ≈ U/Rslinga i en enkel modell">
            <a:extLst xmlns:a="http://schemas.openxmlformats.org/drawingml/2006/main">
              <a:ext uri="{FF2B5EF4-FFF2-40B4-BE49-F238E27FC236}">
                <a16:creationId xmlns:a16="http://schemas.microsoft.com/office/drawing/2014/main" id="{0376DACF-8816-45F7-8578-8113807A622D}"/>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I</a:t>
            </a:r>
            <a:r>
              <a:rPr sz="2400" b="1" baseline="-25000">
                <a:solidFill>
                  <a:srgbClr val="064F91"/>
                </a:solidFill>
                <a:latin typeface="Calibri"/>
                <a:ea typeface="Calibri"/>
                <a:cs typeface="Calibri"/>
              </a:rPr>
              <a:t>fel</a:t>
            </a:r>
            <a:r>
              <a:rPr sz="2400" b="1">
                <a:solidFill>
                  <a:srgbClr val="064F91"/>
                </a:solidFill>
                <a:latin typeface="Calibri"/>
                <a:ea typeface="Calibri"/>
                <a:cs typeface="Calibri"/>
              </a:rPr>
              <a:t> ≈ U/R</a:t>
            </a:r>
            <a:r>
              <a:rPr sz="2400" b="1" baseline="-25000">
                <a:solidFill>
                  <a:srgbClr val="064F91"/>
                </a:solidFill>
                <a:latin typeface="Calibri"/>
                <a:ea typeface="Calibri"/>
                <a:cs typeface="Calibri"/>
              </a:rPr>
              <a:t>slinga</a:t>
            </a:r>
            <a:r>
              <a:rPr sz="2400" b="1">
                <a:solidFill>
                  <a:srgbClr val="064F91"/>
                </a:solidFill>
                <a:latin typeface="Calibri"/>
                <a:ea typeface="Calibri"/>
                <a:cs typeface="Calibri"/>
              </a:rPr>
              <a:t> i en enkel modell</a:t>
            </a:r>
          </a:p>
        </p:txBody>
      </p:sp>
      <p:sp>
        <p:nvSpPr>
          <p:cNvPr id="11" name="Även vid låg spänning kan liten total resistans ge stor kortslutn">
            <a:extLst xmlns:a="http://schemas.openxmlformats.org/drawingml/2006/main">
              <a:ext uri="{FF2B5EF4-FFF2-40B4-BE49-F238E27FC236}">
                <a16:creationId xmlns:a16="http://schemas.microsoft.com/office/drawing/2014/main" id="{37B55DA7-6ED4-4743-BBED-D9F003F5840B}"/>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700" b="0">
                <a:solidFill>
                  <a:srgbClr val="111111"/>
                </a:solidFill>
                <a:latin typeface="Calibri"/>
                <a:ea typeface="Calibri"/>
                <a:cs typeface="Calibri"/>
              </a:rPr>
              <a:t>Även vid låg spänning kan liten total resistans ge stor kortslutningsström och kraftig uppvärmning.</a:t>
            </a:r>
          </a:p>
        </p:txBody>
      </p:sp>
      <p:sp>
        <p:nvSpPr>
          <p:cNvPr id="12" name="Förutsättningar: 24 V-batteri med stor kortslutningsförmåga. Inge">
            <a:extLst xmlns:a="http://schemas.openxmlformats.org/drawingml/2006/main">
              <a:ext uri="{FF2B5EF4-FFF2-40B4-BE49-F238E27FC236}">
                <a16:creationId xmlns:a16="http://schemas.microsoft.com/office/drawing/2014/main" id="{4D8561AA-0220-4025-8734-295700E4392D}"/>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Förutsättningar: Ett 24 V-batteri som kan ge stor kortslutningsström. Felkretsens resistans är inte känd, så strömmen kan inte räknas ut.</a:t>
            </a:r>
          </a:p>
        </p:txBody>
      </p:sp>
      <p:sp>
        <p:nvSpPr>
          <p:cNvPr id="13" name="Arbetsgång: Beskriv en följd av hög felström, exempelvis värme el">
            <a:extLst xmlns:a="http://schemas.openxmlformats.org/drawingml/2006/main">
              <a:ext uri="{FF2B5EF4-FFF2-40B4-BE49-F238E27FC236}">
                <a16:creationId xmlns:a16="http://schemas.microsoft.com/office/drawing/2014/main" id="{724ED737-8353-4CA1-9E85-3401EE404401}"/>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Vad händer i slingan när </a:t>
            </a:r>
            <a:r>
              <a:rPr sz="2025" b="0">
                <a:solidFill>
                  <a:srgbClr val="111111"/>
                </a:solidFill>
                <a:latin typeface="Calibri"/>
                <a:ea typeface="Calibri"/>
                <a:cs typeface="Calibri"/>
              </a:rPr>
              <a:t>R</a:t>
            </a:r>
            <a:r>
              <a:rPr sz="2025" b="0" baseline="-25000">
                <a:solidFill>
                  <a:srgbClr val="111111"/>
                </a:solidFill>
                <a:latin typeface="Calibri"/>
                <a:ea typeface="Calibri"/>
                <a:cs typeface="Calibri"/>
              </a:rPr>
              <a:t>slinga</a:t>
            </a:r>
            <a:r>
              <a:rPr sz="2025" b="0">
                <a:solidFill>
                  <a:srgbClr val="111111"/>
                </a:solidFill>
                <a:latin typeface="Calibri"/>
                <a:ea typeface="Calibri"/>
                <a:cs typeface="Calibri"/>
              </a:rPr>
              <a:t> är liten? Hitta inte på ett amperetal.</a:t>
            </a:r>
          </a:p>
        </p:txBody>
      </p:sp>
      <p:sp>
        <p:nvSpPr>
          <p:cNvPr id="14" name="25">
            <a:extLst xmlns:a="http://schemas.openxmlformats.org/drawingml/2006/main">
              <a:ext uri="{FF2B5EF4-FFF2-40B4-BE49-F238E27FC236}">
                <a16:creationId xmlns:a16="http://schemas.microsoft.com/office/drawing/2014/main" id="{85FFE3FF-8FA8-4F53-B1C5-15670D486AF9}"/>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25</a:t>
            </a:r>
          </a:p>
        </p:txBody>
      </p:sp>
      <p:pic xmlns:a="http://schemas.openxmlformats.org/drawingml/2006/main" xmlns:r="http://schemas.openxmlformats.org/officeDocument/2006/relationships">
        <p:nvPicPr>
          <p:cNvPr id="16" name="Figur: 24 V-batteri vars poler kortsluts av ett" descr="24 V-batteri vars poler kortsluts av ett verktyg; felströmmen ungefär U delat med slingans resistans"/>
          <p:cNvPicPr>
            <a:picLocks noChangeAspect="1"/>
          </p:cNvPicPr>
          <p:nvPr/>
        </p:nvPicPr>
        <p:blipFill>
          <a:blip r:embed="rId3"/>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9e263887e5e8468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6">
            <a:extLst xmlns:a="http://schemas.openxmlformats.org/drawingml/2006/main">
              <a:ext uri="{FF2B5EF4-FFF2-40B4-BE49-F238E27FC236}">
                <a16:creationId xmlns:a16="http://schemas.microsoft.com/office/drawing/2014/main" id="{E0C25FD9-C8EA-4732-8C34-CE624E75663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1.6</a:t>
            </a:r>
          </a:p>
        </p:txBody>
      </p:sp>
      <p:sp>
        <p:nvSpPr>
          <p:cNvPr id="3" name="Batteriets risk">
            <a:extLst xmlns:a="http://schemas.openxmlformats.org/drawingml/2006/main">
              <a:ext uri="{FF2B5EF4-FFF2-40B4-BE49-F238E27FC236}">
                <a16:creationId xmlns:a16="http://schemas.microsoft.com/office/drawing/2014/main" id="{72FE4115-41A0-4D7F-BA17-7974C694DF5C}"/>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Batteriets risk</a:t>
            </a:r>
          </a:p>
        </p:txBody>
      </p:sp>
      <p:sp>
        <p:nvSpPr>
          <p:cNvPr id="4" name="Ett 24 V-batteri har stor kortslutningsförmåga. Ange en viktig ri">
            <a:extLst xmlns:a="http://schemas.openxmlformats.org/drawingml/2006/main">
              <a:ext uri="{FF2B5EF4-FFF2-40B4-BE49-F238E27FC236}">
                <a16:creationId xmlns:a16="http://schemas.microsoft.com/office/drawing/2014/main" id="{704436D9-E59D-4252-A049-B7CDAB855FAD}"/>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24 V-batteri kan ge en mycket stor ström om polerna kortsluts. Vilken risk finns, fast spänningen är låg?</a:t>
            </a:r>
          </a:p>
        </p:txBody>
      </p:sp>
      <p:sp>
        <p:nvSpPr>
          <p:cNvPr id="5" name="Redovisa din beräkning eller motivera ditt beslut.">
            <a:extLst xmlns:a="http://schemas.openxmlformats.org/drawingml/2006/main">
              <a:ext uri="{FF2B5EF4-FFF2-40B4-BE49-F238E27FC236}">
                <a16:creationId xmlns:a16="http://schemas.microsoft.com/office/drawing/2014/main" id="{7B3B2E68-0714-4671-B7AE-61F00369F527}"/>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6">
            <a:extLst xmlns:a="http://schemas.openxmlformats.org/drawingml/2006/main">
              <a:ext uri="{FF2B5EF4-FFF2-40B4-BE49-F238E27FC236}">
                <a16:creationId xmlns:a16="http://schemas.microsoft.com/office/drawing/2014/main" id="{080064AF-F05E-428F-BF2F-BA3866A8223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26</a:t>
            </a:r>
          </a:p>
        </p:txBody>
      </p:sp>
    </p:spTree>
    <p:extLst>
      <p:ext uri="{BB962C8B-B14F-4D97-AF65-F5344CB8AC3E}">
        <p14:creationId xmlns:p14="http://schemas.microsoft.com/office/powerpoint/2010/main" val="274799622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e7c65180fc6e411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7">
            <a:extLst xmlns:a="http://schemas.openxmlformats.org/drawingml/2006/main">
              <a:ext uri="{FF2B5EF4-FFF2-40B4-BE49-F238E27FC236}">
                <a16:creationId xmlns:a16="http://schemas.microsoft.com/office/drawing/2014/main" id="{E475B0E7-28C6-45AB-9731-678A70393A3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1.7</a:t>
            </a:r>
          </a:p>
        </p:txBody>
      </p:sp>
      <p:sp>
        <p:nvSpPr>
          <p:cNvPr id="10" name="Hjälparen får inte utsättas för elektrisk fara">
            <a:extLst xmlns:a="http://schemas.openxmlformats.org/drawingml/2006/main">
              <a:ext uri="{FF2B5EF4-FFF2-40B4-BE49-F238E27FC236}">
                <a16:creationId xmlns:a16="http://schemas.microsoft.com/office/drawing/2014/main" id="{120590F9-3BCA-432C-8FAC-EDE76B1486F3}"/>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Hjälparen får inte utsättas för elektrisk fara</a:t>
            </a:r>
          </a:p>
        </p:txBody>
      </p:sp>
      <p:sp>
        <p:nvSpPr>
          <p:cNvPr id="11" name="En skadad person eller föremål kan fortfarande ha kontakt med spä">
            <a:extLst xmlns:a="http://schemas.openxmlformats.org/drawingml/2006/main">
              <a:ext uri="{FF2B5EF4-FFF2-40B4-BE49-F238E27FC236}">
                <a16:creationId xmlns:a16="http://schemas.microsoft.com/office/drawing/2014/main" id="{C0F3550D-BBC5-4448-AEDB-924BE97B0B23}"/>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Den skadade eller något föremål kan fortfarande ha kontakt med spänningssatta delar.</a:t>
            </a:r>
          </a:p>
        </p:txBody>
      </p:sp>
      <p:sp>
        <p:nvSpPr>
          <p:cNvPr id="12" name="Förutsättningar: Platsen kan vara spänningssatt. Vid akut fara la">
            <a:extLst xmlns:a="http://schemas.openxmlformats.org/drawingml/2006/main">
              <a:ext uri="{FF2B5EF4-FFF2-40B4-BE49-F238E27FC236}">
                <a16:creationId xmlns:a16="http://schemas.microsoft.com/office/drawing/2014/main" id="{2B140DD4-EA0A-4FBE-8242-87700DD63C14}"/>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Platsen kan vara spänningssatt. Larm enligt nödinstruktionen. Vid högspänning säkrar behörig person platsen.</a:t>
            </a:r>
          </a:p>
        </p:txBody>
      </p:sp>
      <p:sp>
        <p:nvSpPr>
          <p:cNvPr id="13" name="Arbetsgång: Ange hur säkerheten för hjälparen kommer före direkt ">
            <a:extLst xmlns:a="http://schemas.openxmlformats.org/drawingml/2006/main">
              <a:ext uri="{FF2B5EF4-FFF2-40B4-BE49-F238E27FC236}">
                <a16:creationId xmlns:a16="http://schemas.microsoft.com/office/drawing/2014/main" id="{08692337-D394-433F-B57C-2776BA7FCDC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Förklara varför din egen säkerhet kommer först och vad du gör innan du rör personen. Följ larm- och räddningsinstruktionerna.</a:t>
            </a:r>
          </a:p>
        </p:txBody>
      </p:sp>
      <p:sp>
        <p:nvSpPr>
          <p:cNvPr id="14" name="27">
            <a:extLst xmlns:a="http://schemas.openxmlformats.org/drawingml/2006/main">
              <a:ext uri="{FF2B5EF4-FFF2-40B4-BE49-F238E27FC236}">
                <a16:creationId xmlns:a16="http://schemas.microsoft.com/office/drawing/2014/main" id="{06834944-4BEE-4C97-A001-C9920948275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27</a:t>
            </a:r>
          </a:p>
        </p:txBody>
      </p:sp>
    </p:spTree>
    <p:extLst>
      <p:ext uri="{BB962C8B-B14F-4D97-AF65-F5344CB8AC3E}">
        <p14:creationId xmlns:p14="http://schemas.microsoft.com/office/powerpoint/2010/main" val="2747996220"/>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b2c8c5e4e75245dc"/>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7">
            <a:extLst xmlns:a="http://schemas.openxmlformats.org/drawingml/2006/main">
              <a:ext uri="{FF2B5EF4-FFF2-40B4-BE49-F238E27FC236}">
                <a16:creationId xmlns:a16="http://schemas.microsoft.com/office/drawing/2014/main" id="{874358F5-3779-436A-B1D2-BEE7F747582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1.7</a:t>
            </a:r>
          </a:p>
        </p:txBody>
      </p:sp>
      <p:sp>
        <p:nvSpPr>
          <p:cNvPr id="3" name="Räddning">
            <a:extLst xmlns:a="http://schemas.openxmlformats.org/drawingml/2006/main">
              <a:ext uri="{FF2B5EF4-FFF2-40B4-BE49-F238E27FC236}">
                <a16:creationId xmlns:a16="http://schemas.microsoft.com/office/drawing/2014/main" id="{F57704FE-3AB8-4730-BAF6-F39FA0B35294}"/>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Räddning</a:t>
            </a:r>
          </a:p>
        </p:txBody>
      </p:sp>
      <p:sp>
        <p:nvSpPr>
          <p:cNvPr id="4" name="En person har skadats vid en elinstallation. Platsen kan fortfara">
            <a:extLst xmlns:a="http://schemas.openxmlformats.org/drawingml/2006/main">
              <a:ext uri="{FF2B5EF4-FFF2-40B4-BE49-F238E27FC236}">
                <a16:creationId xmlns:a16="http://schemas.microsoft.com/office/drawing/2014/main" id="{B6953DE7-4A38-4F32-AE34-70A03DAE1472}"/>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person har skadats vid en elinstallation. Platsen kan fortfarande vara spänningssatt. Vad måste du tänka på innan du rör vid personen?</a:t>
            </a:r>
          </a:p>
        </p:txBody>
      </p:sp>
      <p:sp>
        <p:nvSpPr>
          <p:cNvPr id="5" name="Redovisa din beräkning eller motivera ditt beslut.">
            <a:extLst xmlns:a="http://schemas.openxmlformats.org/drawingml/2006/main">
              <a:ext uri="{FF2B5EF4-FFF2-40B4-BE49-F238E27FC236}">
                <a16:creationId xmlns:a16="http://schemas.microsoft.com/office/drawing/2014/main" id="{EB09CF69-C4CB-4BAE-BD6F-9836FC208D40}"/>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7">
            <a:extLst xmlns:a="http://schemas.openxmlformats.org/drawingml/2006/main">
              <a:ext uri="{FF2B5EF4-FFF2-40B4-BE49-F238E27FC236}">
                <a16:creationId xmlns:a16="http://schemas.microsoft.com/office/drawing/2014/main" id="{3AEDB8BD-1E04-4847-8CE1-E85972A2998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28</a:t>
            </a:r>
          </a:p>
        </p:txBody>
      </p:sp>
    </p:spTree>
    <p:extLst>
      <p:ext uri="{BB962C8B-B14F-4D97-AF65-F5344CB8AC3E}">
        <p14:creationId xmlns:p14="http://schemas.microsoft.com/office/powerpoint/2010/main" val="27479962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b4add299dce44683"/>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8">
            <a:extLst xmlns:a="http://schemas.openxmlformats.org/drawingml/2006/main">
              <a:ext uri="{FF2B5EF4-FFF2-40B4-BE49-F238E27FC236}">
                <a16:creationId xmlns:a16="http://schemas.microsoft.com/office/drawing/2014/main" id="{46172EA9-FD6D-45E5-8EE9-9F5C62D0A45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1.8</a:t>
            </a:r>
          </a:p>
        </p:txBody>
      </p:sp>
      <p:sp>
        <p:nvSpPr>
          <p:cNvPr id="10" name="Strömgenomgång kan ge skador som inte syns">
            <a:extLst xmlns:a="http://schemas.openxmlformats.org/drawingml/2006/main">
              <a:ext uri="{FF2B5EF4-FFF2-40B4-BE49-F238E27FC236}">
                <a16:creationId xmlns:a16="http://schemas.microsoft.com/office/drawing/2014/main" id="{C7E9BBC0-C84D-46B7-8971-6D1D8372659B}"/>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Strömgenomgång kan ge skador som inte syns</a:t>
            </a:r>
          </a:p>
        </p:txBody>
      </p:sp>
      <p:sp>
        <p:nvSpPr>
          <p:cNvPr id="11" name="Upplevd liten påverkan utesluter inte skada. Elsäkerhetsverket re">
            <a:extLst xmlns:a="http://schemas.openxmlformats.org/drawingml/2006/main">
              <a:ext uri="{FF2B5EF4-FFF2-40B4-BE49-F238E27FC236}">
                <a16:creationId xmlns:a16="http://schemas.microsoft.com/office/drawing/2014/main" id="{5DC4FBF2-7907-43D2-82EA-795B3AB4B7A9}"/>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Upplevd liten påverkan utesluter inte skada. Elsäkerhetsverket rekommenderar kontakt med sjukvården.</a:t>
            </a:r>
          </a:p>
        </p:txBody>
      </p:sp>
      <p:sp>
        <p:nvSpPr>
          <p:cNvPr id="12" name="Förutsättningar: Kollegan har varit utsatt för strömgenomgång och">
            <a:extLst xmlns:a="http://schemas.openxmlformats.org/drawingml/2006/main">
              <a:ext uri="{FF2B5EF4-FFF2-40B4-BE49-F238E27FC236}">
                <a16:creationId xmlns:a16="http://schemas.microsoft.com/office/drawing/2014/main" id="{698E27F7-9D7D-40A4-9E29-330B4284EE3C}"/>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Kollegan har varit utsatt för strömgenomgång och vill fortsätta arbeta.</a:t>
            </a:r>
          </a:p>
        </p:txBody>
      </p:sp>
      <p:sp>
        <p:nvSpPr>
          <p:cNvPr id="13" name="Arbetsgång: Rekommendera avbrott, säker plats och sjukvårdskontak">
            <a:extLst xmlns:a="http://schemas.openxmlformats.org/drawingml/2006/main">
              <a:ext uri="{FF2B5EF4-FFF2-40B4-BE49-F238E27FC236}">
                <a16:creationId xmlns:a16="http://schemas.microsoft.com/office/drawing/2014/main" id="{B0F83BC5-6F3B-41B3-8DA7-1852B91AD904}"/>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Vad rekommenderar du, och varför? Beskriv även rapporteringen enligt rutinen ombord.</a:t>
            </a:r>
          </a:p>
        </p:txBody>
      </p:sp>
      <p:sp>
        <p:nvSpPr>
          <p:cNvPr id="14" name="29">
            <a:extLst xmlns:a="http://schemas.openxmlformats.org/drawingml/2006/main">
              <a:ext uri="{FF2B5EF4-FFF2-40B4-BE49-F238E27FC236}">
                <a16:creationId xmlns:a16="http://schemas.microsoft.com/office/drawing/2014/main" id="{3B039810-0392-4A72-8CA6-DB5829FC4085}"/>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29</a:t>
            </a:r>
          </a:p>
        </p:txBody>
      </p:sp>
    </p:spTree>
    <p:extLst>
      <p:ext uri="{BB962C8B-B14F-4D97-AF65-F5344CB8AC3E}">
        <p14:creationId xmlns:p14="http://schemas.microsoft.com/office/powerpoint/2010/main" val="2747996220"/>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462b013d08a54a9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8">
            <a:extLst xmlns:a="http://schemas.openxmlformats.org/drawingml/2006/main">
              <a:ext uri="{FF2B5EF4-FFF2-40B4-BE49-F238E27FC236}">
                <a16:creationId xmlns:a16="http://schemas.microsoft.com/office/drawing/2014/main" id="{B385FD84-02A7-4191-83DE-595DCA84B553}"/>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1.8</a:t>
            </a:r>
          </a:p>
        </p:txBody>
      </p:sp>
      <p:sp>
        <p:nvSpPr>
          <p:cNvPr id="3" name="Efter strömgenomgång">
            <a:extLst xmlns:a="http://schemas.openxmlformats.org/drawingml/2006/main">
              <a:ext uri="{FF2B5EF4-FFF2-40B4-BE49-F238E27FC236}">
                <a16:creationId xmlns:a16="http://schemas.microsoft.com/office/drawing/2014/main" id="{90BE8BAE-AC95-4A24-8B9F-9B17199918C5}"/>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Efter strömgenomgång</a:t>
            </a:r>
          </a:p>
        </p:txBody>
      </p:sp>
      <p:sp>
        <p:nvSpPr>
          <p:cNvPr id="4" name="En kollega säger att en strömgenomgång ”inte var så farlig” och v">
            <a:extLst xmlns:a="http://schemas.openxmlformats.org/drawingml/2006/main">
              <a:ext uri="{FF2B5EF4-FFF2-40B4-BE49-F238E27FC236}">
                <a16:creationId xmlns:a16="http://schemas.microsoft.com/office/drawing/2014/main" id="{962032BA-E8B3-4C95-9D60-9D261AEB704F}"/>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kollega säger att en strömgenomgång ”inte var så farlig” och vill fortsätta. Vilket råd ger du?</a:t>
            </a:r>
          </a:p>
        </p:txBody>
      </p:sp>
      <p:sp>
        <p:nvSpPr>
          <p:cNvPr id="5" name="Redovisa din beräkning eller motivera ditt beslut.">
            <a:extLst xmlns:a="http://schemas.openxmlformats.org/drawingml/2006/main">
              <a:ext uri="{FF2B5EF4-FFF2-40B4-BE49-F238E27FC236}">
                <a16:creationId xmlns:a16="http://schemas.microsoft.com/office/drawing/2014/main" id="{8D48E002-C891-4E23-886B-869A1845C213}"/>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8">
            <a:extLst xmlns:a="http://schemas.openxmlformats.org/drawingml/2006/main">
              <a:ext uri="{FF2B5EF4-FFF2-40B4-BE49-F238E27FC236}">
                <a16:creationId xmlns:a16="http://schemas.microsoft.com/office/drawing/2014/main" id="{928A560C-EBC7-4FD6-9903-AC6F833584E1}"/>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30</a:t>
            </a:r>
          </a:p>
        </p:txBody>
      </p:sp>
    </p:spTree>
    <p:extLst>
      <p:ext uri="{BB962C8B-B14F-4D97-AF65-F5344CB8AC3E}">
        <p14:creationId xmlns:p14="http://schemas.microsoft.com/office/powerpoint/2010/main" val="2747996220"/>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ce5446d8103e4e7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9">
            <a:extLst xmlns:a="http://schemas.openxmlformats.org/drawingml/2006/main">
              <a:ext uri="{FF2B5EF4-FFF2-40B4-BE49-F238E27FC236}">
                <a16:creationId xmlns:a16="http://schemas.microsoft.com/office/drawing/2014/main" id="{BF733535-883B-4096-A3FF-A59A2926371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1.9</a:t>
            </a:r>
          </a:p>
        </p:txBody>
      </p:sp>
      <p:sp>
        <p:nvSpPr>
          <p:cNvPr id="10" name="Tillbud är en händelse som kunde ha skadat">
            <a:extLst xmlns:a="http://schemas.openxmlformats.org/drawingml/2006/main">
              <a:ext uri="{FF2B5EF4-FFF2-40B4-BE49-F238E27FC236}">
                <a16:creationId xmlns:a16="http://schemas.microsoft.com/office/drawing/2014/main" id="{A6753ABC-BC63-4751-B1DE-31C986ACA954}"/>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Tillbud är en händelse som kunde ha skadat</a:t>
            </a:r>
          </a:p>
        </p:txBody>
      </p:sp>
      <p:sp>
        <p:nvSpPr>
          <p:cNvPr id="11" name="Avsaknad av personskada säger inget säkert om hur allvarlig nästa">
            <a:extLst xmlns:a="http://schemas.openxmlformats.org/drawingml/2006/main">
              <a:ext uri="{FF2B5EF4-FFF2-40B4-BE49-F238E27FC236}">
                <a16:creationId xmlns:a16="http://schemas.microsoft.com/office/drawing/2014/main" id="{B1EB389C-FE04-4BB9-B6DF-FFD15952E47C}"/>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Att ingen skadades säger inget om hur illa det kan gå nästa gång.</a:t>
            </a:r>
          </a:p>
        </p:txBody>
      </p:sp>
      <p:sp>
        <p:nvSpPr>
          <p:cNvPr id="12" name="Förutsättningar: Felansluten mätledning gav kortslutning. Ingen s">
            <a:extLst xmlns:a="http://schemas.openxmlformats.org/drawingml/2006/main">
              <a:ext uri="{FF2B5EF4-FFF2-40B4-BE49-F238E27FC236}">
                <a16:creationId xmlns:a16="http://schemas.microsoft.com/office/drawing/2014/main" id="{6AAD9D83-85BF-4D98-977A-E1088A6B5F11}"/>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felansluten mätsladd orsakade en kortslutning. Ingen skadades den här gången.</a:t>
            </a:r>
          </a:p>
        </p:txBody>
      </p:sp>
      <p:sp>
        <p:nvSpPr>
          <p:cNvPr id="13" name="Arbetsgång: Koppla rapportering till förebyggande åtgärder. Skilj">
            <a:extLst xmlns:a="http://schemas.openxmlformats.org/drawingml/2006/main">
              <a:ext uri="{FF2B5EF4-FFF2-40B4-BE49-F238E27FC236}">
                <a16:creationId xmlns:a16="http://schemas.microsoft.com/office/drawing/2014/main" id="{5670C5D6-06AE-46F2-A30F-32C4D6A8E87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Förklara hur rapporten leder till åtgärder som förebygger. Beskriv vad som hände, inte vad personen kan ha tänkt.</a:t>
            </a:r>
          </a:p>
        </p:txBody>
      </p:sp>
      <p:sp>
        <p:nvSpPr>
          <p:cNvPr id="14" name="31">
            <a:extLst xmlns:a="http://schemas.openxmlformats.org/drawingml/2006/main">
              <a:ext uri="{FF2B5EF4-FFF2-40B4-BE49-F238E27FC236}">
                <a16:creationId xmlns:a16="http://schemas.microsoft.com/office/drawing/2014/main" id="{3363F18F-54FD-431A-9EC6-13F6FFCEFA0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31</a:t>
            </a:r>
          </a:p>
        </p:txBody>
      </p:sp>
    </p:spTree>
    <p:extLst>
      <p:ext uri="{BB962C8B-B14F-4D97-AF65-F5344CB8AC3E}">
        <p14:creationId xmlns:p14="http://schemas.microsoft.com/office/powerpoint/2010/main" val="2747996220"/>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20f5db796544a5c"/>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9">
            <a:extLst xmlns:a="http://schemas.openxmlformats.org/drawingml/2006/main">
              <a:ext uri="{FF2B5EF4-FFF2-40B4-BE49-F238E27FC236}">
                <a16:creationId xmlns:a16="http://schemas.microsoft.com/office/drawing/2014/main" id="{1A0D0C3C-239B-424C-9896-EFF81C92947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1.9</a:t>
            </a:r>
          </a:p>
        </p:txBody>
      </p:sp>
      <p:sp>
        <p:nvSpPr>
          <p:cNvPr id="3" name="Tillbud">
            <a:extLst xmlns:a="http://schemas.openxmlformats.org/drawingml/2006/main">
              <a:ext uri="{FF2B5EF4-FFF2-40B4-BE49-F238E27FC236}">
                <a16:creationId xmlns:a16="http://schemas.microsoft.com/office/drawing/2014/main" id="{BE2176C5-320C-4E50-9744-56F4D632AA33}"/>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Tillbud</a:t>
            </a:r>
          </a:p>
        </p:txBody>
      </p:sp>
      <p:sp>
        <p:nvSpPr>
          <p:cNvPr id="4" name="En felansluten mätledning skapar en kortslutning, men ingen skada">
            <a:extLst xmlns:a="http://schemas.openxmlformats.org/drawingml/2006/main">
              <a:ext uri="{FF2B5EF4-FFF2-40B4-BE49-F238E27FC236}">
                <a16:creationId xmlns:a16="http://schemas.microsoft.com/office/drawing/2014/main" id="{1C90702F-6847-4635-AC8B-520C40631947}"/>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felansluten mätsladd orsakar en kortslutning, men ingen skadas. Varför ska händelsen ändå rapporteras?</a:t>
            </a:r>
          </a:p>
        </p:txBody>
      </p:sp>
      <p:sp>
        <p:nvSpPr>
          <p:cNvPr id="5" name="Redovisa din beräkning eller motivera ditt beslut.">
            <a:extLst xmlns:a="http://schemas.openxmlformats.org/drawingml/2006/main">
              <a:ext uri="{FF2B5EF4-FFF2-40B4-BE49-F238E27FC236}">
                <a16:creationId xmlns:a16="http://schemas.microsoft.com/office/drawing/2014/main" id="{30D58E82-D5E8-4366-A7E1-0EFB4C0BAFE2}"/>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9">
            <a:extLst xmlns:a="http://schemas.openxmlformats.org/drawingml/2006/main">
              <a:ext uri="{FF2B5EF4-FFF2-40B4-BE49-F238E27FC236}">
                <a16:creationId xmlns:a16="http://schemas.microsoft.com/office/drawing/2014/main" id="{0BA38E2C-F0E5-43BB-95B2-7B407D29C53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32</a:t>
            </a:r>
          </a:p>
        </p:txBody>
      </p:sp>
    </p:spTree>
    <p:extLst>
      <p:ext uri="{BB962C8B-B14F-4D97-AF65-F5344CB8AC3E}">
        <p14:creationId xmlns:p14="http://schemas.microsoft.com/office/powerpoint/2010/main" val="274799622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9bfd33a93754431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10">
            <a:extLst xmlns:a="http://schemas.openxmlformats.org/drawingml/2006/main">
              <a:ext uri="{FF2B5EF4-FFF2-40B4-BE49-F238E27FC236}">
                <a16:creationId xmlns:a16="http://schemas.microsoft.com/office/drawing/2014/main" id="{35D6D8E9-AEC2-4C80-AB40-92B7C230C9DB}"/>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1.10</a:t>
            </a:r>
          </a:p>
        </p:txBody>
      </p:sp>
      <p:sp>
        <p:nvSpPr>
          <p:cNvPr id="10" name="Direkt skydd och förebyggande åtgärd">
            <a:extLst xmlns:a="http://schemas.openxmlformats.org/drawingml/2006/main">
              <a:ext uri="{FF2B5EF4-FFF2-40B4-BE49-F238E27FC236}">
                <a16:creationId xmlns:a16="http://schemas.microsoft.com/office/drawing/2014/main" id="{D7FE03E6-79AC-46D4-8944-690D627894E6}"/>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Direkt skydd och förebyggande åtgärd</a:t>
            </a:r>
          </a:p>
        </p:txBody>
      </p:sp>
      <p:sp>
        <p:nvSpPr>
          <p:cNvPr id="11" name="Direkt åtgärd hindrar fortsatt exponering. Förebyggande åtgärd mi">
            <a:extLst xmlns:a="http://schemas.openxmlformats.org/drawingml/2006/main">
              <a:ext uri="{FF2B5EF4-FFF2-40B4-BE49-F238E27FC236}">
                <a16:creationId xmlns:a16="http://schemas.microsoft.com/office/drawing/2014/main" id="{761597B2-FC05-48C9-8C57-2F8D6A3459D1}"/>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Den direkta åtgärden hindrar att någon utsätts för risken nu. Den förebyggande minskar risken att det händer igen.</a:t>
            </a:r>
          </a:p>
        </p:txBody>
      </p:sp>
      <p:sp>
        <p:nvSpPr>
          <p:cNvPr id="12" name="Förutsättningar: Synlig skada på sladd före användning. Ingen rep">
            <a:extLst xmlns:a="http://schemas.openxmlformats.org/drawingml/2006/main">
              <a:ext uri="{FF2B5EF4-FFF2-40B4-BE49-F238E27FC236}">
                <a16:creationId xmlns:a16="http://schemas.microsoft.com/office/drawing/2014/main" id="{FF37A562-6758-43C2-AEE9-48F733195C23}"/>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Sladden har en synlig skada och har inte använts. Den är inte reparerad eller godkänd för användning.</a:t>
            </a:r>
          </a:p>
        </p:txBody>
      </p:sp>
      <p:sp>
        <p:nvSpPr>
          <p:cNvPr id="13" name="Arbetsgång: Ange vad som händer med utrustningen nu och hur kontr">
            <a:extLst xmlns:a="http://schemas.openxmlformats.org/drawingml/2006/main">
              <a:ext uri="{FF2B5EF4-FFF2-40B4-BE49-F238E27FC236}">
                <a16:creationId xmlns:a16="http://schemas.microsoft.com/office/drawing/2014/main" id="{3BA869E4-705B-462F-A531-0187633B402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Ange vad som görs med sladden nu och hur kontrollen före användning kan bli bättre.</a:t>
            </a:r>
          </a:p>
        </p:txBody>
      </p:sp>
      <p:sp>
        <p:nvSpPr>
          <p:cNvPr id="14" name="33">
            <a:extLst xmlns:a="http://schemas.openxmlformats.org/drawingml/2006/main">
              <a:ext uri="{FF2B5EF4-FFF2-40B4-BE49-F238E27FC236}">
                <a16:creationId xmlns:a16="http://schemas.microsoft.com/office/drawing/2014/main" id="{A0689528-55BF-4267-A54A-25372C943C19}"/>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33</a:t>
            </a:r>
          </a:p>
        </p:txBody>
      </p:sp>
    </p:spTree>
    <p:extLst>
      <p:ext uri="{BB962C8B-B14F-4D97-AF65-F5344CB8AC3E}">
        <p14:creationId xmlns:p14="http://schemas.microsoft.com/office/powerpoint/2010/main" val="2747996220"/>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66e141091eb4c0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10">
            <a:extLst xmlns:a="http://schemas.openxmlformats.org/drawingml/2006/main">
              <a:ext uri="{FF2B5EF4-FFF2-40B4-BE49-F238E27FC236}">
                <a16:creationId xmlns:a16="http://schemas.microsoft.com/office/drawing/2014/main" id="{5EEA22BE-224F-4BEA-A721-286A238D656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1.10</a:t>
            </a:r>
          </a:p>
        </p:txBody>
      </p:sp>
      <p:sp>
        <p:nvSpPr>
          <p:cNvPr id="3" name="Förebyggande åtgärder">
            <a:extLst xmlns:a="http://schemas.openxmlformats.org/drawingml/2006/main">
              <a:ext uri="{FF2B5EF4-FFF2-40B4-BE49-F238E27FC236}">
                <a16:creationId xmlns:a16="http://schemas.microsoft.com/office/drawing/2014/main" id="{2847B590-9579-4C10-BB38-EC36EC6E9FC4}"/>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Förebyggande åtgärder</a:t>
            </a:r>
          </a:p>
        </p:txBody>
      </p:sp>
      <p:sp>
        <p:nvSpPr>
          <p:cNvPr id="4" name="En skadad sladd upptäcks före användning. Föreslå åtgärd direkt o">
            <a:extLst xmlns:a="http://schemas.openxmlformats.org/drawingml/2006/main">
              <a:ext uri="{FF2B5EF4-FFF2-40B4-BE49-F238E27FC236}">
                <a16:creationId xmlns:a16="http://schemas.microsoft.com/office/drawing/2014/main" id="{6CA956C1-D8EA-4D21-8D70-AFCF96DD1795}"/>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skadad sladd upptäcks före användning. Föreslå en åtgärd direkt och en som minskar risken att det händer igen.</a:t>
            </a:r>
          </a:p>
        </p:txBody>
      </p:sp>
      <p:sp>
        <p:nvSpPr>
          <p:cNvPr id="5" name="Redovisa din beräkning eller motivera ditt beslut.">
            <a:extLst xmlns:a="http://schemas.openxmlformats.org/drawingml/2006/main">
              <a:ext uri="{FF2B5EF4-FFF2-40B4-BE49-F238E27FC236}">
                <a16:creationId xmlns:a16="http://schemas.microsoft.com/office/drawing/2014/main" id="{40E6F6F0-6767-4681-8E47-5DED732A852E}"/>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20">
            <a:extLst xmlns:a="http://schemas.openxmlformats.org/drawingml/2006/main">
              <a:ext uri="{FF2B5EF4-FFF2-40B4-BE49-F238E27FC236}">
                <a16:creationId xmlns:a16="http://schemas.microsoft.com/office/drawing/2014/main" id="{08CFAAC9-836E-43B1-9E3A-3F14EB66270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34</a:t>
            </a:r>
          </a:p>
        </p:txBody>
      </p:sp>
    </p:spTree>
    <p:extLst>
      <p:ext uri="{BB962C8B-B14F-4D97-AF65-F5344CB8AC3E}">
        <p14:creationId xmlns:p14="http://schemas.microsoft.com/office/powerpoint/2010/main" val="2747996220"/>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7" name="Bildobjekt 2"/>
          <p:cNvPicPr>
            <a:picLocks xmlns:a="http://schemas.openxmlformats.org/drawingml/2006/main" noChangeAspect="1"/>
          </p:cNvPicPr>
          <p:nvPr/>
        </p:nvPicPr>
        <p:blipFill>
          <a:blip xmlns:r="http://schemas.openxmlformats.org/officeDocument/2006/relationships" xmlns:a="http://schemas.openxmlformats.org/drawingml/2006/main" r:embed="Ra43856d7448548f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Avslut och eget arbete">
            <a:extLst xmlns:a="http://schemas.openxmlformats.org/drawingml/2006/main">
              <a:ext uri="{FF2B5EF4-FFF2-40B4-BE49-F238E27FC236}">
                <a16:creationId xmlns:a16="http://schemas.microsoft.com/office/drawing/2014/main" id="{AAD35A78-0BF9-45E8-BC4F-E207CF181458}"/>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Avslut och eget arbete</a:t>
            </a:r>
          </a:p>
        </p:txBody>
      </p:sp>
      <p:sp>
        <p:nvSpPr>
          <p:cNvPr id="3" name="Vilken uppgift saknas oftast när någon bara säger ”det är 24 V”?">
            <a:extLst xmlns:a="http://schemas.openxmlformats.org/drawingml/2006/main">
              <a:ext uri="{FF2B5EF4-FFF2-40B4-BE49-F238E27FC236}">
                <a16:creationId xmlns:a16="http://schemas.microsoft.com/office/drawing/2014/main" id="{F8C0804C-E608-4E16-B3A5-D1BE7A90F779}"/>
              </a:ext>
            </a:extLst>
          </p:cNvPr>
          <p:cNvSpPr>
            <a:spLocks xmlns:a="http://schemas.openxmlformats.org/drawingml/2006/main" noGrp="1"/>
          </p:cNvSpPr>
          <p:nvPr/>
        </p:nvSpPr>
        <p:spPr>
          <a:xfrm xmlns:a="http://schemas.openxmlformats.org/drawingml/2006/main">
            <a:off x="762000" y="1714500"/>
            <a:ext cx="7620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Vilka uppgifter saknas oftast när någon bara säger ”det är 24 V”?</a:t>
            </a:r>
          </a:p>
        </p:txBody>
      </p:sp>
      <p:sp>
        <p:nvSpPr>
          <p:cNvPr id="4" name="Påbörja v42-riskbedömningen. Beskriv arbetsmoment, miljö, energik">
            <a:extLst xmlns:a="http://schemas.openxmlformats.org/drawingml/2006/main">
              <a:ext uri="{FF2B5EF4-FFF2-40B4-BE49-F238E27FC236}">
                <a16:creationId xmlns:a16="http://schemas.microsoft.com/office/drawing/2014/main" id="{DF8A0FFA-811E-423F-B706-4B0952243F29}"/>
              </a:ext>
            </a:extLst>
          </p:cNvPr>
          <p:cNvSpPr>
            <a:spLocks xmlns:a="http://schemas.openxmlformats.org/drawingml/2006/main" noGrp="1"/>
          </p:cNvSpPr>
          <p:nvPr/>
        </p:nvSpPr>
        <p:spPr>
          <a:xfrm xmlns:a="http://schemas.openxmlformats.org/drawingml/2006/main">
            <a:off x="762000" y="3781425"/>
            <a:ext cx="7620000"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Påbörja v42-riskbedömningen. Beskriv arbetsmoment, miljö, energikällor och möjliga konsekvenser.</a:t>
            </a:r>
          </a:p>
        </p:txBody>
      </p:sp>
      <p:sp>
        <p:nvSpPr>
          <p:cNvPr id="5" name="21">
            <a:extLst xmlns:a="http://schemas.openxmlformats.org/drawingml/2006/main">
              <a:ext uri="{FF2B5EF4-FFF2-40B4-BE49-F238E27FC236}">
                <a16:creationId xmlns:a16="http://schemas.microsoft.com/office/drawing/2014/main" id="{DD7288C9-AFE2-45BF-9658-05F08BECBDC1}"/>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35</a:t>
            </a:r>
          </a:p>
        </p:txBody>
      </p:sp>
    </p:spTree>
    <p:extLst>
      <p:ext uri="{BB962C8B-B14F-4D97-AF65-F5344CB8AC3E}">
        <p14:creationId xmlns:p14="http://schemas.microsoft.com/office/powerpoint/2010/main" val="2747996220"/>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10" name="Bildobjekt 2"/>
          <p:cNvPicPr>
            <a:picLocks xmlns:a="http://schemas.openxmlformats.org/drawingml/2006/main" noChangeAspect="1"/>
          </p:cNvPicPr>
          <p:nvPr/>
        </p:nvPicPr>
        <p:blipFill>
          <a:blip xmlns:r="http://schemas.openxmlformats.org/officeDocument/2006/relationships" xmlns:a="http://schemas.openxmlformats.org/drawingml/2006/main" r:embed="Rccc57655f2854570"/>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Källor och fortsatt läsning">
            <a:extLst xmlns:a="http://schemas.openxmlformats.org/drawingml/2006/main">
              <a:ext uri="{FF2B5EF4-FFF2-40B4-BE49-F238E27FC236}">
                <a16:creationId xmlns:a16="http://schemas.microsoft.com/office/drawing/2014/main" id="{89BDDE88-C653-4E4B-8E0E-386D223B527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Källor och fortsatt läsning</a:t>
            </a:r>
          </a:p>
        </p:txBody>
      </p:sp>
      <p:sp>
        <p:nvSpPr>
          <p:cNvPr id="3" name="Studieplanen YH03151, 18 september 2026&#10;Sjöskolans kursmaterial o">
            <a:extLst xmlns:a="http://schemas.openxmlformats.org/drawingml/2006/main">
              <a:ext uri="{FF2B5EF4-FFF2-40B4-BE49-F238E27FC236}">
                <a16:creationId xmlns:a16="http://schemas.microsoft.com/office/drawing/2014/main" id="{B904C5A5-680E-42FF-A3D1-A2DDED41D761}"/>
              </a:ext>
            </a:extLst>
          </p:cNvPr>
          <p:cNvSpPr>
            <a:spLocks xmlns:a="http://schemas.openxmlformats.org/drawingml/2006/main" noGrp="1"/>
          </p:cNvSpPr>
          <p:nvPr/>
        </p:nvSpPr>
        <p:spPr>
          <a:xfrm xmlns:a="http://schemas.openxmlformats.org/drawingml/2006/main">
            <a:off x="762000" y="1609725"/>
            <a:ext cx="7620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Studieplanen YH03151, 18 september 2026</a:t>
            </a:r>
          </a:p>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Sjöskolans kursmaterial och originalmall</a:t>
            </a:r>
          </a:p>
        </p:txBody>
      </p:sp>
      <p:sp>
        <p:nvSpPr>
          <p:cNvPr id="4" name="Elsäkerhetsverket: elolyckor och risker">
            <a:extLst xmlns:a="http://schemas.openxmlformats.org/drawingml/2006/main">
              <a:ext uri="{FF2B5EF4-FFF2-40B4-BE49-F238E27FC236}">
                <a16:creationId xmlns:a16="http://schemas.microsoft.com/office/drawing/2014/main" id="{08C933DE-066D-4E2B-8787-45CBCBA9C584}"/>
              </a:ext>
            </a:extLst>
          </p:cNvPr>
          <p:cNvSpPr>
            <a:spLocks xmlns:a="http://schemas.openxmlformats.org/drawingml/2006/main" noGrp="1"/>
          </p:cNvSpPr>
          <p:nvPr/>
        </p:nvSpPr>
        <p:spPr>
          <a:xfrm xmlns:a="http://schemas.openxmlformats.org/drawingml/2006/main">
            <a:off x="762000" y="2667000"/>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7fd1e4a8dba44e1d"/>
              </a:rPr>
              <a:t>Elsäkerhetsverket: elolyckor och risker</a:t>
            </a:r>
          </a:p>
        </p:txBody>
      </p:sp>
      <p:sp>
        <p:nvSpPr>
          <p:cNvPr id="5" name="Elsäkerhetsverket: vid en elolycka">
            <a:extLst xmlns:a="http://schemas.openxmlformats.org/drawingml/2006/main">
              <a:ext uri="{FF2B5EF4-FFF2-40B4-BE49-F238E27FC236}">
                <a16:creationId xmlns:a16="http://schemas.microsoft.com/office/drawing/2014/main" id="{60469472-23A6-4C45-94F1-2E21A9AD4DF8}"/>
              </a:ext>
            </a:extLst>
          </p:cNvPr>
          <p:cNvSpPr>
            <a:spLocks xmlns:a="http://schemas.openxmlformats.org/drawingml/2006/main" noGrp="1"/>
          </p:cNvSpPr>
          <p:nvPr/>
        </p:nvSpPr>
        <p:spPr>
          <a:xfrm xmlns:a="http://schemas.openxmlformats.org/drawingml/2006/main">
            <a:off x="762000" y="3362325"/>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3fa0584909a845f2"/>
              </a:rPr>
              <a:t>Elsäkerhetsverket: vid en elolycka</a:t>
            </a:r>
          </a:p>
        </p:txBody>
      </p:sp>
      <p:sp>
        <p:nvSpPr>
          <p:cNvPr id="6" name="Transportstyrelsen: regler för el ombord">
            <a:extLst xmlns:a="http://schemas.openxmlformats.org/drawingml/2006/main">
              <a:ext uri="{FF2B5EF4-FFF2-40B4-BE49-F238E27FC236}">
                <a16:creationId xmlns:a16="http://schemas.microsoft.com/office/drawing/2014/main" id="{610AF947-BE70-414F-A4CE-942F42FAEC11}"/>
              </a:ext>
            </a:extLst>
          </p:cNvPr>
          <p:cNvSpPr>
            <a:spLocks xmlns:a="http://schemas.openxmlformats.org/drawingml/2006/main" noGrp="1"/>
          </p:cNvSpPr>
          <p:nvPr/>
        </p:nvSpPr>
        <p:spPr>
          <a:xfrm xmlns:a="http://schemas.openxmlformats.org/drawingml/2006/main">
            <a:off x="762000" y="4057650"/>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50d0c94938d3441c"/>
              </a:rPr>
              <a:t>Transportstyrelsen: regler för el ombord</a:t>
            </a:r>
          </a:p>
        </p:txBody>
      </p:sp>
      <p:sp>
        <p:nvSpPr>
          <p:cNvPr id="8" name="22">
            <a:extLst xmlns:a="http://schemas.openxmlformats.org/drawingml/2006/main">
              <a:ext uri="{FF2B5EF4-FFF2-40B4-BE49-F238E27FC236}">
                <a16:creationId xmlns:a16="http://schemas.microsoft.com/office/drawing/2014/main" id="{5D0F76BF-0E11-48A3-8074-B799E955B5AE}"/>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36</a:t>
            </a:r>
          </a:p>
        </p:txBody>
      </p:sp>
    </p:spTree>
    <p:extLst>
      <p:ext uri="{BB962C8B-B14F-4D97-AF65-F5344CB8AC3E}">
        <p14:creationId xmlns:p14="http://schemas.microsoft.com/office/powerpoint/2010/main" val="2747996220"/>
      </p:ext>
    </p:extLst>
  </p:cSld>
</p:sld>
</file>

<file path=ppt/theme/theme1.xml><?xml version="1.0" encoding="utf-8"?>
<a:theme xmlns:a="http://schemas.openxmlformats.org/drawingml/2006/main" name="Office-tema">
  <a:themeElements>
    <a:clrScheme name="Office-tema">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tema">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tem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Microsoft PowerPoint</Application>
  <Slides>36</Slides>
  <Notes>0</Notes>
  <HiddenSlides>0</HiddenSlides>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2026-09-20T20:09:37.2430000Z</dcterms:created>
  <dcterms:modified xsi:type="dcterms:W3CDTF">2026-09-20T20:09:37.2430000Z</dcterms:modified>
</coreProperties>
</file>