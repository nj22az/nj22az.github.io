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37c34ddacd4546b1" Type="http://schemas.openxmlformats.org/officeDocument/2006/relationships/officeDocument" Target="ppt/presentation.xml"/><Relationship Id="R861db07599aa41dd" Type="http://schemas.openxmlformats.org/officeDocument/2006/relationships/extended-properties" Target="docProps/app.xml"/><Relationship Id="Rd8cf384cba124e90" Type="http://schemas.openxmlformats.org/package/2006/relationships/metadata/core-properties" Target="docProps/core.xml"/></Relationships>
</file>

<file path=ppt/presentation.xml><?xml version="1.0" encoding="utf-8"?>
<p:presentation xmlns:p="http://schemas.openxmlformats.org/presentationml/2006/main" xmlns:r="http://schemas.openxmlformats.org/officeDocument/2006/relationships">
  <p:sldMasterIdLst>
    <p:sldMasterId id="2147483648" r:id="Ra38d8fb4f6ec40e4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</p:sldIdLst>
  <p:sldSz cx="9144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<?xml version='1.0' encoding='UTF-8' standalone='yes'?>
<Relationships xmlns="http://schemas.openxmlformats.org/package/2006/relationships"><Relationship Id="R0ed11355ea2543db" Type="http://schemas.openxmlformats.org/officeDocument/2006/relationships/theme" Target="theme/theme1.xml"/><Relationship Id="R4a30431852bc4203" Type="http://schemas.openxmlformats.org/officeDocument/2006/relationships/presProps" Target="presProps.xml"/><Relationship Id="R59b04d653c184694" Type="http://schemas.openxmlformats.org/officeDocument/2006/relationships/tableStyles" Target="tableStyles.xml"/><Relationship Id="Ra38d8fb4f6ec40e4" Type="http://schemas.openxmlformats.org/officeDocument/2006/relationships/slideMaster" Target="slideMasters/slideMaster1.xml"/><Relationship Id="Rba35c611fa944afe" Type="http://schemas.openxmlformats.org/officeDocument/2006/relationships/viewProps" Target="viewProps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9.xml"/><Relationship Id="rId25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e9bbca99fd0e4bfe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dbed5ff74e9b4304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8d90e2e815ac47ca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3599dc8b372340a0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57876e5b8ebd4956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d9291271a5e94ac2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0c894096355d4803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08fa3bb3d3b84b8b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8b9ffc4a04cc45db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7db49676138543fe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fd61dd6cc9ae4a5f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title" preserve="1">
  <p:cSld name="Rubrikbild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171AF29-9BF1-473B-AFA6-17086F16A420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1122363"/>
            <a:ext cx="77724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E8C47869-AB2E-4353-993A-C5F3CBCD7A5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143000" y="3602038"/>
            <a:ext cx="6858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0E4BDD63-2879-4553-A7D4-C8B90F66944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B47559E2-D642-40B2-A622-29E6C6C0906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CBCBF1D-E8D4-4C02-B339-40A7E12B7A5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Rubrik och innehåll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722FDD0-541F-4732-A589-6E09DA58B33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A9FD4EB-ED93-4F84-9A20-8F3AF861C5D9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C87B3B2F-39C7-4AB3-B336-4AA52F53712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C14936C-5A60-4749-9BA4-077B860C97E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1C221E00-8DF1-4F1B-832D-71DC043B581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Avsnitts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42DB1BD-E287-4420-8511-29126B06189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3888" y="1709739"/>
            <a:ext cx="78867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B9B11597-97EC-49B5-A400-7D26520A3C0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3888" y="4589464"/>
            <a:ext cx="78867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0F742E12-71EE-4A0A-A25A-482AF08CB59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7B99B004-C36A-4FB2-9F9D-CE473319A95C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707C9783-743E-4094-A2AE-9E44E3D473E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vå dela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8C4FC59-7B72-4123-8378-0EA50884325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F37F9AEE-67E4-463F-959F-E9E3A1B888F0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6286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6354C6D0-6530-44C0-8216-34BD311A97A4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291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6428CFC9-6708-459E-B81E-1E9C1425772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76003C71-1529-40B2-8C48-8F715F571DC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643222D-12A8-4E31-8062-7D5BCCBAB7A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Jämförels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97D2405-3A74-4011-A349-9548796B9D3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365126"/>
            <a:ext cx="78867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E78F98B1-4335-49A0-A5DC-F7821F48D4D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9842" y="1681163"/>
            <a:ext cx="3868340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3911721C-4555-47B9-A29D-0F448969C4F8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29842" y="2505075"/>
            <a:ext cx="3868340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C2D7DE53-B347-45DD-AFFA-3E8BE03250CE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29150" y="1681163"/>
            <a:ext cx="3887391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EF97C298-A28D-4A26-BDCA-B098B846E554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29150" y="2505075"/>
            <a:ext cx="3887391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09775CF6-BCDA-455B-8823-96F499D329B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E36C5186-AD15-4D60-94C6-61F1173F250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C9823F44-4193-4A09-BFAF-ED3CD7668FF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Endast 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8F9FE2D-754C-44B3-B95C-26D7D5C7516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6BD55E16-C4C4-4E3D-A0B4-2831B64AB90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38325CBA-1C76-41B1-899E-BE2E85DBB7E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D41280AB-E4E6-40DF-AAAA-D319DDAE7A3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Tom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4AB46744-49A1-4DBC-9FD7-6DAC1E5B0DC9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18BE22B4-F4D3-45EC-8704-71421CA0A1E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707804CA-1F56-49BC-A4BE-414873B51DD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Text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CC616F8-21C9-44E4-AE61-31E60C00685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023E4261-CE3E-4ACE-850C-97041401DE29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70EF0A03-62CA-44B8-B680-52B1168AC435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2B26F306-817F-41C5-8A16-96C7343CE1C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F2F4B232-2E06-41D6-B343-B9F33434424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845369E5-14C4-43E7-8C70-94F9D8946D0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Bild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04D77C1B-88A0-480F-A3F3-2C46ED54C19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A0DD105B-4990-483D-9F9F-A9235A346E70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 anchor="t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r>
              <a:t>Click icon to add picture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2A207939-C386-457A-BB29-427E4DC69A28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F3222363-8D26-4BF7-AEF5-9A8D193537F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C1AD7074-23A8-4F9E-B387-FF125010E36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974EEA3-8E26-4876-9CCC-AEB28DB192D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Rubrik och lodrät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02C1926D-3764-4E58-9CFE-1C39C0C5990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E1EA9798-D720-420B-B587-FB2D341F8B8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5B280F96-07A9-471D-BB10-6FD8F834C84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765504D-A0FC-4E9E-8009-F569A5C9842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9C1D87B-E274-4EF8-9A16-0DB1EAB639A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Lodrät rubrik och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24ED1D95-F8F3-4745-B8E4-98B6A31BFBD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543675" y="365125"/>
            <a:ext cx="197167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D893952F-F53B-42A5-B3B5-39F8406C721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365125"/>
            <a:ext cx="580072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AB05298D-E759-46A6-B3C3-B7B73450F0E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93DC9778-2E8A-4C7F-84B7-05E3D6E2377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9066A76-6749-4154-81E1-81287255579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Masters/_rels/slideMaster1.xml.rels><?xml version='1.0' encoding='UTF-8' standalone='yes'?>
<Relationships xmlns="http://schemas.openxmlformats.org/package/2006/relationships"><Relationship Id="R162cd79811f54438" Type="http://schemas.openxmlformats.org/officeDocument/2006/relationships/slideLayout" Target="../slideLayouts/slideLayout10.xml"/><Relationship Id="R170b8970d5204efa" Type="http://schemas.openxmlformats.org/officeDocument/2006/relationships/slideLayout" Target="../slideLayouts/slideLayout9.xml"/><Relationship Id="R7099d2b2aa324873" Type="http://schemas.openxmlformats.org/officeDocument/2006/relationships/theme" Target="theme/theme2.xml"/><Relationship Id="R7be85162f4ec45ce" Type="http://schemas.openxmlformats.org/officeDocument/2006/relationships/slideLayout" Target="../slideLayouts/slideLayout8.xml"/><Relationship Id="R82b356f2f0c249f8" Type="http://schemas.openxmlformats.org/officeDocument/2006/relationships/slideLayout" Target="../slideLayouts/slideLayout4.xml"/><Relationship Id="R83d3169839ae4a0d" Type="http://schemas.openxmlformats.org/officeDocument/2006/relationships/slideLayout" Target="../slideLayouts/slideLayout7.xml"/><Relationship Id="Ra1c6ad5e34ce4900" Type="http://schemas.openxmlformats.org/officeDocument/2006/relationships/slideLayout" Target="../slideLayouts/slideLayout5.xml"/><Relationship Id="Rb613688b8cb2457e" Type="http://schemas.openxmlformats.org/officeDocument/2006/relationships/slideLayout" Target="../slideLayouts/slideLayout1.xml"/><Relationship Id="Rc5987082cc9f429b" Type="http://schemas.openxmlformats.org/officeDocument/2006/relationships/slideLayout" Target="../slideLayouts/slideLayout2.xml"/><Relationship Id="Re60a86bc3ab141e2" Type="http://schemas.openxmlformats.org/officeDocument/2006/relationships/slideLayout" Target="../slideLayouts/slideLayout3.xml"/><Relationship Id="Rf39fc677f541417c" Type="http://schemas.openxmlformats.org/officeDocument/2006/relationships/slideLayout" Target="../slideLayouts/slideLayout11.xml"/><Relationship Id="Rf7c405d8b6a04f8d" Type="http://schemas.openxmlformats.org/officeDocument/2006/relationships/slideLayout" Target="../slideLayouts/slideLayout6.xml"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A772F057-7340-4065-8845-BB8E9AD557B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8650" y="365126"/>
            <a:ext cx="78867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Klicka här för att ändra mall för rubrikformat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17DE1F7C-60E1-400E-B38F-52BF24F21A7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1825625"/>
            <a:ext cx="78867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Klicka här för att ändra format på bakgrundstexten</a:t>
            </a:r>
          </a:p>
          <a:p xmlns:a="http://schemas.openxmlformats.org/drawingml/2006/main">
            <a:pPr lvl="1">
              <a:buNone/>
            </a:pPr>
            <a:r>
              <a:t>Nivå två</a:t>
            </a:r>
          </a:p>
          <a:p xmlns:a="http://schemas.openxmlformats.org/drawingml/2006/main">
            <a:pPr lvl="2">
              <a:buNone/>
            </a:pPr>
            <a:r>
              <a:t>Nivå tre</a:t>
            </a:r>
          </a:p>
          <a:p xmlns:a="http://schemas.openxmlformats.org/drawingml/2006/main">
            <a:pPr lvl="3">
              <a:buNone/>
            </a:pPr>
            <a:r>
              <a:t>Nivå fyra</a:t>
            </a:r>
          </a:p>
          <a:p xmlns:a="http://schemas.openxmlformats.org/drawingml/2006/main">
            <a:pPr lvl="4">
              <a:buNone/>
            </a:pPr>
            <a:r>
              <a:t>Nivå fem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DB15F1D9-83F8-4DB0-BD2B-BDD3E158134A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6286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905894D5-5CF7-4EDE-B022-CF2BDFF8D013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028950" y="6356351"/>
            <a:ext cx="30861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7720839A-B350-41EB-9FE9-191EB435D5E3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4579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613688b8cb2457e"/>
    <p:sldLayoutId xmlns:r="http://schemas.openxmlformats.org/officeDocument/2006/relationships" id="2147483650" r:id="Rc5987082cc9f429b"/>
    <p:sldLayoutId xmlns:r="http://schemas.openxmlformats.org/officeDocument/2006/relationships" id="2147483651" r:id="Re60a86bc3ab141e2"/>
    <p:sldLayoutId xmlns:r="http://schemas.openxmlformats.org/officeDocument/2006/relationships" id="2147483652" r:id="R82b356f2f0c249f8"/>
    <p:sldLayoutId xmlns:r="http://schemas.openxmlformats.org/officeDocument/2006/relationships" id="2147483653" r:id="Ra1c6ad5e34ce4900"/>
    <p:sldLayoutId xmlns:r="http://schemas.openxmlformats.org/officeDocument/2006/relationships" id="2147483654" r:id="Rf7c405d8b6a04f8d"/>
    <p:sldLayoutId xmlns:r="http://schemas.openxmlformats.org/officeDocument/2006/relationships" id="2147483655" r:id="R83d3169839ae4a0d"/>
    <p:sldLayoutId xmlns:r="http://schemas.openxmlformats.org/officeDocument/2006/relationships" id="2147483656" r:id="R7be85162f4ec45ce"/>
    <p:sldLayoutId xmlns:r="http://schemas.openxmlformats.org/officeDocument/2006/relationships" id="2147483657" r:id="R170b8970d5204efa"/>
    <p:sldLayoutId xmlns:r="http://schemas.openxmlformats.org/officeDocument/2006/relationships" id="2147483658" r:id="R162cd79811f54438"/>
    <p:sldLayoutId xmlns:r="http://schemas.openxmlformats.org/officeDocument/2006/relationships" id="2147483659" r:id="Rf39fc677f541417c"/>
  </p:sldLayoutIdLst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2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2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2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2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nj22az.github.io/sjoskolan/vecka-42/aktuell/Del_1.html" TargetMode="External"/><Relationship Id="rId3" Type="http://schemas.openxmlformats.org/officeDocument/2006/relationships/hyperlink" Target="https://www.elsakerhetsverket.se/privatpersoner/om-du-drabbas-av-en-elolycka/vad-kan-orsaka-en-elolycka/" TargetMode="External"/><Relationship Id="rId4" Type="http://schemas.openxmlformats.org/officeDocument/2006/relationships/hyperlink" Target="https://www.elsakerhetsverket.se/privatpersoner/om-du-drabbas-av-en-elolycka/vad-gor-jag-vid-en-elolycka/" TargetMode="External"/><Relationship Id="rId5" Type="http://schemas.openxmlformats.org/officeDocument/2006/relationships/hyperlink" Target="https://www.transportstyrelsen.se/sv/sjofart/Fartyg/Fartygskonstruktion/Elinstallationer/Lagar-foreskrifter-och-standarder/" TargetMode="External"/><Relationship Id="rId6" Type="http://schemas.openxmlformats.org/officeDocument/2006/relationships/image" Target="../media/image2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omslag_v42_0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09904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9144000" cy="6099048"/>
          </a:xfrm>
          <a:prstGeom prst="rect">
            <a:avLst/>
          </a:prstGeom>
          <a:gradFill rotWithShape="1">
            <a:gsLst>
              <a:gs pos="0">
                <a:srgbClr val="001427">
                  <a:alpha val="70000"/>
                </a:srgbClr>
              </a:gs>
              <a:gs pos="45000">
                <a:srgbClr val="001427">
                  <a:alpha val="55000"/>
                </a:srgbClr>
              </a:gs>
              <a:gs pos="75000">
                <a:srgbClr val="001427">
                  <a:alpha val="0"/>
                </a:srgbClr>
              </a:gs>
              <a:gs pos="100000">
                <a:srgbClr val="001427">
                  <a:alpha val="0"/>
                </a:srgbClr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6035040" cy="91440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4400" b="1" i="0">
                <a:solidFill>
                  <a:srgbClr val="FFFFFF"/>
                </a:solidFill>
                <a:latin typeface="Calibri"/>
              </a:rPr>
              <a:t>Elektriska risker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965960"/>
            <a:ext cx="5669280" cy="91440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200" b="0" i="0">
                <a:solidFill>
                  <a:srgbClr val="FFFFFF"/>
                </a:solidFill>
                <a:latin typeface="Calibri"/>
              </a:rPr>
              <a:t>Hur el skadar och hur du beskriver risken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971800"/>
            <a:ext cx="5852160" cy="41148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Vecka 42 · Måndag 12 oktober · 09.00–11.00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212080"/>
            <a:ext cx="5852160" cy="36576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Del 1 av 3 · Elteknik och ellära</a:t>
            </a:r>
          </a:p>
        </p:txBody>
      </p:sp>
      <p:sp>
        <p:nvSpPr>
          <p:cNvPr id="8" name="Dag: Måndag 12 oktober"/>
          <p:cNvSpPr/>
          <p:nvPr/>
        </p:nvSpPr>
        <p:spPr>
          <a:xfrm>
            <a:off x="548640" y="411480"/>
            <a:ext cx="2944368" cy="438912"/>
          </a:xfrm>
          <a:prstGeom prst="roundRect">
            <a:avLst>
              <a:gd name="adj" fmla="val 18000"/>
            </a:avLst>
          </a:prstGeom>
          <a:solidFill>
            <a:srgbClr val="008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/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Måndag 12 oktober</a:t>
            </a:r>
          </a:p>
        </p:txBody>
      </p:sp>
      <p:pic>
        <p:nvPicPr>
          <p:cNvPr id="9" name="Picture 8" descr="sidfo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42 · Måndag · Elektriska risker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Kursplanen i dag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548640" y="1453896"/>
            <a:ext cx="960120" cy="420624"/>
          </a:xfrm>
          <a:prstGeom prst="roundRect">
            <a:avLst>
              <a:gd name="adj" fmla="val 18000"/>
            </a:avLst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/>
          <a:lstStyle/>
          <a:p>
            <a:pPr algn="ctr"/>
            <a:r>
              <a:rPr sz="1600" b="1" i="0">
                <a:solidFill>
                  <a:srgbClr val="111111"/>
                </a:solidFill>
                <a:latin typeface="Calibri"/>
              </a:rPr>
              <a:t>LM-2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37360" y="1417320"/>
            <a:ext cx="6858000" cy="86868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2200" b="0" i="0">
                <a:solidFill>
                  <a:srgbClr val="111111"/>
                </a:solidFill>
                <a:latin typeface="Calibri"/>
              </a:rPr>
              <a:t>Du kan förklara hur el kan skada och hur man arbetar säkert, vid både låg och hög spänning.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400" b="0" i="0">
                <a:solidFill>
                  <a:srgbClr val="4A4A4A"/>
                </a:solidFill>
                <a:latin typeface="Calibri"/>
              </a:rPr>
              <a:t>Elsäkerhet och regler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514600"/>
            <a:ext cx="8046720" cy="41148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200" b="1" i="0">
                <a:solidFill>
                  <a:srgbClr val="064F91"/>
                </a:solidFill>
                <a:latin typeface="Calibri"/>
              </a:rPr>
              <a:t>Efter lektionen kan du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971800"/>
            <a:ext cx="8046720" cy="292608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1200"/>
              </a:spcAft>
            </a:pPr>
            <a:r>
              <a:rPr sz="2100" b="0" i="0">
                <a:solidFill>
                  <a:srgbClr val="111111"/>
                </a:solidFill>
                <a:latin typeface="Calibri"/>
              </a:rPr>
              <a:t>1. förklara tre sätt som el skadar: strömgenomgång, ljusbåge och följdolycka.</a:t>
            </a:r>
          </a:p>
          <a:p>
            <a:pPr algn="l">
              <a:lnSpc>
                <a:spcPct val="108000"/>
              </a:lnSpc>
              <a:spcAft>
                <a:spcPts val="1200"/>
              </a:spcAft>
            </a:pPr>
            <a:r>
              <a:rPr sz="2100" b="0" i="0">
                <a:solidFill>
                  <a:srgbClr val="111111"/>
                </a:solidFill>
                <a:latin typeface="Calibri"/>
              </a:rPr>
              <a:t>2. beskriva en risk med fara, exponering och konsekvens.</a:t>
            </a:r>
          </a:p>
          <a:p>
            <a:pPr algn="l">
              <a:lnSpc>
                <a:spcPct val="108000"/>
              </a:lnSpc>
              <a:spcAft>
                <a:spcPts val="1200"/>
              </a:spcAft>
            </a:pPr>
            <a:r>
              <a:rPr sz="2100" b="0" i="0">
                <a:solidFill>
                  <a:srgbClr val="111111"/>
                </a:solidFill>
                <a:latin typeface="Calibri"/>
              </a:rPr>
              <a:t>3. säga vad du gör vid en elolycka och varför ett tillbud ska rapporteras.</a:t>
            </a:r>
          </a:p>
        </p:txBody>
      </p:sp>
      <p:pic>
        <p:nvPicPr>
          <p:cNvPr id="8" name="Picture 7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42 · Måndag · Elektriska risker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Startfråga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8046720" cy="2011680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3200" b="1" i="0">
                <a:solidFill>
                  <a:srgbClr val="111111"/>
                </a:solidFill>
                <a:latin typeface="Calibri"/>
              </a:rPr>
              <a:t>Kan ett system vara farligt även om ingen person får ström genom kroppen?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074920"/>
            <a:ext cx="8046720" cy="54864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1800" b="0" i="0">
                <a:solidFill>
                  <a:srgbClr val="064F91"/>
                </a:solidFill>
                <a:latin typeface="Calibri"/>
              </a:rPr>
              <a:t>Skriv ja eller nej i chatten, och ett ord om varför.</a:t>
            </a:r>
          </a:p>
        </p:txBody>
      </p:sp>
      <p:pic>
        <p:nvPicPr>
          <p:cNvPr id="6" name="Picture 5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42 · Måndag · Elektriska risker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Så går lektionen till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05840" cy="512064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1" i="0">
                <a:solidFill>
                  <a:srgbClr val="064F91"/>
                </a:solidFill>
                <a:latin typeface="Calibri"/>
              </a:rPr>
              <a:t>09.00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83080" y="1417320"/>
            <a:ext cx="6720840" cy="512064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0" i="0">
                <a:solidFill>
                  <a:srgbClr val="111111"/>
                </a:solidFill>
                <a:latin typeface="Calibri"/>
              </a:rPr>
              <a:t>Start och startfråga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84248"/>
            <a:ext cx="1005840" cy="512064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1" i="0">
                <a:solidFill>
                  <a:srgbClr val="064F91"/>
                </a:solidFill>
                <a:latin typeface="Calibri"/>
              </a:rPr>
              <a:t>09.05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83080" y="1984248"/>
            <a:ext cx="6720840" cy="512064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0" i="0">
                <a:solidFill>
                  <a:srgbClr val="111111"/>
                </a:solidFill>
                <a:latin typeface="Calibri"/>
              </a:rPr>
              <a:t>Pass 1: Hur el skadar (avsnitt 1–4) och ett exempel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551176"/>
            <a:ext cx="1005840" cy="512064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1" i="0">
                <a:solidFill>
                  <a:srgbClr val="064F91"/>
                </a:solidFill>
                <a:latin typeface="Calibri"/>
              </a:rPr>
              <a:t>09.30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83080" y="2551176"/>
            <a:ext cx="6720840" cy="512064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0" i="0">
                <a:solidFill>
                  <a:srgbClr val="111111"/>
                </a:solidFill>
                <a:latin typeface="Calibri"/>
              </a:rPr>
              <a:t>Övning 1.2, 1.3 och 1.4 tillsammans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3118104"/>
            <a:ext cx="8046720" cy="512064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0080" y="3118104"/>
            <a:ext cx="1005840" cy="512064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1" i="0">
                <a:solidFill>
                  <a:srgbClr val="064F91"/>
                </a:solidFill>
                <a:latin typeface="Calibri"/>
              </a:rPr>
              <a:t>09.50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83080" y="3118104"/>
            <a:ext cx="6720840" cy="512064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0" i="0">
                <a:solidFill>
                  <a:srgbClr val="111111"/>
                </a:solidFill>
                <a:latin typeface="Calibri"/>
              </a:rPr>
              <a:t>Paus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685032"/>
            <a:ext cx="1005840" cy="512064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1" i="0">
                <a:solidFill>
                  <a:srgbClr val="064F91"/>
                </a:solidFill>
                <a:latin typeface="Calibri"/>
              </a:rPr>
              <a:t>10.00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3080" y="3685032"/>
            <a:ext cx="6720840" cy="512064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0" i="0">
                <a:solidFill>
                  <a:srgbClr val="111111"/>
                </a:solidFill>
                <a:latin typeface="Calibri"/>
              </a:rPr>
              <a:t>Pass 2: Marin miljö, elolycka och tillbud (avsnitt 5–7)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251960"/>
            <a:ext cx="1005840" cy="512064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1" i="0">
                <a:solidFill>
                  <a:srgbClr val="064F91"/>
                </a:solidFill>
                <a:latin typeface="Calibri"/>
              </a:rPr>
              <a:t>10.25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83080" y="4251960"/>
            <a:ext cx="6720840" cy="512064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0" i="0">
                <a:solidFill>
                  <a:srgbClr val="111111"/>
                </a:solidFill>
                <a:latin typeface="Calibri"/>
              </a:rPr>
              <a:t>Övning 1.1 och 1.5 tillsammans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818888"/>
            <a:ext cx="1005840" cy="512064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1" i="0">
                <a:solidFill>
                  <a:srgbClr val="064F91"/>
                </a:solidFill>
                <a:latin typeface="Calibri"/>
              </a:rPr>
              <a:t>10.40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783080" y="4818888"/>
            <a:ext cx="6720840" cy="512064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0" i="0">
                <a:solidFill>
                  <a:srgbClr val="111111"/>
                </a:solidFill>
                <a:latin typeface="Calibri"/>
              </a:rPr>
              <a:t>Avslutsfråga, sammanfattning och det här gör du nu</a:t>
            </a:r>
          </a:p>
        </p:txBody>
      </p:sp>
      <p:pic>
        <p:nvPicPr>
          <p:cNvPr id="19" name="Picture 18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42 · Måndag · Elektriska risker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Fara, händelse och skada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8046720" cy="448056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sz="2500" b="1" i="0">
                <a:solidFill>
                  <a:srgbClr val="064F91"/>
                </a:solidFill>
                <a:latin typeface="Calibri"/>
              </a:rPr>
              <a:t>En risk beskriver du med tre ord.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1" i="0">
                <a:solidFill>
                  <a:srgbClr val="111111"/>
                </a:solidFill>
                <a:latin typeface="Calibri"/>
              </a:rPr>
              <a:t>Fara:</a:t>
            </a:r>
            <a:r>
              <a:rPr sz="2000" b="0" i="0">
                <a:solidFill>
                  <a:srgbClr val="111111"/>
                </a:solidFill>
                <a:latin typeface="Calibri"/>
              </a:rPr>
              <a:t> det som kan orsaka skada. Till exempel en spänningsförande del som går att nå.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1" i="0">
                <a:solidFill>
                  <a:srgbClr val="111111"/>
                </a:solidFill>
                <a:latin typeface="Calibri"/>
              </a:rPr>
              <a:t>Exponering:</a:t>
            </a:r>
            <a:r>
              <a:rPr sz="2000" b="0" i="0">
                <a:solidFill>
                  <a:srgbClr val="111111"/>
                </a:solidFill>
                <a:latin typeface="Calibri"/>
              </a:rPr>
              <a:t> hur en person kan utsättas för faran. Vem, var och när?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1" i="0">
                <a:solidFill>
                  <a:srgbClr val="111111"/>
                </a:solidFill>
                <a:latin typeface="Calibri"/>
              </a:rPr>
              <a:t>Konsekvens:</a:t>
            </a:r>
            <a:r>
              <a:rPr sz="2000" b="0" i="0">
                <a:solidFill>
                  <a:srgbClr val="111111"/>
                </a:solidFill>
                <a:latin typeface="Calibri"/>
              </a:rPr>
              <a:t> den skada som kan följa. Till exempel en stöt, en brännskada eller ett fall.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Riskbedömningen kopplar arbetsmomentet till både möjlig händelse och följd.</a:t>
            </a:r>
          </a:p>
        </p:txBody>
      </p:sp>
      <p:pic>
        <p:nvPicPr>
          <p:cNvPr id="5" name="Picture 4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42 · Måndag · Elektriska risker  ·  Del 1 · avsnitt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Strömmens väg genom kroppen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4069080" cy="448056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sz="2500" b="1" i="0">
                <a:solidFill>
                  <a:srgbClr val="064F91"/>
                </a:solidFill>
                <a:latin typeface="Calibri"/>
              </a:rPr>
              <a:t>Spänningen ensam bestämmer inte skadan.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Skadans allvar beror på strömmen, hur länge den går och vilken väg den tar.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Fukt, kontaktyta och hudens tillstånd påverkar kontakten.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En väg genom bröstkorgen kan påverka hjärtat.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Ett generellt kroppsmotstånd kan inte ge en säker gräns.</a:t>
            </a:r>
          </a:p>
        </p:txBody>
      </p:sp>
      <p:pic>
        <p:nvPicPr>
          <p:cNvPr id="5" name="Figur: Två strömvägar genom kroppen: hand till hand och hand till fot. Båda passerar bröstkorgen nära hjärtat." descr="Två strömvägar genom kroppen: hand till hand och hand till fot. Båda passerar bröstkorgen nära hjärtat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6320" y="1758707"/>
            <a:ext cx="3794760" cy="3706345"/>
          </a:xfrm>
          <a:prstGeom prst="rect">
            <a:avLst/>
          </a:prstGeom>
        </p:spPr>
      </p:pic>
      <p:pic>
        <p:nvPicPr>
          <p:cNvPr id="6" name="Picture 5" descr="sidfo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42 · Måndag · Elektriska risker  ·  Del 1 · avsnitt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Beröringsspänning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8046720" cy="224028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sz="2500" b="1" i="0">
                <a:solidFill>
                  <a:srgbClr val="064F91"/>
                </a:solidFill>
                <a:latin typeface="Calibri"/>
              </a:rPr>
              <a:t>U</a:t>
            </a:r>
            <a:r>
              <a:rPr sz="2500" b="1" i="0" baseline="-25000">
                <a:solidFill>
                  <a:srgbClr val="064F91"/>
                </a:solidFill>
                <a:latin typeface="Calibri"/>
              </a:rPr>
              <a:t>beröring</a:t>
            </a:r>
            <a:r>
              <a:rPr sz="2500" b="1" i="0">
                <a:solidFill>
                  <a:srgbClr val="064F91"/>
                </a:solidFill>
                <a:latin typeface="Calibri"/>
              </a:rPr>
              <a:t> = |V</a:t>
            </a:r>
            <a:r>
              <a:rPr sz="2500" b="1" i="0" baseline="-25000">
                <a:solidFill>
                  <a:srgbClr val="064F91"/>
                </a:solidFill>
                <a:latin typeface="Calibri"/>
              </a:rPr>
              <a:t>A</a:t>
            </a:r>
            <a:r>
              <a:rPr sz="2500" b="1" i="0">
                <a:solidFill>
                  <a:srgbClr val="064F91"/>
                </a:solidFill>
                <a:latin typeface="Calibri"/>
              </a:rPr>
              <a:t> − V</a:t>
            </a:r>
            <a:r>
              <a:rPr sz="2500" b="1" i="0" baseline="-25000">
                <a:solidFill>
                  <a:srgbClr val="064F91"/>
                </a:solidFill>
                <a:latin typeface="Calibri"/>
              </a:rPr>
              <a:t>B</a:t>
            </a:r>
            <a:r>
              <a:rPr sz="2500" b="1" i="0">
                <a:solidFill>
                  <a:srgbClr val="064F91"/>
                </a:solidFill>
                <a:latin typeface="Calibri"/>
              </a:rPr>
              <a:t>|</a:t>
            </a:r>
          </a:p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900" b="0" i="0">
                <a:solidFill>
                  <a:srgbClr val="111111"/>
                </a:solidFill>
                <a:latin typeface="Calibri"/>
              </a:rPr>
              <a:t>Spänningen mellan två punkter som en person kan röra samtidigt.</a:t>
            </a:r>
          </a:p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900" b="0" i="0">
                <a:solidFill>
                  <a:srgbClr val="111111"/>
                </a:solidFill>
                <a:latin typeface="Calibri"/>
              </a:rPr>
              <a:t>Vid ett isolationsfel kan utsatt metall bli spänningsförande.</a:t>
            </a:r>
          </a:p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900" b="0" i="0">
                <a:solidFill>
                  <a:srgbClr val="111111"/>
                </a:solidFill>
                <a:latin typeface="Calibri"/>
              </a:rPr>
              <a:t>I = U/R är en förenklad beräkningsmodell.</a:t>
            </a:r>
          </a:p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900" b="0" i="0">
                <a:solidFill>
                  <a:srgbClr val="111111"/>
                </a:solidFill>
                <a:latin typeface="Calibri"/>
              </a:rPr>
              <a:t>Kroppens elektriska egenskaper varierar med situationen.</a:t>
            </a:r>
          </a:p>
        </p:txBody>
      </p:sp>
      <p:pic>
        <p:nvPicPr>
          <p:cNvPr id="5" name="Figur: Pumpmotor på gummidämpare på stålskrovet. Isolationsfel mellan fasen och höljet, skyddsledaren (PE) är bruten. Handen rör höljet (punkt A) och fötterna står på däcket (punkt B)." descr="Pumpmotor på gummidämpare på stålskrovet. Isolationsfel mellan fasen och höljet, skyddsledaren (PE) är bruten. Handen rör höljet (punkt A) och fötterna står på däcket (punkt B)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21614" y="3749039"/>
            <a:ext cx="4500771" cy="2148840"/>
          </a:xfrm>
          <a:prstGeom prst="rect">
            <a:avLst/>
          </a:prstGeom>
        </p:spPr>
      </p:pic>
      <p:pic>
        <p:nvPicPr>
          <p:cNvPr id="6" name="Picture 5" descr="sidfo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42 · Måndag · Elektriska risker  ·  Del 1 · avsnitt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Ljusbågens konsekvenser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4069080" cy="448056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sz="2500" b="1" i="0">
                <a:solidFill>
                  <a:srgbClr val="064F91"/>
                </a:solidFill>
                <a:latin typeface="Calibri"/>
              </a:rPr>
              <a:t>En ljusbåge kan skada utan att ström går genom kroppen.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Ljusbågen ger värme, tryck, starkt ljus och splitter av smält metall.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Hur mycket felenergi som finns och hur länge felet varar avgör följden.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Ett tappat verktyg eller en felaktig mätanslutning kan starta en ljusbåge.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Riskbedömningen behöver omfatta hela arbetsmomentet.</a:t>
            </a:r>
          </a:p>
        </p:txBody>
      </p:sp>
      <p:pic>
        <p:nvPicPr>
          <p:cNvPr id="5" name="Figur: Ljusbåge mellan skenorna L1 och L2 i ett öppet ställverksfack: värme och starkt ljus, tryckvåg och splitter av smält metall." descr="Ljusbåge mellan skenorna L1 och L2 i ett öppet ställverksfack: värme och starkt ljus, tryckvåg och splitter av smält metall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6320" y="2450417"/>
            <a:ext cx="3794760" cy="2322924"/>
          </a:xfrm>
          <a:prstGeom prst="rect">
            <a:avLst/>
          </a:prstGeom>
        </p:spPr>
      </p:pic>
      <p:pic>
        <p:nvPicPr>
          <p:cNvPr id="6" name="Picture 5" descr="sidfo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42 · Måndag · Elektriska risker  ·  Del 1 · avsnitt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Exempel: en riskförklaring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8046720" cy="7315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0" i="1">
                <a:solidFill>
                  <a:srgbClr val="4A4A4A"/>
                </a:solidFill>
                <a:latin typeface="Calibri"/>
              </a:rPr>
              <a:t>En vinkelslip har en kabel som legat klämd under en tung låda. Ingen använder maskinen just nu.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194560"/>
            <a:ext cx="4069080" cy="37033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sz="2100" b="1" i="0">
                <a:solidFill>
                  <a:srgbClr val="064F91"/>
                </a:solidFill>
                <a:latin typeface="Calibri"/>
              </a:rPr>
              <a:t>Fara, möjlig exponering och konsekvens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800" b="0" i="0">
                <a:solidFill>
                  <a:srgbClr val="111111"/>
                </a:solidFill>
                <a:latin typeface="Calibri"/>
              </a:rPr>
              <a:t>1. </a:t>
            </a:r>
            <a:r>
              <a:rPr sz="1800" b="1" i="0">
                <a:solidFill>
                  <a:srgbClr val="111111"/>
                </a:solidFill>
                <a:latin typeface="Calibri"/>
              </a:rPr>
              <a:t>Observation:</a:t>
            </a:r>
            <a:r>
              <a:rPr sz="1800" b="0" i="0">
                <a:solidFill>
                  <a:srgbClr val="111111"/>
                </a:solidFill>
                <a:latin typeface="Calibri"/>
              </a:rPr>
              <a:t> kabeln är tillplattad och manteln har en spricka.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800" b="0" i="0">
                <a:solidFill>
                  <a:srgbClr val="111111"/>
                </a:solidFill>
                <a:latin typeface="Calibri"/>
              </a:rPr>
              <a:t>2. </a:t>
            </a:r>
            <a:r>
              <a:rPr sz="1800" b="1" i="0">
                <a:solidFill>
                  <a:srgbClr val="111111"/>
                </a:solidFill>
                <a:latin typeface="Calibri"/>
              </a:rPr>
              <a:t>Möjlig händelse:</a:t>
            </a:r>
            <a:r>
              <a:rPr sz="1800" b="0" i="0">
                <a:solidFill>
                  <a:srgbClr val="111111"/>
                </a:solidFill>
                <a:latin typeface="Calibri"/>
              </a:rPr>
              <a:t> någon rör en del där isolationen är trasig.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800" b="0" i="0">
                <a:solidFill>
                  <a:srgbClr val="111111"/>
                </a:solidFill>
                <a:latin typeface="Calibri"/>
              </a:rPr>
              <a:t>3. </a:t>
            </a:r>
            <a:r>
              <a:rPr sz="1800" b="1" i="0">
                <a:solidFill>
                  <a:srgbClr val="111111"/>
                </a:solidFill>
                <a:latin typeface="Calibri"/>
              </a:rPr>
              <a:t>Möjlig följd:</a:t>
            </a:r>
            <a:r>
              <a:rPr sz="1800" b="0" i="0">
                <a:solidFill>
                  <a:srgbClr val="111111"/>
                </a:solidFill>
                <a:latin typeface="Calibri"/>
              </a:rPr>
              <a:t> strömgenomgång, eller att maskinen tappas och skadar någon.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1" i="0">
                <a:solidFill>
                  <a:srgbClr val="111111"/>
                </a:solidFill>
                <a:latin typeface="Calibri"/>
              </a:rPr>
              <a:t>Ingen vet om kabeln är spänningssatt. Den synliga skadan räcker för att stoppa användningen.</a:t>
            </a:r>
          </a:p>
        </p:txBody>
      </p:sp>
      <p:pic>
        <p:nvPicPr>
          <p:cNvPr id="6" name="Figur: Vinkelslip på en arbetsbänk. Kabeln har legat klämd under en tung låda och är tillplattad, med en spricka i manteln. Maskinen används inte tills vidare." descr="Vinkelslip på en arbetsbänk. Kabeln har legat klämd under en tung låda och är tillplattad, med en spricka i manteln. Maskinen används inte tills vidare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6320" y="2589400"/>
            <a:ext cx="3794760" cy="2822198"/>
          </a:xfrm>
          <a:prstGeom prst="rect">
            <a:avLst/>
          </a:prstGeom>
        </p:spPr>
      </p:pic>
      <p:pic>
        <p:nvPicPr>
          <p:cNvPr id="7" name="Picture 6" descr="sidfo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42 · Måndag · Elektriska risker  ·  Del 1 · exempel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Övningar tillsammans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8046720" cy="5029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200" b="1" i="0">
                <a:solidFill>
                  <a:srgbClr val="064F91"/>
                </a:solidFill>
                <a:latin typeface="Calibri"/>
              </a:rPr>
              <a:t>Öppna del 1 och gå till 4 Övningar.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2057400"/>
            <a:ext cx="8046720" cy="566928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85800" y="2057400"/>
            <a:ext cx="1737360" cy="566928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1" i="0">
                <a:solidFill>
                  <a:srgbClr val="111111"/>
                </a:solidFill>
                <a:latin typeface="Calibri"/>
              </a:rPr>
              <a:t>Övning 1.2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68880" y="2057400"/>
            <a:ext cx="6035040" cy="566928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Två sorters skada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734056"/>
            <a:ext cx="8046720" cy="566928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85800" y="2734056"/>
            <a:ext cx="1737360" cy="566928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1" i="0">
                <a:solidFill>
                  <a:srgbClr val="111111"/>
                </a:solidFill>
                <a:latin typeface="Calibri"/>
              </a:rPr>
              <a:t>Övning 1.3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734056"/>
            <a:ext cx="6035040" cy="566928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Beröringspunkter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410712"/>
            <a:ext cx="8046720" cy="566928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85800" y="3410712"/>
            <a:ext cx="1737360" cy="566928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1" i="0">
                <a:solidFill>
                  <a:srgbClr val="111111"/>
                </a:solidFill>
                <a:latin typeface="Calibri"/>
              </a:rPr>
              <a:t>Övning 1.4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68880" y="3410712"/>
            <a:ext cx="6035040" cy="566928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Räkneexempel med begränsning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224528"/>
            <a:ext cx="8046720" cy="1673351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1900" b="0" i="0">
                <a:solidFill>
                  <a:srgbClr val="111111"/>
                </a:solidFill>
                <a:latin typeface="Calibri"/>
              </a:rPr>
              <a:t>Fem minuter per övning. Skriv ditt svar i chatten. Ledtrådar och facit finns på delsidan.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1400" b="0" i="0">
                <a:solidFill>
                  <a:srgbClr val="4A4A4A"/>
                </a:solidFill>
                <a:latin typeface="Calibri"/>
              </a:rPr>
              <a:t>nj22az.github.io/sjoskolan/vecka-42/aktuell/Del_1.html</a:t>
            </a:r>
          </a:p>
        </p:txBody>
      </p:sp>
      <p:pic>
        <p:nvPicPr>
          <p:cNvPr id="15" name="Picture 14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42 · Måndag · Elektriska risker  ·  Del 1 · 4 Övningar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099048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4160520" y="2011680"/>
            <a:ext cx="822960" cy="73152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2240280"/>
            <a:ext cx="7315200" cy="91440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4800" b="1" i="0">
                <a:solidFill>
                  <a:srgbClr val="111111"/>
                </a:solidFill>
                <a:latin typeface="Calibri"/>
              </a:rPr>
              <a:t>Paus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200400"/>
            <a:ext cx="7315200" cy="54864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2400" b="0" i="0">
                <a:solidFill>
                  <a:srgbClr val="4A4A4A"/>
                </a:solidFill>
                <a:latin typeface="Calibri"/>
              </a:rPr>
              <a:t>Vi fortsätter 10.00</a:t>
            </a:r>
          </a:p>
        </p:txBody>
      </p:sp>
      <p:pic>
        <p:nvPicPr>
          <p:cNvPr id="6" name="Picture 5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42 · Måndag · Elektriska risker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Risker i marin miljö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4069080" cy="448056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sz="2500" b="1" i="0">
                <a:solidFill>
                  <a:srgbClr val="064F91"/>
                </a:solidFill>
                <a:latin typeface="Calibri"/>
              </a:rPr>
              <a:t>Varje möjlig matningsväg behöver identifieras.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Fukt, trånga utrymmen och ett ledande skrov och däck påverkar arbetet.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Reservmatning och batterier kan ge flera energikällor.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En stoppad maskin eller en släckt panel visar inte att det är säkert att röra.</a:t>
            </a:r>
          </a:p>
        </p:txBody>
      </p:sp>
      <p:pic>
        <p:nvPicPr>
          <p:cNvPr id="5" name="Figur: En fördelning som kan matas från generator, nödgenerator med autostart, landanslutning, batteri och UPS." descr="En fördelning som kan matas från generator, nödgenerator med autostart, landanslutning, batteri och UPS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6320" y="2023951"/>
            <a:ext cx="3794760" cy="3175856"/>
          </a:xfrm>
          <a:prstGeom prst="rect">
            <a:avLst/>
          </a:prstGeom>
        </p:spPr>
      </p:pic>
      <p:pic>
        <p:nvPicPr>
          <p:cNvPr id="6" name="Picture 5" descr="sidfo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42 · Måndag · Elektriska risker  ·  Del 1 · avsnitt 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En inträffad elolycka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4069080" cy="448056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sz="2500" b="1" i="0">
                <a:solidFill>
                  <a:srgbClr val="064F91"/>
                </a:solidFill>
                <a:latin typeface="Calibri"/>
              </a:rPr>
              <a:t>Skydda dig själv först.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800" b="0" i="0">
                <a:solidFill>
                  <a:srgbClr val="111111"/>
                </a:solidFill>
                <a:latin typeface="Calibri"/>
              </a:rPr>
              <a:t>Bryt strömmen bara om det kan ske säkert.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800" b="0" i="0">
                <a:solidFill>
                  <a:srgbClr val="111111"/>
                </a:solidFill>
                <a:latin typeface="Calibri"/>
              </a:rPr>
              <a:t>Larma enligt fartygets nödinstruktion. I hamn: 112. Till sjöss: radiomedicinsk rådgivning (TMAS).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800" b="0" i="0">
                <a:solidFill>
                  <a:srgbClr val="111111"/>
                </a:solidFill>
                <a:latin typeface="Calibri"/>
              </a:rPr>
              <a:t>När platsen är säker: bedöm andningen och ge HLR vid behov.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800" b="0" i="0">
                <a:solidFill>
                  <a:srgbClr val="111111"/>
                </a:solidFill>
                <a:latin typeface="Calibri"/>
              </a:rPr>
              <a:t>Vid högspänning: håll avstånd tills en behörig person har säkrat platsen.</a:t>
            </a:r>
          </a:p>
        </p:txBody>
      </p:sp>
      <p:pic>
        <p:nvPicPr>
          <p:cNvPr id="5" name="Figur: Fem steg vid en elolycka ombord: skydda dig själv, bryt strömmen om det går säkert, larma enligt nödinstruktionen, andning och HLR när platsen är säker, medicinsk rådgivning även utan synlig skada." descr="Fem steg vid en elolycka ombord: skydda dig själv, bryt strömmen om det går säkert, larma enligt nödinstruktionen, andning och HLR när platsen är säker, medicinsk rådgivning även utan synlig skada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6320" y="1670292"/>
            <a:ext cx="3794760" cy="3883174"/>
          </a:xfrm>
          <a:prstGeom prst="rect">
            <a:avLst/>
          </a:prstGeom>
        </p:spPr>
      </p:pic>
      <p:pic>
        <p:nvPicPr>
          <p:cNvPr id="6" name="Picture 5" descr="sidfo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42 · Måndag · Elektriska risker  ·  Del 1 · avsnitt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Tillbud och lärande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8046720" cy="448056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sz="2500" b="1" i="0">
                <a:solidFill>
                  <a:srgbClr val="064F91"/>
                </a:solidFill>
                <a:latin typeface="Calibri"/>
              </a:rPr>
              <a:t>Rapportera även när ingen skadades.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Ett tillbud är en händelse som kunde ha lett till skada.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Skriv vad som hände och vilka skydd som brast.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Skilj på observation, bakomliggande orsak och åtgärd.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”Proben var skadad” är en observation. ”Ingen förkontroll ingick” kan förklara varför risken fanns kvar.</a:t>
            </a:r>
          </a:p>
        </p:txBody>
      </p:sp>
      <p:pic>
        <p:nvPicPr>
          <p:cNvPr id="5" name="Picture 4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42 · Måndag · Elektriska risker  ·  Del 1 · avsnitt 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Exempel: tillbud och förbättring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8046720" cy="448056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1200"/>
              </a:spcAft>
            </a:pPr>
            <a:r>
              <a:rPr sz="1900" b="0" i="1">
                <a:solidFill>
                  <a:srgbClr val="4A4A4A"/>
                </a:solidFill>
                <a:latin typeface="Calibri"/>
              </a:rPr>
              <a:t>Ett låsbleck för frånskiljaren är böjt och går inte att stänga. Det upptäcks innan arbetet börjar.</a:t>
            </a:r>
          </a:p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sz="2500" b="1" i="0">
                <a:solidFill>
                  <a:srgbClr val="064F91"/>
                </a:solidFill>
                <a:latin typeface="Calibri"/>
              </a:rPr>
              <a:t>Direkt åtgärd och förebyggande kontroll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1. Ta det böjda låsblecket ur bruk och märk det enligt rutinen.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2. Hämta ett helt låsbleck innan frånskiljaren låses.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3. Följ upp hur skadan uppstod och om låsutrustningen kontrolleras före användning.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1" i="0">
                <a:solidFill>
                  <a:srgbClr val="111111"/>
                </a:solidFill>
                <a:latin typeface="Calibri"/>
              </a:rPr>
              <a:t>Rapporten skiljer vad som observerats från antagen orsak. Åtgärden ska kunna följas upp.</a:t>
            </a:r>
          </a:p>
        </p:txBody>
      </p:sp>
      <p:pic>
        <p:nvPicPr>
          <p:cNvPr id="5" name="Picture 4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42 · Måndag · Elektriska risker  ·  Del 1 · exempel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Övningar tillsammans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8046720" cy="5029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200" b="1" i="0">
                <a:solidFill>
                  <a:srgbClr val="064F91"/>
                </a:solidFill>
                <a:latin typeface="Calibri"/>
              </a:rPr>
              <a:t>Öppna del 1 och gå till 4 Övningar.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2057400"/>
            <a:ext cx="8046720" cy="566928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85800" y="2057400"/>
            <a:ext cx="1737360" cy="566928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1" i="0">
                <a:solidFill>
                  <a:srgbClr val="111111"/>
                </a:solidFill>
                <a:latin typeface="Calibri"/>
              </a:rPr>
              <a:t>Övning 1.1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68880" y="2057400"/>
            <a:ext cx="6035040" cy="566928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Fuktig miljö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734056"/>
            <a:ext cx="8046720" cy="566928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85800" y="2734056"/>
            <a:ext cx="1737360" cy="566928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1" i="0">
                <a:solidFill>
                  <a:srgbClr val="111111"/>
                </a:solidFill>
                <a:latin typeface="Calibri"/>
              </a:rPr>
              <a:t>Övning 1.5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734056"/>
            <a:ext cx="6035040" cy="566928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Släckt panel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547872"/>
            <a:ext cx="8046720" cy="2350008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1900" b="0" i="0">
                <a:solidFill>
                  <a:srgbClr val="111111"/>
                </a:solidFill>
                <a:latin typeface="Calibri"/>
              </a:rPr>
              <a:t>Fem minuter per övning. Skriv ditt svar i chatten. Övning 1.6–1.10 gör du själv efter lektionen.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1400" b="0" i="0">
                <a:solidFill>
                  <a:srgbClr val="4A4A4A"/>
                </a:solidFill>
                <a:latin typeface="Calibri"/>
              </a:rPr>
              <a:t>nj22az.github.io/sjoskolan/vecka-42/aktuell/Del_1.html</a:t>
            </a:r>
          </a:p>
        </p:txBody>
      </p:sp>
      <p:pic>
        <p:nvPicPr>
          <p:cNvPr id="12" name="Picture 11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42 · Måndag · Elektriska risker  ·  Del 1 · 4 Övningar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Avslutsfråga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8046720" cy="2011680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3200" b="1" i="0">
                <a:solidFill>
                  <a:srgbClr val="111111"/>
                </a:solidFill>
                <a:latin typeface="Calibri"/>
              </a:rPr>
              <a:t>Vilka uppgifter saknas oftast när någon bara säger ”det är 24 V”?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069080"/>
            <a:ext cx="8046720" cy="146304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2000" b="0" i="0">
                <a:solidFill>
                  <a:srgbClr val="4A4A4A"/>
                </a:solidFill>
                <a:latin typeface="Calibri"/>
              </a:rPr>
              <a:t>Påbörja v42-riskbedömningen. Beskriv arbetsmoment, miljö, energikällor och möjliga konsekvenser.</a:t>
            </a:r>
          </a:p>
        </p:txBody>
      </p:sp>
      <p:pic>
        <p:nvPicPr>
          <p:cNvPr id="6" name="Picture 5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42 · Måndag · Elektriska risker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Sammanfattning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8046720" cy="443484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1400"/>
              </a:spcAft>
            </a:pPr>
            <a:r>
              <a:rPr sz="2100" b="0" i="0">
                <a:solidFill>
                  <a:srgbClr val="111111"/>
                </a:solidFill>
                <a:latin typeface="Calibri"/>
              </a:rPr>
              <a:t>1. El skadar på tre sätt: strömgenomgång, ljusbåge och följdolycka.</a:t>
            </a:r>
          </a:p>
          <a:p>
            <a:pPr algn="l">
              <a:lnSpc>
                <a:spcPct val="108000"/>
              </a:lnSpc>
              <a:spcAft>
                <a:spcPts val="1400"/>
              </a:spcAft>
            </a:pPr>
            <a:r>
              <a:rPr sz="2100" b="0" i="0">
                <a:solidFill>
                  <a:srgbClr val="111111"/>
                </a:solidFill>
                <a:latin typeface="Calibri"/>
              </a:rPr>
              <a:t>2. Beskriv risken med fara, exponering och konsekvens. Ombord finns ofta flera energikällor.</a:t>
            </a:r>
          </a:p>
          <a:p>
            <a:pPr algn="l">
              <a:lnSpc>
                <a:spcPct val="108000"/>
              </a:lnSpc>
              <a:spcAft>
                <a:spcPts val="1400"/>
              </a:spcAft>
            </a:pPr>
            <a:r>
              <a:rPr sz="2100" b="0" i="0">
                <a:solidFill>
                  <a:srgbClr val="111111"/>
                </a:solidFill>
                <a:latin typeface="Calibri"/>
              </a:rPr>
              <a:t>3. Vid en elolycka skyddar du dig själv först. Ett tillbud rapporteras även när ingen skadades.</a:t>
            </a:r>
          </a:p>
        </p:txBody>
      </p:sp>
      <p:pic>
        <p:nvPicPr>
          <p:cNvPr id="5" name="Picture 4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42 · Måndag · Elektriska risker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Det här gör du nu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8046720" cy="443484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14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1. Läs del 1. Tryck på ”Jag har läst del 1” längst ned på sidan.</a:t>
            </a:r>
          </a:p>
          <a:p>
            <a:pPr algn="l">
              <a:lnSpc>
                <a:spcPct val="108000"/>
              </a:lnSpc>
              <a:spcAft>
                <a:spcPts val="14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2. Gör övning 1.6–1.10 på delsidan. Ledtrådar och facit finns där.</a:t>
            </a:r>
          </a:p>
          <a:p>
            <a:pPr algn="l">
              <a:lnSpc>
                <a:spcPct val="108000"/>
              </a:lnSpc>
              <a:spcAft>
                <a:spcPts val="14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3. Titta på filmen Fem steg (repetition från vecka 40).</a:t>
            </a:r>
          </a:p>
          <a:p>
            <a:pPr algn="l">
              <a:lnSpc>
                <a:spcPct val="108000"/>
              </a:lnSpc>
              <a:spcAft>
                <a:spcPts val="14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4. Börja läsa de fyra texterna till veckans quiz.</a:t>
            </a:r>
          </a:p>
          <a:p>
            <a:pPr algn="l">
              <a:lnSpc>
                <a:spcPct val="108000"/>
              </a:lnSpc>
              <a:spcAft>
                <a:spcPts val="14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5. I morgon tisdag 15.00: del 2, Regler, ansvar och arbetsmetoder.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700" b="0" i="0">
                <a:solidFill>
                  <a:srgbClr val="4A4A4A"/>
                </a:solidFill>
                <a:latin typeface="Calibri"/>
              </a:rPr>
              <a:t>Quizet senast torsdag 15 oktober, inlämningen senast söndag 18 oktober. Båda öppnar du från veckosidan.</a:t>
            </a:r>
          </a:p>
        </p:txBody>
      </p:sp>
      <p:pic>
        <p:nvPicPr>
          <p:cNvPr id="5" name="Picture 4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42 · Måndag · Elektriska risker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Källor och fortsatt läsning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8046720" cy="384048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700" b="0" i="0">
                <a:solidFill>
                  <a:srgbClr val="064F91"/>
                </a:solidFill>
                <a:latin typeface="Calibri"/>
                <a:hlinkClick r:id="rId2"/>
              </a:rPr>
              <a:t>Sjöskolan: vecka 42, del 1 Elektriska risker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920240"/>
            <a:ext cx="8046720" cy="384048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700" b="0" i="0">
                <a:solidFill>
                  <a:srgbClr val="111111"/>
                </a:solidFill>
                <a:latin typeface="Calibri"/>
              </a:rPr>
              <a:t>Kursplanen för Elteknik och ellära, lärandemål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377440"/>
            <a:ext cx="8046720" cy="384048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700" b="0" i="0">
                <a:solidFill>
                  <a:srgbClr val="064F91"/>
                </a:solidFill>
                <a:latin typeface="Calibri"/>
                <a:hlinkClick r:id="rId3"/>
              </a:rPr>
              <a:t>Elsäkerhetsverket: Vad kan orsaka en elolycka?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834640"/>
            <a:ext cx="8046720" cy="384048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700" b="0" i="0">
                <a:solidFill>
                  <a:srgbClr val="064F91"/>
                </a:solidFill>
                <a:latin typeface="Calibri"/>
                <a:hlinkClick r:id="rId4"/>
              </a:rPr>
              <a:t>Elsäkerhetsverket: Vad gör jag vid en elolycka?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291840"/>
            <a:ext cx="8046720" cy="384048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700" b="0" i="0">
                <a:solidFill>
                  <a:srgbClr val="064F91"/>
                </a:solidFill>
                <a:latin typeface="Calibri"/>
                <a:hlinkClick r:id="rId5"/>
              </a:rPr>
              <a:t>Transportstyrelsen: Elinstallationer på fartyg – lagar, föreskrifter och standarder</a:t>
            </a:r>
          </a:p>
        </p:txBody>
      </p:sp>
      <p:pic>
        <p:nvPicPr>
          <p:cNvPr id="9" name="Picture 8" descr="sidfot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42 · Måndag · Elektriska risker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>
  <Application>Microsoft PowerPoint</Application>
  <Slides>36</Slides>
  <Notes>0</Notes>
  <HiddenSlides>0</HiddenSlides>
</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2026-09-20T20:09:37.2430000Z</dcterms:created>
  <dcterms:modified xsi:type="dcterms:W3CDTF">2026-09-20T20:09:37.2430000Z</dcterms:modified>
</coreProperties>
</file>