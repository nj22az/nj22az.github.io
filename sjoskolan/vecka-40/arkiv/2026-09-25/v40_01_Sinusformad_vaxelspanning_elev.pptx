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6073e9129094d4b" Type="http://schemas.openxmlformats.org/officeDocument/2006/relationships/officeDocument" Target="ppt/presentation.xml"/><Relationship Id="R4522876c306c43f1" Type="http://schemas.openxmlformats.org/package/2006/relationships/metadata/core-properties" Target="docProps/core.xml"/><Relationship Id="Rc3b09976b40943a7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8a19ee962d564dbc"/>
  </p:sldMasterIdLst>
  <p:sldIdLst>
    <p:sldId id="256" r:id="Rd95d8fe4a07441a4"/>
    <p:sldId id="257" r:id="Raac36a7cd398494b"/>
    <p:sldId id="258" r:id="R075c7b6e71b64809"/>
    <p:sldId id="259" r:id="R4e14c181b7b74f9f"/>
    <p:sldId id="260" r:id="R81e74f6335cf47b3"/>
    <p:sldId id="261" r:id="R3046497170044f73"/>
    <p:sldId id="262" r:id="R4d51561110c04d7e"/>
    <p:sldId id="263" r:id="Rbf047b6bfd9942a6"/>
    <p:sldId id="264" r:id="R338426628f21456b"/>
    <p:sldId id="265" r:id="R3465eb6e4c994a4d"/>
    <p:sldId id="266" r:id="R8f73d7f080444c84"/>
    <p:sldId id="267" r:id="Re473edf889b14787"/>
    <p:sldId id="268" r:id="R44931635aea4464d"/>
    <p:sldId id="269" r:id="Rc285a1f214c64c79"/>
    <p:sldId id="270" r:id="Rea965a18ec2d49bb"/>
    <p:sldId id="271" r:id="R7944b94834d644eb"/>
    <p:sldId id="272" r:id="R2dc8900d392b44c6"/>
    <p:sldId id="273" r:id="Rd7377c6421d94b2f"/>
    <p:sldId id="274" r:id="R0aa33cc4adb4439e"/>
    <p:sldId id="275" r:id="R917ad157221948b1"/>
    <p:sldId id="276" r:id="R580c5a9d80c14420"/>
    <p:sldId id="277" r:id="R5dcf30d125814052"/>
    <p:sldId id="278" r:id="R021c261fd5724b2d"/>
    <p:sldId id="279" r:id="Ra9b0c2649e2c4337"/>
    <p:sldId id="280" r:id="R1b714b4844ab4bd9"/>
    <p:sldId id="281" r:id="R20046c8b546043c3"/>
    <p:sldId id="282" r:id="Rfdd514574c724270"/>
    <p:sldId id="283" r:id="R5db5f2d9831944ea"/>
    <p:sldId id="284" r:id="R925d1bb58c144cbe"/>
    <p:sldId id="285" r:id="Rad22a6a3ff484a89"/>
    <p:sldId id="286" r:id="Ra7ebf64dbebf4b2f"/>
    <p:sldId id="287" r:id="Rec1cb43597e648a6"/>
    <p:sldId id="288" r:id="Rf51555f558274185"/>
    <p:sldId id="289" r:id="R82aa8e28cb7d410f"/>
    <p:sldId id="290" r:id="Rbdf040f8aaab401e"/>
    <p:sldId id="291" r:id="Rfd12b34720b44ad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1c261fd5724b2d" Type="http://schemas.openxmlformats.org/officeDocument/2006/relationships/slide" Target="slides/slide23.xml"/><Relationship Id="R075c7b6e71b64809" Type="http://schemas.openxmlformats.org/officeDocument/2006/relationships/slide" Target="slides/slide3.xml"/><Relationship Id="R09abca4c2e8945ad" Type="http://schemas.openxmlformats.org/officeDocument/2006/relationships/presProps" Target="presProps.xml"/><Relationship Id="R0aa33cc4adb4439e" Type="http://schemas.openxmlformats.org/officeDocument/2006/relationships/slide" Target="slides/slide19.xml"/><Relationship Id="R1b714b4844ab4bd9" Type="http://schemas.openxmlformats.org/officeDocument/2006/relationships/slide" Target="slides/slide25.xml"/><Relationship Id="R20046c8b546043c3" Type="http://schemas.openxmlformats.org/officeDocument/2006/relationships/slide" Target="slides/slide26.xml"/><Relationship Id="R2dc8900d392b44c6" Type="http://schemas.openxmlformats.org/officeDocument/2006/relationships/slide" Target="slides/slide17.xml"/><Relationship Id="R3046497170044f73" Type="http://schemas.openxmlformats.org/officeDocument/2006/relationships/slide" Target="slides/slide6.xml"/><Relationship Id="R338426628f21456b" Type="http://schemas.openxmlformats.org/officeDocument/2006/relationships/slide" Target="slides/slide9.xml"/><Relationship Id="R3465eb6e4c994a4d" Type="http://schemas.openxmlformats.org/officeDocument/2006/relationships/slide" Target="slides/slide10.xml"/><Relationship Id="R44931635aea4464d" Type="http://schemas.openxmlformats.org/officeDocument/2006/relationships/slide" Target="slides/slide13.xml"/><Relationship Id="R4d51561110c04d7e" Type="http://schemas.openxmlformats.org/officeDocument/2006/relationships/slide" Target="slides/slide7.xml"/><Relationship Id="R4dd1a5d1665f4581" Type="http://schemas.openxmlformats.org/officeDocument/2006/relationships/theme" Target="theme/theme1.xml"/><Relationship Id="R4e14c181b7b74f9f" Type="http://schemas.openxmlformats.org/officeDocument/2006/relationships/slide" Target="slides/slide4.xml"/><Relationship Id="R580c5a9d80c14420" Type="http://schemas.openxmlformats.org/officeDocument/2006/relationships/slide" Target="slides/slide21.xml"/><Relationship Id="R5db5f2d9831944ea" Type="http://schemas.openxmlformats.org/officeDocument/2006/relationships/slide" Target="slides/slide28.xml"/><Relationship Id="R5dcf30d125814052" Type="http://schemas.openxmlformats.org/officeDocument/2006/relationships/slide" Target="slides/slide22.xml"/><Relationship Id="R7944b94834d644eb" Type="http://schemas.openxmlformats.org/officeDocument/2006/relationships/slide" Target="slides/slide16.xml"/><Relationship Id="R81e74f6335cf47b3" Type="http://schemas.openxmlformats.org/officeDocument/2006/relationships/slide" Target="slides/slide5.xml"/><Relationship Id="R82aa8e28cb7d410f" Type="http://schemas.openxmlformats.org/officeDocument/2006/relationships/slide" Target="slides/slide34.xml"/><Relationship Id="R8a19ee962d564dbc" Type="http://schemas.openxmlformats.org/officeDocument/2006/relationships/slideMaster" Target="slideMasters/slideMaster1.xml"/><Relationship Id="R8f73d7f080444c84" Type="http://schemas.openxmlformats.org/officeDocument/2006/relationships/slide" Target="slides/slide11.xml"/><Relationship Id="R917ad157221948b1" Type="http://schemas.openxmlformats.org/officeDocument/2006/relationships/slide" Target="slides/slide20.xml"/><Relationship Id="R925d1bb58c144cbe" Type="http://schemas.openxmlformats.org/officeDocument/2006/relationships/slide" Target="slides/slide29.xml"/><Relationship Id="Ra7ebf64dbebf4b2f" Type="http://schemas.openxmlformats.org/officeDocument/2006/relationships/slide" Target="slides/slide31.xml"/><Relationship Id="Ra9b0c2649e2c4337" Type="http://schemas.openxmlformats.org/officeDocument/2006/relationships/slide" Target="slides/slide24.xml"/><Relationship Id="Raac36a7cd398494b" Type="http://schemas.openxmlformats.org/officeDocument/2006/relationships/slide" Target="slides/slide2.xml"/><Relationship Id="Rad22a6a3ff484a89" Type="http://schemas.openxmlformats.org/officeDocument/2006/relationships/slide" Target="slides/slide30.xml"/><Relationship Id="Rbdf040f8aaab401e" Type="http://schemas.openxmlformats.org/officeDocument/2006/relationships/slide" Target="slides/slide35.xml"/><Relationship Id="Rbf047b6bfd9942a6" Type="http://schemas.openxmlformats.org/officeDocument/2006/relationships/slide" Target="slides/slide8.xml"/><Relationship Id="Rc1698c7012a2459e" Type="http://schemas.openxmlformats.org/officeDocument/2006/relationships/viewProps" Target="viewProps.xml"/><Relationship Id="Rc285a1f214c64c79" Type="http://schemas.openxmlformats.org/officeDocument/2006/relationships/slide" Target="slides/slide14.xml"/><Relationship Id="Rd7377c6421d94b2f" Type="http://schemas.openxmlformats.org/officeDocument/2006/relationships/slide" Target="slides/slide18.xml"/><Relationship Id="Rd95d8fe4a07441a4" Type="http://schemas.openxmlformats.org/officeDocument/2006/relationships/slide" Target="slides/slide1.xml"/><Relationship Id="Re473edf889b14787" Type="http://schemas.openxmlformats.org/officeDocument/2006/relationships/slide" Target="slides/slide12.xml"/><Relationship Id="Re7f5388ac37d4875" Type="http://schemas.openxmlformats.org/officeDocument/2006/relationships/tableStyles" Target="tableStyles.xml"/><Relationship Id="Rea965a18ec2d49bb" Type="http://schemas.openxmlformats.org/officeDocument/2006/relationships/slide" Target="slides/slide15.xml"/><Relationship Id="Rec1cb43597e648a6" Type="http://schemas.openxmlformats.org/officeDocument/2006/relationships/slide" Target="slides/slide32.xml"/><Relationship Id="Rf51555f558274185" Type="http://schemas.openxmlformats.org/officeDocument/2006/relationships/slide" Target="slides/slide33.xml"/><Relationship Id="Rfd12b34720b44ad5" Type="http://schemas.openxmlformats.org/officeDocument/2006/relationships/slide" Target="slides/slide36.xml"/><Relationship Id="Rfdd514574c724270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67427b931efd49d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85c924ed86e4c9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e3f6b9b403f3455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1b1cee2bf5914a4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47d5d8aa4f6b454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cd7c1a109a2b4d9d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94352c1c3826424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e264f26f104c47e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034d62fca5ab48cd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fec256ff97d1461d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b75d60855c744ff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E2CD4B-F516-4409-A7DC-DC274679F1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AE0DEC-5907-4926-8E9D-559B618B20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FC174-16CC-42BD-B69A-F86677B10F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C2075C-F955-4894-B17F-E705A120D6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DCFC0C-D59D-4281-85E2-261E88D101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3EC1DC-6AF3-4168-A6BE-BD63D8EE7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DC51F2-CD67-4C7B-A631-E145FE53E9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354CAE-CDBB-4DC0-A3EB-AEF0E1A58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0C48E3-7D60-4F49-B8F8-95A1339D03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22CC2-1491-4348-B17B-6B4209F57C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53ECE-35AA-43DB-99CA-3D0AAB59E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52D209-9D8C-4BE8-B25E-2DF1D29038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210298-DB2A-4F47-BA48-79AAA0598C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486CC6-E4D5-4C7B-8AD3-AA069C40CB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FDC94B-E851-44BC-9BD2-196697E640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BA0E46-55D9-41DC-B10B-64AF6E184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BB8641-C72D-4B77-83D5-5015D96396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486F488-4C81-4757-A373-AC714C909A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5590AD5-4F63-4400-A9FA-A894CAC10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C6BC21-C772-4CB0-A9DC-BB3A3BC2C4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1F78F9-9AB5-4D76-AFFD-5DAA164A0B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2D7E8-02BD-44B5-B13B-83DE335076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26C730-8536-44EB-B438-A42E093B1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1D6213-1CBF-4C46-8BF8-BF7A2AC27B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6EDF07-85F4-427E-9DB6-D8253568937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5F11EA3-1044-4C79-BF3B-98D9D538BA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2E4B5BA-D8AB-48F0-93EE-5DB97F2F29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87B0180-397A-42EC-8E5E-4A2F7E34F3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AF0B7C5-3321-4F4D-AD56-13B7C12498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D9D262-1559-47EB-88C0-3C0FBCDFC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8782B52-F9AB-46BB-A71B-53DDB381EB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7167AA7-064B-4F62-A3FE-F56687BE55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9A1431E-CEFC-4F4E-962E-919197794F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499E090-5B9E-4292-BAFA-97004D8AC9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9C35B5E-DF5E-4D14-9AFD-A8137931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80BF7B0-F916-41CA-8E1A-59E24BB69C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909EF4-74E8-4C0D-8697-7715219260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430B30-ECD3-4232-9AB6-D967A1C285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4919C5-73C3-4844-8E6E-ED634321A1E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10E2014-77F2-4C84-B2F1-BDE92F1AE3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0CCB86-482F-4ED4-9AB8-92369806A0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9E7777-1FC9-4818-B6F9-148B9889B0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6F232D-B347-4EE8-B88D-D4D4A37C7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A293A1-A5A0-45E5-982C-C794948755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B4B63F-6FF3-484D-A66D-553A454807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F9C1E6-A1A5-4D00-9B5F-4B51E72C76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8FB0FD-92CA-487D-8A10-D6460DCD7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B20313E-A5AC-46CC-9E32-CD757EDB20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0772EC-2D75-49F4-9748-3E1A0E8FC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689864-1D5F-48ED-B662-327741E80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80AAEA-3A94-4E90-89B1-427F6F3D4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D3F0F-4B07-4673-BB73-41E612AF9F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CAC180-CE69-4E2E-8DE5-612BD4ACF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EEF0E9D-1D27-4BC5-BCF2-E61F30786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506037-AC13-4857-9081-D5C464504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9442B-51A7-4BD1-AEB7-B70B7E3E8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60457E0-9DF3-4E0E-BC19-AD337CE1A6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9361-EFB5-4D70-9D25-57B2017332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ecd21904db2435c" Type="http://schemas.openxmlformats.org/officeDocument/2006/relationships/slideLayout" Target="../slideLayouts/slideLayout10.xml"/><Relationship Id="R4b3329c461e148f1" Type="http://schemas.openxmlformats.org/officeDocument/2006/relationships/slideLayout" Target="../slideLayouts/slideLayout1.xml"/><Relationship Id="R4b7b245b9c2c4a6a" Type="http://schemas.openxmlformats.org/officeDocument/2006/relationships/slideLayout" Target="../slideLayouts/slideLayout5.xml"/><Relationship Id="R5410be3ee0c34aa9" Type="http://schemas.openxmlformats.org/officeDocument/2006/relationships/theme" Target="theme/theme2.xml"/><Relationship Id="R5f421fa6c4684928" Type="http://schemas.openxmlformats.org/officeDocument/2006/relationships/slideLayout" Target="../slideLayouts/slideLayout7.xml"/><Relationship Id="R746819d78cee4441" Type="http://schemas.openxmlformats.org/officeDocument/2006/relationships/slideLayout" Target="../slideLayouts/slideLayout6.xml"/><Relationship Id="R769451e97b0a4212" Type="http://schemas.openxmlformats.org/officeDocument/2006/relationships/slideLayout" Target="../slideLayouts/slideLayout3.xml"/><Relationship Id="R8e15444f38c64e95" Type="http://schemas.openxmlformats.org/officeDocument/2006/relationships/slideLayout" Target="../slideLayouts/slideLayout4.xml"/><Relationship Id="Rbb29b4b8139849f0" Type="http://schemas.openxmlformats.org/officeDocument/2006/relationships/slideLayout" Target="../slideLayouts/slideLayout11.xml"/><Relationship Id="Rdca32fe23a5e45d8" Type="http://schemas.openxmlformats.org/officeDocument/2006/relationships/slideLayout" Target="../slideLayouts/slideLayout8.xml"/><Relationship Id="Rdcac1264123b48d4" Type="http://schemas.openxmlformats.org/officeDocument/2006/relationships/slideLayout" Target="../slideLayouts/slideLayout9.xml"/><Relationship Id="Rf5c2af6afc404a7d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B68E696-EC0F-47CB-8FE9-46AE86A30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20B8B3E-9EAD-42D7-A494-E1C3FEEE7B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3E4CC9-7665-4A29-8FCF-17C3DE8E34E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D3794A-F99E-45E5-9D90-AE009996DE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2506B0-AD80-458D-92E4-9E3F3BEEA7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3329c461e148f1"/>
    <p:sldLayoutId xmlns:r="http://schemas.openxmlformats.org/officeDocument/2006/relationships" id="2147483650" r:id="Rf5c2af6afc404a7d"/>
    <p:sldLayoutId xmlns:r="http://schemas.openxmlformats.org/officeDocument/2006/relationships" id="2147483651" r:id="R769451e97b0a4212"/>
    <p:sldLayoutId xmlns:r="http://schemas.openxmlformats.org/officeDocument/2006/relationships" id="2147483652" r:id="R8e15444f38c64e95"/>
    <p:sldLayoutId xmlns:r="http://schemas.openxmlformats.org/officeDocument/2006/relationships" id="2147483653" r:id="R4b7b245b9c2c4a6a"/>
    <p:sldLayoutId xmlns:r="http://schemas.openxmlformats.org/officeDocument/2006/relationships" id="2147483654" r:id="R746819d78cee4441"/>
    <p:sldLayoutId xmlns:r="http://schemas.openxmlformats.org/officeDocument/2006/relationships" id="2147483655" r:id="R5f421fa6c4684928"/>
    <p:sldLayoutId xmlns:r="http://schemas.openxmlformats.org/officeDocument/2006/relationships" id="2147483656" r:id="Rdca32fe23a5e45d8"/>
    <p:sldLayoutId xmlns:r="http://schemas.openxmlformats.org/officeDocument/2006/relationships" id="2147483657" r:id="Rdcac1264123b48d4"/>
    <p:sldLayoutId xmlns:r="http://schemas.openxmlformats.org/officeDocument/2006/relationships" id="2147483658" r:id="R0ecd21904db2435c"/>
    <p:sldLayoutId xmlns:r="http://schemas.openxmlformats.org/officeDocument/2006/relationships" id="2147483659" r:id="Rbb29b4b8139849f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8827d32d0534f99" Type="http://schemas.openxmlformats.org/officeDocument/2006/relationships/image" Target="../media/image.jpeg"/><Relationship Id="R415c59fd04b642c2" Type="http://schemas.openxmlformats.org/officeDocument/2006/relationships/slideLayout" Target="../slideLayouts/slideLayout1.xml"/><Relationship Id="R8ae935b21b9143ed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64ceeb0af34c4ded" Type="http://schemas.openxmlformats.org/officeDocument/2006/relationships/slideLayout" Target="../slideLayouts/slideLayout1.xml"/><Relationship Id="R8f758031ba6644d3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43c5ee33845a43b2" Type="http://schemas.openxmlformats.org/officeDocument/2006/relationships/image" Target="../media/image.jpeg"/><Relationship Id="R914b308671264e3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5a4db7573fdd4848" Type="http://schemas.openxmlformats.org/officeDocument/2006/relationships/image" Target="../media/image.jpeg"/><Relationship Id="Rcfb039750ee24f8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9fb9d5a3386744cf" Type="http://schemas.openxmlformats.org/officeDocument/2006/relationships/slideLayout" Target="../slideLayouts/slideLayout1.xml"/><Relationship Id="Rc6361e1c491b45b5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9763f56f9ac94a6e" Type="http://schemas.openxmlformats.org/officeDocument/2006/relationships/image" Target="../media/image.jpeg"/><Relationship Id="Rede46c768656423d" Type="http://schemas.openxmlformats.org/officeDocument/2006/relationships/slideLayout" Target="../slideLayouts/slideLayout1.xml"/><Relationship Id="Rf813bebfa7b74dd9" Type="http://schemas.openxmlformats.org/officeDocument/2006/relationships/chart" Target="charts/chart1.xml"/></Relationships>
</file>

<file path=ppt/slides/_rels/slide7.xml.rels><?xml version='1.0' encoding='UTF-8' standalone='yes'?>
<Relationships xmlns="http://schemas.openxmlformats.org/package/2006/relationships"><Relationship Id="R14771516c945437b" Type="http://schemas.openxmlformats.org/officeDocument/2006/relationships/image" Target="../media/image.jpeg"/><Relationship Id="R96bc84e07a2a4bcc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a06b1ca716754bf0" Type="http://schemas.openxmlformats.org/officeDocument/2006/relationships/slideLayout" Target="../slideLayouts/slideLayout1.xml"/><Relationship Id="Ra0a1625e32a64a3e" Type="http://schemas.openxmlformats.org/officeDocument/2006/relationships/image" Target="../media/image.jpe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cc107c7fc95a4e56" Type="http://schemas.openxmlformats.org/officeDocument/2006/relationships/image" Target="../media/image.jpeg"/><Relationship Id="Redae4ca1cc1c414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951149262f64124" Type="http://schemas.openxmlformats.org/officeDocument/2006/relationships/image" Target="../media/image.jpeg"/><Relationship Id="Rc91508bb24e84570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e16c73951a14d28" Type="http://schemas.openxmlformats.org/officeDocument/2006/relationships/slideLayout" Target="../slideLayouts/slideLayout1.xml"/><Relationship Id="Rb8fb33a6550c4864" Type="http://schemas.openxmlformats.org/officeDocument/2006/relationships/image" Target="../media/image.jpe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7be9ee06f8794a8c" Type="http://schemas.openxmlformats.org/officeDocument/2006/relationships/slideLayout" Target="../slideLayouts/slideLayout1.xml"/><Relationship Id="Rec46979ad67c41f5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87f8fdc6f3634a0f" Type="http://schemas.openxmlformats.org/officeDocument/2006/relationships/slideLayout" Target="../slideLayouts/slideLayout1.xml"/><Relationship Id="Rcb692ed032a24ade" Type="http://schemas.openxmlformats.org/officeDocument/2006/relationships/image" Target="../media/image.jpe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136286b67c7e41c7" Type="http://schemas.openxmlformats.org/officeDocument/2006/relationships/image" Target="../media/image.jpeg"/><Relationship Id="R77b180c0dbdd404b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74440ef2bbf443f2" Type="http://schemas.openxmlformats.org/officeDocument/2006/relationships/image" Target="../media/image.jpeg"/><Relationship Id="Ra042aab99f1c41de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1d0d1644cec04faa" Type="http://schemas.openxmlformats.org/officeDocument/2006/relationships/image" Target="../media/image.jpeg"/><Relationship Id="R30465d3e82b64e6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52e786b4423f4fb8" Type="http://schemas.openxmlformats.org/officeDocument/2006/relationships/image" Target="../media/image.jpeg"/><Relationship Id="R90849a9fffdd4457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01d5522ae6cd4edc" Type="http://schemas.openxmlformats.org/officeDocument/2006/relationships/image" Target="../media/image.jpeg"/><Relationship Id="R67af887b6c774874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d99091c561840a5" Type="http://schemas.openxmlformats.org/officeDocument/2006/relationships/slideLayout" Target="../slideLayouts/slideLayout1.xml"/><Relationship Id="Rcd89ec73d96c4c27" Type="http://schemas.openxmlformats.org/officeDocument/2006/relationships/image" Target="../media/image.jpe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0c6e39c5e2f64eab" Type="http://schemas.openxmlformats.org/officeDocument/2006/relationships/slideLayout" Target="../slideLayouts/slideLayout1.xml"/><Relationship Id="Rb2d4972f7b2f4ec7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1db0f79db00e4739" Type="http://schemas.openxmlformats.org/officeDocument/2006/relationships/slideLayout" Target="../slideLayouts/slideLayout1.xml"/><Relationship Id="Rfbcdf159de5f424d" Type="http://schemas.openxmlformats.org/officeDocument/2006/relationships/image" Target="../media/image.jpe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01f3e6f7a417493e" Type="http://schemas.openxmlformats.org/officeDocument/2006/relationships/slideLayout" Target="../slideLayouts/slideLayout1.xml"/><Relationship Id="Rdee27d64bb7e471f" Type="http://schemas.openxmlformats.org/officeDocument/2006/relationships/image" Target="../media/image.jpeg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80322fe788ce4c3a" Type="http://schemas.openxmlformats.org/officeDocument/2006/relationships/slideLayout" Target="../slideLayouts/slideLayout1.xml"/><Relationship Id="Rbaac7ccaf1dd4312" Type="http://schemas.openxmlformats.org/officeDocument/2006/relationships/image" Target="../media/image.jpeg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84364c1e8f944400" Type="http://schemas.openxmlformats.org/officeDocument/2006/relationships/image" Target="../media/image.jpeg"/><Relationship Id="Re865cd866106408a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2c2195c3ce1449af" Type="http://schemas.openxmlformats.org/officeDocument/2006/relationships/image" Target="../media/image.jpeg"/><Relationship Id="R58a9471ec7804de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1d5e09281cf24903" Type="http://schemas.openxmlformats.org/officeDocument/2006/relationships/slideLayout" Target="../slideLayouts/slideLayout1.xml"/><Relationship Id="R730824da0abe42a3" Type="http://schemas.openxmlformats.org/officeDocument/2006/relationships/image" Target="../media/image.jpeg"/><Relationship Id="rId3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710f8146884143a0" Type="http://schemas.openxmlformats.org/officeDocument/2006/relationships/image" Target="../media/image.jpeg"/><Relationship Id="Rd0e671aa3de242cc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212524de61374c35" Type="http://schemas.openxmlformats.org/officeDocument/2006/relationships/image" Target="../media/image.jpeg"/><Relationship Id="Rbb99116e9c76401d" Type="http://schemas.openxmlformats.org/officeDocument/2006/relationships/slideLayout" Target="../slideLayouts/slideLayout1.xml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98ae6560088c47b6" Type="http://schemas.openxmlformats.org/officeDocument/2006/relationships/image" Target="../media/image.jpeg"/><Relationship Id="Rffad8d2169714fbd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293cdc094bb34d77" Type="http://schemas.openxmlformats.org/officeDocument/2006/relationships/slideLayout" Target="../slideLayouts/slideLayout1.xml"/><Relationship Id="Rf8991c96ae384687" Type="http://schemas.openxmlformats.org/officeDocument/2006/relationships/image" Target="../media/image.jpeg"/><Relationship Id="rId3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1f470b5c086a42c1" Type="http://schemas.openxmlformats.org/officeDocument/2006/relationships/image" Target="../media/image.jpeg"/><Relationship Id="Rb84b034cc27c4676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4c01344890f04254" Type="http://schemas.openxmlformats.org/officeDocument/2006/relationships/slideLayout" Target="../slideLayouts/slideLayout1.xml"/><Relationship Id="Rb0ffdb2a69784c56" Type="http://schemas.openxmlformats.org/officeDocument/2006/relationships/image" Target="../media/image.jpeg"/><Relationship Id="rId3" Type="http://schemas.openxmlformats.org/officeDocument/2006/relationships/image" Target="../media/image14.png"/></Relationships>
</file>

<file path=ppt/slides/_rels/slide33.xml.rels><?xml version='1.0' encoding='UTF-8' standalone='yes'?>
<Relationships xmlns="http://schemas.openxmlformats.org/package/2006/relationships"><Relationship Id="R86f0a0c5d86a46a9" Type="http://schemas.openxmlformats.org/officeDocument/2006/relationships/image" Target="../media/image.jpeg"/><Relationship Id="Ra45e57d7d6464237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b5d4996f20ae4892" Type="http://schemas.openxmlformats.org/officeDocument/2006/relationships/image" Target="../media/image.jpeg"/><Relationship Id="Reb42a5a56c8b44f4" Type="http://schemas.openxmlformats.org/officeDocument/2006/relationships/slideLayout" Target="../slideLayouts/slideLayout1.xml"/><Relationship Id="rId3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2096d2153f804dc5" Type="http://schemas.openxmlformats.org/officeDocument/2006/relationships/slideLayout" Target="../slideLayouts/slideLayout1.xml"/><Relationship Id="Ra59213d6fed1463f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24ff31a34d9040ef" Type="http://schemas.openxmlformats.org/officeDocument/2006/relationships/slideLayout" Target="../slideLayouts/slideLayout1.xml"/><Relationship Id="R29af0d100ca84e5f" Type="http://schemas.openxmlformats.org/officeDocument/2006/relationships/hyperlink" Target="https://openstax.org/books/university-physics-volume-2/pages/15-2-simple-ac-circuits" TargetMode="External"/><Relationship Id="R80c90bf710aa416d" Type="http://schemas.openxmlformats.org/officeDocument/2006/relationships/image" Target="../media/image.jpeg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u(t)</c:v>
          </c:tx>
          <c:spPr>
            <a:ln xmlns:a="http://schemas.openxmlformats.org/drawingml/2006/main" w="23813">
              <a:solidFill>
                <a:srgbClr val="064F91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  <c:pt idx="13">
                  <c:v>3.25</c:v>
                </c:pt>
                <c:pt idx="14">
                  <c:v>3.5</c:v>
                </c:pt>
                <c:pt idx="15">
                  <c:v>3.75</c:v>
                </c:pt>
                <c:pt idx="16">
                  <c:v>4</c:v>
                </c:pt>
                <c:pt idx="17">
                  <c:v>4.25</c:v>
                </c:pt>
                <c:pt idx="18">
                  <c:v>4.5</c:v>
                </c:pt>
                <c:pt idx="19">
                  <c:v>4.75</c:v>
                </c:pt>
                <c:pt idx="20">
                  <c:v>5</c:v>
                </c:pt>
                <c:pt idx="21">
                  <c:v>5.25</c:v>
                </c:pt>
                <c:pt idx="22">
                  <c:v>5.5</c:v>
                </c:pt>
                <c:pt idx="23">
                  <c:v>5.75</c:v>
                </c:pt>
                <c:pt idx="24">
                  <c:v>6</c:v>
                </c:pt>
                <c:pt idx="25">
                  <c:v>6.25</c:v>
                </c:pt>
                <c:pt idx="26">
                  <c:v>6.5</c:v>
                </c:pt>
                <c:pt idx="27">
                  <c:v>6.75</c:v>
                </c:pt>
                <c:pt idx="28">
                  <c:v>7</c:v>
                </c:pt>
                <c:pt idx="29">
                  <c:v>7.25</c:v>
                </c:pt>
                <c:pt idx="30">
                  <c:v>7.5</c:v>
                </c:pt>
                <c:pt idx="31">
                  <c:v>7.75</c:v>
                </c:pt>
                <c:pt idx="32">
                  <c:v>8</c:v>
                </c:pt>
                <c:pt idx="33">
                  <c:v>8.25</c:v>
                </c:pt>
                <c:pt idx="34">
                  <c:v>8.5</c:v>
                </c:pt>
                <c:pt idx="35">
                  <c:v>8.75</c:v>
                </c:pt>
                <c:pt idx="36">
                  <c:v>9</c:v>
                </c:pt>
                <c:pt idx="37">
                  <c:v>9.25</c:v>
                </c:pt>
                <c:pt idx="38">
                  <c:v>9.5</c:v>
                </c:pt>
                <c:pt idx="39">
                  <c:v>9.75</c:v>
                </c:pt>
                <c:pt idx="40">
                  <c:v>10</c:v>
                </c:pt>
                <c:pt idx="41">
                  <c:v>10.25</c:v>
                </c:pt>
                <c:pt idx="42">
                  <c:v>10.5</c:v>
                </c:pt>
                <c:pt idx="43">
                  <c:v>10.75</c:v>
                </c:pt>
                <c:pt idx="44">
                  <c:v>11</c:v>
                </c:pt>
                <c:pt idx="45">
                  <c:v>11.25</c:v>
                </c:pt>
                <c:pt idx="46">
                  <c:v>11.5</c:v>
                </c:pt>
                <c:pt idx="47">
                  <c:v>11.75</c:v>
                </c:pt>
                <c:pt idx="48">
                  <c:v>12</c:v>
                </c:pt>
                <c:pt idx="49">
                  <c:v>12.25</c:v>
                </c:pt>
                <c:pt idx="50">
                  <c:v>12.5</c:v>
                </c:pt>
                <c:pt idx="51">
                  <c:v>12.75</c:v>
                </c:pt>
                <c:pt idx="52">
                  <c:v>13</c:v>
                </c:pt>
                <c:pt idx="53">
                  <c:v>13.25</c:v>
                </c:pt>
                <c:pt idx="54">
                  <c:v>13.5</c:v>
                </c:pt>
                <c:pt idx="55">
                  <c:v>13.75</c:v>
                </c:pt>
                <c:pt idx="56">
                  <c:v>14</c:v>
                </c:pt>
                <c:pt idx="57">
                  <c:v>14.25</c:v>
                </c:pt>
                <c:pt idx="58">
                  <c:v>14.5</c:v>
                </c:pt>
                <c:pt idx="59">
                  <c:v>14.75</c:v>
                </c:pt>
                <c:pt idx="60">
                  <c:v>15</c:v>
                </c:pt>
                <c:pt idx="61">
                  <c:v>15.25</c:v>
                </c:pt>
                <c:pt idx="62">
                  <c:v>15.5</c:v>
                </c:pt>
                <c:pt idx="63">
                  <c:v>15.75</c:v>
                </c:pt>
                <c:pt idx="64">
                  <c:v>16</c:v>
                </c:pt>
                <c:pt idx="65">
                  <c:v>16.25</c:v>
                </c:pt>
                <c:pt idx="66">
                  <c:v>16.5</c:v>
                </c:pt>
                <c:pt idx="67">
                  <c:v>16.75</c:v>
                </c:pt>
                <c:pt idx="68">
                  <c:v>17</c:v>
                </c:pt>
                <c:pt idx="69">
                  <c:v>17.25</c:v>
                </c:pt>
                <c:pt idx="70">
                  <c:v>17.5</c:v>
                </c:pt>
                <c:pt idx="71">
                  <c:v>17.75</c:v>
                </c:pt>
                <c:pt idx="72">
                  <c:v>18</c:v>
                </c:pt>
                <c:pt idx="73">
                  <c:v>18.25</c:v>
                </c:pt>
                <c:pt idx="74">
                  <c:v>18.5</c:v>
                </c:pt>
                <c:pt idx="75">
                  <c:v>18.75</c:v>
                </c:pt>
                <c:pt idx="76">
                  <c:v>19</c:v>
                </c:pt>
                <c:pt idx="77">
                  <c:v>19.25</c:v>
                </c:pt>
                <c:pt idx="78">
                  <c:v>19.5</c:v>
                </c:pt>
                <c:pt idx="79">
                  <c:v>19.75</c:v>
                </c:pt>
                <c:pt idx="80">
                  <c:v>20</c:v>
                </c:pt>
              </c:numCache>
            </c:numRef>
          </c:xVal>
          <c:yVal>
            <c:numRef>
              <c:f>'Chart Data'!$B$2:$B$82</c:f>
              <c:numCache>
                <c:formatCode>0</c:formatCode>
                <c:ptCount val="81"/>
                <c:pt idx="0">
                  <c:v>0</c:v>
                </c:pt>
                <c:pt idx="1">
                  <c:v>1.33380462737336</c:v>
                </c:pt>
                <c:pt idx="2">
                  <c:v>2.65938590568392</c:v>
                </c:pt>
                <c:pt idx="3">
                  <c:v>3.96857118555039</c:v>
                </c:pt>
                <c:pt idx="4">
                  <c:v>5.25328890437411</c:v>
                </c:pt>
                <c:pt idx="5">
                  <c:v>6.50561835020653</c:v>
                </c:pt>
                <c:pt idx="6">
                  <c:v>7.7178384955723</c:v>
                </c:pt>
                <c:pt idx="7">
                  <c:v>8.88247560017113</c:v>
                </c:pt>
                <c:pt idx="8">
                  <c:v>9.99234928897204</c:v>
                </c:pt>
                <c:pt idx="9">
                  <c:v>11.0406168216131</c:v>
                </c:pt>
                <c:pt idx="10">
                  <c:v>12.0208152801713</c:v>
                </c:pt>
                <c:pt idx="11">
                  <c:v>12.9269014152005</c:v>
                </c:pt>
                <c:pt idx="12">
                  <c:v>13.7532889043741</c:v>
                </c:pt>
                <c:pt idx="13">
                  <c:v>14.4948827940196</c:v>
                </c:pt>
                <c:pt idx="14">
                  <c:v>15.1471109112023</c:v>
                </c:pt>
                <c:pt idx="15">
                  <c:v>15.7059520526919</c:v>
                </c:pt>
                <c:pt idx="16">
                  <c:v>16.1679607770176</c:v>
                </c:pt>
                <c:pt idx="17">
                  <c:v>16.5302886467605</c:v>
                </c:pt>
                <c:pt idx="18">
                  <c:v>16.7907017901173</c:v>
                </c:pt>
                <c:pt idx="19">
                  <c:v>16.9475946734632</c:v>
                </c:pt>
                <c:pt idx="20">
                  <c:v>17</c:v>
                </c:pt>
                <c:pt idx="21">
                  <c:v>16.9475946734632</c:v>
                </c:pt>
                <c:pt idx="22">
                  <c:v>16.7907017901173</c:v>
                </c:pt>
                <c:pt idx="23">
                  <c:v>16.5302886467605</c:v>
                </c:pt>
                <c:pt idx="24">
                  <c:v>16.1679607770176</c:v>
                </c:pt>
                <c:pt idx="25">
                  <c:v>15.7059520526919</c:v>
                </c:pt>
                <c:pt idx="26">
                  <c:v>15.1471109112023</c:v>
                </c:pt>
                <c:pt idx="27">
                  <c:v>14.4948827940196</c:v>
                </c:pt>
                <c:pt idx="28">
                  <c:v>13.7532889043741</c:v>
                </c:pt>
                <c:pt idx="29">
                  <c:v>12.9269014152005</c:v>
                </c:pt>
                <c:pt idx="30">
                  <c:v>12.0208152801713</c:v>
                </c:pt>
                <c:pt idx="31">
                  <c:v>11.0406168216131</c:v>
                </c:pt>
                <c:pt idx="32">
                  <c:v>9.99234928897205</c:v>
                </c:pt>
                <c:pt idx="33">
                  <c:v>8.88247560017113</c:v>
                </c:pt>
                <c:pt idx="34">
                  <c:v>7.7178384955723</c:v>
                </c:pt>
                <c:pt idx="35">
                  <c:v>6.50561835020653</c:v>
                </c:pt>
                <c:pt idx="36">
                  <c:v>5.25328890437411</c:v>
                </c:pt>
                <c:pt idx="37">
                  <c:v>3.96857118555039</c:v>
                </c:pt>
                <c:pt idx="38">
                  <c:v>2.65938590568393</c:v>
                </c:pt>
                <c:pt idx="39">
                  <c:v>1.33380462737337</c:v>
                </c:pt>
                <c:pt idx="40">
                  <c:v>2.0818995585505e-15</c:v>
                </c:pt>
                <c:pt idx="41">
                  <c:v>-1.33380462737335</c:v>
                </c:pt>
                <c:pt idx="42">
                  <c:v>-2.65938590568392</c:v>
                </c:pt>
                <c:pt idx="43">
                  <c:v>-3.96857118555039</c:v>
                </c:pt>
                <c:pt idx="44">
                  <c:v>-5.2532889043741</c:v>
                </c:pt>
                <c:pt idx="45">
                  <c:v>-6.50561835020652</c:v>
                </c:pt>
                <c:pt idx="46">
                  <c:v>-7.71783849557229</c:v>
                </c:pt>
                <c:pt idx="47">
                  <c:v>-8.88247560017114</c:v>
                </c:pt>
                <c:pt idx="48">
                  <c:v>-9.99234928897204</c:v>
                </c:pt>
                <c:pt idx="49">
                  <c:v>-11.0406168216131</c:v>
                </c:pt>
                <c:pt idx="50">
                  <c:v>-12.0208152801713</c:v>
                </c:pt>
                <c:pt idx="51">
                  <c:v>-12.9269014152005</c:v>
                </c:pt>
                <c:pt idx="52">
                  <c:v>-13.7532889043741</c:v>
                </c:pt>
                <c:pt idx="53">
                  <c:v>-14.4948827940196</c:v>
                </c:pt>
                <c:pt idx="54">
                  <c:v>-15.1471109112023</c:v>
                </c:pt>
                <c:pt idx="55">
                  <c:v>-15.7059520526919</c:v>
                </c:pt>
                <c:pt idx="56">
                  <c:v>-16.1679607770176</c:v>
                </c:pt>
                <c:pt idx="57">
                  <c:v>-16.5302886467605</c:v>
                </c:pt>
                <c:pt idx="58">
                  <c:v>-16.7907017901173</c:v>
                </c:pt>
                <c:pt idx="59">
                  <c:v>-16.9475946734632</c:v>
                </c:pt>
                <c:pt idx="60">
                  <c:v>-17</c:v>
                </c:pt>
                <c:pt idx="61">
                  <c:v>-16.9475946734632</c:v>
                </c:pt>
                <c:pt idx="62">
                  <c:v>-16.7907017901173</c:v>
                </c:pt>
                <c:pt idx="63">
                  <c:v>-16.5302886467605</c:v>
                </c:pt>
                <c:pt idx="64">
                  <c:v>-16.1679607770176</c:v>
                </c:pt>
                <c:pt idx="65">
                  <c:v>-15.7059520526919</c:v>
                </c:pt>
                <c:pt idx="66">
                  <c:v>-15.1471109112023</c:v>
                </c:pt>
                <c:pt idx="67">
                  <c:v>-14.4948827940196</c:v>
                </c:pt>
                <c:pt idx="68">
                  <c:v>-13.7532889043741</c:v>
                </c:pt>
                <c:pt idx="69">
                  <c:v>-12.9269014152005</c:v>
                </c:pt>
                <c:pt idx="70">
                  <c:v>-12.0208152801713</c:v>
                </c:pt>
                <c:pt idx="71">
                  <c:v>-11.0406168216131</c:v>
                </c:pt>
                <c:pt idx="72">
                  <c:v>-9.99234928897205</c:v>
                </c:pt>
                <c:pt idx="73">
                  <c:v>-8.88247560017114</c:v>
                </c:pt>
                <c:pt idx="74">
                  <c:v>-7.7178384955723</c:v>
                </c:pt>
                <c:pt idx="75">
                  <c:v>-6.50561835020654</c:v>
                </c:pt>
                <c:pt idx="76">
                  <c:v>-5.25328890437411</c:v>
                </c:pt>
                <c:pt idx="77">
                  <c:v>-3.96857118555039</c:v>
                </c:pt>
                <c:pt idx="78">
                  <c:v>-2.65938590568393</c:v>
                </c:pt>
                <c:pt idx="79">
                  <c:v>-1.33380462737336</c:v>
                </c:pt>
                <c:pt idx="80">
                  <c:v>-4.163799117101e-15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20"/>
          <c:min val="-2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Calibri"/>
                    <a:ea typeface="Calibri"/>
                    <a:cs typeface="Calibri"/>
                  </a:rPr>
                  <a:t>u (V)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2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Calibri"/>
                    <a:ea typeface="Calibri"/>
                    <a:cs typeface="Calibri"/>
                  </a:rPr>
                  <a:t>Tid (ms)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827d32d0534f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935b21b9143ed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1C68A519-5C2F-4ADA-8D1B-2915957F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3314D241-D727-4F62-9DDC-CED97034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Sinusformad växelspänning</a:t>
            </a:r>
          </a:p>
        </p:txBody>
      </p:sp>
      <p:sp>
        <p:nvSpPr>
          <p:cNvPr id="13" name="Period, frekvens, toppvärde och effektivvärde">
            <a:extLst xmlns:a="http://schemas.openxmlformats.org/drawingml/2006/main">
              <a:ext uri="{FF2B5EF4-FFF2-40B4-BE49-F238E27FC236}">
                <a16:creationId xmlns:a16="http://schemas.microsoft.com/office/drawing/2014/main" id="{71DEC4CA-7C23-4868-A36F-13163BE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Period, frekvens, toppvärde och effektivvärde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51AE8A25-D656-4627-9221-6994440B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58031ba6644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ål och startfråga">
            <a:extLst xmlns:a="http://schemas.openxmlformats.org/drawingml/2006/main">
              <a:ext uri="{FF2B5EF4-FFF2-40B4-BE49-F238E27FC236}">
                <a16:creationId xmlns:a16="http://schemas.microsoft.com/office/drawing/2014/main" id="{8E7B0C88-634E-4A12-B6FA-8EA0F60E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Mål och startfråga</a:t>
            </a:r>
          </a:p>
        </p:txBody>
      </p:sp>
      <p:sp>
        <p:nvSpPr>
          <p:cNvPr id="3" name="Läsa period och amplitud i ett tidsdiagram.">
            <a:extLst xmlns:a="http://schemas.openxmlformats.org/drawingml/2006/main">
              <a:ext uri="{FF2B5EF4-FFF2-40B4-BE49-F238E27FC236}">
                <a16:creationId xmlns:a16="http://schemas.microsoft.com/office/drawing/2014/main" id="{330220A9-109D-47D8-B7CE-FE2F0EFE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Läsa period och amplitud i ett tidsdiagram.</a:t>
            </a:r>
          </a:p>
        </p:txBody>
      </p:sp>
      <p:sp>
        <p:nvSpPr>
          <p:cNvPr id="4" name="Skilja effektivvärde från toppvärde och medelvärde.">
            <a:extLst xmlns:a="http://schemas.openxmlformats.org/drawingml/2006/main">
              <a:ext uri="{FF2B5EF4-FFF2-40B4-BE49-F238E27FC236}">
                <a16:creationId xmlns:a16="http://schemas.microsoft.com/office/drawing/2014/main" id="{A1C1834A-E9F0-48E7-AE2E-FB871057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7620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Skilja effektivvärde från toppvärde och medelvärde.</a:t>
            </a:r>
          </a:p>
        </p:txBody>
      </p:sp>
      <p:sp>
        <p:nvSpPr>
          <p:cNvPr id="5" name="Startfråga">
            <a:extLst xmlns:a="http://schemas.openxmlformats.org/drawingml/2006/main">
              <a:ext uri="{FF2B5EF4-FFF2-40B4-BE49-F238E27FC236}">
                <a16:creationId xmlns:a16="http://schemas.microsoft.com/office/drawing/2014/main" id="{7B624787-C8B1-4CA8-9CBC-1FEB526A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Startfråga</a:t>
            </a:r>
          </a:p>
        </p:txBody>
      </p:sp>
      <p:sp>
        <p:nvSpPr>
          <p:cNvPr id="6" name="En växelspänning kallas 230 V. Är det dess största momentanvärde?">
            <a:extLst xmlns:a="http://schemas.openxmlformats.org/drawingml/2006/main">
              <a:ext uri="{FF2B5EF4-FFF2-40B4-BE49-F238E27FC236}">
                <a16:creationId xmlns:a16="http://schemas.microsoft.com/office/drawing/2014/main" id="{A9C370A9-1816-4A2F-93E2-DA17F9DA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växelspänning kallas 230 V. Är det dess största momentanvärde?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3C50AB2D-7A10-4CFE-B092-5DE7F9C6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5ee33845a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0" name="Dagens två pass">
            <a:extLst xmlns:a="http://schemas.openxmlformats.org/drawingml/2006/main">
              <a:ext uri="{FF2B5EF4-FFF2-40B4-BE49-F238E27FC236}">
                <a16:creationId xmlns:a16="http://schemas.microsoft.com/office/drawing/2014/main" id="{3F09F4C4-25C4-4E74-ACFA-7F227CB8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Dagens två pass</a:t>
            </a:r>
          </a:p>
        </p:txBody>
      </p:sp>
      <p:sp>
        <p:nvSpPr>
          <p:cNvPr id="11" name="Pass 1: 45 minuter">
            <a:extLst xmlns:a="http://schemas.openxmlformats.org/drawingml/2006/main">
              <a:ext uri="{FF2B5EF4-FFF2-40B4-BE49-F238E27FC236}">
                <a16:creationId xmlns:a16="http://schemas.microsoft.com/office/drawing/2014/main" id="{F7354FF3-67DC-4533-8D25-32BEBF7C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1: 45 minuter</a:t>
            </a:r>
          </a:p>
        </p:txBody>
      </p:sp>
      <p:sp>
        <p:nvSpPr>
          <p:cNvPr id="12" name="5 min begrepp, 20 min teori och genomräknade exempel&#10;15 min övnin">
            <a:extLst xmlns:a="http://schemas.openxmlformats.org/drawingml/2006/main">
              <a:ext uri="{FF2B5EF4-FFF2-40B4-BE49-F238E27FC236}">
                <a16:creationId xmlns:a16="http://schemas.microsoft.com/office/drawing/2014/main" id="{2ADD7493-E19F-4134-9369-1F31D239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begrepp, 20 min teori och genomräknade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1, 2, 4, 5 min återkoppling</a:t>
            </a:r>
          </a:p>
        </p:txBody>
      </p:sp>
      <p:sp>
        <p:nvSpPr>
          <p:cNvPr id="13" name="Pass 2: 45 minuter">
            <a:extLst xmlns:a="http://schemas.openxmlformats.org/drawingml/2006/main">
              <a:ext uri="{FF2B5EF4-FFF2-40B4-BE49-F238E27FC236}">
                <a16:creationId xmlns:a16="http://schemas.microsoft.com/office/drawing/2014/main" id="{7113B1F5-9B99-45C8-8402-49D6F83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Pass 2: 45 minuter</a:t>
            </a:r>
          </a:p>
        </p:txBody>
      </p:sp>
      <p:sp>
        <p:nvSpPr>
          <p:cNvPr id="14" name="20 min teori och exempel, 15 min övning 6, 7, 8&#10;8 min lösningsdis">
            <a:extLst xmlns:a="http://schemas.openxmlformats.org/drawingml/2006/main">
              <a:ext uri="{FF2B5EF4-FFF2-40B4-BE49-F238E27FC236}">
                <a16:creationId xmlns:a16="http://schemas.microsoft.com/office/drawing/2014/main" id="{BA524FE1-3C23-4FF6-878E-9A3EF5B6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teori och exempel, 15 min övning 6, 7, 8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 min lösningsdiskussion, 2 min avslut</a:t>
            </a:r>
          </a:p>
        </p:txBody>
      </p:sp>
      <p:sp>
        <p:nvSpPr>
          <p:cNvPr id="15" name="Stödbilderna används under arbetet. Övriga övningar: egen studiet">
            <a:extLst xmlns:a="http://schemas.openxmlformats.org/drawingml/2006/main">
              <a:ext uri="{FF2B5EF4-FFF2-40B4-BE49-F238E27FC236}">
                <a16:creationId xmlns:a16="http://schemas.microsoft.com/office/drawing/2014/main" id="{291208EC-82E7-49D4-99D3-8B319996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Stödbilderna används under arbetet. Övriga övningar: egen studietid.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cirka 110–135 min. Paus tillkommer.</a:t>
            </a:r>
          </a:p>
        </p:txBody>
      </p:sp>
      <p:sp>
        <p:nvSpPr>
          <p:cNvPr id="16" name="3">
            <a:extLst xmlns:a="http://schemas.openxmlformats.org/drawingml/2006/main">
              <a:ext uri="{FF2B5EF4-FFF2-40B4-BE49-F238E27FC236}">
                <a16:creationId xmlns:a16="http://schemas.microsoft.com/office/drawing/2014/main" id="{B214988E-B0BA-477B-A427-F756ACA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db7573fdd48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d och olika spänningsvärden">
            <a:extLst xmlns:a="http://schemas.openxmlformats.org/drawingml/2006/main">
              <a:ext uri="{FF2B5EF4-FFF2-40B4-BE49-F238E27FC236}">
                <a16:creationId xmlns:a16="http://schemas.microsoft.com/office/drawing/2014/main" id="{83D11A76-4AB7-4B8C-9C10-A86AB377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Tid och olika spänningsvärden</a:t>
            </a:r>
          </a:p>
        </p:txBody>
      </p:sp>
      <p:sp>
        <p:nvSpPr>
          <p:cNvPr id="10" name="T är tid för en hel period. f är antal perioder per sekund.">
            <a:extLst xmlns:a="http://schemas.openxmlformats.org/drawingml/2006/main">
              <a:ext uri="{FF2B5EF4-FFF2-40B4-BE49-F238E27FC236}">
                <a16:creationId xmlns:a16="http://schemas.microsoft.com/office/drawing/2014/main" id="{ECE00CA4-AE49-440E-A699-A1FE9BAA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 är tid för en hel period. f är antal perioder per sekund.</a:t>
            </a:r>
          </a:p>
        </p:txBody>
      </p:sp>
      <p:sp>
        <p:nvSpPr>
          <p:cNvPr id="11" name="u(t) är spänning just nu. û är toppvärdets belopp.">
            <a:extLst xmlns:a="http://schemas.openxmlformats.org/drawingml/2006/main">
              <a:ext uri="{FF2B5EF4-FFF2-40B4-BE49-F238E27FC236}">
                <a16:creationId xmlns:a16="http://schemas.microsoft.com/office/drawing/2014/main" id="{6BD84E70-BEB3-4FFF-B4CB-6F118E0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u(t) är spänning just nu. û är toppvärdets belopp.</a:t>
            </a:r>
          </a:p>
        </p:txBody>
      </p:sp>
      <p:sp>
        <p:nvSpPr>
          <p:cNvPr id="12" name="RMS är effektivvärde. Det kopplar spänningen till värmeeffekt.">
            <a:extLst xmlns:a="http://schemas.openxmlformats.org/drawingml/2006/main">
              <a:ext uri="{FF2B5EF4-FFF2-40B4-BE49-F238E27FC236}">
                <a16:creationId xmlns:a16="http://schemas.microsoft.com/office/drawing/2014/main" id="{55468DAD-D310-4DD0-88BB-DC114D81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RMS är effektivvärde. Det kopplar spänningen till värmeeffekt.</a:t>
            </a:r>
          </a:p>
        </p:txBody>
      </p:sp>
      <p:sp>
        <p:nvSpPr>
          <p:cNvPr id="13" name="Medelvärde räknar med tecken. Det kan vara noll trots att RMS är ">
            <a:extLst xmlns:a="http://schemas.openxmlformats.org/drawingml/2006/main">
              <a:ext uri="{FF2B5EF4-FFF2-40B4-BE49-F238E27FC236}">
                <a16:creationId xmlns:a16="http://schemas.microsoft.com/office/drawing/2014/main" id="{6CDC3ECC-3386-4CEC-BA73-C11EDB2A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Medelvärde räknar med tecken. Det kan vara noll trots att RMS är positivt.</a:t>
            </a:r>
          </a:p>
        </p:txBody>
      </p:sp>
      <p:sp>
        <p:nvSpPr>
          <p:cNvPr id="14" name="4">
            <a:extLst xmlns:a="http://schemas.openxmlformats.org/drawingml/2006/main">
              <a:ext uri="{FF2B5EF4-FFF2-40B4-BE49-F238E27FC236}">
                <a16:creationId xmlns:a16="http://schemas.microsoft.com/office/drawing/2014/main" id="{154DC5EB-4900-4EE4-95C4-499083F2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61e1c491b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A4711C1F-AC1B-4DED-A768-160F6C9F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0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0E23B828-1BB9-4A33-BC38-1910DAA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1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C9367639-7643-4375-9019-07B25863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2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23DDDE1A-387E-4637-B5FE-DDF77D71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3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B69E431C-525E-4CB1-89F8-982F61E6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14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FC1CA90D-858F-404C-A626-B5A5412E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15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AF3E6BAD-F8FA-4273-9476-AB55E91A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16" name="5">
            <a:extLst xmlns:a="http://schemas.openxmlformats.org/drawingml/2006/main">
              <a:ext uri="{FF2B5EF4-FFF2-40B4-BE49-F238E27FC236}">
                <a16:creationId xmlns:a16="http://schemas.microsoft.com/office/drawing/2014/main" id="{7564481D-0D57-40E9-91CF-BF7EC1E2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3f56f9ac94a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pänning som varierar med tiden">
            <a:extLst xmlns:a="http://schemas.openxmlformats.org/drawingml/2006/main">
              <a:ext uri="{FF2B5EF4-FFF2-40B4-BE49-F238E27FC236}">
                <a16:creationId xmlns:a16="http://schemas.microsoft.com/office/drawing/2014/main" id="{22EED3E9-A149-49B5-8921-378AEA28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 som varierar med tiden</a:t>
            </a:r>
          </a:p>
        </p:txBody>
      </p:sp>
      <p:sp>
        <p:nvSpPr>
          <p:cNvPr id="3" name="Sinusspänningen växlar polaritet periodiskt.&#10;Momentanvärdet u(t) ">
            <a:extLst xmlns:a="http://schemas.openxmlformats.org/drawingml/2006/main">
              <a:ext uri="{FF2B5EF4-FFF2-40B4-BE49-F238E27FC236}">
                <a16:creationId xmlns:a16="http://schemas.microsoft.com/office/drawing/2014/main" id="{7112BACE-B8A2-4DF9-82F8-473EC713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Sinusspänningen växlar polaritet periodiskt.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Momentanvärdet u(t) beror på tidpunkten.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95375" y="2343150"/>
          <a:ext xmlns:a="http://schemas.openxmlformats.org/drawingml/2006/main" cx="7048500" cy="2371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13bebfa7b74dd9"/>
          </a:graphicData>
        </a:graphic>
      </p:graphicFrame>
      <p:sp>
        <p:nvSpPr>
          <p:cNvPr id="5" name="u(t) = û · sin(2πft)">
            <a:extLst xmlns:a="http://schemas.openxmlformats.org/drawingml/2006/main">
              <a:ext uri="{FF2B5EF4-FFF2-40B4-BE49-F238E27FC236}">
                <a16:creationId xmlns:a16="http://schemas.microsoft.com/office/drawing/2014/main" id="{3BE726D7-A588-4A52-96DE-E2088EA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u(t) = û · sin(2πft)</a:t>
            </a:r>
          </a:p>
        </p:txBody>
      </p:sp>
      <p:sp>
        <p:nvSpPr>
          <p:cNvPr id="6" name="û är toppvärdet, f frekvensen och t tiden.&#10;Diagrammet visar en pe">
            <a:extLst xmlns:a="http://schemas.openxmlformats.org/drawingml/2006/main">
              <a:ext uri="{FF2B5EF4-FFF2-40B4-BE49-F238E27FC236}">
                <a16:creationId xmlns:a16="http://schemas.microsoft.com/office/drawing/2014/main" id="{77079D25-BD23-4487-9FAD-92F8E2C4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435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û är toppvärdet, f frekvensen och t tiden.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Diagrammet visar en period vid 50 Hz.</a:t>
            </a:r>
          </a:p>
        </p:txBody>
      </p:sp>
      <p:sp>
        <p:nvSpPr>
          <p:cNvPr id="7" name="4">
            <a:extLst xmlns:a="http://schemas.openxmlformats.org/drawingml/2006/main">
              <a:ext uri="{FF2B5EF4-FFF2-40B4-BE49-F238E27FC236}">
                <a16:creationId xmlns:a16="http://schemas.microsoft.com/office/drawing/2014/main" id="{EDD0BE55-FF49-4985-9A92-42DE7B6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71516c94543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eriod och frekvens">
            <a:extLst xmlns:a="http://schemas.openxmlformats.org/drawingml/2006/main">
              <a:ext uri="{FF2B5EF4-FFF2-40B4-BE49-F238E27FC236}">
                <a16:creationId xmlns:a16="http://schemas.microsoft.com/office/drawing/2014/main" id="{30350E1F-9C26-4A69-8A34-3BD1C9BB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Period och frekvens</a:t>
            </a:r>
          </a:p>
        </p:txBody>
      </p:sp>
      <p:sp>
        <p:nvSpPr>
          <p:cNvPr id="3" name="Perioden T är tiden för ett helt förlopp.&#10;Frekvensen f anger anta">
            <a:extLst xmlns:a="http://schemas.openxmlformats.org/drawingml/2006/main">
              <a:ext uri="{FF2B5EF4-FFF2-40B4-BE49-F238E27FC236}">
                <a16:creationId xmlns:a16="http://schemas.microsoft.com/office/drawing/2014/main" id="{4C6B3250-CDE1-4053-A3EB-5678396A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Perioden T är tiden för ett helt förlopp.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Frekvensen f anger antalet perioder per sekund.</a:t>
            </a:r>
          </a:p>
        </p:txBody>
      </p:sp>
      <p:sp>
        <p:nvSpPr>
          <p:cNvPr id="4" name="f = 1/T     T = 1/f">
            <a:extLst xmlns:a="http://schemas.openxmlformats.org/drawingml/2006/main">
              <a:ext uri="{FF2B5EF4-FFF2-40B4-BE49-F238E27FC236}">
                <a16:creationId xmlns:a16="http://schemas.microsoft.com/office/drawing/2014/main" id="{FEBB1138-B3B8-4F3E-BE7F-F58A4C25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 = 1/T     T = 1/f</a:t>
            </a:r>
          </a:p>
        </p:txBody>
      </p:sp>
      <p:sp>
        <p:nvSpPr>
          <p:cNvPr id="5" name="50 Hz ger T = 0,020 s = 20 ms.&#10;60 Hz ger T ≈ 16,7 ms.">
            <a:extLst xmlns:a="http://schemas.openxmlformats.org/drawingml/2006/main">
              <a:ext uri="{FF2B5EF4-FFF2-40B4-BE49-F238E27FC236}">
                <a16:creationId xmlns:a16="http://schemas.microsoft.com/office/drawing/2014/main" id="{07A2F8AF-DF14-4C47-8C54-CBA5A2ED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50 Hz ger T = 0,020 s = 20 ms.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60 Hz ger T ≈ 16,7 ms.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3AF4765E-7A4F-44F0-B0B6-B8A6469B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vid 50 Hz med perioden T = 20 ms m" descr="Sinus vid 50 Hz med perioden T = 20 ms markerad mellan två topp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270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1625e32a6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Effektivvärde för en sinus">
            <a:extLst xmlns:a="http://schemas.openxmlformats.org/drawingml/2006/main">
              <a:ext uri="{FF2B5EF4-FFF2-40B4-BE49-F238E27FC236}">
                <a16:creationId xmlns:a16="http://schemas.microsoft.com/office/drawing/2014/main" id="{90ACBA50-2077-425F-85C3-00D811DE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Effektivvärde för en sinus</a:t>
            </a:r>
          </a:p>
        </p:txBody>
      </p:sp>
      <p:sp>
        <p:nvSpPr>
          <p:cNvPr id="3" name="Effektivvärdet ger samma medeleffekt i en resistor&#10;som motsvarand">
            <a:extLst xmlns:a="http://schemas.openxmlformats.org/drawingml/2006/main">
              <a:ext uri="{FF2B5EF4-FFF2-40B4-BE49-F238E27FC236}">
                <a16:creationId xmlns:a16="http://schemas.microsoft.com/office/drawing/2014/main" id="{73C64915-4731-48B3-8E31-6E95D1CD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Effektivvärdet ger samma medeleffekt i en resistor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som motsvarande likspänning.</a:t>
            </a:r>
          </a:p>
        </p:txBody>
      </p:sp>
      <p:sp>
        <p:nvSpPr>
          <p:cNvPr id="4" name="U = û/√2">
            <a:extLst xmlns:a="http://schemas.openxmlformats.org/drawingml/2006/main">
              <a:ext uri="{FF2B5EF4-FFF2-40B4-BE49-F238E27FC236}">
                <a16:creationId xmlns:a16="http://schemas.microsoft.com/office/drawing/2014/main" id="{0AB6FE15-4800-4919-9DF1-751CDC6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 = û/√2</a:t>
            </a:r>
          </a:p>
        </p:txBody>
      </p:sp>
      <p:sp>
        <p:nvSpPr>
          <p:cNvPr id="5" name="230 V RMS motsvarar û ≈ 325 V.&#10;Topp-till-topp blir 2û ≈ 651 V.">
            <a:extLst xmlns:a="http://schemas.openxmlformats.org/drawingml/2006/main">
              <a:ext uri="{FF2B5EF4-FFF2-40B4-BE49-F238E27FC236}">
                <a16:creationId xmlns:a16="http://schemas.microsoft.com/office/drawing/2014/main" id="{823A0F8F-CF98-47F3-820E-04AF6966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230 V RMS motsvarar û ≈ 325 V.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Topp-till-topp blir 2û ≈ 651 V.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Ombord: 440 V ger û ≈ 622 V, 690 V ger û ≈ 976 V.</a:t>
            </a:r>
          </a:p>
        </p:txBody>
      </p:sp>
      <p:sp>
        <p:nvSpPr>
          <p:cNvPr id="6" name="6">
            <a:extLst xmlns:a="http://schemas.openxmlformats.org/drawingml/2006/main">
              <a:ext uri="{FF2B5EF4-FFF2-40B4-BE49-F238E27FC236}">
                <a16:creationId xmlns:a16="http://schemas.microsoft.com/office/drawing/2014/main" id="{DB7F3473-B24E-418C-92F8-EE410E33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med toppvärde cirka 325 V och effe" descr="Sinus med toppvärde cirka 325 V och effektivvärdet 230 V som streckad linj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07c7fc95a4e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tre spänningsvärden">
            <a:extLst xmlns:a="http://schemas.openxmlformats.org/drawingml/2006/main">
              <a:ext uri="{FF2B5EF4-FFF2-40B4-BE49-F238E27FC236}">
                <a16:creationId xmlns:a16="http://schemas.microsoft.com/office/drawing/2014/main" id="{4CBBBD11-D14D-4CEE-AFE4-EBFA5E3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tre spänningsvärden</a:t>
            </a:r>
          </a:p>
        </p:txBody>
      </p:sp>
      <p:sp>
        <p:nvSpPr>
          <p:cNvPr id="10" name="En ren sinus har topp-till-topp 30 V och en period på 10 ms. Sök ">
            <a:extLst xmlns:a="http://schemas.openxmlformats.org/drawingml/2006/main">
              <a:ext uri="{FF2B5EF4-FFF2-40B4-BE49-F238E27FC236}">
                <a16:creationId xmlns:a16="http://schemas.microsoft.com/office/drawing/2014/main" id="{CC7960A3-6EA1-45B9-AC55-0FA39A6F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ren sinus har topp-till-topp 30 V och en period på 10 ms. Sök topp, RMS och frekvens.</a:t>
            </a:r>
          </a:p>
        </p:txBody>
      </p:sp>
      <p:sp>
        <p:nvSpPr>
          <p:cNvPr id="11" name="û = Upp/2     Urms = û/√2     f = 1/T">
            <a:extLst xmlns:a="http://schemas.openxmlformats.org/drawingml/2006/main">
              <a:ext uri="{FF2B5EF4-FFF2-40B4-BE49-F238E27FC236}">
                <a16:creationId xmlns:a16="http://schemas.microsoft.com/office/drawing/2014/main" id="{89108C31-EC35-45DD-998C-8C2AB9DD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 = Upp/2     Urms = û/√2     f = 1/T</a:t>
            </a:r>
          </a:p>
        </p:txBody>
      </p:sp>
      <p:sp>
        <p:nvSpPr>
          <p:cNvPr id="12" name="1. û = 30/2 = 15 V.&#10;2. Urms = 15/√2 ≈ 10,61 V.&#10;3. T = 10/1 000 = ">
            <a:extLst xmlns:a="http://schemas.openxmlformats.org/drawingml/2006/main">
              <a:ext uri="{FF2B5EF4-FFF2-40B4-BE49-F238E27FC236}">
                <a16:creationId xmlns:a16="http://schemas.microsoft.com/office/drawing/2014/main" id="{BB21C294-C7B0-4186-9C8A-B433CD47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û = 30/2 = 15 V.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Urms = 15/√2 ≈ 10,61 V.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T = 10/1 000 = 0,010 s. f = 1/0,010 = 100 Hz.</a:t>
            </a:r>
          </a:p>
        </p:txBody>
      </p:sp>
      <p:sp>
        <p:nvSpPr>
          <p:cNvPr id="13" name="Kontroll: topp-till-topp är störst, RMS minst. 100 perioder à 0,0">
            <a:extLst xmlns:a="http://schemas.openxmlformats.org/drawingml/2006/main">
              <a:ext uri="{FF2B5EF4-FFF2-40B4-BE49-F238E27FC236}">
                <a16:creationId xmlns:a16="http://schemas.microsoft.com/office/drawing/2014/main" id="{666A1F73-DF2D-4C46-833D-F41A8C56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topp-till-topp är störst, RMS minst. 100 perioder à 0,010 s ger 1 s.</a:t>
            </a:r>
          </a:p>
        </p:txBody>
      </p:sp>
      <p:sp>
        <p:nvSpPr>
          <p:cNvPr id="14" name="9">
            <a:extLst xmlns:a="http://schemas.openxmlformats.org/drawingml/2006/main">
              <a:ext uri="{FF2B5EF4-FFF2-40B4-BE49-F238E27FC236}">
                <a16:creationId xmlns:a16="http://schemas.microsoft.com/office/drawing/2014/main" id="{E8154155-DB4F-40F4-9265-CB5D937E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1149262f64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2A1C7A02-324C-43AE-9BDE-DEF09AFA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</a:t>
            </a:r>
          </a:p>
        </p:txBody>
      </p:sp>
      <p:sp>
        <p:nvSpPr>
          <p:cNvPr id="10" name="T = 1/f     T[ms] = 1 000 · T[s]">
            <a:extLst xmlns:a="http://schemas.openxmlformats.org/drawingml/2006/main">
              <a:ext uri="{FF2B5EF4-FFF2-40B4-BE49-F238E27FC236}">
                <a16:creationId xmlns:a16="http://schemas.microsoft.com/office/drawing/2014/main" id="{124FAB97-80A5-4CB2-AE3E-8E59B1C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 = 1/f     T[ms] = 1 000 · T[s]</a:t>
            </a:r>
          </a:p>
        </p:txBody>
      </p:sp>
      <p:sp>
        <p:nvSpPr>
          <p:cNvPr id="11" name="T är period i s och f frekvens i Hz, alltså perioder per sekund.">
            <a:extLst xmlns:a="http://schemas.openxmlformats.org/drawingml/2006/main">
              <a:ext uri="{FF2B5EF4-FFF2-40B4-BE49-F238E27FC236}">
                <a16:creationId xmlns:a16="http://schemas.microsoft.com/office/drawing/2014/main" id="{F3913D1F-1FDC-4681-9E5D-F3D0B677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 är period i s och f frekvens i Hz, alltså perioder per sekund.</a:t>
            </a:r>
          </a:p>
        </p:txBody>
      </p:sp>
      <p:sp>
        <p:nvSpPr>
          <p:cNvPr id="12" name="Förutsättningar: En periodisk signal med f = 50 Hz. 1 ms = 0,001 ">
            <a:extLst xmlns:a="http://schemas.openxmlformats.org/drawingml/2006/main">
              <a:ext uri="{FF2B5EF4-FFF2-40B4-BE49-F238E27FC236}">
                <a16:creationId xmlns:a16="http://schemas.microsoft.com/office/drawing/2014/main" id="{A77F173E-843B-4118-8C55-B7CAEC9D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En periodisk signal med f = 50 Hz. 1 ms = 0,001 s.</a:t>
            </a:r>
          </a:p>
        </p:txBody>
      </p:sp>
      <p:sp>
        <p:nvSpPr>
          <p:cNvPr id="13" name="Arbetsgång: Dividera 1 med frekvensen. Omvandla sedan sekunder ti">
            <a:extLst xmlns:a="http://schemas.openxmlformats.org/drawingml/2006/main">
              <a:ext uri="{FF2B5EF4-FFF2-40B4-BE49-F238E27FC236}">
                <a16:creationId xmlns:a16="http://schemas.microsoft.com/office/drawing/2014/main" id="{3CDEA7DB-60AC-487C-8709-256E6B44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Dividera 1 med frekvensen. Omvandla sedan sekunder till millisekunder.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CDEE5650-D507-44BC-A5E9-8113964E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b33a6550c48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">
            <a:extLst xmlns:a="http://schemas.openxmlformats.org/drawingml/2006/main">
              <a:ext uri="{FF2B5EF4-FFF2-40B4-BE49-F238E27FC236}">
                <a16:creationId xmlns:a16="http://schemas.microsoft.com/office/drawing/2014/main" id="{B4DE4EED-213B-4FD0-959E-1A3171E9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</a:t>
            </a:r>
          </a:p>
        </p:txBody>
      </p:sp>
      <p:sp>
        <p:nvSpPr>
          <p:cNvPr id="3" name="Period vid 50 Hz">
            <a:extLst xmlns:a="http://schemas.openxmlformats.org/drawingml/2006/main">
              <a:ext uri="{FF2B5EF4-FFF2-40B4-BE49-F238E27FC236}">
                <a16:creationId xmlns:a16="http://schemas.microsoft.com/office/drawing/2014/main" id="{E421FB9F-6535-460E-A134-C5521724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Period vid 50 Hz</a:t>
            </a:r>
          </a:p>
        </p:txBody>
      </p:sp>
      <p:sp>
        <p:nvSpPr>
          <p:cNvPr id="4" name="Beräkna perioden i sekunder och millisekunder för en 50 Hz-signal">
            <a:extLst xmlns:a="http://schemas.openxmlformats.org/drawingml/2006/main">
              <a:ext uri="{FF2B5EF4-FFF2-40B4-BE49-F238E27FC236}">
                <a16:creationId xmlns:a16="http://schemas.microsoft.com/office/drawing/2014/main" id="{5816C692-36EF-45E4-8644-C7B0E6C0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perioden i sekunder och millisekunder för en 50 Hz-signal.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61D79F7-988E-416E-BF41-9CF519CC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7">
            <a:extLst xmlns:a="http://schemas.openxmlformats.org/drawingml/2006/main">
              <a:ext uri="{FF2B5EF4-FFF2-40B4-BE49-F238E27FC236}">
                <a16:creationId xmlns:a16="http://schemas.microsoft.com/office/drawing/2014/main" id="{D4F63F04-7C89-41BC-BC41-98E43C4D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vid 50 Hz där perioden T är okänd" descr="Sinus vid 50 Hz där perioden T är okä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6979ad67c41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AB93A7B9-CAEA-40D6-B3BC-7924D61B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</a:t>
            </a:r>
          </a:p>
        </p:txBody>
      </p:sp>
      <p:sp>
        <p:nvSpPr>
          <p:cNvPr id="10" name="f = 1/T">
            <a:extLst xmlns:a="http://schemas.openxmlformats.org/drawingml/2006/main">
              <a:ext uri="{FF2B5EF4-FFF2-40B4-BE49-F238E27FC236}">
                <a16:creationId xmlns:a16="http://schemas.microsoft.com/office/drawing/2014/main" id="{572B5EAA-6286-4AE2-8AFF-D768C9BC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 = 1/T</a:t>
            </a:r>
          </a:p>
        </p:txBody>
      </p:sp>
      <p:sp>
        <p:nvSpPr>
          <p:cNvPr id="11" name="T måste anges i sekunder när f ska erhållas i Hz.">
            <a:extLst xmlns:a="http://schemas.openxmlformats.org/drawingml/2006/main">
              <a:ext uri="{FF2B5EF4-FFF2-40B4-BE49-F238E27FC236}">
                <a16:creationId xmlns:a16="http://schemas.microsoft.com/office/drawing/2014/main" id="{53846127-8ED7-48F2-8E0D-00DCB01F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 måste anges i sekunder när f ska erhållas i Hz.</a:t>
            </a:r>
          </a:p>
        </p:txBody>
      </p:sp>
      <p:sp>
        <p:nvSpPr>
          <p:cNvPr id="12" name="Förutsättningar: T = 4,0 ms = 4,0/1 000 s. Mätningen gäller en he">
            <a:extLst xmlns:a="http://schemas.openxmlformats.org/drawingml/2006/main">
              <a:ext uri="{FF2B5EF4-FFF2-40B4-BE49-F238E27FC236}">
                <a16:creationId xmlns:a16="http://schemas.microsoft.com/office/drawing/2014/main" id="{2AF0751B-871D-40E0-B711-2CCF4DA9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 = 4,0 ms = 4,0/1 000 s. Mätningen gäller en hel period.</a:t>
            </a:r>
          </a:p>
        </p:txBody>
      </p:sp>
      <p:sp>
        <p:nvSpPr>
          <p:cNvPr id="13" name="Arbetsgång: Omvandla ms till s innan du dividerar 1 med perioden.">
            <a:extLst xmlns:a="http://schemas.openxmlformats.org/drawingml/2006/main">
              <a:ext uri="{FF2B5EF4-FFF2-40B4-BE49-F238E27FC236}">
                <a16:creationId xmlns:a16="http://schemas.microsoft.com/office/drawing/2014/main" id="{E6AAEA30-CB56-4437-93F7-9CF59BE1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Omvandla ms till s innan du dividerar 1 med perioden.</a:t>
            </a:r>
          </a:p>
        </p:txBody>
      </p:sp>
      <p:sp>
        <p:nvSpPr>
          <p:cNvPr id="14" name="12">
            <a:extLst xmlns:a="http://schemas.openxmlformats.org/drawingml/2006/main">
              <a:ext uri="{FF2B5EF4-FFF2-40B4-BE49-F238E27FC236}">
                <a16:creationId xmlns:a16="http://schemas.microsoft.com/office/drawing/2014/main" id="{B98E9F6F-21B3-4D62-9E6D-8C61445F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92ed032a2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2">
            <a:extLst xmlns:a="http://schemas.openxmlformats.org/drawingml/2006/main">
              <a:ext uri="{FF2B5EF4-FFF2-40B4-BE49-F238E27FC236}">
                <a16:creationId xmlns:a16="http://schemas.microsoft.com/office/drawing/2014/main" id="{3F820645-C18C-4960-9170-27616AE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</a:t>
            </a:r>
          </a:p>
        </p:txBody>
      </p:sp>
      <p:sp>
        <p:nvSpPr>
          <p:cNvPr id="3" name="Frekvens från kurvan">
            <a:extLst xmlns:a="http://schemas.openxmlformats.org/drawingml/2006/main">
              <a:ext uri="{FF2B5EF4-FFF2-40B4-BE49-F238E27FC236}">
                <a16:creationId xmlns:a16="http://schemas.microsoft.com/office/drawing/2014/main" id="{06BF0724-9CDF-4D4E-9447-D57B6A9D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Frekvens från kurvan</a:t>
            </a:r>
          </a:p>
        </p:txBody>
      </p:sp>
      <p:sp>
        <p:nvSpPr>
          <p:cNvPr id="4" name="En sinus upprepar sig var 4,0 ms. Beräkna frekvensen.">
            <a:extLst xmlns:a="http://schemas.openxmlformats.org/drawingml/2006/main">
              <a:ext uri="{FF2B5EF4-FFF2-40B4-BE49-F238E27FC236}">
                <a16:creationId xmlns:a16="http://schemas.microsoft.com/office/drawing/2014/main" id="{277877F5-2D29-4D26-B97C-80EDC681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sinus upprepar sig var 4,0 ms. Beräkna frekvensen.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C3215CF6-1C25-4AA2-8117-200F4F91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FAEBF201-188F-4387-97D1-FAECFD46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kurva som upprepar sig var 4,0 ms, " descr="Sinuskurva som upprepar sig var 4,0 ms, tidsaxel 0 till 8 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286b67c7e41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7920A9CF-F372-4FC5-B431-66ECD17A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</a:t>
            </a:r>
          </a:p>
        </p:txBody>
      </p:sp>
      <p:sp>
        <p:nvSpPr>
          <p:cNvPr id="10" name="û = √2 · U">
            <a:extLst xmlns:a="http://schemas.openxmlformats.org/drawingml/2006/main">
              <a:ext uri="{FF2B5EF4-FFF2-40B4-BE49-F238E27FC236}">
                <a16:creationId xmlns:a16="http://schemas.microsoft.com/office/drawing/2014/main" id="{6465F205-9AA7-49D5-83EA-210BB266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û = √2 · U</a:t>
            </a:r>
          </a:p>
        </p:txBody>
      </p:sp>
      <p:sp>
        <p:nvSpPr>
          <p:cNvPr id="11" name="û är sinusens toppvärde. U är effektivvärde, även kallat RMS. √2 ">
            <a:extLst xmlns:a="http://schemas.openxmlformats.org/drawingml/2006/main">
              <a:ext uri="{FF2B5EF4-FFF2-40B4-BE49-F238E27FC236}">
                <a16:creationId xmlns:a16="http://schemas.microsoft.com/office/drawing/2014/main" id="{A82FE811-4286-4459-B53F-1F6EF6C9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û är sinusens toppvärde. U är effektivvärde, även kallat RMS. √2 ≈ 1,414.</a:t>
            </a:r>
          </a:p>
        </p:txBody>
      </p:sp>
      <p:sp>
        <p:nvSpPr>
          <p:cNvPr id="12" name="Förutsättningar: Ren sinus utan DC-komponent. U = 12,0 V RMS.">
            <a:extLst xmlns:a="http://schemas.openxmlformats.org/drawingml/2006/main">
              <a:ext uri="{FF2B5EF4-FFF2-40B4-BE49-F238E27FC236}">
                <a16:creationId xmlns:a16="http://schemas.microsoft.com/office/drawing/2014/main" id="{34BF1468-17A0-4143-9C26-8920AC6D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Ren sinus utan DC-komponent. U = 12,0 V RMS.</a:t>
            </a:r>
          </a:p>
        </p:txBody>
      </p:sp>
      <p:sp>
        <p:nvSpPr>
          <p:cNvPr id="13" name="Arbetsgång: Multiplicera RMS-värdet med √2. Toppvärdet ska bli st">
            <a:extLst xmlns:a="http://schemas.openxmlformats.org/drawingml/2006/main">
              <a:ext uri="{FF2B5EF4-FFF2-40B4-BE49-F238E27FC236}">
                <a16:creationId xmlns:a16="http://schemas.microsoft.com/office/drawing/2014/main" id="{E67ACC9A-E2BA-45C1-AAC3-9FA46CE1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Multiplicera RMS-värdet med √2. Toppvärdet ska bli större än RMS-värdet.</a:t>
            </a:r>
          </a:p>
        </p:txBody>
      </p:sp>
      <p:sp>
        <p:nvSpPr>
          <p:cNvPr id="14" name="14">
            <a:extLst xmlns:a="http://schemas.openxmlformats.org/drawingml/2006/main">
              <a:ext uri="{FF2B5EF4-FFF2-40B4-BE49-F238E27FC236}">
                <a16:creationId xmlns:a16="http://schemas.microsoft.com/office/drawing/2014/main" id="{0DC6B689-4968-4F90-90FE-423829C7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40ef2bbf443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3">
            <a:extLst xmlns:a="http://schemas.openxmlformats.org/drawingml/2006/main">
              <a:ext uri="{FF2B5EF4-FFF2-40B4-BE49-F238E27FC236}">
                <a16:creationId xmlns:a16="http://schemas.microsoft.com/office/drawing/2014/main" id="{0FBCC83A-7421-42AC-9A89-CB6B0F6F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3</a:t>
            </a:r>
          </a:p>
        </p:txBody>
      </p:sp>
      <p:sp>
        <p:nvSpPr>
          <p:cNvPr id="3" name="Toppvärde">
            <a:extLst xmlns:a="http://schemas.openxmlformats.org/drawingml/2006/main">
              <a:ext uri="{FF2B5EF4-FFF2-40B4-BE49-F238E27FC236}">
                <a16:creationId xmlns:a16="http://schemas.microsoft.com/office/drawing/2014/main" id="{B6B4A907-79FD-4B02-AF3F-3F3E87AF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Toppvärde</a:t>
            </a:r>
          </a:p>
        </p:txBody>
      </p:sp>
      <p:sp>
        <p:nvSpPr>
          <p:cNvPr id="4" name="En sinusspänning har effektivvärdet 12,0 V. Beräkna toppvärdet.">
            <a:extLst xmlns:a="http://schemas.openxmlformats.org/drawingml/2006/main">
              <a:ext uri="{FF2B5EF4-FFF2-40B4-BE49-F238E27FC236}">
                <a16:creationId xmlns:a16="http://schemas.microsoft.com/office/drawing/2014/main" id="{57219973-21B0-4BE4-B11F-4E0C0121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sinusspänning har effektivvärdet 12,0 V. Beräkna toppvärdet.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CCD6F35F-AA16-473E-A9FF-F968A787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9">
            <a:extLst xmlns:a="http://schemas.openxmlformats.org/drawingml/2006/main">
              <a:ext uri="{FF2B5EF4-FFF2-40B4-BE49-F238E27FC236}">
                <a16:creationId xmlns:a16="http://schemas.microsoft.com/office/drawing/2014/main" id="{9F74C3A0-91ED-4E80-8A01-AD0D244F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med effektivvärdet 12,0 V markerat" descr="Sinus med effektivvärdet 12,0 V markerat och okänt toppvär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d1644cec04f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F75780FE-9D45-48BA-925C-79C38FB4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0" name="U = û/√2">
            <a:extLst xmlns:a="http://schemas.openxmlformats.org/drawingml/2006/main">
              <a:ext uri="{FF2B5EF4-FFF2-40B4-BE49-F238E27FC236}">
                <a16:creationId xmlns:a16="http://schemas.microsoft.com/office/drawing/2014/main" id="{10766372-81D5-4ABB-ADA7-EAED515E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 = û/√2</a:t>
            </a:r>
          </a:p>
        </p:txBody>
      </p:sp>
      <p:sp>
        <p:nvSpPr>
          <p:cNvPr id="11" name="U är effektivvärde i V, û det positiva toppvärdets belopp i V.">
            <a:extLst xmlns:a="http://schemas.openxmlformats.org/drawingml/2006/main">
              <a:ext uri="{FF2B5EF4-FFF2-40B4-BE49-F238E27FC236}">
                <a16:creationId xmlns:a16="http://schemas.microsoft.com/office/drawing/2014/main" id="{D23210E6-67FF-4D6F-955E-4273EADF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 är effektivvärde i V, û det positiva toppvärdets belopp i V.</a:t>
            </a:r>
          </a:p>
        </p:txBody>
      </p:sp>
      <p:sp>
        <p:nvSpPr>
          <p:cNvPr id="12" name="Förutsättningar: Ren sinus utan DC-komponent, û = 34,0 V.">
            <a:extLst xmlns:a="http://schemas.openxmlformats.org/drawingml/2006/main">
              <a:ext uri="{FF2B5EF4-FFF2-40B4-BE49-F238E27FC236}">
                <a16:creationId xmlns:a16="http://schemas.microsoft.com/office/drawing/2014/main" id="{AC76613A-8CB5-4C3F-9EB1-ADCFB90E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Ren sinus utan DC-komponent, û = 34,0 V.</a:t>
            </a:r>
          </a:p>
        </p:txBody>
      </p:sp>
      <p:sp>
        <p:nvSpPr>
          <p:cNvPr id="13" name="Arbetsgång: Dividera toppvärdet med √2. Avrunda först i slutsvare">
            <a:extLst xmlns:a="http://schemas.openxmlformats.org/drawingml/2006/main">
              <a:ext uri="{FF2B5EF4-FFF2-40B4-BE49-F238E27FC236}">
                <a16:creationId xmlns:a16="http://schemas.microsoft.com/office/drawing/2014/main" id="{CD42D6EB-6803-408B-A86E-5B5CAE34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Dividera toppvärdet med √2. Avrunda först i slutsvaret.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03B99AA3-8418-43D3-AAA8-ADD538D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786b4423f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4">
            <a:extLst xmlns:a="http://schemas.openxmlformats.org/drawingml/2006/main">
              <a:ext uri="{FF2B5EF4-FFF2-40B4-BE49-F238E27FC236}">
                <a16:creationId xmlns:a16="http://schemas.microsoft.com/office/drawing/2014/main" id="{F87731A2-B101-4ECA-BC88-8C358650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4</a:t>
            </a:r>
          </a:p>
        </p:txBody>
      </p:sp>
      <p:sp>
        <p:nvSpPr>
          <p:cNvPr id="3" name="Effektivvärde">
            <a:extLst xmlns:a="http://schemas.openxmlformats.org/drawingml/2006/main">
              <a:ext uri="{FF2B5EF4-FFF2-40B4-BE49-F238E27FC236}">
                <a16:creationId xmlns:a16="http://schemas.microsoft.com/office/drawing/2014/main" id="{AAFD9908-16B5-459E-BF53-7FF64E2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Effektivvärde</a:t>
            </a:r>
          </a:p>
        </p:txBody>
      </p:sp>
      <p:sp>
        <p:nvSpPr>
          <p:cNvPr id="4" name="En sinus har toppvärdet 34,0 V. Beräkna effektivvärdet.">
            <a:extLst xmlns:a="http://schemas.openxmlformats.org/drawingml/2006/main">
              <a:ext uri="{FF2B5EF4-FFF2-40B4-BE49-F238E27FC236}">
                <a16:creationId xmlns:a16="http://schemas.microsoft.com/office/drawing/2014/main" id="{AE8520C1-9F24-421F-932F-07750D07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sinus har toppvärdet 34,0 V. Beräkna effektivvärdet.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706487F4-C27A-4B5B-9760-8ACEE016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7A26FAD6-86D2-4967-96D0-A747B5C4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med toppvärdet 34,0 V och okänt ef" descr="Sinus med toppvärdet 34,0 V och okänt effektivvär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5522ae6cd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6A871828-C6D8-4E80-8B8D-9989D0BD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5</a:t>
            </a:r>
          </a:p>
        </p:txBody>
      </p:sp>
      <p:sp>
        <p:nvSpPr>
          <p:cNvPr id="10" name="Upp = 2û     û = Upp/2&#10;U = û/√2">
            <a:extLst xmlns:a="http://schemas.openxmlformats.org/drawingml/2006/main">
              <a:ext uri="{FF2B5EF4-FFF2-40B4-BE49-F238E27FC236}">
                <a16:creationId xmlns:a16="http://schemas.microsoft.com/office/drawing/2014/main" id="{B07B186D-0C18-45A8-95C5-17DBE6D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Upp = 2û     û = Upp/2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 = û/√2</a:t>
            </a:r>
          </a:p>
        </p:txBody>
      </p:sp>
      <p:sp>
        <p:nvSpPr>
          <p:cNvPr id="11" name="Upp är skillnaden mellan positiv och negativ topp. Det är dubbla ">
            <a:extLst xmlns:a="http://schemas.openxmlformats.org/drawingml/2006/main">
              <a:ext uri="{FF2B5EF4-FFF2-40B4-BE49-F238E27FC236}">
                <a16:creationId xmlns:a16="http://schemas.microsoft.com/office/drawing/2014/main" id="{B6756525-03DC-497C-A59A-554F26AB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Upp är skillnaden mellan positiv och negativ topp. Det är dubbla amplituden för en centrerad sinus.</a:t>
            </a:r>
          </a:p>
        </p:txBody>
      </p:sp>
      <p:sp>
        <p:nvSpPr>
          <p:cNvPr id="12" name="Förutsättningar: Sinus utan DC-komponent. Oscilloskopets 20,0 V ä">
            <a:extLst xmlns:a="http://schemas.openxmlformats.org/drawingml/2006/main">
              <a:ext uri="{FF2B5EF4-FFF2-40B4-BE49-F238E27FC236}">
                <a16:creationId xmlns:a16="http://schemas.microsoft.com/office/drawing/2014/main" id="{D5BA2554-9C27-4055-A832-24CA3347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Sinus utan DC-komponent. Oscilloskopets 20,0 V är topp-till-topp.</a:t>
            </a:r>
          </a:p>
        </p:txBody>
      </p:sp>
      <p:sp>
        <p:nvSpPr>
          <p:cNvPr id="13" name="Arbetsgång: Halvera först Upp. Omvandla sedan toppvärdet till RMS">
            <a:extLst xmlns:a="http://schemas.openxmlformats.org/drawingml/2006/main">
              <a:ext uri="{FF2B5EF4-FFF2-40B4-BE49-F238E27FC236}">
                <a16:creationId xmlns:a16="http://schemas.microsoft.com/office/drawing/2014/main" id="{94007CDE-37E9-4184-BE98-CB7F9EB6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Halvera först Upp. Omvandla sedan toppvärdet till RMS.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2F92C3D7-6649-4ADE-AACD-FA0E6E9D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9ec73d96c4c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5">
            <a:extLst xmlns:a="http://schemas.openxmlformats.org/drawingml/2006/main">
              <a:ext uri="{FF2B5EF4-FFF2-40B4-BE49-F238E27FC236}">
                <a16:creationId xmlns:a16="http://schemas.microsoft.com/office/drawing/2014/main" id="{C6741B8A-AAB6-4047-A6EA-635F972F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5</a:t>
            </a:r>
          </a:p>
        </p:txBody>
      </p:sp>
      <p:sp>
        <p:nvSpPr>
          <p:cNvPr id="3" name="Topp till topp">
            <a:extLst xmlns:a="http://schemas.openxmlformats.org/drawingml/2006/main">
              <a:ext uri="{FF2B5EF4-FFF2-40B4-BE49-F238E27FC236}">
                <a16:creationId xmlns:a16="http://schemas.microsoft.com/office/drawing/2014/main" id="{BC59792A-E3E1-4E50-96E3-28942D89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Topp till topp</a:t>
            </a:r>
          </a:p>
        </p:txBody>
      </p:sp>
      <p:sp>
        <p:nvSpPr>
          <p:cNvPr id="4" name="Ett oscilloskop visar 20,0 V mellan sinusens positiva och negativ">
            <a:extLst xmlns:a="http://schemas.openxmlformats.org/drawingml/2006/main">
              <a:ext uri="{FF2B5EF4-FFF2-40B4-BE49-F238E27FC236}">
                <a16:creationId xmlns:a16="http://schemas.microsoft.com/office/drawing/2014/main" id="{411E08EB-34F9-4B53-87D3-D557E29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oscilloskop visar 20,0 V mellan sinusens positiva och negativa topp. Beräkna toppvärde och RMS.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Säkerhet:</a:t>
            </a:r>
            <a:r>
              <a:rPr sz="16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Mät aldrig nätspänning med oscilloskopets jordade probe. Ombord är nätet ofta ett IT-system: en jordad mätklämma på en fas ger jordfel.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D0243944-E09E-464E-B4B0-252F3E63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8FD91428-BF1C-43DE-B3C9-43A32AE9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Oscilloskopbild där sinusen är 20,0 V to" descr="Oscilloskopbild där sinusen är 20,0 V topp till top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4972f7b2f4e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ass 2">
            <a:extLst xmlns:a="http://schemas.openxmlformats.org/drawingml/2006/main">
              <a:ext uri="{FF2B5EF4-FFF2-40B4-BE49-F238E27FC236}">
                <a16:creationId xmlns:a16="http://schemas.microsoft.com/office/drawing/2014/main" id="{B60E793F-2BC1-47D7-B4F8-E9547240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Pass 2</a:t>
            </a:r>
          </a:p>
        </p:txBody>
      </p:sp>
      <p:sp>
        <p:nvSpPr>
          <p:cNvPr id="3" name="Medelvärde över en period&#10;Tid och fasvinkel&#10;När RMS-faktorn ändra">
            <a:extLst xmlns:a="http://schemas.openxmlformats.org/drawingml/2006/main">
              <a:ext uri="{FF2B5EF4-FFF2-40B4-BE49-F238E27FC236}">
                <a16:creationId xmlns:a16="http://schemas.microsoft.com/office/drawing/2014/main" id="{92A32885-39E8-44BF-816D-ED9CC742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7620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Medelvärde över en period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Tid och fasvinkel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När RMS-faktorn ändras</a:t>
            </a:r>
          </a:p>
        </p:txBody>
      </p:sp>
      <p:sp>
        <p:nvSpPr>
          <p:cNvPr id="4" name="Teori och exempel följs av övning 6–10.&#10;Lösningar och facit ligge">
            <a:extLst xmlns:a="http://schemas.openxmlformats.org/drawingml/2006/main">
              <a:ext uri="{FF2B5EF4-FFF2-40B4-BE49-F238E27FC236}">
                <a16:creationId xmlns:a16="http://schemas.microsoft.com/office/drawing/2014/main" id="{39EE21A0-365C-4D2B-825E-B8D017FB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Teori och exempel följs av övning 6–10.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metod och diskutera resultaten i gruppen.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221B0EE1-9F90-4F27-9B92-DBC9662E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df159de5f42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Medelvärde över en period">
            <a:extLst xmlns:a="http://schemas.openxmlformats.org/drawingml/2006/main">
              <a:ext uri="{FF2B5EF4-FFF2-40B4-BE49-F238E27FC236}">
                <a16:creationId xmlns:a16="http://schemas.microsoft.com/office/drawing/2014/main" id="{FD771D0B-5F31-457F-83BC-04186B5A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Medelvärde över en period</a:t>
            </a:r>
          </a:p>
        </p:txBody>
      </p:sp>
      <p:sp>
        <p:nvSpPr>
          <p:cNvPr id="3" name="En sinus utan likspänningskomponent har medelvärdet noll.&#10;Effekti">
            <a:extLst xmlns:a="http://schemas.openxmlformats.org/drawingml/2006/main">
              <a:ext uri="{FF2B5EF4-FFF2-40B4-BE49-F238E27FC236}">
                <a16:creationId xmlns:a16="http://schemas.microsoft.com/office/drawing/2014/main" id="{46ED1389-E7A7-4C88-ABB7-78380FE4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sinus utan likspänningskomponent har medelvärdet noll.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Effektivvärdet är ändå större än noll.</a:t>
            </a:r>
          </a:p>
        </p:txBody>
      </p:sp>
      <p:sp>
        <p:nvSpPr>
          <p:cNvPr id="4" name="Umedel = 0     Urms = û/√2">
            <a:extLst xmlns:a="http://schemas.openxmlformats.org/drawingml/2006/main">
              <a:ext uri="{FF2B5EF4-FFF2-40B4-BE49-F238E27FC236}">
                <a16:creationId xmlns:a16="http://schemas.microsoft.com/office/drawing/2014/main" id="{7BD82537-B7DD-4DD9-AFA5-32987E5B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6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Umedel = 0     Urms = û/√2</a:t>
            </a:r>
          </a:p>
        </p:txBody>
      </p:sp>
      <p:sp>
        <p:nvSpPr>
          <p:cNvPr id="5" name="Positiv och negativ halvvåg tar ut varandra i medelvärdet.&#10;Båda h">
            <a:extLst xmlns:a="http://schemas.openxmlformats.org/drawingml/2006/main">
              <a:ext uri="{FF2B5EF4-FFF2-40B4-BE49-F238E27FC236}">
                <a16:creationId xmlns:a16="http://schemas.microsoft.com/office/drawing/2014/main" id="{1C128A6D-16D6-47E2-9626-4FC95814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Positiv och negativ halvvåg tar ut varandra i medelvärdet.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Båda halvvågorna värmer en resistor.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C3C832C8-48FE-47AC-8B98-91834450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där positiv och negativ halvperiod" descr="Sinus där positiv och negativ halvperiod har lika stora ytor, medelvärdet blir no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27d64bb7e47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id och fasvinkel">
            <a:extLst xmlns:a="http://schemas.openxmlformats.org/drawingml/2006/main">
              <a:ext uri="{FF2B5EF4-FFF2-40B4-BE49-F238E27FC236}">
                <a16:creationId xmlns:a16="http://schemas.microsoft.com/office/drawing/2014/main" id="{FD31367B-702A-4859-AFE8-D3EFD9C0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Tid och fasvinkel</a:t>
            </a:r>
          </a:p>
        </p:txBody>
      </p:sp>
      <p:sp>
        <p:nvSpPr>
          <p:cNvPr id="3" name="En hel period motsvarar 360°.&#10;En fjärdedels period motsvarar 90°.">
            <a:extLst xmlns:a="http://schemas.openxmlformats.org/drawingml/2006/main">
              <a:ext uri="{FF2B5EF4-FFF2-40B4-BE49-F238E27FC236}">
                <a16:creationId xmlns:a16="http://schemas.microsoft.com/office/drawing/2014/main" id="{B40BA181-D80F-4E0D-AF63-BAF9D35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hel period motsvarar 360°.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fjärdedels period motsvarar 90°.</a:t>
            </a:r>
          </a:p>
        </p:txBody>
      </p:sp>
      <p:sp>
        <p:nvSpPr>
          <p:cNvPr id="4" name="φ = 360° · Δt/T">
            <a:extLst xmlns:a="http://schemas.openxmlformats.org/drawingml/2006/main">
              <a:ext uri="{FF2B5EF4-FFF2-40B4-BE49-F238E27FC236}">
                <a16:creationId xmlns:a16="http://schemas.microsoft.com/office/drawing/2014/main" id="{140ECBFD-A4C2-4B52-942F-9C57BCC9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φ = 360° · Δt/T</a:t>
            </a:r>
          </a:p>
        </p:txBody>
      </p:sp>
      <p:sp>
        <p:nvSpPr>
          <p:cNvPr id="5" name="Vid 50 Hz är 5 ms en fjärdedels period.&#10;Två signaler med detta ti">
            <a:extLst xmlns:a="http://schemas.openxmlformats.org/drawingml/2006/main">
              <a:ext uri="{FF2B5EF4-FFF2-40B4-BE49-F238E27FC236}">
                <a16:creationId xmlns:a16="http://schemas.microsoft.com/office/drawing/2014/main" id="{D85CC9BF-79FA-45B8-8F41-ADD7852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50 Hz är 5 ms en fjärdedels period.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signaler med detta tidsavstånd skiljer 90°.</a:t>
            </a:r>
          </a:p>
        </p:txBody>
      </p:sp>
      <p:sp>
        <p:nvSpPr>
          <p:cNvPr id="6" name="14">
            <a:extLst xmlns:a="http://schemas.openxmlformats.org/drawingml/2006/main">
              <a:ext uri="{FF2B5EF4-FFF2-40B4-BE49-F238E27FC236}">
                <a16:creationId xmlns:a16="http://schemas.microsoft.com/office/drawing/2014/main" id="{FDA78DFC-0B83-4B91-8B4A-A05389EA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vå sinusspänningar vid 50 Hz förskjutna" descr="Två sinusspänningar vid 50 Hz förskjutna 5 ms, vilket motsvarar 90 gra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c7ccaf1dd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När RMS-faktorn ändras">
            <a:extLst xmlns:a="http://schemas.openxmlformats.org/drawingml/2006/main">
              <a:ext uri="{FF2B5EF4-FFF2-40B4-BE49-F238E27FC236}">
                <a16:creationId xmlns:a16="http://schemas.microsoft.com/office/drawing/2014/main" id="{C2F6A5C0-FEDB-44C1-84FB-03AF35B8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När RMS-faktorn ändras</a:t>
            </a:r>
          </a:p>
        </p:txBody>
      </p:sp>
      <p:sp>
        <p:nvSpPr>
          <p:cNvPr id="3" name="Division med √2 gäller en ren sinus utan DC-komponent.&#10;Andra vågf">
            <a:extLst xmlns:a="http://schemas.openxmlformats.org/drawingml/2006/main">
              <a:ext uri="{FF2B5EF4-FFF2-40B4-BE49-F238E27FC236}">
                <a16:creationId xmlns:a16="http://schemas.microsoft.com/office/drawing/2014/main" id="{95F7624E-40B2-4C7D-94C4-012D0C34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977639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Division med √2 gäller en ren sinus utan DC-komponent.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Andra vågformer behöver en annan RMS-beräkning.</a:t>
            </a:r>
          </a:p>
        </p:txBody>
      </p:sp>
      <p:sp>
        <p:nvSpPr>
          <p:cNvPr id="4" name="Urms = √medel(u²)">
            <a:extLst xmlns:a="http://schemas.openxmlformats.org/drawingml/2006/main">
              <a:ext uri="{FF2B5EF4-FFF2-40B4-BE49-F238E27FC236}">
                <a16:creationId xmlns:a16="http://schemas.microsoft.com/office/drawing/2014/main" id="{3394521B-B72F-4452-86EF-5F954B83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397763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Urms = √medel(u²)</a:t>
            </a:r>
          </a:p>
        </p:txBody>
      </p:sp>
      <p:sp>
        <p:nvSpPr>
          <p:cNvPr id="5" name="En symmetrisk fyrkantspänning på +12/−12 V&#10;har RMS = 12 V och med">
            <a:extLst xmlns:a="http://schemas.openxmlformats.org/drawingml/2006/main">
              <a:ext uri="{FF2B5EF4-FFF2-40B4-BE49-F238E27FC236}">
                <a16:creationId xmlns:a16="http://schemas.microsoft.com/office/drawing/2014/main" id="{2D139160-14B3-4E25-BBDF-F64C88FF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977639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symmetrisk fyrkantspänning på +12/−12 V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har RMS = 12 V och medelvärde = 0 V.</a:t>
            </a:r>
          </a:p>
        </p:txBody>
      </p:sp>
      <p:sp>
        <p:nvSpPr>
          <p:cNvPr id="6" name="15">
            <a:extLst xmlns:a="http://schemas.openxmlformats.org/drawingml/2006/main">
              <a:ext uri="{FF2B5EF4-FFF2-40B4-BE49-F238E27FC236}">
                <a16:creationId xmlns:a16="http://schemas.microsoft.com/office/drawing/2014/main" id="{5C2322DA-A34F-4481-B262-D32854C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och fyrkantvåg med samma toppvärde" descr="Sinus och fyrkantvåg med samma toppvär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5920"/>
            <a:ext cx="3886200" cy="307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64c1e8f94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Exempel: tid blir momentanvärde">
            <a:extLst xmlns:a="http://schemas.openxmlformats.org/drawingml/2006/main">
              <a:ext uri="{FF2B5EF4-FFF2-40B4-BE49-F238E27FC236}">
                <a16:creationId xmlns:a16="http://schemas.microsoft.com/office/drawing/2014/main" id="{E19ED2F4-17F1-4D39-8B8A-5736BF4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tid blir momentanvärde</a:t>
            </a:r>
          </a:p>
        </p:txBody>
      </p:sp>
      <p:sp>
        <p:nvSpPr>
          <p:cNvPr id="10" name="u(t) = 10 sin(2π · 25t) V. Bestäm värdet vid 10 ms. Räknaren står">
            <a:extLst xmlns:a="http://schemas.openxmlformats.org/drawingml/2006/main">
              <a:ext uri="{FF2B5EF4-FFF2-40B4-BE49-F238E27FC236}">
                <a16:creationId xmlns:a16="http://schemas.microsoft.com/office/drawing/2014/main" id="{2BC21AE8-EBDF-4E1A-B1F9-FEF1872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u(t) = 10 sin(2π · 25t) V. Bestäm värdet vid 10 ms. Räknaren står i RAD.</a:t>
            </a:r>
          </a:p>
        </p:txBody>
      </p:sp>
      <p:sp>
        <p:nvSpPr>
          <p:cNvPr id="11" name="u(t) = û · sin(2πft)">
            <a:extLst xmlns:a="http://schemas.openxmlformats.org/drawingml/2006/main">
              <a:ext uri="{FF2B5EF4-FFF2-40B4-BE49-F238E27FC236}">
                <a16:creationId xmlns:a16="http://schemas.microsoft.com/office/drawing/2014/main" id="{5ECEB2A9-76BD-42BC-9B77-B9FE3E1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u(t) = û · sin(2πft)</a:t>
            </a:r>
          </a:p>
        </p:txBody>
      </p:sp>
      <p:sp>
        <p:nvSpPr>
          <p:cNvPr id="12" name="1. t = 10/1 000 = 0,010 s.&#10;2. Vinkel = 2π · 25 · 0,010 = π/2 rad.">
            <a:extLst xmlns:a="http://schemas.openxmlformats.org/drawingml/2006/main">
              <a:ext uri="{FF2B5EF4-FFF2-40B4-BE49-F238E27FC236}">
                <a16:creationId xmlns:a16="http://schemas.microsoft.com/office/drawing/2014/main" id="{8F263D8D-1444-4BE4-9DE0-7240CCE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t = 10/1 000 = 0,010 s.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Vinkel = 2π · 25 · 0,010 = π/2 rad.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sin(π/2) = 1, alltså u = 10 · 1 = 10 V.</a:t>
            </a:r>
          </a:p>
        </p:txBody>
      </p:sp>
      <p:sp>
        <p:nvSpPr>
          <p:cNvPr id="13" name="Perioden är 40 ms. Efter 10 ms är vi en fjärdedels period från no">
            <a:extLst xmlns:a="http://schemas.openxmlformats.org/drawingml/2006/main">
              <a:ext uri="{FF2B5EF4-FFF2-40B4-BE49-F238E27FC236}">
                <a16:creationId xmlns:a16="http://schemas.microsoft.com/office/drawing/2014/main" id="{A4BA1618-F91F-4985-BF70-8D1E1AB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Perioden är 40 ms. Efter 10 ms är vi en fjärdedels period från nollgenomgången.</a:t>
            </a:r>
          </a:p>
        </p:txBody>
      </p:sp>
      <p:sp>
        <p:nvSpPr>
          <p:cNvPr id="14" name="24">
            <a:extLst xmlns:a="http://schemas.openxmlformats.org/drawingml/2006/main">
              <a:ext uri="{FF2B5EF4-FFF2-40B4-BE49-F238E27FC236}">
                <a16:creationId xmlns:a16="http://schemas.microsoft.com/office/drawing/2014/main" id="{5EAAF0A0-73BF-4F8E-84C6-36E4E63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195c3ce1449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866FB598-AA29-433B-AA84-FEA58A7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0" name="u(t) = û · sin(2πft)">
            <a:extLst xmlns:a="http://schemas.openxmlformats.org/drawingml/2006/main">
              <a:ext uri="{FF2B5EF4-FFF2-40B4-BE49-F238E27FC236}">
                <a16:creationId xmlns:a16="http://schemas.microsoft.com/office/drawing/2014/main" id="{E79AB656-5FA6-4F0F-9E25-75818E5D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u(t) = û · sin(2πft)</a:t>
            </a:r>
          </a:p>
        </p:txBody>
      </p:sp>
      <p:sp>
        <p:nvSpPr>
          <p:cNvPr id="11" name="u(t) är värdet vid en viss tid. Argumentet 2πft anges i radianer.">
            <a:extLst xmlns:a="http://schemas.openxmlformats.org/drawingml/2006/main">
              <a:ext uri="{FF2B5EF4-FFF2-40B4-BE49-F238E27FC236}">
                <a16:creationId xmlns:a16="http://schemas.microsoft.com/office/drawing/2014/main" id="{67A96BE9-1977-4323-875E-86E122C6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u(t) är värdet vid en viss tid. Argumentet 2πft anges i radianer. Räknaren ska stå i RAD.</a:t>
            </a:r>
          </a:p>
        </p:txBody>
      </p:sp>
      <p:sp>
        <p:nvSpPr>
          <p:cNvPr id="12" name="Förutsättningar: û = 17,0 V, f = 50 Hz, t = 5,0 ms. Omvandla t ti">
            <a:extLst xmlns:a="http://schemas.openxmlformats.org/drawingml/2006/main">
              <a:ext uri="{FF2B5EF4-FFF2-40B4-BE49-F238E27FC236}">
                <a16:creationId xmlns:a16="http://schemas.microsoft.com/office/drawing/2014/main" id="{FE7F827E-6F0C-454C-9441-C6219A51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û = 17,0 V, f = 50 Hz, t = 5,0 ms. Omvandla t till s. π ≈ 3,14159.</a:t>
            </a:r>
          </a:p>
        </p:txBody>
      </p:sp>
      <p:sp>
        <p:nvSpPr>
          <p:cNvPr id="13" name="Arbetsgång: Beräkna vinkeln först och sedan sinus. Multiplicera s">
            <a:extLst xmlns:a="http://schemas.openxmlformats.org/drawingml/2006/main">
              <a:ext uri="{FF2B5EF4-FFF2-40B4-BE49-F238E27FC236}">
                <a16:creationId xmlns:a16="http://schemas.microsoft.com/office/drawing/2014/main" id="{7E06327F-328E-44FE-9222-512131EB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vinkeln först och sedan sinus. Multiplicera sist med toppvärdet.</a:t>
            </a:r>
          </a:p>
        </p:txBody>
      </p:sp>
      <p:sp>
        <p:nvSpPr>
          <p:cNvPr id="14" name="25">
            <a:extLst xmlns:a="http://schemas.openxmlformats.org/drawingml/2006/main">
              <a:ext uri="{FF2B5EF4-FFF2-40B4-BE49-F238E27FC236}">
                <a16:creationId xmlns:a16="http://schemas.microsoft.com/office/drawing/2014/main" id="{A6F6816B-74BA-4ED3-85FE-8FED927F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824da0abe42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6">
            <a:extLst xmlns:a="http://schemas.openxmlformats.org/drawingml/2006/main">
              <a:ext uri="{FF2B5EF4-FFF2-40B4-BE49-F238E27FC236}">
                <a16:creationId xmlns:a16="http://schemas.microsoft.com/office/drawing/2014/main" id="{2F972FA3-7A1C-4D39-BFDB-E52F8B61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6</a:t>
            </a:r>
          </a:p>
        </p:txBody>
      </p:sp>
      <p:sp>
        <p:nvSpPr>
          <p:cNvPr id="3" name="Momentanvärde">
            <a:extLst xmlns:a="http://schemas.openxmlformats.org/drawingml/2006/main">
              <a:ext uri="{FF2B5EF4-FFF2-40B4-BE49-F238E27FC236}">
                <a16:creationId xmlns:a16="http://schemas.microsoft.com/office/drawing/2014/main" id="{B234111B-2C82-443B-B09B-B5DABDB8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Momentanvärde</a:t>
            </a:r>
          </a:p>
        </p:txBody>
      </p:sp>
      <p:sp>
        <p:nvSpPr>
          <p:cNvPr id="4" name="u(t) = 17,0 sin(2π · 50t) V. Beräkna spänningen vid t = 5,0 ms.">
            <a:extLst xmlns:a="http://schemas.openxmlformats.org/drawingml/2006/main">
              <a:ext uri="{FF2B5EF4-FFF2-40B4-BE49-F238E27FC236}">
                <a16:creationId xmlns:a16="http://schemas.microsoft.com/office/drawing/2014/main" id="{5A2D85D9-914C-4AEF-A91D-F401D3BB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u(t) = 17,0 sin(2π · 50t) V. Beräkna spänningen vid t = 5,0 ms.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3969D3B4-C2AD-4DE1-B8A8-411F938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6">
            <a:extLst xmlns:a="http://schemas.openxmlformats.org/drawingml/2006/main">
              <a:ext uri="{FF2B5EF4-FFF2-40B4-BE49-F238E27FC236}">
                <a16:creationId xmlns:a16="http://schemas.microsoft.com/office/drawing/2014/main" id="{59ADA2E4-F924-4FF5-90FA-FD9C0D22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med toppvärde 17,0 V vid 50 Hz, pu" descr="Sinus med toppvärde 17,0 V vid 50 Hz, punkten t = 5 ms marke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f8146884143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421BB46A-4036-462F-9E8B-854BA634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0" name="u(t) = 17,0 · sin(2π · 50t) V">
            <a:extLst xmlns:a="http://schemas.openxmlformats.org/drawingml/2006/main">
              <a:ext uri="{FF2B5EF4-FFF2-40B4-BE49-F238E27FC236}">
                <a16:creationId xmlns:a16="http://schemas.microsoft.com/office/drawing/2014/main" id="{0AC525AF-B993-45CB-A3A7-0F7A57A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u(t) = 17,0 · sin(2π · 50t) V</a:t>
            </a:r>
          </a:p>
        </p:txBody>
      </p:sp>
      <p:sp>
        <p:nvSpPr>
          <p:cNvPr id="11" name="Tecknet på sinus avgör polariteten. Vid negativ halvvåg är moment">
            <a:extLst xmlns:a="http://schemas.openxmlformats.org/drawingml/2006/main">
              <a:ext uri="{FF2B5EF4-FFF2-40B4-BE49-F238E27FC236}">
                <a16:creationId xmlns:a16="http://schemas.microsoft.com/office/drawing/2014/main" id="{B1CEA118-3ED5-47A3-A118-3A92D4C1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Tecknet på sinus avgör polariteten. Vid negativ halvvåg är momentanvärdet negativt.</a:t>
            </a:r>
          </a:p>
        </p:txBody>
      </p:sp>
      <p:sp>
        <p:nvSpPr>
          <p:cNvPr id="12" name="Förutsättningar: t = 15,0 ms = 0,0150 s. Räknaren står i RAD för ">
            <a:extLst xmlns:a="http://schemas.openxmlformats.org/drawingml/2006/main">
              <a:ext uri="{FF2B5EF4-FFF2-40B4-BE49-F238E27FC236}">
                <a16:creationId xmlns:a16="http://schemas.microsoft.com/office/drawing/2014/main" id="{01CF5602-3207-400F-BB3C-144E90EE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t = 15,0 ms = 0,0150 s. Räknaren står i RAD för denna formel.</a:t>
            </a:r>
          </a:p>
        </p:txBody>
      </p:sp>
      <p:sp>
        <p:nvSpPr>
          <p:cNvPr id="13" name="Arbetsgång: Beräkna 2πft och sinus med tecken. RMS-värdet används">
            <a:extLst xmlns:a="http://schemas.openxmlformats.org/drawingml/2006/main">
              <a:ext uri="{FF2B5EF4-FFF2-40B4-BE49-F238E27FC236}">
                <a16:creationId xmlns:a16="http://schemas.microsoft.com/office/drawing/2014/main" id="{9D6ADC4F-E361-441F-9635-5F28416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2πft och sinus med tecken. RMS-värdet används inte som amplitud.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07603C4C-4836-4954-A1D7-D7C8391E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524de61374c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7">
            <a:extLst xmlns:a="http://schemas.openxmlformats.org/drawingml/2006/main">
              <a:ext uri="{FF2B5EF4-FFF2-40B4-BE49-F238E27FC236}">
                <a16:creationId xmlns:a16="http://schemas.microsoft.com/office/drawing/2014/main" id="{EC6AB29B-B836-4BEA-B018-709878FF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7</a:t>
            </a:r>
          </a:p>
        </p:txBody>
      </p:sp>
      <p:sp>
        <p:nvSpPr>
          <p:cNvPr id="3" name="Negativ halvvåg">
            <a:extLst xmlns:a="http://schemas.openxmlformats.org/drawingml/2006/main">
              <a:ext uri="{FF2B5EF4-FFF2-40B4-BE49-F238E27FC236}">
                <a16:creationId xmlns:a16="http://schemas.microsoft.com/office/drawing/2014/main" id="{C38E05FD-B164-4F12-8506-96DA25F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Negativ halvvåg</a:t>
            </a:r>
          </a:p>
        </p:txBody>
      </p:sp>
      <p:sp>
        <p:nvSpPr>
          <p:cNvPr id="4" name="Samma signal som i uppgift 6. Beräkna u vid t = 15,0 ms.">
            <a:extLst xmlns:a="http://schemas.openxmlformats.org/drawingml/2006/main">
              <a:ext uri="{FF2B5EF4-FFF2-40B4-BE49-F238E27FC236}">
                <a16:creationId xmlns:a16="http://schemas.microsoft.com/office/drawing/2014/main" id="{4B00F998-8956-49B8-9732-6B470EDC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Samma signal som i uppgift 6. Beräkna u vid t = 15,0 ms.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E462C3C5-4E17-4389-BC65-CF27BBD1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7">
            <a:extLst xmlns:a="http://schemas.openxmlformats.org/drawingml/2006/main">
              <a:ext uri="{FF2B5EF4-FFF2-40B4-BE49-F238E27FC236}">
                <a16:creationId xmlns:a16="http://schemas.microsoft.com/office/drawing/2014/main" id="{48620FD7-603B-41E2-813B-3115F6A9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nus med toppvärde 17,0 V vid 50 Hz, pu" descr="Sinus med toppvärde 17,0 V vid 50 Hz, punkten t = 15 ms marker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e6560088c47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CDF4A435-7863-427A-AB61-8DF133A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</a:t>
            </a:r>
          </a:p>
        </p:txBody>
      </p:sp>
      <p:sp>
        <p:nvSpPr>
          <p:cNvPr id="10" name="|φ| = 360° · Δt/T     T = 1/f">
            <a:extLst xmlns:a="http://schemas.openxmlformats.org/drawingml/2006/main">
              <a:ext uri="{FF2B5EF4-FFF2-40B4-BE49-F238E27FC236}">
                <a16:creationId xmlns:a16="http://schemas.microsoft.com/office/drawing/2014/main" id="{307C5089-DF19-4076-A715-0FD1315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|φ| = 360° · Δt/T     T = 1/f</a:t>
            </a:r>
          </a:p>
        </p:txBody>
      </p:sp>
      <p:sp>
        <p:nvSpPr>
          <p:cNvPr id="11" name="|φ| är fasvinkelns belopp. Δt är tidsavståndet mellan motsvarande">
            <a:extLst xmlns:a="http://schemas.openxmlformats.org/drawingml/2006/main">
              <a:ext uri="{FF2B5EF4-FFF2-40B4-BE49-F238E27FC236}">
                <a16:creationId xmlns:a16="http://schemas.microsoft.com/office/drawing/2014/main" id="{20E9C993-C83F-4F60-BB5F-5D52F97A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|φ| är fasvinkelns belopp. Δt är tidsavståndet mellan motsvarande punkter i två signaler.</a:t>
            </a:r>
          </a:p>
        </p:txBody>
      </p:sp>
      <p:sp>
        <p:nvSpPr>
          <p:cNvPr id="12" name="Förutsättningar: f = 50 Hz och Δt = 2,0 ms. T och Δt ska ha samma">
            <a:extLst xmlns:a="http://schemas.openxmlformats.org/drawingml/2006/main">
              <a:ext uri="{FF2B5EF4-FFF2-40B4-BE49-F238E27FC236}">
                <a16:creationId xmlns:a16="http://schemas.microsoft.com/office/drawing/2014/main" id="{FBC49CB0-1C7F-4811-82B6-F8CE7B99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f = 50 Hz och Δt = 2,0 ms. T och Δt ska ha samma tidsenhet.</a:t>
            </a:r>
          </a:p>
        </p:txBody>
      </p:sp>
      <p:sp>
        <p:nvSpPr>
          <p:cNvPr id="13" name="Arbetsgång: Beräkna T. Sätt sedan in förhållandet Δt/T. För ledan">
            <a:extLst xmlns:a="http://schemas.openxmlformats.org/drawingml/2006/main">
              <a:ext uri="{FF2B5EF4-FFF2-40B4-BE49-F238E27FC236}">
                <a16:creationId xmlns:a16="http://schemas.microsoft.com/office/drawing/2014/main" id="{04FA53E4-C1E7-4E80-8202-826CEFC6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Beräkna T. Sätt sedan in förhållandet Δt/T. För ledande/släpande behövs signalernas ordning.</a:t>
            </a:r>
          </a:p>
        </p:txBody>
      </p:sp>
      <p:sp>
        <p:nvSpPr>
          <p:cNvPr id="14" name="29">
            <a:extLst xmlns:a="http://schemas.openxmlformats.org/drawingml/2006/main">
              <a:ext uri="{FF2B5EF4-FFF2-40B4-BE49-F238E27FC236}">
                <a16:creationId xmlns:a16="http://schemas.microsoft.com/office/drawing/2014/main" id="{E98F6F45-B914-4871-A918-6B2EDB76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91c96ae384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8">
            <a:extLst xmlns:a="http://schemas.openxmlformats.org/drawingml/2006/main">
              <a:ext uri="{FF2B5EF4-FFF2-40B4-BE49-F238E27FC236}">
                <a16:creationId xmlns:a16="http://schemas.microsoft.com/office/drawing/2014/main" id="{40C5FADC-1207-4F33-A039-20883885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8</a:t>
            </a:r>
          </a:p>
        </p:txBody>
      </p:sp>
      <p:sp>
        <p:nvSpPr>
          <p:cNvPr id="3" name="Fas från tidsavstånd">
            <a:extLst xmlns:a="http://schemas.openxmlformats.org/drawingml/2006/main">
              <a:ext uri="{FF2B5EF4-FFF2-40B4-BE49-F238E27FC236}">
                <a16:creationId xmlns:a16="http://schemas.microsoft.com/office/drawing/2014/main" id="{1A496BA5-0C6F-4C81-AF87-02A9D27E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Fas från tidsavstånd</a:t>
            </a:r>
          </a:p>
        </p:txBody>
      </p:sp>
      <p:sp>
        <p:nvSpPr>
          <p:cNvPr id="4" name="Två 50 Hz-sinussignaler är förskjutna 2,0 ms. Beräkna fasvinkelns">
            <a:extLst xmlns:a="http://schemas.openxmlformats.org/drawingml/2006/main">
              <a:ext uri="{FF2B5EF4-FFF2-40B4-BE49-F238E27FC236}">
                <a16:creationId xmlns:a16="http://schemas.microsoft.com/office/drawing/2014/main" id="{90609986-7D80-4186-A023-82C9FAFE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50 Hz-sinussignaler är förskjutna 2,0 ms. Beräkna fasvinkelns belopp.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8C4299E7-F3F5-4B3F-9F9D-F9E3E8F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8">
            <a:extLst xmlns:a="http://schemas.openxmlformats.org/drawingml/2006/main">
              <a:ext uri="{FF2B5EF4-FFF2-40B4-BE49-F238E27FC236}">
                <a16:creationId xmlns:a16="http://schemas.microsoft.com/office/drawing/2014/main" id="{B692CC2E-5943-495A-A38F-8C6356B6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Två sinusspänningar vid 50 Hz förskjutna" descr="Två sinusspänningar vid 50 Hz förskjutna 2,0 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70b5c086a42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F209B84B-500F-4486-8A82-8405707D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</a:t>
            </a:r>
          </a:p>
        </p:txBody>
      </p:sp>
      <p:sp>
        <p:nvSpPr>
          <p:cNvPr id="10" name="P = U²/R">
            <a:extLst xmlns:a="http://schemas.openxmlformats.org/drawingml/2006/main">
              <a:ext uri="{FF2B5EF4-FFF2-40B4-BE49-F238E27FC236}">
                <a16:creationId xmlns:a16="http://schemas.microsoft.com/office/drawing/2014/main" id="{9D3B0628-9235-4EDA-8942-90569291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U²/R</a:t>
            </a:r>
          </a:p>
        </p:txBody>
      </p:sp>
      <p:sp>
        <p:nvSpPr>
          <p:cNvPr id="11" name="P är medeleffekt i W. U är RMS-spänning i V och R resistans i Ω.">
            <a:extLst xmlns:a="http://schemas.openxmlformats.org/drawingml/2006/main">
              <a:ext uri="{FF2B5EF4-FFF2-40B4-BE49-F238E27FC236}">
                <a16:creationId xmlns:a16="http://schemas.microsoft.com/office/drawing/2014/main" id="{1872A5AC-7DD7-4380-8AFA-150F4CA1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är medeleffekt i W. U är RMS-spänning i V och R resistans i Ω.</a:t>
            </a:r>
          </a:p>
        </p:txBody>
      </p:sp>
      <p:sp>
        <p:nvSpPr>
          <p:cNvPr id="12" name="Förutsättningar: Ohmsk last, R = 24 Ω, U = 12,0 V RMS. Resistanse">
            <a:extLst xmlns:a="http://schemas.openxmlformats.org/drawingml/2006/main">
              <a:ext uri="{FF2B5EF4-FFF2-40B4-BE49-F238E27FC236}">
                <a16:creationId xmlns:a16="http://schemas.microsoft.com/office/drawing/2014/main" id="{09C56870-F3BD-4B10-ACD7-A8F619F8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Ohmsk last, R = 24 Ω, U = 12,0 V RMS. Resistansen är konstant.</a:t>
            </a:r>
          </a:p>
        </p:txBody>
      </p:sp>
      <p:sp>
        <p:nvSpPr>
          <p:cNvPr id="13" name="Arbetsgång: Kvadrera RMS-värdet och dividera med R. Använd inte t">
            <a:extLst xmlns:a="http://schemas.openxmlformats.org/drawingml/2006/main">
              <a:ext uri="{FF2B5EF4-FFF2-40B4-BE49-F238E27FC236}">
                <a16:creationId xmlns:a16="http://schemas.microsoft.com/office/drawing/2014/main" id="{C84333E1-6A52-4FEB-B0E3-510B2002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Kvadrera RMS-värdet och dividera med R. Använd inte toppvärdet direkt i denna formel.</a:t>
            </a:r>
          </a:p>
        </p:txBody>
      </p:sp>
      <p:sp>
        <p:nvSpPr>
          <p:cNvPr id="14" name="31">
            <a:extLst xmlns:a="http://schemas.openxmlformats.org/drawingml/2006/main">
              <a:ext uri="{FF2B5EF4-FFF2-40B4-BE49-F238E27FC236}">
                <a16:creationId xmlns:a16="http://schemas.microsoft.com/office/drawing/2014/main" id="{0E9EA79C-2F08-4E70-A317-830692E6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fdb2a69784c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9">
            <a:extLst xmlns:a="http://schemas.openxmlformats.org/drawingml/2006/main">
              <a:ext uri="{FF2B5EF4-FFF2-40B4-BE49-F238E27FC236}">
                <a16:creationId xmlns:a16="http://schemas.microsoft.com/office/drawing/2014/main" id="{5D2CE005-7313-4213-9460-0CF2D22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9</a:t>
            </a:r>
          </a:p>
        </p:txBody>
      </p:sp>
      <p:sp>
        <p:nvSpPr>
          <p:cNvPr id="3" name="Effekt i resistor">
            <a:extLst xmlns:a="http://schemas.openxmlformats.org/drawingml/2006/main">
              <a:ext uri="{FF2B5EF4-FFF2-40B4-BE49-F238E27FC236}">
                <a16:creationId xmlns:a16="http://schemas.microsoft.com/office/drawing/2014/main" id="{DE3168F6-CA1E-4266-B2CB-107CC20B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Effekt i resistor</a:t>
            </a:r>
          </a:p>
        </p:txBody>
      </p:sp>
      <p:sp>
        <p:nvSpPr>
          <p:cNvPr id="4" name="12,0 V RMS sinus ligger över 24 Ω. Beräkna medeleffekten.">
            <a:extLst xmlns:a="http://schemas.openxmlformats.org/drawingml/2006/main">
              <a:ext uri="{FF2B5EF4-FFF2-40B4-BE49-F238E27FC236}">
                <a16:creationId xmlns:a16="http://schemas.microsoft.com/office/drawing/2014/main" id="{6725BD58-9E6A-4BF8-A77E-918D1B2D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12,0 V RMS sinus ligger över 24 Ω. Beräkna medeleffekten.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9D324976-D3B8-4A59-B9A1-6A3EFB9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19">
            <a:extLst xmlns:a="http://schemas.openxmlformats.org/drawingml/2006/main">
              <a:ext uri="{FF2B5EF4-FFF2-40B4-BE49-F238E27FC236}">
                <a16:creationId xmlns:a16="http://schemas.microsoft.com/office/drawing/2014/main" id="{AA03A970-1DCA-479C-8996-0E05AD38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Krets med växelspänningskälla 12,0 V RMS" descr="Krets med växelspänningskälla 12,0 V RMS och resistor 24 oh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0a0c5d86a46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C33C0A3F-E7BB-43D2-B97E-4319DDDB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</a:t>
            </a:r>
          </a:p>
        </p:txBody>
      </p:sp>
      <p:sp>
        <p:nvSpPr>
          <p:cNvPr id="10" name="Sinus: Urms = û/√2&#10;Symmetrisk fyrkant: Urms = û">
            <a:extLst xmlns:a="http://schemas.openxmlformats.org/drawingml/2006/main">
              <a:ext uri="{FF2B5EF4-FFF2-40B4-BE49-F238E27FC236}">
                <a16:creationId xmlns:a16="http://schemas.microsoft.com/office/drawing/2014/main" id="{FB4830D3-C3DA-4C9F-9102-13D4FDB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Sinus: Urms = û/√2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Symmetrisk fyrkant: Urms = û</a:t>
            </a:r>
          </a:p>
        </p:txBody>
      </p:sp>
      <p:sp>
        <p:nvSpPr>
          <p:cNvPr id="11" name="RMS fås genom kvadrering, medelvärde och kvadratrot. Medelvärde t">
            <a:extLst xmlns:a="http://schemas.openxmlformats.org/drawingml/2006/main">
              <a:ext uri="{FF2B5EF4-FFF2-40B4-BE49-F238E27FC236}">
                <a16:creationId xmlns:a16="http://schemas.microsoft.com/office/drawing/2014/main" id="{1D8D92B6-5AC4-45FA-B888-47DF67DB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RMS fås genom kvadrering, medelvärde och kvadratrot. Medelvärde tar däremot med spänningens tecken.</a:t>
            </a:r>
          </a:p>
        </p:txBody>
      </p:sp>
      <p:sp>
        <p:nvSpPr>
          <p:cNvPr id="12" name="Förutsättningar: Båda signaler saknar DC-komponent. Fyrkanten lig">
            <a:extLst xmlns:a="http://schemas.openxmlformats.org/drawingml/2006/main">
              <a:ext uri="{FF2B5EF4-FFF2-40B4-BE49-F238E27FC236}">
                <a16:creationId xmlns:a16="http://schemas.microsoft.com/office/drawing/2014/main" id="{4FD7158C-F9FA-4C5E-98CF-AF7B0E9F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Båda signaler saknar DC-komponent. Fyrkanten ligger lika länge på +12 V som på −12 V.</a:t>
            </a:r>
          </a:p>
        </p:txBody>
      </p:sp>
      <p:sp>
        <p:nvSpPr>
          <p:cNvPr id="13" name="Arbetsgång: Jämför RMS med rätt formel för varje vågform. Jämför ">
            <a:extLst xmlns:a="http://schemas.openxmlformats.org/drawingml/2006/main">
              <a:ext uri="{FF2B5EF4-FFF2-40B4-BE49-F238E27FC236}">
                <a16:creationId xmlns:a16="http://schemas.microsoft.com/office/drawing/2014/main" id="{279C7CDB-34AB-4E2E-B9EA-5527389B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Jämför RMS med rätt formel för varje vågform. Jämför därefter positiv och negativ area för medelvärdet.</a:t>
            </a:r>
          </a:p>
        </p:txBody>
      </p:sp>
      <p:sp>
        <p:nvSpPr>
          <p:cNvPr id="14" name="33">
            <a:extLst xmlns:a="http://schemas.openxmlformats.org/drawingml/2006/main">
              <a:ext uri="{FF2B5EF4-FFF2-40B4-BE49-F238E27FC236}">
                <a16:creationId xmlns:a16="http://schemas.microsoft.com/office/drawing/2014/main" id="{DB910EC9-3CB1-4069-B088-6C898534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4996f20ae4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Övning 10">
            <a:extLst xmlns:a="http://schemas.openxmlformats.org/drawingml/2006/main">
              <a:ext uri="{FF2B5EF4-FFF2-40B4-BE49-F238E27FC236}">
                <a16:creationId xmlns:a16="http://schemas.microsoft.com/office/drawing/2014/main" id="{2729645C-A353-48A4-8A27-6C76FAB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10</a:t>
            </a:r>
          </a:p>
        </p:txBody>
      </p:sp>
      <p:sp>
        <p:nvSpPr>
          <p:cNvPr id="3" name="Jämförelse av vågformer">
            <a:extLst xmlns:a="http://schemas.openxmlformats.org/drawingml/2006/main">
              <a:ext uri="{FF2B5EF4-FFF2-40B4-BE49-F238E27FC236}">
                <a16:creationId xmlns:a16="http://schemas.microsoft.com/office/drawing/2014/main" id="{3FF923C9-AAE0-4A6E-8AE9-AD8C1555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Jämförelse av vågformer</a:t>
            </a:r>
          </a:p>
        </p:txBody>
      </p:sp>
      <p:sp>
        <p:nvSpPr>
          <p:cNvPr id="4" name="A är en sinus med topp 12 V. B är en symmetrisk fyrkant med nivåe">
            <a:extLst xmlns:a="http://schemas.openxmlformats.org/drawingml/2006/main">
              <a:ext uri="{FF2B5EF4-FFF2-40B4-BE49-F238E27FC236}">
                <a16:creationId xmlns:a16="http://schemas.microsoft.com/office/drawing/2014/main" id="{84B2618E-7480-49BB-ABA5-CC017D6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3886200" cy="2606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är en sinus med topp 12 V. B är en symmetrisk fyrkant med nivåerna +12/−12 V. Jämför RMS och medelvärde.</a:t>
            </a:r>
          </a:p>
        </p:txBody>
      </p:sp>
      <p:sp>
        <p:nvSpPr>
          <p:cNvPr id="5" name="Redovisa din beräkning eller motivera ditt beslut.">
            <a:extLst xmlns:a="http://schemas.openxmlformats.org/drawingml/2006/main">
              <a:ext uri="{FF2B5EF4-FFF2-40B4-BE49-F238E27FC236}">
                <a16:creationId xmlns:a16="http://schemas.microsoft.com/office/drawing/2014/main" id="{225B9849-5F7C-4446-90FB-7300D787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Redovisa din beräkning eller motivera ditt beslut.</a:t>
            </a:r>
          </a:p>
        </p:txBody>
      </p:sp>
      <p:sp>
        <p:nvSpPr>
          <p:cNvPr id="6" name="20">
            <a:extLst xmlns:a="http://schemas.openxmlformats.org/drawingml/2006/main">
              <a:ext uri="{FF2B5EF4-FFF2-40B4-BE49-F238E27FC236}">
                <a16:creationId xmlns:a16="http://schemas.microsoft.com/office/drawing/2014/main" id="{6909F0F0-0A23-4CDE-A8D0-71055E79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pic xmlns:a="http://schemas.openxmlformats.org/drawingml/2006/main" xmlns:r="http://schemas.openxmlformats.org/officeDocument/2006/relationships">
        <p:nvPicPr>
          <p:cNvPr id="9" name="Figur: Signal A är en sinus och signal B en fyr" descr="Signal A är en sinus och signal B en fyrkantvåg, båda mellan plus och minus 12 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931920" cy="274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213d6fed146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 och eget arbete">
            <a:extLst xmlns:a="http://schemas.openxmlformats.org/drawingml/2006/main">
              <a:ext uri="{FF2B5EF4-FFF2-40B4-BE49-F238E27FC236}">
                <a16:creationId xmlns:a16="http://schemas.microsoft.com/office/drawing/2014/main" id="{4A7C95D0-115F-4513-9BF7-56DEAF1B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 och eget arbete</a:t>
            </a:r>
          </a:p>
        </p:txBody>
      </p:sp>
      <p:sp>
        <p:nvSpPr>
          <p:cNvPr id="3" name="Vilket värde ska användas när du räknar medeleffekt i en resistor">
            <a:extLst xmlns:a="http://schemas.openxmlformats.org/drawingml/2006/main">
              <a:ext uri="{FF2B5EF4-FFF2-40B4-BE49-F238E27FC236}">
                <a16:creationId xmlns:a16="http://schemas.microsoft.com/office/drawing/2014/main" id="{85A87D98-8AC3-490B-9136-FDD3764E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Vilket värde ska användas när du räknar medeleffekt i en resistor?</a:t>
            </a:r>
          </a:p>
        </p:txBody>
      </p:sp>
      <p:sp>
        <p:nvSpPr>
          <p:cNvPr id="4" name="Spara dina kurvtolkningar till v40-inlämningen. Träna omvandling ">
            <a:extLst xmlns:a="http://schemas.openxmlformats.org/drawingml/2006/main">
              <a:ext uri="{FF2B5EF4-FFF2-40B4-BE49-F238E27FC236}">
                <a16:creationId xmlns:a16="http://schemas.microsoft.com/office/drawing/2014/main" id="{50ED1EEC-B428-4182-9833-D9C18455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81425"/>
            <a:ext cx="76200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Spara dina kurvtolkningar till v40-inlämningen. Träna omvandling mellan Hz, s och ms.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79A33A3E-558B-4582-8A0F-EB073A9D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90bf710aa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läsning">
            <a:extLst xmlns:a="http://schemas.openxmlformats.org/drawingml/2006/main">
              <a:ext uri="{FF2B5EF4-FFF2-40B4-BE49-F238E27FC236}">
                <a16:creationId xmlns:a16="http://schemas.microsoft.com/office/drawing/2014/main" id="{FC12CA4E-E477-4879-9958-99E6F187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läsning</a:t>
            </a:r>
          </a:p>
        </p:txBody>
      </p:sp>
      <p:sp>
        <p:nvSpPr>
          <p:cNvPr id="3" name="Studieplanen YH03151, 18 september 2026&#10;Sjöskolans kursmaterial o">
            <a:extLst xmlns:a="http://schemas.openxmlformats.org/drawingml/2006/main">
              <a:ext uri="{FF2B5EF4-FFF2-40B4-BE49-F238E27FC236}">
                <a16:creationId xmlns:a16="http://schemas.microsoft.com/office/drawing/2014/main" id="{2C6377F6-655B-4F9C-BB99-0ADCDCD0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762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Studieplanen YH03151, 18 september 2026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Sjöskolans kursmaterial och originalmall</a:t>
            </a:r>
          </a:p>
        </p:txBody>
      </p:sp>
      <p:sp>
        <p:nvSpPr>
          <p:cNvPr id="4" name="OpenStax: enkla växelströmskretsar">
            <a:extLst xmlns:a="http://schemas.openxmlformats.org/drawingml/2006/main">
              <a:ext uri="{FF2B5EF4-FFF2-40B4-BE49-F238E27FC236}">
                <a16:creationId xmlns:a16="http://schemas.microsoft.com/office/drawing/2014/main" id="{AB10AEEB-3063-4B28-8F55-7D8BD48B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9af0d100ca84e5f"/>
              </a:rPr>
              <a:t>OpenStax: enkla växelströmskretsar</a:t>
            </a:r>
          </a:p>
        </p:txBody>
      </p:sp>
      <p:sp>
        <p:nvSpPr>
          <p:cNvPr id="6" name="22">
            <a:extLst xmlns:a="http://schemas.openxmlformats.org/drawingml/2006/main">
              <a:ext uri="{FF2B5EF4-FFF2-40B4-BE49-F238E27FC236}">
                <a16:creationId xmlns:a16="http://schemas.microsoft.com/office/drawing/2014/main" id="{290BE549-5AA5-4790-9CD6-BE967DBD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36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2026-09-20T20:08:59.5220000Z</dcterms:created>
  <dcterms:modified xsi:type="dcterms:W3CDTF">2026-09-20T20:08:59.5220000Z</dcterms:modified>
</coreProperties>
</file>