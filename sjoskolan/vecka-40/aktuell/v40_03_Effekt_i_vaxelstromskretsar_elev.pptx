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627855df901b451a" Type="http://schemas.openxmlformats.org/officeDocument/2006/relationships/extended-properties" Target="docProps/app.xml"/><Relationship Id="R8dd11a9280794af8" Type="http://schemas.openxmlformats.org/package/2006/relationships/metadata/core-properties" Target="docProps/core.xml"/><Relationship Id="R8fa3dca891fa48ff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3c7ccd9788a40dc"/>
  </p:sldMasterIdLst>
  <p:notesMasterIdLst>
    <p:notesMasterId xmlns:r="http://schemas.openxmlformats.org/officeDocument/2006/relationships" r:id="R310c287b01a64680"/>
  </p:notesMasterIdLst>
  <p:sldIdLst>
    <p:sldId xmlns:r="http://schemas.openxmlformats.org/officeDocument/2006/relationships" id="256" r:id="R5e03e8d9c25e4f7a"/>
    <p:sldId xmlns:r="http://schemas.openxmlformats.org/officeDocument/2006/relationships" id="257" r:id="Rf4376990998c4de8"/>
    <p:sldId xmlns:r="http://schemas.openxmlformats.org/officeDocument/2006/relationships" id="258" r:id="R6d335f273c004061"/>
    <p:sldId xmlns:r="http://schemas.openxmlformats.org/officeDocument/2006/relationships" id="259" r:id="R626dbc55f4e442a8"/>
    <p:sldId xmlns:r="http://schemas.openxmlformats.org/officeDocument/2006/relationships" id="260" r:id="R0649520aafce4791"/>
    <p:sldId xmlns:r="http://schemas.openxmlformats.org/officeDocument/2006/relationships" id="261" r:id="R6e45d74eeb204a65"/>
    <p:sldId xmlns:r="http://schemas.openxmlformats.org/officeDocument/2006/relationships" id="262" r:id="Rdb8984ba93e049b0"/>
    <p:sldId xmlns:r="http://schemas.openxmlformats.org/officeDocument/2006/relationships" id="263" r:id="R2cf686f955f34a77"/>
    <p:sldId xmlns:r="http://schemas.openxmlformats.org/officeDocument/2006/relationships" id="264" r:id="R83f6f40d3ea44b6d"/>
    <p:sldId xmlns:r="http://schemas.openxmlformats.org/officeDocument/2006/relationships" id="265" r:id="Rf2bd7de840ee4093"/>
    <p:sldId xmlns:r="http://schemas.openxmlformats.org/officeDocument/2006/relationships" id="266" r:id="R20462ad3885c4ed5"/>
    <p:sldId xmlns:r="http://schemas.openxmlformats.org/officeDocument/2006/relationships" id="267" r:id="R21f957a366e1439b"/>
    <p:sldId xmlns:r="http://schemas.openxmlformats.org/officeDocument/2006/relationships" id="268" r:id="Raf14ec52794d4176"/>
    <p:sldId xmlns:r="http://schemas.openxmlformats.org/officeDocument/2006/relationships" id="269" r:id="R6884717a08634cd4"/>
    <p:sldId xmlns:r="http://schemas.openxmlformats.org/officeDocument/2006/relationships" id="270" r:id="R266c58e04d1b4b81"/>
  </p:sldIdLst>
  <p:sldSz cx="9144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<?xml version='1.0' encoding='UTF-8' standalone='yes'?>
<Relationships xmlns="http://schemas.openxmlformats.org/package/2006/relationships"><Relationship Id="R0649520aafce4791" Type="http://schemas.openxmlformats.org/officeDocument/2006/relationships/slide" Target="slides/slide5.xml"/><Relationship Id="R20462ad3885c4ed5" Type="http://schemas.openxmlformats.org/officeDocument/2006/relationships/slide" Target="slides/slide11.xml"/><Relationship Id="R21f957a366e1439b" Type="http://schemas.openxmlformats.org/officeDocument/2006/relationships/slide" Target="slides/slide12.xml"/><Relationship Id="R266c58e04d1b4b81" Type="http://schemas.openxmlformats.org/officeDocument/2006/relationships/slide" Target="slides/slide15.xml"/><Relationship Id="R2cf686f955f34a77" Type="http://schemas.openxmlformats.org/officeDocument/2006/relationships/slide" Target="slides/slide8.xml"/><Relationship Id="R310c287b01a64680" Type="http://schemas.openxmlformats.org/officeDocument/2006/relationships/notesMaster" Target="notesMasters/notesMaster1.xml"/><Relationship Id="R42783e01682c4a55" Type="http://schemas.openxmlformats.org/officeDocument/2006/relationships/presProps" Target="presProps.xml"/><Relationship Id="R5e03e8d9c25e4f7a" Type="http://schemas.openxmlformats.org/officeDocument/2006/relationships/slide" Target="slides/slide1.xml"/><Relationship Id="R626dbc55f4e442a8" Type="http://schemas.openxmlformats.org/officeDocument/2006/relationships/slide" Target="slides/slide4.xml"/><Relationship Id="R6884717a08634cd4" Type="http://schemas.openxmlformats.org/officeDocument/2006/relationships/slide" Target="slides/slide14.xml"/><Relationship Id="R6d335f273c004061" Type="http://schemas.openxmlformats.org/officeDocument/2006/relationships/slide" Target="slides/slide3.xml"/><Relationship Id="R6e45d74eeb204a65" Type="http://schemas.openxmlformats.org/officeDocument/2006/relationships/slide" Target="slides/slide6.xml"/><Relationship Id="R80d212985f8b4d94" Type="http://schemas.openxmlformats.org/officeDocument/2006/relationships/tableStyles" Target="tableStyles.xml"/><Relationship Id="R83f6f40d3ea44b6d" Type="http://schemas.openxmlformats.org/officeDocument/2006/relationships/slide" Target="slides/slide9.xml"/><Relationship Id="R93c7ccd9788a40dc" Type="http://schemas.openxmlformats.org/officeDocument/2006/relationships/slideMaster" Target="slideMasters/slideMaster1.xml"/><Relationship Id="R96b70302a480479c" Type="http://schemas.openxmlformats.org/officeDocument/2006/relationships/viewProps" Target="viewProps.xml"/><Relationship Id="Raf14ec52794d4176" Type="http://schemas.openxmlformats.org/officeDocument/2006/relationships/slide" Target="slides/slide13.xml"/><Relationship Id="Rcf6a5f247bfa4586" Type="http://schemas.openxmlformats.org/officeDocument/2006/relationships/theme" Target="theme/theme1.xml"/><Relationship Id="Rdb8984ba93e049b0" Type="http://schemas.openxmlformats.org/officeDocument/2006/relationships/slide" Target="slides/slide7.xml"/><Relationship Id="Rf2bd7de840ee4093" Type="http://schemas.openxmlformats.org/officeDocument/2006/relationships/slide" Target="slides/slide10.xml"/><Relationship Id="Rf4376990998c4de8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ea3576245a974f2d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-tema">
  <a:themeElements>
    <a:clrScheme name="Office-tema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-tema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-tema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6cd99e8dc84b407d" Type="http://schemas.openxmlformats.org/officeDocument/2006/relationships/slide" Target="../slides/slide1.xml"/><Relationship Id="Rad110e662cbf44b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678492869cbf4c73" Type="http://schemas.openxmlformats.org/officeDocument/2006/relationships/notesMaster" Target="../notesMasters/notesMaster1.xml"/><Relationship Id="R6dd94c2136164d43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0851612b8bc0423f" Type="http://schemas.openxmlformats.org/officeDocument/2006/relationships/notesMaster" Target="../notesMasters/notesMaster1.xml"/><Relationship Id="Re7a5855c674342af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02ee32537e7d4da0" Type="http://schemas.openxmlformats.org/officeDocument/2006/relationships/slide" Target="../slides/slide4.xml"/><Relationship Id="R1c3871abdb4f4812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9c44c19c5b0644cf" Type="http://schemas.openxmlformats.org/officeDocument/2006/relationships/slide" Target="../slides/slide5.xml"/><Relationship Id="Rfe1c80707158402c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84fa75d56db14587" Type="http://schemas.openxmlformats.org/officeDocument/2006/relationships/slide" Target="../slides/slide6.xml"/><Relationship Id="Rb0cbfa45a2744953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438c0f62e61c4daa" Type="http://schemas.openxmlformats.org/officeDocument/2006/relationships/slide" Target="../slides/slide7.xml"/><Relationship Id="R910a1af7e1d84f4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338d0d7ffa384774" Type="http://schemas.openxmlformats.org/officeDocument/2006/relationships/notesMaster" Target="../notesMasters/notesMaster1.xml"/><Relationship Id="R4d33d3f70ba94376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32a8842a548d4de7" Type="http://schemas.openxmlformats.org/officeDocument/2006/relationships/notesMaster" Target="../notesMasters/notesMaster1.xml"/><Relationship Id="Re042c2e40d7344b5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274bdf5d68004f1e" Type="http://schemas.openxmlformats.org/officeDocument/2006/relationships/notesMaster" Target="../notesMasters/notesMaster1.xml"/><Relationship Id="Rb75148e261f644be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70717ac3103c4be6" Type="http://schemas.openxmlformats.org/officeDocument/2006/relationships/notesMaster" Target="../notesMasters/notesMaster1.xml"/><Relationship Id="Rfadd694dad0b4d80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16d59d3214a248c9" Type="http://schemas.openxmlformats.org/officeDocument/2006/relationships/notesMaster" Target="../notesMasters/notesMaster1.xml"/><Relationship Id="R4cc237d46bd44cd5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a450a68116844b87" Type="http://schemas.openxmlformats.org/officeDocument/2006/relationships/notesMaster" Target="../notesMasters/notesMaster1.xml"/><Relationship Id="Rc0ab96f3ed2b4eff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b963abbebe434465" Type="http://schemas.openxmlformats.org/officeDocument/2006/relationships/slide" Target="../slides/slide14.xml"/><Relationship Id="Rbe6c499874b340d0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3a2f8dc5cbc04a87" Type="http://schemas.openxmlformats.org/officeDocument/2006/relationships/notesMaster" Target="../notesMasters/notesMaster1.xml"/><Relationship Id="R3a58fceacfa1439f" Type="http://schemas.openxmlformats.org/officeDocument/2006/relationships/slide" Target="../slides/slide15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3b518d85d9ae4f29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b8ba9bfe76b54c85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068cf84efa3c432e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d86c83539d7e4b36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2c2a814a83b049fc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37149e8cd4e54228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39f811f5bb884218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e4b88af954fd4a46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f8486e07b267471b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1b0e9163ddf9486b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ea2017f2484643db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 preserve="1">
  <p:cSld name="Rubrikbild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8088AEF-6E0C-4A50-BCF4-E74E7898EE1B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1122363"/>
            <a:ext cx="77724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BE583D0D-30CE-4261-8801-4FC2FEA33A7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143000" y="3602038"/>
            <a:ext cx="6858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835D4EE6-262C-4486-BA96-F0AD298D886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5AE087DF-A1CA-40E9-A760-927F04B37E2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DEDE4AB-EC79-4CDD-AE84-3E621D44AAF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Rubrik och innehåll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9016CB6-BF80-487F-8886-46395B1CB1E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46544475-DF0F-48F4-B6D6-BBC4C8792FB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1C37CE1-9842-4BFD-B545-F6238F438A4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0370B81-6870-492F-9BBF-EB1435A878B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BE130D2-18DF-47F6-ABBB-5A6E362E0BA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Avsnittsrubri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8C07A55-B05B-437C-A161-E31ED645EF5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3888" y="1709739"/>
            <a:ext cx="78867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2ED09D7-13B7-4EE1-AF62-467DFDC04F4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3888" y="4589464"/>
            <a:ext cx="78867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F4EE583D-9FA3-4BAA-8C04-F5A153E3AD8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532F69B-B76C-47CE-8742-3A6148FDE6E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71F01A2-447A-4CD8-A6D9-2DC564FD25B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vå dela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672640D-78CC-45AB-A884-2985D636758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836DA6F4-C658-4BB5-A318-C962D7AE97D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28650" y="1825625"/>
            <a:ext cx="38862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BE9818A7-ACAF-48F4-88CA-31D259D1BDFE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29150" y="1825625"/>
            <a:ext cx="38862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2F7BA8A3-790D-4D56-BA56-A683024C881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A66C93C4-8C0A-4A5C-A70B-4FA8E7288E2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F121A679-81F7-4123-ADBB-00B7A1F93C3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Jämförels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A8B1118-E167-4B25-AA75-FD2DC57FA3C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365126"/>
            <a:ext cx="78867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20A7BB5C-188A-42B3-BF83-7B01490382B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9842" y="1681163"/>
            <a:ext cx="3868340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CF209363-711B-47AF-B7B0-5C0C2405767B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29842" y="2505075"/>
            <a:ext cx="3868340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44677CBB-FF32-4E61-8F98-0A94480909B4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29150" y="1681163"/>
            <a:ext cx="3887391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998B3B62-B244-45A4-9498-0D400D126907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29150" y="2505075"/>
            <a:ext cx="3887391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7ACE058A-EE69-40A0-B13D-33287D20B84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466864FA-31BD-41BB-9880-62E83F3C5BB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DE1897C2-52A5-4715-A6C2-E56E73530DA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Endast rubri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96662E0-F7EC-42D1-BBF1-D53ECB9EAF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8176E245-D509-4E68-9587-8A1BDB48194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896FF894-0345-44E1-8E73-8482E10123C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CA2EB7A4-FC3A-4EB7-9142-15362CADDFB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1F7F472C-1C8F-4734-AD26-B6826D33DA7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E8C745B3-A30B-447F-B45E-63398546FB2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48493456-924B-447A-BA6D-40192242D50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Text med bild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8968DCF-7B1D-488A-974D-63BC5352960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457200"/>
            <a:ext cx="2949178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235C0FB0-AA45-4DD1-A337-15E84A936EB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887391" y="987426"/>
            <a:ext cx="462915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2871C291-6894-499F-8F92-B0DCCFCAFBB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29841" y="2057400"/>
            <a:ext cx="2949178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5048A54E-C290-4539-8DD6-24A771405B2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964A475D-B5FA-4F4B-85C4-568BA8EFCEE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A5DEAB06-12D7-4889-A687-E5ED9CB8F64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Bild med bild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7D44594-10FF-49B3-896E-3CED4DD7F19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457200"/>
            <a:ext cx="2949178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DACCC686-AD3B-4A90-80D4-F49772BFC41A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3887391" y="987426"/>
            <a:ext cx="4629150" cy="4873625"/>
          </a:xfrm>
        </p:spPr>
        <p:txBody>
          <a:bodyPr xmlns:a="http://schemas.openxmlformats.org/drawingml/2006/main" anchor="t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r>
              <a:t>Click icon to add picture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7DF10CBA-2715-41D3-AD0B-ABC9768F021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29841" y="2057400"/>
            <a:ext cx="2949178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ED054847-A406-48AE-A89B-53EFBAEED6D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F38B348C-AF9A-4749-88B0-BB99F171D6E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9768BE1-6A29-409C-B502-1176454BD64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Rubrik och lodrät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B9B9C25-7109-4472-9627-496EACC97F8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4A42943E-A2FA-4D4D-826F-33983298095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5E46941-1CBA-43D1-93EC-E514337746A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9F9E035-D11D-4E76-852A-9A55A36B6C3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4C85A75-60B4-4760-8B61-A1D628246A6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Lodrät rubrik och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885104D3-2F3B-4420-8E4B-6117BDD3889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543675" y="365125"/>
            <a:ext cx="1971675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D1A36BD0-78F4-4F36-9221-8D6B86F15BE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365125"/>
            <a:ext cx="5800725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19A76324-B8EE-4422-A165-16A94F6B6E3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99E161-3F6E-404E-A8F4-618FBAF0A1B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82D8812-A29A-4A05-8745-2939D01C027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114fd20a7c66494e" Type="http://schemas.openxmlformats.org/officeDocument/2006/relationships/slideLayout" Target="../slideLayouts/slideLayout10.xml"/><Relationship Id="R12c494b5146743fb" Type="http://schemas.openxmlformats.org/officeDocument/2006/relationships/slideLayout" Target="../slideLayouts/slideLayout4.xml"/><Relationship Id="R13662793c1954fee" Type="http://schemas.openxmlformats.org/officeDocument/2006/relationships/theme" Target="theme/theme2.xml"/><Relationship Id="R2a24851a12184cbf" Type="http://schemas.openxmlformats.org/officeDocument/2006/relationships/slideLayout" Target="../slideLayouts/slideLayout7.xml"/><Relationship Id="R51e19fabf0564107" Type="http://schemas.openxmlformats.org/officeDocument/2006/relationships/slideLayout" Target="../slideLayouts/slideLayout1.xml"/><Relationship Id="R5fc179b509be4b87" Type="http://schemas.openxmlformats.org/officeDocument/2006/relationships/slideLayout" Target="../slideLayouts/slideLayout3.xml"/><Relationship Id="R7ca0e17fbaa343e2" Type="http://schemas.openxmlformats.org/officeDocument/2006/relationships/slideLayout" Target="../slideLayouts/slideLayout9.xml"/><Relationship Id="R8a6c8ae03d6e4cbe" Type="http://schemas.openxmlformats.org/officeDocument/2006/relationships/slideLayout" Target="../slideLayouts/slideLayout11.xml"/><Relationship Id="Rab2d0790176a4bd8" Type="http://schemas.openxmlformats.org/officeDocument/2006/relationships/slideLayout" Target="../slideLayouts/slideLayout8.xml"/><Relationship Id="Rd5eafd21bb674865" Type="http://schemas.openxmlformats.org/officeDocument/2006/relationships/slideLayout" Target="../slideLayouts/slideLayout2.xml"/><Relationship Id="Re742beaf800b4f25" Type="http://schemas.openxmlformats.org/officeDocument/2006/relationships/slideLayout" Target="../slideLayouts/slideLayout6.xml"/><Relationship Id="Rf8d31e7f9af341d0" Type="http://schemas.openxmlformats.org/officeDocument/2006/relationships/slideLayout" Target="../slideLayouts/slideLayout5.xml"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A9BE103E-24FD-43B3-9901-93762E5E475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365126"/>
            <a:ext cx="78867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Klicka här för att ändra mall för rubrikformat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76E2F6B-6871-4664-ACC1-41F07A7D764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1825625"/>
            <a:ext cx="78867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Klicka här för att ändra format på bakgrundstexten</a:t>
            </a:r>
          </a:p>
          <a:p xmlns:a="http://schemas.openxmlformats.org/drawingml/2006/main">
            <a:pPr lvl="1">
              <a:buNone/>
            </a:pPr>
            <a:r>
              <a:t>Nivå två</a:t>
            </a:r>
          </a:p>
          <a:p xmlns:a="http://schemas.openxmlformats.org/drawingml/2006/main">
            <a:pPr lvl="2">
              <a:buNone/>
            </a:pPr>
            <a:r>
              <a:t>Nivå tre</a:t>
            </a:r>
          </a:p>
          <a:p xmlns:a="http://schemas.openxmlformats.org/drawingml/2006/main">
            <a:pPr lvl="3">
              <a:buNone/>
            </a:pPr>
            <a:r>
              <a:t>Nivå fyra</a:t>
            </a:r>
          </a:p>
          <a:p xmlns:a="http://schemas.openxmlformats.org/drawingml/2006/main">
            <a:pPr lvl="4">
              <a:buNone/>
            </a:pPr>
            <a:r>
              <a:t>Nivå fem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970FAC11-66A0-4174-B8BF-F8AD29B60D6F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628650" y="6356351"/>
            <a:ext cx="20574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4B5846D-9318-4510-A675-5503963054B4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028950" y="6356351"/>
            <a:ext cx="30861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47F9028-8FDE-4C63-BAB8-CE7F4297514E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457950" y="6356351"/>
            <a:ext cx="20574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1e19fabf0564107"/>
    <p:sldLayoutId xmlns:r="http://schemas.openxmlformats.org/officeDocument/2006/relationships" id="2147483650" r:id="Rd5eafd21bb674865"/>
    <p:sldLayoutId xmlns:r="http://schemas.openxmlformats.org/officeDocument/2006/relationships" id="2147483651" r:id="R5fc179b509be4b87"/>
    <p:sldLayoutId xmlns:r="http://schemas.openxmlformats.org/officeDocument/2006/relationships" id="2147483652" r:id="R12c494b5146743fb"/>
    <p:sldLayoutId xmlns:r="http://schemas.openxmlformats.org/officeDocument/2006/relationships" id="2147483653" r:id="Rf8d31e7f9af341d0"/>
    <p:sldLayoutId xmlns:r="http://schemas.openxmlformats.org/officeDocument/2006/relationships" id="2147483654" r:id="Re742beaf800b4f25"/>
    <p:sldLayoutId xmlns:r="http://schemas.openxmlformats.org/officeDocument/2006/relationships" id="2147483655" r:id="R2a24851a12184cbf"/>
    <p:sldLayoutId xmlns:r="http://schemas.openxmlformats.org/officeDocument/2006/relationships" id="2147483656" r:id="Rab2d0790176a4bd8"/>
    <p:sldLayoutId xmlns:r="http://schemas.openxmlformats.org/officeDocument/2006/relationships" id="2147483657" r:id="R7ca0e17fbaa343e2"/>
    <p:sldLayoutId xmlns:r="http://schemas.openxmlformats.org/officeDocument/2006/relationships" id="2147483658" r:id="R114fd20a7c66494e"/>
    <p:sldLayoutId xmlns:r="http://schemas.openxmlformats.org/officeDocument/2006/relationships" id="2147483659" r:id="R8a6c8ae03d6e4cbe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-tema">
  <a:themeElements>
    <a:clrScheme name="Office-tema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-tema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-tema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7282531f0dd443f8" Type="http://schemas.openxmlformats.org/officeDocument/2006/relationships/notesSlide" Target="../notesSlides/notesSlide1.xml"/><Relationship Id="Rcae85491367e415b" Type="http://schemas.openxmlformats.org/officeDocument/2006/relationships/slideLayout" Target="../slideLayouts/slideLayout1.xml"/><Relationship Id="Rdf66da4517714d8f" Type="http://schemas.openxmlformats.org/officeDocument/2006/relationships/image" Target="../media/image.png"/><Relationship Id="Re00d22102c2a43eb" Type="http://schemas.openxmlformats.org/officeDocument/2006/relationships/image" Target="../media/image.jpeg"/></Relationships>
</file>

<file path=ppt/slides/_rels/slide2.xml.rels><?xml version='1.0' encoding='UTF-8' standalone='yes'?>
<Relationships xmlns="http://schemas.openxmlformats.org/package/2006/relationships"><Relationship Id="R76946d53c32941fb" Type="http://schemas.openxmlformats.org/officeDocument/2006/relationships/image" Target="../media/image.jpeg"/><Relationship Id="R8c99dbb0ff914b52" Type="http://schemas.openxmlformats.org/officeDocument/2006/relationships/slideLayout" Target="../slideLayouts/slideLayout1.xml"/><Relationship Id="Ra884fbfd51844149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252ac9a7dcb740c7" Type="http://schemas.openxmlformats.org/officeDocument/2006/relationships/slideLayout" Target="../slideLayouts/slideLayout1.xml"/><Relationship Id="R6b06c24fbc2b46ee" Type="http://schemas.openxmlformats.org/officeDocument/2006/relationships/image" Target="../media/image.jpeg"/><Relationship Id="R797d2df221ab4dfb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268c35ebdefe46a4" Type="http://schemas.openxmlformats.org/officeDocument/2006/relationships/image" Target="../media/image.jpeg"/><Relationship Id="R5d028a07f94f4dc7" Type="http://schemas.openxmlformats.org/officeDocument/2006/relationships/notesSlide" Target="../notesSlides/notesSlide4.xml"/><Relationship Id="Re34f7c8daa904fcd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50f66bfb72b64644" Type="http://schemas.openxmlformats.org/officeDocument/2006/relationships/image" Target="../media/image.jpeg"/><Relationship Id="Rddc332d54a614b11" Type="http://schemas.openxmlformats.org/officeDocument/2006/relationships/slideLayout" Target="../slideLayouts/slideLayout1.xml"/><Relationship Id="Rf0aac02627cb4ccc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63bb0d8354584535" Type="http://schemas.openxmlformats.org/officeDocument/2006/relationships/image" Target="../media/image.jpeg"/><Relationship Id="R85e3e9c8d63b46b2" Type="http://schemas.openxmlformats.org/officeDocument/2006/relationships/slideLayout" Target="../slideLayouts/slideLayout1.xml"/><Relationship Id="Rf6ca6bd4985144a1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91f5dc7456d1472d" Type="http://schemas.openxmlformats.org/officeDocument/2006/relationships/image" Target="../media/image.jpeg"/><Relationship Id="Ra3262b96580c44d4" Type="http://schemas.openxmlformats.org/officeDocument/2006/relationships/notesSlide" Target="../notesSlides/notesSlide7.xml"/><Relationship Id="Rfd97ab9363104ca8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10d098f4da0c437f" Type="http://schemas.openxmlformats.org/officeDocument/2006/relationships/slideLayout" Target="../slideLayouts/slideLayout1.xml"/><Relationship Id="R231eaa858c5440f8" Type="http://schemas.openxmlformats.org/officeDocument/2006/relationships/notesSlide" Target="../notesSlides/notesSlide8.xml"/><Relationship Id="R99e9f037378e47b5" Type="http://schemas.openxmlformats.org/officeDocument/2006/relationships/image" Target="../media/image.jpeg"/></Relationships>
</file>

<file path=ppt/slides/_rels/slide9.xml.rels><?xml version='1.0' encoding='UTF-8' standalone='yes'?>
<Relationships xmlns="http://schemas.openxmlformats.org/package/2006/relationships"><Relationship Id="R1302c1d474444c13" Type="http://schemas.openxmlformats.org/officeDocument/2006/relationships/notesSlide" Target="../notesSlides/notesSlide9.xml"/><Relationship Id="R8790e0a3cd5441b7" Type="http://schemas.openxmlformats.org/officeDocument/2006/relationships/image" Target="../media/image.jpeg"/><Relationship Id="Rc154000e48d94e2b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55cd428768824e8e" Type="http://schemas.openxmlformats.org/officeDocument/2006/relationships/slideLayout" Target="../slideLayouts/slideLayout1.xml"/><Relationship Id="Rd117b30faff44780" Type="http://schemas.openxmlformats.org/officeDocument/2006/relationships/image" Target="../media/image.jpeg"/><Relationship Id="Rff1ecdeb27ef465e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bbdca3c7b09d4d8b" Type="http://schemas.openxmlformats.org/officeDocument/2006/relationships/image" Target="../media/image.jpeg"/><Relationship Id="Re83d85a8b1f442b1" Type="http://schemas.openxmlformats.org/officeDocument/2006/relationships/notesSlide" Target="../notesSlides/notesSlide11.xml"/><Relationship Id="Rf1b69bec876741eb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b89eca466bd0406b" Type="http://schemas.openxmlformats.org/officeDocument/2006/relationships/image" Target="../media/image.jpeg"/><Relationship Id="Rc7d2f243e347418c" Type="http://schemas.openxmlformats.org/officeDocument/2006/relationships/notesSlide" Target="../notesSlides/notesSlide12.xml"/><Relationship Id="Rc8d3ffd1feca4a45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009174d2f5f341a5" Type="http://schemas.openxmlformats.org/officeDocument/2006/relationships/notesSlide" Target="../notesSlides/notesSlide13.xml"/><Relationship Id="R21e5ffc7b1a74474" Type="http://schemas.openxmlformats.org/officeDocument/2006/relationships/image" Target="../media/image.jpeg"/><Relationship Id="Rca57d4e725f049a5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2731676f74b640b4" Type="http://schemas.openxmlformats.org/officeDocument/2006/relationships/notesSlide" Target="../notesSlides/notesSlide14.xml"/><Relationship Id="R91c645dbd77a430b" Type="http://schemas.openxmlformats.org/officeDocument/2006/relationships/image" Target="../media/image.jpeg"/><Relationship Id="Rad16ca3680a14b66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67bd4d6f7f944216" Type="http://schemas.openxmlformats.org/officeDocument/2006/relationships/image" Target="../media/image.jpeg"/><Relationship Id="Ra5acc53d76cf4a44" Type="http://schemas.openxmlformats.org/officeDocument/2006/relationships/slideLayout" Target="../slideLayouts/slideLayout1.xml"/><Relationship Id="Rfaf987d7a1d04b29" Type="http://schemas.openxmlformats.org/officeDocument/2006/relationships/notesSlide" Target="../notesSlides/notesSlide15.xml"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0d22102c2a43e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pic>
        <p:nvPicPr>
          <p:cNvPr id="18" name="Bildobjekt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66da4517714d8f"/>
          <a:srcRect xmlns:a="http://schemas.openxmlformats.org/drawingml/2006/main" l="0" t="194" r="0" b="19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-185460"/>
            <a:ext cx="9138501" cy="6068674"/>
          </a:xfrm>
          <a:prstGeom xmlns:a="http://schemas.openxmlformats.org/drawingml/2006/main" prst="rect">
            <a:avLst/>
          </a:prstGeom>
        </p:spPr>
      </p:pic>
      <p:sp>
        <p:nvSpPr>
          <p:cNvPr id="11" name="Kontrast för omslagets rubrik">
            <a:extLst xmlns:a="http://schemas.openxmlformats.org/drawingml/2006/main">
              <a:ext uri="{FF2B5EF4-FFF2-40B4-BE49-F238E27FC236}">
                <a16:creationId xmlns:a16="http://schemas.microsoft.com/office/drawing/2014/main" id="{7F188AA8-424D-428B-BCF3-5CB1420B6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38501" cy="5883214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01427">
                  <a:alpha val="38000"/>
                </a:srgbClr>
              </a:gs>
              <a:gs pos="42000">
                <a:srgbClr val="001427">
                  <a:alpha val="45000"/>
                </a:srgbClr>
              </a:gs>
              <a:gs pos="68000">
                <a:srgbClr val="001427">
                  <a:alpha val="0"/>
                </a:srgbClr>
              </a:gs>
              <a:gs pos="100000">
                <a:srgbClr val="001427">
                  <a:alpha val="0"/>
                </a:srgbClr>
              </a:gs>
            </a:gsLst>
            <a:lin ang="5400000"/>
          </a:gra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12" name="textruta 3">
            <a:extLst xmlns:a="http://schemas.openxmlformats.org/drawingml/2006/main">
              <a:ext uri="{FF2B5EF4-FFF2-40B4-BE49-F238E27FC236}">
                <a16:creationId xmlns:a16="http://schemas.microsoft.com/office/drawing/2014/main" id="{CC7529CD-C052-4735-ADF7-5FE9C282A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3995" y="704850"/>
            <a:ext cx="6334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Effekt i växelströmskretsar</a:t>
            </a:r>
          </a:p>
        </p:txBody>
      </p:sp>
      <p:sp>
        <p:nvSpPr>
          <p:cNvPr id="13" name="Aktiv, reaktiv och skenbar effekt">
            <a:extLst xmlns:a="http://schemas.openxmlformats.org/drawingml/2006/main">
              <a:ext uri="{FF2B5EF4-FFF2-40B4-BE49-F238E27FC236}">
                <a16:creationId xmlns:a16="http://schemas.microsoft.com/office/drawing/2014/main" id="{728A5BAA-7FC5-4700-B74E-7C2B47B6F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3995" y="1809750"/>
            <a:ext cx="628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Aktiv, reaktiv och skenbar effekt</a:t>
            </a:r>
          </a:p>
        </p:txBody>
      </p:sp>
      <p:sp>
        <p:nvSpPr>
          <p:cNvPr id="14" name="1">
            <a:extLst xmlns:a="http://schemas.openxmlformats.org/drawingml/2006/main">
              <a:ext uri="{FF2B5EF4-FFF2-40B4-BE49-F238E27FC236}">
                <a16:creationId xmlns:a16="http://schemas.microsoft.com/office/drawing/2014/main" id="{A48258C5-18D1-4530-A1D3-CBA49E209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438900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15937386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946d53c32941f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9" name="title">
            <a:extLst xmlns:a="http://schemas.openxmlformats.org/drawingml/2006/main">
              <a:ext uri="{FF2B5EF4-FFF2-40B4-BE49-F238E27FC236}">
                <a16:creationId xmlns:a16="http://schemas.microsoft.com/office/drawing/2014/main" id="{6549D0B0-716F-4379-A157-767F28210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8625"/>
            <a:ext cx="8001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Det här ska du kunna</a:t>
            </a:r>
          </a:p>
        </p:txBody>
      </p:sp>
      <p:sp>
        <p:nvSpPr>
          <p:cNvPr id="10" name="body">
            <a:extLst xmlns:a="http://schemas.openxmlformats.org/drawingml/2006/main">
              <a:ext uri="{FF2B5EF4-FFF2-40B4-BE49-F238E27FC236}">
                <a16:creationId xmlns:a16="http://schemas.microsoft.com/office/drawing/2014/main" id="{DA30B218-FE4C-4104-B7F4-F7E277F75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90675"/>
            <a:ext cx="7620000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Skilja på aktiv effekt P, reaktiv effekt Q och skenbar effekt S.</a:t>
            </a:r>
          </a:p>
          <a:p xmlns:a="http://schemas.openxmlformats.org/drawingml/2006/main">
            <a:pPr>
              <a:defRPr sz="210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</a:p>
          <a:p xmlns:a="http://schemas.openxmlformats.org/drawingml/2006/main">
            <a:pPr>
              <a:defRPr sz="210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Räkna strömmen när U, P och effektfaktorn PF är givna.</a:t>
            </a:r>
          </a:p>
          <a:p xmlns:a="http://schemas.openxmlformats.org/drawingml/2006/main">
            <a:pPr>
              <a:defRPr sz="210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</a:p>
          <a:p xmlns:a="http://schemas.openxmlformats.org/drawingml/2006/main">
            <a:pPr>
              <a:defRPr sz="210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Förklara varför lägre effektfaktor ger större ström vid samma P och U.</a:t>
            </a:r>
          </a:p>
        </p:txBody>
      </p:sp>
      <p:sp>
        <p:nvSpPr>
          <p:cNvPr id="11" name="section">
            <a:extLst xmlns:a="http://schemas.openxmlformats.org/drawingml/2006/main">
              <a:ext uri="{FF2B5EF4-FFF2-40B4-BE49-F238E27FC236}">
                <a16:creationId xmlns:a16="http://schemas.microsoft.com/office/drawing/2014/main" id="{904EBB47-50FE-4A08-B9EF-8C07F205A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641985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Grunddel</a:t>
            </a:r>
          </a:p>
        </p:txBody>
      </p:sp>
      <p:sp>
        <p:nvSpPr>
          <p:cNvPr id="12" name="page">
            <a:extLst xmlns:a="http://schemas.openxmlformats.org/drawingml/2006/main">
              <a:ext uri="{FF2B5EF4-FFF2-40B4-BE49-F238E27FC236}">
                <a16:creationId xmlns:a16="http://schemas.microsoft.com/office/drawing/2014/main" id="{17EC51ED-20E7-459A-9829-C20504469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43890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06c24fbc2b46e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9" name="title">
            <a:extLst xmlns:a="http://schemas.openxmlformats.org/drawingml/2006/main">
              <a:ext uri="{FF2B5EF4-FFF2-40B4-BE49-F238E27FC236}">
                <a16:creationId xmlns:a16="http://schemas.microsoft.com/office/drawing/2014/main" id="{6252DE6A-D897-4E88-B4D8-E6CF9BB85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8625"/>
            <a:ext cx="8001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Resistiv last och aktiv effekt</a:t>
            </a:r>
          </a:p>
        </p:txBody>
      </p:sp>
      <p:sp>
        <p:nvSpPr>
          <p:cNvPr id="10" name="meter-label-0">
            <a:extLst xmlns:a="http://schemas.openxmlformats.org/drawingml/2006/main">
              <a:ext uri="{FF2B5EF4-FFF2-40B4-BE49-F238E27FC236}">
                <a16:creationId xmlns:a16="http://schemas.microsoft.com/office/drawing/2014/main" id="{278AE167-6C86-49BF-B878-6114034F8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76375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PF = 1,00</a:t>
            </a:r>
          </a:p>
        </p:txBody>
      </p:sp>
      <p:sp>
        <p:nvSpPr>
          <p:cNvPr id="11" name="meter-value-0">
            <a:extLst xmlns:a="http://schemas.openxmlformats.org/drawingml/2006/main">
              <a:ext uri="{FF2B5EF4-FFF2-40B4-BE49-F238E27FC236}">
                <a16:creationId xmlns:a16="http://schemas.microsoft.com/office/drawing/2014/main" id="{941810EB-7550-48E1-BA43-264254B82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419225"/>
            <a:ext cx="276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6,00 A</a:t>
            </a:r>
          </a:p>
        </p:txBody>
      </p:sp>
      <p:sp>
        <p:nvSpPr>
          <p:cNvPr id="12" name="meter-label-1">
            <a:extLst xmlns:a="http://schemas.openxmlformats.org/drawingml/2006/main">
              <a:ext uri="{FF2B5EF4-FFF2-40B4-BE49-F238E27FC236}">
                <a16:creationId xmlns:a16="http://schemas.microsoft.com/office/drawing/2014/main" id="{7362B353-22E5-4C70-8ABA-91E0BD78B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28875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PF = 0,50</a:t>
            </a:r>
          </a:p>
        </p:txBody>
      </p:sp>
      <p:sp>
        <p:nvSpPr>
          <p:cNvPr id="13" name="meter-value-1">
            <a:extLst xmlns:a="http://schemas.openxmlformats.org/drawingml/2006/main">
              <a:ext uri="{FF2B5EF4-FFF2-40B4-BE49-F238E27FC236}">
                <a16:creationId xmlns:a16="http://schemas.microsoft.com/office/drawing/2014/main" id="{3DCE20CC-652D-472C-9625-C1392447B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371725"/>
            <a:ext cx="276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12,00 A</a:t>
            </a:r>
          </a:p>
        </p:txBody>
      </p:sp>
      <p:sp>
        <p:nvSpPr>
          <p:cNvPr id="14" name="body">
            <a:extLst xmlns:a="http://schemas.openxmlformats.org/drawingml/2006/main">
              <a:ext uri="{FF2B5EF4-FFF2-40B4-BE49-F238E27FC236}">
                <a16:creationId xmlns:a16="http://schemas.microsoft.com/office/drawing/2014/main" id="{FCB3FCE5-A886-499D-B21D-347EFB5FF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05250"/>
            <a:ext cx="7620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Aktiv effekt P är den medeleffekt som omvandlas till arbete och värme. Enheten är watt, W.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Exempel: ett värmeelement på 1 380 W vid 230 V har effektfaktorn 1,00: I = P/U = 1 380/230 = 6,00 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Spänning och ström är i fas i den rent resistiva modellen.</a:t>
            </a:r>
          </a:p>
        </p:txBody>
      </p:sp>
      <p:sp>
        <p:nvSpPr>
          <p:cNvPr id="15" name="section">
            <a:extLst xmlns:a="http://schemas.openxmlformats.org/drawingml/2006/main">
              <a:ext uri="{FF2B5EF4-FFF2-40B4-BE49-F238E27FC236}">
                <a16:creationId xmlns:a16="http://schemas.microsoft.com/office/drawing/2014/main" id="{D353C75A-A322-4F38-A385-0249A0D0B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641985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Grunddel</a:t>
            </a:r>
          </a:p>
        </p:txBody>
      </p:sp>
      <p:sp>
        <p:nvSpPr>
          <p:cNvPr id="16" name="page">
            <a:extLst xmlns:a="http://schemas.openxmlformats.org/drawingml/2006/main">
              <a:ext uri="{FF2B5EF4-FFF2-40B4-BE49-F238E27FC236}">
                <a16:creationId xmlns:a16="http://schemas.microsoft.com/office/drawing/2014/main" id="{7D95E7EB-4190-410D-A10C-7C665197B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43890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8c35ebdefe46a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9" name="title">
            <a:extLst xmlns:a="http://schemas.openxmlformats.org/drawingml/2006/main">
              <a:ext uri="{FF2B5EF4-FFF2-40B4-BE49-F238E27FC236}">
                <a16:creationId xmlns:a16="http://schemas.microsoft.com/office/drawing/2014/main" id="{F209CEA7-16F4-46A7-80C8-3CB3DF6F8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8625"/>
            <a:ext cx="8001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Effektfaktorn</a:t>
            </a:r>
          </a:p>
        </p:txBody>
      </p:sp>
      <p:sp>
        <p:nvSpPr>
          <p:cNvPr id="10" name="meter-label-0">
            <a:extLst xmlns:a="http://schemas.openxmlformats.org/drawingml/2006/main">
              <a:ext uri="{FF2B5EF4-FFF2-40B4-BE49-F238E27FC236}">
                <a16:creationId xmlns:a16="http://schemas.microsoft.com/office/drawing/2014/main" id="{8528B289-6BA6-4A81-B4A1-D506C0E0B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76375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PF = 1,00</a:t>
            </a:r>
          </a:p>
        </p:txBody>
      </p:sp>
      <p:sp>
        <p:nvSpPr>
          <p:cNvPr id="11" name="meter-value-0">
            <a:extLst xmlns:a="http://schemas.openxmlformats.org/drawingml/2006/main">
              <a:ext uri="{FF2B5EF4-FFF2-40B4-BE49-F238E27FC236}">
                <a16:creationId xmlns:a16="http://schemas.microsoft.com/office/drawing/2014/main" id="{7F8D1FD6-8B69-4DC5-A9BA-9B70039B8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419225"/>
            <a:ext cx="276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6,00 A</a:t>
            </a:r>
          </a:p>
        </p:txBody>
      </p:sp>
      <p:sp>
        <p:nvSpPr>
          <p:cNvPr id="12" name="meter-label-1">
            <a:extLst xmlns:a="http://schemas.openxmlformats.org/drawingml/2006/main">
              <a:ext uri="{FF2B5EF4-FFF2-40B4-BE49-F238E27FC236}">
                <a16:creationId xmlns:a16="http://schemas.microsoft.com/office/drawing/2014/main" id="{CA4F5CE6-4D77-46F0-9B6B-E31690A4F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28875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PF = 0,50</a:t>
            </a:r>
          </a:p>
        </p:txBody>
      </p:sp>
      <p:sp>
        <p:nvSpPr>
          <p:cNvPr id="13" name="meter-value-1">
            <a:extLst xmlns:a="http://schemas.openxmlformats.org/drawingml/2006/main">
              <a:ext uri="{FF2B5EF4-FFF2-40B4-BE49-F238E27FC236}">
                <a16:creationId xmlns:a16="http://schemas.microsoft.com/office/drawing/2014/main" id="{21F880E0-FDC7-4EFD-94E4-1381C61F7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371725"/>
            <a:ext cx="276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12,00 A</a:t>
            </a:r>
          </a:p>
        </p:txBody>
      </p:sp>
      <p:sp>
        <p:nvSpPr>
          <p:cNvPr id="14" name="body">
            <a:extLst xmlns:a="http://schemas.openxmlformats.org/drawingml/2006/main">
              <a:ext uri="{FF2B5EF4-FFF2-40B4-BE49-F238E27FC236}">
                <a16:creationId xmlns:a16="http://schemas.microsoft.com/office/drawing/2014/main" id="{EFF75CCE-97FD-4CFD-BD1D-1A199ABCC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05250"/>
            <a:ext cx="7620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Effektfaktorn förkortas PF (power factor). PF = P/S, där S är den skenbara effekten (se nedan). PF saknar enhet och ligger mellan 0 och 1.</a:t>
            </a:r>
          </a:p>
          <a:p xmlns:a="http://schemas.openxmlformats.org/drawingml/2006/main">
            <a:pPr>
              <a:defRPr sz="165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</a:p>
          <a:p xmlns:a="http://schemas.openxmlformats.org/drawingml/2006/main">
            <a:pPr>
              <a:defRPr sz="165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För rena sinussignaler är PF = cos φ, cosinus för fasvinkeln φ mellan spänning och ström. Lägre PF innebär större ström för samma U och P.</a:t>
            </a:r>
          </a:p>
          <a:p xmlns:a="http://schemas.openxmlformats.org/drawingml/2006/main">
            <a:pPr>
              <a:defRPr sz="165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</a:p>
          <a:p xmlns:a="http://schemas.openxmlformats.org/drawingml/2006/main">
            <a:pPr>
              <a:defRPr sz="165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Vi jämför 1,00 och 0,50 utan att ändra lastens aktiva effekt.</a:t>
            </a:r>
          </a:p>
        </p:txBody>
      </p:sp>
      <p:sp>
        <p:nvSpPr>
          <p:cNvPr id="15" name="formula">
            <a:extLst xmlns:a="http://schemas.openxmlformats.org/drawingml/2006/main">
              <a:ext uri="{FF2B5EF4-FFF2-40B4-BE49-F238E27FC236}">
                <a16:creationId xmlns:a16="http://schemas.microsoft.com/office/drawing/2014/main" id="{46070E13-6DB9-4372-AE2C-1ED4DEFE1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52825"/>
            <a:ext cx="752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P = U · I · PF</a:t>
            </a:r>
          </a:p>
        </p:txBody>
      </p:sp>
      <p:sp>
        <p:nvSpPr>
          <p:cNvPr id="16" name="section">
            <a:extLst xmlns:a="http://schemas.openxmlformats.org/drawingml/2006/main">
              <a:ext uri="{FF2B5EF4-FFF2-40B4-BE49-F238E27FC236}">
                <a16:creationId xmlns:a16="http://schemas.microsoft.com/office/drawing/2014/main" id="{974A9427-ED6F-4E69-8617-AC8964A53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641985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Grunddel</a:t>
            </a:r>
          </a:p>
        </p:txBody>
      </p:sp>
      <p:sp>
        <p:nvSpPr>
          <p:cNvPr id="17" name="page">
            <a:extLst xmlns:a="http://schemas.openxmlformats.org/drawingml/2006/main">
              <a:ext uri="{FF2B5EF4-FFF2-40B4-BE49-F238E27FC236}">
                <a16:creationId xmlns:a16="http://schemas.microsoft.com/office/drawing/2014/main" id="{B934625C-C0DF-4D48-BA6F-2CC55217C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43890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f66bfb72b6464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9" name="title">
            <a:extLst xmlns:a="http://schemas.openxmlformats.org/drawingml/2006/main">
              <a:ext uri="{FF2B5EF4-FFF2-40B4-BE49-F238E27FC236}">
                <a16:creationId xmlns:a16="http://schemas.microsoft.com/office/drawing/2014/main" id="{C4E5B4AC-3CEA-4947-83FA-47C8767A1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8625"/>
            <a:ext cx="8001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Strömmen vid lägre effektfaktor</a:t>
            </a:r>
          </a:p>
        </p:txBody>
      </p:sp>
      <p:sp>
        <p:nvSpPr>
          <p:cNvPr id="10" name="meter-label-0">
            <a:extLst xmlns:a="http://schemas.openxmlformats.org/drawingml/2006/main">
              <a:ext uri="{FF2B5EF4-FFF2-40B4-BE49-F238E27FC236}">
                <a16:creationId xmlns:a16="http://schemas.microsoft.com/office/drawing/2014/main" id="{64D6F6D3-DF5A-41EC-A833-7C0A0FD4A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76375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PF = 1,00</a:t>
            </a:r>
          </a:p>
        </p:txBody>
      </p:sp>
      <p:sp>
        <p:nvSpPr>
          <p:cNvPr id="11" name="meter-value-0">
            <a:extLst xmlns:a="http://schemas.openxmlformats.org/drawingml/2006/main">
              <a:ext uri="{FF2B5EF4-FFF2-40B4-BE49-F238E27FC236}">
                <a16:creationId xmlns:a16="http://schemas.microsoft.com/office/drawing/2014/main" id="{4B7EC77D-8A25-4EA5-880E-D3727298B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419225"/>
            <a:ext cx="276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6,00 A</a:t>
            </a:r>
          </a:p>
        </p:txBody>
      </p:sp>
      <p:sp>
        <p:nvSpPr>
          <p:cNvPr id="12" name="meter-label-1">
            <a:extLst xmlns:a="http://schemas.openxmlformats.org/drawingml/2006/main">
              <a:ext uri="{FF2B5EF4-FFF2-40B4-BE49-F238E27FC236}">
                <a16:creationId xmlns:a16="http://schemas.microsoft.com/office/drawing/2014/main" id="{668FC9CB-A1BF-491A-9B7B-7D80687A1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28875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PF = 0,50</a:t>
            </a:r>
          </a:p>
        </p:txBody>
      </p:sp>
      <p:sp>
        <p:nvSpPr>
          <p:cNvPr id="13" name="meter-value-1">
            <a:extLst xmlns:a="http://schemas.openxmlformats.org/drawingml/2006/main">
              <a:ext uri="{FF2B5EF4-FFF2-40B4-BE49-F238E27FC236}">
                <a16:creationId xmlns:a16="http://schemas.microsoft.com/office/drawing/2014/main" id="{C11B5C7C-017A-47F5-A97D-D17B83651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371725"/>
            <a:ext cx="276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12,00 A</a:t>
            </a:r>
          </a:p>
        </p:txBody>
      </p:sp>
      <p:sp>
        <p:nvSpPr>
          <p:cNvPr id="14" name="body">
            <a:extLst xmlns:a="http://schemas.openxmlformats.org/drawingml/2006/main">
              <a:ext uri="{FF2B5EF4-FFF2-40B4-BE49-F238E27FC236}">
                <a16:creationId xmlns:a16="http://schemas.microsoft.com/office/drawing/2014/main" id="{36731330-2CE6-4FCC-95E9-A5CB242B7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05250"/>
            <a:ext cx="7620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Lös ut I genom att dividera båda sidor med U · PF.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Exempel: en pumpmotor på 1 380 W vid 230 V.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Vid PF = 1,00: I = 1 380/(230 · 1) = 6,00 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Vid PF = 0,50: I = 1 380/(230 · 0,50) = 12,00 A. Strömmen fördubblas, men den aktiva effekten är fortfarande 1 380 W.</a:t>
            </a:r>
          </a:p>
        </p:txBody>
      </p:sp>
      <p:sp>
        <p:nvSpPr>
          <p:cNvPr id="15" name="formula">
            <a:extLst xmlns:a="http://schemas.openxmlformats.org/drawingml/2006/main">
              <a:ext uri="{FF2B5EF4-FFF2-40B4-BE49-F238E27FC236}">
                <a16:creationId xmlns:a16="http://schemas.microsoft.com/office/drawing/2014/main" id="{F7D6A0F4-5BBD-4AA0-998C-5748C8379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52825"/>
            <a:ext cx="752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I = P/(U · PF)</a:t>
            </a:r>
          </a:p>
        </p:txBody>
      </p:sp>
      <p:sp>
        <p:nvSpPr>
          <p:cNvPr id="16" name="section">
            <a:extLst xmlns:a="http://schemas.openxmlformats.org/drawingml/2006/main">
              <a:ext uri="{FF2B5EF4-FFF2-40B4-BE49-F238E27FC236}">
                <a16:creationId xmlns:a16="http://schemas.microsoft.com/office/drawing/2014/main" id="{E70F3B2E-449C-4C00-9968-2F9AF0B99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641985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Grunddel</a:t>
            </a:r>
          </a:p>
        </p:txBody>
      </p:sp>
      <p:sp>
        <p:nvSpPr>
          <p:cNvPr id="17" name="page">
            <a:extLst xmlns:a="http://schemas.openxmlformats.org/drawingml/2006/main">
              <a:ext uri="{FF2B5EF4-FFF2-40B4-BE49-F238E27FC236}">
                <a16:creationId xmlns:a16="http://schemas.microsoft.com/office/drawing/2014/main" id="{78FB77E3-2D5A-4C6C-9945-EC91E8953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43890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bb0d835458453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9" name="title">
            <a:extLst xmlns:a="http://schemas.openxmlformats.org/drawingml/2006/main">
              <a:ext uri="{FF2B5EF4-FFF2-40B4-BE49-F238E27FC236}">
                <a16:creationId xmlns:a16="http://schemas.microsoft.com/office/drawing/2014/main" id="{08DC9067-0E65-4C76-9958-6BC093057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8625"/>
            <a:ext cx="8001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Skenbar effekt</a:t>
            </a:r>
          </a:p>
        </p:txBody>
      </p:sp>
      <p:sp>
        <p:nvSpPr>
          <p:cNvPr id="10" name="body">
            <a:extLst xmlns:a="http://schemas.openxmlformats.org/drawingml/2006/main">
              <a:ext uri="{FF2B5EF4-FFF2-40B4-BE49-F238E27FC236}">
                <a16:creationId xmlns:a16="http://schemas.microsoft.com/office/drawing/2014/main" id="{2A5D1E62-5881-43C0-A355-3899E8CE9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90675"/>
            <a:ext cx="7620000" cy="3286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Skenbar effekt S = U · I. Enheten är voltampere, VA.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Ur PF = P/S får vi PF · S = P och sedan S = P/PF.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Pumpmotorn vid PF = 0,50: S = 1 380/0,50 = 2 760 VA.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Kontroll: 230 V · 12 A = 2 760 VA.</a:t>
            </a:r>
          </a:p>
        </p:txBody>
      </p:sp>
      <p:sp>
        <p:nvSpPr>
          <p:cNvPr id="11" name="formula">
            <a:extLst xmlns:a="http://schemas.openxmlformats.org/drawingml/2006/main">
              <a:ext uri="{FF2B5EF4-FFF2-40B4-BE49-F238E27FC236}">
                <a16:creationId xmlns:a16="http://schemas.microsoft.com/office/drawing/2014/main" id="{15CA5341-BA04-45BE-86EC-8777EB70E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53000"/>
            <a:ext cx="7620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S = P/PF = U · I</a:t>
            </a:r>
          </a:p>
        </p:txBody>
      </p:sp>
      <p:sp>
        <p:nvSpPr>
          <p:cNvPr id="12" name="section">
            <a:extLst xmlns:a="http://schemas.openxmlformats.org/drawingml/2006/main">
              <a:ext uri="{FF2B5EF4-FFF2-40B4-BE49-F238E27FC236}">
                <a16:creationId xmlns:a16="http://schemas.microsoft.com/office/drawing/2014/main" id="{11D86E6B-EDDB-48D7-A01F-F4A12C19C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641985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Grunddel</a:t>
            </a:r>
          </a:p>
        </p:txBody>
      </p:sp>
      <p:sp>
        <p:nvSpPr>
          <p:cNvPr id="13" name="page">
            <a:extLst xmlns:a="http://schemas.openxmlformats.org/drawingml/2006/main">
              <a:ext uri="{FF2B5EF4-FFF2-40B4-BE49-F238E27FC236}">
                <a16:creationId xmlns:a16="http://schemas.microsoft.com/office/drawing/2014/main" id="{6647BD21-1A54-446B-AEEC-A357D181E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43890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f5dc7456d1472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9" name="title">
            <a:extLst xmlns:a="http://schemas.openxmlformats.org/drawingml/2006/main">
              <a:ext uri="{FF2B5EF4-FFF2-40B4-BE49-F238E27FC236}">
                <a16:creationId xmlns:a16="http://schemas.microsoft.com/office/drawing/2014/main" id="{9A3FF092-B6C8-4EE4-865C-ACB45BA18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8625"/>
            <a:ext cx="8001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Reaktiv effekt</a:t>
            </a:r>
          </a:p>
        </p:txBody>
      </p:sp>
      <p:sp>
        <p:nvSpPr>
          <p:cNvPr id="10" name="real-leg">
            <a:extLst xmlns:a="http://schemas.openxmlformats.org/drawingml/2006/main">
              <a:ext uri="{FF2B5EF4-FFF2-40B4-BE49-F238E27FC236}">
                <a16:creationId xmlns:a16="http://schemas.microsoft.com/office/drawing/2014/main" id="{13AF7545-D9C3-4B57-9E32-A6072F271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143250"/>
            <a:ext cx="1044860" cy="9525"/>
          </a:xfrm>
          <a:custGeom xmlns:a="http://schemas.openxmlformats.org/drawingml/2006/main">
            <a:pathLst>
              <a:path w="1044860" h="9525">
                <a:moveTo>
                  <a:pt x="0" y="0"/>
                </a:moveTo>
                <a:lnTo>
                  <a:pt x="104486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2F43"/>
            </a:solidFill>
          </a:ln>
        </p:spPr>
        <p:txBody xmlns:a="http://schemas.openxmlformats.org/drawingml/2006/main">
          <a:bodyPr/>
          <a:p/>
        </p:txBody>
      </p:sp>
      <p:sp>
        <p:nvSpPr>
          <p:cNvPr id="11" name="reactive-leg">
            <a:extLst xmlns:a="http://schemas.openxmlformats.org/drawingml/2006/main">
              <a:ext uri="{FF2B5EF4-FFF2-40B4-BE49-F238E27FC236}">
                <a16:creationId xmlns:a16="http://schemas.microsoft.com/office/drawing/2014/main" id="{168559E0-79AF-47CF-B111-593DB37B0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8610" y="1333500"/>
            <a:ext cx="9525" cy="1809750"/>
          </a:xfrm>
          <a:custGeom xmlns:a="http://schemas.openxmlformats.org/drawingml/2006/main">
            <a:pathLst>
              <a:path w="9525" h="1809750">
                <a:moveTo>
                  <a:pt x="0" y="18097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AD5018"/>
            </a:solidFill>
          </a:ln>
        </p:spPr>
        <p:txBody xmlns:a="http://schemas.openxmlformats.org/drawingml/2006/main">
          <a:bodyPr/>
          <a:p/>
        </p:txBody>
      </p:sp>
      <p:sp>
        <p:nvSpPr>
          <p:cNvPr id="12" name="hypotenuse">
            <a:extLst xmlns:a="http://schemas.openxmlformats.org/drawingml/2006/main">
              <a:ext uri="{FF2B5EF4-FFF2-40B4-BE49-F238E27FC236}">
                <a16:creationId xmlns:a16="http://schemas.microsoft.com/office/drawing/2014/main" id="{EEFD3E55-92C2-404A-9997-9A67DF57A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333500"/>
            <a:ext cx="1044860" cy="1809750"/>
          </a:xfrm>
          <a:custGeom xmlns:a="http://schemas.openxmlformats.org/drawingml/2006/main">
            <a:pathLst>
              <a:path w="1044860" h="1809750">
                <a:moveTo>
                  <a:pt x="0" y="1809750"/>
                </a:moveTo>
                <a:lnTo>
                  <a:pt x="104486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064F91"/>
            </a:solidFill>
          </a:ln>
        </p:spPr>
        <p:txBody xmlns:a="http://schemas.openxmlformats.org/drawingml/2006/main">
          <a:bodyPr/>
          <a:p/>
        </p:txBody>
      </p:sp>
      <p:sp>
        <p:nvSpPr>
          <p:cNvPr id="13" name="right-angle-h">
            <a:extLst xmlns:a="http://schemas.openxmlformats.org/drawingml/2006/main">
              <a:ext uri="{FF2B5EF4-FFF2-40B4-BE49-F238E27FC236}">
                <a16:creationId xmlns:a16="http://schemas.microsoft.com/office/drawing/2014/main" id="{2E82900D-D4CB-4E81-8B5C-292AEEA52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4310" y="3028950"/>
            <a:ext cx="114300" cy="9525"/>
          </a:xfrm>
          <a:custGeom xmlns:a="http://schemas.openxmlformats.org/drawingml/2006/main">
            <a:pathLst>
              <a:path w="114300" h="9525">
                <a:moveTo>
                  <a:pt x="0" y="0"/>
                </a:moveTo>
                <a:lnTo>
                  <a:pt x="1143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8394A1"/>
            </a:solidFill>
          </a:ln>
        </p:spPr>
        <p:txBody xmlns:a="http://schemas.openxmlformats.org/drawingml/2006/main">
          <a:bodyPr/>
          <a:p/>
        </p:txBody>
      </p:sp>
      <p:sp>
        <p:nvSpPr>
          <p:cNvPr id="14" name="right-angle-v">
            <a:extLst xmlns:a="http://schemas.openxmlformats.org/drawingml/2006/main">
              <a:ext uri="{FF2B5EF4-FFF2-40B4-BE49-F238E27FC236}">
                <a16:creationId xmlns:a16="http://schemas.microsoft.com/office/drawing/2014/main" id="{D7736CFB-E585-43E0-80EC-2A4BCBE59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4310" y="3028950"/>
            <a:ext cx="9525" cy="114300"/>
          </a:xfrm>
          <a:custGeom xmlns:a="http://schemas.openxmlformats.org/drawingml/2006/main">
            <a:pathLst>
              <a:path w="9525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8394A1"/>
            </a:solidFill>
          </a:ln>
        </p:spPr>
        <p:txBody xmlns:a="http://schemas.openxmlformats.org/drawingml/2006/main">
          <a:bodyPr/>
          <a:p/>
        </p:txBody>
      </p:sp>
      <p:sp>
        <p:nvSpPr>
          <p:cNvPr id="15" name="horizontal-label">
            <a:extLst xmlns:a="http://schemas.openxmlformats.org/drawingml/2006/main">
              <a:ext uri="{FF2B5EF4-FFF2-40B4-BE49-F238E27FC236}">
                <a16:creationId xmlns:a16="http://schemas.microsoft.com/office/drawing/2014/main" id="{EDC2AEC1-BC53-4C48-AA22-C355F0AF4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321945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P = 1 380 W</a:t>
            </a:r>
          </a:p>
        </p:txBody>
      </p:sp>
      <p:sp>
        <p:nvSpPr>
          <p:cNvPr id="16" name="vertical-label">
            <a:extLst xmlns:a="http://schemas.openxmlformats.org/drawingml/2006/main">
              <a:ext uri="{FF2B5EF4-FFF2-40B4-BE49-F238E27FC236}">
                <a16:creationId xmlns:a16="http://schemas.microsoft.com/office/drawing/2014/main" id="{57FE82B3-ED82-4055-94CD-168C5B1F7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9110" y="2143125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AD5018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AD5018"/>
                </a:solidFill>
                <a:latin typeface="Calibri"/>
                <a:ea typeface="Calibri"/>
                <a:cs typeface="Calibri"/>
              </a:rPr>
              <a:t>Q ≈ 2 390 var</a:t>
            </a:r>
          </a:p>
        </p:txBody>
      </p:sp>
      <p:sp>
        <p:nvSpPr>
          <p:cNvPr id="17" name="diagonal-label">
            <a:extLst xmlns:a="http://schemas.openxmlformats.org/drawingml/2006/main">
              <a:ext uri="{FF2B5EF4-FFF2-40B4-BE49-F238E27FC236}">
                <a16:creationId xmlns:a16="http://schemas.microsoft.com/office/drawing/2014/main" id="{5BC1B119-DCDD-4C6A-864F-386795572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476375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S = 2 760 VA</a:t>
            </a:r>
          </a:p>
        </p:txBody>
      </p:sp>
      <p:sp>
        <p:nvSpPr>
          <p:cNvPr id="18" name="body">
            <a:extLst xmlns:a="http://schemas.openxmlformats.org/drawingml/2006/main">
              <a:ext uri="{FF2B5EF4-FFF2-40B4-BE49-F238E27FC236}">
                <a16:creationId xmlns:a16="http://schemas.microsoft.com/office/drawing/2014/main" id="{B405FD13-70BC-4256-8763-0CBA213AF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05250"/>
            <a:ext cx="7620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Reaktiv effekt Q beskriver energi som går fram och tillbaka mellan källan och spolar eller kondensatorer. Den förbrukas inte, men ger ändå ström i ledningarna.</a:t>
            </a:r>
          </a:p>
          <a:p xmlns:a="http://schemas.openxmlformats.org/drawingml/2006/main">
            <a:pPr>
              <a:defRPr sz="165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</a:p>
          <a:p xmlns:a="http://schemas.openxmlformats.org/drawingml/2006/main">
            <a:pPr>
              <a:defRPr sz="165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För sinus: S² = P² + Q². Därför |Q| = √(S² − P²).</a:t>
            </a:r>
          </a:p>
          <a:p xmlns:a="http://schemas.openxmlformats.org/drawingml/2006/main">
            <a:pPr>
              <a:defRPr sz="165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</a:p>
          <a:p xmlns:a="http://schemas.openxmlformats.org/drawingml/2006/main">
            <a:pPr>
              <a:defRPr sz="165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Exempel: S = 2 760 VA och P = 1 380 W ger |Q| ≈ 2 390,23 var. Enheten var betyder voltampere reaktiv.</a:t>
            </a:r>
          </a:p>
          <a:p xmlns:a="http://schemas.openxmlformats.org/drawingml/2006/main">
            <a:pPr>
              <a:defRPr sz="165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</a:p>
          <a:p xmlns:a="http://schemas.openxmlformats.org/drawingml/2006/main">
            <a:pPr>
              <a:defRPr sz="165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  <a:r>
              <a:rPr sz="165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I kursens teckenkonvention är induktiv Q positiv och kapacitiv Q negativ.</a:t>
            </a:r>
          </a:p>
        </p:txBody>
      </p:sp>
      <p:sp>
        <p:nvSpPr>
          <p:cNvPr id="19" name="formula">
            <a:extLst xmlns:a="http://schemas.openxmlformats.org/drawingml/2006/main">
              <a:ext uri="{FF2B5EF4-FFF2-40B4-BE49-F238E27FC236}">
                <a16:creationId xmlns:a16="http://schemas.microsoft.com/office/drawing/2014/main" id="{092E72CF-88D7-4EDD-A111-A6F4949BA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52825"/>
            <a:ext cx="752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|Q| = √(S² − P²)</a:t>
            </a:r>
          </a:p>
        </p:txBody>
      </p:sp>
      <p:sp>
        <p:nvSpPr>
          <p:cNvPr id="20" name="section">
            <a:extLst xmlns:a="http://schemas.openxmlformats.org/drawingml/2006/main">
              <a:ext uri="{FF2B5EF4-FFF2-40B4-BE49-F238E27FC236}">
                <a16:creationId xmlns:a16="http://schemas.microsoft.com/office/drawing/2014/main" id="{52A2DC57-E85F-4021-81C3-3D7E97672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641985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Grunddel</a:t>
            </a:r>
          </a:p>
        </p:txBody>
      </p:sp>
      <p:sp>
        <p:nvSpPr>
          <p:cNvPr id="21" name="page">
            <a:extLst xmlns:a="http://schemas.openxmlformats.org/drawingml/2006/main">
              <a:ext uri="{FF2B5EF4-FFF2-40B4-BE49-F238E27FC236}">
                <a16:creationId xmlns:a16="http://schemas.microsoft.com/office/drawing/2014/main" id="{703FF835-9398-4A00-A11B-295FB1135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43890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e9f037378e47b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9" name="title">
            <a:extLst xmlns:a="http://schemas.openxmlformats.org/drawingml/2006/main">
              <a:ext uri="{FF2B5EF4-FFF2-40B4-BE49-F238E27FC236}">
                <a16:creationId xmlns:a16="http://schemas.microsoft.com/office/drawing/2014/main" id="{93E34966-7236-46B2-9DAF-373D70203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8625"/>
            <a:ext cx="8001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Ett genomräknat exempel</a:t>
            </a:r>
          </a:p>
        </p:txBody>
      </p:sp>
      <p:sp>
        <p:nvSpPr>
          <p:cNvPr id="10" name="body">
            <a:extLst xmlns:a="http://schemas.openxmlformats.org/drawingml/2006/main">
              <a:ext uri="{FF2B5EF4-FFF2-40B4-BE49-F238E27FC236}">
                <a16:creationId xmlns:a16="http://schemas.microsoft.com/office/drawing/2014/main" id="{4E9BA047-85DC-4D9D-8267-C6293D9FC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90675"/>
            <a:ext cx="7620000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P = 1 200 W, PF = 0,75 och U = 230 V RMS. Lasten är induktiv och sinusformad.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S = 1 200/0,75 = 1 600 VA.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Q = √(1 600² − 1 200²) ≈ 1 058,30 var.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I = S/U = 1 600/230 ≈ 6,96 A.</a:t>
            </a:r>
          </a:p>
        </p:txBody>
      </p:sp>
      <p:sp>
        <p:nvSpPr>
          <p:cNvPr id="11" name="section">
            <a:extLst xmlns:a="http://schemas.openxmlformats.org/drawingml/2006/main">
              <a:ext uri="{FF2B5EF4-FFF2-40B4-BE49-F238E27FC236}">
                <a16:creationId xmlns:a16="http://schemas.microsoft.com/office/drawing/2014/main" id="{7C577430-F752-48FA-8D9E-617200E46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641985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Grunddel</a:t>
            </a:r>
          </a:p>
        </p:txBody>
      </p:sp>
      <p:sp>
        <p:nvSpPr>
          <p:cNvPr id="12" name="page">
            <a:extLst xmlns:a="http://schemas.openxmlformats.org/drawingml/2006/main">
              <a:ext uri="{FF2B5EF4-FFF2-40B4-BE49-F238E27FC236}">
                <a16:creationId xmlns:a16="http://schemas.microsoft.com/office/drawing/2014/main" id="{692E61B6-02B8-4F34-A91A-580DC128D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43890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90e0a3cd5441b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9" name="title">
            <a:extLst xmlns:a="http://schemas.openxmlformats.org/drawingml/2006/main">
              <a:ext uri="{FF2B5EF4-FFF2-40B4-BE49-F238E27FC236}">
                <a16:creationId xmlns:a16="http://schemas.microsoft.com/office/drawing/2014/main" id="{A3FC888B-E98B-4768-B4B6-9DCBD8C30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8625"/>
            <a:ext cx="8001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Arbetsgång i den guidade labben</a:t>
            </a:r>
          </a:p>
        </p:txBody>
      </p:sp>
      <p:sp>
        <p:nvSpPr>
          <p:cNvPr id="10" name="body">
            <a:extLst xmlns:a="http://schemas.openxmlformats.org/drawingml/2006/main">
              <a:ext uri="{FF2B5EF4-FFF2-40B4-BE49-F238E27FC236}">
                <a16:creationId xmlns:a16="http://schemas.microsoft.com/office/drawing/2014/main" id="{5CEC0966-DB79-40FD-B306-DC827586F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90675"/>
            <a:ext cx="7620000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Du får en egen effekt P ur ditt D. Förutsäg strömmen vid PF = 1,00, läs av och registrera värdet.</a:t>
            </a:r>
          </a:p>
          <a:p xmlns:a="http://schemas.openxmlformats.org/drawingml/2006/main">
            <a:pPr>
              <a:defRPr sz="210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</a:p>
          <a:p xmlns:a="http://schemas.openxmlformats.org/drawingml/2006/main">
            <a:pPr>
              <a:defRPr sz="210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Förutsäg strömmen vid PF = 0,50. U och P hålls oförändrade.</a:t>
            </a:r>
          </a:p>
          <a:p xmlns:a="http://schemas.openxmlformats.org/drawingml/2006/main">
            <a:pPr>
              <a:defRPr sz="210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</a:p>
          <a:p xmlns:a="http://schemas.openxmlformats.org/drawingml/2006/main">
            <a:pPr>
              <a:defRPr sz="210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Jämför de båda värdena och förklara orsaken.</a:t>
            </a:r>
          </a:p>
          <a:p xmlns:a="http://schemas.openxmlformats.org/drawingml/2006/main">
            <a:pPr>
              <a:defRPr sz="210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</a:p>
          <a:p xmlns:a="http://schemas.openxmlformats.org/drawingml/2006/main">
            <a:pPr>
              <a:defRPr sz="210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Redovisa vilka storheter som ändrades och vilka som var konstanta.</a:t>
            </a:r>
          </a:p>
        </p:txBody>
      </p:sp>
      <p:sp>
        <p:nvSpPr>
          <p:cNvPr id="11" name="section">
            <a:extLst xmlns:a="http://schemas.openxmlformats.org/drawingml/2006/main">
              <a:ext uri="{FF2B5EF4-FFF2-40B4-BE49-F238E27FC236}">
                <a16:creationId xmlns:a16="http://schemas.microsoft.com/office/drawing/2014/main" id="{658188E9-BDC9-477D-9A79-5EED68B17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641985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Grunddel</a:t>
            </a:r>
          </a:p>
        </p:txBody>
      </p:sp>
      <p:sp>
        <p:nvSpPr>
          <p:cNvPr id="12" name="page">
            <a:extLst xmlns:a="http://schemas.openxmlformats.org/drawingml/2006/main">
              <a:ext uri="{FF2B5EF4-FFF2-40B4-BE49-F238E27FC236}">
                <a16:creationId xmlns:a16="http://schemas.microsoft.com/office/drawing/2014/main" id="{89381429-45A2-49C4-929C-A561EE8F9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43890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17b30faff4478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9" name="title">
            <a:extLst xmlns:a="http://schemas.openxmlformats.org/drawingml/2006/main">
              <a:ext uri="{FF2B5EF4-FFF2-40B4-BE49-F238E27FC236}">
                <a16:creationId xmlns:a16="http://schemas.microsoft.com/office/drawing/2014/main" id="{19289708-58E8-43A0-BAB1-F482491D1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8625"/>
            <a:ext cx="8001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Effekt och energi</a:t>
            </a:r>
          </a:p>
        </p:txBody>
      </p:sp>
      <p:sp>
        <p:nvSpPr>
          <p:cNvPr id="10" name="body">
            <a:extLst xmlns:a="http://schemas.openxmlformats.org/drawingml/2006/main">
              <a:ext uri="{FF2B5EF4-FFF2-40B4-BE49-F238E27FC236}">
                <a16:creationId xmlns:a16="http://schemas.microsoft.com/office/drawing/2014/main" id="{884E9602-E653-4E67-82A1-9A0740CF5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90675"/>
            <a:ext cx="7620000" cy="3286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Energi beror både på aktiv effekt och på tid.</a:t>
            </a:r>
          </a:p>
          <a:p xmlns:a="http://schemas.openxmlformats.org/drawingml/2006/main">
            <a:pPr>
              <a:defRPr sz="210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</a:p>
          <a:p xmlns:a="http://schemas.openxmlformats.org/drawingml/2006/main">
            <a:pPr>
              <a:defRPr sz="210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E = P · t. Med kW (kilowatt) och timmar blir enheten kWh (kilowattimme).</a:t>
            </a:r>
          </a:p>
          <a:p xmlns:a="http://schemas.openxmlformats.org/drawingml/2006/main">
            <a:pPr>
              <a:defRPr sz="210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</a:p>
          <a:p xmlns:a="http://schemas.openxmlformats.org/drawingml/2006/main">
            <a:pPr>
              <a:defRPr sz="210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1,60 kW under 3 h ger 4,80 kWh aktiv energi.</a:t>
            </a:r>
          </a:p>
          <a:p xmlns:a="http://schemas.openxmlformats.org/drawingml/2006/main">
            <a:pPr>
              <a:defRPr sz="210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</a:p>
          <a:p xmlns:a="http://schemas.openxmlformats.org/drawingml/2006/main">
            <a:pPr>
              <a:defRPr sz="210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Använd P för aktiv energi, även om S är större.</a:t>
            </a:r>
          </a:p>
        </p:txBody>
      </p:sp>
      <p:sp>
        <p:nvSpPr>
          <p:cNvPr id="11" name="formula">
            <a:extLst xmlns:a="http://schemas.openxmlformats.org/drawingml/2006/main">
              <a:ext uri="{FF2B5EF4-FFF2-40B4-BE49-F238E27FC236}">
                <a16:creationId xmlns:a16="http://schemas.microsoft.com/office/drawing/2014/main" id="{EF08AD41-7883-4F3E-80D1-59A660A06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53000"/>
            <a:ext cx="7620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E = P · t</a:t>
            </a:r>
          </a:p>
        </p:txBody>
      </p:sp>
      <p:sp>
        <p:nvSpPr>
          <p:cNvPr id="12" name="section">
            <a:extLst xmlns:a="http://schemas.openxmlformats.org/drawingml/2006/main">
              <a:ext uri="{FF2B5EF4-FFF2-40B4-BE49-F238E27FC236}">
                <a16:creationId xmlns:a16="http://schemas.microsoft.com/office/drawing/2014/main" id="{DD8B815E-40B6-42A0-A8BA-516FA5076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641985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Grunddel</a:t>
            </a:r>
          </a:p>
        </p:txBody>
      </p:sp>
      <p:sp>
        <p:nvSpPr>
          <p:cNvPr id="13" name="page">
            <a:extLst xmlns:a="http://schemas.openxmlformats.org/drawingml/2006/main">
              <a:ext uri="{FF2B5EF4-FFF2-40B4-BE49-F238E27FC236}">
                <a16:creationId xmlns:a16="http://schemas.microsoft.com/office/drawing/2014/main" id="{8B569EC5-D74C-4FE6-A578-5EF96C410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43890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dca3c7b09d4d8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9" name="title">
            <a:extLst xmlns:a="http://schemas.openxmlformats.org/drawingml/2006/main">
              <a:ext uri="{FF2B5EF4-FFF2-40B4-BE49-F238E27FC236}">
                <a16:creationId xmlns:a16="http://schemas.microsoft.com/office/drawing/2014/main" id="{172696AE-105E-47B5-AA9F-83EEDDC2C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8625"/>
            <a:ext cx="8001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Eget försök med andra värden</a:t>
            </a:r>
          </a:p>
        </p:txBody>
      </p:sp>
      <p:sp>
        <p:nvSpPr>
          <p:cNvPr id="10" name="body">
            <a:extLst xmlns:a="http://schemas.openxmlformats.org/drawingml/2006/main">
              <a:ext uri="{FF2B5EF4-FFF2-40B4-BE49-F238E27FC236}">
                <a16:creationId xmlns:a16="http://schemas.microsoft.com/office/drawing/2014/main" id="{9BC49B0C-87EC-48AA-B0B4-101753504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90675"/>
            <a:ext cx="7620000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En enfaslast tar P = 4 140 W vid U = 230 V och PF = 0,60.</a:t>
            </a:r>
          </a:p>
          <a:p xmlns:a="http://schemas.openxmlformats.org/drawingml/2006/main">
            <a:pPr>
              <a:defRPr sz="210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</a:p>
          <a:p xmlns:a="http://schemas.openxmlformats.org/drawingml/2006/main">
            <a:pPr>
              <a:defRPr sz="210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Beräkna I och S. Förklara om P skulle ändras bara för att PF förbättras i vår modell.</a:t>
            </a:r>
          </a:p>
        </p:txBody>
      </p:sp>
      <p:sp>
        <p:nvSpPr>
          <p:cNvPr id="11" name="check">
            <a:extLst xmlns:a="http://schemas.openxmlformats.org/drawingml/2006/main">
              <a:ext uri="{FF2B5EF4-FFF2-40B4-BE49-F238E27FC236}">
                <a16:creationId xmlns:a16="http://schemas.microsoft.com/office/drawing/2014/main" id="{DAC25AC2-956E-4B5F-AE5D-D800FBC91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43550"/>
            <a:ext cx="7620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Räkna innan facit visas.</a:t>
            </a:r>
          </a:p>
        </p:txBody>
      </p:sp>
      <p:sp>
        <p:nvSpPr>
          <p:cNvPr id="12" name="section">
            <a:extLst xmlns:a="http://schemas.openxmlformats.org/drawingml/2006/main">
              <a:ext uri="{FF2B5EF4-FFF2-40B4-BE49-F238E27FC236}">
                <a16:creationId xmlns:a16="http://schemas.microsoft.com/office/drawing/2014/main" id="{41D96973-E72A-43BF-9A23-E6F860EB4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641985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Grunddel</a:t>
            </a:r>
          </a:p>
        </p:txBody>
      </p:sp>
      <p:sp>
        <p:nvSpPr>
          <p:cNvPr id="13" name="page">
            <a:extLst xmlns:a="http://schemas.openxmlformats.org/drawingml/2006/main">
              <a:ext uri="{FF2B5EF4-FFF2-40B4-BE49-F238E27FC236}">
                <a16:creationId xmlns:a16="http://schemas.microsoft.com/office/drawing/2014/main" id="{61F4611D-371A-4B97-99C6-982DA4FEB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43890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9eca466bd0406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9" name="title">
            <a:extLst xmlns:a="http://schemas.openxmlformats.org/drawingml/2006/main">
              <a:ext uri="{FF2B5EF4-FFF2-40B4-BE49-F238E27FC236}">
                <a16:creationId xmlns:a16="http://schemas.microsoft.com/office/drawing/2014/main" id="{C1C8C9FE-B159-4A8C-AE11-6F62CC366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8625"/>
            <a:ext cx="8001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Fördjupning: kompensation</a:t>
            </a:r>
          </a:p>
        </p:txBody>
      </p:sp>
      <p:sp>
        <p:nvSpPr>
          <p:cNvPr id="10" name="body">
            <a:extLst xmlns:a="http://schemas.openxmlformats.org/drawingml/2006/main">
              <a:ext uri="{FF2B5EF4-FFF2-40B4-BE49-F238E27FC236}">
                <a16:creationId xmlns:a16="http://schemas.microsoft.com/office/drawing/2014/main" id="{FD15925C-08D4-4BE6-815A-9AB7D02E2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90675"/>
            <a:ext cx="7620000" cy="3286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Att kompensera betyder att en kondensator tillför kapacitiv reaktiv effekt som tar ut en del av lastens induktiva Q.</a:t>
            </a:r>
          </a:p>
          <a:p xmlns:a="http://schemas.openxmlformats.org/drawingml/2006/main">
            <a:pPr>
              <a:defRPr sz="210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</a:p>
          <a:p xmlns:a="http://schemas.openxmlformats.org/drawingml/2006/main">
            <a:pPr>
              <a:defRPr sz="210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Exempel: pumpmotorn P = 1 380 W och PF = 0,80. S = 1 380/0,80 = 1 725 VA.</a:t>
            </a:r>
          </a:p>
          <a:p xmlns:a="http://schemas.openxmlformats.org/drawingml/2006/main">
            <a:pPr>
              <a:defRPr sz="210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</a:p>
          <a:p xmlns:a="http://schemas.openxmlformats.org/drawingml/2006/main">
            <a:pPr>
              <a:defRPr sz="210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Q = √(1 725² − 1 380²) = +1 035 var.</a:t>
            </a:r>
          </a:p>
          <a:p xmlns:a="http://schemas.openxmlformats.org/drawingml/2006/main">
            <a:pPr>
              <a:defRPr sz="210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</a:p>
          <a:p xmlns:a="http://schemas.openxmlformats.org/drawingml/2006/main">
            <a:pPr>
              <a:defRPr sz="210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För full kompensation behövs Q</a:t>
            </a:r>
            <a:r>
              <a:rPr sz="2100" b="0" baseline="-2500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kondensator</a:t>
            </a:r>
            <a:r>
              <a:rPr sz="210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 = −1 035 var. Behovets belopp är 1 035 var.</a:t>
            </a:r>
          </a:p>
        </p:txBody>
      </p:sp>
      <p:sp>
        <p:nvSpPr>
          <p:cNvPr id="11" name="formula">
            <a:extLst xmlns:a="http://schemas.openxmlformats.org/drawingml/2006/main">
              <a:ext uri="{FF2B5EF4-FFF2-40B4-BE49-F238E27FC236}">
                <a16:creationId xmlns:a16="http://schemas.microsoft.com/office/drawing/2014/main" id="{801BC9A8-6037-45BD-AC98-F0BF79517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53000"/>
            <a:ext cx="7620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Q</a:t>
            </a:r>
            <a:r>
              <a:rPr sz="2250" b="1" baseline="-2500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total</a:t>
            </a:r>
            <a:r>
              <a:rPr sz="225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 = Q</a:t>
            </a:r>
            <a:r>
              <a:rPr sz="2250" b="1" baseline="-2500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last</a:t>
            </a:r>
            <a:r>
              <a:rPr sz="225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 + Q</a:t>
            </a:r>
            <a:r>
              <a:rPr sz="2250" b="1" baseline="-2500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kondensator</a:t>
            </a:r>
          </a:p>
        </p:txBody>
      </p:sp>
      <p:sp>
        <p:nvSpPr>
          <p:cNvPr id="12" name="section">
            <a:extLst xmlns:a="http://schemas.openxmlformats.org/drawingml/2006/main">
              <a:ext uri="{FF2B5EF4-FFF2-40B4-BE49-F238E27FC236}">
                <a16:creationId xmlns:a16="http://schemas.microsoft.com/office/drawing/2014/main" id="{8A86158E-F9BC-4810-84A6-91E4CFB69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641985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Fördjupning</a:t>
            </a:r>
          </a:p>
        </p:txBody>
      </p:sp>
      <p:sp>
        <p:nvSpPr>
          <p:cNvPr id="13" name="page">
            <a:extLst xmlns:a="http://schemas.openxmlformats.org/drawingml/2006/main">
              <a:ext uri="{FF2B5EF4-FFF2-40B4-BE49-F238E27FC236}">
                <a16:creationId xmlns:a16="http://schemas.microsoft.com/office/drawing/2014/main" id="{04AE9D52-1D9C-4245-8CC0-F5780480A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43890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e5ffc7b1a7447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9" name="title">
            <a:extLst xmlns:a="http://schemas.openxmlformats.org/drawingml/2006/main">
              <a:ext uri="{FF2B5EF4-FFF2-40B4-BE49-F238E27FC236}">
                <a16:creationId xmlns:a16="http://schemas.microsoft.com/office/drawing/2014/main" id="{63279CE0-5BFF-4A99-8D5C-BC41B8EC7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8625"/>
            <a:ext cx="8001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Fördjupning: ledningsförlust</a:t>
            </a:r>
          </a:p>
        </p:txBody>
      </p:sp>
      <p:sp>
        <p:nvSpPr>
          <p:cNvPr id="10" name="body">
            <a:extLst xmlns:a="http://schemas.openxmlformats.org/drawingml/2006/main">
              <a:ext uri="{FF2B5EF4-FFF2-40B4-BE49-F238E27FC236}">
                <a16:creationId xmlns:a16="http://schemas.microsoft.com/office/drawing/2014/main" id="{60BA8162-62C8-4187-84B9-922CF5F97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90675"/>
            <a:ext cx="7620000" cy="3286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Samma kabel har samma resistans R. Förlusten är I²R.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När strömmen minskar från 12 A till 6 A återstår (6/12)² = 0,25 av ledningsförlusten.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Ledningsförlusten minskar med 75 %. Lastens aktiva effekt behöver inte minska.</a:t>
            </a:r>
          </a:p>
        </p:txBody>
      </p:sp>
      <p:sp>
        <p:nvSpPr>
          <p:cNvPr id="11" name="formula">
            <a:extLst xmlns:a="http://schemas.openxmlformats.org/drawingml/2006/main">
              <a:ext uri="{FF2B5EF4-FFF2-40B4-BE49-F238E27FC236}">
                <a16:creationId xmlns:a16="http://schemas.microsoft.com/office/drawing/2014/main" id="{0587162A-5AF8-49AF-9BC6-D446FB41F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53000"/>
            <a:ext cx="7620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64F91"/>
                </a:solidFill>
                <a:latin typeface="Calibri"/>
                <a:ea typeface="Calibri"/>
                <a:cs typeface="Calibri"/>
              </a:defRPr>
            </a:pPr>
            <a:r>
              <a:rPr sz="225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P</a:t>
            </a:r>
            <a:r>
              <a:rPr sz="2250" b="1" baseline="-25000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förlust</a:t>
            </a:r>
            <a:r>
              <a:rPr sz="2250" b="1">
                <a:solidFill>
                  <a:srgbClr val="064F91"/>
                </a:solidFill>
                <a:latin typeface="Calibri"/>
                <a:ea typeface="Calibri"/>
                <a:cs typeface="Calibri"/>
              </a:rPr>
              <a:t> = I²R</a:t>
            </a:r>
          </a:p>
        </p:txBody>
      </p:sp>
      <p:sp>
        <p:nvSpPr>
          <p:cNvPr id="12" name="section">
            <a:extLst xmlns:a="http://schemas.openxmlformats.org/drawingml/2006/main">
              <a:ext uri="{FF2B5EF4-FFF2-40B4-BE49-F238E27FC236}">
                <a16:creationId xmlns:a16="http://schemas.microsoft.com/office/drawing/2014/main" id="{22A6E9C6-24B8-420D-9708-4BC86F5BC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641985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Fördjupning</a:t>
            </a:r>
          </a:p>
        </p:txBody>
      </p:sp>
      <p:sp>
        <p:nvSpPr>
          <p:cNvPr id="13" name="page">
            <a:extLst xmlns:a="http://schemas.openxmlformats.org/drawingml/2006/main">
              <a:ext uri="{FF2B5EF4-FFF2-40B4-BE49-F238E27FC236}">
                <a16:creationId xmlns:a16="http://schemas.microsoft.com/office/drawing/2014/main" id="{BD8B7B13-0FF1-49A7-8945-B8D7B3D0D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43890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c645dbd77a430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9" name="title">
            <a:extLst xmlns:a="http://schemas.openxmlformats.org/drawingml/2006/main">
              <a:ext uri="{FF2B5EF4-FFF2-40B4-BE49-F238E27FC236}">
                <a16:creationId xmlns:a16="http://schemas.microsoft.com/office/drawing/2014/main" id="{55480149-87EF-4BDD-9132-3A48107A6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8625"/>
            <a:ext cx="8001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Fördjupning: PF och cos φ</a:t>
            </a:r>
          </a:p>
        </p:txBody>
      </p:sp>
      <p:sp>
        <p:nvSpPr>
          <p:cNvPr id="10" name="body">
            <a:extLst xmlns:a="http://schemas.openxmlformats.org/drawingml/2006/main">
              <a:ext uri="{FF2B5EF4-FFF2-40B4-BE49-F238E27FC236}">
                <a16:creationId xmlns:a16="http://schemas.microsoft.com/office/drawing/2014/main" id="{F82FC9B9-47B1-4B91-903D-2181A9AEA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90675"/>
            <a:ext cx="7620000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PF = P/S gäller även när strömmen är förvrängd av övertoner (strömmar med 2, 3, 5 … gånger nätfrekvensen, till exempel från elektronik).</a:t>
            </a:r>
          </a:p>
          <a:p xmlns:a="http://schemas.openxmlformats.org/drawingml/2006/main">
            <a:pPr>
              <a:defRPr sz="210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</a:p>
          <a:p xmlns:a="http://schemas.openxmlformats.org/drawingml/2006/main">
            <a:pPr>
              <a:defRPr sz="210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PF = cos φ förutsätter sinusformad spänning och ström.</a:t>
            </a:r>
          </a:p>
          <a:p xmlns:a="http://schemas.openxmlformats.org/drawingml/2006/main">
            <a:pPr>
              <a:defRPr sz="210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</a:p>
          <a:p xmlns:a="http://schemas.openxmlformats.org/drawingml/2006/main">
            <a:pPr>
              <a:defRPr sz="210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Exempel: P = 800 W och S = 1 000 VA ger PF = 0,80, även om grundtonens cos φ är 0,95.</a:t>
            </a:r>
          </a:p>
          <a:p xmlns:a="http://schemas.openxmlformats.org/drawingml/2006/main">
            <a:pPr>
              <a:defRPr sz="210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</a:p>
          <a:p xmlns:a="http://schemas.openxmlformats.org/drawingml/2006/main">
            <a:pPr>
              <a:defRPr sz="210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Den enkla effekttriangeln beskriver inte alla effekter vid övertoner.</a:t>
            </a:r>
          </a:p>
        </p:txBody>
      </p:sp>
      <p:sp>
        <p:nvSpPr>
          <p:cNvPr id="11" name="section">
            <a:extLst xmlns:a="http://schemas.openxmlformats.org/drawingml/2006/main">
              <a:ext uri="{FF2B5EF4-FFF2-40B4-BE49-F238E27FC236}">
                <a16:creationId xmlns:a16="http://schemas.microsoft.com/office/drawing/2014/main" id="{48A7D039-1204-4AC7-A9E1-78237CA49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641985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Fördjupning</a:t>
            </a:r>
          </a:p>
        </p:txBody>
      </p:sp>
      <p:sp>
        <p:nvSpPr>
          <p:cNvPr id="12" name="page">
            <a:extLst xmlns:a="http://schemas.openxmlformats.org/drawingml/2006/main">
              <a:ext uri="{FF2B5EF4-FFF2-40B4-BE49-F238E27FC236}">
                <a16:creationId xmlns:a16="http://schemas.microsoft.com/office/drawing/2014/main" id="{DB2673E6-2197-47BA-9F59-695A8AB69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43890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bd4d6f7f94421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9" name="title">
            <a:extLst xmlns:a="http://schemas.openxmlformats.org/drawingml/2006/main">
              <a:ext uri="{FF2B5EF4-FFF2-40B4-BE49-F238E27FC236}">
                <a16:creationId xmlns:a16="http://schemas.microsoft.com/office/drawing/2014/main" id="{B57FC4B3-02F2-43CF-AA58-8E6BC56D5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8625"/>
            <a:ext cx="8001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11111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Kontroll före redovisning</a:t>
            </a:r>
          </a:p>
        </p:txBody>
      </p:sp>
      <p:sp>
        <p:nvSpPr>
          <p:cNvPr id="10" name="body">
            <a:extLst xmlns:a="http://schemas.openxmlformats.org/drawingml/2006/main">
              <a:ext uri="{FF2B5EF4-FFF2-40B4-BE49-F238E27FC236}">
                <a16:creationId xmlns:a16="http://schemas.microsoft.com/office/drawing/2014/main" id="{617D7394-7B31-4A7B-8E39-EDB55840F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90675"/>
            <a:ext cx="7620000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Kan du förklara skillnaden mellan W (watt, aktiv effekt), var (voltampere reaktiv, reaktiv effekt) och VA (voltampere, skenbar effekt)?</a:t>
            </a:r>
          </a:p>
          <a:p xmlns:a="http://schemas.openxmlformats.org/drawingml/2006/main">
            <a:pPr>
              <a:defRPr sz="210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</a:p>
          <a:p xmlns:a="http://schemas.openxmlformats.org/drawingml/2006/main">
            <a:pPr>
              <a:defRPr sz="210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Kan du räkna I när U, P och PF är givna?</a:t>
            </a:r>
          </a:p>
          <a:p xmlns:a="http://schemas.openxmlformats.org/drawingml/2006/main">
            <a:pPr>
              <a:defRPr sz="210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</a:p>
          <a:p xmlns:a="http://schemas.openxmlformats.org/drawingml/2006/main">
            <a:pPr>
              <a:defRPr sz="210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Kan du förklara vad som ändras när PF sjunker vid samma P och U?</a:t>
            </a:r>
          </a:p>
          <a:p xmlns:a="http://schemas.openxmlformats.org/drawingml/2006/main">
            <a:pPr>
              <a:defRPr sz="210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</a:p>
          <a:p xmlns:a="http://schemas.openxmlformats.org/drawingml/2006/main">
            <a:pPr>
              <a:defRPr sz="2100" b="0">
                <a:solidFill>
                  <a:srgbClr val="172F43"/>
                </a:solidFill>
                <a:latin typeface="Calibri"/>
                <a:ea typeface="Calibri"/>
                <a:cs typeface="Calibri"/>
              </a:defRPr>
            </a:pPr>
            <a:r>
              <a:rPr sz="2100" b="0">
                <a:solidFill>
                  <a:srgbClr val="172F43"/>
                </a:solidFill>
                <a:latin typeface="Calibri"/>
                <a:ea typeface="Calibri"/>
                <a:cs typeface="Calibri"/>
              </a:rPr>
              <a:t>Spara ditt grundprotokoll. Läraren bedömer metoden och förklaringen.</a:t>
            </a:r>
          </a:p>
        </p:txBody>
      </p:sp>
      <p:sp>
        <p:nvSpPr>
          <p:cNvPr id="11" name="section">
            <a:extLst xmlns:a="http://schemas.openxmlformats.org/drawingml/2006/main">
              <a:ext uri="{FF2B5EF4-FFF2-40B4-BE49-F238E27FC236}">
                <a16:creationId xmlns:a16="http://schemas.microsoft.com/office/drawing/2014/main" id="{E3187B5A-CCB4-446F-BF03-DF5EF38BA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641985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Grunddel</a:t>
            </a:r>
          </a:p>
        </p:txBody>
      </p:sp>
      <p:sp>
        <p:nvSpPr>
          <p:cNvPr id="12" name="page">
            <a:extLst xmlns:a="http://schemas.openxmlformats.org/drawingml/2006/main">
              <a:ext uri="{FF2B5EF4-FFF2-40B4-BE49-F238E27FC236}">
                <a16:creationId xmlns:a16="http://schemas.microsoft.com/office/drawing/2014/main" id="{7996832E-D081-4829-BE34-0D7D8ED12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43890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2747996220"/>
      </p:ext>
    </p:extLst>
  </p:cSld>
</p:sld>
</file>

<file path=ppt/theme/theme1.xml><?xml version="1.0" encoding="utf-8"?>
<a:theme xmlns:a="http://schemas.openxmlformats.org/drawingml/2006/main" name="Office-tema">
  <a:themeElements>
    <a:clrScheme name="Office-tema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-tema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-tema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2026-09-25T19:31:05.8910000Z</dcterms:created>
  <dcterms:modified xsi:type="dcterms:W3CDTF">2026-09-25T19:31:05.8910000Z</dcterms:modified>
</coreProperties>
</file>