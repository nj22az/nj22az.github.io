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e79ac8a96b34496" Type="http://schemas.openxmlformats.org/officeDocument/2006/relationships/extended-properties" Target="docProps/app.xml"/><Relationship Id="R953a477ab0bd4f28" Type="http://schemas.openxmlformats.org/officeDocument/2006/relationships/officeDocument" Target="ppt/presentation.xml"/><Relationship Id="Re9c8e1185b6e465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6ca3dce614d4fff"/>
  </p:sldMasterIdLst>
  <p:sldIdLst>
    <p:sldId id="256" r:id="Rca7cf2b24ddf4082"/>
    <p:sldId id="257" r:id="R2981ebdba55a4739"/>
    <p:sldId id="258" r:id="R4e9b8078b1164e13"/>
    <p:sldId id="259" r:id="R97488816aa6044d2"/>
    <p:sldId id="260" r:id="Rf53c149e4cf34a6a"/>
    <p:sldId id="261" r:id="R2947c9cd1a1d4dee"/>
    <p:sldId id="262" r:id="R7a876faf084b4e7e"/>
    <p:sldId id="263" r:id="R1483f7ce50e947ae"/>
    <p:sldId id="264" r:id="R1c730c9c189d4778"/>
    <p:sldId id="265" r:id="R9d0ebe9c7a8b4751"/>
    <p:sldId id="266" r:id="R131079f6c49347ce"/>
    <p:sldId id="267" r:id="R840b023190084d9b"/>
    <p:sldId id="268" r:id="Rf9f0572e10434345"/>
    <p:sldId id="269" r:id="Re1b8f91c7db44a86"/>
    <p:sldId id="270" r:id="R57efeab5ec694819"/>
    <p:sldId id="271" r:id="R9ae075b890ea4d48"/>
    <p:sldId id="272" r:id="R68facbe027244788"/>
    <p:sldId id="273" r:id="Ra31a04a99fbf4577"/>
    <p:sldId id="274" r:id="R90b0b491b8024cce"/>
    <p:sldId id="275" r:id="R7b36f89bf33440a0"/>
    <p:sldId id="276" r:id="Rc29609f4bb4b4325"/>
    <p:sldId id="277" r:id="Rd8e0e8ac231a4d40"/>
    <p:sldId id="278" r:id="R1d61e038ec634919"/>
    <p:sldId id="279" r:id="Rc55d614942f4412d"/>
    <p:sldId id="280" r:id="R199b071d84004c91"/>
    <p:sldId id="281" r:id="R8bbc51b538da4e1b"/>
    <p:sldId id="282" r:id="Rc3118e26683e46c7"/>
    <p:sldId id="283" r:id="R85762839ff074a8f"/>
    <p:sldId id="284" r:id="Rb5fb1a671d084795"/>
    <p:sldId id="285" r:id="Re1301898f1f74cc0"/>
    <p:sldId id="286" r:id="Raabd58cebbc14928"/>
    <p:sldId id="287" r:id="Rb83f707ad37e41e1"/>
    <p:sldId id="288" r:id="R521c0011eb3942be"/>
    <p:sldId id="289" r:id="R5f9155bfe2484663"/>
    <p:sldId id="290" r:id="R28102ffe610c410b"/>
    <p:sldId id="291" r:id="Rb421430ddcb5437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31079f6c49347ce" Type="http://schemas.openxmlformats.org/officeDocument/2006/relationships/slide" Target="slides/slide11.xml"/><Relationship Id="R1483f7ce50e947ae" Type="http://schemas.openxmlformats.org/officeDocument/2006/relationships/slide" Target="slides/slide8.xml"/><Relationship Id="R199b071d84004c91" Type="http://schemas.openxmlformats.org/officeDocument/2006/relationships/slide" Target="slides/slide25.xml"/><Relationship Id="R1c730c9c189d4778" Type="http://schemas.openxmlformats.org/officeDocument/2006/relationships/slide" Target="slides/slide9.xml"/><Relationship Id="R1d61e038ec634919" Type="http://schemas.openxmlformats.org/officeDocument/2006/relationships/slide" Target="slides/slide23.xml"/><Relationship Id="R28102ffe610c410b" Type="http://schemas.openxmlformats.org/officeDocument/2006/relationships/slide" Target="slides/slide35.xml"/><Relationship Id="R2947c9cd1a1d4dee" Type="http://schemas.openxmlformats.org/officeDocument/2006/relationships/slide" Target="slides/slide6.xml"/><Relationship Id="R2981ebdba55a4739" Type="http://schemas.openxmlformats.org/officeDocument/2006/relationships/slide" Target="slides/slide2.xml"/><Relationship Id="R4e407f854f4b4ffa" Type="http://schemas.openxmlformats.org/officeDocument/2006/relationships/presProps" Target="presProps.xml"/><Relationship Id="R4e9b8078b1164e13" Type="http://schemas.openxmlformats.org/officeDocument/2006/relationships/slide" Target="slides/slide3.xml"/><Relationship Id="R521c0011eb3942be" Type="http://schemas.openxmlformats.org/officeDocument/2006/relationships/slide" Target="slides/slide33.xml"/><Relationship Id="R57efeab5ec694819" Type="http://schemas.openxmlformats.org/officeDocument/2006/relationships/slide" Target="slides/slide15.xml"/><Relationship Id="R5f9155bfe2484663" Type="http://schemas.openxmlformats.org/officeDocument/2006/relationships/slide" Target="slides/slide34.xml"/><Relationship Id="R68facbe027244788" Type="http://schemas.openxmlformats.org/officeDocument/2006/relationships/slide" Target="slides/slide17.xml"/><Relationship Id="R6cbf4f66f732489d" Type="http://schemas.openxmlformats.org/officeDocument/2006/relationships/viewProps" Target="viewProps.xml"/><Relationship Id="R7a876faf084b4e7e" Type="http://schemas.openxmlformats.org/officeDocument/2006/relationships/slide" Target="slides/slide7.xml"/><Relationship Id="R7b36f89bf33440a0" Type="http://schemas.openxmlformats.org/officeDocument/2006/relationships/slide" Target="slides/slide20.xml"/><Relationship Id="R840b023190084d9b" Type="http://schemas.openxmlformats.org/officeDocument/2006/relationships/slide" Target="slides/slide12.xml"/><Relationship Id="R85762839ff074a8f" Type="http://schemas.openxmlformats.org/officeDocument/2006/relationships/slide" Target="slides/slide28.xml"/><Relationship Id="R8bbc51b538da4e1b" Type="http://schemas.openxmlformats.org/officeDocument/2006/relationships/slide" Target="slides/slide26.xml"/><Relationship Id="R90b0b491b8024cce" Type="http://schemas.openxmlformats.org/officeDocument/2006/relationships/slide" Target="slides/slide19.xml"/><Relationship Id="R97488816aa6044d2" Type="http://schemas.openxmlformats.org/officeDocument/2006/relationships/slide" Target="slides/slide4.xml"/><Relationship Id="R9ae075b890ea4d48" Type="http://schemas.openxmlformats.org/officeDocument/2006/relationships/slide" Target="slides/slide16.xml"/><Relationship Id="R9d0ebe9c7a8b4751" Type="http://schemas.openxmlformats.org/officeDocument/2006/relationships/slide" Target="slides/slide10.xml"/><Relationship Id="Ra31a04a99fbf4577" Type="http://schemas.openxmlformats.org/officeDocument/2006/relationships/slide" Target="slides/slide18.xml"/><Relationship Id="Raabd58cebbc14928" Type="http://schemas.openxmlformats.org/officeDocument/2006/relationships/slide" Target="slides/slide31.xml"/><Relationship Id="Rb421430ddcb54374" Type="http://schemas.openxmlformats.org/officeDocument/2006/relationships/slide" Target="slides/slide36.xml"/><Relationship Id="Rb5fb1a671d084795" Type="http://schemas.openxmlformats.org/officeDocument/2006/relationships/slide" Target="slides/slide29.xml"/><Relationship Id="Rb83f707ad37e41e1" Type="http://schemas.openxmlformats.org/officeDocument/2006/relationships/slide" Target="slides/slide32.xml"/><Relationship Id="Rc29609f4bb4b4325" Type="http://schemas.openxmlformats.org/officeDocument/2006/relationships/slide" Target="slides/slide21.xml"/><Relationship Id="Rc3118e26683e46c7" Type="http://schemas.openxmlformats.org/officeDocument/2006/relationships/slide" Target="slides/slide27.xml"/><Relationship Id="Rc55d614942f4412d" Type="http://schemas.openxmlformats.org/officeDocument/2006/relationships/slide" Target="slides/slide24.xml"/><Relationship Id="Rca7cf2b24ddf4082" Type="http://schemas.openxmlformats.org/officeDocument/2006/relationships/slide" Target="slides/slide1.xml"/><Relationship Id="Rd8e0e8ac231a4d40" Type="http://schemas.openxmlformats.org/officeDocument/2006/relationships/slide" Target="slides/slide22.xml"/><Relationship Id="Re1301898f1f74cc0" Type="http://schemas.openxmlformats.org/officeDocument/2006/relationships/slide" Target="slides/slide30.xml"/><Relationship Id="Re1b8f91c7db44a86" Type="http://schemas.openxmlformats.org/officeDocument/2006/relationships/slide" Target="slides/slide14.xml"/><Relationship Id="Re6ca3dce614d4fff" Type="http://schemas.openxmlformats.org/officeDocument/2006/relationships/slideMaster" Target="slideMasters/slideMaster1.xml"/><Relationship Id="Re9cbc0cac12c4f59" Type="http://schemas.openxmlformats.org/officeDocument/2006/relationships/tableStyles" Target="tableStyles.xml"/><Relationship Id="Rf2c8d65eb1a14734" Type="http://schemas.openxmlformats.org/officeDocument/2006/relationships/theme" Target="theme/theme1.xml"/><Relationship Id="Rf53c149e4cf34a6a" Type="http://schemas.openxmlformats.org/officeDocument/2006/relationships/slide" Target="slides/slide5.xml"/><Relationship Id="Rf9f0572e10434345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0ddb9438a92947cb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b47a95e14eb4ea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9a79d447d9543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688def686c44a2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d5575b970bf9442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11a4897b77264bd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8013b10d47514d5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b234d63c2384e8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0208fd48c32401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a141f4decec546f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89e059a236e401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4b67b9c029448d" Type="http://schemas.openxmlformats.org/officeDocument/2006/relationships/theme" Target="theme/theme2.xml"/><Relationship Id="R126b339b0d1e4013" Type="http://schemas.openxmlformats.org/officeDocument/2006/relationships/slideLayout" Target="../slideLayouts/slideLayout6.xml"/><Relationship Id="R3027881f34a5403b" Type="http://schemas.openxmlformats.org/officeDocument/2006/relationships/slideLayout" Target="../slideLayouts/slideLayout2.xml"/><Relationship Id="R5498d1f6f9324de2" Type="http://schemas.openxmlformats.org/officeDocument/2006/relationships/slideLayout" Target="../slideLayouts/slideLayout8.xml"/><Relationship Id="R5d947e9389964f53" Type="http://schemas.openxmlformats.org/officeDocument/2006/relationships/slideLayout" Target="../slideLayouts/slideLayout1.xml"/><Relationship Id="R5ec9e212d1b342ea" Type="http://schemas.openxmlformats.org/officeDocument/2006/relationships/slideLayout" Target="../slideLayouts/slideLayout7.xml"/><Relationship Id="R6f26310e65d846a4" Type="http://schemas.openxmlformats.org/officeDocument/2006/relationships/slideLayout" Target="../slideLayouts/slideLayout10.xml"/><Relationship Id="R6f4aa574a8f249bc" Type="http://schemas.openxmlformats.org/officeDocument/2006/relationships/slideLayout" Target="../slideLayouts/slideLayout11.xml"/><Relationship Id="Ra0acd2d03f8d4146" Type="http://schemas.openxmlformats.org/officeDocument/2006/relationships/slideLayout" Target="../slideLayouts/slideLayout9.xml"/><Relationship Id="Ra9a91f20917c4f35" Type="http://schemas.openxmlformats.org/officeDocument/2006/relationships/slideLayout" Target="../slideLayouts/slideLayout5.xml"/><Relationship Id="Rc07b3014a3914510" Type="http://schemas.openxmlformats.org/officeDocument/2006/relationships/slideLayout" Target="../slideLayouts/slideLayout3.xml"/><Relationship Id="Rf5e830c09ec14dc0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947e9389964f53"/>
    <p:sldLayoutId xmlns:r="http://schemas.openxmlformats.org/officeDocument/2006/relationships" id="2147483650" r:id="R3027881f34a5403b"/>
    <p:sldLayoutId xmlns:r="http://schemas.openxmlformats.org/officeDocument/2006/relationships" id="2147483651" r:id="Rc07b3014a3914510"/>
    <p:sldLayoutId xmlns:r="http://schemas.openxmlformats.org/officeDocument/2006/relationships" id="2147483652" r:id="Rf5e830c09ec14dc0"/>
    <p:sldLayoutId xmlns:r="http://schemas.openxmlformats.org/officeDocument/2006/relationships" id="2147483653" r:id="Ra9a91f20917c4f35"/>
    <p:sldLayoutId xmlns:r="http://schemas.openxmlformats.org/officeDocument/2006/relationships" id="2147483654" r:id="R126b339b0d1e4013"/>
    <p:sldLayoutId xmlns:r="http://schemas.openxmlformats.org/officeDocument/2006/relationships" id="2147483655" r:id="R5ec9e212d1b342ea"/>
    <p:sldLayoutId xmlns:r="http://schemas.openxmlformats.org/officeDocument/2006/relationships" id="2147483656" r:id="R5498d1f6f9324de2"/>
    <p:sldLayoutId xmlns:r="http://schemas.openxmlformats.org/officeDocument/2006/relationships" id="2147483657" r:id="Ra0acd2d03f8d4146"/>
    <p:sldLayoutId xmlns:r="http://schemas.openxmlformats.org/officeDocument/2006/relationships" id="2147483658" r:id="R6f26310e65d846a4"/>
    <p:sldLayoutId xmlns:r="http://schemas.openxmlformats.org/officeDocument/2006/relationships" id="2147483659" r:id="R6f4aa574a8f249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0d095207ead47f5" Type="http://schemas.openxmlformats.org/officeDocument/2006/relationships/image" Target="../media/image.jpeg"/><Relationship Id="Ra8bcc89c577949b4" Type="http://schemas.openxmlformats.org/officeDocument/2006/relationships/image" Target="../media/image.png"/><Relationship Id="Rf19d83848b6b4dc8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75ca6e0e1a846aa" Type="http://schemas.openxmlformats.org/officeDocument/2006/relationships/image" Target="../media/image.jpeg"/><Relationship Id="Raecf62b60158419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396e2c87d2d4a91" Type="http://schemas.openxmlformats.org/officeDocument/2006/relationships/slideLayout" Target="../slideLayouts/slideLayout1.xml"/><Relationship Id="R769ba09709ce41f3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f0cb5edd11f4801" Type="http://schemas.openxmlformats.org/officeDocument/2006/relationships/slideLayout" Target="../slideLayouts/slideLayout1.xml"/><Relationship Id="R9ad9d8f9d23846a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7cbcdba61ac4444" Type="http://schemas.openxmlformats.org/officeDocument/2006/relationships/image" Target="../media/image.jpeg"/><Relationship Id="Rce832217ead94c6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261639865554e2c" Type="http://schemas.openxmlformats.org/officeDocument/2006/relationships/slideLayout" Target="../slideLayouts/slideLayout1.xml"/><Relationship Id="Rf16bc9698f21425f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a60621cc82844c85" Type="http://schemas.openxmlformats.org/officeDocument/2006/relationships/image" Target="../media/image.jpeg"/><Relationship Id="Rd48d6fd2e797409f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2df5c78618f54a68" Type="http://schemas.openxmlformats.org/officeDocument/2006/relationships/slideLayout" Target="../slideLayouts/slideLayout1.xml"/><Relationship Id="Rddb264d94323471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013564563137431f" Type="http://schemas.openxmlformats.org/officeDocument/2006/relationships/slideLayout" Target="../slideLayouts/slideLayout1.xml"/><Relationship Id="R4eaffa1e49054e12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2a8b21a57d2e45b4" Type="http://schemas.openxmlformats.org/officeDocument/2006/relationships/slideLayout" Target="../slideLayouts/slideLayout1.xml"/><Relationship Id="R4b7f45605c6c48e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409de47ccfcc4dad" Type="http://schemas.openxmlformats.org/officeDocument/2006/relationships/slideLayout" Target="../slideLayouts/slideLayout1.xml"/><Relationship Id="R65b2d15b9df84fd0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7a12a8cdc141442c" Type="http://schemas.openxmlformats.org/officeDocument/2006/relationships/image" Target="../media/image.jpeg"/><Relationship Id="Rf1202d1f3925498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554cae2ce174587" Type="http://schemas.openxmlformats.org/officeDocument/2006/relationships/slideLayout" Target="../slideLayouts/slideLayout1.xml"/><Relationship Id="R0dbe200659cd470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1dbb3622e1f34587" Type="http://schemas.openxmlformats.org/officeDocument/2006/relationships/slideLayout" Target="../slideLayouts/slideLayout1.xml"/><Relationship Id="R96fc9fcd5c414d6a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6fa7e09e157a481a" Type="http://schemas.openxmlformats.org/officeDocument/2006/relationships/image" Target="../media/image.jpeg"/><Relationship Id="Rffcc3d084c8b4b5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b245a44fa9d647dc" Type="http://schemas.openxmlformats.org/officeDocument/2006/relationships/image" Target="../media/image.jpeg"/><Relationship Id="Re139fafffbf646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352ffc9919e9461e" Type="http://schemas.openxmlformats.org/officeDocument/2006/relationships/slideLayout" Target="../slideLayouts/slideLayout1.xml"/><Relationship Id="R777bde7fa5564247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b3b5e2a511824abb" Type="http://schemas.openxmlformats.org/officeDocument/2006/relationships/slideLayout" Target="../slideLayouts/slideLayout1.xml"/><Relationship Id="Rd792a7d2566e484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6ba04fa49e23484f" Type="http://schemas.openxmlformats.org/officeDocument/2006/relationships/slideLayout" Target="../slideLayouts/slideLayout1.xml"/><Relationship Id="R744a5d0640b24751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55ddd08c364f4937" Type="http://schemas.openxmlformats.org/officeDocument/2006/relationships/image" Target="../media/image.jpeg"/><Relationship Id="Rbda645ca3bf54a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0e7c7e751b14a08" Type="http://schemas.openxmlformats.org/officeDocument/2006/relationships/slideLayout" Target="../slideLayouts/slideLayout1.xml"/><Relationship Id="R63c0d954ae4c4028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87957307d0564109" Type="http://schemas.openxmlformats.org/officeDocument/2006/relationships/slideLayout" Target="../slideLayouts/slideLayout1.xml"/><Relationship Id="Rc103bb3207684d8d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557aa813415f4132" Type="http://schemas.openxmlformats.org/officeDocument/2006/relationships/image" Target="../media/image.jpeg"/><Relationship Id="Ra3e5edb4a03e45a9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30559014df454dbb" Type="http://schemas.openxmlformats.org/officeDocument/2006/relationships/image" Target="../media/image.jpeg"/><Relationship Id="R4c364db5ba2b4c2e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a9f23a55eedc4b0c" Type="http://schemas.openxmlformats.org/officeDocument/2006/relationships/image" Target="../media/image.jpeg"/><Relationship Id="Rad879976dbad4d64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58393e6235444fa" Type="http://schemas.openxmlformats.org/officeDocument/2006/relationships/slideLayout" Target="../slideLayouts/slideLayout1.xml"/><Relationship Id="R06bf9945689844d9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2bad67180e244da0" Type="http://schemas.openxmlformats.org/officeDocument/2006/relationships/image" Target="../media/image.jpeg"/><Relationship Id="Rcd271215165a41e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40b69032ab1348b9" Type="http://schemas.openxmlformats.org/officeDocument/2006/relationships/slideLayout" Target="../slideLayouts/slideLayout1.xml"/><Relationship Id="R68543567aafa4035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86c0222f5ae44e73" Type="http://schemas.openxmlformats.org/officeDocument/2006/relationships/slideLayout" Target="../slideLayouts/slideLayout1.xml"/><Relationship Id="Re692566de3b244e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00b4beb8a87f45f8" Type="http://schemas.openxmlformats.org/officeDocument/2006/relationships/image" Target="../media/image.jpeg"/><Relationship Id="Rc510a697b22548b3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4449b5b290054bac" Type="http://schemas.openxmlformats.org/officeDocument/2006/relationships/slideLayout" Target="../slideLayouts/slideLayout1.xml"/><Relationship Id="Rdbb65094c40e469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b80ba59f4824b1b" Type="http://schemas.openxmlformats.org/officeDocument/2006/relationships/slideLayout" Target="../slideLayouts/slideLayout1.xml"/><Relationship Id="Rfb7dda4fd7264c10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39c4b9b7b1704f65" Type="http://schemas.openxmlformats.org/officeDocument/2006/relationships/image" Target="../media/image.jpeg"/><Relationship Id="Re0914ba2d541486b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0b44e52301414d65" Type="http://schemas.openxmlformats.org/officeDocument/2006/relationships/image" Target="../media/image.jpeg"/><Relationship Id="Rb515628d04d14797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0d1203745f794646" Type="http://schemas.openxmlformats.org/officeDocument/2006/relationships/slideLayout" Target="../slideLayouts/slideLayout1.xml"/><Relationship Id="R8768d703fee245c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9272ed3e79784712" Type="http://schemas.openxmlformats.org/officeDocument/2006/relationships/image" Target="../media/image.jpeg"/><Relationship Id="R9c9acf70c51f4f75" Type="http://schemas.openxmlformats.org/officeDocument/2006/relationships/slideLayout" Target="../slideLayouts/slideLayout1.xml"/><Relationship Id="Ra05ae81bfa894767" Type="http://schemas.openxmlformats.org/officeDocument/2006/relationships/hyperlink" Target="https://openstax.org/books/university-physics-volume-2/pages/15-3-rlc-series-circuits-with-ac" TargetMode="External"/><Relationship Id="Ra3d0cd9d32f84ba8" Type="http://schemas.openxmlformats.org/officeDocument/2006/relationships/hyperlink" Target="https://openstax.org/books/university-physics-volume-2/pages/15-2-simple-ac-circuit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095207ead47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cc89c577949b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ca6e0e1a8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6747D1-4EF1-4CDB-B1FB-477CAF01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XL, XC och impedansens belopp.">
            <a:extLst xmlns:a="http://schemas.openxmlformats.org/drawingml/2006/main">
              <a:ext uri="{FF2B5EF4-FFF2-40B4-BE49-F238E27FC236}">
                <a16:creationId xmlns:a16="http://schemas.microsoft.com/office/drawing/2014/main" id="{35CEB0E2-4E32-46ED-A925-845B8E6A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impedansens belopp.</a:t>
            </a:r>
          </a:p>
        </p:txBody>
      </p:sp>
      <p:sp>
        <p:nvSpPr>
          <p:cNvPr id="4" name="Tolka fasförskjutning i en enkel RL- eller RC-krets.">
            <a:extLst xmlns:a="http://schemas.openxmlformats.org/drawingml/2006/main">
              <a:ext uri="{FF2B5EF4-FFF2-40B4-BE49-F238E27FC236}">
                <a16:creationId xmlns:a16="http://schemas.microsoft.com/office/drawing/2014/main" id="{1261624B-4DAA-4528-85F5-0AD95BAF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fasförskjutning i en enkel RL- eller RC-krets.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91E67-BAAF-4BBB-A780-F33AC1C7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vi inte alltid addera R och X som vanliga positiva tal">
            <a:extLst xmlns:a="http://schemas.openxmlformats.org/drawingml/2006/main">
              <a:ext uri="{FF2B5EF4-FFF2-40B4-BE49-F238E27FC236}">
                <a16:creationId xmlns:a16="http://schemas.microsoft.com/office/drawing/2014/main" id="{5E916F9A-071A-40F1-83F9-F4E3F53F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vi inte alltid addera R och X som vanliga positiva 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F1FC8BC2-279C-413C-BEF3-EA8FB4D1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ba09709ce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B844314E-F096-4D69-856A-F08623F9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608D5B7-04C8-4A6E-851C-9DB08440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1754BCC-1010-472A-85E0-737D44B1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E404D4D-DF2F-4D29-96E1-14C68D21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088F45D-73FD-403C-AA5C-92FE4F97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2F59049-7338-494B-B4C4-14D1297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3DE4B33D-B085-47DA-ABD7-9FD846E8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9d8f9d238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Resistans, reaktans och impedans">
            <a:extLst xmlns:a="http://schemas.openxmlformats.org/drawingml/2006/main">
              <a:ext uri="{FF2B5EF4-FFF2-40B4-BE49-F238E27FC236}">
                <a16:creationId xmlns:a16="http://schemas.microsoft.com/office/drawing/2014/main" id="{C5E3759C-AA6D-463E-80D4-4ACB4544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Resistans, reaktans och impedans</a:t>
            </a:r>
          </a:p>
        </p:txBody>
      </p:sp>
      <p:sp>
        <p:nvSpPr>
          <p:cNvPr id="10" name="R beskriver resistiv del och X reaktiv del. Båda mäts i Ω.">
            <a:extLst xmlns:a="http://schemas.openxmlformats.org/drawingml/2006/main">
              <a:ext uri="{FF2B5EF4-FFF2-40B4-BE49-F238E27FC236}">
                <a16:creationId xmlns:a16="http://schemas.microsoft.com/office/drawing/2014/main" id="{EE854FE3-9876-4AAE-AC26-F173E92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beskriver resistiv del och X reaktiv del. Båda mäts i Ω.</a:t>
            </a:r>
          </a:p>
        </p:txBody>
      </p:sp>
      <p:sp>
        <p:nvSpPr>
          <p:cNvPr id="11" name="L i H beskriver induktans. C i F beskriver kapacitans.">
            <a:extLst xmlns:a="http://schemas.openxmlformats.org/drawingml/2006/main">
              <a:ext uri="{FF2B5EF4-FFF2-40B4-BE49-F238E27FC236}">
                <a16:creationId xmlns:a16="http://schemas.microsoft.com/office/drawing/2014/main" id="{F68FC613-C430-4043-AE1C-F445E3F2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 i H beskriver induktans. C i F beskriver kapacitans.</a:t>
            </a:r>
          </a:p>
        </p:txBody>
      </p:sp>
      <p:sp>
        <p:nvSpPr>
          <p:cNvPr id="12" name="Z = R + jX beskriver belopp och fas. j markerar en vinkelrät komp">
            <a:extLst xmlns:a="http://schemas.openxmlformats.org/drawingml/2006/main">
              <a:ext uri="{FF2B5EF4-FFF2-40B4-BE49-F238E27FC236}">
                <a16:creationId xmlns:a16="http://schemas.microsoft.com/office/drawing/2014/main" id="{73E525DD-2224-4F78-8C81-1172678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 = R + jX beskriver belopp och fas. j markerar en vinkelrät komponent.</a:t>
            </a:r>
          </a:p>
        </p:txBody>
      </p:sp>
      <p:sp>
        <p:nvSpPr>
          <p:cNvPr id="13" name="|Z| är impedansens belopp. φ är fasvinkel i grader.">
            <a:extLst xmlns:a="http://schemas.openxmlformats.org/drawingml/2006/main">
              <a:ext uri="{FF2B5EF4-FFF2-40B4-BE49-F238E27FC236}">
                <a16:creationId xmlns:a16="http://schemas.microsoft.com/office/drawing/2014/main" id="{74EBB8D2-F485-4D15-A443-C1228B07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belopp. φ är fasvinkel i grader.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CC5A96E-87E3-4D6C-9124-51533B9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bcdba61ac44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387FC52C-0F09-466A-889A-AFBE381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32B47EE-3E3A-4217-A70B-A3654DC5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EEFD82EA-58C7-4D46-80B7-BB0F85BA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C59AE0E-8876-400F-A97A-33C17527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CB915DB-894F-4510-BE05-BBA643BF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0E474CA-3307-4DB6-AD4B-3BE63F05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7168BE0D-CCD3-46A1-AB82-80019890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758766F-A333-49A1-9BF9-1A288458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bc9698f2142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uktiv reaktans">
            <a:extLst xmlns:a="http://schemas.openxmlformats.org/drawingml/2006/main">
              <a:ext uri="{FF2B5EF4-FFF2-40B4-BE49-F238E27FC236}">
                <a16:creationId xmlns:a16="http://schemas.microsoft.com/office/drawing/2014/main" id="{8E8A5DBB-A47B-4C91-90E1-B8CD0EA6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reaktans</a:t>
            </a:r>
          </a:p>
        </p:txBody>
      </p:sp>
      <p:sp>
        <p:nvSpPr>
          <p:cNvPr id="3" name="En ideal induktor ger större reaktans vid högre frekvens.&#10;Strömme">
            <a:extLst xmlns:a="http://schemas.openxmlformats.org/drawingml/2006/main">
              <a:ext uri="{FF2B5EF4-FFF2-40B4-BE49-F238E27FC236}">
                <a16:creationId xmlns:a16="http://schemas.microsoft.com/office/drawing/2014/main" id="{0FE85993-5D7E-456F-AFEB-A72E8052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induktor ger större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90° efter spänningen i en ideal spole.</a:t>
            </a:r>
          </a:p>
        </p:txBody>
      </p:sp>
      <p:sp>
        <p:nvSpPr>
          <p:cNvPr id="4" name="XL = 2πfL">
            <a:extLst xmlns:a="http://schemas.openxmlformats.org/drawingml/2006/main">
              <a:ext uri="{FF2B5EF4-FFF2-40B4-BE49-F238E27FC236}">
                <a16:creationId xmlns:a16="http://schemas.microsoft.com/office/drawing/2014/main" id="{BC28BD74-FDA2-4773-8AE4-0EC24691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2πfL</a:t>
            </a:r>
          </a:p>
        </p:txBody>
      </p:sp>
      <p:sp>
        <p:nvSpPr>
          <p:cNvPr id="5" name="50 Hz och L = 0,10 H ger XL ≈ 31,4 Ω.&#10;En verklig spole har också ">
            <a:extLst xmlns:a="http://schemas.openxmlformats.org/drawingml/2006/main">
              <a:ext uri="{FF2B5EF4-FFF2-40B4-BE49-F238E27FC236}">
                <a16:creationId xmlns:a16="http://schemas.microsoft.com/office/drawing/2014/main" id="{1E3A4784-A8AD-41BE-99BF-EF80552A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 Hz och L = 0,10 H ger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31,4 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spole har också resistans.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B2FEFA3-2CFD-4F15-B49F-B121059A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nduktiv reaktans ökar linjärt med frekv" descr="Induktiv reaktans ökar linjärt med frekvensen, 31,4 ohm vid 50 Hz för 0,10 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621cc8284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pacitiv reaktans">
            <a:extLst xmlns:a="http://schemas.openxmlformats.org/drawingml/2006/main">
              <a:ext uri="{FF2B5EF4-FFF2-40B4-BE49-F238E27FC236}">
                <a16:creationId xmlns:a16="http://schemas.microsoft.com/office/drawing/2014/main" id="{5DFC35ED-3BB0-4A47-B0EB-065003FB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reaktans</a:t>
            </a:r>
          </a:p>
        </p:txBody>
      </p:sp>
      <p:sp>
        <p:nvSpPr>
          <p:cNvPr id="3" name="En ideal kondensator ger mindre reaktans vid högre frekvens.&#10;Strö">
            <a:extLst xmlns:a="http://schemas.openxmlformats.org/drawingml/2006/main">
              <a:ext uri="{FF2B5EF4-FFF2-40B4-BE49-F238E27FC236}">
                <a16:creationId xmlns:a16="http://schemas.microsoft.com/office/drawing/2014/main" id="{06BECCC4-72A4-4BC3-8AC5-DC3A7D73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kondensator ger mindre reaktans vid högre frekvens.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leder spänningen med 90°.</a:t>
            </a:r>
          </a:p>
        </p:txBody>
      </p:sp>
      <p:sp>
        <p:nvSpPr>
          <p:cNvPr id="4" name="XC = 1/(2πfC)">
            <a:extLst xmlns:a="http://schemas.openxmlformats.org/drawingml/2006/main">
              <a:ext uri="{FF2B5EF4-FFF2-40B4-BE49-F238E27FC236}">
                <a16:creationId xmlns:a16="http://schemas.microsoft.com/office/drawing/2014/main" id="{6E9577E1-04A8-4F76-86C4-F4D1E7A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1/(2πfC)</a:t>
            </a:r>
          </a:p>
        </p:txBody>
      </p:sp>
      <p:sp>
        <p:nvSpPr>
          <p:cNvPr id="5" name="50 Hz och C = 100 µF ger XC ≈ 31,8 Ω.&#10;100 µF = 100 · 10⁻⁶ F.">
            <a:extLst xmlns:a="http://schemas.openxmlformats.org/drawingml/2006/main">
              <a:ext uri="{FF2B5EF4-FFF2-40B4-BE49-F238E27FC236}">
                <a16:creationId xmlns:a16="http://schemas.microsoft.com/office/drawing/2014/main" id="{8AD96358-3CED-4365-8784-A4F473E7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 Hz och C = 100 µF ger X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31,8 Ω.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 µF = 100 · 10⁻⁶ F.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6FE9076-BB9D-4058-A15E-D1791C81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apacitiv reaktans minskar med frekvense" descr="Kapacitiv reaktans minskar med frekvensen, 31,8 ohm vid 50 Hz för 100 mikrofa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264d9432347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mpedans i en seriekrets">
            <a:extLst xmlns:a="http://schemas.openxmlformats.org/drawingml/2006/main">
              <a:ext uri="{FF2B5EF4-FFF2-40B4-BE49-F238E27FC236}">
                <a16:creationId xmlns:a16="http://schemas.microsoft.com/office/drawing/2014/main" id="{5132F1B7-1921-4D28-9ACF-08601D62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 i en seriekrets</a:t>
            </a:r>
          </a:p>
        </p:txBody>
      </p:sp>
      <p:sp>
        <p:nvSpPr>
          <p:cNvPr id="3" name="Resistiv och reaktiv del ligger 90° isär i visardiagrammet.&#10;Induk">
            <a:extLst xmlns:a="http://schemas.openxmlformats.org/drawingml/2006/main">
              <a:ext uri="{FF2B5EF4-FFF2-40B4-BE49-F238E27FC236}">
                <a16:creationId xmlns:a16="http://schemas.microsoft.com/office/drawing/2014/main" id="{3BF7F1E2-BDE3-466C-AFD2-44A33C75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och reaktiv del ligger 90° isär i visardiagrammet.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Induktiv X är positiv, kapacitiv X är negativ.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3347C-CAE5-48BC-823D-E9C541E1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41BA2-E8C2-45F4-9964-328DAD7C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0BC1F-A610-40F8-9028-696E62C9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40C8C0-A82A-4C86-800D-565C7B2C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8E6E1-4F80-4BDB-A096-9A67EC38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D9621-4D94-473D-B93D-84664A32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11EB5-B4AC-4A94-B242-EC0E2E22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1B108-1CFB-415A-BD91-73F35864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41E10-BA93-4B08-A809-651E327A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R = 30 Ω">
            <a:extLst xmlns:a="http://schemas.openxmlformats.org/drawingml/2006/main">
              <a:ext uri="{FF2B5EF4-FFF2-40B4-BE49-F238E27FC236}">
                <a16:creationId xmlns:a16="http://schemas.microsoft.com/office/drawing/2014/main" id="{B2E8A0D5-3F6E-4B93-8995-4CFDB524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15 Ω</a:t>
            </a:r>
          </a:p>
        </p:txBody>
      </p:sp>
      <p:sp>
        <p:nvSpPr>
          <p:cNvPr id="14" name="XL = 40 Ω">
            <a:extLst xmlns:a="http://schemas.openxmlformats.org/drawingml/2006/main">
              <a:ext uri="{FF2B5EF4-FFF2-40B4-BE49-F238E27FC236}">
                <a16:creationId xmlns:a16="http://schemas.microsoft.com/office/drawing/2014/main" id="{FF8B82AB-692D-415D-B249-25598A96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7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 Ω</a:t>
            </a:r>
          </a:p>
        </p:txBody>
      </p:sp>
      <p:sp>
        <p:nvSpPr>
          <p:cNvPr id="15" name="|Z| = 50 Ω">
            <a:extLst xmlns:a="http://schemas.openxmlformats.org/drawingml/2006/main">
              <a:ext uri="{FF2B5EF4-FFF2-40B4-BE49-F238E27FC236}">
                <a16:creationId xmlns:a16="http://schemas.microsoft.com/office/drawing/2014/main" id="{E8FE7000-8832-466B-872E-FCBCC9BD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= 25 Ω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674ABC3E-D3B3-4797-BC17-E5F8515D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CEDB1-5D59-4409-A8FC-35457583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FB1F1-D864-4AA2-AF38-662356F0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Z = R + jX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3617344D-76EC-4A51-A167-F6E8D2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 = R + jX     |Z| = √(R² + X²)</a:t>
            </a:r>
          </a:p>
        </p:txBody>
      </p:sp>
      <p:sp>
        <p:nvSpPr>
          <p:cNvPr id="20" name="R = 30 Ω och X = 40 Ω ger |Z| = 50 Ω.&#10;Vid U = 100 V RMS blir I = ">
            <a:extLst xmlns:a="http://schemas.openxmlformats.org/drawingml/2006/main">
              <a:ext uri="{FF2B5EF4-FFF2-40B4-BE49-F238E27FC236}">
                <a16:creationId xmlns:a16="http://schemas.microsoft.com/office/drawing/2014/main" id="{FCC3C32D-E9A5-4284-933A-D241CFA0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15 Ω och X = 20 Ω ger |Z| = 25 Ω.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U = 100 V RMS blir I = 4,0 A.</a:t>
            </a:r>
          </a:p>
        </p:txBody>
      </p:sp>
      <p:sp>
        <p:nvSpPr>
          <p:cNvPr id="21" name="6">
            <a:extLst xmlns:a="http://schemas.openxmlformats.org/drawingml/2006/main">
              <a:ext uri="{FF2B5EF4-FFF2-40B4-BE49-F238E27FC236}">
                <a16:creationId xmlns:a16="http://schemas.microsoft.com/office/drawing/2014/main" id="{997DFA8C-F6A5-41DF-8CBD-1527FA10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ffa1e49054e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aktans och ström">
            <a:extLst xmlns:a="http://schemas.openxmlformats.org/drawingml/2006/main">
              <a:ext uri="{FF2B5EF4-FFF2-40B4-BE49-F238E27FC236}">
                <a16:creationId xmlns:a16="http://schemas.microsoft.com/office/drawing/2014/main" id="{FF7B57AE-D2F8-4ADA-A4B1-02E3AFB6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reaktans och ström</a:t>
            </a:r>
          </a:p>
        </p:txBody>
      </p:sp>
      <p:sp>
        <p:nvSpPr>
          <p:cNvPr id="10" name="En serie-RL-krets har R = 12 Ω, XL = 16 Ω och matas med 60 V RMS.">
            <a:extLst xmlns:a="http://schemas.openxmlformats.org/drawingml/2006/main">
              <a:ext uri="{FF2B5EF4-FFF2-40B4-BE49-F238E27FC236}">
                <a16:creationId xmlns:a16="http://schemas.microsoft.com/office/drawing/2014/main" id="{3C0537B0-1C20-44A3-AF64-9C7BC0B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serie-RL-krets har R = 12 Ω, X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16 Ω och matas med 60 V RMS.</a:t>
            </a:r>
          </a:p>
        </p:txBody>
      </p:sp>
      <p:sp>
        <p:nvSpPr>
          <p:cNvPr id="11" name="|Z| = √(R² + XL²)     I = U/|Z|">
            <a:extLst xmlns:a="http://schemas.openxmlformats.org/drawingml/2006/main">
              <a:ext uri="{FF2B5EF4-FFF2-40B4-BE49-F238E27FC236}">
                <a16:creationId xmlns:a16="http://schemas.microsoft.com/office/drawing/2014/main" id="{1A02C638-250A-4443-8FB8-0F53B194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     I = U/|Z|</a:t>
            </a:r>
          </a:p>
        </p:txBody>
      </p:sp>
      <p:sp>
        <p:nvSpPr>
          <p:cNvPr id="12" name="1. |Z| = √(12² + 16²) = √400 = 20 Ω.&#10;2. I = 60/20 = 3 A RMS.&#10;3. U">
            <a:extLst xmlns:a="http://schemas.openxmlformats.org/drawingml/2006/main">
              <a:ext uri="{FF2B5EF4-FFF2-40B4-BE49-F238E27FC236}">
                <a16:creationId xmlns:a16="http://schemas.microsoft.com/office/drawing/2014/main" id="{9903CD9F-1F04-4912-A34C-E912E1E5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|Z| = √(12² + 16²) = √400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 RMS.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· 12 = 36 V.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· 16 = 48 V.</a:t>
            </a:r>
          </a:p>
        </p:txBody>
      </p:sp>
      <p:sp>
        <p:nvSpPr>
          <p:cNvPr id="13" name="Kontroll: √(36² + 48²) = 60 V. Spänningarnas belopp summeras med ">
            <a:extLst xmlns:a="http://schemas.openxmlformats.org/drawingml/2006/main">
              <a:ext uri="{FF2B5EF4-FFF2-40B4-BE49-F238E27FC236}">
                <a16:creationId xmlns:a16="http://schemas.microsoft.com/office/drawing/2014/main" id="{D5FBC4F5-4931-4917-97B5-A072A6CE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√(36² + 48²) = 60 V. Spänningarnas belopp summeras med Pythagoras.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E1DD5BE-26F8-439C-8614-060BE77A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f45605c6c48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8EA009C-8A1A-4467-9B6B-4990E4E2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XL = 2πfL">
            <a:extLst xmlns:a="http://schemas.openxmlformats.org/drawingml/2006/main">
              <a:ext uri="{FF2B5EF4-FFF2-40B4-BE49-F238E27FC236}">
                <a16:creationId xmlns:a16="http://schemas.microsoft.com/office/drawing/2014/main" id="{FECF8C0A-36AD-4C59-9D22-1ACEDB5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1" name="XL är induktiv reaktans i Ω, f frekvens i Hz och L induktans i H.">
            <a:extLst xmlns:a="http://schemas.openxmlformats.org/drawingml/2006/main">
              <a:ext uri="{FF2B5EF4-FFF2-40B4-BE49-F238E27FC236}">
                <a16:creationId xmlns:a16="http://schemas.microsoft.com/office/drawing/2014/main" id="{91DEB969-677F-4F5B-89BA-5B28D69B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induktiv reaktans i Ω, f frekvens i Hz och L induktans i H.</a:t>
            </a:r>
          </a:p>
        </p:txBody>
      </p:sp>
      <p:sp>
        <p:nvSpPr>
          <p:cNvPr id="12" name="Förutsättningar: Sinusformad stationär drift. Ideal spole, L = 0,">
            <a:extLst xmlns:a="http://schemas.openxmlformats.org/drawingml/2006/main">
              <a:ext uri="{FF2B5EF4-FFF2-40B4-BE49-F238E27FC236}">
                <a16:creationId xmlns:a16="http://schemas.microsoft.com/office/drawing/2014/main" id="{6D248A15-78EE-4041-91D5-CEA79169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Sinusformad stationär drift. Ideal spole, L = 0,10 H och f = 50 Hz.</a:t>
            </a:r>
          </a:p>
        </p:txBody>
      </p:sp>
      <p:sp>
        <p:nvSpPr>
          <p:cNvPr id="13" name="Arbetsgång: Multiplicera 2, π, f och L. Kontrollera att L verklig">
            <a:extLst xmlns:a="http://schemas.openxmlformats.org/drawingml/2006/main">
              <a:ext uri="{FF2B5EF4-FFF2-40B4-BE49-F238E27FC236}">
                <a16:creationId xmlns:a16="http://schemas.microsoft.com/office/drawing/2014/main" id="{1365FD53-1ED3-4C0A-8735-E6597606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2, π, f och L. Kontrollera att L verkligen är uttryckt i henry.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3C2FD8F1-C944-4BB5-964A-5157EAF3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2d15b9df84f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29147B4-E5EC-417E-8A14-DD918A49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Spolens reaktans">
            <a:extLst xmlns:a="http://schemas.openxmlformats.org/drawingml/2006/main">
              <a:ext uri="{FF2B5EF4-FFF2-40B4-BE49-F238E27FC236}">
                <a16:creationId xmlns:a16="http://schemas.microsoft.com/office/drawing/2014/main" id="{02C5304D-8AB1-4045-A34D-7EA287DE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Spolens reaktans</a:t>
            </a:r>
          </a:p>
        </p:txBody>
      </p:sp>
      <p:sp>
        <p:nvSpPr>
          <p:cNvPr id="4" name="L = 0,10 H och f = 50 Hz. Beräkna XL.">
            <a:extLst xmlns:a="http://schemas.openxmlformats.org/drawingml/2006/main">
              <a:ext uri="{FF2B5EF4-FFF2-40B4-BE49-F238E27FC236}">
                <a16:creationId xmlns:a16="http://schemas.microsoft.com/office/drawing/2014/main" id="{A5EC6764-2AB5-4E23-BA1F-7593F23A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 = 0,10 H och f = 50 Hz. Beräkna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5C81F5B-C5E1-4C9E-83D7-26F4E2BF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2452A2C6-6AAE-45FF-812F-9F3C2AE9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äxelspänningskälla 50 Hz med spole 0,10" descr="Växelspänningskälla 50 Hz med spole 0,10 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12a8cdc14144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CD8D25F6-7A31-4B60-939F-831BE939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XC = 1/(2πfC)">
            <a:extLst xmlns:a="http://schemas.openxmlformats.org/drawingml/2006/main">
              <a:ext uri="{FF2B5EF4-FFF2-40B4-BE49-F238E27FC236}">
                <a16:creationId xmlns:a16="http://schemas.microsoft.com/office/drawing/2014/main" id="{E36B74EC-58AA-4D6C-B6FA-A56B9062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1" name="XC är kapacitiv reaktans belopp i Ω. C är kapacitans i F. 1 µF = ">
            <a:extLst xmlns:a="http://schemas.openxmlformats.org/drawingml/2006/main">
              <a:ext uri="{FF2B5EF4-FFF2-40B4-BE49-F238E27FC236}">
                <a16:creationId xmlns:a16="http://schemas.microsoft.com/office/drawing/2014/main" id="{0C266534-9723-44BE-8649-A356B13F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kapacitiv reaktans belopp i Ω. C är kapacitans i F. 1 µF = 10⁻⁶ F.</a:t>
            </a:r>
          </a:p>
        </p:txBody>
      </p:sp>
      <p:sp>
        <p:nvSpPr>
          <p:cNvPr id="12" name="Förutsättningar: Ideal kondensator, C = 100 µF, f = 50 Hz.">
            <a:extLst xmlns:a="http://schemas.openxmlformats.org/drawingml/2006/main">
              <a:ext uri="{FF2B5EF4-FFF2-40B4-BE49-F238E27FC236}">
                <a16:creationId xmlns:a16="http://schemas.microsoft.com/office/drawing/2014/main" id="{C73546CC-BD40-4497-B189-0F23736E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kondensator, C = 100 µF, f = 50 Hz.</a:t>
            </a:r>
          </a:p>
        </p:txBody>
      </p:sp>
      <p:sp>
        <p:nvSpPr>
          <p:cNvPr id="13" name="Arbetsgång: Omvandla µF till F. Beräkna hela nämnaren innan du di">
            <a:extLst xmlns:a="http://schemas.openxmlformats.org/drawingml/2006/main">
              <a:ext uri="{FF2B5EF4-FFF2-40B4-BE49-F238E27FC236}">
                <a16:creationId xmlns:a16="http://schemas.microsoft.com/office/drawing/2014/main" id="{AEBA2FE5-BA61-4579-82EE-9EAAD5E4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µF till F. Beräkna hela nämnaren innan du dividerar 1 med 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61A2AA1-30A4-4305-BDD6-0C469C7D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e200659cd47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BF820041-DB88-4039-9CF9-373D384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ondensatorns reaktans">
            <a:extLst xmlns:a="http://schemas.openxmlformats.org/drawingml/2006/main">
              <a:ext uri="{FF2B5EF4-FFF2-40B4-BE49-F238E27FC236}">
                <a16:creationId xmlns:a16="http://schemas.microsoft.com/office/drawing/2014/main" id="{F84D3B4A-D076-4BFE-AC93-F083D171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Kondensatorns reaktans</a:t>
            </a:r>
          </a:p>
        </p:txBody>
      </p:sp>
      <p:sp>
        <p:nvSpPr>
          <p:cNvPr id="4" name="C = 100 µF och f = 50 Hz. Beräkna XC.">
            <a:extLst xmlns:a="http://schemas.openxmlformats.org/drawingml/2006/main">
              <a:ext uri="{FF2B5EF4-FFF2-40B4-BE49-F238E27FC236}">
                <a16:creationId xmlns:a16="http://schemas.microsoft.com/office/drawing/2014/main" id="{B5189CF3-7E7B-4BC6-9E95-0C1B3226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 = 100 µF och f = 50 Hz. Beräkna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1C9B1B4-3ACE-4CFE-99A9-19F1BC33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B1D261E-AFAB-4F24-8E11-DCDA0B6E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äxelspänningskälla 50 Hz med kondensato" descr="Växelspänningskälla 50 Hz med kondensator 100 mikrofa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c9fcd5c41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CD66856-ECEB-475C-BDBE-3EB515AF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27E4DEE8-5420-4B73-9BDE-01F8A6A8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</a:t>
            </a:r>
          </a:p>
        </p:txBody>
      </p:sp>
      <p:sp>
        <p:nvSpPr>
          <p:cNvPr id="11" name="|Z| är impedansens belopp i Ω. R och X ligger vinkelrätt i visard">
            <a:extLst xmlns:a="http://schemas.openxmlformats.org/drawingml/2006/main">
              <a:ext uri="{FF2B5EF4-FFF2-40B4-BE49-F238E27FC236}">
                <a16:creationId xmlns:a16="http://schemas.microsoft.com/office/drawing/2014/main" id="{06423D0E-6C0E-4FDE-B159-DD7FB756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|Z| är impedansens belopp i Ω. R och X ligger vinkelrätt i visardiagrammet.</a:t>
            </a:r>
          </a:p>
        </p:txBody>
      </p:sp>
      <p:sp>
        <p:nvSpPr>
          <p:cNvPr id="12" name="Förutsättningar: Seriekopplad RL-krets med R = 30 Ω och X = XL = ">
            <a:extLst xmlns:a="http://schemas.openxmlformats.org/drawingml/2006/main">
              <a:ext uri="{FF2B5EF4-FFF2-40B4-BE49-F238E27FC236}">
                <a16:creationId xmlns:a16="http://schemas.microsoft.com/office/drawing/2014/main" id="{BDAE66CB-72B4-4187-A3F7-C0B9F67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Seriekopplad RL-krets med R = 30 Ω och X =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+40 Ω.</a:t>
            </a:r>
          </a:p>
        </p:txBody>
      </p:sp>
      <p:sp>
        <p:nvSpPr>
          <p:cNvPr id="13" name="Arbetsgång: Kvadrera R och X, summera och ta kvadratroten. Addera">
            <a:extLst xmlns:a="http://schemas.openxmlformats.org/drawingml/2006/main">
              <a:ext uri="{FF2B5EF4-FFF2-40B4-BE49-F238E27FC236}">
                <a16:creationId xmlns:a16="http://schemas.microsoft.com/office/drawing/2014/main" id="{6CF3F654-EE25-4193-AD8B-B1025187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 och X, summera och ta kvadratroten. Addera inte R och X direkt.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66DCB34-0898-4C8F-A4CA-CABA6557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7e09e157a48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27D69E53-B3AC-472D-A46A-B3362357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RL-kretsens impedans">
            <a:extLst xmlns:a="http://schemas.openxmlformats.org/drawingml/2006/main">
              <a:ext uri="{FF2B5EF4-FFF2-40B4-BE49-F238E27FC236}">
                <a16:creationId xmlns:a16="http://schemas.microsoft.com/office/drawing/2014/main" id="{AD664C1A-F934-4B95-AFC7-467A2FB3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RL-kretsens impedans</a:t>
            </a:r>
          </a:p>
        </p:txBody>
      </p:sp>
      <p:sp>
        <p:nvSpPr>
          <p:cNvPr id="4" name="En seriekrets har R = 30 Ω och XL = 40 Ω. Beräkna |Z|.">
            <a:extLst xmlns:a="http://schemas.openxmlformats.org/drawingml/2006/main">
              <a:ext uri="{FF2B5EF4-FFF2-40B4-BE49-F238E27FC236}">
                <a16:creationId xmlns:a16="http://schemas.microsoft.com/office/drawing/2014/main" id="{D37C2EA9-0E85-4308-AF79-DBDD6E24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seriekrets har R = 30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Ω. Beräkna |Z|.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86A8B5A-C407-4F32-BA98-7BE37B64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14A04BF-4252-4A07-AB19-8E93576A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el med R = 30 ohm och XL =" descr="Impedanstriangel med R = 30 ohm och XL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5a44fa9d647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6C340A56-266A-45C1-A98E-A6DF1487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|Z|     |Z| = √(R² + X²)">
            <a:extLst xmlns:a="http://schemas.openxmlformats.org/drawingml/2006/main">
              <a:ext uri="{FF2B5EF4-FFF2-40B4-BE49-F238E27FC236}">
                <a16:creationId xmlns:a16="http://schemas.microsoft.com/office/drawing/2014/main" id="{836D0C6F-7984-439F-B266-D4DAFE88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|Z| = √(R² + X²)</a:t>
            </a:r>
          </a:p>
        </p:txBody>
      </p:sp>
      <p:sp>
        <p:nvSpPr>
          <p:cNvPr id="11" name="U och I anges som RMS. |Z| omfattar både den resistiva och den re">
            <a:extLst xmlns:a="http://schemas.openxmlformats.org/drawingml/2006/main">
              <a:ext uri="{FF2B5EF4-FFF2-40B4-BE49-F238E27FC236}">
                <a16:creationId xmlns:a16="http://schemas.microsoft.com/office/drawing/2014/main" id="{BBB64254-3EA5-44C3-833A-04F84E8A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och I anges som RMS. |Z| omfattar både den resistiva och den reaktiva delen.</a:t>
            </a:r>
          </a:p>
        </p:txBody>
      </p:sp>
      <p:sp>
        <p:nvSpPr>
          <p:cNvPr id="12" name="Förutsättningar: Serie-RL: U = 100 V, R = 30 Ω, XL = 40 Ω.">
            <a:extLst xmlns:a="http://schemas.openxmlformats.org/drawingml/2006/main">
              <a:ext uri="{FF2B5EF4-FFF2-40B4-BE49-F238E27FC236}">
                <a16:creationId xmlns:a16="http://schemas.microsoft.com/office/drawing/2014/main" id="{C32C3908-84F9-4D99-89D6-B2DDBA87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Serie-RL: U = 100 V,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Ω.</a:t>
            </a:r>
          </a:p>
        </p:txBody>
      </p:sp>
      <p:sp>
        <p:nvSpPr>
          <p:cNvPr id="13" name="Arbetsgång: Beräkna först impedansens belopp. Dividera därefter U">
            <a:extLst xmlns:a="http://schemas.openxmlformats.org/drawingml/2006/main">
              <a:ext uri="{FF2B5EF4-FFF2-40B4-BE49-F238E27FC236}">
                <a16:creationId xmlns:a16="http://schemas.microsoft.com/office/drawing/2014/main" id="{FB34BD96-C821-4E93-BB35-61145DF9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först impedansens belopp. Dividera därefter U med detta belopp.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6968812-99AA-4533-9DA1-70BCBDBD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bde7fa55642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9AC6B715-636B-4193-B9C2-B84B6A2F2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trömmen i RL-kretsen">
            <a:extLst xmlns:a="http://schemas.openxmlformats.org/drawingml/2006/main">
              <a:ext uri="{FF2B5EF4-FFF2-40B4-BE49-F238E27FC236}">
                <a16:creationId xmlns:a16="http://schemas.microsoft.com/office/drawing/2014/main" id="{8A9F2267-682F-47E8-8A01-A7128A4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Strömmen i RL-kretsen</a:t>
            </a:r>
          </a:p>
        </p:txBody>
      </p:sp>
      <p:sp>
        <p:nvSpPr>
          <p:cNvPr id="4" name="100 V RMS matar kretsen R = 30 Ω, XL = 40 Ω. Beräkna strömmen.">
            <a:extLst xmlns:a="http://schemas.openxmlformats.org/drawingml/2006/main">
              <a:ext uri="{FF2B5EF4-FFF2-40B4-BE49-F238E27FC236}">
                <a16:creationId xmlns:a16="http://schemas.microsoft.com/office/drawing/2014/main" id="{9F3767E2-8D97-4E50-9822-9290BF9F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100 V RMS matar kretsen R = 30 Ω,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286576-0322-451C-8CBE-0ACC25CB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B7D7C6C1-C2E8-4BEA-A987-617C3B01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100 V RMS, R = 30 ohm och" descr="Seriekrets med 100 V RMS, R = 30 ohm och XL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2a7d2566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1EEA23-3B9A-43FF-998F-D026381A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R = IR     UL = IXL&#10;U = √(UR² + UL²)">
            <a:extLst xmlns:a="http://schemas.openxmlformats.org/drawingml/2006/main">
              <a:ext uri="{FF2B5EF4-FFF2-40B4-BE49-F238E27FC236}">
                <a16:creationId xmlns:a16="http://schemas.microsoft.com/office/drawing/2014/main" id="{4C4F011D-47F3-458D-832F-BBE3F818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IR    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11" name="UR och UL är vinkelräta spänningsvisare. Samma RMS-ström går geno">
            <a:extLst xmlns:a="http://schemas.openxmlformats.org/drawingml/2006/main">
              <a:ext uri="{FF2B5EF4-FFF2-40B4-BE49-F238E27FC236}">
                <a16:creationId xmlns:a16="http://schemas.microsoft.com/office/drawing/2014/main" id="{6B8E49A3-E9C1-46DF-9508-EEE3B97F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vinkelräta spänningsvisare. Samma RMS-ström går genom båda komponenterna.</a:t>
            </a:r>
          </a:p>
        </p:txBody>
      </p:sp>
      <p:sp>
        <p:nvSpPr>
          <p:cNvPr id="12" name="Förutsättningar: Serie-RL med I = 2,0 A, R = 30 Ω och XL = 40 Ω.">
            <a:extLst xmlns:a="http://schemas.openxmlformats.org/drawingml/2006/main">
              <a:ext uri="{FF2B5EF4-FFF2-40B4-BE49-F238E27FC236}">
                <a16:creationId xmlns:a16="http://schemas.microsoft.com/office/drawing/2014/main" id="{46AA4C40-D4B7-4985-B0D3-C59BE104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 med I = 2,0 A, R = 30 Ω och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Ω.</a:t>
            </a:r>
          </a:p>
        </p:txBody>
      </p:sp>
      <p:sp>
        <p:nvSpPr>
          <p:cNvPr id="13" name="Arbetsgång: Räkna komponentspänningarna. Använd sedan Pythagoras ">
            <a:extLst xmlns:a="http://schemas.openxmlformats.org/drawingml/2006/main">
              <a:ext uri="{FF2B5EF4-FFF2-40B4-BE49-F238E27FC236}">
                <a16:creationId xmlns:a16="http://schemas.microsoft.com/office/drawing/2014/main" id="{6A0C8C81-67D7-47D7-9DCF-CF547540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komponentspänningarna. Använd sedan Pythagoras för källspänningens belopp.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C5E4CDC-20C8-432F-87CB-2CEBC7D7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a5d0640b2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BF203CA-AA83-4657-8FD0-E8845BB7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pänningar i serie">
            <a:extLst xmlns:a="http://schemas.openxmlformats.org/drawingml/2006/main">
              <a:ext uri="{FF2B5EF4-FFF2-40B4-BE49-F238E27FC236}">
                <a16:creationId xmlns:a16="http://schemas.microsoft.com/office/drawing/2014/main" id="{5E905609-BB19-4EC1-8A32-FFDA87A8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Spänningar i serie</a:t>
            </a:r>
          </a:p>
        </p:txBody>
      </p:sp>
      <p:sp>
        <p:nvSpPr>
          <p:cNvPr id="4" name="RL-kretsen har I = 2,0 A, R = 30 Ω och XL = 40 Ω. Beräkna UR, UL ">
            <a:extLst xmlns:a="http://schemas.openxmlformats.org/drawingml/2006/main">
              <a:ext uri="{FF2B5EF4-FFF2-40B4-BE49-F238E27FC236}">
                <a16:creationId xmlns:a16="http://schemas.microsoft.com/office/drawing/2014/main" id="{CDF16E5D-4EA7-4510-868B-B2B4763A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RL-kretsen har I = 2,0 A, R = 30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källspänningen.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34F2E5-5503-42DA-BF94-C6CBD3DC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35799BF-AF74-4472-846D-44178E3C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RL med strömmen 2,0 A och okä" descr="Seriekrets RL med strömmen 2,0 A och okända delspänning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d08c364f49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D7AF7EA-F0A0-4631-945E-87E224F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Fasvinkel i RL och RC&#10;Spänningsvisare&#10;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931D309F-CCCF-4ACD-BD8B-5DF4D729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Spänningsvisare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80DE2897-CDC4-477C-A946-AE04BF76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121E13B-1C1B-4AC7-99CB-FF5541FB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0d954ae4c40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asvinkel i RL och RC">
            <a:extLst xmlns:a="http://schemas.openxmlformats.org/drawingml/2006/main">
              <a:ext uri="{FF2B5EF4-FFF2-40B4-BE49-F238E27FC236}">
                <a16:creationId xmlns:a16="http://schemas.microsoft.com/office/drawing/2014/main" id="{39D47947-397D-436A-BD67-8C71E76C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i RL och RC</a:t>
            </a:r>
          </a:p>
        </p:txBody>
      </p:sp>
      <p:sp>
        <p:nvSpPr>
          <p:cNvPr id="3" name="Välj strömmen som referens i seriekretsen.&#10;Resistorspänningen är ">
            <a:extLst xmlns:a="http://schemas.openxmlformats.org/drawingml/2006/main">
              <a:ext uri="{FF2B5EF4-FFF2-40B4-BE49-F238E27FC236}">
                <a16:creationId xmlns:a16="http://schemas.microsoft.com/office/drawing/2014/main" id="{DC11CF69-1140-4A3E-9A63-7732C4E5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strömmen som referens i seriekretsen.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Resistorspänningen är i fas med strömmen.</a:t>
            </a:r>
          </a:p>
        </p:txBody>
      </p:sp>
      <p:sp>
        <p:nvSpPr>
          <p:cNvPr id="4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E740EF79-B46C-4EA3-9D98-27ED0405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 = arctan(X/R)</a:t>
            </a:r>
          </a:p>
        </p:txBody>
      </p:sp>
      <p:sp>
        <p:nvSpPr>
          <p:cNvPr id="5" name="R = 30 Ω och X = +40 Ω ger φ = +53,1°.&#10;X = −40 Ω ger φ = −53,1°.">
            <a:extLst xmlns:a="http://schemas.openxmlformats.org/drawingml/2006/main">
              <a:ext uri="{FF2B5EF4-FFF2-40B4-BE49-F238E27FC236}">
                <a16:creationId xmlns:a16="http://schemas.microsoft.com/office/drawing/2014/main" id="{5D581B7C-C6C4-4B9D-9CD3-BB95BC24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12 Ω och X = +5 Ω ger φ = +22,6°.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 = −5 Ω ger φ = −22,6°.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FC95F689-63B8-4C40-84F3-9FC4FF0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lar: RL med positiv fasvin" descr="Impedanstrianglar: RL med positiv fasvinkel uppåt och RC med negativ fasvinkel nedå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3bb3207684d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visare">
            <a:extLst xmlns:a="http://schemas.openxmlformats.org/drawingml/2006/main">
              <a:ext uri="{FF2B5EF4-FFF2-40B4-BE49-F238E27FC236}">
                <a16:creationId xmlns:a16="http://schemas.microsoft.com/office/drawing/2014/main" id="{071C353D-9258-4708-93B0-7161428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Spänningsvisare</a:t>
            </a:r>
          </a:p>
        </p:txBody>
      </p:sp>
      <p:sp>
        <p:nvSpPr>
          <p:cNvPr id="3" name="I serie är strömmen gemensam.&#10;Spänningarnas visare summeras, dera">
            <a:extLst xmlns:a="http://schemas.openxmlformats.org/drawingml/2006/main">
              <a:ext uri="{FF2B5EF4-FFF2-40B4-BE49-F238E27FC236}">
                <a16:creationId xmlns:a16="http://schemas.microsoft.com/office/drawing/2014/main" id="{53F1185E-58D8-42B4-8539-4E870128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serie är strömmen gemensam.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Spänningarnas visare summeras, deras belopp gör det inte.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DDC4A-F4E8-40AF-B5B9-15D54D8A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66281" y="4312245"/>
            <a:ext cx="12590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4794E-78E3-4FA7-9CE9-3C1B600F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432102" y="4265613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882DF-E7C7-4B54-B3CC-FB4B7D7A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4312245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F6380-3F80-4FCE-A233-17666263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25367" y="2633464"/>
            <a:ext cx="0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096A-5EB0-4DAA-BDDE-13619C39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78734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0A2800-03D8-4558-A438-E0285C31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5367" y="2633464"/>
            <a:ext cx="46633" cy="932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1BAFE-C071-4C9F-A868-07CECA38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266281" y="2633464"/>
            <a:ext cx="1259086" cy="1678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FC4E86-57A5-4128-B639-53CDF64F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432102" y="2633464"/>
            <a:ext cx="93266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028ECA-FD6C-4102-9266-23A367EB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06714" y="2633464"/>
            <a:ext cx="18653" cy="102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064F91"/>
            </a:solidFill>
          </a:ln>
        </p:spPr>
      </p:sp>
      <p:sp>
        <p:nvSpPr>
          <p:cNvPr id="13" name="UR = 60 V">
            <a:extLst xmlns:a="http://schemas.openxmlformats.org/drawingml/2006/main">
              <a:ext uri="{FF2B5EF4-FFF2-40B4-BE49-F238E27FC236}">
                <a16:creationId xmlns:a16="http://schemas.microsoft.com/office/drawing/2014/main" id="{9D08FE2D-133B-42FB-BC62-F0572AE2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4358878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60 V</a:t>
            </a:r>
          </a:p>
        </p:txBody>
      </p:sp>
      <p:sp>
        <p:nvSpPr>
          <p:cNvPr id="14" name="UL = 80 V">
            <a:extLst xmlns:a="http://schemas.openxmlformats.org/drawingml/2006/main">
              <a:ext uri="{FF2B5EF4-FFF2-40B4-BE49-F238E27FC236}">
                <a16:creationId xmlns:a16="http://schemas.microsoft.com/office/drawing/2014/main" id="{95CE481E-5B6C-421B-9F49-7AFDF8C4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898" y="3286323"/>
            <a:ext cx="1772047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80 V</a:t>
            </a:r>
          </a:p>
        </p:txBody>
      </p:sp>
      <p:sp>
        <p:nvSpPr>
          <p:cNvPr id="15" name="U = 100 V">
            <a:extLst xmlns:a="http://schemas.openxmlformats.org/drawingml/2006/main">
              <a:ext uri="{FF2B5EF4-FFF2-40B4-BE49-F238E27FC236}">
                <a16:creationId xmlns:a16="http://schemas.microsoft.com/office/drawing/2014/main" id="{F82614E4-93B8-4628-B233-6E3A97B2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78" y="3053159"/>
            <a:ext cx="167878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= 100 V</a:t>
            </a:r>
          </a:p>
        </p:txBody>
      </p:sp>
      <p:sp>
        <p:nvSpPr>
          <p:cNvPr id="16" name="φ">
            <a:extLst xmlns:a="http://schemas.openxmlformats.org/drawingml/2006/main">
              <a:ext uri="{FF2B5EF4-FFF2-40B4-BE49-F238E27FC236}">
                <a16:creationId xmlns:a16="http://schemas.microsoft.com/office/drawing/2014/main" id="{76AB8507-C79D-455E-9DA0-3993673A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323" y="3929856"/>
            <a:ext cx="37306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A1FEE-3C83-4E14-BDBF-0A41A088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366816" y="4153694"/>
            <a:ext cx="0" cy="158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D8B9D3-3447-471F-9DD7-6B017F80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66816" y="4153694"/>
            <a:ext cx="158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U = √(UR² + Uˣ²)">
            <a:extLst xmlns:a="http://schemas.openxmlformats.org/drawingml/2006/main">
              <a:ext uri="{FF2B5EF4-FFF2-40B4-BE49-F238E27FC236}">
                <a16:creationId xmlns:a16="http://schemas.microsoft.com/office/drawing/2014/main" id="{F6C1C891-197F-487C-95FE-7B452F241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√(U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Uˣ²)</a:t>
            </a:r>
          </a:p>
        </p:txBody>
      </p:sp>
      <p:sp>
        <p:nvSpPr>
          <p:cNvPr id="20" name="UR = 60 V och UL = 80 V ger U = 100 V.&#10;Strömmen släpar källspänni">
            <a:extLst xmlns:a="http://schemas.openxmlformats.org/drawingml/2006/main">
              <a:ext uri="{FF2B5EF4-FFF2-40B4-BE49-F238E27FC236}">
                <a16:creationId xmlns:a16="http://schemas.microsoft.com/office/drawing/2014/main" id="{D090613E-0FEB-49D1-90CA-76DB228E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60 V och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80 V ger U = 100 V.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släpar källspänningen.</a:t>
            </a:r>
          </a:p>
        </p:txBody>
      </p:sp>
      <p:sp>
        <p:nvSpPr>
          <p:cNvPr id="21" name="14">
            <a:extLst xmlns:a="http://schemas.openxmlformats.org/drawingml/2006/main">
              <a:ext uri="{FF2B5EF4-FFF2-40B4-BE49-F238E27FC236}">
                <a16:creationId xmlns:a16="http://schemas.microsoft.com/office/drawing/2014/main" id="{EDEED6E4-E8B5-4E90-9CB8-BBB4FCAC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aa813415f4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ens betydelse">
            <a:extLst xmlns:a="http://schemas.openxmlformats.org/drawingml/2006/main">
              <a:ext uri="{FF2B5EF4-FFF2-40B4-BE49-F238E27FC236}">
                <a16:creationId xmlns:a16="http://schemas.microsoft.com/office/drawing/2014/main" id="{D1CF528A-38C9-4751-B9F1-8DFD71E1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Frekvensens betydelse</a:t>
            </a:r>
          </a:p>
        </p:txBody>
      </p:sp>
      <p:sp>
        <p:nvSpPr>
          <p:cNvPr id="3" name="När frekvensen ändras ändras reaktansen och strömmen.&#10;Vid ideal s">
            <a:extLst xmlns:a="http://schemas.openxmlformats.org/drawingml/2006/main">
              <a:ext uri="{FF2B5EF4-FFF2-40B4-BE49-F238E27FC236}">
                <a16:creationId xmlns:a16="http://schemas.microsoft.com/office/drawing/2014/main" id="{064B8C9A-CD2C-4790-A859-4906616B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frekvensen ändras ändras reaktansen och strömmen.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ideal serieresonans tar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 varandra.</a:t>
            </a:r>
          </a:p>
        </p:txBody>
      </p:sp>
      <p:sp>
        <p:nvSpPr>
          <p:cNvPr id="4" name="X = XL − XC">
            <a:extLst xmlns:a="http://schemas.openxmlformats.org/drawingml/2006/main">
              <a:ext uri="{FF2B5EF4-FFF2-40B4-BE49-F238E27FC236}">
                <a16:creationId xmlns:a16="http://schemas.microsoft.com/office/drawing/2014/main" id="{263CB887-24F4-4EC5-B4E3-3673979D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 = X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5" name="Om XL = XC blir |Z| = R.&#10;En verklig krets begränsas även av kompo">
            <a:extLst xmlns:a="http://schemas.openxmlformats.org/drawingml/2006/main">
              <a:ext uri="{FF2B5EF4-FFF2-40B4-BE49-F238E27FC236}">
                <a16:creationId xmlns:a16="http://schemas.microsoft.com/office/drawing/2014/main" id="{729B87A3-99AC-4231-8C76-91955A89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|Z| = 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verklig krets begränsas även av komponentförluster.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26C79FB-C3FD-4B34-903E-D87659F4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XL och XC som funktion av frekvens, kurv" descr="XL och XC som funktion av frekvens, kurvorna korsar varandra vid reson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59014df454d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kapacitiv fasvinkel">
            <a:extLst xmlns:a="http://schemas.openxmlformats.org/drawingml/2006/main">
              <a:ext uri="{FF2B5EF4-FFF2-40B4-BE49-F238E27FC236}">
                <a16:creationId xmlns:a16="http://schemas.microsoft.com/office/drawing/2014/main" id="{D0785EEF-6EDA-4833-B0CB-F9022A8A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kapacitiv fasvinkel</a:t>
            </a:r>
          </a:p>
        </p:txBody>
      </p:sp>
      <p:sp>
        <p:nvSpPr>
          <p:cNvPr id="10" name="Serie-RC med R = 12 Ω, XC = 16 Ω och U = 60 V RMS. Sök ström och ">
            <a:extLst xmlns:a="http://schemas.openxmlformats.org/drawingml/2006/main">
              <a:ext uri="{FF2B5EF4-FFF2-40B4-BE49-F238E27FC236}">
                <a16:creationId xmlns:a16="http://schemas.microsoft.com/office/drawing/2014/main" id="{29AF8672-30C8-4E37-8795-8DFB2B71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Serie-RC med R = 12 Ω, X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16 Ω och U = 60 V RMS. Sök ström och fasvinkel.</a:t>
            </a:r>
          </a:p>
        </p:txBody>
      </p:sp>
      <p:sp>
        <p:nvSpPr>
          <p:cNvPr id="11" name="X = −XC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12F3E108-AF25-41BB-A021-09B0E51A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φ = arctan(X/R)</a:t>
            </a:r>
          </a:p>
        </p:txBody>
      </p:sp>
      <p:sp>
        <p:nvSpPr>
          <p:cNvPr id="12" name="1. X = −16 Ω. |Z| = √(12² + (−16)²) = 20 Ω.&#10;2. I = 60/20 = 3 A.&#10;3">
            <a:extLst xmlns:a="http://schemas.openxmlformats.org/drawingml/2006/main">
              <a:ext uri="{FF2B5EF4-FFF2-40B4-BE49-F238E27FC236}">
                <a16:creationId xmlns:a16="http://schemas.microsoft.com/office/drawing/2014/main" id="{30A50BBA-BA4B-4551-960B-8AD633C5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X = −16 Ω. |Z| = √(12² + (−16)²) = 20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 = 60/20 = 3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DEG: φ = arctan(−16/12) ≈ −53,1°.</a:t>
            </a:r>
          </a:p>
        </p:txBody>
      </p:sp>
      <p:sp>
        <p:nvSpPr>
          <p:cNvPr id="13" name="Negativ impedansvinkel betyder att strömmen leder källspänningen ">
            <a:extLst xmlns:a="http://schemas.openxmlformats.org/drawingml/2006/main">
              <a:ext uri="{FF2B5EF4-FFF2-40B4-BE49-F238E27FC236}">
                <a16:creationId xmlns:a16="http://schemas.microsoft.com/office/drawing/2014/main" id="{3F397343-7F6E-4FD0-A3A9-39CB9532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impedansvinkel betyder att strömmen leder källspänningen med 53,1°.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AD11ECA-85EC-4156-8E90-9CEB848D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f23a55eedc4b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3D9B0D01-DDEF-4EF2-898A-2BA350E3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φ = arctan(X/R)">
            <a:extLst xmlns:a="http://schemas.openxmlformats.org/drawingml/2006/main">
              <a:ext uri="{FF2B5EF4-FFF2-40B4-BE49-F238E27FC236}">
                <a16:creationId xmlns:a16="http://schemas.microsoft.com/office/drawing/2014/main" id="{DA52C904-E245-4D2B-9E5C-F8393092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φ är impedansvinkeln. Positiv φ innebär att spänningen leder strö">
            <a:extLst xmlns:a="http://schemas.openxmlformats.org/drawingml/2006/main">
              <a:ext uri="{FF2B5EF4-FFF2-40B4-BE49-F238E27FC236}">
                <a16:creationId xmlns:a16="http://schemas.microsoft.com/office/drawing/2014/main" id="{64A35F00-C0B9-40E0-ACA4-C0B90A8F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φ är impedansvinkeln. Positiv φ innebär att spänningen leder strömmen, alltså att strömmen släpar.</a:t>
            </a:r>
          </a:p>
        </p:txBody>
      </p:sp>
      <p:sp>
        <p:nvSpPr>
          <p:cNvPr id="12" name="Förutsättningar: R = 30 Ω, X = +40 Ω. Använd arctan eller tan⁻¹, ">
            <a:extLst xmlns:a="http://schemas.openxmlformats.org/drawingml/2006/main">
              <a:ext uri="{FF2B5EF4-FFF2-40B4-BE49-F238E27FC236}">
                <a16:creationId xmlns:a16="http://schemas.microsoft.com/office/drawing/2014/main" id="{8115B054-23A0-45E3-BD99-4A29CA84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30 Ω, X = +40 Ω. Använd arctan eller tan⁻¹, med räknaren i DEG.</a:t>
            </a:r>
          </a:p>
        </p:txBody>
      </p:sp>
      <p:sp>
        <p:nvSpPr>
          <p:cNvPr id="13" name="Arbetsgång: Dividera X med R. Ta invers tangens och tolka tecknet">
            <a:extLst xmlns:a="http://schemas.openxmlformats.org/drawingml/2006/main">
              <a:ext uri="{FF2B5EF4-FFF2-40B4-BE49-F238E27FC236}">
                <a16:creationId xmlns:a16="http://schemas.microsoft.com/office/drawing/2014/main" id="{10DE997E-11C5-4DC0-AC99-6E7DFF9F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X med R. Ta invers tangens och tolka tecknet.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2D27E3F9-5F5C-48D5-B940-DA8A5F3B9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f9945689844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08DF79F-4190-4AC7-ABE2-D624EFE8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Fasvinkel i RL">
            <a:extLst xmlns:a="http://schemas.openxmlformats.org/drawingml/2006/main">
              <a:ext uri="{FF2B5EF4-FFF2-40B4-BE49-F238E27FC236}">
                <a16:creationId xmlns:a16="http://schemas.microsoft.com/office/drawing/2014/main" id="{72297BC6-BDE6-4929-B266-C94648B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Fasvinkel i RL</a:t>
            </a:r>
          </a:p>
        </p:txBody>
      </p:sp>
      <p:sp>
        <p:nvSpPr>
          <p:cNvPr id="4" name="R = 30 Ω, XL = 40 Ω. Bestäm φ och ange om strömmen leder eller sl">
            <a:extLst xmlns:a="http://schemas.openxmlformats.org/drawingml/2006/main">
              <a:ext uri="{FF2B5EF4-FFF2-40B4-BE49-F238E27FC236}">
                <a16:creationId xmlns:a16="http://schemas.microsoft.com/office/drawing/2014/main" id="{A5962366-227F-42D3-A284-7015B39B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Ω,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Ω. Bestäm φ och ange om strömmen leder eller släpar 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652D0A-C778-47B5-8645-4C7DD758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684E3C59-AB07-44C3-AF81-44F287C6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mpedanstriangel R = 30 ohm, XL = 40 ohm" descr="Impedanstriangel R = 30 ohm, XL = 40 ohm med okänd fasvink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d67180e244d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5E12874-896A-4CAB-8DDC-C51F0EDC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X = −XC     |Z| = √(R² + X²)&#10;I = U/|Z|     φ = arctan(X/R)">
            <a:extLst xmlns:a="http://schemas.openxmlformats.org/drawingml/2006/main">
              <a:ext uri="{FF2B5EF4-FFF2-40B4-BE49-F238E27FC236}">
                <a16:creationId xmlns:a16="http://schemas.microsoft.com/office/drawing/2014/main" id="{93A9B9F6-EC26-4BC9-9DFF-E782F2E5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−X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|Z| = 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     φ = arctan(X/R)</a:t>
            </a:r>
          </a:p>
        </p:txBody>
      </p:sp>
      <p:sp>
        <p:nvSpPr>
          <p:cNvPr id="11" name="Kapacitiv nettoreaktans har minustecken. Negativ φ betyder att st">
            <a:extLst xmlns:a="http://schemas.openxmlformats.org/drawingml/2006/main">
              <a:ext uri="{FF2B5EF4-FFF2-40B4-BE49-F238E27FC236}">
                <a16:creationId xmlns:a16="http://schemas.microsoft.com/office/drawing/2014/main" id="{8B717935-F364-4CDA-B40A-88985020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Kapacitiv nettoreaktans har minustecken. Negativ φ betyder att strömmen leder spänningen.</a:t>
            </a:r>
          </a:p>
        </p:txBody>
      </p:sp>
      <p:sp>
        <p:nvSpPr>
          <p:cNvPr id="12" name="Förutsättningar: Serie-RC: R = 60 Ω, XC = 80 Ω, U = 200 V RMS. Rä">
            <a:extLst xmlns:a="http://schemas.openxmlformats.org/drawingml/2006/main">
              <a:ext uri="{FF2B5EF4-FFF2-40B4-BE49-F238E27FC236}">
                <a16:creationId xmlns:a16="http://schemas.microsoft.com/office/drawing/2014/main" id="{B1887227-E936-4C0A-BB14-E9A7D1AC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Serie-RC: R = 60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80 Ω, U = 200 V RMS. Räknaren står i DEG för φ.</a:t>
            </a:r>
          </a:p>
        </p:txBody>
      </p:sp>
      <p:sp>
        <p:nvSpPr>
          <p:cNvPr id="13" name="Arbetsgång: Använd X = −80 Ω. Beräkna belopp, ström och vinkel i ">
            <a:extLst xmlns:a="http://schemas.openxmlformats.org/drawingml/2006/main">
              <a:ext uri="{FF2B5EF4-FFF2-40B4-BE49-F238E27FC236}">
                <a16:creationId xmlns:a16="http://schemas.microsoft.com/office/drawing/2014/main" id="{FBC67C3C-3FE0-4FF1-99CA-57F56E8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X = −80 Ω. Beräkna belopp, ström och vinkel i den ordningen.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ADE2C58-73DE-426F-BA83-92A203ED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43567aafa40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09177B07-8C70-4B51-929C-1E164403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C-krets">
            <a:extLst xmlns:a="http://schemas.openxmlformats.org/drawingml/2006/main">
              <a:ext uri="{FF2B5EF4-FFF2-40B4-BE49-F238E27FC236}">
                <a16:creationId xmlns:a16="http://schemas.microsoft.com/office/drawing/2014/main" id="{0A72E7DE-3BA5-4ECF-A813-6008AC3E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RC-krets</a:t>
            </a:r>
          </a:p>
        </p:txBody>
      </p:sp>
      <p:sp>
        <p:nvSpPr>
          <p:cNvPr id="4" name="R = 60 Ω och XC = 80 Ω i serie över 200 V RMS. Bestäm |Z|, I och ">
            <a:extLst xmlns:a="http://schemas.openxmlformats.org/drawingml/2006/main">
              <a:ext uri="{FF2B5EF4-FFF2-40B4-BE49-F238E27FC236}">
                <a16:creationId xmlns:a16="http://schemas.microsoft.com/office/drawing/2014/main" id="{1FA10FDE-B14E-49D1-8EBD-845D4C2F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60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80 Ω i serie över 200 V RMS. Bestäm |Z|, I och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E55627-8C2D-4E1D-8209-C2DF8107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34DEB6B-7F86-4C71-B2F1-FBA172AD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200 V RMS, R = 60 ohm och" descr="Seriekrets med 200 V RMS, R = 60 ohm och XC = 8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92566de3b244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92565364-5D29-4508-9099-D3983032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XL = 2πfL     XC = 1/(2πfC)">
            <a:extLst xmlns:a="http://schemas.openxmlformats.org/drawingml/2006/main">
              <a:ext uri="{FF2B5EF4-FFF2-40B4-BE49-F238E27FC236}">
                <a16:creationId xmlns:a16="http://schemas.microsoft.com/office/drawing/2014/main" id="{5C2B23F1-8B5E-4EA0-9A7D-A1F15CC2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    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1" name="XL växer med f. XC minskar när f växer, eftersom f står i nämnare">
            <a:extLst xmlns:a="http://schemas.openxmlformats.org/drawingml/2006/main">
              <a:ext uri="{FF2B5EF4-FFF2-40B4-BE49-F238E27FC236}">
                <a16:creationId xmlns:a16="http://schemas.microsoft.com/office/drawing/2014/main" id="{EFFBFB95-EA21-46F9-A670-4D8361A3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växer med f.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när f växer, eftersom f står i nämnaren.</a:t>
            </a:r>
          </a:p>
        </p:txBody>
      </p:sp>
      <p:sp>
        <p:nvSpPr>
          <p:cNvPr id="12" name="Förutsättningar: Endast frekvensen ändras, från 50 till 100 Hz. L">
            <a:extLst xmlns:a="http://schemas.openxmlformats.org/drawingml/2006/main">
              <a:ext uri="{FF2B5EF4-FFF2-40B4-BE49-F238E27FC236}">
                <a16:creationId xmlns:a16="http://schemas.microsoft.com/office/drawing/2014/main" id="{F0B314A0-665B-4600-9E90-FBE1C3E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Endast frekvensen ändras, från 50 till 100 Hz. L och C är konstanta.</a:t>
            </a:r>
          </a:p>
        </p:txBody>
      </p:sp>
      <p:sp>
        <p:nvSpPr>
          <p:cNvPr id="13" name="Arbetsgång: Ersätt f med 2f i båda formlerna och jämför med utgån">
            <a:extLst xmlns:a="http://schemas.openxmlformats.org/drawingml/2006/main">
              <a:ext uri="{FF2B5EF4-FFF2-40B4-BE49-F238E27FC236}">
                <a16:creationId xmlns:a16="http://schemas.microsoft.com/office/drawing/2014/main" id="{14CAC20C-92C2-4C32-90E5-C613FF49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Ersätt f med 2f i båda formlerna och jämför med utgångsvärdet.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46F97671-FD1D-4D14-B018-FE83C8DD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4beb8a87f45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E84A9A09-020C-42FD-A323-C91EBAFD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ubbel frekvens">
            <a:extLst xmlns:a="http://schemas.openxmlformats.org/drawingml/2006/main">
              <a:ext uri="{FF2B5EF4-FFF2-40B4-BE49-F238E27FC236}">
                <a16:creationId xmlns:a16="http://schemas.microsoft.com/office/drawing/2014/main" id="{51A8D1EA-D6D8-49FE-9CCD-BCA68FBC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Dubbel frekvens</a:t>
            </a:r>
          </a:p>
        </p:txBody>
      </p:sp>
      <p:sp>
        <p:nvSpPr>
          <p:cNvPr id="4" name="Frekvensen ökas från 50 till 100 Hz. Hur ändras XL och XC om komp">
            <a:extLst xmlns:a="http://schemas.openxmlformats.org/drawingml/2006/main">
              <a:ext uri="{FF2B5EF4-FFF2-40B4-BE49-F238E27FC236}">
                <a16:creationId xmlns:a16="http://schemas.microsoft.com/office/drawing/2014/main" id="{BB15ABA7-AD75-45FD-9B3E-7F5D43A69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ökas från 50 till 100 Hz. Hur ändras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om komponenterna är oförändrade?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36AD0-16C4-4FEF-88D7-5B6D271F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C948C25-9747-4B4D-8413-7D2781B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med spole och kondensator där" descr="Seriekrets med spole och kondensator där frekvensen ökar från 50 till 100 H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65094c40e46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FDA7619-3562-4272-AC50-D5CA4E61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X = XL − XC&#10;|Z| = √(R² + X²)     I = U/|Z|">
            <a:extLst xmlns:a="http://schemas.openxmlformats.org/drawingml/2006/main">
              <a:ext uri="{FF2B5EF4-FFF2-40B4-BE49-F238E27FC236}">
                <a16:creationId xmlns:a16="http://schemas.microsoft.com/office/drawing/2014/main" id="{2BA84EA4-1A8E-4871-909C-DEC33B00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I = U/|Z|</a:t>
            </a:r>
          </a:p>
        </p:txBody>
      </p:sp>
      <p:sp>
        <p:nvSpPr>
          <p:cNvPr id="11" name="X är nettoreaktans med tecken. XL och XC anges som positiva belop">
            <a:extLst xmlns:a="http://schemas.openxmlformats.org/drawingml/2006/main">
              <a:ext uri="{FF2B5EF4-FFF2-40B4-BE49-F238E27FC236}">
                <a16:creationId xmlns:a16="http://schemas.microsoft.com/office/drawing/2014/main" id="{CCDCB514-C594-4E9E-9020-94999647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 är nettoreaktans med tecken.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anges som positiva belopp.</a:t>
            </a:r>
          </a:p>
        </p:txBody>
      </p:sp>
      <p:sp>
        <p:nvSpPr>
          <p:cNvPr id="12" name="Förutsättningar: Serie-RLC: R = 30 Ω, XL = 50 Ω, XC = 10 Ω och U ">
            <a:extLst xmlns:a="http://schemas.openxmlformats.org/drawingml/2006/main">
              <a:ext uri="{FF2B5EF4-FFF2-40B4-BE49-F238E27FC236}">
                <a16:creationId xmlns:a16="http://schemas.microsoft.com/office/drawing/2014/main" id="{C3DFB9EE-AF10-4922-A9ED-DB863B3D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Serie-RLC: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Ω och U = 100 V RMS.</a:t>
            </a:r>
          </a:p>
        </p:txBody>
      </p:sp>
      <p:sp>
        <p:nvSpPr>
          <p:cNvPr id="13" name="Arbetsgång: Räkna nettoreaktansen först. Använd den, inte XL ensa">
            <a:extLst xmlns:a="http://schemas.openxmlformats.org/drawingml/2006/main">
              <a:ext uri="{FF2B5EF4-FFF2-40B4-BE49-F238E27FC236}">
                <a16:creationId xmlns:a16="http://schemas.microsoft.com/office/drawing/2014/main" id="{4D91CE32-4CAC-4467-80C7-E88E721A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nettoreaktansen först. Använd den, inte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ensam, i impedansformeln.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DB5C59F-31DB-4200-9608-9A2B65B1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7dda4fd7264c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260BB28-676F-4818-A80A-7E351E58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LC-krets">
            <a:extLst xmlns:a="http://schemas.openxmlformats.org/drawingml/2006/main">
              <a:ext uri="{FF2B5EF4-FFF2-40B4-BE49-F238E27FC236}">
                <a16:creationId xmlns:a16="http://schemas.microsoft.com/office/drawing/2014/main" id="{85420A6A-4B30-4683-B51E-F89A9DCF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RLC-krets</a:t>
            </a:r>
          </a:p>
        </p:txBody>
      </p:sp>
      <p:sp>
        <p:nvSpPr>
          <p:cNvPr id="4" name="R = 30 Ω, XL = 50 Ω och XC = 10 Ω i serie. U = 100 V RMS. Bestäm ">
            <a:extLst xmlns:a="http://schemas.openxmlformats.org/drawingml/2006/main">
              <a:ext uri="{FF2B5EF4-FFF2-40B4-BE49-F238E27FC236}">
                <a16:creationId xmlns:a16="http://schemas.microsoft.com/office/drawing/2014/main" id="{F20CE438-5738-445E-A66F-40F5D1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 = 30 Ω,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50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Ω i serie. U = 100 V RMS. Bestäm nettoreaktans, |Z| och 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22CBE5D-386F-416C-A04B-A1186830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5D08F32-09C4-4DA9-9D1E-37903B33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LC-seriekrets 100 V RMS med R 30 ohm, X" descr="RLC-seriekrets 100 V RMS med R 30 ohm, XL 50 ohm och XC 1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4b9b7b1704f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0530559-4DE3-4593-A960-9651B064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X = XL − XC     I = U/√(R² + X²)&#10;φ = arctan(X/R)">
            <a:extLst xmlns:a="http://schemas.openxmlformats.org/drawingml/2006/main">
              <a:ext uri="{FF2B5EF4-FFF2-40B4-BE49-F238E27FC236}">
                <a16:creationId xmlns:a16="http://schemas.microsoft.com/office/drawing/2014/main" id="{CD60BDB2-5390-49D0-8166-001B9738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 =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I = U/√(R² + X²)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1" name="Vid serieresonans tar de reaktiva delarna ut varandra. R begränsa">
            <a:extLst xmlns:a="http://schemas.openxmlformats.org/drawingml/2006/main">
              <a:ext uri="{FF2B5EF4-FFF2-40B4-BE49-F238E27FC236}">
                <a16:creationId xmlns:a16="http://schemas.microsoft.com/office/drawing/2014/main" id="{64442C75-9BC7-4FAD-BAC7-4D661013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serieresonans tar de reaktiva delarna ut varandra. R begränsar fortfarande strömmen.</a:t>
            </a:r>
          </a:p>
        </p:txBody>
      </p:sp>
      <p:sp>
        <p:nvSpPr>
          <p:cNvPr id="12" name="Förutsättningar: R = 20 Ω, XL = XC = 40 Ω, U = 100 V RMS. Spole o">
            <a:extLst xmlns:a="http://schemas.openxmlformats.org/drawingml/2006/main">
              <a:ext uri="{FF2B5EF4-FFF2-40B4-BE49-F238E27FC236}">
                <a16:creationId xmlns:a16="http://schemas.microsoft.com/office/drawing/2014/main" id="{633BD1CB-DC3B-479A-A34D-1ED4A914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 = 20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Ω, U = 100 V RMS. Spole och kondensator är ideala.</a:t>
            </a:r>
          </a:p>
        </p:txBody>
      </p:sp>
      <p:sp>
        <p:nvSpPr>
          <p:cNvPr id="13" name="Arbetsgång: Sätt in skillnaden mellan reaktanserna. Beräkna I och">
            <a:extLst xmlns:a="http://schemas.openxmlformats.org/drawingml/2006/main">
              <a:ext uri="{FF2B5EF4-FFF2-40B4-BE49-F238E27FC236}">
                <a16:creationId xmlns:a16="http://schemas.microsoft.com/office/drawing/2014/main" id="{CBCC07F1-5AE1-412E-9DD0-F0F8DEF3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skillnaden mellan reaktanserna. Beräkna I och φ. Enskilda komponentspänningar kan ändå vara stora.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4602382-4B20-4981-BC2A-3B411620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4e52301414d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96CF8368-C0C7-4DDB-8E11-9E902F7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Resonans i modellen">
            <a:extLst xmlns:a="http://schemas.openxmlformats.org/drawingml/2006/main">
              <a:ext uri="{FF2B5EF4-FFF2-40B4-BE49-F238E27FC236}">
                <a16:creationId xmlns:a16="http://schemas.microsoft.com/office/drawing/2014/main" id="{C2B2CECB-A48A-4D0A-9056-F2D1369E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Resonans i modellen</a:t>
            </a:r>
          </a:p>
        </p:txBody>
      </p:sp>
      <p:sp>
        <p:nvSpPr>
          <p:cNvPr id="4" name="En ideal RLC-seriekrets har R = 20 Ω och XL = XC = 40 Ω. Den mata">
            <a:extLst xmlns:a="http://schemas.openxmlformats.org/drawingml/2006/main">
              <a:ext uri="{FF2B5EF4-FFF2-40B4-BE49-F238E27FC236}">
                <a16:creationId xmlns:a16="http://schemas.microsoft.com/office/drawing/2014/main" id="{1C7D8E8F-E7DD-4E74-BD91-AE22F8A4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RLC-seriekrets har R = 20 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 Ω. Den matas med 100 V RMS. Bestäm ström och fasvinkel.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DC2C9A9-5C83-4D15-9778-14032EF5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8A77722-2F1D-462A-B215-0E1D98F2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LC-seriekrets 100 V RMS med R 20 ohm oc" descr="RLC-seriekrets 100 V RMS med R 20 ohm och XL = XC = 40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8d703fee2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95408948-756A-4149-B745-28D6596D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är √(30² + 40²) relevant medan 30 + 40 inte är det?">
            <a:extLst xmlns:a="http://schemas.openxmlformats.org/drawingml/2006/main">
              <a:ext uri="{FF2B5EF4-FFF2-40B4-BE49-F238E27FC236}">
                <a16:creationId xmlns:a16="http://schemas.microsoft.com/office/drawing/2014/main" id="{9A7BF35E-286A-4689-8D4E-BB7C8954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är √(30² + 40²) relevant medan 30 + 40 inte är det?</a:t>
            </a:r>
          </a:p>
        </p:txBody>
      </p:sp>
      <p:sp>
        <p:nvSpPr>
          <p:cNvPr id="4" name="Redovisa ett visardiagram tillsammans med RL- och RC-beräkningarn">
            <a:extLst xmlns:a="http://schemas.openxmlformats.org/drawingml/2006/main">
              <a:ext uri="{FF2B5EF4-FFF2-40B4-BE49-F238E27FC236}">
                <a16:creationId xmlns:a16="http://schemas.microsoft.com/office/drawing/2014/main" id="{C91B4D98-C0F7-4816-84F1-7A066E07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ett visardiagram tillsammans med RL- och RC-beräkningarna i v40-inlämningen.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CA9711C0-D417-4910-8DB0-21166EA0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2ed3e79784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19E3AC81-945B-4B51-B672-DC06E0A4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DEE5A606-9FB1-42F0-93EB-57AD8EF6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94E732F6-E565-48EC-AF6B-0FEC7C9B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3d0cd9d32f84ba8"/>
              </a:rPr>
              <a:t>OpenStax: enkla växelströmskretsar</a:t>
            </a:r>
          </a:p>
        </p:txBody>
      </p:sp>
      <p:sp>
        <p:nvSpPr>
          <p:cNvPr id="5" name="OpenStax: impedans i seriekretsar">
            <a:extLst xmlns:a="http://schemas.openxmlformats.org/drawingml/2006/main">
              <a:ext uri="{FF2B5EF4-FFF2-40B4-BE49-F238E27FC236}">
                <a16:creationId xmlns:a16="http://schemas.microsoft.com/office/drawing/2014/main" id="{46BF7066-B903-413E-99AD-AE53FC50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05ae81bfa894767"/>
              </a:rPr>
              <a:t>OpenStax: impedans i seriekretsar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70D64626-24B3-4280-A6C6-766971CF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2026-09-20T20:09:06.3050000Z</dcterms:created>
  <dcterms:modified xsi:type="dcterms:W3CDTF">2026-09-20T20:09:06.3050000Z</dcterms:modified>
</coreProperties>
</file>