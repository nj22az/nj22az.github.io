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3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4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562bcd4aa434386" /><Relationship Type="http://schemas.openxmlformats.org/officeDocument/2006/relationships/extended-properties" Target="/docProps/app.xml" Id="R94fa9cfa7d5648b5" /><Relationship Type="http://schemas.openxmlformats.org/officeDocument/2006/relationships/officeDocument" Target="/ppt/presentation.xml" Id="R79d09cc2cfb749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2ace59d47494156"/>
  </p:sldMasterIdLst>
  <p:notesMasterIdLst>
    <p:notesMasterId xmlns:r="http://schemas.openxmlformats.org/officeDocument/2006/relationships" r:id="R896289308f5244ea"/>
  </p:notesMasterIdLst>
  <p:sldIdLst>
    <p:sldId xmlns:r="http://schemas.openxmlformats.org/officeDocument/2006/relationships" id="256" r:id="Rb142fb58b4c549c5"/>
    <p:sldId xmlns:r="http://schemas.openxmlformats.org/officeDocument/2006/relationships" id="257" r:id="Rea8dbc929e344ba6"/>
    <p:sldId xmlns:r="http://schemas.openxmlformats.org/officeDocument/2006/relationships" id="258" r:id="R20dc8a80889d4cc8"/>
    <p:sldId xmlns:r="http://schemas.openxmlformats.org/officeDocument/2006/relationships" id="259" r:id="Rdd93673a162d489d"/>
    <p:sldId xmlns:r="http://schemas.openxmlformats.org/officeDocument/2006/relationships" id="260" r:id="R37196922c30d4f26"/>
    <p:sldId xmlns:r="http://schemas.openxmlformats.org/officeDocument/2006/relationships" id="261" r:id="Rc88fabc7885042b4"/>
    <p:sldId xmlns:r="http://schemas.openxmlformats.org/officeDocument/2006/relationships" id="262" r:id="R414c5a60960c4c3d"/>
    <p:sldId xmlns:r="http://schemas.openxmlformats.org/officeDocument/2006/relationships" id="263" r:id="Rff95a2faf0894a32"/>
    <p:sldId xmlns:r="http://schemas.openxmlformats.org/officeDocument/2006/relationships" id="264" r:id="Rf94a673741874e27"/>
    <p:sldId xmlns:r="http://schemas.openxmlformats.org/officeDocument/2006/relationships" id="265" r:id="Re494e029d18b4aa3"/>
    <p:sldId xmlns:r="http://schemas.openxmlformats.org/officeDocument/2006/relationships" id="266" r:id="R99e944cf199449e2"/>
    <p:sldId xmlns:r="http://schemas.openxmlformats.org/officeDocument/2006/relationships" id="267" r:id="Rded5d88f7ce64e01"/>
    <p:sldId xmlns:r="http://schemas.openxmlformats.org/officeDocument/2006/relationships" id="268" r:id="R593f3e47b5ab4e70"/>
    <p:sldId xmlns:r="http://schemas.openxmlformats.org/officeDocument/2006/relationships" id="269" r:id="Rb6f09006fb244792"/>
    <p:sldId xmlns:r="http://schemas.openxmlformats.org/officeDocument/2006/relationships" id="270" r:id="Rbddf0e0b75874633"/>
    <p:sldId xmlns:r="http://schemas.openxmlformats.org/officeDocument/2006/relationships" id="271" r:id="R5942ded79b0b433b"/>
    <p:sldId xmlns:r="http://schemas.openxmlformats.org/officeDocument/2006/relationships" id="272" r:id="Ra80746bf83924aa1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89df6219f244b78" /><Relationship Type="http://schemas.openxmlformats.org/officeDocument/2006/relationships/slideMaster" Target="/ppt/slideMasters/slideMaster1.xml" Id="Rf2ace59d47494156" /><Relationship Type="http://schemas.openxmlformats.org/officeDocument/2006/relationships/notesMaster" Target="/ppt/notesMasters/notesMaster1.xml" Id="R896289308f5244ea" /><Relationship Type="http://schemas.openxmlformats.org/officeDocument/2006/relationships/presProps" Target="/ppt/presProps.xml" Id="R32b8f5391962452b" /><Relationship Type="http://schemas.openxmlformats.org/officeDocument/2006/relationships/viewProps" Target="/ppt/viewProps.xml" Id="Rdc7a5dab7f03436b" /><Relationship Type="http://schemas.openxmlformats.org/officeDocument/2006/relationships/tableStyles" Target="/ppt/tableStyles.xml" Id="Rbefa91a59b36439d" /><Relationship Type="http://schemas.openxmlformats.org/officeDocument/2006/relationships/slide" Target="/ppt/slides/slide1.xml" Id="Rb142fb58b4c549c5" /><Relationship Type="http://schemas.openxmlformats.org/officeDocument/2006/relationships/slide" Target="/ppt/slides/slide2.xml" Id="Rea8dbc929e344ba6" /><Relationship Type="http://schemas.openxmlformats.org/officeDocument/2006/relationships/slide" Target="/ppt/slides/slide3.xml" Id="R20dc8a80889d4cc8" /><Relationship Type="http://schemas.openxmlformats.org/officeDocument/2006/relationships/slide" Target="/ppt/slides/slide4.xml" Id="Rdd93673a162d489d" /><Relationship Type="http://schemas.openxmlformats.org/officeDocument/2006/relationships/slide" Target="/ppt/slides/slide5.xml" Id="R37196922c30d4f26" /><Relationship Type="http://schemas.openxmlformats.org/officeDocument/2006/relationships/slide" Target="/ppt/slides/slide6.xml" Id="Rc88fabc7885042b4" /><Relationship Type="http://schemas.openxmlformats.org/officeDocument/2006/relationships/slide" Target="/ppt/slides/slide7.xml" Id="R414c5a60960c4c3d" /><Relationship Type="http://schemas.openxmlformats.org/officeDocument/2006/relationships/slide" Target="/ppt/slides/slide8.xml" Id="Rff95a2faf0894a32" /><Relationship Type="http://schemas.openxmlformats.org/officeDocument/2006/relationships/slide" Target="/ppt/slides/slide9.xml" Id="Rf94a673741874e27" /><Relationship Type="http://schemas.openxmlformats.org/officeDocument/2006/relationships/slide" Target="/ppt/slides/slide10.xml" Id="Re494e029d18b4aa3" /><Relationship Type="http://schemas.openxmlformats.org/officeDocument/2006/relationships/slide" Target="/ppt/slides/slide11.xml" Id="R99e944cf199449e2" /><Relationship Type="http://schemas.openxmlformats.org/officeDocument/2006/relationships/slide" Target="/ppt/slides/slide12.xml" Id="Rded5d88f7ce64e01" /><Relationship Type="http://schemas.openxmlformats.org/officeDocument/2006/relationships/slide" Target="/ppt/slides/slide13.xml" Id="R593f3e47b5ab4e70" /><Relationship Type="http://schemas.openxmlformats.org/officeDocument/2006/relationships/slide" Target="/ppt/slides/slide14.xml" Id="Rb6f09006fb244792" /><Relationship Type="http://schemas.openxmlformats.org/officeDocument/2006/relationships/slide" Target="/ppt/slides/slide15.xml" Id="Rbddf0e0b75874633" /><Relationship Type="http://schemas.openxmlformats.org/officeDocument/2006/relationships/slide" Target="/ppt/slides/slide16.xml" Id="R5942ded79b0b433b" /><Relationship Type="http://schemas.openxmlformats.org/officeDocument/2006/relationships/slide" Target="/ppt/slides/slide17.xml" Id="Ra80746bf83924a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bc70a41f6a40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e9bdb13ea74599" /><Relationship Type="http://schemas.openxmlformats.org/officeDocument/2006/relationships/notesMaster" Target="/ppt/notesMasters/notesMaster1.xml" Id="Reb8de139f7c14c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96d50fd91645de" /><Relationship Type="http://schemas.openxmlformats.org/officeDocument/2006/relationships/notesMaster" Target="/ppt/notesMasters/notesMaster1.xml" Id="R4ad1fa1273a740c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55de7f1ac044618" /><Relationship Type="http://schemas.openxmlformats.org/officeDocument/2006/relationships/notesMaster" Target="/ppt/notesMasters/notesMaster1.xml" Id="R89fb08a2e459456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94334557c334303" /><Relationship Type="http://schemas.openxmlformats.org/officeDocument/2006/relationships/notesMaster" Target="/ppt/notesMasters/notesMaster1.xml" Id="R22b074ef919443b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6deff10c27c4f98" /><Relationship Type="http://schemas.openxmlformats.org/officeDocument/2006/relationships/notesMaster" Target="/ppt/notesMasters/notesMaster1.xml" Id="Rd05e8b4e14d640d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40d1583519c4318" /><Relationship Type="http://schemas.openxmlformats.org/officeDocument/2006/relationships/notesMaster" Target="/ppt/notesMasters/notesMaster1.xml" Id="R67ed926e686744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7b8b94cabfb426d" /><Relationship Type="http://schemas.openxmlformats.org/officeDocument/2006/relationships/notesMaster" Target="/ppt/notesMasters/notesMaster1.xml" Id="R42c025cce5024c3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9386ea02a3b4763" /><Relationship Type="http://schemas.openxmlformats.org/officeDocument/2006/relationships/notesMaster" Target="/ppt/notesMasters/notesMaster1.xml" Id="Rad3e2f27eea6475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8d3c93ef2964ccf" /><Relationship Type="http://schemas.openxmlformats.org/officeDocument/2006/relationships/notesMaster" Target="/ppt/notesMasters/notesMaster1.xml" Id="R6dd1f5420b574de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2b6780287c14bd1" /><Relationship Type="http://schemas.openxmlformats.org/officeDocument/2006/relationships/notesMaster" Target="/ppt/notesMasters/notesMaster1.xml" Id="Ra1cdbb55e9fb4b1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0fbe8564e54a40" /><Relationship Type="http://schemas.openxmlformats.org/officeDocument/2006/relationships/notesMaster" Target="/ppt/notesMasters/notesMaster1.xml" Id="R7bfaa874d1f94e9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0db58954d734455" /><Relationship Type="http://schemas.openxmlformats.org/officeDocument/2006/relationships/notesMaster" Target="/ppt/notesMasters/notesMaster1.xml" Id="Ra5629d822e9d46b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276e455a4514408" /><Relationship Type="http://schemas.openxmlformats.org/officeDocument/2006/relationships/notesMaster" Target="/ppt/notesMasters/notesMaster1.xml" Id="R2553ce85623e483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f4fdb8ad4574805" /><Relationship Type="http://schemas.openxmlformats.org/officeDocument/2006/relationships/notesMaster" Target="/ppt/notesMasters/notesMaster1.xml" Id="R3ed9f0f959274d9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51bf2d8d16c41f0" /><Relationship Type="http://schemas.openxmlformats.org/officeDocument/2006/relationships/notesMaster" Target="/ppt/notesMasters/notesMaster1.xml" Id="Rd0d892b36ced440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29c54d81d8f4a3c" /><Relationship Type="http://schemas.openxmlformats.org/officeDocument/2006/relationships/notesMaster" Target="/ppt/notesMasters/notesMaster1.xml" Id="R8c003ac921104d9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495c30223704229" /><Relationship Type="http://schemas.openxmlformats.org/officeDocument/2006/relationships/notesMaster" Target="/ppt/notesMasters/notesMaster1.xml" Id="R20f751dca968438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Förslag: 30 min genomgång inklusive stegfilm, 15 min gemensam räkning, 30 min guidad labb, 15 min återkoppling. Delarna kan delas på två 45-minuterspass.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Följ kurvan långsamt: noll, positiv topp, noll, negativ topp, noll. Kurvan visar spänningen vid olika tidpunkter, inte en partikels färd.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Låt eleven peka på två stigande nollpassager innan formeln används. Vanligt fel: 0,020 s skrivs som 0,020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Vid 100 Hz: blir perioden längre eller kortare?</a:t>
            </a:r>
          </a:p>
          <a:p xmlns:a="http://schemas.openxmlformats.org/drawingml/2006/main">
            <a:r>
              <a:t>Facit: Kortare. T = 1 000/100 = 10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https://nj22az.github.io/sjoskolan/vecka-40/aktuell/Genomgang.html?del=sinus&amp;avsnitt=period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Peka ut nollnivån. Eleven ska inte använda hela höjden när frågan gäller toppvärde.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Om Upp = 20 V, hur stort är û?</a:t>
            </a:r>
          </a:p>
          <a:p xmlns:a="http://schemas.openxmlformats.org/drawingml/2006/main">
            <a:r>
              <a:t>Facit: û = 20/2 = 10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https://nj22az.github.io/sjoskolan/vecka-40/aktuell/Genomgang.html?del=sinus&amp;avsnitt=topp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Förklara betydelsen innan förkortningen root mean square. Samma resistor 24 Ω ger P = 12²/24 = 6 W i båda fallen.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https://nj22az.github.io/sjoskolan/vecka-40/aktuell/Genomgang.html?del=sinus&amp;avsnitt=rms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Exemplet har samma metod men ett annat spänningsvärde än elevens grundkälla.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https://nj22az.github.io/sjoskolan/vecka-40/aktuell/Genomgang.html?del=sinus&amp;avsnitt=exempel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är en modell av instrumentkontroll, inte en utförd fysisk kalibrering. En verklig kontroll följer instrumentens och stationens instruktioner.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https://nj22az.github.io/sjoskolan/vecka-40/aktuell/Genomgang.html?del=sinus&amp;avsnitt=matarna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Öppna guidad labb och visa en rad. Eleven ska kunna säga vad som jämförs och vilken enhet som används.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https://nj22az.github.io/sjoskolan/vecka-40/aktuell/Genomgang.html?del=sinus&amp;avsnitt=protokoll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Stanna här om eleven fortfarande blandar medelvärde och effektivvärde.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Betyder 0 V i medelvärde att källan inte kan ge effekt?</a:t>
            </a:r>
          </a:p>
          <a:p xmlns:a="http://schemas.openxmlformats.org/drawingml/2006/main">
            <a:r>
              <a:t>Facit: Nej. Effekten i en resistor beror på spänningen i kvadrat.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https://nj22az.github.io/sjoskolan/vecka-40/aktuell/Genomgang.html?del=sinus&amp;avsnitt=medel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Detta kontrollerar överföring till nya värden. Godkänn inte endast att grundexemplet har kopierats.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Kontrollfråga: Räkna innan facit visas.</a:t>
            </a:r>
          </a:p>
          <a:p xmlns:a="http://schemas.openxmlformats.org/drawingml/2006/main">
            <a:r>
              <a:t>Facit: T = 10,00 ms. û ≈ 33,94 V. Multimetern visar 24,00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https://nj22az.github.io/sjoskolan/vecka-40/aktuell/Genomgang.html?del=sinus&amp;avsnitt=eget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Sinusformeln använder toppvärdet som amplitud. Momentanvärdet får ett negativt tecken under den negativa halvperioden.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https://nj22az.github.io/sjoskolan/vecka-40/aktuell/Genomgang.html?del=sinus&amp;avsnitt=moment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Beloppet räcker inte för att avgöra vem som leder. Eleven måste läsa kurvornas ordning.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https://nj22az.github.io/sjoskolan/vecka-40/aktuell/Genomgang.html?del=sinus&amp;avsnitt=fas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Källa: Fluke, True measurements of non-linear loads require a true-RMS measurement tool. Vanligt medelvärde, likriktat medelvärde och RMS måste hållas isär.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https://nj22az.github.io/sjoskolan/vecka-40/aktuell/Genomgang.html?del=sinus&amp;avsnitt=likriktat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Här hålls RMS konstant. Vid jämförelse med samma toppvärde blir RMS i stället olika. True RMS visar 12,00 V för alla tre i idealmodellen. Verkliga instrument har frekvens-, bandbredds- och crestfaktorgränser.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https://nj22az.github.io/sjoskolan/vecka-40/aktuell/Genomgang.html?del=sinus&amp;avsnitt=kurvformer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Källa: https://www.fluke.com/en-gb/learn/blog/electrical/true-measurements-of-non-linear-loads-require-a-true-rms-measurement-tool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Skilj källans avvikelse från instrumentets visningsprincip. Stationsprotokollet har egna kontroller och används efter mätaravsnittet.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https://nj22az.github.io/sjoskolan/vecka-40/aktuell/Genomgang.html?del=sinus&amp;avsnitt=station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Säkerheten i verklig mätning kan inte godkännas genom ett klick i simulatorn. Läraren behöver riggens dokumenterade mätpunkter och instrumentmanualer.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Webbgenomgång: https://nj22az.github.io/sjoskolan/vecka-40/aktuell/Genomgang.html?del=sinus&amp;avsnitt=klart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Guidad labb: https://nj22az.github.io/sjoskolan/vaxelstromslabbet/?lage=guidad&amp;del=sinus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6a645e960549f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e1f1683f3456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a1bd095f5046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c37ff88af46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6cd056c969485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74128f6009425d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3cecd5baceb471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96e3b48fdb4e5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6f387713944de8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29985416ed42f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c03dc4f3e6c4a05" 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E2CD4B-F516-4409-A7DC-DC274679F1B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6AE0DEC-5907-4926-8E9D-559B618B209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1FC174-16CC-42BD-B69A-F86677B10FF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C2075C-F955-4894-B17F-E705A120D6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DCFC0C-D59D-4281-85E2-261E88D101C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3EC1DC-6AF3-4168-A6BE-BD63D8EE78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4DC51F2-CD67-4C7B-A631-E145FE53E9A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354CAE-CDBB-4DC0-A3EB-AEF0E1A583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0C48E3-7D60-4F49-B8F8-95A1339D03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6522CC2-1491-4348-B17B-6B4209F57CF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0B53ECE-35AA-43DB-99CA-3D0AAB59EA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52D209-9D8C-4BE8-B25E-2DF1D29038F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6210298-DB2A-4F47-BA48-79AAA0598CB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9486CC6-E4D5-4C7B-8AD3-AA069C40C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EFDC94B-E851-44BC-9BD2-196697E640D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3BA0E46-55D9-41DC-B10B-64AF6E184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3BB8641-C72D-4B77-83D5-5015D96396A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486F488-4C81-4757-A373-AC714C909A1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5590AD5-4F63-4400-A9FA-A894CAC1025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2C6BC21-C772-4CB0-A9DC-BB3A3BC2C49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81F78F9-9AB5-4D76-AFFD-5DAA164A0B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8F2D7E8-02BD-44B5-B13B-83DE335076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E26C730-8536-44EB-B438-A42E093B1B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51D6213-1CBF-4C46-8BF8-BF7A2AC27BCF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6EDF07-85F4-427E-9DB6-D8253568937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75F11EA3-1044-4C79-BF3B-98D9D538BA48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E4B5BA-D8AB-48F0-93EE-5DB97F2F29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87B0180-397A-42EC-8E5E-4A2F7E34F30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AF0B7C5-3321-4F4D-AD56-13B7C12498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D9D262-1559-47EB-88C0-3C0FBCDFCA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8782B52-F9AB-46BB-A71B-53DDB381EB0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67AA7-064B-4F62-A3FE-F56687BE551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09A1431E-CEFC-4F4E-962E-919197794FA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3499E090-5B9E-4292-BAFA-97004D8AC9F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59C35B5E-DF5E-4D14-9AFD-A81379310C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080BF7B0-F916-41CA-8E1A-59E24BB69C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A909EF4-74E8-4C0D-8697-7715219260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C430B30-ECD3-4232-9AB6-D967A1C2857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4919C5-73C3-4844-8E6E-ED634321A1E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E2014-77F2-4C84-B2F1-BDE92F1AE3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A0CCB86-482F-4ED4-9AB8-92369806A03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99E7777-1FC9-4818-B6F9-148B9889B05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F6F232D-B347-4EE8-B88D-D4D4A37C7CE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8CA293A1-A5A0-45E5-982C-C7949487551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3B4B63F-6FF3-484D-A66D-553A454807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CF9C1E6-A1A5-4D00-9B5F-4B51E72C76C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6A8FB0FD-92CA-487D-8A10-D6460DCD77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B20313E-A5AC-46CC-9E32-CD757EDB20E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20772EC-2D75-49F4-9748-3E1A0E8FCF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79689864-1D5F-48ED-B662-327741E801B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980AAEA-3A94-4E90-89B1-427F6F3D40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EBD3F0F-4B07-4673-BB73-41E612AF9F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AC180-CE69-4E2E-8DE5-612BD4ACFD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EEF0E9D-1D27-4BC5-BCF2-E61F307861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9506037-AC13-4857-9081-D5C46450449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49442B-51A7-4BD1-AEB7-B70B7E3E81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60457E0-9DF3-4E0E-BC19-AD337CE1A6A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16B9361-EFB5-4D70-9D25-57B2017332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89507c34e05400a" /><Relationship Type="http://schemas.openxmlformats.org/officeDocument/2006/relationships/slideLayout" Target="/ppt/slideLayouts/slideLayout1.xml" Id="R2fe2ddb671fc4e12" /><Relationship Type="http://schemas.openxmlformats.org/officeDocument/2006/relationships/slideLayout" Target="/ppt/slideLayouts/slideLayout2.xml" Id="R38a3d02a8c294307" /><Relationship Type="http://schemas.openxmlformats.org/officeDocument/2006/relationships/slideLayout" Target="/ppt/slideLayouts/slideLayout3.xml" Id="R4219c85a02fa4434" /><Relationship Type="http://schemas.openxmlformats.org/officeDocument/2006/relationships/slideLayout" Target="/ppt/slideLayouts/slideLayout4.xml" Id="Rf15f2f91b4454d7b" /><Relationship Type="http://schemas.openxmlformats.org/officeDocument/2006/relationships/slideLayout" Target="/ppt/slideLayouts/slideLayout5.xml" Id="R693f15524f8a487a" /><Relationship Type="http://schemas.openxmlformats.org/officeDocument/2006/relationships/slideLayout" Target="/ppt/slideLayouts/slideLayout6.xml" Id="Red023b18b3974c05" /><Relationship Type="http://schemas.openxmlformats.org/officeDocument/2006/relationships/slideLayout" Target="/ppt/slideLayouts/slideLayout7.xml" Id="R37288291680442a5" /><Relationship Type="http://schemas.openxmlformats.org/officeDocument/2006/relationships/slideLayout" Target="/ppt/slideLayouts/slideLayout8.xml" Id="Rc676ae5a9c1242fc" /><Relationship Type="http://schemas.openxmlformats.org/officeDocument/2006/relationships/slideLayout" Target="/ppt/slideLayouts/slideLayout9.xml" Id="R867934ac93a541bc" /><Relationship Type="http://schemas.openxmlformats.org/officeDocument/2006/relationships/slideLayout" Target="/ppt/slideLayouts/slideLayout10.xml" Id="R5c63fa3d5ca649c6" /><Relationship Type="http://schemas.openxmlformats.org/officeDocument/2006/relationships/slideLayout" Target="/ppt/slideLayouts/slideLayout11.xml" Id="Rcbb2c99801a3427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68E696-EC0F-47CB-8FE9-46AE86A309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20B8B3E-9EAD-42D7-A494-E1C3FEEE7B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23E4CC9-7665-4A29-8FCF-17C3DE8E34E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D3794A-F99E-45E5-9D90-AE009996DE1C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2506B0-AD80-458D-92E4-9E3F3BEEA70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fe2ddb671fc4e12"/>
    <p:sldLayoutId xmlns:r="http://schemas.openxmlformats.org/officeDocument/2006/relationships" id="2147483650" r:id="R38a3d02a8c294307"/>
    <p:sldLayoutId xmlns:r="http://schemas.openxmlformats.org/officeDocument/2006/relationships" id="2147483651" r:id="R4219c85a02fa4434"/>
    <p:sldLayoutId xmlns:r="http://schemas.openxmlformats.org/officeDocument/2006/relationships" id="2147483652" r:id="Rf15f2f91b4454d7b"/>
    <p:sldLayoutId xmlns:r="http://schemas.openxmlformats.org/officeDocument/2006/relationships" id="2147483653" r:id="R693f15524f8a487a"/>
    <p:sldLayoutId xmlns:r="http://schemas.openxmlformats.org/officeDocument/2006/relationships" id="2147483654" r:id="Red023b18b3974c05"/>
    <p:sldLayoutId xmlns:r="http://schemas.openxmlformats.org/officeDocument/2006/relationships" id="2147483655" r:id="R37288291680442a5"/>
    <p:sldLayoutId xmlns:r="http://schemas.openxmlformats.org/officeDocument/2006/relationships" id="2147483656" r:id="Rc676ae5a9c1242fc"/>
    <p:sldLayoutId xmlns:r="http://schemas.openxmlformats.org/officeDocument/2006/relationships" id="2147483657" r:id="R867934ac93a541bc"/>
    <p:sldLayoutId xmlns:r="http://schemas.openxmlformats.org/officeDocument/2006/relationships" id="2147483658" r:id="R5c63fa3d5ca649c6"/>
    <p:sldLayoutId xmlns:r="http://schemas.openxmlformats.org/officeDocument/2006/relationships" id="2147483659" r:id="Rcbb2c99801a34274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29a7744334724" /><Relationship Type="http://schemas.openxmlformats.org/officeDocument/2006/relationships/image" Target="/ppt/media/image.jpeg" Id="R51b59b7a1fb8467f" /><Relationship Type="http://schemas.openxmlformats.org/officeDocument/2006/relationships/image" Target="/ppt/media/image.png" Id="R02f20a46a9cd490b" /><Relationship Type="http://schemas.openxmlformats.org/officeDocument/2006/relationships/notesSlide" Target="/ppt/notesSlides/notesSlide1.xml" Id="Re3dde1def67748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bd2894379748d9" /><Relationship Type="http://schemas.openxmlformats.org/officeDocument/2006/relationships/image" Target="/ppt/media/image.jpeg" Id="Ree0ff7acf47544be" /><Relationship Type="http://schemas.openxmlformats.org/officeDocument/2006/relationships/notesSlide" Target="/ppt/notesSlides/notesSlide2.xml" Id="R66b4ddaffaf44e4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d4fdbc22c4f31" /><Relationship Type="http://schemas.openxmlformats.org/officeDocument/2006/relationships/image" Target="/ppt/media/image.jpeg" Id="R1f9516a5b4574516" /><Relationship Type="http://schemas.openxmlformats.org/officeDocument/2006/relationships/chart" Target="/ppt/slides/charts/chart1.xml" Id="R0e78b578c5db4d97" /><Relationship Type="http://schemas.openxmlformats.org/officeDocument/2006/relationships/notesSlide" Target="/ppt/notesSlides/notesSlide3.xml" Id="Rcc86c36304ae40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b50d85036f4e71" /><Relationship Type="http://schemas.openxmlformats.org/officeDocument/2006/relationships/image" Target="/ppt/media/image.jpeg" Id="Rd3cff0e3ded34ac9" /><Relationship Type="http://schemas.openxmlformats.org/officeDocument/2006/relationships/chart" Target="/ppt/slides/charts/chart2.xml" Id="Re1d2de372f734ba9" /><Relationship Type="http://schemas.openxmlformats.org/officeDocument/2006/relationships/notesSlide" Target="/ppt/notesSlides/notesSlide4.xml" Id="R3f3321262aa7499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d3b697f8a46e9" /><Relationship Type="http://schemas.openxmlformats.org/officeDocument/2006/relationships/image" Target="/ppt/media/image.jpeg" Id="Rcfdb4787d7e04fbf" /><Relationship Type="http://schemas.openxmlformats.org/officeDocument/2006/relationships/chart" Target="/ppt/slides/charts/chart3.xml" Id="Ra2831535db414bd1" /><Relationship Type="http://schemas.openxmlformats.org/officeDocument/2006/relationships/notesSlide" Target="/ppt/notesSlides/notesSlide5.xml" Id="Rca742f4bc5ec4ea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52403c01b418e" /><Relationship Type="http://schemas.openxmlformats.org/officeDocument/2006/relationships/image" Target="/ppt/media/image.jpeg" Id="R3efd4ff624824082" /><Relationship Type="http://schemas.openxmlformats.org/officeDocument/2006/relationships/notesSlide" Target="/ppt/notesSlides/notesSlide6.xml" Id="Rdb617b883528413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93971e9684b9f" /><Relationship Type="http://schemas.openxmlformats.org/officeDocument/2006/relationships/image" Target="/ppt/media/image.jpeg" Id="R5c5a024022404e7f" /><Relationship Type="http://schemas.openxmlformats.org/officeDocument/2006/relationships/notesSlide" Target="/ppt/notesSlides/notesSlide7.xml" Id="Rceb2d76b0577408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a40497789941ff" /><Relationship Type="http://schemas.openxmlformats.org/officeDocument/2006/relationships/image" Target="/ppt/media/image.jpeg" Id="R965d211cfed44481" /><Relationship Type="http://schemas.openxmlformats.org/officeDocument/2006/relationships/notesSlide" Target="/ppt/notesSlides/notesSlide8.xml" Id="R775a89523ef94f9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195de430ae4670" /><Relationship Type="http://schemas.openxmlformats.org/officeDocument/2006/relationships/image" Target="/ppt/media/image.jpeg" Id="R1d96d33ba7aa4bac" /><Relationship Type="http://schemas.openxmlformats.org/officeDocument/2006/relationships/notesSlide" Target="/ppt/notesSlides/notesSlide9.xml" Id="Rdd2322ca239d43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2ca7c63d814afb" /><Relationship Type="http://schemas.openxmlformats.org/officeDocument/2006/relationships/image" Target="/ppt/media/image.jpeg" Id="R2eadcd2bc3654cf6" /><Relationship Type="http://schemas.openxmlformats.org/officeDocument/2006/relationships/chart" Target="/ppt/slides/charts/chart4.xml" Id="R597b8378fbc94007" /><Relationship Type="http://schemas.openxmlformats.org/officeDocument/2006/relationships/notesSlide" Target="/ppt/notesSlides/notesSlide10.xml" Id="Reb080484ea9c4c9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b92ea55b04eac" /><Relationship Type="http://schemas.openxmlformats.org/officeDocument/2006/relationships/image" Target="/ppt/media/image.jpeg" Id="R915a5b0efdfa4a85" /><Relationship Type="http://schemas.openxmlformats.org/officeDocument/2006/relationships/notesSlide" Target="/ppt/notesSlides/notesSlide11.xml" Id="Ree25c84bc6d34ee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e777c7f2124341" /><Relationship Type="http://schemas.openxmlformats.org/officeDocument/2006/relationships/image" Target="/ppt/media/image.jpeg" Id="R217a905c4e284c55" /><Relationship Type="http://schemas.openxmlformats.org/officeDocument/2006/relationships/notesSlide" Target="/ppt/notesSlides/notesSlide12.xml" Id="R6cbe6755bfb0452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f5e7d1429c4a36" /><Relationship Type="http://schemas.openxmlformats.org/officeDocument/2006/relationships/image" Target="/ppt/media/image.jpeg" Id="R6d16b1c64d0745f5" /><Relationship Type="http://schemas.openxmlformats.org/officeDocument/2006/relationships/notesSlide" Target="/ppt/notesSlides/notesSlide13.xml" Id="Rb383aa9abb4d4d1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55b60f3ada4f1b" /><Relationship Type="http://schemas.openxmlformats.org/officeDocument/2006/relationships/image" Target="/ppt/media/image.jpeg" Id="R42a86cb939f64d81" /><Relationship Type="http://schemas.openxmlformats.org/officeDocument/2006/relationships/notesSlide" Target="/ppt/notesSlides/notesSlide14.xml" Id="Rff4064babc0f4c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17a4f773ff4df2" /><Relationship Type="http://schemas.openxmlformats.org/officeDocument/2006/relationships/image" Target="/ppt/media/image.jpeg" Id="R0cbe0d361f6e4510" /><Relationship Type="http://schemas.openxmlformats.org/officeDocument/2006/relationships/notesSlide" Target="/ppt/notesSlides/notesSlide15.xml" Id="R78f044dde0834a3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80724291ea4d35" /><Relationship Type="http://schemas.openxmlformats.org/officeDocument/2006/relationships/image" Target="/ppt/media/image.jpeg" Id="R47dc44925af74953" /><Relationship Type="http://schemas.openxmlformats.org/officeDocument/2006/relationships/notesSlide" Target="/ppt/notesSlides/notesSlide16.xml" Id="Rf884bae39dee461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7d9146524b4037" /><Relationship Type="http://schemas.openxmlformats.org/officeDocument/2006/relationships/image" Target="/ppt/media/image.jpeg" Id="R980bf77cdbb64fa2" /><Relationship Type="http://schemas.openxmlformats.org/officeDocument/2006/relationships/notesSlide" Target="/ppt/notesSlides/notesSlide17.xml" Id="R2dbc48e75ec7481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Spänning (V)</c:v>
          </c:tx>
          <c:spPr>
            <a:ln xmlns:a="http://schemas.openxmlformats.org/drawingml/2006/main" w="23813">
              <a:solidFill>
                <a:srgbClr val="064F91"/>
              </a:solidFill>
            </a:ln>
          </c:spPr>
          <c:marker>
            <c:symbol val="none"/>
          </c:marker>
          <c:xVal>
            <c:numRef>
              <c:f>'Chart Data'!$A$2:$A$162</c:f>
              <c:numCache>
                <c:formatCode>General</c:formatCode>
                <c:ptCount val="161"/>
                <c:pt idx="0">
                  <c:v>0</c:v>
                </c:pt>
                <c:pt idx="1">
                  <c:v>0.25</c:v>
                </c:pt>
                <c:pt idx="2">
                  <c:v>0.5</c:v>
                </c:pt>
                <c:pt idx="3">
                  <c:v>0.75</c:v>
                </c:pt>
                <c:pt idx="4">
                  <c:v>1</c:v>
                </c:pt>
                <c:pt idx="5">
                  <c:v>1.25</c:v>
                </c:pt>
                <c:pt idx="6">
                  <c:v>1.5</c:v>
                </c:pt>
                <c:pt idx="7">
                  <c:v>1.75</c:v>
                </c:pt>
                <c:pt idx="8">
                  <c:v>2</c:v>
                </c:pt>
                <c:pt idx="9">
                  <c:v>2.25</c:v>
                </c:pt>
                <c:pt idx="10">
                  <c:v>2.5</c:v>
                </c:pt>
                <c:pt idx="11">
                  <c:v>2.75</c:v>
                </c:pt>
                <c:pt idx="12">
                  <c:v>3</c:v>
                </c:pt>
                <c:pt idx="13">
                  <c:v>3.25</c:v>
                </c:pt>
                <c:pt idx="14">
                  <c:v>3.5</c:v>
                </c:pt>
                <c:pt idx="15">
                  <c:v>3.75</c:v>
                </c:pt>
                <c:pt idx="16">
                  <c:v>4</c:v>
                </c:pt>
                <c:pt idx="17">
                  <c:v>4.25</c:v>
                </c:pt>
                <c:pt idx="18">
                  <c:v>4.5</c:v>
                </c:pt>
                <c:pt idx="19">
                  <c:v>4.75</c:v>
                </c:pt>
                <c:pt idx="20">
                  <c:v>5</c:v>
                </c:pt>
                <c:pt idx="21">
                  <c:v>5.25</c:v>
                </c:pt>
                <c:pt idx="22">
                  <c:v>5.5</c:v>
                </c:pt>
                <c:pt idx="23">
                  <c:v>5.75</c:v>
                </c:pt>
                <c:pt idx="24">
                  <c:v>6</c:v>
                </c:pt>
                <c:pt idx="25">
                  <c:v>6.25</c:v>
                </c:pt>
                <c:pt idx="26">
                  <c:v>6.5</c:v>
                </c:pt>
                <c:pt idx="27">
                  <c:v>6.75</c:v>
                </c:pt>
                <c:pt idx="28">
                  <c:v>7</c:v>
                </c:pt>
                <c:pt idx="29">
                  <c:v>7.25</c:v>
                </c:pt>
                <c:pt idx="30">
                  <c:v>7.5</c:v>
                </c:pt>
                <c:pt idx="31">
                  <c:v>7.75</c:v>
                </c:pt>
                <c:pt idx="32">
                  <c:v>8</c:v>
                </c:pt>
                <c:pt idx="33">
                  <c:v>8.25</c:v>
                </c:pt>
                <c:pt idx="34">
                  <c:v>8.5</c:v>
                </c:pt>
                <c:pt idx="35">
                  <c:v>8.75</c:v>
                </c:pt>
                <c:pt idx="36">
                  <c:v>9</c:v>
                </c:pt>
                <c:pt idx="37">
                  <c:v>9.25</c:v>
                </c:pt>
                <c:pt idx="38">
                  <c:v>9.5</c:v>
                </c:pt>
                <c:pt idx="39">
                  <c:v>9.75</c:v>
                </c:pt>
                <c:pt idx="40">
                  <c:v>10</c:v>
                </c:pt>
                <c:pt idx="41">
                  <c:v>10.25</c:v>
                </c:pt>
                <c:pt idx="42">
                  <c:v>10.5</c:v>
                </c:pt>
                <c:pt idx="43">
                  <c:v>10.75</c:v>
                </c:pt>
                <c:pt idx="44">
                  <c:v>11</c:v>
                </c:pt>
                <c:pt idx="45">
                  <c:v>11.25</c:v>
                </c:pt>
                <c:pt idx="46">
                  <c:v>11.5</c:v>
                </c:pt>
                <c:pt idx="47">
                  <c:v>11.75</c:v>
                </c:pt>
                <c:pt idx="48">
                  <c:v>12</c:v>
                </c:pt>
                <c:pt idx="49">
                  <c:v>12.25</c:v>
                </c:pt>
                <c:pt idx="50">
                  <c:v>12.5</c:v>
                </c:pt>
                <c:pt idx="51">
                  <c:v>12.75</c:v>
                </c:pt>
                <c:pt idx="52">
                  <c:v>13</c:v>
                </c:pt>
                <c:pt idx="53">
                  <c:v>13.25</c:v>
                </c:pt>
                <c:pt idx="54">
                  <c:v>13.5</c:v>
                </c:pt>
                <c:pt idx="55">
                  <c:v>13.75</c:v>
                </c:pt>
                <c:pt idx="56">
                  <c:v>14</c:v>
                </c:pt>
                <c:pt idx="57">
                  <c:v>14.25</c:v>
                </c:pt>
                <c:pt idx="58">
                  <c:v>14.5</c:v>
                </c:pt>
                <c:pt idx="59">
                  <c:v>14.75</c:v>
                </c:pt>
                <c:pt idx="60">
                  <c:v>15</c:v>
                </c:pt>
                <c:pt idx="61">
                  <c:v>15.25</c:v>
                </c:pt>
                <c:pt idx="62">
                  <c:v>15.5</c:v>
                </c:pt>
                <c:pt idx="63">
                  <c:v>15.75</c:v>
                </c:pt>
                <c:pt idx="64">
                  <c:v>16</c:v>
                </c:pt>
                <c:pt idx="65">
                  <c:v>16.25</c:v>
                </c:pt>
                <c:pt idx="66">
                  <c:v>16.5</c:v>
                </c:pt>
                <c:pt idx="67">
                  <c:v>16.75</c:v>
                </c:pt>
                <c:pt idx="68">
                  <c:v>17</c:v>
                </c:pt>
                <c:pt idx="69">
                  <c:v>17.25</c:v>
                </c:pt>
                <c:pt idx="70">
                  <c:v>17.5</c:v>
                </c:pt>
                <c:pt idx="71">
                  <c:v>17.75</c:v>
                </c:pt>
                <c:pt idx="72">
                  <c:v>18</c:v>
                </c:pt>
                <c:pt idx="73">
                  <c:v>18.25</c:v>
                </c:pt>
                <c:pt idx="74">
                  <c:v>18.5</c:v>
                </c:pt>
                <c:pt idx="75">
                  <c:v>18.75</c:v>
                </c:pt>
                <c:pt idx="76">
                  <c:v>19</c:v>
                </c:pt>
                <c:pt idx="77">
                  <c:v>19.25</c:v>
                </c:pt>
                <c:pt idx="78">
                  <c:v>19.5</c:v>
                </c:pt>
                <c:pt idx="79">
                  <c:v>19.75</c:v>
                </c:pt>
                <c:pt idx="80">
                  <c:v>20</c:v>
                </c:pt>
                <c:pt idx="81">
                  <c:v>20.25</c:v>
                </c:pt>
                <c:pt idx="82">
                  <c:v>20.5</c:v>
                </c:pt>
                <c:pt idx="83">
                  <c:v>20.75</c:v>
                </c:pt>
                <c:pt idx="84">
                  <c:v>21</c:v>
                </c:pt>
                <c:pt idx="85">
                  <c:v>21.25</c:v>
                </c:pt>
                <c:pt idx="86">
                  <c:v>21.5</c:v>
                </c:pt>
                <c:pt idx="87">
                  <c:v>21.75</c:v>
                </c:pt>
                <c:pt idx="88">
                  <c:v>22</c:v>
                </c:pt>
                <c:pt idx="89">
                  <c:v>22.25</c:v>
                </c:pt>
                <c:pt idx="90">
                  <c:v>22.5</c:v>
                </c:pt>
                <c:pt idx="91">
                  <c:v>22.75</c:v>
                </c:pt>
                <c:pt idx="92">
                  <c:v>23</c:v>
                </c:pt>
                <c:pt idx="93">
                  <c:v>23.25</c:v>
                </c:pt>
                <c:pt idx="94">
                  <c:v>23.5</c:v>
                </c:pt>
                <c:pt idx="95">
                  <c:v>23.75</c:v>
                </c:pt>
                <c:pt idx="96">
                  <c:v>24</c:v>
                </c:pt>
                <c:pt idx="97">
                  <c:v>24.25</c:v>
                </c:pt>
                <c:pt idx="98">
                  <c:v>24.5</c:v>
                </c:pt>
                <c:pt idx="99">
                  <c:v>24.75</c:v>
                </c:pt>
                <c:pt idx="100">
                  <c:v>25</c:v>
                </c:pt>
                <c:pt idx="101">
                  <c:v>25.25</c:v>
                </c:pt>
                <c:pt idx="102">
                  <c:v>25.5</c:v>
                </c:pt>
                <c:pt idx="103">
                  <c:v>25.75</c:v>
                </c:pt>
                <c:pt idx="104">
                  <c:v>26</c:v>
                </c:pt>
                <c:pt idx="105">
                  <c:v>26.25</c:v>
                </c:pt>
                <c:pt idx="106">
                  <c:v>26.5</c:v>
                </c:pt>
                <c:pt idx="107">
                  <c:v>26.75</c:v>
                </c:pt>
                <c:pt idx="108">
                  <c:v>27</c:v>
                </c:pt>
                <c:pt idx="109">
                  <c:v>27.25</c:v>
                </c:pt>
                <c:pt idx="110">
                  <c:v>27.5</c:v>
                </c:pt>
                <c:pt idx="111">
                  <c:v>27.75</c:v>
                </c:pt>
                <c:pt idx="112">
                  <c:v>28</c:v>
                </c:pt>
                <c:pt idx="113">
                  <c:v>28.25</c:v>
                </c:pt>
                <c:pt idx="114">
                  <c:v>28.5</c:v>
                </c:pt>
                <c:pt idx="115">
                  <c:v>28.75</c:v>
                </c:pt>
                <c:pt idx="116">
                  <c:v>29</c:v>
                </c:pt>
                <c:pt idx="117">
                  <c:v>29.25</c:v>
                </c:pt>
                <c:pt idx="118">
                  <c:v>29.5</c:v>
                </c:pt>
                <c:pt idx="119">
                  <c:v>29.75</c:v>
                </c:pt>
                <c:pt idx="120">
                  <c:v>30</c:v>
                </c:pt>
                <c:pt idx="121">
                  <c:v>30.25</c:v>
                </c:pt>
                <c:pt idx="122">
                  <c:v>30.5</c:v>
                </c:pt>
                <c:pt idx="123">
                  <c:v>30.75</c:v>
                </c:pt>
                <c:pt idx="124">
                  <c:v>31</c:v>
                </c:pt>
                <c:pt idx="125">
                  <c:v>31.25</c:v>
                </c:pt>
                <c:pt idx="126">
                  <c:v>31.5</c:v>
                </c:pt>
                <c:pt idx="127">
                  <c:v>31.75</c:v>
                </c:pt>
                <c:pt idx="128">
                  <c:v>32</c:v>
                </c:pt>
                <c:pt idx="129">
                  <c:v>32.25</c:v>
                </c:pt>
                <c:pt idx="130">
                  <c:v>32.5</c:v>
                </c:pt>
                <c:pt idx="131">
                  <c:v>32.75</c:v>
                </c:pt>
                <c:pt idx="132">
                  <c:v>33</c:v>
                </c:pt>
                <c:pt idx="133">
                  <c:v>33.25</c:v>
                </c:pt>
                <c:pt idx="134">
                  <c:v>33.5</c:v>
                </c:pt>
                <c:pt idx="135">
                  <c:v>33.75</c:v>
                </c:pt>
                <c:pt idx="136">
                  <c:v>34</c:v>
                </c:pt>
                <c:pt idx="137">
                  <c:v>34.25</c:v>
                </c:pt>
                <c:pt idx="138">
                  <c:v>34.5</c:v>
                </c:pt>
                <c:pt idx="139">
                  <c:v>34.75</c:v>
                </c:pt>
                <c:pt idx="140">
                  <c:v>35</c:v>
                </c:pt>
                <c:pt idx="141">
                  <c:v>35.25</c:v>
                </c:pt>
                <c:pt idx="142">
                  <c:v>35.5</c:v>
                </c:pt>
                <c:pt idx="143">
                  <c:v>35.75</c:v>
                </c:pt>
                <c:pt idx="144">
                  <c:v>36</c:v>
                </c:pt>
                <c:pt idx="145">
                  <c:v>36.25</c:v>
                </c:pt>
                <c:pt idx="146">
                  <c:v>36.5</c:v>
                </c:pt>
                <c:pt idx="147">
                  <c:v>36.75</c:v>
                </c:pt>
                <c:pt idx="148">
                  <c:v>37</c:v>
                </c:pt>
                <c:pt idx="149">
                  <c:v>37.25</c:v>
                </c:pt>
                <c:pt idx="150">
                  <c:v>37.5</c:v>
                </c:pt>
                <c:pt idx="151">
                  <c:v>37.75</c:v>
                </c:pt>
                <c:pt idx="152">
                  <c:v>38</c:v>
                </c:pt>
                <c:pt idx="153">
                  <c:v>38.25</c:v>
                </c:pt>
                <c:pt idx="154">
                  <c:v>38.5</c:v>
                </c:pt>
                <c:pt idx="155">
                  <c:v>38.75</c:v>
                </c:pt>
                <c:pt idx="156">
                  <c:v>39</c:v>
                </c:pt>
                <c:pt idx="157">
                  <c:v>39.25</c:v>
                </c:pt>
                <c:pt idx="158">
                  <c:v>39.5</c:v>
                </c:pt>
                <c:pt idx="159">
                  <c:v>39.75</c:v>
                </c:pt>
                <c:pt idx="160">
                  <c:v>40</c:v>
                </c:pt>
              </c:numCache>
            </c:numRef>
          </c:xVal>
          <c:yVal>
            <c:numRef>
              <c:f>'Chart Data'!$B$2:$B$162</c:f>
              <c:numCache>
                <c:formatCode>General</c:formatCode>
                <c:ptCount val="161"/>
                <c:pt idx="0">
                  <c:v>0</c:v>
                </c:pt>
                <c:pt idx="1">
                  <c:v>1.33149501</c:v>
                </c:pt>
                <c:pt idx="2">
                  <c:v>2.6547809</c:v>
                </c:pt>
                <c:pt idx="3">
                  <c:v>3.9616992</c:v>
                </c:pt>
                <c:pt idx="4">
                  <c:v>5.24419229</c:v>
                </c:pt>
                <c:pt idx="5">
                  <c:v>6.4943532</c:v>
                </c:pt>
                <c:pt idx="6">
                  <c:v>7.70447426</c:v>
                </c:pt>
                <c:pt idx="7">
                  <c:v>8.86709468</c:v>
                </c:pt>
                <c:pt idx="8">
                  <c:v>9.97504651</c:v>
                </c:pt>
                <c:pt idx="9">
                  <c:v>11.02149886</c:v>
                </c:pt>
                <c:pt idx="10">
                  <c:v>12</c:v>
                </c:pt>
                <c:pt idx="11">
                  <c:v>12.90451715</c:v>
                </c:pt>
                <c:pt idx="12">
                  <c:v>13.72947367</c:v>
                </c:pt>
                <c:pt idx="13">
                  <c:v>14.46978341</c:v>
                </c:pt>
                <c:pt idx="14">
                  <c:v>15.12088213</c:v>
                </c:pt>
                <c:pt idx="15">
                  <c:v>15.67875558</c:v>
                </c:pt>
                <c:pt idx="16">
                  <c:v>16.13996429</c:v>
                </c:pt>
                <c:pt idx="17">
                  <c:v>16.50166475</c:v>
                </c:pt>
                <c:pt idx="18">
                  <c:v>16.76162696</c:v>
                </c:pt>
                <c:pt idx="19">
                  <c:v>16.91824817</c:v>
                </c:pt>
                <c:pt idx="20">
                  <c:v>16.97056275</c:v>
                </c:pt>
                <c:pt idx="21">
                  <c:v>16.91824817</c:v>
                </c:pt>
                <c:pt idx="22">
                  <c:v>16.76162696</c:v>
                </c:pt>
                <c:pt idx="23">
                  <c:v>16.50166475</c:v>
                </c:pt>
                <c:pt idx="24">
                  <c:v>16.13996429</c:v>
                </c:pt>
                <c:pt idx="25">
                  <c:v>15.67875558</c:v>
                </c:pt>
                <c:pt idx="26">
                  <c:v>15.12088213</c:v>
                </c:pt>
                <c:pt idx="27">
                  <c:v>14.46978341</c:v>
                </c:pt>
                <c:pt idx="28">
                  <c:v>13.72947367</c:v>
                </c:pt>
                <c:pt idx="29">
                  <c:v>12.90451715</c:v>
                </c:pt>
                <c:pt idx="30">
                  <c:v>12</c:v>
                </c:pt>
                <c:pt idx="31">
                  <c:v>11.02149886</c:v>
                </c:pt>
                <c:pt idx="32">
                  <c:v>9.97504651</c:v>
                </c:pt>
                <c:pt idx="33">
                  <c:v>8.86709468</c:v>
                </c:pt>
                <c:pt idx="34">
                  <c:v>7.70447426</c:v>
                </c:pt>
                <c:pt idx="35">
                  <c:v>6.4943532</c:v>
                </c:pt>
                <c:pt idx="36">
                  <c:v>5.24419229</c:v>
                </c:pt>
                <c:pt idx="37">
                  <c:v>3.9616992</c:v>
                </c:pt>
                <c:pt idx="38">
                  <c:v>2.6547809</c:v>
                </c:pt>
                <c:pt idx="39">
                  <c:v>1.33149501</c:v>
                </c:pt>
                <c:pt idx="40">
                  <c:v>0</c:v>
                </c:pt>
                <c:pt idx="41">
                  <c:v>-1.33149501</c:v>
                </c:pt>
                <c:pt idx="42">
                  <c:v>-2.6547809</c:v>
                </c:pt>
                <c:pt idx="43">
                  <c:v>-3.9616992</c:v>
                </c:pt>
                <c:pt idx="44">
                  <c:v>-5.24419229</c:v>
                </c:pt>
                <c:pt idx="45">
                  <c:v>-6.4943532</c:v>
                </c:pt>
                <c:pt idx="46">
                  <c:v>-7.70447426</c:v>
                </c:pt>
                <c:pt idx="47">
                  <c:v>-8.86709468</c:v>
                </c:pt>
                <c:pt idx="48">
                  <c:v>-9.97504651</c:v>
                </c:pt>
                <c:pt idx="49">
                  <c:v>-11.02149886</c:v>
                </c:pt>
                <c:pt idx="50">
                  <c:v>-12</c:v>
                </c:pt>
                <c:pt idx="51">
                  <c:v>-12.90451715</c:v>
                </c:pt>
                <c:pt idx="52">
                  <c:v>-13.72947367</c:v>
                </c:pt>
                <c:pt idx="53">
                  <c:v>-14.46978341</c:v>
                </c:pt>
                <c:pt idx="54">
                  <c:v>-15.12088213</c:v>
                </c:pt>
                <c:pt idx="55">
                  <c:v>-15.67875558</c:v>
                </c:pt>
                <c:pt idx="56">
                  <c:v>-16.13996429</c:v>
                </c:pt>
                <c:pt idx="57">
                  <c:v>-16.50166475</c:v>
                </c:pt>
                <c:pt idx="58">
                  <c:v>-16.76162696</c:v>
                </c:pt>
                <c:pt idx="59">
                  <c:v>-16.91824817</c:v>
                </c:pt>
                <c:pt idx="60">
                  <c:v>-16.97056275</c:v>
                </c:pt>
                <c:pt idx="61">
                  <c:v>-16.91824817</c:v>
                </c:pt>
                <c:pt idx="62">
                  <c:v>-16.76162696</c:v>
                </c:pt>
                <c:pt idx="63">
                  <c:v>-16.50166475</c:v>
                </c:pt>
                <c:pt idx="64">
                  <c:v>-16.13996429</c:v>
                </c:pt>
                <c:pt idx="65">
                  <c:v>-15.67875558</c:v>
                </c:pt>
                <c:pt idx="66">
                  <c:v>-15.12088213</c:v>
                </c:pt>
                <c:pt idx="67">
                  <c:v>-14.46978341</c:v>
                </c:pt>
                <c:pt idx="68">
                  <c:v>-13.72947367</c:v>
                </c:pt>
                <c:pt idx="69">
                  <c:v>-12.90451715</c:v>
                </c:pt>
                <c:pt idx="70">
                  <c:v>-12</c:v>
                </c:pt>
                <c:pt idx="71">
                  <c:v>-11.02149886</c:v>
                </c:pt>
                <c:pt idx="72">
                  <c:v>-9.97504651</c:v>
                </c:pt>
                <c:pt idx="73">
                  <c:v>-8.86709468</c:v>
                </c:pt>
                <c:pt idx="74">
                  <c:v>-7.70447426</c:v>
                </c:pt>
                <c:pt idx="75">
                  <c:v>-6.4943532</c:v>
                </c:pt>
                <c:pt idx="76">
                  <c:v>-5.24419229</c:v>
                </c:pt>
                <c:pt idx="77">
                  <c:v>-3.9616992</c:v>
                </c:pt>
                <c:pt idx="78">
                  <c:v>-2.6547809</c:v>
                </c:pt>
                <c:pt idx="79">
                  <c:v>-1.33149501</c:v>
                </c:pt>
                <c:pt idx="80">
                  <c:v>-0</c:v>
                </c:pt>
                <c:pt idx="81">
                  <c:v>1.33149501</c:v>
                </c:pt>
                <c:pt idx="82">
                  <c:v>2.6547809</c:v>
                </c:pt>
                <c:pt idx="83">
                  <c:v>3.9616992</c:v>
                </c:pt>
                <c:pt idx="84">
                  <c:v>5.24419229</c:v>
                </c:pt>
                <c:pt idx="85">
                  <c:v>6.4943532</c:v>
                </c:pt>
                <c:pt idx="86">
                  <c:v>7.70447426</c:v>
                </c:pt>
                <c:pt idx="87">
                  <c:v>8.86709468</c:v>
                </c:pt>
                <c:pt idx="88">
                  <c:v>9.97504651</c:v>
                </c:pt>
                <c:pt idx="89">
                  <c:v>11.02149886</c:v>
                </c:pt>
                <c:pt idx="90">
                  <c:v>12</c:v>
                </c:pt>
                <c:pt idx="91">
                  <c:v>12.90451715</c:v>
                </c:pt>
                <c:pt idx="92">
                  <c:v>13.72947367</c:v>
                </c:pt>
                <c:pt idx="93">
                  <c:v>14.46978341</c:v>
                </c:pt>
                <c:pt idx="94">
                  <c:v>15.12088213</c:v>
                </c:pt>
                <c:pt idx="95">
                  <c:v>15.67875558</c:v>
                </c:pt>
                <c:pt idx="96">
                  <c:v>16.13996429</c:v>
                </c:pt>
                <c:pt idx="97">
                  <c:v>16.50166475</c:v>
                </c:pt>
                <c:pt idx="98">
                  <c:v>16.76162696</c:v>
                </c:pt>
                <c:pt idx="99">
                  <c:v>16.91824817</c:v>
                </c:pt>
                <c:pt idx="100">
                  <c:v>16.97056275</c:v>
                </c:pt>
                <c:pt idx="101">
                  <c:v>16.91824817</c:v>
                </c:pt>
                <c:pt idx="102">
                  <c:v>16.76162696</c:v>
                </c:pt>
                <c:pt idx="103">
                  <c:v>16.50166475</c:v>
                </c:pt>
                <c:pt idx="104">
                  <c:v>16.13996429</c:v>
                </c:pt>
                <c:pt idx="105">
                  <c:v>15.67875558</c:v>
                </c:pt>
                <c:pt idx="106">
                  <c:v>15.12088213</c:v>
                </c:pt>
                <c:pt idx="107">
                  <c:v>14.46978341</c:v>
                </c:pt>
                <c:pt idx="108">
                  <c:v>13.72947367</c:v>
                </c:pt>
                <c:pt idx="109">
                  <c:v>12.90451715</c:v>
                </c:pt>
                <c:pt idx="110">
                  <c:v>12</c:v>
                </c:pt>
                <c:pt idx="111">
                  <c:v>11.02149886</c:v>
                </c:pt>
                <c:pt idx="112">
                  <c:v>9.97504651</c:v>
                </c:pt>
                <c:pt idx="113">
                  <c:v>8.86709468</c:v>
                </c:pt>
                <c:pt idx="114">
                  <c:v>7.70447426</c:v>
                </c:pt>
                <c:pt idx="115">
                  <c:v>6.4943532</c:v>
                </c:pt>
                <c:pt idx="116">
                  <c:v>5.24419229</c:v>
                </c:pt>
                <c:pt idx="117">
                  <c:v>3.9616992</c:v>
                </c:pt>
                <c:pt idx="118">
                  <c:v>2.6547809</c:v>
                </c:pt>
                <c:pt idx="119">
                  <c:v>1.33149501</c:v>
                </c:pt>
                <c:pt idx="120">
                  <c:v>0</c:v>
                </c:pt>
                <c:pt idx="121">
                  <c:v>-1.33149501</c:v>
                </c:pt>
                <c:pt idx="122">
                  <c:v>-2.6547809</c:v>
                </c:pt>
                <c:pt idx="123">
                  <c:v>-3.9616992</c:v>
                </c:pt>
                <c:pt idx="124">
                  <c:v>-5.24419229</c:v>
                </c:pt>
                <c:pt idx="125">
                  <c:v>-6.4943532</c:v>
                </c:pt>
                <c:pt idx="126">
                  <c:v>-7.70447426</c:v>
                </c:pt>
                <c:pt idx="127">
                  <c:v>-8.86709468</c:v>
                </c:pt>
                <c:pt idx="128">
                  <c:v>-9.97504651</c:v>
                </c:pt>
                <c:pt idx="129">
                  <c:v>-11.02149886</c:v>
                </c:pt>
                <c:pt idx="130">
                  <c:v>-12</c:v>
                </c:pt>
                <c:pt idx="131">
                  <c:v>-12.90451715</c:v>
                </c:pt>
                <c:pt idx="132">
                  <c:v>-13.72947367</c:v>
                </c:pt>
                <c:pt idx="133">
                  <c:v>-14.46978341</c:v>
                </c:pt>
                <c:pt idx="134">
                  <c:v>-15.12088213</c:v>
                </c:pt>
                <c:pt idx="135">
                  <c:v>-15.67875558</c:v>
                </c:pt>
                <c:pt idx="136">
                  <c:v>-16.13996429</c:v>
                </c:pt>
                <c:pt idx="137">
                  <c:v>-16.50166475</c:v>
                </c:pt>
                <c:pt idx="138">
                  <c:v>-16.76162696</c:v>
                </c:pt>
                <c:pt idx="139">
                  <c:v>-16.91824817</c:v>
                </c:pt>
                <c:pt idx="140">
                  <c:v>-16.97056275</c:v>
                </c:pt>
                <c:pt idx="141">
                  <c:v>-16.91824817</c:v>
                </c:pt>
                <c:pt idx="142">
                  <c:v>-16.76162696</c:v>
                </c:pt>
                <c:pt idx="143">
                  <c:v>-16.50166475</c:v>
                </c:pt>
                <c:pt idx="144">
                  <c:v>-16.13996429</c:v>
                </c:pt>
                <c:pt idx="145">
                  <c:v>-15.67875558</c:v>
                </c:pt>
                <c:pt idx="146">
                  <c:v>-15.12088213</c:v>
                </c:pt>
                <c:pt idx="147">
                  <c:v>-14.46978341</c:v>
                </c:pt>
                <c:pt idx="148">
                  <c:v>-13.72947367</c:v>
                </c:pt>
                <c:pt idx="149">
                  <c:v>-12.90451715</c:v>
                </c:pt>
                <c:pt idx="150">
                  <c:v>-12</c:v>
                </c:pt>
                <c:pt idx="151">
                  <c:v>-11.02149886</c:v>
                </c:pt>
                <c:pt idx="152">
                  <c:v>-9.97504651</c:v>
                </c:pt>
                <c:pt idx="153">
                  <c:v>-8.86709468</c:v>
                </c:pt>
                <c:pt idx="154">
                  <c:v>-7.70447426</c:v>
                </c:pt>
                <c:pt idx="155">
                  <c:v>-6.4943532</c:v>
                </c:pt>
                <c:pt idx="156">
                  <c:v>-5.24419229</c:v>
                </c:pt>
                <c:pt idx="157">
                  <c:v>-3.9616992</c:v>
                </c:pt>
                <c:pt idx="158">
                  <c:v>-2.6547809</c:v>
                </c:pt>
                <c:pt idx="159">
                  <c:v>-1.33149501</c:v>
                </c:pt>
                <c:pt idx="160">
                  <c:v>-0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0"/>
          <c:min val="-2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7EE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Spänning (V)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"/>
      </c:valAx>
      <c:valAx>
        <c:axId val="48650112"/>
        <c:scaling>
          <c:orientation val="minMax"/>
          <c:max val="40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Calibri"/>
                    <a:ea typeface="Calibri"/>
                    <a:cs typeface="Calibri"/>
                  </a:rPr>
                  <a:t>Tid (ms)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b59b7a1fb846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f20a46a9cd490b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1C68A519-5C2F-4ADA-8D1B-2915957F9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314D241-D727-4F62-9DDC-CED970349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Sinusformad växelspänning</a:t>
            </a:r>
          </a:p>
        </p:txBody>
      </p:sp>
      <p:sp>
        <p:nvSpPr>
          <p:cNvPr id="13" name="Period, frekvens, toppvärde och effektivvärde">
            <a:extLst xmlns:a="http://schemas.openxmlformats.org/drawingml/2006/main">
              <a:ext uri="{FF2B5EF4-FFF2-40B4-BE49-F238E27FC236}">
                <a16:creationId xmlns:a16="http://schemas.microsoft.com/office/drawing/2014/main" id="{71DEC4CA-7C23-4868-A36F-13163BEDC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Period, frekvens, toppvärde och effektivvärde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51AE8A25-D656-4627-9221-6994440B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0ff7acf47544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FC087E38-24B8-4390-A470-171A4B90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här behövs i labben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1A327D7A-75B0-4711-BCCD-6AF044A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hitta en hel period och kurvans högsta 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Du ska kunna förklara varför en multimeter och kurvans topp visar olika 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Basdelen använder sinus, 12,00 V RMS och 50 Hz. Station B är ett senare, utökat försök.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AB055349-C913-4DA4-AAEF-3C07FCB0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D685F21-ACC8-4690-A04E-30DEFACEE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516a5b45745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73C849-9725-4670-B00D-B19CF87B8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 över tid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78b578c5db4d9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E7E198F2-1BA5-4B75-911A-4EA57EC67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vågräta axeln visar tid i millisekunder. Den lodräta visar spänning i volt.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går över och under noll. Spänningens polaritet växlar.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går från en stigande nollpassage till nästa stigande nollpassage.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B0C29A2D-ECFF-47EF-912E-834529A9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ADE5B8C-4E29-4290-A758-52AFEBDD3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cff0e3ded34ac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EBF8A642-F295-478D-9568-8CA871756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Periodtid och frekvens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1d2de372f734ba9"/>
          </a:graphicData>
        </a:graphic>
      </p:graphicFrame>
      <p:sp>
        <p:nvSpPr>
          <p:cNvPr id="11" name="period-label">
            <a:extLst xmlns:a="http://schemas.openxmlformats.org/drawingml/2006/main">
              <a:ext uri="{FF2B5EF4-FFF2-40B4-BE49-F238E27FC236}">
                <a16:creationId xmlns:a16="http://schemas.microsoft.com/office/drawing/2014/main" id="{59320ED9-579C-4F64-BF6D-8396697C0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362075"/>
            <a:ext cx="295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hel period: 0 till 20 ms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9E45233-63F6-45F4-A44A-836A92A56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Frekvens f är antal perioder per sekund. Enheten är hertz,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50 Hz: T = 1/50 = 0,020 s = 20,00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På kurvan är avståndet mellan motsvarande punkter 20 ms.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C6A60F1A-CBFC-4085-822F-9181FCE0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 = 1/f     T i ms = 1 000/f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5B87CD48-7E03-41B1-91A1-D9E014D44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3ACDD28B-8335-40BB-9E7E-E693A331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db4787d7e04fb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223FF91-0A2D-4EB6-A96D-9AD26D39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Toppvärde och topp till topp</a:t>
            </a:r>
          </a:p>
        </p:txBody>
      </p:sp>
      <p:graphicFrame>
        <p:nvGraphicFramePr>
          <p:cNvPr id="18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2831535db414bd1"/>
          </a:graphicData>
        </a:graphic>
      </p:graphicFrame>
      <p:sp>
        <p:nvSpPr>
          <p:cNvPr id="11" name="peak-label">
            <a:extLst xmlns:a="http://schemas.openxmlformats.org/drawingml/2006/main">
              <a:ext uri="{FF2B5EF4-FFF2-40B4-BE49-F238E27FC236}">
                <a16:creationId xmlns:a16="http://schemas.microsoft.com/office/drawing/2014/main" id="{D3C25ABC-2A41-44D4-B30C-338048ABE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136207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Topp från noll: 16,97 V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0845828-32FA-4835-B117-40C37D47E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Toppvärdet û mäts från noll till den positiva toppen.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 till topp, Upp, går från negativ topp till positiv topp.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vår sinus: û ≈ 16,97 V och Upp ≈ 33,94 V.</a:t>
            </a:r>
          </a:p>
        </p:txBody>
      </p:sp>
      <p:sp>
        <p:nvSpPr>
          <p:cNvPr id="13" name="formula">
            <a:extLst xmlns:a="http://schemas.openxmlformats.org/drawingml/2006/main">
              <a:ext uri="{FF2B5EF4-FFF2-40B4-BE49-F238E27FC236}">
                <a16:creationId xmlns:a16="http://schemas.microsoft.com/office/drawing/2014/main" id="{D1C32827-549D-442A-826A-1D5D52727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Upp = 2 · û</a:t>
            </a:r>
          </a:p>
        </p:txBody>
      </p:sp>
      <p:sp>
        <p:nvSpPr>
          <p:cNvPr id="14" name="section">
            <a:extLst xmlns:a="http://schemas.openxmlformats.org/drawingml/2006/main">
              <a:ext uri="{FF2B5EF4-FFF2-40B4-BE49-F238E27FC236}">
                <a16:creationId xmlns:a16="http://schemas.microsoft.com/office/drawing/2014/main" id="{215F48C6-4C1B-4653-9B97-5FAA8119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5" name="page">
            <a:extLst xmlns:a="http://schemas.openxmlformats.org/drawingml/2006/main">
              <a:ext uri="{FF2B5EF4-FFF2-40B4-BE49-F238E27FC236}">
                <a16:creationId xmlns:a16="http://schemas.microsoft.com/office/drawing/2014/main" id="{F729C037-1891-43AF-847C-0FED2E6E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fd4ff6248240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AE807B-6D83-4F49-B7C3-EC29EC7A2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Effektivvärdet beskriver värmeeffekten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136C8B4C-BFC8-46E0-B52A-280C4BB99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Multimeter, 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C0A56AE-42CC-4B47-9720-60B4580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E659F7A7-6E8D-4684-929B-A24536F77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Kurvans topp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5ACC3EFA-8C29-4716-A58A-19271F5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16,97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CECD8F8B-4716-4A32-A82B-2937E88C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12,00 V RMS över en resistor ger samma medeleffekt som 12,00 V likspänning över samma resistor.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RMS kallas effektivvärde. Multimetern i AC-läge visar här 12,00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Sinusens topp är högre eftersom spänningen bara når toppen under en kort del av perioden.</a:t>
            </a:r>
          </a:p>
        </p:txBody>
      </p:sp>
      <p:sp>
        <p:nvSpPr>
          <p:cNvPr id="15" name="formula">
            <a:extLst xmlns:a="http://schemas.openxmlformats.org/drawingml/2006/main">
              <a:ext uri="{FF2B5EF4-FFF2-40B4-BE49-F238E27FC236}">
                <a16:creationId xmlns:a16="http://schemas.microsoft.com/office/drawing/2014/main" id="{F93CBAE8-6391-491B-929C-897E30001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552825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û = √2 · U = √2 · 12,00 ≈ 16,97 V</a:t>
            </a:r>
          </a:p>
        </p:txBody>
      </p:sp>
      <p:sp>
        <p:nvSpPr>
          <p:cNvPr id="16" name="section">
            <a:extLst xmlns:a="http://schemas.openxmlformats.org/drawingml/2006/main">
              <a:ext uri="{FF2B5EF4-FFF2-40B4-BE49-F238E27FC236}">
                <a16:creationId xmlns:a16="http://schemas.microsoft.com/office/drawing/2014/main" id="{733AB601-5AD4-4E31-8494-364D7B44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7" name="page">
            <a:extLst xmlns:a="http://schemas.openxmlformats.org/drawingml/2006/main">
              <a:ext uri="{FF2B5EF4-FFF2-40B4-BE49-F238E27FC236}">
                <a16:creationId xmlns:a16="http://schemas.microsoft.com/office/drawing/2014/main" id="{495A4DEA-4AAC-4F11-8DAD-09E7BD1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5a024022404e7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230AE83B-6E10-48AF-9324-BB78DE32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räkneexempel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BF4C775-CEF9-4EFD-9C25-675A893B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Givet: sinus, U = 10,00 V RMS och f =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Period: T = 1 000/50 = 20,00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Topp: û = 10,00 · √2 ≈ 14,14 V. Topp till topp: 28,28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Pröva sedan själv med 12,00 V RMS. Skriv förväntat värde före avläsningen.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AD7E56B-1990-4179-9F16-5D1EA3D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6077810-0813-4B51-9269-EBB9B1CFA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d211cfed444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C483EA55-AB96-4596-8623-3A2975DC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Instrumentkontroll före mätningen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D9A36E47-F692-4883-AA97-A85C4A5C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True RMS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2E80B963-170B-41CB-8CCB-64AFB5B5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37225E30-B52C-42FB-AC53-098B03189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28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Sinuskalibrerad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0F3EE65-B546-460F-8041-D883FE531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71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10,00 V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E1DCEFD-383B-4927-81D7-C12D1166E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I simulatorn väljer grunduppgiften en kalibrator på 10,00 V sinus.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visningen. Läs sedan av både true RMS-mätaren och den sinuskalibrerade mätaren.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Båda visar 10,00 V för denna ideala sinus. Kontrollen dokumenteras för båda instrumenten.</a:t>
            </a:r>
          </a:p>
        </p:txBody>
      </p:sp>
      <p:sp>
        <p:nvSpPr>
          <p:cNvPr id="15" name="section">
            <a:extLst xmlns:a="http://schemas.openxmlformats.org/drawingml/2006/main">
              <a:ext uri="{FF2B5EF4-FFF2-40B4-BE49-F238E27FC236}">
                <a16:creationId xmlns:a16="http://schemas.microsoft.com/office/drawing/2014/main" id="{BE08DD8C-2C2F-46E8-A89A-DE09D45B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BC480966-7F56-495F-B28D-2C0C46A3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96d33ba7aa4b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DABF7100-E82B-4D1C-B160-ABF3EC162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protokollrad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B38414D-923A-430C-90E5-1E98ADD2A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Förutsäg periodtiden vid 50 Hz: 20,00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Läs av simulatorn och registrera 20,00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Jämför: avläst − förväntat = 0,00 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Förklara: en hel period tar 20 ms. Frekvensen är 50 perioder per sekund.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7860C59D-1395-4123-B438-378564C3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B016A708-78DC-4921-9CF0-477656845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adcd2bc3654c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5679B69D-FCE1-4A6E-9DC0-92EBD76C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Medelvärde och RMS är olika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857250" y="1352550"/>
          <a:ext xmlns:a="http://schemas.openxmlformats.org/drawingml/2006/main" cx="7429500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7b8378fbc94007"/>
          </a:graphicData>
        </a:graphic>
      </p:graphicFrame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CFCF6AEC-4A08-4A1B-B2D7-F26DB171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Den symmetriska sinusens positiva och negativa delar tar ut varandra. Vanligt medelvärde över en hel period är 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Resistorn blir ändå varm. Båda halvperioderna bidrar till u²/R.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vår källa: vanligt medelvärde 0 V, RMS 12,00 V och topp 16,97 V.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C77872D-BA53-46CF-9528-C1C82878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CBC1ACFC-4B8A-4CD2-9E6F-49E57BA6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5a5b0efdfa4a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962C62C-109D-441A-9E4A-67632189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Eget försök med andra värden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8BAD7154-9510-4220-A4BE-FE50A6F6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sinus har U = 24,00 V RMS och f = 100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Beräkna T och û. Ange både tal och enhet.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vilken avläsning en true RMS-multimeter visar.</a:t>
            </a:r>
          </a:p>
        </p:txBody>
      </p:sp>
      <p:sp>
        <p:nvSpPr>
          <p:cNvPr id="11" name="check">
            <a:extLst xmlns:a="http://schemas.openxmlformats.org/drawingml/2006/main">
              <a:ext uri="{FF2B5EF4-FFF2-40B4-BE49-F238E27FC236}">
                <a16:creationId xmlns:a16="http://schemas.microsoft.com/office/drawing/2014/main" id="{B70753C7-C3B8-4F47-B62B-24102E19E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762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Räkna innan facit visas.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9B1C64DD-2273-42DB-B85F-C12446C1D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56C39C5B-E2A3-490F-AB9A-BF7FF13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7a905c4e284c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768C19FF-3F32-4696-8C05-BA05833A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momentanvärde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46CF4177-6412-4786-B0E5-13C9F10B8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Momentanvärdet u(t) gäller en bestämd tidpunkt.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Exempel: U = 10 V RMS, f = 50 Hz, t = 3 ms = 0,003 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û = 10√2 ≈ 14,14 V. Vinkeln 2πft ≈ 0,9425 rad.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u = 14,14 · sin(0,9425) ≈ 11,44 V. Räknaren ska stå i RAD.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A1C56A8B-AE69-44B9-B96A-9B246FD4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u(t) = û · sin(2πft)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77E6A15A-B27F-404F-A31E-CE18B0C8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D18C590D-2246-402D-B65B-6D4082600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6b1c64d0745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170F42CD-12B2-4F03-B87D-BFE40D626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tid och fas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C69BD07-3F9C-4665-B1B3-DF1300816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hel period motsvarar 360°.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50 Hz är T = 20 ms. Ett tidsavstånd på 2,5 ms ger 360 · 2,5/20 = 45°.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Kurvan som når motsvarande punkt först leder. Den andra släpar.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78D23C7F-F98E-4E62-BAA9-E760ADFE5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|φ| = 360° · Δt/T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5B954A59-8BE6-49ED-86C3-9ABC249B9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FDE5888-34E6-4730-9700-98A0E8CF5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a86cb939f64d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64139A4-EEB9-4FE9-A85D-519726169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likriktat medelvärde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47F45F4-4911-4E27-8C54-AF316525A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286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Vid likriktning speglas den negativa halvperioden uppåt. Medelvärdet av |u| blir positivt.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 sinus: medel(|u|) = 2û/π. Vid 12,00 V RMS blir det cirka 10,80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En medelvärdesmätande, sinuskalibrerad mätare multiplicerar detta med cirka 1,11072 och visar 12,00 V.</a:t>
            </a:r>
          </a:p>
        </p:txBody>
      </p:sp>
      <p:sp>
        <p:nvSpPr>
          <p:cNvPr id="11" name="formula">
            <a:extLst xmlns:a="http://schemas.openxmlformats.org/drawingml/2006/main">
              <a:ext uri="{FF2B5EF4-FFF2-40B4-BE49-F238E27FC236}">
                <a16:creationId xmlns:a16="http://schemas.microsoft.com/office/drawing/2014/main" id="{48018A5C-3BFB-4654-B48D-A8306698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Visning = π/(2√2) · medel(|u|)</a:t>
            </a:r>
          </a:p>
        </p:txBody>
      </p:sp>
      <p:sp>
        <p:nvSpPr>
          <p:cNvPr id="12" name="section">
            <a:extLst xmlns:a="http://schemas.openxmlformats.org/drawingml/2006/main">
              <a:ext uri="{FF2B5EF4-FFF2-40B4-BE49-F238E27FC236}">
                <a16:creationId xmlns:a16="http://schemas.microsoft.com/office/drawing/2014/main" id="{FEF19FF0-D18D-4845-8331-056215CD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3" name="page">
            <a:extLst xmlns:a="http://schemas.openxmlformats.org/drawingml/2006/main">
              <a:ext uri="{FF2B5EF4-FFF2-40B4-BE49-F238E27FC236}">
                <a16:creationId xmlns:a16="http://schemas.microsoft.com/office/drawing/2014/main" id="{A123CB10-80AE-4F10-9249-8286CFFBF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be0d361f6e45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6FFAB6AA-DA28-47D7-B0AC-69E28B4A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samma RMS, olika visning</a:t>
            </a:r>
          </a:p>
        </p:txBody>
      </p:sp>
      <p:sp>
        <p:nvSpPr>
          <p:cNvPr id="10" name="meter-label-0">
            <a:extLst xmlns:a="http://schemas.openxmlformats.org/drawingml/2006/main">
              <a:ext uri="{FF2B5EF4-FFF2-40B4-BE49-F238E27FC236}">
                <a16:creationId xmlns:a16="http://schemas.microsoft.com/office/drawing/2014/main" id="{B7A7C537-6970-4975-8577-F9323898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4763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</a:t>
            </a:r>
          </a:p>
        </p:txBody>
      </p:sp>
      <p:sp>
        <p:nvSpPr>
          <p:cNvPr id="11" name="meter-value-0">
            <a:extLst xmlns:a="http://schemas.openxmlformats.org/drawingml/2006/main">
              <a:ext uri="{FF2B5EF4-FFF2-40B4-BE49-F238E27FC236}">
                <a16:creationId xmlns:a16="http://schemas.microsoft.com/office/drawing/2014/main" id="{F74AF3B0-67F9-4F0E-A243-2E93C7E72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4192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12,00 V</a:t>
            </a:r>
          </a:p>
        </p:txBody>
      </p:sp>
      <p:sp>
        <p:nvSpPr>
          <p:cNvPr id="12" name="meter-label-1">
            <a:extLst xmlns:a="http://schemas.openxmlformats.org/drawingml/2006/main">
              <a:ext uri="{FF2B5EF4-FFF2-40B4-BE49-F238E27FC236}">
                <a16:creationId xmlns:a16="http://schemas.microsoft.com/office/drawing/2014/main" id="{FDC5E835-7269-4BBB-A79D-585E69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431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</a:t>
            </a:r>
          </a:p>
        </p:txBody>
      </p:sp>
      <p:sp>
        <p:nvSpPr>
          <p:cNvPr id="13" name="meter-value-1">
            <a:extLst xmlns:a="http://schemas.openxmlformats.org/drawingml/2006/main">
              <a:ext uri="{FF2B5EF4-FFF2-40B4-BE49-F238E27FC236}">
                <a16:creationId xmlns:a16="http://schemas.microsoft.com/office/drawing/2014/main" id="{C12742ED-FD2E-48DF-B3C9-D5E41C64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08597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13,33 V</a:t>
            </a:r>
          </a:p>
        </p:txBody>
      </p:sp>
      <p:sp>
        <p:nvSpPr>
          <p:cNvPr id="14" name="meter-label-2">
            <a:extLst xmlns:a="http://schemas.openxmlformats.org/drawingml/2006/main">
              <a:ext uri="{FF2B5EF4-FFF2-40B4-BE49-F238E27FC236}">
                <a16:creationId xmlns:a16="http://schemas.microsoft.com/office/drawing/2014/main" id="{B8518814-19E3-4565-B36F-3EA21A76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0987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</a:t>
            </a:r>
          </a:p>
        </p:txBody>
      </p:sp>
      <p:sp>
        <p:nvSpPr>
          <p:cNvPr id="15" name="meter-value-2">
            <a:extLst xmlns:a="http://schemas.openxmlformats.org/drawingml/2006/main">
              <a:ext uri="{FF2B5EF4-FFF2-40B4-BE49-F238E27FC236}">
                <a16:creationId xmlns:a16="http://schemas.microsoft.com/office/drawing/2014/main" id="{7C37CA11-F637-4B36-AEC4-53A92FF8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752725"/>
            <a:ext cx="2762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11,54 V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F0F2B345-4986-46D4-8678-C854990DC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7620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Alla tre signalerna har 12,00 V RMS och inget DC-innehåll.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Sinus: topp 16,97 V. Den sinuskalibrerade mätaren visar 12,00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Fyrkant: topp 12,00 V. Medel(|u|) = 12,00 V. Visning ≈ 13,33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65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Triangel: topp = √3 · 12 ≈ 20,78 V. Medel(|u|) = û/2. Visning ≈ 11,54 V.</a:t>
            </a:r>
          </a:p>
        </p:txBody>
      </p:sp>
      <p:sp>
        <p:nvSpPr>
          <p:cNvPr id="17" name="section">
            <a:extLst xmlns:a="http://schemas.openxmlformats.org/drawingml/2006/main">
              <a:ext uri="{FF2B5EF4-FFF2-40B4-BE49-F238E27FC236}">
                <a16:creationId xmlns:a16="http://schemas.microsoft.com/office/drawing/2014/main" id="{9730A28B-D8F6-4BA3-98D4-EAA6D06C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8" name="page">
            <a:extLst xmlns:a="http://schemas.openxmlformats.org/drawingml/2006/main">
              <a:ext uri="{FF2B5EF4-FFF2-40B4-BE49-F238E27FC236}">
                <a16:creationId xmlns:a16="http://schemas.microsoft.com/office/drawing/2014/main" id="{61B2B049-E507-4518-AFF6-95E1EDD03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dc44925af749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AC0737DC-5390-42B9-9AC8-A7E7AC57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Fördjupning: Station B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0229CB0-E606-47FD-A1E1-FF7223749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Stationsmodellen är märkt 12 V ±0,5 V och ger 12,35 V RMS vid 50 Hz.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Använd avlästa 12,35 V när du förutsäger toppen: cirka 17,47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Fyrkant ger cirka 13,72 V på den sinuskalibrerade mätaren, trots att RMS är 12,35 V.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Att visningen stämmer med mätarmodellen betyder inte att den visar korrekt RMS.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13E83441-71C3-455A-A6C2-B073C5E1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9DE7BA6-3FB2-4E2A-8009-6FC6F344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0bf77cdbb64f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title">
            <a:extLst xmlns:a="http://schemas.openxmlformats.org/drawingml/2006/main">
              <a:ext uri="{FF2B5EF4-FFF2-40B4-BE49-F238E27FC236}">
                <a16:creationId xmlns:a16="http://schemas.microsoft.com/office/drawing/2014/main" id="{4F3A706E-8A75-4E8E-BA66-BDD3D02E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28625"/>
            <a:ext cx="800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Inför nästa del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A480D0F-7E52-40C4-B778-625E7178E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Genomför grunduppgifterna och spara protokollet.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Förklara med egna ord skillnaden mellan RMS, topp och vanligt medelvärde.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72F43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72F43"/>
                </a:solidFill>
                <a:latin typeface="Calibri"/>
                <a:ea typeface="Calibri"/>
                <a:cs typeface="Calibri"/>
              </a:rPr>
              <a:t>Fysisk anslutning, oscilloskopets inställningar och godkända mätpunkter övas på den verkliga stationen.</a:t>
            </a:r>
          </a:p>
        </p:txBody>
      </p:sp>
      <p:sp>
        <p:nvSpPr>
          <p:cNvPr id="11" name="section">
            <a:extLst xmlns:a="http://schemas.openxmlformats.org/drawingml/2006/main">
              <a:ext uri="{FF2B5EF4-FFF2-40B4-BE49-F238E27FC236}">
                <a16:creationId xmlns:a16="http://schemas.microsoft.com/office/drawing/2014/main" id="{E4C4A516-CEE2-411B-8DF9-7A025726C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4198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Grunddel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23A670A8-23CE-446D-860E-D21DECB1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38900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2026-09-25T19:30:47.0860000Z</dcterms:created>
  <dcterms:modified xsi:type="dcterms:W3CDTF">2026-09-25T19:30:47.0860000Z</dcterms:modified>
</coreProperties>
</file>