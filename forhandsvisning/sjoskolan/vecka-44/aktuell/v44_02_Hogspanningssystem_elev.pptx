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7dedc42e9f94369" Type="http://schemas.openxmlformats.org/package/2006/relationships/metadata/core-properties" Target="docProps/core.xml"/><Relationship Id="R5afe1ec61653499a" Type="http://schemas.openxmlformats.org/officeDocument/2006/relationships/officeDocument" Target="ppt/presentation.xml"/><Relationship Id="R848b5663402f43e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61b3d9093cb244ed"/>
  </p:sldMasterIdLst>
  <p:sldIdLst>
    <p:sldId id="256" r:id="R3cb63fcd01be4ac1"/>
    <p:sldId id="257" r:id="R97d280781ceb47be"/>
    <p:sldId id="258" r:id="R71dfaeb3ed9e4dbe"/>
    <p:sldId id="259" r:id="R830635b909c74e32"/>
    <p:sldId id="260" r:id="Ra4869b894a164db4"/>
    <p:sldId id="261" r:id="R792aea2eefa44c29"/>
    <p:sldId id="262" r:id="Re8a499ac718047b3"/>
    <p:sldId id="263" r:id="R36606c408d3b4ec4"/>
    <p:sldId id="264" r:id="Rf552040013594164"/>
    <p:sldId id="265" r:id="Reba2c0ba36f94e8c"/>
    <p:sldId id="266" r:id="R5e2c6afd36a3494c"/>
    <p:sldId id="267" r:id="Rd42af36816e049fa"/>
    <p:sldId id="268" r:id="Rb22e9fb206864ad5"/>
    <p:sldId id="269" r:id="Rd85444ccea5b4f1d"/>
    <p:sldId id="270" r:id="Rfd179fcbc22d4b27"/>
    <p:sldId id="271" r:id="R9cc723b1cde1457e"/>
    <p:sldId id="272" r:id="Ra363e76e1838445d"/>
    <p:sldId id="273" r:id="Rcdc78859a8c4496d"/>
    <p:sldId id="274" r:id="R5053fb0864024e58"/>
    <p:sldId id="275" r:id="R88ea87fdc23b4b4b"/>
    <p:sldId id="276" r:id="R6cb80cdb3b924b1a"/>
    <p:sldId id="277" r:id="R2efb65e0e69c4a86"/>
    <p:sldId id="278" r:id="R21137078e6bb4e74"/>
    <p:sldId id="279" r:id="R2558072021fc4dae"/>
    <p:sldId id="280" r:id="R2d03a154f409474f"/>
    <p:sldId id="281" r:id="R87f76ef004dd4627"/>
    <p:sldId id="282" r:id="Rdc149eb74eb24c71"/>
    <p:sldId id="283" r:id="R9cafc4032606437e"/>
    <p:sldId id="284" r:id="R06d1d57b2f2d4741"/>
    <p:sldId id="285" r:id="R1b7955fd80b34bf3"/>
    <p:sldId id="286" r:id="R3120471a8bb94c16"/>
    <p:sldId id="287" r:id="R352c198b82a64339"/>
    <p:sldId id="288" r:id="Rbaf6f03e32884a6d"/>
    <p:sldId id="289" r:id="Rdc88ad4fdf774abc"/>
    <p:sldId id="292" r:id="rId42"/>
    <p:sldId id="290" r:id="Red68136c4f0b430d"/>
    <p:sldId id="291" r:id="R11d41177408f4e3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6d1d57b2f2d4741" Type="http://schemas.openxmlformats.org/officeDocument/2006/relationships/slide" Target="slides/slide29.xml"/><Relationship Id="R11d41177408f4e34" Type="http://schemas.openxmlformats.org/officeDocument/2006/relationships/slide" Target="slides/slide37.xml"/><Relationship Id="R1b7955fd80b34bf3" Type="http://schemas.openxmlformats.org/officeDocument/2006/relationships/slide" Target="slides/slide30.xml"/><Relationship Id="R21137078e6bb4e74" Type="http://schemas.openxmlformats.org/officeDocument/2006/relationships/slide" Target="slides/slide23.xml"/><Relationship Id="R2558072021fc4dae" Type="http://schemas.openxmlformats.org/officeDocument/2006/relationships/slide" Target="slides/slide24.xml"/><Relationship Id="R2d03a154f409474f" Type="http://schemas.openxmlformats.org/officeDocument/2006/relationships/slide" Target="slides/slide25.xml"/><Relationship Id="R2efb65e0e69c4a86" Type="http://schemas.openxmlformats.org/officeDocument/2006/relationships/slide" Target="slides/slide22.xml"/><Relationship Id="R3120471a8bb94c16" Type="http://schemas.openxmlformats.org/officeDocument/2006/relationships/slide" Target="slides/slide31.xml"/><Relationship Id="R3172f73d48524200" Type="http://schemas.openxmlformats.org/officeDocument/2006/relationships/presProps" Target="presProps.xml"/><Relationship Id="R352c198b82a64339" Type="http://schemas.openxmlformats.org/officeDocument/2006/relationships/slide" Target="slides/slide32.xml"/><Relationship Id="R36606c408d3b4ec4" Type="http://schemas.openxmlformats.org/officeDocument/2006/relationships/slide" Target="slides/slide8.xml"/><Relationship Id="R3cb63fcd01be4ac1" Type="http://schemas.openxmlformats.org/officeDocument/2006/relationships/slide" Target="slides/slide1.xml"/><Relationship Id="R5053fb0864024e58" Type="http://schemas.openxmlformats.org/officeDocument/2006/relationships/slide" Target="slides/slide19.xml"/><Relationship Id="R5e2c6afd36a3494c" Type="http://schemas.openxmlformats.org/officeDocument/2006/relationships/slide" Target="slides/slide11.xml"/><Relationship Id="R61b3d9093cb244ed" Type="http://schemas.openxmlformats.org/officeDocument/2006/relationships/slideMaster" Target="slideMasters/slideMaster1.xml"/><Relationship Id="R6cb80cdb3b924b1a" Type="http://schemas.openxmlformats.org/officeDocument/2006/relationships/slide" Target="slides/slide21.xml"/><Relationship Id="R71dfaeb3ed9e4dbe" Type="http://schemas.openxmlformats.org/officeDocument/2006/relationships/slide" Target="slides/slide3.xml"/><Relationship Id="R792aea2eefa44c29" Type="http://schemas.openxmlformats.org/officeDocument/2006/relationships/slide" Target="slides/slide6.xml"/><Relationship Id="R830635b909c74e32" Type="http://schemas.openxmlformats.org/officeDocument/2006/relationships/slide" Target="slides/slide4.xml"/><Relationship Id="R87f76ef004dd4627" Type="http://schemas.openxmlformats.org/officeDocument/2006/relationships/slide" Target="slides/slide26.xml"/><Relationship Id="R88ea87fdc23b4b4b" Type="http://schemas.openxmlformats.org/officeDocument/2006/relationships/slide" Target="slides/slide20.xml"/><Relationship Id="R97d280781ceb47be" Type="http://schemas.openxmlformats.org/officeDocument/2006/relationships/slide" Target="slides/slide2.xml"/><Relationship Id="R9cafc4032606437e" Type="http://schemas.openxmlformats.org/officeDocument/2006/relationships/slide" Target="slides/slide28.xml"/><Relationship Id="R9cc723b1cde1457e" Type="http://schemas.openxmlformats.org/officeDocument/2006/relationships/slide" Target="slides/slide16.xml"/><Relationship Id="Ra363e76e1838445d" Type="http://schemas.openxmlformats.org/officeDocument/2006/relationships/slide" Target="slides/slide17.xml"/><Relationship Id="Ra4869b894a164db4" Type="http://schemas.openxmlformats.org/officeDocument/2006/relationships/slide" Target="slides/slide5.xml"/><Relationship Id="Raa1457f881c44cc6" Type="http://schemas.openxmlformats.org/officeDocument/2006/relationships/theme" Target="theme/theme1.xml"/><Relationship Id="Rab44971083c74f46" Type="http://schemas.openxmlformats.org/officeDocument/2006/relationships/viewProps" Target="viewProps.xml"/><Relationship Id="Rb22e9fb206864ad5" Type="http://schemas.openxmlformats.org/officeDocument/2006/relationships/slide" Target="slides/slide13.xml"/><Relationship Id="Rbaf6f03e32884a6d" Type="http://schemas.openxmlformats.org/officeDocument/2006/relationships/slide" Target="slides/slide33.xml"/><Relationship Id="Rcdc78859a8c4496d" Type="http://schemas.openxmlformats.org/officeDocument/2006/relationships/slide" Target="slides/slide18.xml"/><Relationship Id="Rd1a717082f0647f2" Type="http://schemas.openxmlformats.org/officeDocument/2006/relationships/tableStyles" Target="tableStyles.xml"/><Relationship Id="Rd42af36816e049fa" Type="http://schemas.openxmlformats.org/officeDocument/2006/relationships/slide" Target="slides/slide12.xml"/><Relationship Id="Rd85444ccea5b4f1d" Type="http://schemas.openxmlformats.org/officeDocument/2006/relationships/slide" Target="slides/slide14.xml"/><Relationship Id="Rdc149eb74eb24c71" Type="http://schemas.openxmlformats.org/officeDocument/2006/relationships/slide" Target="slides/slide27.xml"/><Relationship Id="Rdc88ad4fdf774abc" Type="http://schemas.openxmlformats.org/officeDocument/2006/relationships/slide" Target="slides/slide34.xml"/><Relationship Id="Re8a499ac718047b3" Type="http://schemas.openxmlformats.org/officeDocument/2006/relationships/slide" Target="slides/slide7.xml"/><Relationship Id="Reba2c0ba36f94e8c" Type="http://schemas.openxmlformats.org/officeDocument/2006/relationships/slide" Target="slides/slide10.xml"/><Relationship Id="Red68136c4f0b430d" Type="http://schemas.openxmlformats.org/officeDocument/2006/relationships/slide" Target="slides/slide36.xml"/><Relationship Id="Rf552040013594164" Type="http://schemas.openxmlformats.org/officeDocument/2006/relationships/slide" Target="slides/slide9.xml"/><Relationship Id="Rfd179fcbc22d4b27" Type="http://schemas.openxmlformats.org/officeDocument/2006/relationships/slide" Target="slides/slide15.xml"/><Relationship Id="rId42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9c6e6978e75f479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846361240f241c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5325973b36b0496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a7732cc984c948b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4e4681ef8be457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3ed68860240427a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88182fc7b73f43b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af70d00604e94ac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2548ecf32d16447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bb0f69b1f26a429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753ccb2fe1974ca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BD74A-7437-4468-B2D2-10B881D2610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AC90C1-EFDD-43DA-A4F5-73E05E5DB1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89CB2-636E-4920-B4FE-535FD9152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EE8498-DD0B-4CB4-83DE-762E0709C1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862F1D-B351-4D53-AA32-B3B88A6AB8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0BDED6-C22E-4AD4-A7C7-40C4F7B39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4C2DD2-DE61-44BA-A7A4-29DCC08AA7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727311-10EA-4918-9E0D-9B7D96B0F3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F9D541-86BA-4D80-8A55-37914400B3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BBF366-5E7C-4C6F-9AAC-455EEAEC50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04F2E3-9DCB-461E-BEC3-D453DB08D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D5AEA-029E-4F4A-8F1E-C981D8CA35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293052-9715-41D8-88FD-D4A677EAD8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CB500E-5CBD-4E83-AC23-1B0B432BF7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38C669-B36F-4CC9-9AA4-1637488791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0A6B73-AD5C-418A-A213-18189ECBC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45A999-8AB7-43CF-88DD-2467F65561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974213-B9E1-46CA-8930-DB439471BA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070A64-99DB-4933-B70B-F59C48281F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23AFA6-9586-4B30-B51D-7FB224ACCF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5A7B20C-73C7-4F3E-B329-B9159F322A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8FAB52-9F1A-4B3D-A65D-94ECBA0EC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F4BE2B-A261-4B0B-AB7D-30CBBC608C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C1160E-5C7B-4BD5-9A9E-EF80378C78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69E3174-4239-4986-B9E0-ED1E2561BCC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0307F21-9913-4CB1-9362-426C121850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240F61F-BD89-4E63-A153-D97A1E19CA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F7E31A8-DCE4-4171-BD1D-0161CB55B3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C67A056-01BF-4372-9F76-4EC2EF5D6A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C76DF7-0F77-4220-A660-9464A8D47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ABDA746-6640-4076-9AAF-243622B06B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0E30663-1BD4-4778-A07E-034A463D16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F43264D-F111-4268-8EBA-8B70269F11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6031B4F-EB0D-44DE-AEA3-01BE9BBE56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492E47-911E-4850-99FD-0B0D1ADBBB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635F908-66D9-4E00-AA6B-F0DFFA244C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95C4B9-FF17-45D5-9392-D5FF6FD0E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6F7E09-CFAB-4DDA-AF23-138DC944FA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7389D1-A5DB-440F-933F-477A2AF866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188186-9DCC-420A-A7AE-EE627A5466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36C1BA-ECE9-4411-845C-0016EB5C4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0F6BE2-E88B-4C68-A61E-AFA86E6057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D0BF3A-81B8-4CF5-9987-73247F149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F29FD7-C89D-4C22-ABE0-9C522606919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DE57A71-6C38-4C73-8106-889762D0AA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88A1EA-5C69-4A1B-B2AE-C7BA0FB457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8B3BDE-F901-4918-897F-EF421291D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C53A67-5B20-4AA9-90B1-3ABC47D9CC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F1C95B-DE94-4EBE-B231-6C520C5A3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E3723E-43EE-4F21-B93B-483A94BC2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24AC9-71A4-4820-94F3-0AF29A8A80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2ED61-2AF4-4D58-BCAC-85E40D29FF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DA9FCC-E75F-4CC6-9D05-FD5D49B97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83BDC9E-DD8D-4C77-B277-72FC9DD6F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906C92-0E43-4284-B311-A843FC477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4C2F7A-5326-4B40-AF0B-302F16F5C5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B9AACB-AF35-4AF5-A187-060BA28EEF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1B6192-C0FE-40D5-85F5-75D5AD007A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2fe03f3592240ae" Type="http://schemas.openxmlformats.org/officeDocument/2006/relationships/slideLayout" Target="../slideLayouts/slideLayout5.xml"/><Relationship Id="R1852d806bc904608" Type="http://schemas.openxmlformats.org/officeDocument/2006/relationships/slideLayout" Target="../slideLayouts/slideLayout7.xml"/><Relationship Id="R60112a09bd4f400d" Type="http://schemas.openxmlformats.org/officeDocument/2006/relationships/slideLayout" Target="../slideLayouts/slideLayout8.xml"/><Relationship Id="R652b2513f1874aff" Type="http://schemas.openxmlformats.org/officeDocument/2006/relationships/slideLayout" Target="../slideLayouts/slideLayout1.xml"/><Relationship Id="R6806e6d38c0a4f4e" Type="http://schemas.openxmlformats.org/officeDocument/2006/relationships/slideLayout" Target="../slideLayouts/slideLayout10.xml"/><Relationship Id="R69dfabbd9824406a" Type="http://schemas.openxmlformats.org/officeDocument/2006/relationships/slideLayout" Target="../slideLayouts/slideLayout4.xml"/><Relationship Id="R6fedf52875ef4781" Type="http://schemas.openxmlformats.org/officeDocument/2006/relationships/slideLayout" Target="../slideLayouts/slideLayout6.xml"/><Relationship Id="R7b03e0ab4b1144b2" Type="http://schemas.openxmlformats.org/officeDocument/2006/relationships/slideLayout" Target="../slideLayouts/slideLayout2.xml"/><Relationship Id="R85e9dd49cb284c9a" Type="http://schemas.openxmlformats.org/officeDocument/2006/relationships/slideLayout" Target="../slideLayouts/slideLayout3.xml"/><Relationship Id="Rc985b0c457c04626" Type="http://schemas.openxmlformats.org/officeDocument/2006/relationships/theme" Target="theme/theme2.xml"/><Relationship Id="Rd0fd4a05905e4694" Type="http://schemas.openxmlformats.org/officeDocument/2006/relationships/slideLayout" Target="../slideLayouts/slideLayout11.xml"/><Relationship Id="Rfce96c9516214f6c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2248AF7-156C-4EF3-8963-94822D31A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91D462-016C-4804-B5C3-142237F75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0B4D9-6964-4389-BD44-972CD630B56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45C8BE-3079-4868-9797-F582C042DC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9EE455-924C-4A48-864D-84D450A2511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b2513f1874aff"/>
    <p:sldLayoutId xmlns:r="http://schemas.openxmlformats.org/officeDocument/2006/relationships" id="2147483650" r:id="R7b03e0ab4b1144b2"/>
    <p:sldLayoutId xmlns:r="http://schemas.openxmlformats.org/officeDocument/2006/relationships" id="2147483651" r:id="R85e9dd49cb284c9a"/>
    <p:sldLayoutId xmlns:r="http://schemas.openxmlformats.org/officeDocument/2006/relationships" id="2147483652" r:id="R69dfabbd9824406a"/>
    <p:sldLayoutId xmlns:r="http://schemas.openxmlformats.org/officeDocument/2006/relationships" id="2147483653" r:id="R12fe03f3592240ae"/>
    <p:sldLayoutId xmlns:r="http://schemas.openxmlformats.org/officeDocument/2006/relationships" id="2147483654" r:id="R6fedf52875ef4781"/>
    <p:sldLayoutId xmlns:r="http://schemas.openxmlformats.org/officeDocument/2006/relationships" id="2147483655" r:id="R1852d806bc904608"/>
    <p:sldLayoutId xmlns:r="http://schemas.openxmlformats.org/officeDocument/2006/relationships" id="2147483656" r:id="R60112a09bd4f400d"/>
    <p:sldLayoutId xmlns:r="http://schemas.openxmlformats.org/officeDocument/2006/relationships" id="2147483657" r:id="Rfce96c9516214f6c"/>
    <p:sldLayoutId xmlns:r="http://schemas.openxmlformats.org/officeDocument/2006/relationships" id="2147483658" r:id="R6806e6d38c0a4f4e"/>
    <p:sldLayoutId xmlns:r="http://schemas.openxmlformats.org/officeDocument/2006/relationships" id="2147483659" r:id="Rd0fd4a05905e469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a663996aaa464f" Type="http://schemas.openxmlformats.org/officeDocument/2006/relationships/image" Target="../media/image.png"/><Relationship Id="R883258df85e547bb" Type="http://schemas.openxmlformats.org/officeDocument/2006/relationships/image" Target="../media/image.jpeg"/><Relationship Id="Rebc9b8ee5bb84da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64f517d11124460" Type="http://schemas.openxmlformats.org/officeDocument/2006/relationships/image" Target="../media/image.jpeg"/><Relationship Id="R86772c4bb0ef41f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fc2442207ce4c8c" Type="http://schemas.openxmlformats.org/officeDocument/2006/relationships/slideLayout" Target="../slideLayouts/slideLayout1.xml"/><Relationship Id="Re7c2aa4e69934b7d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3f34efce27204669" Type="http://schemas.openxmlformats.org/officeDocument/2006/relationships/slideLayout" Target="../slideLayouts/slideLayout1.xml"/><Relationship Id="R622731c623a94e54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1ee8556b77c445f6" Type="http://schemas.openxmlformats.org/officeDocument/2006/relationships/image" Target="../media/image.jpeg"/><Relationship Id="Rbe9f8bec21fb450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8e1652d97f34141" Type="http://schemas.openxmlformats.org/officeDocument/2006/relationships/slideLayout" Target="../slideLayouts/slideLayout1.xml"/><Relationship Id="Rdfa1eeec79db4a42" Type="http://schemas.openxmlformats.org/officeDocument/2006/relationships/image" Target="../media/image.jpeg"/></Relationships>
</file>

<file path=ppt/slides/_rels/slide7.xml.rels><?xml version='1.0' encoding='UTF-8' standalone='yes'?>
<Relationships xmlns="http://schemas.openxmlformats.org/package/2006/relationships"><Relationship Id="R7147d7bbebde4bf1" Type="http://schemas.openxmlformats.org/officeDocument/2006/relationships/slideLayout" Target="../slideLayouts/slideLayout1.xml"/><Relationship Id="Rab9906a6ef794400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550988fd07054e53" Type="http://schemas.openxmlformats.org/officeDocument/2006/relationships/slideLayout" Target="../slideLayouts/slideLayout1.xml"/><Relationship Id="Rbca6604f60744fd1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9fe1db26a00c4258" Type="http://schemas.openxmlformats.org/officeDocument/2006/relationships/slideLayout" Target="../slideLayouts/slideLayout1.xml"/><Relationship Id="Rd897a33ce9074d66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9ac5e2d816e8435f" Type="http://schemas.openxmlformats.org/officeDocument/2006/relationships/image" Target="../media/image.jpeg"/><Relationship Id="Rbacf95832c60444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35c13cf7bae42e7" Type="http://schemas.openxmlformats.org/officeDocument/2006/relationships/image" Target="../media/image.jpeg"/><Relationship Id="R97cea93e4a0b401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d836fdc03144f31" Type="http://schemas.openxmlformats.org/officeDocument/2006/relationships/slideLayout" Target="../slideLayouts/slideLayout1.xml"/><Relationship Id="Rf692ad0d99094a4c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0d8a92bd3747488d" Type="http://schemas.openxmlformats.org/officeDocument/2006/relationships/image" Target="../media/image.jpeg"/><Relationship Id="Re5608f64b576487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584c98f7829431c" Type="http://schemas.openxmlformats.org/officeDocument/2006/relationships/image" Target="../media/image.jpeg"/><Relationship Id="Rb8829dc4e9e5493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91062208497405a" Type="http://schemas.openxmlformats.org/officeDocument/2006/relationships/slideLayout" Target="../slideLayouts/slideLayout1.xml"/><Relationship Id="R97ce42789e1740b6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1dcfa72130934883" Type="http://schemas.openxmlformats.org/officeDocument/2006/relationships/slideLayout" Target="../slideLayouts/slideLayout1.xml"/><Relationship Id="R8fe4f06e37c84114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bcdc25d535bf4fdc" Type="http://schemas.openxmlformats.org/officeDocument/2006/relationships/image" Target="../media/image.jpeg"/><Relationship Id="Rcd4dccd889f54790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99bb5917b7764e4b" Type="http://schemas.openxmlformats.org/officeDocument/2006/relationships/image" Target="../media/image.jpeg"/><Relationship Id="Reda6fc682542465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76baacb33644946" Type="http://schemas.openxmlformats.org/officeDocument/2006/relationships/slideLayout" Target="../slideLayouts/slideLayout1.xml"/><Relationship Id="Rea635574e1b04eb3" Type="http://schemas.openxmlformats.org/officeDocument/2006/relationships/image" Target="../media/image.jpeg"/></Relationships>
</file>

<file path=ppt/slides/_rels/slide20.xml.rels><?xml version='1.0' encoding='UTF-8' standalone='yes'?>
<Relationships xmlns="http://schemas.openxmlformats.org/package/2006/relationships"><Relationship Id="Re7c1549ca79d4d14" Type="http://schemas.openxmlformats.org/officeDocument/2006/relationships/image" Target="../media/image.jpeg"/><Relationship Id="Rfcc8fc78bc1545a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1a5484f2aaad4e34" Type="http://schemas.openxmlformats.org/officeDocument/2006/relationships/slideLayout" Target="../slideLayouts/slideLayout1.xml"/><Relationship Id="R8380e6ed2b7f4b4b" Type="http://schemas.openxmlformats.org/officeDocument/2006/relationships/image" Target="../media/image.jpeg"/></Relationships>
</file>

<file path=ppt/slides/_rels/slide22.xml.rels><?xml version='1.0' encoding='UTF-8' standalone='yes'?>
<Relationships xmlns="http://schemas.openxmlformats.org/package/2006/relationships"><Relationship Id="R8979dc2b43a54aed" Type="http://schemas.openxmlformats.org/officeDocument/2006/relationships/image" Target="../media/image.jpeg"/><Relationship Id="Re931b6950cd04b3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03bd9b90840f4f59" Type="http://schemas.openxmlformats.org/officeDocument/2006/relationships/image" Target="../media/image.jpeg"/><Relationship Id="Ree27fb4b998f4275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3bc691ce9c554b48" Type="http://schemas.openxmlformats.org/officeDocument/2006/relationships/image" Target="../media/image.jpeg"/><Relationship Id="Reb06a418e0ca4f58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3732d5bb6c324aee" Type="http://schemas.openxmlformats.org/officeDocument/2006/relationships/slideLayout" Target="../slideLayouts/slideLayout1.xml"/><Relationship Id="R84f442fed5c44ea4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43a0a673d3e24fbb" Type="http://schemas.openxmlformats.org/officeDocument/2006/relationships/slideLayout" Target="../slideLayouts/slideLayout1.xml"/><Relationship Id="Rb0c568ce97df49c3" Type="http://schemas.openxmlformats.org/officeDocument/2006/relationships/image" Target="../media/image.jpeg"/></Relationships>
</file>

<file path=ppt/slides/_rels/slide27.xml.rels><?xml version='1.0' encoding='UTF-8' standalone='yes'?>
<Relationships xmlns="http://schemas.openxmlformats.org/package/2006/relationships"><Relationship Id="R390fdb04e0ca41d7" Type="http://schemas.openxmlformats.org/officeDocument/2006/relationships/slideLayout" Target="../slideLayouts/slideLayout1.xml"/><Relationship Id="R8ea8c1da063e42ae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0a5f9c5fc09c4d4e" Type="http://schemas.openxmlformats.org/officeDocument/2006/relationships/image" Target="../media/image.jpeg"/><Relationship Id="R590ff9444e0b4324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28d1624ce3784c11" Type="http://schemas.openxmlformats.org/officeDocument/2006/relationships/image" Target="../media/image.jpeg"/><Relationship Id="R7c75977301164b16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0d96e48f9572469c" Type="http://schemas.openxmlformats.org/officeDocument/2006/relationships/slideLayout" Target="../slideLayouts/slideLayout1.xml"/><Relationship Id="R31b641a77227440c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0f3b8c1ca34a4c2b" Type="http://schemas.openxmlformats.org/officeDocument/2006/relationships/slideLayout" Target="../slideLayouts/slideLayout1.xml"/><Relationship Id="Rec0a40490fc649af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d24a01c34488496f" Type="http://schemas.openxmlformats.org/officeDocument/2006/relationships/slideLayout" Target="../slideLayouts/slideLayout1.xml"/><Relationship Id="Rf4a6d2960ea34528" Type="http://schemas.openxmlformats.org/officeDocument/2006/relationships/image" Target="../media/image.jpeg"/></Relationships>
</file>

<file path=ppt/slides/_rels/slide33.xml.rels><?xml version='1.0' encoding='UTF-8' standalone='yes'?>
<Relationships xmlns="http://schemas.openxmlformats.org/package/2006/relationships"><Relationship Id="R1eb7bc68ee174914" Type="http://schemas.openxmlformats.org/officeDocument/2006/relationships/slideLayout" Target="../slideLayouts/slideLayout1.xml"/><Relationship Id="Ra720f568476e4574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92ffa42ee52b4d74" Type="http://schemas.openxmlformats.org/officeDocument/2006/relationships/slideLayout" Target="../slideLayouts/slideLayout1.xml"/><Relationship Id="Rc27ac699e40b4c9b" Type="http://schemas.openxmlformats.org/officeDocument/2006/relationships/image" Target="../media/image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.jpeg"/><Relationship Id="rId3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596f4c089df64654" Type="http://schemas.openxmlformats.org/officeDocument/2006/relationships/slideLayout" Target="../slideLayouts/slideLayout1.xml"/><Relationship Id="Rea99936869cd4f29" Type="http://schemas.openxmlformats.org/officeDocument/2006/relationships/image" Target="../media/image.jpeg"/></Relationships>
</file>

<file path=ppt/slides/_rels/slide37.xml.rels><?xml version='1.0' encoding='UTF-8' standalone='yes'?>
<Relationships xmlns="http://schemas.openxmlformats.org/package/2006/relationships"><Relationship Id="R03e73bd0816f448b" Type="http://schemas.openxmlformats.org/officeDocument/2006/relationships/hyperlink" Target="https://www.electrical-installation.org/enwiki/Coordination_between_circuit-breakers" TargetMode="External"/><Relationship Id="R3be62473d0be40ee" Type="http://schemas.openxmlformats.org/officeDocument/2006/relationships/image" Target="../media/image.jpeg"/><Relationship Id="R82fe9cc48a6b4042" Type="http://schemas.openxmlformats.org/officeDocument/2006/relationships/hyperlink" Target="https://www.elsakerhetsverket.se/elolyckor-i-arbetslivet/vad-ar-en-elolycka/" TargetMode="External"/><Relationship Id="R95bf90f9baf54211" Type="http://schemas.openxmlformats.org/officeDocument/2006/relationships/slideLayout" Target="../slideLayouts/slideLayout1.xml"/><Relationship Id="Rbbbc25d2f8184321" Type="http://schemas.openxmlformats.org/officeDocument/2006/relationships/hyperlink" Target="https://elstandard.se/documents/preview/3246401" TargetMode="External"/><Relationship Id="Rc098b15715964e6b" Type="http://schemas.openxmlformats.org/officeDocument/2006/relationships/hyperlink" Target="https://www.electrical-installation.org/enwiki/Installed_apparent_power_%28kVA%29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258df85e5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663996aaa464f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58743944-1C8F-4F2B-96B2-88A8786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259F7625-4A17-4BFF-8A54-31935FC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Högspänningssystem</a:t>
            </a:r>
          </a:p>
        </p:txBody>
      </p:sp>
      <p:sp>
        <p:nvSpPr>
          <p:cNvPr id="13" name="Ställverk, skydd och säker arbetsplanering">
            <a:extLst xmlns:a="http://schemas.openxmlformats.org/drawingml/2006/main">
              <a:ext uri="{FF2B5EF4-FFF2-40B4-BE49-F238E27FC236}">
                <a16:creationId xmlns:a16="http://schemas.microsoft.com/office/drawing/2014/main" id="{9C39722F-B805-41FB-A023-CB3223C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Ställverk, skydd och säker arbetsplanering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0DD35F8B-5D44-46BB-91B4-AD6F877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f517d1112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45FF0BB4-32B5-41E8-B3A1-B938E795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Beskriva högspänningssystemets viktigaste funktioner.">
            <a:extLst xmlns:a="http://schemas.openxmlformats.org/drawingml/2006/main">
              <a:ext uri="{FF2B5EF4-FFF2-40B4-BE49-F238E27FC236}">
                <a16:creationId xmlns:a16="http://schemas.microsoft.com/office/drawing/2014/main" id="{7BF2AF51-957F-401C-B711-C30AAB8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Beskriva högspänningssystemets viktigaste funktioner.</a:t>
            </a:r>
          </a:p>
        </p:txBody>
      </p:sp>
      <p:sp>
        <p:nvSpPr>
          <p:cNvPr id="4" name="Identifiera nödvändigt underlag för säkra arbetsgränser.">
            <a:extLst xmlns:a="http://schemas.openxmlformats.org/drawingml/2006/main">
              <a:ext uri="{FF2B5EF4-FFF2-40B4-BE49-F238E27FC236}">
                <a16:creationId xmlns:a16="http://schemas.microsoft.com/office/drawing/2014/main" id="{FE3DFD05-1426-4A13-A982-6C33111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Identifiera nödvändigt underlag för säkra arbetsgränser.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136DCBA5-B76E-4A12-9644-7D16649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rför kan samma effekt överföras med lägre ström vid högre spänn">
            <a:extLst xmlns:a="http://schemas.openxmlformats.org/drawingml/2006/main">
              <a:ext uri="{FF2B5EF4-FFF2-40B4-BE49-F238E27FC236}">
                <a16:creationId xmlns:a16="http://schemas.microsoft.com/office/drawing/2014/main" id="{BD3B3D82-DE90-4630-8734-2170B0B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kan samma effekt överföras med lägre ström vid högre spänning?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879F4D2-2BB7-415F-A369-E633C3D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2aa4e69934b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E4421524-CFAE-4F7D-8803-48CE6CD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CD583EC1-2177-484A-8D42-F3A9F92C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B4F7FA74-7617-492A-A015-79DF8C6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2.1, 2.2 och 2.4,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10374DDF-292E-49FA-9211-C8FC8B0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B5EBC41A-1368-41D1-A42B-91A8F82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2.6, 2.7 och 2.8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D1B0B518-4E58-4232-82D1-DA28FD07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C0DAB125-B90C-4561-A8FF-1368498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731c623a9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pänning och skyddsfunktion">
            <a:extLst xmlns:a="http://schemas.openxmlformats.org/drawingml/2006/main">
              <a:ext uri="{FF2B5EF4-FFF2-40B4-BE49-F238E27FC236}">
                <a16:creationId xmlns:a16="http://schemas.microsoft.com/office/drawing/2014/main" id="{5B144E7D-1BD8-483C-93DC-972EC5B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och skyddsfunktion</a:t>
            </a:r>
          </a:p>
        </p:txBody>
      </p:sp>
      <p:sp>
        <p:nvSpPr>
          <p:cNvPr id="10" name="AC och DC har olika spänningsgränser i kursens terminologi.">
            <a:extLst xmlns:a="http://schemas.openxmlformats.org/drawingml/2006/main">
              <a:ext uri="{FF2B5EF4-FFF2-40B4-BE49-F238E27FC236}">
                <a16:creationId xmlns:a16="http://schemas.microsoft.com/office/drawing/2014/main" id="{94688DEC-B90D-4A68-B244-FE6948B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AC och DC har olika spänningsgränser i kursens terminologi.</a:t>
            </a:r>
          </a:p>
        </p:txBody>
      </p:sp>
      <p:sp>
        <p:nvSpPr>
          <p:cNvPr id="11" name="IL är linjeström. UL är linjespänning i trefasformlerna.">
            <a:extLst xmlns:a="http://schemas.openxmlformats.org/drawingml/2006/main">
              <a:ext uri="{FF2B5EF4-FFF2-40B4-BE49-F238E27FC236}">
                <a16:creationId xmlns:a16="http://schemas.microsoft.com/office/drawing/2014/main" id="{1C9B202A-B661-4EC5-964F-6162A8D6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linjeström.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linjespänning i trefasformlerna.</a:t>
            </a:r>
          </a:p>
        </p:txBody>
      </p:sp>
      <p:sp>
        <p:nvSpPr>
          <p:cNvPr id="12" name="Mättransformator ger signal, reläskydd fattar beslut och brytare ">
            <a:extLst xmlns:a="http://schemas.openxmlformats.org/drawingml/2006/main">
              <a:ext uri="{FF2B5EF4-FFF2-40B4-BE49-F238E27FC236}">
                <a16:creationId xmlns:a16="http://schemas.microsoft.com/office/drawing/2014/main" id="{5AB84B4C-EE45-4664-B96B-3ECE496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Mättransformator ger signal, reläskydd fattar beslut och brytare kopplar bort.</a:t>
            </a:r>
          </a:p>
        </p:txBody>
      </p:sp>
      <p:sp>
        <p:nvSpPr>
          <p:cNvPr id="13" name="Manöver, frånskiljning och jordning är skilda funktioner med särs">
            <a:extLst xmlns:a="http://schemas.openxmlformats.org/drawingml/2006/main">
              <a:ext uri="{FF2B5EF4-FFF2-40B4-BE49-F238E27FC236}">
                <a16:creationId xmlns:a16="http://schemas.microsoft.com/office/drawing/2014/main" id="{42D3794D-4038-4CE2-868A-EE19EBC4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Manöver, frånskiljning och jordning är skilda funktioner med särskilda villkor.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AA951009-D48C-4A73-B46C-B45DCB8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8556b77c4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16E43893-8722-45E7-B57C-78CC4EE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5F7A6E27-C83C-4F43-9092-82BE5EF5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9750FCB8-50B6-4061-94F4-7763699E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B8035A7F-094F-4670-9F7C-B83B3BA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928975D8-F691-40F0-BE50-F2C043F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FF8799DE-DF6D-4562-BCA3-B0E1BB3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D57926F1-7282-411F-8333-59C4598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3A145E63-6406-498E-AB34-8ECB81E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1eeec79db4a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snivå och överföring">
            <a:extLst xmlns:a="http://schemas.openxmlformats.org/drawingml/2006/main">
              <a:ext uri="{FF2B5EF4-FFF2-40B4-BE49-F238E27FC236}">
                <a16:creationId xmlns:a16="http://schemas.microsoft.com/office/drawing/2014/main" id="{B046A1CC-9964-4E5D-9731-C6E8E8F3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Spänningsnivå och överföring</a:t>
            </a:r>
          </a:p>
        </p:txBody>
      </p:sp>
      <p:sp>
        <p:nvSpPr>
          <p:cNvPr id="3" name="Högspänning är över 1 000 V AC eller över 1 500 V DC&#10;i den termin">
            <a:extLst xmlns:a="http://schemas.openxmlformats.org/drawingml/2006/main">
              <a:ext uri="{FF2B5EF4-FFF2-40B4-BE49-F238E27FC236}">
                <a16:creationId xmlns:a16="http://schemas.microsoft.com/office/drawing/2014/main" id="{1B14BA9B-6693-4B0C-871A-1510FC7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Högspänning är över 1 000 V AC eller över 1 500 V DC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den terminologi som används här.</a:t>
            </a:r>
          </a:p>
        </p:txBody>
      </p:sp>
      <p:sp>
        <p:nvSpPr>
          <p:cNvPr id="4" name="P = √3 ULIL PF">
            <a:extLst xmlns:a="http://schemas.openxmlformats.org/drawingml/2006/main">
              <a:ext uri="{FF2B5EF4-FFF2-40B4-BE49-F238E27FC236}">
                <a16:creationId xmlns:a16="http://schemas.microsoft.com/office/drawing/2014/main" id="{282CA511-87E0-4438-ADF8-C01DDBE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√3 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PF</a:t>
            </a:r>
          </a:p>
        </p:txBody>
      </p:sp>
      <p:sp>
        <p:nvSpPr>
          <p:cNvPr id="5" name="Vid given effekt och PF minskar strömmen när spänningen ökar.&#10;Iso">
            <a:extLst xmlns:a="http://schemas.openxmlformats.org/drawingml/2006/main">
              <a:ext uri="{FF2B5EF4-FFF2-40B4-BE49-F238E27FC236}">
                <a16:creationId xmlns:a16="http://schemas.microsoft.com/office/drawing/2014/main" id="{0C2EA5FE-954B-421E-AD36-583B0F6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given effekt och PF minskar strömmen när spänningen ökar.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Isolering och arbetssäkerhet kräver samtidigt andra lösningar.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98F77B1C-DC89-44E3-B31F-6D27C04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906a6ef79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ällverkets funktioner">
            <a:extLst xmlns:a="http://schemas.openxmlformats.org/drawingml/2006/main">
              <a:ext uri="{FF2B5EF4-FFF2-40B4-BE49-F238E27FC236}">
                <a16:creationId xmlns:a16="http://schemas.microsoft.com/office/drawing/2014/main" id="{D497C203-403F-46D2-8583-8454B87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Ställverkets funktioner</a:t>
            </a:r>
          </a:p>
        </p:txBody>
      </p:sp>
      <p:sp>
        <p:nvSpPr>
          <p:cNvPr id="3" name="Brytare kopplar last och avsedda felströmmar.&#10;Frånskiljning och j">
            <a:extLst xmlns:a="http://schemas.openxmlformats.org/drawingml/2006/main">
              <a:ext uri="{FF2B5EF4-FFF2-40B4-BE49-F238E27FC236}">
                <a16:creationId xmlns:a16="http://schemas.microsoft.com/office/drawing/2014/main" id="{835B0E5D-5344-41D6-8B9D-EA33B8CA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Brytare kopplar last och avsedda felströmmar.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Frånskiljning och jordning har särskilda uppgifter.</a:t>
            </a:r>
          </a:p>
        </p:txBody>
      </p:sp>
      <p:sp>
        <p:nvSpPr>
          <p:cNvPr id="4" name="Apparaternas funktioner ska framgå av schema och data">
            <a:extLst xmlns:a="http://schemas.openxmlformats.org/drawingml/2006/main">
              <a:ext uri="{FF2B5EF4-FFF2-40B4-BE49-F238E27FC236}">
                <a16:creationId xmlns:a16="http://schemas.microsoft.com/office/drawing/2014/main" id="{09756469-2523-4009-9518-0988A66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Apparaternas funktioner ska framgå av schema och data</a:t>
            </a:r>
          </a:p>
        </p:txBody>
      </p:sp>
      <p:sp>
        <p:nvSpPr>
          <p:cNvPr id="5" name="Förreglingar kan hindra farliga manöverföljder.&#10;De ersätter inte ">
            <a:extLst xmlns:a="http://schemas.openxmlformats.org/drawingml/2006/main">
              <a:ext uri="{FF2B5EF4-FFF2-40B4-BE49-F238E27FC236}">
                <a16:creationId xmlns:a16="http://schemas.microsoft.com/office/drawing/2014/main" id="{7BDF6398-669D-4C1E-9EF3-4CE3EBB3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Förreglingar kan hindra farliga manöverföljder.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 ersätter inte arbetsberedning och verifierad status.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D03CE8E2-F5DB-47ED-BE83-AF800AC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ällverksfack: samlingsskena, frånskilj" descr="Ställverksfack: samlingsskena, frånskiljare, brytare, strömtransformator och jordningskopplare mot kabel till förbrukare, med förregl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6604f6074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ättransformatorer och reläskydd">
            <a:extLst xmlns:a="http://schemas.openxmlformats.org/drawingml/2006/main">
              <a:ext uri="{FF2B5EF4-FFF2-40B4-BE49-F238E27FC236}">
                <a16:creationId xmlns:a16="http://schemas.microsoft.com/office/drawing/2014/main" id="{29372194-4001-4428-89D3-97E63A1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Mättransformatorer och reläskydd</a:t>
            </a:r>
          </a:p>
        </p:txBody>
      </p:sp>
      <p:sp>
        <p:nvSpPr>
          <p:cNvPr id="3" name="Ström- och spänningstransformatorer ger signaler till mätning och">
            <a:extLst xmlns:a="http://schemas.openxmlformats.org/drawingml/2006/main">
              <a:ext uri="{FF2B5EF4-FFF2-40B4-BE49-F238E27FC236}">
                <a16:creationId xmlns:a16="http://schemas.microsoft.com/office/drawing/2014/main" id="{32E32F9B-E55B-449F-ACBA-5F890D7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Ström- och spänningstransformatorer ger signaler till mätning och skydd.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Reläskyddet bedömer tillstånd och kan ge brytkommando.</a:t>
            </a:r>
          </a:p>
        </p:txBody>
      </p:sp>
      <p:sp>
        <p:nvSpPr>
          <p:cNvPr id="4" name="Mätning, skyddslogik, utlösning och brytare">
            <a:extLst xmlns:a="http://schemas.openxmlformats.org/drawingml/2006/main">
              <a:ext uri="{FF2B5EF4-FFF2-40B4-BE49-F238E27FC236}">
                <a16:creationId xmlns:a16="http://schemas.microsoft.com/office/drawing/2014/main" id="{8F6CE132-2E01-4544-916C-C918DE45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Mätning, skyddslogik, utlösning och brytare</a:t>
            </a:r>
          </a:p>
        </p:txBody>
      </p:sp>
      <p:sp>
        <p:nvSpPr>
          <p:cNvPr id="5" name="En strömtransformator kräver föreskriven sekundärhantering.&#10;En be">
            <a:extLst xmlns:a="http://schemas.openxmlformats.org/drawingml/2006/main">
              <a:ext uri="{FF2B5EF4-FFF2-40B4-BE49-F238E27FC236}">
                <a16:creationId xmlns:a16="http://schemas.microsoft.com/office/drawing/2014/main" id="{FD7641F8-3388-4059-9280-ACEEA18B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strömtransformator kräver föreskriven sekundärhantering.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belastad sekundärkrets får inte öppnas godtyckligt.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3B2FCDC9-BF37-4532-AB44-7D65001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römtransformatorn mäter, skyddsreläet " descr="Strömtransformatorn mäter, skyddsreläet beslutar och brytaren kopplar b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7a33ce907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ström vid högre spänning">
            <a:extLst xmlns:a="http://schemas.openxmlformats.org/drawingml/2006/main">
              <a:ext uri="{FF2B5EF4-FFF2-40B4-BE49-F238E27FC236}">
                <a16:creationId xmlns:a16="http://schemas.microsoft.com/office/drawing/2014/main" id="{E7CB051A-64C4-475B-B67F-E5413A0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ström vid högre spänning</a:t>
            </a:r>
          </a:p>
        </p:txBody>
      </p:sp>
      <p:sp>
        <p:nvSpPr>
          <p:cNvPr id="10" name="Symmetrisk trefaslast med P = 500 kW och PF = 0,80. Jämför 5 kV o">
            <a:extLst xmlns:a="http://schemas.openxmlformats.org/drawingml/2006/main">
              <a:ext uri="{FF2B5EF4-FFF2-40B4-BE49-F238E27FC236}">
                <a16:creationId xmlns:a16="http://schemas.microsoft.com/office/drawing/2014/main" id="{85C3659F-7A56-4D47-8176-BA147C0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Symmetrisk trefaslast med P = 500 kW och PF = 0,80. Jämför 5 kV och 500 V linjespänning.</a:t>
            </a:r>
          </a:p>
        </p:txBody>
      </p:sp>
      <p:sp>
        <p:nvSpPr>
          <p:cNvPr id="11" name="IL = P/(√3 ULPF)">
            <a:extLst xmlns:a="http://schemas.openxmlformats.org/drawingml/2006/main">
              <a:ext uri="{FF2B5EF4-FFF2-40B4-BE49-F238E27FC236}">
                <a16:creationId xmlns:a16="http://schemas.microsoft.com/office/drawing/2014/main" id="{E896EDEC-BE6E-4802-B12E-775886C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P/(√3 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PF)</a:t>
            </a:r>
          </a:p>
        </p:txBody>
      </p:sp>
      <p:sp>
        <p:nvSpPr>
          <p:cNvPr id="12" name="1. Vid 5 kV: IL = 500 000/(√3 · 5 000 · 0,80) ≈ 72,2 A.&#10;2. Vid 50">
            <a:extLst xmlns:a="http://schemas.openxmlformats.org/drawingml/2006/main">
              <a:ext uri="{FF2B5EF4-FFF2-40B4-BE49-F238E27FC236}">
                <a16:creationId xmlns:a16="http://schemas.microsoft.com/office/drawing/2014/main" id="{6EADC718-FCD1-44B7-94BF-C9BB0CB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Vid 5 kV: I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500 000/(√3 · 5 000 · 0,80) ≈ 72,2 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Vid 500 V: I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≈ 721,7 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Spänningskvoten 5 000/500 = 10 ger omvänd strömkvot.</a:t>
            </a:r>
          </a:p>
        </p:txBody>
      </p:sp>
      <p:sp>
        <p:nvSpPr>
          <p:cNvPr id="13" name="Samma effekt och PF ger tio gånger större ström vid en tiondel av">
            <a:extLst xmlns:a="http://schemas.openxmlformats.org/drawingml/2006/main">
              <a:ext uri="{FF2B5EF4-FFF2-40B4-BE49-F238E27FC236}">
                <a16:creationId xmlns:a16="http://schemas.microsoft.com/office/drawing/2014/main" id="{03F190CC-2D2C-4B53-AB8A-B124172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effekt och PF ger tio gånger större ström vid en tiondel av spänningen.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FB0A7D60-AB14-41FD-9D2D-BB4E6B04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Stapeldiagram: linjeström 72,2 A vid 5 k" descr="Stapeldiagram: linjeström 72,2 A vid 5 kV och 721,7 A vid 500 V för 500 kW och PF 0,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5e2d816e8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3AC11E34-BC6A-443A-AC7D-A0A6F793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</a:t>
            </a:r>
          </a:p>
        </p:txBody>
      </p:sp>
      <p:sp>
        <p:nvSpPr>
          <p:cNvPr id="10" name="Högspänning: över 1 000 V AC eller 1 500 V DC">
            <a:extLst xmlns:a="http://schemas.openxmlformats.org/drawingml/2006/main">
              <a:ext uri="{FF2B5EF4-FFF2-40B4-BE49-F238E27FC236}">
                <a16:creationId xmlns:a16="http://schemas.microsoft.com/office/drawing/2014/main" id="{DFC07AB8-C603-4A90-9846-EE0B6E35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Högspänning: över 1 000 V AC eller 1 500 V DC</a:t>
            </a:r>
          </a:p>
        </p:txBody>
      </p:sp>
      <p:sp>
        <p:nvSpPr>
          <p:cNvPr id="11" name="AC och DC har olika gränser i kursens terminologi. 1 kV = 1 000 V">
            <a:extLst xmlns:a="http://schemas.openxmlformats.org/drawingml/2006/main">
              <a:ext uri="{FF2B5EF4-FFF2-40B4-BE49-F238E27FC236}">
                <a16:creationId xmlns:a16="http://schemas.microsoft.com/office/drawing/2014/main" id="{B9F123CB-0D26-4754-99B3-B037DF2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AC och DC har olika gränser. 1 kV = 1 000 V.</a:t>
            </a:r>
          </a:p>
        </p:txBody>
      </p:sp>
      <p:sp>
        <p:nvSpPr>
          <p:cNvPr id="12" name="Förutsättningar: Jämför 690 V AC, 6,6 kV AC och 1 200 V DC. Ordet">
            <a:extLst xmlns:a="http://schemas.openxmlformats.org/drawingml/2006/main">
              <a:ext uri="{FF2B5EF4-FFF2-40B4-BE49-F238E27FC236}">
                <a16:creationId xmlns:a16="http://schemas.microsoft.com/office/drawing/2014/main" id="{A3C79DF4-93D7-46DE-B783-7F9DC7D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Jämför 690 V AC, 6,6 kV AC och 1 200 V DC. ”Över” betyder större än gränsen, inte lika med.</a:t>
            </a:r>
          </a:p>
        </p:txBody>
      </p:sp>
      <p:sp>
        <p:nvSpPr>
          <p:cNvPr id="13" name="Arbetsgång: Omvandla till samma enhet och jämför varje värde med ">
            <a:extLst xmlns:a="http://schemas.openxmlformats.org/drawingml/2006/main">
              <a:ext uri="{FF2B5EF4-FFF2-40B4-BE49-F238E27FC236}">
                <a16:creationId xmlns:a16="http://schemas.microsoft.com/office/drawing/2014/main" id="{87B81F2E-E3D7-4109-93AD-4E6E1D1F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Gör om till samma enhet och jämför varje värde med rätt gräns.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59E9A8BA-C96A-42DA-8C60-C0678BB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c13cf7bae42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5E79EB25-5441-4E34-864B-42CE8894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</a:t>
            </a:r>
          </a:p>
        </p:txBody>
      </p:sp>
      <p:sp>
        <p:nvSpPr>
          <p:cNvPr id="3" name="Spänningsbegrepp">
            <a:extLst xmlns:a="http://schemas.openxmlformats.org/drawingml/2006/main">
              <a:ext uri="{FF2B5EF4-FFF2-40B4-BE49-F238E27FC236}">
                <a16:creationId xmlns:a16="http://schemas.microsoft.com/office/drawing/2014/main" id="{E61F2CD3-D63A-4E25-8ED5-94221D9F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Spänningsbegrepp</a:t>
            </a:r>
          </a:p>
        </p:txBody>
      </p:sp>
      <p:sp>
        <p:nvSpPr>
          <p:cNvPr id="4" name="Vilka av följande klassas som högspänning med kursens gränser: 69">
            <a:extLst xmlns:a="http://schemas.openxmlformats.org/drawingml/2006/main">
              <a:ext uri="{FF2B5EF4-FFF2-40B4-BE49-F238E27FC236}">
                <a16:creationId xmlns:a16="http://schemas.microsoft.com/office/drawing/2014/main" id="{D52F583B-6B09-4384-B646-994446E0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Vilka av följande klassas som högspänning med bokens gränser: 690 V AC, 6,6 kV AC, 1 200 V DC?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345A683-2A3A-49A3-96DD-74FD7B44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EBCEAC53-9DD1-479D-BB34-D0FD52DA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2ad0d99094a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EFF12D15-9D8D-4BBC-9E1B-43DB428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2.2</a:t>
            </a:r>
          </a:p>
        </p:txBody>
      </p:sp>
      <p:sp>
        <p:nvSpPr>
          <p:cNvPr id="10" name="IL = P/(√3 · UL · PF)">
            <a:extLst xmlns:a="http://schemas.openxmlformats.org/drawingml/2006/main">
              <a:ext uri="{FF2B5EF4-FFF2-40B4-BE49-F238E27FC236}">
                <a16:creationId xmlns:a16="http://schemas.microsoft.com/office/drawing/2014/main" id="{80978B88-48A5-4BF7-92C5-5D3E60B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P/(√3 ·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PF)</a:t>
            </a:r>
          </a:p>
        </p:txBody>
      </p:sp>
      <p:sp>
        <p:nvSpPr>
          <p:cNvPr id="11" name="P är aktiv trefaseffekt i W. UL är linjespänning i V RMS och IL l">
            <a:extLst xmlns:a="http://schemas.openxmlformats.org/drawingml/2006/main">
              <a:ext uri="{FF2B5EF4-FFF2-40B4-BE49-F238E27FC236}">
                <a16:creationId xmlns:a16="http://schemas.microsoft.com/office/drawing/2014/main" id="{83CA6F10-0C3B-4E17-B4AF-8556257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den aktiva effekten i W,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linjespänningen i V och 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linjeströmmen i A.</a:t>
            </a:r>
          </a:p>
        </p:txBody>
      </p:sp>
      <p:sp>
        <p:nvSpPr>
          <p:cNvPr id="12" name="Förutsättningar: Symmetrisk last: P = 1,0 MW, UL = 6,6 kV, PF = 0">
            <a:extLst xmlns:a="http://schemas.openxmlformats.org/drawingml/2006/main">
              <a:ext uri="{FF2B5EF4-FFF2-40B4-BE49-F238E27FC236}">
                <a16:creationId xmlns:a16="http://schemas.microsoft.com/office/drawing/2014/main" id="{0579A9AC-FC06-4DDF-B6B1-C4CBBB7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Symmetrisk last: P = 1,0 MW,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6,6 kV, PF = 0,90.</a:t>
            </a:r>
          </a:p>
        </p:txBody>
      </p:sp>
      <p:sp>
        <p:nvSpPr>
          <p:cNvPr id="13" name="Arbetsgång: Omvandla MW till W och kV till V. Sätt därefter in vä">
            <a:extLst xmlns:a="http://schemas.openxmlformats.org/drawingml/2006/main">
              <a:ext uri="{FF2B5EF4-FFF2-40B4-BE49-F238E27FC236}">
                <a16:creationId xmlns:a16="http://schemas.microsoft.com/office/drawing/2014/main" id="{8B9CF2A0-8B0D-400C-A9F6-E9DFE01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Gör om MW till W och kV till V och sätt in värdena.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17943510-85E2-443A-82F3-502A02CD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a92bd3747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5498502E-0CA9-4AD8-AA1B-0CC8D52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2.2</a:t>
            </a:r>
          </a:p>
        </p:txBody>
      </p:sp>
      <p:sp>
        <p:nvSpPr>
          <p:cNvPr id="3" name="Ström vid 6,6 kV">
            <a:extLst xmlns:a="http://schemas.openxmlformats.org/drawingml/2006/main">
              <a:ext uri="{FF2B5EF4-FFF2-40B4-BE49-F238E27FC236}">
                <a16:creationId xmlns:a16="http://schemas.microsoft.com/office/drawing/2014/main" id="{8D36F4B3-6C63-4924-9C4B-685956D8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 vid 6,6 kV</a:t>
            </a:r>
          </a:p>
        </p:txBody>
      </p:sp>
      <p:sp>
        <p:nvSpPr>
          <p:cNvPr id="4" name="En symmetrisk trefaslast tar P = 1,0 MW vid UL = 6,6 kV och PF = ">
            <a:extLst xmlns:a="http://schemas.openxmlformats.org/drawingml/2006/main">
              <a:ext uri="{FF2B5EF4-FFF2-40B4-BE49-F238E27FC236}">
                <a16:creationId xmlns:a16="http://schemas.microsoft.com/office/drawing/2014/main" id="{4D854ED4-A511-4F54-B916-56FA572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symmetrisk trefaslast tar P = 1,0 MW vid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6,6 kV och PF = 0,90. Beräkna linjeströmmen.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74A72C7-B616-47AC-89B5-6FF617DD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F5E2CE7F-4577-4761-B7D4-AD9B986E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4c98f782943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6D601D61-11B5-4DE9-B823-6905E9B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2.3</a:t>
            </a:r>
          </a:p>
        </p:txBody>
      </p:sp>
      <p:sp>
        <p:nvSpPr>
          <p:cNvPr id="10" name="IL = P/(√3 ULPF)&#10;Ilåg/Ihög = Uhög/Ulåg">
            <a:extLst xmlns:a="http://schemas.openxmlformats.org/drawingml/2006/main">
              <a:ext uri="{FF2B5EF4-FFF2-40B4-BE49-F238E27FC236}">
                <a16:creationId xmlns:a16="http://schemas.microsoft.com/office/drawing/2014/main" id="{1473E153-5FDB-44E6-9997-DF2171C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P/(√3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PF)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låg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hög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hög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låg</a:t>
            </a:r>
          </a:p>
        </p:txBody>
      </p:sp>
      <p:sp>
        <p:nvSpPr>
          <p:cNvPr id="11" name="Vid samma P och PF är strömmen omvänt proportionell mot linjespän">
            <a:extLst xmlns:a="http://schemas.openxmlformats.org/drawingml/2006/main">
              <a:ext uri="{FF2B5EF4-FFF2-40B4-BE49-F238E27FC236}">
                <a16:creationId xmlns:a16="http://schemas.microsoft.com/office/drawing/2014/main" id="{8C30B206-122B-421C-8834-02035CF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samma P och PF blir strömmen lika många gånger större som spänningen blir lägre.</a:t>
            </a:r>
          </a:p>
        </p:txBody>
      </p:sp>
      <p:sp>
        <p:nvSpPr>
          <p:cNvPr id="12" name="Förutsättningar: P = 1,0 MW och PF = 0,90. Jämför 400 V med 6 600">
            <a:extLst xmlns:a="http://schemas.openxmlformats.org/drawingml/2006/main">
              <a:ext uri="{FF2B5EF4-FFF2-40B4-BE49-F238E27FC236}">
                <a16:creationId xmlns:a16="http://schemas.microsoft.com/office/drawing/2014/main" id="{F30F4031-8DBA-4B80-80AF-BD186902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Jämförelse med ett landnät på 400 V. P = 1,0 MW och PF = 0,90. Jämför 400 V med 6 600 V.</a:t>
            </a:r>
          </a:p>
        </p:txBody>
      </p:sp>
      <p:sp>
        <p:nvSpPr>
          <p:cNvPr id="13" name="Arbetsgång: Beräkna strömmen vid 400 V. Använd spänningskvoten fö">
            <a:extLst xmlns:a="http://schemas.openxmlformats.org/drawingml/2006/main">
              <a:ext uri="{FF2B5EF4-FFF2-40B4-BE49-F238E27FC236}">
                <a16:creationId xmlns:a16="http://schemas.microsoft.com/office/drawing/2014/main" id="{16060465-0044-41D8-BB0B-02C2F24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strömmen vid 400 V och kontrollera med kvoten mellan spänningarna.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8E0BA784-3FC4-4152-A1A9-FC1DF193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e42789e17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802F4C06-55A5-4507-90D5-F98451E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2.3</a:t>
            </a:r>
          </a:p>
        </p:txBody>
      </p:sp>
      <p:sp>
        <p:nvSpPr>
          <p:cNvPr id="3" name="Samma effekt vid 400 V">
            <a:extLst xmlns:a="http://schemas.openxmlformats.org/drawingml/2006/main">
              <a:ext uri="{FF2B5EF4-FFF2-40B4-BE49-F238E27FC236}">
                <a16:creationId xmlns:a16="http://schemas.microsoft.com/office/drawing/2014/main" id="{8F73C9D2-9418-41A0-A94A-C359062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Samma effekt vid 400 V</a:t>
            </a:r>
          </a:p>
        </p:txBody>
      </p:sp>
      <p:sp>
        <p:nvSpPr>
          <p:cNvPr id="4" name="Beräkna linjeströmmen för samma 1,0 MW och PF = 0,90 vid 400 V. J">
            <a:extLst xmlns:a="http://schemas.openxmlformats.org/drawingml/2006/main">
              <a:ext uri="{FF2B5EF4-FFF2-40B4-BE49-F238E27FC236}">
                <a16:creationId xmlns:a16="http://schemas.microsoft.com/office/drawing/2014/main" id="{C6EC9CFB-72DE-4726-8A27-0DF56991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linjeströmmen för samma 1,0 MW och PF = 0,90 vid 400 V. Jämför med 6,6 kV.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C1EA3EC-7C2B-4F6A-BC8F-12A8F7A0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5090A9FC-252D-4E94-9310-DEB798DB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4f06e37c84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7F1D99B8-1FDC-4DA7-A1AA-3DE6670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2.4</a:t>
            </a:r>
          </a:p>
        </p:txBody>
      </p:sp>
      <p:sp>
        <p:nvSpPr>
          <p:cNvPr id="10" name="kI = I₁,märk/I₂,märk     I₂ = I₁/kI">
            <a:extLst xmlns:a="http://schemas.openxmlformats.org/drawingml/2006/main">
              <a:ext uri="{FF2B5EF4-FFF2-40B4-BE49-F238E27FC236}">
                <a16:creationId xmlns:a16="http://schemas.microsoft.com/office/drawing/2014/main" id="{92CC9413-F9E2-44D9-AACA-F85CA409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1,märk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2,märk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/k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11" name="kI är strömomsättning utan enhet. Index 1 är primär och 2 sekundä">
            <a:extLst xmlns:a="http://schemas.openxmlformats.org/drawingml/2006/main">
              <a:ext uri="{FF2B5EF4-FFF2-40B4-BE49-F238E27FC236}">
                <a16:creationId xmlns:a16="http://schemas.microsoft.com/office/drawing/2014/main" id="{B6F69245-EBB4-49BA-8FF7-BC0FDC5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omsättningen och saknar enhet; 1 är primärsidan och 2 sekundärsidan.</a:t>
            </a:r>
          </a:p>
        </p:txBody>
      </p:sp>
      <p:sp>
        <p:nvSpPr>
          <p:cNvPr id="12" name="Förutsättningar: Ideal strömtransformator 200/5 A. Primärström I₁">
            <a:extLst xmlns:a="http://schemas.openxmlformats.org/drawingml/2006/main">
              <a:ext uri="{FF2B5EF4-FFF2-40B4-BE49-F238E27FC236}">
                <a16:creationId xmlns:a16="http://schemas.microsoft.com/office/drawing/2014/main" id="{2601B778-16D6-4F28-8BB2-9F8DC40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strömtransformator 200/5 A. Primärströmmen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120 A. Uppgiften gäller bara beräkningen.</a:t>
            </a:r>
          </a:p>
        </p:txBody>
      </p:sp>
      <p:sp>
        <p:nvSpPr>
          <p:cNvPr id="13" name="Arbetsgång: Beräkna omsättningen först. Dividera därefter aktuell">
            <a:extLst xmlns:a="http://schemas.openxmlformats.org/drawingml/2006/main">
              <a:ext uri="{FF2B5EF4-FFF2-40B4-BE49-F238E27FC236}">
                <a16:creationId xmlns:a16="http://schemas.microsoft.com/office/drawing/2014/main" id="{08C9EDF1-8693-4EEC-82B0-6DA27A2F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ut omsättningen och dela sedan primärströmmen med den.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D5F5846D-BEF2-448D-BFB5-E7A2538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c25d535bf4f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9DDD5A68-515F-4E83-9CBB-287FAFA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2.4</a:t>
            </a:r>
          </a:p>
        </p:txBody>
      </p:sp>
      <p:sp>
        <p:nvSpPr>
          <p:cNvPr id="3" name="Strömtransformator">
            <a:extLst xmlns:a="http://schemas.openxmlformats.org/drawingml/2006/main">
              <a:ext uri="{FF2B5EF4-FFF2-40B4-BE49-F238E27FC236}">
                <a16:creationId xmlns:a16="http://schemas.microsoft.com/office/drawing/2014/main" id="{32A84284-AD4E-4763-A3ED-B22F3DE3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Strömtransformator</a:t>
            </a:r>
          </a:p>
        </p:txBody>
      </p:sp>
      <p:sp>
        <p:nvSpPr>
          <p:cNvPr id="4" name="En ideal strömtransformator har omsättningen 200/5 A. Primärström">
            <a:extLst xmlns:a="http://schemas.openxmlformats.org/drawingml/2006/main">
              <a:ext uri="{FF2B5EF4-FFF2-40B4-BE49-F238E27FC236}">
                <a16:creationId xmlns:a16="http://schemas.microsoft.com/office/drawing/2014/main" id="{7C03FEDF-1FC9-449B-BEB8-F8B1D507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strömtransformator har omsättningen 200/5 A. Primärströmmen är 120 A. Beräkna sekundärströmmen.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FBEF9A1-66CF-4A8F-B8AF-4FD769E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7A61E80D-1939-4663-8C79-B78FC8DF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römtransformator 200/5 A med primärstr" descr="Strömtransformator 200/5 A med primärström 120 A; sekundärströmm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55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b5917b776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150D3542-7E59-45A4-A98D-D3D9362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2.5</a:t>
            </a:r>
          </a:p>
        </p:txBody>
      </p:sp>
      <p:sp>
        <p:nvSpPr>
          <p:cNvPr id="10" name="Mätning, beslut och bortkoppling">
            <a:extLst xmlns:a="http://schemas.openxmlformats.org/drawingml/2006/main">
              <a:ext uri="{FF2B5EF4-FFF2-40B4-BE49-F238E27FC236}">
                <a16:creationId xmlns:a16="http://schemas.microsoft.com/office/drawing/2014/main" id="{2EBE2251-986B-4658-BB90-0FDAFB0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Mätning, beslut och bortkoppling</a:t>
            </a:r>
          </a:p>
        </p:txBody>
      </p:sp>
      <p:sp>
        <p:nvSpPr>
          <p:cNvPr id="11" name="Mättransformatorn ger signal. Skyddsreläet bedömer den. Brytaren ">
            <a:extLst xmlns:a="http://schemas.openxmlformats.org/drawingml/2006/main">
              <a:ext uri="{FF2B5EF4-FFF2-40B4-BE49-F238E27FC236}">
                <a16:creationId xmlns:a16="http://schemas.microsoft.com/office/drawing/2014/main" id="{55DB375D-E798-42E8-A9D2-32F6EE0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Mättransformatorn ger en signal, skyddsreläet bedömer den och brytaren bryter när den får kommando.</a:t>
            </a:r>
          </a:p>
        </p:txBody>
      </p:sp>
      <p:sp>
        <p:nvSpPr>
          <p:cNvPr id="12" name="Förutsättningar: Förenklad signalväg i ett reläskyddssystem.">
            <a:extLst xmlns:a="http://schemas.openxmlformats.org/drawingml/2006/main">
              <a:ext uri="{FF2B5EF4-FFF2-40B4-BE49-F238E27FC236}">
                <a16:creationId xmlns:a16="http://schemas.microsoft.com/office/drawing/2014/main" id="{E263C1E9-3AD4-48CC-8C18-41AA2081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förenklad bild av ett reläskydd.</a:t>
            </a:r>
          </a:p>
        </p:txBody>
      </p:sp>
      <p:sp>
        <p:nvSpPr>
          <p:cNvPr id="13" name="Arbetsgång: Ordna delarna enligt deras funktion från strömmätning">
            <a:extLst xmlns:a="http://schemas.openxmlformats.org/drawingml/2006/main">
              <a:ext uri="{FF2B5EF4-FFF2-40B4-BE49-F238E27FC236}">
                <a16:creationId xmlns:a16="http://schemas.microsoft.com/office/drawing/2014/main" id="{84EE58B4-FEB8-4FCC-A7F0-47D6FDC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Sätt delarna i ordning från mätning till bortkoppling.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950D2C6F-D094-4EE6-99C7-131FC74D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35574e1b04e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3AEA692E-40FA-43C4-9D43-B21F10E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2.5</a:t>
            </a:r>
          </a:p>
        </p:txBody>
      </p:sp>
      <p:sp>
        <p:nvSpPr>
          <p:cNvPr id="3" name="Reläskyddets kedja">
            <a:extLst xmlns:a="http://schemas.openxmlformats.org/drawingml/2006/main">
              <a:ext uri="{FF2B5EF4-FFF2-40B4-BE49-F238E27FC236}">
                <a16:creationId xmlns:a16="http://schemas.microsoft.com/office/drawing/2014/main" id="{BA0007A6-0376-401E-89AD-369BE5A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Reläskyddets kedja</a:t>
            </a:r>
          </a:p>
        </p:txBody>
      </p:sp>
      <p:sp>
        <p:nvSpPr>
          <p:cNvPr id="4" name="Ordna dessa funktioner i en signalväg: brytare, mättransformator,">
            <a:extLst xmlns:a="http://schemas.openxmlformats.org/drawingml/2006/main">
              <a:ext uri="{FF2B5EF4-FFF2-40B4-BE49-F238E27FC236}">
                <a16:creationId xmlns:a16="http://schemas.microsoft.com/office/drawing/2014/main" id="{5947AADB-AC39-40C7-9706-F575FDF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a) Sätt delarna i rätt ordning, från mätning till bortkoppling: brytare, mättransformator, skyddsrelä. b) Skyddsreläet behöver egen matning (hjälpspänning). Vad händer om den försvinner?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57326BA-EC3E-4BB0-B9A9-217185B8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19B4C64B-841D-418A-9BDE-D8B2F828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1549ca79d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428F274F-2A87-46D5-A9A9-5726BDA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Skyddsfunktioner&#10;Avstånd och arbetsgräns&#10;Beredning för ett dokume">
            <a:extLst xmlns:a="http://schemas.openxmlformats.org/drawingml/2006/main">
              <a:ext uri="{FF2B5EF4-FFF2-40B4-BE49-F238E27FC236}">
                <a16:creationId xmlns:a16="http://schemas.microsoft.com/office/drawing/2014/main" id="{D4BF55C3-8A45-467D-9DF5-69B7DAD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Skyddsfunktioner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Avstånd och arbetsgräns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Beredning för ett dokumentationsfall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72FD01D1-6D07-4FBD-9F8B-ABEC5F9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2.6–2.10.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06C02AD0-AF09-4C97-AC4B-19B97C6E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0e6ed2b7f4b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kyddsfunktioner">
            <a:extLst xmlns:a="http://schemas.openxmlformats.org/drawingml/2006/main">
              <a:ext uri="{FF2B5EF4-FFF2-40B4-BE49-F238E27FC236}">
                <a16:creationId xmlns:a16="http://schemas.microsoft.com/office/drawing/2014/main" id="{DDD44D3F-939C-4559-8A4F-60AFB43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Skyddsfunktioner</a:t>
            </a:r>
          </a:p>
        </p:txBody>
      </p:sp>
      <p:sp>
        <p:nvSpPr>
          <p:cNvPr id="3" name="Överström, jordfel och differentialskydd reagerar på olika felbil">
            <a:extLst xmlns:a="http://schemas.openxmlformats.org/drawingml/2006/main">
              <a:ext uri="{FF2B5EF4-FFF2-40B4-BE49-F238E27FC236}">
                <a16:creationId xmlns:a16="http://schemas.microsoft.com/office/drawing/2014/main" id="{F6482E6D-3DB4-4C7C-BF7F-7F90496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Överström, jordfel och differentialskydd reagerar på olika felbilder.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Selektivitet ska begränsa bortkoppling till avsett område.</a:t>
            </a:r>
          </a:p>
        </p:txBody>
      </p:sp>
      <p:sp>
        <p:nvSpPr>
          <p:cNvPr id="4" name="Inställning och verifiering hör till anläggningens skyddsplan">
            <a:extLst xmlns:a="http://schemas.openxmlformats.org/drawingml/2006/main">
              <a:ext uri="{FF2B5EF4-FFF2-40B4-BE49-F238E27FC236}">
                <a16:creationId xmlns:a16="http://schemas.microsoft.com/office/drawing/2014/main" id="{64426C46-8892-4EF9-8038-C6F74F6A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Inställning och verifiering hör till anläggningens skyddsplan</a:t>
            </a:r>
          </a:p>
        </p:txBody>
      </p:sp>
      <p:sp>
        <p:nvSpPr>
          <p:cNvPr id="5" name="Ett skydd som inte löser och ett som löser felaktigt&#10;kan båda hot">
            <a:extLst xmlns:a="http://schemas.openxmlformats.org/drawingml/2006/main">
              <a:ext uri="{FF2B5EF4-FFF2-40B4-BE49-F238E27FC236}">
                <a16:creationId xmlns:a16="http://schemas.microsoft.com/office/drawing/2014/main" id="{4BF48DA0-8C14-4086-A69C-D835C0A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skydd som inte löser och ett som löser felaktigt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kan båda hota driftsäkerheten.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7ECA40D9-94E9-45AF-BE19-F633EA7F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9dc2b43a54a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tånd och arbetsgräns">
            <a:extLst xmlns:a="http://schemas.openxmlformats.org/drawingml/2006/main">
              <a:ext uri="{FF2B5EF4-FFF2-40B4-BE49-F238E27FC236}">
                <a16:creationId xmlns:a16="http://schemas.microsoft.com/office/drawing/2014/main" id="{2085D5A1-F991-473C-8700-373A9F0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Avstånd och arbetsgräns</a:t>
            </a:r>
          </a:p>
        </p:txBody>
      </p:sp>
      <p:sp>
        <p:nvSpPr>
          <p:cNvPr id="3" name="Områdes- och arbetsavstånd beror på anläggning och arbetsmetod.&#10;V">
            <a:extLst xmlns:a="http://schemas.openxmlformats.org/drawingml/2006/main">
              <a:ext uri="{FF2B5EF4-FFF2-40B4-BE49-F238E27FC236}">
                <a16:creationId xmlns:a16="http://schemas.microsoft.com/office/drawing/2014/main" id="{7A2E21BB-6959-4DEC-A215-FEF6CD12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Områdes- och arbetsavstånd beror på anläggning och arbetsmetod.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Verktyg, material och rörelseutrymme påverkar gränsen.</a:t>
            </a:r>
          </a:p>
        </p:txBody>
      </p:sp>
      <p:sp>
        <p:nvSpPr>
          <p:cNvPr id="4" name="Inget generellt kursmått ersätter en fastställd arbetsplan">
            <a:extLst xmlns:a="http://schemas.openxmlformats.org/drawingml/2006/main">
              <a:ext uri="{FF2B5EF4-FFF2-40B4-BE49-F238E27FC236}">
                <a16:creationId xmlns:a16="http://schemas.microsoft.com/office/drawing/2014/main" id="{0F35FA67-1F8C-4715-9CCB-CD759AB4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Inget generellt kursmått ersätter en fastställd arbetsplan</a:t>
            </a:r>
          </a:p>
        </p:txBody>
      </p:sp>
      <p:sp>
        <p:nvSpPr>
          <p:cNvPr id="5" name="Ansvarig använder aktuell standard och lokala anvisningar&#10;för spä">
            <a:extLst xmlns:a="http://schemas.openxmlformats.org/drawingml/2006/main">
              <a:ext uri="{FF2B5EF4-FFF2-40B4-BE49-F238E27FC236}">
                <a16:creationId xmlns:a16="http://schemas.microsoft.com/office/drawing/2014/main" id="{B654A725-4E65-46AC-BB32-6E7F09A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Ansvarig använder aktuell standard och lokala anvisningar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spänningsnivån och den konkreta arbetsplatsen.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A3BB7724-D6C6-45D2-B42E-856EA61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d9b90840f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Beredning för ett dokumentationsfall">
            <a:extLst xmlns:a="http://schemas.openxmlformats.org/drawingml/2006/main">
              <a:ext uri="{FF2B5EF4-FFF2-40B4-BE49-F238E27FC236}">
                <a16:creationId xmlns:a16="http://schemas.microsoft.com/office/drawing/2014/main" id="{13E0437A-DF9A-4329-A945-A0F17F1C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Beredning för ett dokumentationsfall</a:t>
            </a:r>
          </a:p>
        </p:txBody>
      </p:sp>
      <p:sp>
        <p:nvSpPr>
          <p:cNvPr id="3" name="Underlaget ska visa objekt, matningsvägar och aktuell driftstatus">
            <a:extLst xmlns:a="http://schemas.openxmlformats.org/drawingml/2006/main">
              <a:ext uri="{FF2B5EF4-FFF2-40B4-BE49-F238E27FC236}">
                <a16:creationId xmlns:a16="http://schemas.microsoft.com/office/drawing/2014/main" id="{3E200244-CA17-44FC-A9C5-0F14922A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Underlaget ska visa objekt, matningsvägar och aktuell driftstatus.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Roller, kommunikation och stoppvillkor behöver vara tydliga.</a:t>
            </a:r>
          </a:p>
        </p:txBody>
      </p:sp>
      <p:sp>
        <p:nvSpPr>
          <p:cNvPr id="4" name="Teoretisk planering utan praktiska HV-manövrer">
            <a:extLst xmlns:a="http://schemas.openxmlformats.org/drawingml/2006/main">
              <a:ext uri="{FF2B5EF4-FFF2-40B4-BE49-F238E27FC236}">
                <a16:creationId xmlns:a16="http://schemas.microsoft.com/office/drawing/2014/main" id="{551B78CE-90A5-4182-8D77-EE852F9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Teoretisk planering utan praktiska HV-manövrer</a:t>
            </a:r>
          </a:p>
        </p:txBody>
      </p:sp>
      <p:sp>
        <p:nvSpPr>
          <p:cNvPr id="5" name="Okänd matning, bristande dokumentation eller oklar status&#10;innebär">
            <a:extLst xmlns:a="http://schemas.openxmlformats.org/drawingml/2006/main">
              <a:ext uri="{FF2B5EF4-FFF2-40B4-BE49-F238E27FC236}">
                <a16:creationId xmlns:a16="http://schemas.microsoft.com/office/drawing/2014/main" id="{5746DF32-9797-407C-ADF3-2F2750B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Okänd matning, bristande dokumentation eller oklar status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innebär att förutsättningarna behöver klarläggas.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12B67106-5322-4E00-A7EA-072FD51C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691ce9c55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strömtransformator">
            <a:extLst xmlns:a="http://schemas.openxmlformats.org/drawingml/2006/main">
              <a:ext uri="{FF2B5EF4-FFF2-40B4-BE49-F238E27FC236}">
                <a16:creationId xmlns:a16="http://schemas.microsoft.com/office/drawing/2014/main" id="{850C533E-A476-45EA-87FD-CD11876A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strömtransformator</a:t>
            </a:r>
          </a:p>
        </p:txBody>
      </p:sp>
      <p:sp>
        <p:nvSpPr>
          <p:cNvPr id="10" name="En ideal strömtransformator är märkt 300/5 A. Primärströmmen är 1">
            <a:extLst xmlns:a="http://schemas.openxmlformats.org/drawingml/2006/main">
              <a:ext uri="{FF2B5EF4-FFF2-40B4-BE49-F238E27FC236}">
                <a16:creationId xmlns:a16="http://schemas.microsoft.com/office/drawing/2014/main" id="{2DC8F500-2BE4-4A5E-9D43-703D357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ideal strömtransformator är märkt 400/5 A. Primärströmmen är 320 A. Endast beräkning på data.</a:t>
            </a:r>
          </a:p>
        </p:txBody>
      </p:sp>
      <p:sp>
        <p:nvSpPr>
          <p:cNvPr id="11" name="kI = I₁,märk/I₂,märk     I₂ = I₁/kI">
            <a:extLst xmlns:a="http://schemas.openxmlformats.org/drawingml/2006/main">
              <a:ext uri="{FF2B5EF4-FFF2-40B4-BE49-F238E27FC236}">
                <a16:creationId xmlns:a16="http://schemas.microsoft.com/office/drawing/2014/main" id="{1ECBB3AC-0BB4-49E4-85BC-9ABC0E5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1,märk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2,märk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    I₂ = I₁/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12" name="1. kI = 300/5 = 60.&#10;2. I₂ = 180/60 = 3 A.&#10;3. Kontroll: 3/5 = 180/">
            <a:extLst xmlns:a="http://schemas.openxmlformats.org/drawingml/2006/main">
              <a:ext uri="{FF2B5EF4-FFF2-40B4-BE49-F238E27FC236}">
                <a16:creationId xmlns:a16="http://schemas.microsoft.com/office/drawing/2014/main" id="{F5DE9E04-559B-4FE1-B537-8BA4361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400/5 = 80.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I₂ = 320/80 = 4,0 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Kontroll: 4,0/5 = 320/400 = 0,80 av märkström på båda sidor.</a:t>
            </a:r>
          </a:p>
        </p:txBody>
      </p:sp>
      <p:sp>
        <p:nvSpPr>
          <p:cNvPr id="13" name="Sekundärkretsen hanteras enligt anläggningens instruktion. Exempl">
            <a:extLst xmlns:a="http://schemas.openxmlformats.org/drawingml/2006/main">
              <a:ext uri="{FF2B5EF4-FFF2-40B4-BE49-F238E27FC236}">
                <a16:creationId xmlns:a16="http://schemas.microsoft.com/office/drawing/2014/main" id="{DDF3F6C3-C800-4B79-AFBF-602BE10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Sekundärkretsen hanteras enligt anläggningens instruktion. Exemplet är ingen kopplingsanvisning.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8BCC79A3-71E8-4F3E-B64D-7675FBC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Strömtransformator 400/5 A med primärstr" descr="Strömtransformator 400/5 A med primärström 320 A och sekundärström 4,0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52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442fed5c4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5EE0A52C-C231-44EF-BA11-602C927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2.6</a:t>
            </a:r>
          </a:p>
        </p:txBody>
      </p:sp>
      <p:sp>
        <p:nvSpPr>
          <p:cNvPr id="10" name="Frånskiljning och brytning kräver olika egenskaper">
            <a:extLst xmlns:a="http://schemas.openxmlformats.org/drawingml/2006/main">
              <a:ext uri="{FF2B5EF4-FFF2-40B4-BE49-F238E27FC236}">
                <a16:creationId xmlns:a16="http://schemas.microsoft.com/office/drawing/2014/main" id="{8853E7E4-2B9D-416E-875F-86041379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Frånskiljning och brytning kräver olika egenskaper</a:t>
            </a:r>
          </a:p>
        </p:txBody>
      </p:sp>
      <p:sp>
        <p:nvSpPr>
          <p:cNvPr id="11" name="En frånskiljare behöver inte vara avsedd för att bryta last- elle">
            <a:extLst xmlns:a="http://schemas.openxmlformats.org/drawingml/2006/main">
              <a:ext uri="{FF2B5EF4-FFF2-40B4-BE49-F238E27FC236}">
                <a16:creationId xmlns:a16="http://schemas.microsoft.com/office/drawing/2014/main" id="{4FB5BD9E-BCDC-437B-9FC8-76FC3DE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frånskiljare är inte nödvändigtvis gjord för att bryta last- eller kortslutningsström.</a:t>
            </a:r>
          </a:p>
        </p:txBody>
      </p:sp>
      <p:sp>
        <p:nvSpPr>
          <p:cNvPr id="12" name="Förutsättningar: Inga apparatdata anger tillåten brytförmåga i fa">
            <a:extLst xmlns:a="http://schemas.openxmlformats.org/drawingml/2006/main">
              <a:ext uri="{FF2B5EF4-FFF2-40B4-BE49-F238E27FC236}">
                <a16:creationId xmlns:a16="http://schemas.microsoft.com/office/drawing/2014/main" id="{DE50194F-B61F-4CDD-A497-C1C7E09A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Det finns inga apparatdata om vad frånskiljaren får bryta.</a:t>
            </a:r>
          </a:p>
        </p:txBody>
      </p:sp>
      <p:sp>
        <p:nvSpPr>
          <p:cNvPr id="13" name="Arbetsgång: Förklara vilken märkning eller dokumentation som behö">
            <a:extLst xmlns:a="http://schemas.openxmlformats.org/drawingml/2006/main">
              <a:ext uri="{FF2B5EF4-FFF2-40B4-BE49-F238E27FC236}">
                <a16:creationId xmlns:a16="http://schemas.microsoft.com/office/drawing/2014/main" id="{A71F4E6A-CF11-4FE9-AE07-E15204BB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Förklara vilken märkning eller dokumentation som behövs innan du vet vad den får användas till.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B64ED6B5-7082-48F6-9A0A-65432CE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568ce97df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F53AC222-CB29-4E52-93FA-6F56D7A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2.6</a:t>
            </a:r>
          </a:p>
        </p:txBody>
      </p:sp>
      <p:sp>
        <p:nvSpPr>
          <p:cNvPr id="3" name="Frånskiljare och brytare">
            <a:extLst xmlns:a="http://schemas.openxmlformats.org/drawingml/2006/main">
              <a:ext uri="{FF2B5EF4-FFF2-40B4-BE49-F238E27FC236}">
                <a16:creationId xmlns:a16="http://schemas.microsoft.com/office/drawing/2014/main" id="{5D9BF46B-4714-425F-A3B8-CB2F1CE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Frånskiljare och brytare</a:t>
            </a:r>
          </a:p>
        </p:txBody>
      </p:sp>
      <p:sp>
        <p:nvSpPr>
          <p:cNvPr id="4" name="Varför ska du inte anta att en frånskiljare får bryta vilken last">
            <a:extLst xmlns:a="http://schemas.openxmlformats.org/drawingml/2006/main">
              <a:ext uri="{FF2B5EF4-FFF2-40B4-BE49-F238E27FC236}">
                <a16:creationId xmlns:a16="http://schemas.microsoft.com/office/drawing/2014/main" id="{A30CD3C8-25B3-4019-8AAC-BA7B8E1C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ska du inte anta att en frånskiljare får bryta vilken last- eller felström som helst?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CB0DB1B-509B-4584-90A3-DD978945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D5019CB5-6054-4764-AD13-EBD3F07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8c1da063e42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4BE75AFF-EFBE-4E99-9294-1091E15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2.7</a:t>
            </a:r>
          </a:p>
        </p:txBody>
      </p:sp>
      <p:sp>
        <p:nvSpPr>
          <p:cNvPr id="10" name="Förregling kan hindra en otillåten manöverföljd">
            <a:extLst xmlns:a="http://schemas.openxmlformats.org/drawingml/2006/main">
              <a:ext uri="{FF2B5EF4-FFF2-40B4-BE49-F238E27FC236}">
                <a16:creationId xmlns:a16="http://schemas.microsoft.com/office/drawing/2014/main" id="{94C6F625-4DA7-443C-948A-5F1246E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Förregling kan hindra en otillåten manöverföljd</a:t>
            </a:r>
          </a:p>
        </p:txBody>
      </p:sp>
      <p:sp>
        <p:nvSpPr>
          <p:cNvPr id="11" name="Ett stopp från en förregling är information om driftläge, villkor">
            <a:extLst xmlns:a="http://schemas.openxmlformats.org/drawingml/2006/main">
              <a:ext uri="{FF2B5EF4-FFF2-40B4-BE49-F238E27FC236}">
                <a16:creationId xmlns:a16="http://schemas.microsoft.com/office/drawing/2014/main" id="{5748ABA8-F0A8-461D-9F54-57A3B67A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en förregling stoppar en manöver säger den något om driftläget eller om ett villkor som inte är uppfyllt.</a:t>
            </a:r>
          </a:p>
        </p:txBody>
      </p:sp>
      <p:sp>
        <p:nvSpPr>
          <p:cNvPr id="12" name="Förutsättningar: Förreglingen hindrar den planerade manövern. Ors">
            <a:extLst xmlns:a="http://schemas.openxmlformats.org/drawingml/2006/main">
              <a:ext uri="{FF2B5EF4-FFF2-40B4-BE49-F238E27FC236}">
                <a16:creationId xmlns:a16="http://schemas.microsoft.com/office/drawing/2014/main" id="{4C599F3C-F859-4AFF-AC9A-0980135D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Förreglingen hindrar den planerade manövern. Orsaken är ännu okänd.</a:t>
            </a:r>
          </a:p>
        </p:txBody>
      </p:sp>
      <p:sp>
        <p:nvSpPr>
          <p:cNvPr id="13" name="Arbetsgång: Ange att orsaken och driftläget ska utredas enligt in">
            <a:extLst xmlns:a="http://schemas.openxmlformats.org/drawingml/2006/main">
              <a:ext uri="{FF2B5EF4-FFF2-40B4-BE49-F238E27FC236}">
                <a16:creationId xmlns:a16="http://schemas.microsoft.com/office/drawing/2014/main" id="{D0CEF46C-9C3C-43A1-AC94-F0BFA64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Tänk på vad en förregling är till för. Vad gör du innan du försöker igen? Beskriv inte hur förreglingen kan förbikopplas.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D53D9E50-57DE-4928-B89D-DD94C910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f9c5fc09c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16B8A4E6-3186-4E93-A117-08417B8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2.7</a:t>
            </a:r>
          </a:p>
        </p:txBody>
      </p:sp>
      <p:sp>
        <p:nvSpPr>
          <p:cNvPr id="3" name="Förregling">
            <a:extLst xmlns:a="http://schemas.openxmlformats.org/drawingml/2006/main">
              <a:ext uri="{FF2B5EF4-FFF2-40B4-BE49-F238E27FC236}">
                <a16:creationId xmlns:a16="http://schemas.microsoft.com/office/drawing/2014/main" id="{B4D49029-24C7-431E-8374-AABFAE3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Förregling</a:t>
            </a:r>
          </a:p>
        </p:txBody>
      </p:sp>
      <p:sp>
        <p:nvSpPr>
          <p:cNvPr id="4" name="En förregling stoppar en planerad manöver. Vad är en rimlig först">
            <a:extLst xmlns:a="http://schemas.openxmlformats.org/drawingml/2006/main">
              <a:ext uri="{FF2B5EF4-FFF2-40B4-BE49-F238E27FC236}">
                <a16:creationId xmlns:a16="http://schemas.microsoft.com/office/drawing/2014/main" id="{8FC47A66-BFD5-406C-8BD5-7115CD7F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förregling stoppar en planerad manöver. Vad är en rimlig första åtgärd?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72745F5-3FB0-4F29-B65E-A9FB355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2890E5E5-5B11-4357-B39C-D4116163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1624ce378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1BD59DAB-1FEE-4C84-8F56-600F17D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2.8</a:t>
            </a:r>
          </a:p>
        </p:txBody>
      </p:sp>
      <p:sp>
        <p:nvSpPr>
          <p:cNvPr id="10" name="Arbetsgräns bestäms för spänning, metod och rörelser">
            <a:extLst xmlns:a="http://schemas.openxmlformats.org/drawingml/2006/main">
              <a:ext uri="{FF2B5EF4-FFF2-40B4-BE49-F238E27FC236}">
                <a16:creationId xmlns:a16="http://schemas.microsoft.com/office/drawing/2014/main" id="{FB2C56DF-95FF-408B-B3A0-65181EC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Arbetsgräns bestäms för spänning, metod och rörelser</a:t>
            </a:r>
          </a:p>
        </p:txBody>
      </p:sp>
      <p:sp>
        <p:nvSpPr>
          <p:cNvPr id="11" name="Avstånd ska täcka även verktyg, material och möjliga rörelser i d">
            <a:extLst xmlns:a="http://schemas.openxmlformats.org/drawingml/2006/main">
              <a:ext uri="{FF2B5EF4-FFF2-40B4-BE49-F238E27FC236}">
                <a16:creationId xmlns:a16="http://schemas.microsoft.com/office/drawing/2014/main" id="{04E69C6A-3D32-4861-B31D-4BE34B26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Avståndet ska räcka även för verktyg, material och de rörelser som kan behövas.</a:t>
            </a:r>
          </a:p>
        </p:txBody>
      </p:sp>
      <p:sp>
        <p:nvSpPr>
          <p:cNvPr id="12" name="Förutsättningar: Förslaget ”en meter” saknar spänningsnivå och fa">
            <a:extLst xmlns:a="http://schemas.openxmlformats.org/drawingml/2006/main">
              <a:ext uri="{FF2B5EF4-FFF2-40B4-BE49-F238E27FC236}">
                <a16:creationId xmlns:a16="http://schemas.microsoft.com/office/drawing/2014/main" id="{B61BA873-258B-4468-8E03-1CF2B82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Till ”en meter” finns ingen spänningsnivå och ingen fastställd arbetsmetod.</a:t>
            </a:r>
          </a:p>
        </p:txBody>
      </p:sp>
      <p:sp>
        <p:nvSpPr>
          <p:cNvPr id="13" name="Arbetsgång: Ange vilka uppgifter som saknas. Ingen numerisk avstå">
            <a:extLst xmlns:a="http://schemas.openxmlformats.org/drawingml/2006/main">
              <a:ext uri="{FF2B5EF4-FFF2-40B4-BE49-F238E27FC236}">
                <a16:creationId xmlns:a16="http://schemas.microsoft.com/office/drawing/2014/main" id="{16EDBCFD-95C0-43B9-B26E-07C8CC62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vilka uppgifter som saknas. Det går inte att räkna fram något avstånd med de här uppgifterna.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E446E5D4-6CA2-44DA-A5E0-985EF3C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41a77227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6863FCB4-3464-4AE5-8F1F-07809E8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2.8</a:t>
            </a:r>
          </a:p>
        </p:txBody>
      </p:sp>
      <p:sp>
        <p:nvSpPr>
          <p:cNvPr id="3" name="Säkerhetsavstånd">
            <a:extLst xmlns:a="http://schemas.openxmlformats.org/drawingml/2006/main">
              <a:ext uri="{FF2B5EF4-FFF2-40B4-BE49-F238E27FC236}">
                <a16:creationId xmlns:a16="http://schemas.microsoft.com/office/drawing/2014/main" id="{3FC71020-DBBC-4DDF-A03A-40C53F3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Säkerhetsavstånd</a:t>
            </a:r>
          </a:p>
        </p:txBody>
      </p:sp>
      <p:sp>
        <p:nvSpPr>
          <p:cNvPr id="4" name="En kollega anger ”en meter brukar räcka” utan spänningsnivå eller">
            <a:extLst xmlns:a="http://schemas.openxmlformats.org/drawingml/2006/main">
              <a:ext uri="{FF2B5EF4-FFF2-40B4-BE49-F238E27FC236}">
                <a16:creationId xmlns:a16="http://schemas.microsoft.com/office/drawing/2014/main" id="{DD4ADFB1-EB12-43B6-BE60-B93456D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kollega säger att ”en meter brukar räcka”, men nämner varken spänning eller arbetsmetod. Duger det som arbetsgräns?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E93A46E9-1990-4A99-A905-AB39A976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AA722D25-0F3C-439B-94DC-D03ED18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a40490fc649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F5C75C94-445F-4956-9DC4-4D4A876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2.9</a:t>
            </a:r>
          </a:p>
        </p:txBody>
      </p:sp>
      <p:sp>
        <p:nvSpPr>
          <p:cNvPr id="10" name="Enlinjeschema och matningsdata behövs för avgränsning">
            <a:extLst xmlns:a="http://schemas.openxmlformats.org/drawingml/2006/main">
              <a:ext uri="{FF2B5EF4-FFF2-40B4-BE49-F238E27FC236}">
                <a16:creationId xmlns:a16="http://schemas.microsoft.com/office/drawing/2014/main" id="{77FA1109-74AE-4B85-93D3-0FB6C3C5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Enlinjeschema och matningsdata behövs för avgränsning</a:t>
            </a:r>
          </a:p>
        </p:txBody>
      </p:sp>
      <p:sp>
        <p:nvSpPr>
          <p:cNvPr id="11" name="Utan huvudvägar och källor kan aktuell elektrisk koppling och möj">
            <a:extLst xmlns:a="http://schemas.openxmlformats.org/drawingml/2006/main">
              <a:ext uri="{FF2B5EF4-FFF2-40B4-BE49-F238E27FC236}">
                <a16:creationId xmlns:a16="http://schemas.microsoft.com/office/drawing/2014/main" id="{A613FC2B-242E-4A1E-ABA6-8F1BF5A7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enlinjeschema visar hur anläggningen matas. Uppgiften om reservmatning visar om det finns fler källor.</a:t>
            </a:r>
          </a:p>
        </p:txBody>
      </p:sp>
      <p:sp>
        <p:nvSpPr>
          <p:cNvPr id="12" name="Förutsättningar: HV-fallet saknar aktuellt enlinjeschema och uppg">
            <a:extLst xmlns:a="http://schemas.openxmlformats.org/drawingml/2006/main">
              <a:ext uri="{FF2B5EF4-FFF2-40B4-BE49-F238E27FC236}">
                <a16:creationId xmlns:a16="http://schemas.microsoft.com/office/drawing/2014/main" id="{CA3A6ED9-81F9-425B-A74A-949C84CF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Ett aktuellt enlinjeschema och uppgift om reservmatning saknas.</a:t>
            </a:r>
          </a:p>
        </p:txBody>
      </p:sp>
      <p:sp>
        <p:nvSpPr>
          <p:cNvPr id="13" name="Arbetsgång: Identifiera två osäkerheter och koppla dem till vilke">
            <a:extLst xmlns:a="http://schemas.openxmlformats.org/drawingml/2006/main">
              <a:ext uri="{FF2B5EF4-FFF2-40B4-BE49-F238E27FC236}">
                <a16:creationId xmlns:a16="http://schemas.microsoft.com/office/drawing/2014/main" id="{3E23A2BD-48BD-4FC4-89CE-5355847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två osäkerheter och vilken kontroll var och en gör omöjlig.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2F87A3F5-FB0B-4A47-8DEC-04585E6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6d2960ea3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6562CFF8-03A5-4A16-A508-AFC41C3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2.9</a:t>
            </a:r>
          </a:p>
        </p:txBody>
      </p:sp>
      <p:sp>
        <p:nvSpPr>
          <p:cNvPr id="3" name="Saknade uppgifter">
            <a:extLst xmlns:a="http://schemas.openxmlformats.org/drawingml/2006/main">
              <a:ext uri="{FF2B5EF4-FFF2-40B4-BE49-F238E27FC236}">
                <a16:creationId xmlns:a16="http://schemas.microsoft.com/office/drawing/2014/main" id="{D57D0699-1AB6-4CAE-807A-7C7D7B7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Saknade uppgifter</a:t>
            </a:r>
          </a:p>
        </p:txBody>
      </p:sp>
      <p:sp>
        <p:nvSpPr>
          <p:cNvPr id="4" name="Ett HV-arbetsfall saknar enlinjeschema och uppgift om reservmatni">
            <a:extLst xmlns:a="http://schemas.openxmlformats.org/drawingml/2006/main">
              <a:ext uri="{FF2B5EF4-FFF2-40B4-BE49-F238E27FC236}">
                <a16:creationId xmlns:a16="http://schemas.microsoft.com/office/drawing/2014/main" id="{CEBC6342-4EE3-41A6-B34A-0D86507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Du ska arbeta i en högspänningsanläggning. Det finns inget enlinjeschema. Ingen vet om det finns reservmatning. Vilka två saker kan du då inte veta säkert?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EF4D5C1-5E88-4057-A40D-EB3E0A13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33A7722B-B975-4F46-A69E-D52EEBAA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0f568476e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FCA72FCB-467B-4E10-9F0B-CCEEAE7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2.10</a:t>
            </a:r>
          </a:p>
        </p:txBody>
      </p:sp>
      <p:sp>
        <p:nvSpPr>
          <p:cNvPr id="10" name="Skyddszon och selektivitet prövas mot händelseförlopp">
            <a:extLst xmlns:a="http://schemas.openxmlformats.org/drawingml/2006/main">
              <a:ext uri="{FF2B5EF4-FFF2-40B4-BE49-F238E27FC236}">
                <a16:creationId xmlns:a16="http://schemas.microsoft.com/office/drawing/2014/main" id="{172ADABF-DABA-4F51-A64C-8F80B363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Skyddszon och selektivitet prövas mot händelseförlopp</a:t>
            </a:r>
          </a:p>
        </p:txBody>
      </p:sp>
      <p:sp>
        <p:nvSpPr>
          <p:cNvPr id="11" name="Reläinställning, mätdata och brytarnas tidsordning visar hur bort">
            <a:extLst xmlns:a="http://schemas.openxmlformats.org/drawingml/2006/main">
              <a:ext uri="{FF2B5EF4-FFF2-40B4-BE49-F238E27FC236}">
                <a16:creationId xmlns:a16="http://schemas.microsoft.com/office/drawing/2014/main" id="{C67C12B1-2A22-4596-BAEC-D0E74D7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Selektivitet betyder att bara skyddet närmast felet ska lösa ut. Här löste fler skydd.</a:t>
            </a:r>
          </a:p>
        </p:txBody>
      </p:sp>
      <p:sp>
        <p:nvSpPr>
          <p:cNvPr id="12" name="Förutsättningar: Ett lokalt fel kopplar bort två friska fördelnin">
            <a:extLst xmlns:a="http://schemas.openxmlformats.org/drawingml/2006/main">
              <a:ext uri="{FF2B5EF4-FFF2-40B4-BE49-F238E27FC236}">
                <a16:creationId xmlns:a16="http://schemas.microsoft.com/office/drawing/2014/main" id="{F8F4E9F1-ED76-4448-B948-DBD9833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Ett fel på ett ställe kopplar bort två felfria fördelningar. Orsaken är inte känd.</a:t>
            </a:r>
          </a:p>
        </p:txBody>
      </p:sp>
      <p:sp>
        <p:nvSpPr>
          <p:cNvPr id="13" name="Arbetsgång: Ange vilka data som behövs för att skilja fel inställ">
            <a:extLst xmlns:a="http://schemas.openxmlformats.org/drawingml/2006/main">
              <a:ext uri="{FF2B5EF4-FFF2-40B4-BE49-F238E27FC236}">
                <a16:creationId xmlns:a16="http://schemas.microsoft.com/office/drawing/2014/main" id="{99EB9F56-4FDE-4CD7-A9BD-96DFAF05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vilka data som behövs för att skilja mellan fel inställning, fel signal och en brytare som inte fungerade som den skulle.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2892843C-DB16-4EC7-B8ED-9BD757D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ac699e40b4c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5486BBBE-2734-4E32-BA28-A02C5C3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2.10</a:t>
            </a:r>
          </a:p>
        </p:txBody>
      </p:sp>
      <p:sp>
        <p:nvSpPr>
          <p:cNvPr id="3" name="Skydd som löser för mycket">
            <a:extLst xmlns:a="http://schemas.openxmlformats.org/drawingml/2006/main">
              <a:ext uri="{FF2B5EF4-FFF2-40B4-BE49-F238E27FC236}">
                <a16:creationId xmlns:a16="http://schemas.microsoft.com/office/drawing/2014/main" id="{490F35EE-614B-43C5-A946-CC8C0938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Skydd som löser för mycket</a:t>
            </a:r>
          </a:p>
        </p:txBody>
      </p:sp>
      <p:sp>
        <p:nvSpPr>
          <p:cNvPr id="4" name="Ett lokalt fel släcker två friska fördelningar. Vilka delar av an">
            <a:extLst xmlns:a="http://schemas.openxmlformats.org/drawingml/2006/main">
              <a:ext uri="{FF2B5EF4-FFF2-40B4-BE49-F238E27FC236}">
                <a16:creationId xmlns:a16="http://schemas.microsoft.com/office/drawing/2014/main" id="{CA84501F-D7F6-4177-A78E-20DAC9D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blir ett fel på ett ställe. Ändå blir två andra fördelningar strömlösa, fast de är hela. Vilka uppgifter behöver du för att ta reda på varför?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6689B3F-CD29-43D2-B4C6-686324A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8C57B46C-DBDD-438E-B8CD-AF40A65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Bildobjekt 2"/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Skyddsfunktioner">
            <a:extLst>
              <a:ext uri="{FF2B5EF4-FFF2-40B4-BE49-F238E27FC236}">
                <a16:creationId xmlns:a16="http://schemas.microsoft.com/office/drawing/2014/main" id="{DDD44D3F-939C-4559-8A4F-60AFB4359972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Neutralpunktsjordning i HV-nät</a:t>
            </a:r>
          </a:p>
        </p:txBody>
      </p:sp>
      <p:sp>
        <p:nvSpPr>
          <p:cNvPr id="3" name="Överström, jordfel och differentialskydd reagerar på olika felbil">
            <a:extLst>
              <a:ext uri="{FF2B5EF4-FFF2-40B4-BE49-F238E27FC236}">
                <a16:creationId xmlns:a16="http://schemas.microsoft.com/office/drawing/2014/main" id="{F6482E6D-3DB4-4C7C-BF7F-7F904968C6CF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977639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Fartygens 6,6 och 11 kV-nät har ofta neutralpunkten jordad via ett motstånd (NER).</a:t>
            </a:r>
          </a:p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Motståndet begränsar jordfelsströmmen till en bestämd nivå.</a:t>
            </a:r>
          </a:p>
        </p:txBody>
      </p:sp>
      <p:sp>
        <p:nvSpPr>
          <p:cNvPr id="4" name="Inställning och verifiering hör till anläggningens skyddsplan">
            <a:extLst>
              <a:ext uri="{FF2B5EF4-FFF2-40B4-BE49-F238E27FC236}">
                <a16:creationId xmlns:a16="http://schemas.microsoft.com/office/drawing/2014/main" id="{64426C46-8892-4EF9-8038-C6F74F6A8F59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3977639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Jordfelsskyddet larmar eller löser ut</a:t>
            </a:r>
          </a:p>
        </p:txBody>
      </p:sp>
      <p:sp>
        <p:nvSpPr>
          <p:cNvPr id="5" name="Ett skydd som inte löser och ett som löser felaktigt&#10;kan båda hot">
            <a:extLst>
              <a:ext uri="{FF2B5EF4-FFF2-40B4-BE49-F238E27FC236}">
                <a16:creationId xmlns:a16="http://schemas.microsoft.com/office/drawing/2014/main" id="{4BF48DA0-8C14-4086-A69C-D835C0A93FB7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3977639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Jordfelsreläet larmar eller löser ut enligt skyddsplanen.</a:t>
            </a:r>
          </a:p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Hur många generatorer som har jordad neutralpunkt samtidigt styrs så att felströmmen blir den avsedda.</a:t>
            </a:r>
          </a:p>
        </p:txBody>
      </p:sp>
      <p:sp>
        <p:nvSpPr>
          <p:cNvPr id="6" name="13">
            <a:extLst>
              <a:ext uri="{FF2B5EF4-FFF2-40B4-BE49-F238E27FC236}">
                <a16:creationId xmlns:a16="http://schemas.microsoft.com/office/drawing/2014/main" id="{7ECA40D9-94E9-45AF-BE19-F633EA7F60E3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pic>
        <p:nvPicPr>
          <p:cNvPr id="9" name="Figur: Generator 6,6 kV med neutralpunkten jord" descr="Generator 6,6 kV med neutralpunkten jordad via ett motstånd och ett jordfelsrelä; ett jordfel på L1 ger en felström genom skrovet och motståndet, begränsad av motstånd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9936869cd4f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2175428D-EAC9-4855-8C9F-1FF405A7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a anläggningsuppgifter behövs innan ett arbetsavstånd kan bes">
            <a:extLst xmlns:a="http://schemas.openxmlformats.org/drawingml/2006/main">
              <a:ext uri="{FF2B5EF4-FFF2-40B4-BE49-F238E27FC236}">
                <a16:creationId xmlns:a16="http://schemas.microsoft.com/office/drawing/2014/main" id="{11EA58CC-0EF3-40B3-84D8-C93D1A6B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anläggningsuppgifter behövs innan ett arbetsavstånd kan bestämmas?</a:t>
            </a:r>
          </a:p>
        </p:txBody>
      </p:sp>
      <p:sp>
        <p:nvSpPr>
          <p:cNvPr id="4" name="Komplettera v44-underlaget med ett enlinjeschema och markerade sk">
            <a:extLst xmlns:a="http://schemas.openxmlformats.org/drawingml/2006/main">
              <a:ext uri="{FF2B5EF4-FFF2-40B4-BE49-F238E27FC236}">
                <a16:creationId xmlns:a16="http://schemas.microsoft.com/office/drawing/2014/main" id="{30D3D5BF-7A33-48BD-B9C1-A70CED8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Komplettera v44-underlaget med ett enlinjeschema och markerade skyddsfunktioner. Inga praktiska HV-manövrer ingår i distanspasset.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AC359330-B4E2-4982-BFBD-7015BBBB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62473d0be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7D6DD5DE-974B-40E7-A5B4-67397CD8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1681E7B8-A4C4-4E11-9B18-A715C41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Elsäkerhetsverket: spänningsbegrepp">
            <a:extLst xmlns:a="http://schemas.openxmlformats.org/drawingml/2006/main">
              <a:ext uri="{FF2B5EF4-FFF2-40B4-BE49-F238E27FC236}">
                <a16:creationId xmlns:a16="http://schemas.microsoft.com/office/drawing/2014/main" id="{68D2BADD-5230-4F99-A58A-16B08E86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2fe9cc48a6b4042"/>
              </a:rPr>
              <a:t>Elsäkerhetsverket: spänningsbegrepp</a:t>
            </a:r>
          </a:p>
        </p:txBody>
      </p:sp>
      <p:sp>
        <p:nvSpPr>
          <p:cNvPr id="5" name="SEK: SS-EN 50110-1, utgåva 4:2024">
            <a:extLst xmlns:a="http://schemas.openxmlformats.org/drawingml/2006/main">
              <a:ext uri="{FF2B5EF4-FFF2-40B4-BE49-F238E27FC236}">
                <a16:creationId xmlns:a16="http://schemas.microsoft.com/office/drawing/2014/main" id="{CB25CC07-1C4C-461F-8087-F207FB16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bbc25d2f8184321"/>
              </a:rPr>
              <a:t>SEK: SS-EN 50110-1, utgåva 4:2024</a:t>
            </a:r>
          </a:p>
        </p:txBody>
      </p:sp>
      <p:sp>
        <p:nvSpPr>
          <p:cNvPr id="6" name="Schneider Electric: samordning av skydd">
            <a:extLst xmlns:a="http://schemas.openxmlformats.org/drawingml/2006/main">
              <a:ext uri="{FF2B5EF4-FFF2-40B4-BE49-F238E27FC236}">
                <a16:creationId xmlns:a16="http://schemas.microsoft.com/office/drawing/2014/main" id="{AD3857D8-34F7-4DEC-AD20-5E6938F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3e73bd0816f448b"/>
              </a:rPr>
              <a:t>Schneider Electric: samordning av skydd</a:t>
            </a:r>
          </a:p>
        </p:txBody>
      </p:sp>
      <p:sp>
        <p:nvSpPr>
          <p:cNvPr id="7" name="Schneider Electric: skenbar effekt">
            <a:extLst xmlns:a="http://schemas.openxmlformats.org/drawingml/2006/main">
              <a:ext uri="{FF2B5EF4-FFF2-40B4-BE49-F238E27FC236}">
                <a16:creationId xmlns:a16="http://schemas.microsoft.com/office/drawing/2014/main" id="{4CAA91A5-6329-4B9B-BD3A-430D259E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98b15715964e6b"/>
              </a:rPr>
              <a:t>Schneider Electric: skenbar effekt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1272C37D-E3EC-4FE3-B642-CDB4532C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2026-09-20T20:10:19.3790000Z</dcterms:created>
  <dcterms:modified xsi:type="dcterms:W3CDTF">2026-09-20T20:10:19.3790000Z</dcterms:modified>
</coreProperties>
</file>