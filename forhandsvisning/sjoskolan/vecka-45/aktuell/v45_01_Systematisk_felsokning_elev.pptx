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a1da54daf284ae5" Type="http://schemas.openxmlformats.org/package/2006/relationships/metadata/core-properties" Target="docProps/core.xml"/><Relationship Id="R30cc4b948d9f4412" Type="http://schemas.openxmlformats.org/officeDocument/2006/relationships/extended-properties" Target="docProps/app.xml"/><Relationship Id="R41d19f0b708b4526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4e67c45e5f324a2b"/>
  </p:sldMasterIdLst>
  <p:sldIdLst>
    <p:sldId id="256" r:id="R3c4f2df984b1486b"/>
    <p:sldId id="257" r:id="Ra899b8603edd48fa"/>
    <p:sldId id="258" r:id="Rce19ca2cfec84118"/>
    <p:sldId id="259" r:id="Ree5c39f7dbf54c14"/>
    <p:sldId id="260" r:id="R5d90f03277fb413c"/>
    <p:sldId id="261" r:id="Raa220c5193d749a5"/>
    <p:sldId id="262" r:id="R88aa55cb2f1d4131"/>
    <p:sldId id="263" r:id="R3dfec5dadbd749ed"/>
    <p:sldId id="264" r:id="Re8d35cd2a0714f8c"/>
    <p:sldId id="265" r:id="Rb5727a64f9ff45cc"/>
    <p:sldId id="266" r:id="R14b1048de3cf4ef9"/>
    <p:sldId id="267" r:id="Re84e58c97e18431b"/>
    <p:sldId id="268" r:id="R67a35918e804407b"/>
    <p:sldId id="269" r:id="R93383f6cb51b4cad"/>
    <p:sldId id="270" r:id="Rb0dc5c4947404e37"/>
    <p:sldId id="271" r:id="Rbe509ab2d17b4048"/>
    <p:sldId id="272" r:id="Rbf87ff24d2954a20"/>
    <p:sldId id="273" r:id="Ra1d799a06e4847ff"/>
    <p:sldId id="274" r:id="Rf3f1402ad0cf4a73"/>
    <p:sldId id="275" r:id="R6d8fed4c68c440b6"/>
    <p:sldId id="276" r:id="Rab7dba79c2734e77"/>
    <p:sldId id="277" r:id="R6cb57f084f624f89"/>
    <p:sldId id="278" r:id="R833903a517ff4984"/>
    <p:sldId id="279" r:id="R1518deec3dd84d97"/>
    <p:sldId id="280" r:id="Rf00d62cca1ff4c71"/>
    <p:sldId id="281" r:id="R8a1f7d0187d144e8"/>
    <p:sldId id="282" r:id="R9ba526fc63ea464b"/>
    <p:sldId id="283" r:id="R3b5ac8bb8ce642bf"/>
    <p:sldId id="284" r:id="Ra3044d5fa2bf40c8"/>
    <p:sldId id="285" r:id="R722687e5dca14b29"/>
    <p:sldId id="286" r:id="R56a2ffee4ce4435d"/>
    <p:sldId id="287" r:id="R239cc08479fd4439"/>
    <p:sldId id="288" r:id="R06839f91f10648c8"/>
    <p:sldId id="289" r:id="Rf90ee653ea2549d8"/>
    <p:sldId id="290" r:id="R936dd3c469924153"/>
    <p:sldId id="291" r:id="Rb50d35529d9e4e8a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6839f91f10648c8" Type="http://schemas.openxmlformats.org/officeDocument/2006/relationships/slide" Target="slides/slide33.xml"/><Relationship Id="R14b1048de3cf4ef9" Type="http://schemas.openxmlformats.org/officeDocument/2006/relationships/slide" Target="slides/slide11.xml"/><Relationship Id="R1518deec3dd84d97" Type="http://schemas.openxmlformats.org/officeDocument/2006/relationships/slide" Target="slides/slide24.xml"/><Relationship Id="R239cc08479fd4439" Type="http://schemas.openxmlformats.org/officeDocument/2006/relationships/slide" Target="slides/slide32.xml"/><Relationship Id="R3b5ac8bb8ce642bf" Type="http://schemas.openxmlformats.org/officeDocument/2006/relationships/slide" Target="slides/slide28.xml"/><Relationship Id="R3bcbd40a75b6442b" Type="http://schemas.openxmlformats.org/officeDocument/2006/relationships/tableStyles" Target="tableStyles.xml"/><Relationship Id="R3c4f2df984b1486b" Type="http://schemas.openxmlformats.org/officeDocument/2006/relationships/slide" Target="slides/slide1.xml"/><Relationship Id="R3dfec5dadbd749ed" Type="http://schemas.openxmlformats.org/officeDocument/2006/relationships/slide" Target="slides/slide8.xml"/><Relationship Id="R46dea4d844ce4e0c" Type="http://schemas.openxmlformats.org/officeDocument/2006/relationships/presProps" Target="presProps.xml"/><Relationship Id="R4e67c45e5f324a2b" Type="http://schemas.openxmlformats.org/officeDocument/2006/relationships/slideMaster" Target="slideMasters/slideMaster1.xml"/><Relationship Id="R56a2ffee4ce4435d" Type="http://schemas.openxmlformats.org/officeDocument/2006/relationships/slide" Target="slides/slide31.xml"/><Relationship Id="R5d90f03277fb413c" Type="http://schemas.openxmlformats.org/officeDocument/2006/relationships/slide" Target="slides/slide5.xml"/><Relationship Id="R67a35918e804407b" Type="http://schemas.openxmlformats.org/officeDocument/2006/relationships/slide" Target="slides/slide13.xml"/><Relationship Id="R67dba998fea84382" Type="http://schemas.openxmlformats.org/officeDocument/2006/relationships/viewProps" Target="viewProps.xml"/><Relationship Id="R6cb57f084f624f89" Type="http://schemas.openxmlformats.org/officeDocument/2006/relationships/slide" Target="slides/slide22.xml"/><Relationship Id="R6d8fed4c68c440b6" Type="http://schemas.openxmlformats.org/officeDocument/2006/relationships/slide" Target="slides/slide20.xml"/><Relationship Id="R722687e5dca14b29" Type="http://schemas.openxmlformats.org/officeDocument/2006/relationships/slide" Target="slides/slide30.xml"/><Relationship Id="R833903a517ff4984" Type="http://schemas.openxmlformats.org/officeDocument/2006/relationships/slide" Target="slides/slide23.xml"/><Relationship Id="R88aa55cb2f1d4131" Type="http://schemas.openxmlformats.org/officeDocument/2006/relationships/slide" Target="slides/slide7.xml"/><Relationship Id="R8a1f7d0187d144e8" Type="http://schemas.openxmlformats.org/officeDocument/2006/relationships/slide" Target="slides/slide26.xml"/><Relationship Id="R93383f6cb51b4cad" Type="http://schemas.openxmlformats.org/officeDocument/2006/relationships/slide" Target="slides/slide14.xml"/><Relationship Id="R936dd3c469924153" Type="http://schemas.openxmlformats.org/officeDocument/2006/relationships/slide" Target="slides/slide35.xml"/><Relationship Id="R9ba526fc63ea464b" Type="http://schemas.openxmlformats.org/officeDocument/2006/relationships/slide" Target="slides/slide27.xml"/><Relationship Id="Ra1d799a06e4847ff" Type="http://schemas.openxmlformats.org/officeDocument/2006/relationships/slide" Target="slides/slide18.xml"/><Relationship Id="Ra3044d5fa2bf40c8" Type="http://schemas.openxmlformats.org/officeDocument/2006/relationships/slide" Target="slides/slide29.xml"/><Relationship Id="Ra899b8603edd48fa" Type="http://schemas.openxmlformats.org/officeDocument/2006/relationships/slide" Target="slides/slide2.xml"/><Relationship Id="Raa220c5193d749a5" Type="http://schemas.openxmlformats.org/officeDocument/2006/relationships/slide" Target="slides/slide6.xml"/><Relationship Id="Rab7dba79c2734e77" Type="http://schemas.openxmlformats.org/officeDocument/2006/relationships/slide" Target="slides/slide21.xml"/><Relationship Id="Rb0dc5c4947404e37" Type="http://schemas.openxmlformats.org/officeDocument/2006/relationships/slide" Target="slides/slide15.xml"/><Relationship Id="Rb50d35529d9e4e8a" Type="http://schemas.openxmlformats.org/officeDocument/2006/relationships/slide" Target="slides/slide36.xml"/><Relationship Id="Rb5727a64f9ff45cc" Type="http://schemas.openxmlformats.org/officeDocument/2006/relationships/slide" Target="slides/slide10.xml"/><Relationship Id="Rbe509ab2d17b4048" Type="http://schemas.openxmlformats.org/officeDocument/2006/relationships/slide" Target="slides/slide16.xml"/><Relationship Id="Rbf87ff24d2954a20" Type="http://schemas.openxmlformats.org/officeDocument/2006/relationships/slide" Target="slides/slide17.xml"/><Relationship Id="Rce19ca2cfec84118" Type="http://schemas.openxmlformats.org/officeDocument/2006/relationships/slide" Target="slides/slide3.xml"/><Relationship Id="Re74ffeb11e244104" Type="http://schemas.openxmlformats.org/officeDocument/2006/relationships/theme" Target="theme/theme1.xml"/><Relationship Id="Re84e58c97e18431b" Type="http://schemas.openxmlformats.org/officeDocument/2006/relationships/slide" Target="slides/slide12.xml"/><Relationship Id="Re8d35cd2a0714f8c" Type="http://schemas.openxmlformats.org/officeDocument/2006/relationships/slide" Target="slides/slide9.xml"/><Relationship Id="Ree5c39f7dbf54c14" Type="http://schemas.openxmlformats.org/officeDocument/2006/relationships/slide" Target="slides/slide4.xml"/><Relationship Id="Rf00d62cca1ff4c71" Type="http://schemas.openxmlformats.org/officeDocument/2006/relationships/slide" Target="slides/slide25.xml"/><Relationship Id="Rf3f1402ad0cf4a73" Type="http://schemas.openxmlformats.org/officeDocument/2006/relationships/slide" Target="slides/slide19.xml"/><Relationship Id="Rf90ee653ea2549d8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0f7ae018741f4be7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07ee34ad2f2b4e1d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f74dcf3c7fa348e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08f1c0ff882e4d8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c417ef08b0314ed8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15d926f2692d44f9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2675641083e542f5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f55ca4156fbb4f55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89896603a08e494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4143897ede074b02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449ff92e6bde4ef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014DD8-7B4F-4710-8503-0FF31FC51E9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08B8D72-5D3C-4DB0-A2B4-6B05AFB475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3D6BB-29A2-43DC-9036-8B7F03DDB5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B85350-A8C1-4F2A-8C5B-97B0A359FC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8B6D9-945F-4CA0-ABBB-787C3B023F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B67EE9-8652-42AC-9AE8-72EF3B0E24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62731F0-514A-4337-B89E-80B5BE6A1A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F7DDC3-F45B-4E75-AD92-8A70167224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4180D6-6E47-4194-BBAD-629E6E2F02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EAD643-516E-4773-9211-4AC34CE0C2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398E4E-897F-42F0-A2A2-D3E90FCAB2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90A82B-EA33-4D0E-9D01-1E1D298DE5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C049C65-0F40-49B0-804E-EB3C1BBBFA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0422D94-7EC3-4BAA-925D-7C1EF69E5E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03E764-4B85-4D69-81BF-8DFF327C5F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4E0979-D08B-458D-88F0-CEB86311E6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7143D51-E02E-4793-9472-25D25BBBC7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9149B3C-0C0B-4F91-9446-56E0337CC6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D3FC708-8922-4406-B8A4-31EFEB998E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E9A34AF-6377-4382-9FF0-7751E7DE78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E1B18D9-FE18-4C8A-82DC-A350739F6B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4B9FDE-6369-4E62-970E-42BD65B08C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D59B6CB-4361-4AF9-AE40-7CABC3651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F0ADF6-9229-4FBD-8C70-4AF4524733C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5241E88-E49D-43A6-9004-198C634889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E7DCE63-9DF0-4A20-B143-1AA8840B815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18503B8-86C2-4E88-A658-B833F9E938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991365C-A27C-4D24-9087-C15967D5C4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A2FE514-B3C3-456B-BFEA-5D4C38DD93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3FBC7C-C3AE-4B7D-8B8B-FCDEEDD80C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90F2F5D-A9CF-4CF0-B173-D4D975F05D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C9CB42A-F7F5-452F-B235-0171AB2869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A8D9C9F-915B-4CF7-8FE1-79A642D47A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C9DAE18-3B36-4FEC-AF7B-48CACDBFF8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6C8BBE8-8FC8-4283-8288-686189BB1F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654C38-612D-490E-B6F0-4DEC115A95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178EB3-9CA3-49E6-B628-BADFA0DD03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617104-559D-4EDA-AF6C-D6E8324330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E7E2250-3C0A-46AC-ADCE-EAEE7B0E98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D8AC43D-6EB3-451F-9FA1-185AF5498D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9FBDC29-38B9-4E3F-89D5-045F8BE62A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4BEE776-DC7D-40FD-A096-463C18BD2F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A9F0B47-C1C5-4DAE-B740-96C539B342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7C125EE-214E-40FB-9C03-9ACABCF945B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9EACD61-0415-4560-A6FF-E4E18A91D5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3D7CF3-2C5D-479F-9294-3A13FD02AE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8093CE0-FDD3-4FBB-BE99-293DFEC54C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B8CF320-8352-405C-9197-B05B3ADC63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C9FC36-A4C4-49F8-83C3-C369B164F7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775164A-C883-47E3-AF64-58BDF2EC97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5946BEF-36C0-4133-92BB-8BC3578746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CBD1B5-F984-4B4F-8CB5-D7BA271484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25AB69F-2F7A-4742-B69F-C6A015C6FD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9E7A41F-203A-4B37-98FC-DB2CB0C4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A1F7DD-A0CE-449F-9F86-397408924B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540C20-0932-403A-87EC-8250A7D154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A501A5-4E80-47E2-A480-BB995A1929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82F7E3-1E9F-4576-A91E-B3707172EA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377e52c1ecd0490a" Type="http://schemas.openxmlformats.org/officeDocument/2006/relationships/slideLayout" Target="../slideLayouts/slideLayout4.xml"/><Relationship Id="R389fe113229f4758" Type="http://schemas.openxmlformats.org/officeDocument/2006/relationships/slideLayout" Target="../slideLayouts/slideLayout3.xml"/><Relationship Id="R3f69c546504e450b" Type="http://schemas.openxmlformats.org/officeDocument/2006/relationships/theme" Target="theme/theme2.xml"/><Relationship Id="R56b182909d904c75" Type="http://schemas.openxmlformats.org/officeDocument/2006/relationships/slideLayout" Target="../slideLayouts/slideLayout8.xml"/><Relationship Id="R5e030202382647db" Type="http://schemas.openxmlformats.org/officeDocument/2006/relationships/slideLayout" Target="../slideLayouts/slideLayout10.xml"/><Relationship Id="R624232bd2bef4a07" Type="http://schemas.openxmlformats.org/officeDocument/2006/relationships/slideLayout" Target="../slideLayouts/slideLayout2.xml"/><Relationship Id="R762b05789df142d6" Type="http://schemas.openxmlformats.org/officeDocument/2006/relationships/slideLayout" Target="../slideLayouts/slideLayout9.xml"/><Relationship Id="R7aa3ac6583744570" Type="http://schemas.openxmlformats.org/officeDocument/2006/relationships/slideLayout" Target="../slideLayouts/slideLayout6.xml"/><Relationship Id="R809ea93622d74d1b" Type="http://schemas.openxmlformats.org/officeDocument/2006/relationships/slideLayout" Target="../slideLayouts/slideLayout7.xml"/><Relationship Id="R818ba723f4fd419f" Type="http://schemas.openxmlformats.org/officeDocument/2006/relationships/slideLayout" Target="../slideLayouts/slideLayout5.xml"/><Relationship Id="R8d03b1b2dbf14ba8" Type="http://schemas.openxmlformats.org/officeDocument/2006/relationships/slideLayout" Target="../slideLayouts/slideLayout11.xml"/><Relationship Id="Rd4d3294026084aae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5D878BD-95C5-4FC7-A1FE-E82E7A414F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BEB24-6387-4BF2-AA3C-BA9B344DCE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42FB6F-B660-4F25-B73C-2951C09DFF3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98B267-A0E9-415C-A6C4-E5BC6508FD4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60A9A7-72F9-4284-B6B0-C3720A9CA7C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d3294026084aae"/>
    <p:sldLayoutId xmlns:r="http://schemas.openxmlformats.org/officeDocument/2006/relationships" id="2147483650" r:id="R624232bd2bef4a07"/>
    <p:sldLayoutId xmlns:r="http://schemas.openxmlformats.org/officeDocument/2006/relationships" id="2147483651" r:id="R389fe113229f4758"/>
    <p:sldLayoutId xmlns:r="http://schemas.openxmlformats.org/officeDocument/2006/relationships" id="2147483652" r:id="R377e52c1ecd0490a"/>
    <p:sldLayoutId xmlns:r="http://schemas.openxmlformats.org/officeDocument/2006/relationships" id="2147483653" r:id="R818ba723f4fd419f"/>
    <p:sldLayoutId xmlns:r="http://schemas.openxmlformats.org/officeDocument/2006/relationships" id="2147483654" r:id="R7aa3ac6583744570"/>
    <p:sldLayoutId xmlns:r="http://schemas.openxmlformats.org/officeDocument/2006/relationships" id="2147483655" r:id="R809ea93622d74d1b"/>
    <p:sldLayoutId xmlns:r="http://schemas.openxmlformats.org/officeDocument/2006/relationships" id="2147483656" r:id="R56b182909d904c75"/>
    <p:sldLayoutId xmlns:r="http://schemas.openxmlformats.org/officeDocument/2006/relationships" id="2147483657" r:id="R762b05789df142d6"/>
    <p:sldLayoutId xmlns:r="http://schemas.openxmlformats.org/officeDocument/2006/relationships" id="2147483658" r:id="R5e030202382647db"/>
    <p:sldLayoutId xmlns:r="http://schemas.openxmlformats.org/officeDocument/2006/relationships" id="2147483659" r:id="R8d03b1b2dbf14ba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00bac5abd0b4d9e" Type="http://schemas.openxmlformats.org/officeDocument/2006/relationships/image" Target="../media/image.png"/><Relationship Id="R60de8cd2d2e5422e" Type="http://schemas.openxmlformats.org/officeDocument/2006/relationships/slideLayout" Target="../slideLayouts/slideLayout1.xml"/><Relationship Id="Rd5472d5717154f06" Type="http://schemas.openxmlformats.org/officeDocument/2006/relationships/image" Target="../media/image.jpeg"/></Relationships>
</file>

<file path=ppt/slides/_rels/slide2.xml.rels><?xml version='1.0' encoding='UTF-8' standalone='yes'?>
<Relationships xmlns="http://schemas.openxmlformats.org/package/2006/relationships"><Relationship Id="R3593f533ec93420f" Type="http://schemas.openxmlformats.org/officeDocument/2006/relationships/slideLayout" Target="../slideLayouts/slideLayout1.xml"/><Relationship Id="R8873e6ec69894ea4" Type="http://schemas.openxmlformats.org/officeDocument/2006/relationships/image" Target="../media/image.jpeg"/></Relationships>
</file>

<file path=ppt/slides/_rels/slide3.xml.rels><?xml version='1.0' encoding='UTF-8' standalone='yes'?>
<Relationships xmlns="http://schemas.openxmlformats.org/package/2006/relationships"><Relationship Id="Rb6966424e14a433d" Type="http://schemas.openxmlformats.org/officeDocument/2006/relationships/slideLayout" Target="../slideLayouts/slideLayout1.xml"/><Relationship Id="Rec314681d7944593" Type="http://schemas.openxmlformats.org/officeDocument/2006/relationships/image" Target="../media/image.jpeg"/></Relationships>
</file>

<file path=ppt/slides/_rels/slide4.xml.rels><?xml version='1.0' encoding='UTF-8' standalone='yes'?>
<Relationships xmlns="http://schemas.openxmlformats.org/package/2006/relationships"><Relationship Id="R14bc23cdaf2a40f3" Type="http://schemas.openxmlformats.org/officeDocument/2006/relationships/image" Target="../media/image.jpeg"/><Relationship Id="Ra02a9038050542d6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278562e95ebe43e7" Type="http://schemas.openxmlformats.org/officeDocument/2006/relationships/slideLayout" Target="../slideLayouts/slideLayout1.xml"/><Relationship Id="Rc0e87f894cf1444e" Type="http://schemas.openxmlformats.org/officeDocument/2006/relationships/image" Target="../media/image.jpeg"/></Relationships>
</file>

<file path=ppt/slides/_rels/slide6.xml.rels><?xml version='1.0' encoding='UTF-8' standalone='yes'?>
<Relationships xmlns="http://schemas.openxmlformats.org/package/2006/relationships"><Relationship Id="Rac840d0edb054be6" Type="http://schemas.openxmlformats.org/officeDocument/2006/relationships/image" Target="../media/image.jpeg"/><Relationship Id="Rca18e26bb39942bc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1652a4ec94d44217" Type="http://schemas.openxmlformats.org/officeDocument/2006/relationships/slideLayout" Target="../slideLayouts/slideLayout1.xml"/><Relationship Id="R5df18e20e23b4b86" Type="http://schemas.openxmlformats.org/officeDocument/2006/relationships/image" Target="../media/image.jpeg"/></Relationships>
</file>

<file path=ppt/slides/_rels/slide8.xml.rels><?xml version='1.0' encoding='UTF-8' standalone='yes'?>
<Relationships xmlns="http://schemas.openxmlformats.org/package/2006/relationships"><Relationship Id="Rafb551260ae54d0f" Type="http://schemas.openxmlformats.org/officeDocument/2006/relationships/slideLayout" Target="../slideLayouts/slideLayout1.xml"/><Relationship Id="Rbb8e963439014140" Type="http://schemas.openxmlformats.org/officeDocument/2006/relationships/image" Target="../media/image.jpe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85aa3df6097c4af3" Type="http://schemas.openxmlformats.org/officeDocument/2006/relationships/slideLayout" Target="../slideLayouts/slideLayout1.xml"/><Relationship Id="Re98fcbda4e5c46b9" Type="http://schemas.openxmlformats.org/officeDocument/2006/relationships/image" Target="../media/image.jpeg"/></Relationships>
</file>

<file path=ppt/slides/_rels/slide10.xml.rels><?xml version='1.0' encoding='UTF-8' standalone='yes'?>
<Relationships xmlns="http://schemas.openxmlformats.org/package/2006/relationships"><Relationship Id="R2679b95d26e74277" Type="http://schemas.openxmlformats.org/officeDocument/2006/relationships/image" Target="../media/image.jpeg"/><Relationship Id="R845a96a240e94094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0fae5dfb0bcc4809" Type="http://schemas.openxmlformats.org/officeDocument/2006/relationships/image" Target="../media/image.jpeg"/><Relationship Id="R3efd22676e934b1b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1465591c3684575" Type="http://schemas.openxmlformats.org/officeDocument/2006/relationships/slideLayout" Target="../slideLayouts/slideLayout1.xml"/><Relationship Id="Raf9f0e4cfe8e4311" Type="http://schemas.openxmlformats.org/officeDocument/2006/relationships/image" Target="../media/image.jpeg"/></Relationships>
</file>

<file path=ppt/slides/_rels/slide13.xml.rels><?xml version='1.0' encoding='UTF-8' standalone='yes'?>
<Relationships xmlns="http://schemas.openxmlformats.org/package/2006/relationships"><Relationship Id="R2c431ead4ffb4c61" Type="http://schemas.openxmlformats.org/officeDocument/2006/relationships/slideLayout" Target="../slideLayouts/slideLayout1.xml"/><Relationship Id="Ra014c1b6a457410e" Type="http://schemas.openxmlformats.org/officeDocument/2006/relationships/image" Target="../media/image.jpeg"/></Relationships>
</file>

<file path=ppt/slides/_rels/slide14.xml.rels><?xml version='1.0' encoding='UTF-8' standalone='yes'?>
<Relationships xmlns="http://schemas.openxmlformats.org/package/2006/relationships"><Relationship Id="R0b9813afc522417b" Type="http://schemas.openxmlformats.org/officeDocument/2006/relationships/slideLayout" Target="../slideLayouts/slideLayout1.xml"/><Relationship Id="R8f50196e9a1a4852" Type="http://schemas.openxmlformats.org/officeDocument/2006/relationships/image" Target="../media/image.jpeg"/></Relationships>
</file>

<file path=ppt/slides/_rels/slide15.xml.rels><?xml version='1.0' encoding='UTF-8' standalone='yes'?>
<Relationships xmlns="http://schemas.openxmlformats.org/package/2006/relationships"><Relationship Id="R2eafcf1c98444e39" Type="http://schemas.openxmlformats.org/officeDocument/2006/relationships/image" Target="../media/image.jpeg"/><Relationship Id="Ra6556026cf4a45f0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39e68a65aa124bf8" Type="http://schemas.openxmlformats.org/officeDocument/2006/relationships/image" Target="../media/image.jpeg"/><Relationship Id="R87386bf36faf4964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9390b45617774503" Type="http://schemas.openxmlformats.org/officeDocument/2006/relationships/slideLayout" Target="../slideLayouts/slideLayout1.xml"/><Relationship Id="Re0dc27a8622242b1" Type="http://schemas.openxmlformats.org/officeDocument/2006/relationships/image" Target="../media/image.jpe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4ed46eaf97984144" Type="http://schemas.openxmlformats.org/officeDocument/2006/relationships/slideLayout" Target="../slideLayouts/slideLayout1.xml"/><Relationship Id="Re02ed253727a4546" Type="http://schemas.openxmlformats.org/officeDocument/2006/relationships/image" Target="../media/image.jpeg"/></Relationships>
</file>

<file path=ppt/slides/_rels/slide19.xml.rels><?xml version='1.0' encoding='UTF-8' standalone='yes'?>
<Relationships xmlns="http://schemas.openxmlformats.org/package/2006/relationships"><Relationship Id="R526aa5ba2ee64383" Type="http://schemas.openxmlformats.org/officeDocument/2006/relationships/image" Target="../media/image.jpeg"/><Relationship Id="R6772e5ac01064cf3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d06c144a41234974" Type="http://schemas.openxmlformats.org/officeDocument/2006/relationships/slideLayout" Target="../slideLayouts/slideLayout1.xml"/><Relationship Id="Rf8944baf52da47b0" Type="http://schemas.openxmlformats.org/officeDocument/2006/relationships/image" Target="../media/image.jpeg"/></Relationships>
</file>

<file path=ppt/slides/_rels/slide21.xml.rels><?xml version='1.0' encoding='UTF-8' standalone='yes'?>
<Relationships xmlns="http://schemas.openxmlformats.org/package/2006/relationships"><Relationship Id="R30e7f2d0245d4b49" Type="http://schemas.openxmlformats.org/officeDocument/2006/relationships/image" Target="../media/image.jpeg"/><Relationship Id="R8ac39784a2c74a8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6cbe85c786cd441f" Type="http://schemas.openxmlformats.org/officeDocument/2006/relationships/image" Target="../media/image.jpeg"/><Relationship Id="Rfa989a6099c44979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e7e79a28e8c84577" Type="http://schemas.openxmlformats.org/officeDocument/2006/relationships/image" Target="../media/image.jpeg"/><Relationship Id="Rfcfd08053b6a4d8f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87f79fb4dcdb4b20" Type="http://schemas.openxmlformats.org/officeDocument/2006/relationships/image" Target="../media/image.jpeg"/><Relationship Id="R8e9c2e39ca88446b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348a18b8da6b4ae5" Type="http://schemas.openxmlformats.org/officeDocument/2006/relationships/image" Target="../media/image.jpeg"/><Relationship Id="R576e2669b7d04f3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45f0251b52db4e6a" Type="http://schemas.openxmlformats.org/officeDocument/2006/relationships/slideLayout" Target="../slideLayouts/slideLayout1.xml"/><Relationship Id="R8c32e36e32e84544" Type="http://schemas.openxmlformats.org/officeDocument/2006/relationships/image" Target="../media/image.jpeg"/></Relationships>
</file>

<file path=ppt/slides/_rels/slide27.xml.rels><?xml version='1.0' encoding='UTF-8' standalone='yes'?>
<Relationships xmlns="http://schemas.openxmlformats.org/package/2006/relationships"><Relationship Id="Ra06b51940b48455d" Type="http://schemas.openxmlformats.org/officeDocument/2006/relationships/image" Target="../media/image.jpeg"/><Relationship Id="Rb7ed3234e2984ec6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02e4250f8b3d494e" Type="http://schemas.openxmlformats.org/officeDocument/2006/relationships/image" Target="../media/image.jpeg"/><Relationship Id="Rc0b24e16cb3d4ed0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0c5e4ffefe964c70" Type="http://schemas.openxmlformats.org/officeDocument/2006/relationships/image" Target="../media/image.jpeg"/><Relationship Id="Rf10cc6938d454ae7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07d52410053945f6" Type="http://schemas.openxmlformats.org/officeDocument/2006/relationships/slideLayout" Target="../slideLayouts/slideLayout1.xml"/><Relationship Id="Rb021cb5b615641cd" Type="http://schemas.openxmlformats.org/officeDocument/2006/relationships/image" Target="../media/image.jpeg"/></Relationships>
</file>

<file path=ppt/slides/_rels/slide31.xml.rels><?xml version='1.0' encoding='UTF-8' standalone='yes'?>
<Relationships xmlns="http://schemas.openxmlformats.org/package/2006/relationships"><Relationship Id="R7342f49fa78e46ee" Type="http://schemas.openxmlformats.org/officeDocument/2006/relationships/image" Target="../media/image.jpeg"/><Relationship Id="Ra6897e6afe6a463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081fab6ee7fb4b07" Type="http://schemas.openxmlformats.org/officeDocument/2006/relationships/image" Target="../media/image.jpeg"/><Relationship Id="Rf2f80857ba6442f6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69e368c1a70642b6" Type="http://schemas.openxmlformats.org/officeDocument/2006/relationships/slideLayout" Target="../slideLayouts/slideLayout1.xml"/><Relationship Id="Rf9543c300d374260" Type="http://schemas.openxmlformats.org/officeDocument/2006/relationships/image" Target="../media/image.jpeg"/></Relationships>
</file>

<file path=ppt/slides/_rels/slide34.xml.rels><?xml version='1.0' encoding='UTF-8' standalone='yes'?>
<Relationships xmlns="http://schemas.openxmlformats.org/package/2006/relationships"><Relationship Id="Ra48d9848e0f84079" Type="http://schemas.openxmlformats.org/officeDocument/2006/relationships/slideLayout" Target="../slideLayouts/slideLayout1.xml"/><Relationship Id="Rb1f6eba6f0f943d5" Type="http://schemas.openxmlformats.org/officeDocument/2006/relationships/image" Target="../media/image.jpeg"/></Relationships>
</file>

<file path=ppt/slides/_rels/slide35.xml.rels><?xml version='1.0' encoding='UTF-8' standalone='yes'?>
<Relationships xmlns="http://schemas.openxmlformats.org/package/2006/relationships"><Relationship Id="R33fccdf9cc6c4aca" Type="http://schemas.openxmlformats.org/officeDocument/2006/relationships/slideLayout" Target="../slideLayouts/slideLayout1.xml"/><Relationship Id="Rf8fe69a32c6f4537" Type="http://schemas.openxmlformats.org/officeDocument/2006/relationships/image" Target="../media/image.jpeg"/></Relationships>
</file>

<file path=ppt/slides/_rels/slide36.xml.rels><?xml version='1.0' encoding='UTF-8' standalone='yes'?>
<Relationships xmlns="http://schemas.openxmlformats.org/package/2006/relationships"><Relationship Id="R115459bebbf742a9" Type="http://schemas.openxmlformats.org/officeDocument/2006/relationships/hyperlink" Target="https://openstax.org/books/university-physics-volume-2/pages/10-3-kirchhoffs-rules" TargetMode="External"/><Relationship Id="R2465c1e053a64b8a" Type="http://schemas.openxmlformats.org/officeDocument/2006/relationships/image" Target="../media/image.jpeg"/><Relationship Id="R4d957ad3e1b1475f" Type="http://schemas.openxmlformats.org/officeDocument/2006/relationships/slideLayout" Target="../slideLayouts/slideLayout1.xml"/><Relationship Id="R66a313a6ccb646be" Type="http://schemas.openxmlformats.org/officeDocument/2006/relationships/hyperlink" Target="https://elstandard.se/documents/preview/3246401" TargetMode="External"/><Relationship Id="Rd56427a37a92486f" Type="http://schemas.openxmlformats.org/officeDocument/2006/relationships/hyperlink" Target="https://dam-assets.fluke.com.cn/s3fs-public/2100079_6003_ENG_D_W.PDF" TargetMode="Externa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72d5717154f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bac5abd0b4d9e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A9B8545C-5071-4050-934B-04FE2B5B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5FE75B4D-9324-48B7-9267-680C8AEA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Systematisk felsökning</a:t>
            </a:r>
          </a:p>
        </p:txBody>
      </p:sp>
      <p:sp>
        <p:nvSpPr>
          <p:cNvPr id="13" name="Felbilder, halveringsmetod och skiljande kontroller">
            <a:extLst xmlns:a="http://schemas.openxmlformats.org/drawingml/2006/main">
              <a:ext uri="{FF2B5EF4-FFF2-40B4-BE49-F238E27FC236}">
                <a16:creationId xmlns:a16="http://schemas.microsoft.com/office/drawing/2014/main" id="{27582B42-CDAB-4B60-9DB9-0872E28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Felbilder, halveringsmetod och skiljande kontroller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F53B6CEE-762D-4264-877C-FD214E8E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3e6ec69894e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ål och startfråga">
            <a:extLst xmlns:a="http://schemas.openxmlformats.org/drawingml/2006/main">
              <a:ext uri="{FF2B5EF4-FFF2-40B4-BE49-F238E27FC236}">
                <a16:creationId xmlns:a16="http://schemas.microsoft.com/office/drawing/2014/main" id="{D41C181F-C3DF-4399-961E-17CED4AB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3" name="Avgränsa ett felområde med schema och mätdata.">
            <a:extLst xmlns:a="http://schemas.openxmlformats.org/drawingml/2006/main">
              <a:ext uri="{FF2B5EF4-FFF2-40B4-BE49-F238E27FC236}">
                <a16:creationId xmlns:a16="http://schemas.microsoft.com/office/drawing/2014/main" id="{F7036481-6DA5-42AF-B384-E976DA50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Avgränsa ett felområde med schema och mätdata.</a:t>
            </a:r>
          </a:p>
        </p:txBody>
      </p:sp>
      <p:sp>
        <p:nvSpPr>
          <p:cNvPr id="4" name="Välja en kontroll som skiljer två möjliga felorsaker.">
            <a:extLst xmlns:a="http://schemas.openxmlformats.org/drawingml/2006/main">
              <a:ext uri="{FF2B5EF4-FFF2-40B4-BE49-F238E27FC236}">
                <a16:creationId xmlns:a16="http://schemas.microsoft.com/office/drawing/2014/main" id="{05F7221F-2286-4AFD-8EFB-7872EFC2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Välja en kontroll som skiljer två möjliga felorsaker.</a:t>
            </a:r>
          </a:p>
        </p:txBody>
      </p:sp>
      <p:sp>
        <p:nvSpPr>
          <p:cNvPr id="5" name="Startfråga">
            <a:extLst xmlns:a="http://schemas.openxmlformats.org/drawingml/2006/main">
              <a:ext uri="{FF2B5EF4-FFF2-40B4-BE49-F238E27FC236}">
                <a16:creationId xmlns:a16="http://schemas.microsoft.com/office/drawing/2014/main" id="{3B00892A-918B-42AC-BB9B-643FCE7F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6" name="Vad är skillnaden mellan att mäta många saker och att välja en mä">
            <a:extLst xmlns:a="http://schemas.openxmlformats.org/drawingml/2006/main">
              <a:ext uri="{FF2B5EF4-FFF2-40B4-BE49-F238E27FC236}">
                <a16:creationId xmlns:a16="http://schemas.microsoft.com/office/drawing/2014/main" id="{801A04B1-CA18-4972-A75F-D5004D52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är skillnaden mellan att mäta många saker och att välja en mätning som besvarar en fråga?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DB74DBFB-F112-4911-AF18-37225C52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14681d7944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Dagens två pass">
            <a:extLst xmlns:a="http://schemas.openxmlformats.org/drawingml/2006/main">
              <a:ext uri="{FF2B5EF4-FFF2-40B4-BE49-F238E27FC236}">
                <a16:creationId xmlns:a16="http://schemas.microsoft.com/office/drawing/2014/main" id="{41D36E56-2006-4986-A626-C7BF1913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1" name="Pass 1: 45 minuter">
            <a:extLst xmlns:a="http://schemas.openxmlformats.org/drawingml/2006/main">
              <a:ext uri="{FF2B5EF4-FFF2-40B4-BE49-F238E27FC236}">
                <a16:creationId xmlns:a16="http://schemas.microsoft.com/office/drawing/2014/main" id="{A2D1EE0F-A9BD-40D5-8FD5-4E11CD75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45 minuter</a:t>
            </a:r>
          </a:p>
        </p:txBody>
      </p:sp>
      <p:sp>
        <p:nvSpPr>
          <p:cNvPr id="12" name="5 min begrepp, 20 min teori och genomräknade exempel&#10;15 min övnin">
            <a:extLst xmlns:a="http://schemas.openxmlformats.org/drawingml/2006/main">
              <a:ext uri="{FF2B5EF4-FFF2-40B4-BE49-F238E27FC236}">
                <a16:creationId xmlns:a16="http://schemas.microsoft.com/office/drawing/2014/main" id="{E5F58658-BBF9-4000-8484-A30276EE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begrepp, 20 min teori och genomräknade exempel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1.1, 1.2 och 1.4, 5 min återkoppling</a:t>
            </a:r>
          </a:p>
        </p:txBody>
      </p:sp>
      <p:sp>
        <p:nvSpPr>
          <p:cNvPr id="13" name="Pass 2: 45 minuter">
            <a:extLst xmlns:a="http://schemas.openxmlformats.org/drawingml/2006/main">
              <a:ext uri="{FF2B5EF4-FFF2-40B4-BE49-F238E27FC236}">
                <a16:creationId xmlns:a16="http://schemas.microsoft.com/office/drawing/2014/main" id="{D8DFC1C0-2B99-4F27-81B5-4C252352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45 minuter</a:t>
            </a:r>
          </a:p>
        </p:txBody>
      </p:sp>
      <p:sp>
        <p:nvSpPr>
          <p:cNvPr id="14" name="20 min teori och exempel, 15 min övning 6, 7, 8&#10;8 min lösningsdis">
            <a:extLst xmlns:a="http://schemas.openxmlformats.org/drawingml/2006/main">
              <a:ext uri="{FF2B5EF4-FFF2-40B4-BE49-F238E27FC236}">
                <a16:creationId xmlns:a16="http://schemas.microsoft.com/office/drawing/2014/main" id="{8AC78481-A71A-45A1-A53F-F413EA3E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teori och exempel, 15 min övning 1.6, 1.7 och 1.8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 min lösningsdiskussion, 2 min avslut</a:t>
            </a:r>
          </a:p>
        </p:txBody>
      </p:sp>
      <p:sp>
        <p:nvSpPr>
          <p:cNvPr id="15" name="Stödbilderna används under arbetet. Övriga övningar: egen studiet">
            <a:extLst xmlns:a="http://schemas.openxmlformats.org/drawingml/2006/main">
              <a:ext uri="{FF2B5EF4-FFF2-40B4-BE49-F238E27FC236}">
                <a16:creationId xmlns:a16="http://schemas.microsoft.com/office/drawing/2014/main" id="{91028D62-609B-4AE9-82D2-327D9F73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Stödbilderna används under arbetet. Övriga övningar: egen studietid.</a:t>
            </a:r>
          </a:p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tio med utförlig genomgång: cirka 90–110 min. Paus tillkommer.</a:t>
            </a:r>
          </a:p>
        </p:txBody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E68E38CF-8D28-44AC-BA27-3DFA0166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c23cdaf2a40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Observation och prövbar hypotes">
            <a:extLst xmlns:a="http://schemas.openxmlformats.org/drawingml/2006/main">
              <a:ext uri="{FF2B5EF4-FFF2-40B4-BE49-F238E27FC236}">
                <a16:creationId xmlns:a16="http://schemas.microsoft.com/office/drawing/2014/main" id="{F415954A-43B0-4B76-B2A7-1BAE3A7F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Observation och prövbar hypotes</a:t>
            </a:r>
          </a:p>
        </p:txBody>
      </p:sp>
      <p:sp>
        <p:nvSpPr>
          <p:cNvPr id="10" name="Observation är ett beskrivet symtom eller ett mätvärde.">
            <a:extLst xmlns:a="http://schemas.openxmlformats.org/drawingml/2006/main">
              <a:ext uri="{FF2B5EF4-FFF2-40B4-BE49-F238E27FC236}">
                <a16:creationId xmlns:a16="http://schemas.microsoft.com/office/drawing/2014/main" id="{9FA0F5A8-5DCB-4C4F-B755-6FC8ACF0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Observation är ett beskrivet symtom eller ett mätvärde.</a:t>
            </a:r>
          </a:p>
        </p:txBody>
      </p:sp>
      <p:sp>
        <p:nvSpPr>
          <p:cNvPr id="11" name="Hypotes är en möjlig förklaring som ännu behöver prövas.">
            <a:extLst xmlns:a="http://schemas.openxmlformats.org/drawingml/2006/main">
              <a:ext uri="{FF2B5EF4-FFF2-40B4-BE49-F238E27FC236}">
                <a16:creationId xmlns:a16="http://schemas.microsoft.com/office/drawing/2014/main" id="{D9AFC209-6528-43CE-82EA-E2588D0B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Hypotes är en möjlig förklaring som ännu behöver prövas.</a:t>
            </a:r>
          </a:p>
        </p:txBody>
      </p:sp>
      <p:sp>
        <p:nvSpPr>
          <p:cNvPr id="12" name="Skiljande kontroll ska ge olika resultat för olika orsaker.">
            <a:extLst xmlns:a="http://schemas.openxmlformats.org/drawingml/2006/main">
              <a:ext uri="{FF2B5EF4-FFF2-40B4-BE49-F238E27FC236}">
                <a16:creationId xmlns:a16="http://schemas.microsoft.com/office/drawing/2014/main" id="{3A34EF7C-EF3A-471A-BE0C-F900E0DE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Skiljande kontroll ska ge olika resultat för olika orsaker.</a:t>
            </a:r>
          </a:p>
        </p:txBody>
      </p:sp>
      <p:sp>
        <p:nvSpPr>
          <p:cNvPr id="13" name="Slutsats anger vad data stödjer och vilka frågor som återstår.">
            <a:extLst xmlns:a="http://schemas.openxmlformats.org/drawingml/2006/main">
              <a:ext uri="{FF2B5EF4-FFF2-40B4-BE49-F238E27FC236}">
                <a16:creationId xmlns:a16="http://schemas.microsoft.com/office/drawing/2014/main" id="{CC8EF551-03AA-4D46-8B11-4952EBDE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Slutsats anger vad data stödjer och vilka frågor som återstår.</a:t>
            </a:r>
          </a:p>
        </p:txBody>
      </p:sp>
      <p:sp>
        <p:nvSpPr>
          <p:cNvPr id="14" name="4">
            <a:extLst xmlns:a="http://schemas.openxmlformats.org/drawingml/2006/main">
              <a:ext uri="{FF2B5EF4-FFF2-40B4-BE49-F238E27FC236}">
                <a16:creationId xmlns:a16="http://schemas.microsoft.com/office/drawing/2014/main" id="{EEFC57F9-87A8-4983-8263-07FCCE04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87f894cf144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94BBEF83-9ED1-4BCA-80DA-D03055DF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02506544-8AB4-47AE-AC6A-4B4D2F47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85FAC192-4D5F-4ADA-A751-3D3A4199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7772C83A-9C2F-495F-AE0C-80FFBA81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B0F02B59-F5A3-4C31-BB81-7C028006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14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20485B8F-42DC-4067-8F2B-BE2FFA01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13BE9B6C-1EB1-41BA-9D72-43B3E6FB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AB0D3E2F-1B20-4FF4-A27C-2C8C3BC3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40d0edb054b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Felsökningens arbetsgång">
            <a:extLst xmlns:a="http://schemas.openxmlformats.org/drawingml/2006/main">
              <a:ext uri="{FF2B5EF4-FFF2-40B4-BE49-F238E27FC236}">
                <a16:creationId xmlns:a16="http://schemas.microsoft.com/office/drawing/2014/main" id="{EA9B9CBE-6B8F-491B-BE4A-CA19A472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Felsökningens arbetsgång</a:t>
            </a:r>
          </a:p>
        </p:txBody>
      </p:sp>
      <p:sp>
        <p:nvSpPr>
          <p:cNvPr id="3" name="Bekräfta symtomet och den förväntade funktionen.&#10;Avgränsa systeme">
            <a:extLst xmlns:a="http://schemas.openxmlformats.org/drawingml/2006/main">
              <a:ext uri="{FF2B5EF4-FFF2-40B4-BE49-F238E27FC236}">
                <a16:creationId xmlns:a16="http://schemas.microsoft.com/office/drawing/2014/main" id="{1BE112EC-A55C-4D23-88BE-6A015080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Bekräfta symtomet och den förväntade funktionen.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Avgränsa systemet innan möjliga orsaker prövas.</a:t>
            </a:r>
          </a:p>
        </p:txBody>
      </p:sp>
      <p:sp>
        <p:nvSpPr>
          <p:cNvPr id="4" name="Symtom, hypotes, kontroll, slutsats">
            <a:extLst xmlns:a="http://schemas.openxmlformats.org/drawingml/2006/main">
              <a:ext uri="{FF2B5EF4-FFF2-40B4-BE49-F238E27FC236}">
                <a16:creationId xmlns:a16="http://schemas.microsoft.com/office/drawing/2014/main" id="{E34F21DE-2443-45BE-8BE5-54968AFA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Symtom, hypotes, kontroll, slutsats</a:t>
            </a:r>
          </a:p>
        </p:txBody>
      </p:sp>
      <p:sp>
        <p:nvSpPr>
          <p:cNvPr id="5" name="Skriv vad varje kontroll ska kunna bekräfta eller utesluta.&#10;Riskb">
            <a:extLst xmlns:a="http://schemas.openxmlformats.org/drawingml/2006/main">
              <a:ext uri="{FF2B5EF4-FFF2-40B4-BE49-F238E27FC236}">
                <a16:creationId xmlns:a16="http://schemas.microsoft.com/office/drawing/2014/main" id="{4B2467B0-5843-4883-A12D-F7F7C17B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vad varje kontroll ska kunna bekräfta eller utesluta.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Riskbedömning och arbetsmetod följer varje moment.</a:t>
            </a:r>
          </a:p>
        </p:txBody>
      </p:sp>
      <p:sp>
        <p:nvSpPr>
          <p:cNvPr id="6" name="4">
            <a:extLst xmlns:a="http://schemas.openxmlformats.org/drawingml/2006/main">
              <a:ext uri="{FF2B5EF4-FFF2-40B4-BE49-F238E27FC236}">
                <a16:creationId xmlns:a16="http://schemas.microsoft.com/office/drawing/2014/main" id="{54174E17-0F96-4416-B71D-C9E1BD24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18e20e23b4b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Funktionsuppdelning">
            <a:extLst xmlns:a="http://schemas.openxmlformats.org/drawingml/2006/main">
              <a:ext uri="{FF2B5EF4-FFF2-40B4-BE49-F238E27FC236}">
                <a16:creationId xmlns:a16="http://schemas.microsoft.com/office/drawing/2014/main" id="{9FAA6B1A-0E4D-47DB-8F1A-B3031FDF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Funktionsuppdelning</a:t>
            </a:r>
          </a:p>
        </p:txBody>
      </p:sp>
      <p:sp>
        <p:nvSpPr>
          <p:cNvPr id="3" name="Dela systemet i källa, matningsväg, styrning och last.&#10;Avgör vilk">
            <a:extLst xmlns:a="http://schemas.openxmlformats.org/drawingml/2006/main">
              <a:ext uri="{FF2B5EF4-FFF2-40B4-BE49-F238E27FC236}">
                <a16:creationId xmlns:a16="http://schemas.microsoft.com/office/drawing/2014/main" id="{D8311DF0-BA13-40AF-AF65-8CEC79C5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Dela systemet i källa, matningsväg, skydd, styrning och last.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Avgör vilka delar som redan har stöd av observationerna.</a:t>
            </a:r>
          </a:p>
        </p:txBody>
      </p:sp>
      <p:sp>
        <p:nvSpPr>
          <p:cNvPr id="4" name="Fungerande manöver bevisar inte fungerande kraftdel">
            <a:extLst xmlns:a="http://schemas.openxmlformats.org/drawingml/2006/main">
              <a:ext uri="{FF2B5EF4-FFF2-40B4-BE49-F238E27FC236}">
                <a16:creationId xmlns:a16="http://schemas.microsoft.com/office/drawing/2014/main" id="{0B1234E7-237E-461B-B532-2CC0ADC8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Fungerande manöver bevisar inte fungerande kraftdel</a:t>
            </a:r>
          </a:p>
        </p:txBody>
      </p:sp>
      <p:sp>
        <p:nvSpPr>
          <p:cNvPr id="5" name="En motor kan ha rätt startkommando men sakna en fas.&#10;Mätpunkten s">
            <a:extLst xmlns:a="http://schemas.openxmlformats.org/drawingml/2006/main">
              <a:ext uri="{FF2B5EF4-FFF2-40B4-BE49-F238E27FC236}">
                <a16:creationId xmlns:a16="http://schemas.microsoft.com/office/drawing/2014/main" id="{B0CC4A6F-F5D4-4EF6-B85B-65BD16D6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motor kan ha rätt startkommando men sakna en fas.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Mätpunkten ska väljas efter den funktion som prövas.</a:t>
            </a:r>
          </a:p>
        </p:txBody>
      </p:sp>
      <p:sp>
        <p:nvSpPr>
          <p:cNvPr id="6" name="5">
            <a:extLst xmlns:a="http://schemas.openxmlformats.org/drawingml/2006/main">
              <a:ext uri="{FF2B5EF4-FFF2-40B4-BE49-F238E27FC236}">
                <a16:creationId xmlns:a16="http://schemas.microsoft.com/office/drawing/2014/main" id="{58885DFB-954D-47A2-BAB7-13AB200E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e9634390141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Halveringsmetoden">
            <a:extLst xmlns:a="http://schemas.openxmlformats.org/drawingml/2006/main">
              <a:ext uri="{FF2B5EF4-FFF2-40B4-BE49-F238E27FC236}">
                <a16:creationId xmlns:a16="http://schemas.microsoft.com/office/drawing/2014/main" id="{86E92C54-ADF0-40D3-8B04-8128C019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Halveringsmetoden</a:t>
            </a:r>
          </a:p>
        </p:txBody>
      </p:sp>
      <p:sp>
        <p:nvSpPr>
          <p:cNvPr id="3" name="En kontroll ungefär mitt i en kedja kan halvera sökområdet.&#10;Metod">
            <a:extLst xmlns:a="http://schemas.openxmlformats.org/drawingml/2006/main">
              <a:ext uri="{FF2B5EF4-FFF2-40B4-BE49-F238E27FC236}">
                <a16:creationId xmlns:a16="http://schemas.microsoft.com/office/drawing/2014/main" id="{4D98FFC1-FE98-4721-93D3-50E0B7A8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kontroll ungefär mitt i en kedja kan halvera sökområdet.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Metoden fungerar när schema och referenspunkt är kända.</a:t>
            </a:r>
          </a:p>
        </p:txBody>
      </p:sp>
      <p:sp>
        <p:nvSpPr>
          <p:cNvPr id="4" name="Mellanpunktens värde styr nästa delområde">
            <a:extLst xmlns:a="http://schemas.openxmlformats.org/drawingml/2006/main">
              <a:ext uri="{FF2B5EF4-FFF2-40B4-BE49-F238E27FC236}">
                <a16:creationId xmlns:a16="http://schemas.microsoft.com/office/drawing/2014/main" id="{02A65AD9-C3F2-4F11-9440-D4494C37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Mellanpunktens värde styr nästa delområde</a:t>
            </a:r>
          </a:p>
        </p:txBody>
      </p:sp>
      <p:sp>
        <p:nvSpPr>
          <p:cNvPr id="5" name="Finns rätt spänning vid mitten men inte vid lasten&#10;undersöks i fö">
            <a:extLst xmlns:a="http://schemas.openxmlformats.org/drawingml/2006/main">
              <a:ext uri="{FF2B5EF4-FFF2-40B4-BE49-F238E27FC236}">
                <a16:creationId xmlns:a16="http://schemas.microsoft.com/office/drawing/2014/main" id="{1ABE2357-0247-4445-AEBD-497BC29A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Finns rätt spänning vid mitten men inte vid lasten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undersöks i första hand den senare delen av matningsvägen.</a:t>
            </a:r>
          </a:p>
        </p:txBody>
      </p:sp>
      <p:sp>
        <p:nvSpPr>
          <p:cNvPr id="6" name="6">
            <a:extLst xmlns:a="http://schemas.openxmlformats.org/drawingml/2006/main">
              <a:ext uri="{FF2B5EF4-FFF2-40B4-BE49-F238E27FC236}">
                <a16:creationId xmlns:a16="http://schemas.microsoft.com/office/drawing/2014/main" id="{8589D76F-3297-4D88-8EE5-5757E659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Matningskedja med mätpunkterna A till E " descr="Matningskedja med mätpunkterna A till E mellan källa och last; den första mätningen görs i mitten vid C och avgör vilken halva som undersök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52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fcbda4e5c46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observation och hypotes">
            <a:extLst xmlns:a="http://schemas.openxmlformats.org/drawingml/2006/main">
              <a:ext uri="{FF2B5EF4-FFF2-40B4-BE49-F238E27FC236}">
                <a16:creationId xmlns:a16="http://schemas.microsoft.com/office/drawing/2014/main" id="{782231E4-5419-414B-BA85-9DF92784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observation och hypotes</a:t>
            </a:r>
          </a:p>
        </p:txBody>
      </p:sp>
      <p:sp>
        <p:nvSpPr>
          <p:cNvPr id="10" name="En 12 V-lampa lyser inte. Källan visar 12 V under provet, men lam">
            <a:extLst xmlns:a="http://schemas.openxmlformats.org/drawingml/2006/main">
              <a:ext uri="{FF2B5EF4-FFF2-40B4-BE49-F238E27FC236}">
                <a16:creationId xmlns:a16="http://schemas.microsoft.com/office/drawing/2014/main" id="{97E421A2-19FD-4E44-9F0A-EB78AECD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12 V-lampa lyser inte. Källan visar 12 V under provet, men lampan har 0 V mot hel retur.</a:t>
            </a:r>
          </a:p>
        </p:txBody>
      </p:sp>
      <p:sp>
        <p:nvSpPr>
          <p:cNvPr id="11" name="Observation används för att avgränsa sökområdet">
            <a:extLst xmlns:a="http://schemas.openxmlformats.org/drawingml/2006/main">
              <a:ext uri="{FF2B5EF4-FFF2-40B4-BE49-F238E27FC236}">
                <a16:creationId xmlns:a16="http://schemas.microsoft.com/office/drawing/2014/main" id="{F89B95EE-26BE-439B-97EF-FA52F383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Observation används för att avgränsa sökområdet</a:t>
            </a:r>
          </a:p>
        </p:txBody>
      </p:sp>
      <p:sp>
        <p:nvSpPr>
          <p:cNvPr id="12" name="1. Observation: normal källspänning men bortfall vid lasten.&#10;2. H">
            <a:extLst xmlns:a="http://schemas.openxmlformats.org/drawingml/2006/main">
              <a:ext uri="{FF2B5EF4-FFF2-40B4-BE49-F238E27FC236}">
                <a16:creationId xmlns:a16="http://schemas.microsoft.com/office/drawing/2014/main" id="{A4013D92-1042-44DA-9AF5-D33D59C7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Observation: normal källspänning men bortfall vid lasten.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Hypotes: avbrott eller stort fall i matningsvägen.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Nästa kontroll prövar en mellanpunkt enligt säker mätplan.</a:t>
            </a:r>
          </a:p>
        </p:txBody>
      </p:sp>
      <p:sp>
        <p:nvSpPr>
          <p:cNvPr id="13" name="Det finns ännu inget bevis för en viss felkomponent. Mellanpunkte">
            <a:extLst xmlns:a="http://schemas.openxmlformats.org/drawingml/2006/main">
              <a:ext uri="{FF2B5EF4-FFF2-40B4-BE49-F238E27FC236}">
                <a16:creationId xmlns:a16="http://schemas.microsoft.com/office/drawing/2014/main" id="{6DF993DC-E007-41EC-9600-EB732092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Det finns ännu inget bevis för en viss felkomponent. Mellanpunkten ska skilja två delområden åt.</a:t>
            </a:r>
          </a:p>
        </p:txBody>
      </p:sp>
      <p:sp>
        <p:nvSpPr>
          <p:cNvPr id="14" name="9">
            <a:extLst xmlns:a="http://schemas.openxmlformats.org/drawingml/2006/main">
              <a:ext uri="{FF2B5EF4-FFF2-40B4-BE49-F238E27FC236}">
                <a16:creationId xmlns:a16="http://schemas.microsoft.com/office/drawing/2014/main" id="{2006D6FA-8DD8-4BB7-8ABD-D24B34E2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9b95d26e74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">
            <a:extLst xmlns:a="http://schemas.openxmlformats.org/drawingml/2006/main">
              <a:ext uri="{FF2B5EF4-FFF2-40B4-BE49-F238E27FC236}">
                <a16:creationId xmlns:a16="http://schemas.microsoft.com/office/drawing/2014/main" id="{1CE8BF38-E7ED-469C-9F7B-92A237EA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1.1</a:t>
            </a:r>
          </a:p>
        </p:txBody>
      </p:sp>
      <p:sp>
        <p:nvSpPr>
          <p:cNvPr id="10" name="Observation beskriver vad som faktiskt hänt">
            <a:extLst xmlns:a="http://schemas.openxmlformats.org/drawingml/2006/main">
              <a:ext uri="{FF2B5EF4-FFF2-40B4-BE49-F238E27FC236}">
                <a16:creationId xmlns:a16="http://schemas.microsoft.com/office/drawing/2014/main" id="{4DC71E4F-79AB-44E3-BC55-1C25B380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Observation beskriver vad som faktiskt hänt</a:t>
            </a:r>
          </a:p>
        </p:txBody>
      </p:sp>
      <p:sp>
        <p:nvSpPr>
          <p:cNvPr id="11" name="En hypotes föreslår en orsak. Den måste prövas med information so">
            <a:extLst xmlns:a="http://schemas.openxmlformats.org/drawingml/2006/main">
              <a:ext uri="{FF2B5EF4-FFF2-40B4-BE49-F238E27FC236}">
                <a16:creationId xmlns:a16="http://schemas.microsoft.com/office/drawing/2014/main" id="{F3793978-4818-4A2A-9215-A96C5B8E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hypotes är en föreslagen orsak som måste prövas.</a:t>
            </a:r>
          </a:p>
        </p:txBody>
      </p:sp>
      <p:sp>
        <p:nvSpPr>
          <p:cNvPr id="12" name="Förutsättningar: Rapporten innehåller ”motorn startar inte” och ”">
            <a:extLst xmlns:a="http://schemas.openxmlformats.org/drawingml/2006/main">
              <a:ext uri="{FF2B5EF4-FFF2-40B4-BE49-F238E27FC236}">
                <a16:creationId xmlns:a16="http://schemas.microsoft.com/office/drawing/2014/main" id="{89C098B0-EC44-40BB-A3DC-5EB2ABE1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Rapporten innehåller ”motorn startar inte” och ”kontaktorn är trasig”. Ingen har provat kontaktorn.</a:t>
            </a:r>
          </a:p>
        </p:txBody>
      </p:sp>
      <p:sp>
        <p:nvSpPr>
          <p:cNvPr id="13" name="Arbetsgång: Avgör vilken text som beskriver symtom och vilken som">
            <a:extLst xmlns:a="http://schemas.openxmlformats.org/drawingml/2006/main">
              <a:ext uri="{FF2B5EF4-FFF2-40B4-BE49-F238E27FC236}">
                <a16:creationId xmlns:a16="http://schemas.microsoft.com/office/drawing/2014/main" id="{FB4C5F71-A3C0-4054-B793-96713A14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Avgör vilken mening som beskriver vad som hänt och vilken som gissar på en orsak.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0825B062-C5B5-4455-858A-D7245BA4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e5dfb0bcc48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">
            <a:extLst xmlns:a="http://schemas.openxmlformats.org/drawingml/2006/main">
              <a:ext uri="{FF2B5EF4-FFF2-40B4-BE49-F238E27FC236}">
                <a16:creationId xmlns:a16="http://schemas.microsoft.com/office/drawing/2014/main" id="{ADD0C383-B454-4944-9692-16FA2CF5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1.1</a:t>
            </a:r>
          </a:p>
        </p:txBody>
      </p:sp>
      <p:sp>
        <p:nvSpPr>
          <p:cNvPr id="3" name="Observation eller diagnos">
            <a:extLst xmlns:a="http://schemas.openxmlformats.org/drawingml/2006/main">
              <a:ext uri="{FF2B5EF4-FFF2-40B4-BE49-F238E27FC236}">
                <a16:creationId xmlns:a16="http://schemas.microsoft.com/office/drawing/2014/main" id="{209117F3-E2E3-450A-931C-A9608014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Observation eller diagnos</a:t>
            </a:r>
          </a:p>
        </p:txBody>
      </p:sp>
      <p:sp>
        <p:nvSpPr>
          <p:cNvPr id="4" name="”Motorn startar inte” och ”kontaktorn är trasig” skrivs i en rapp">
            <a:extLst xmlns:a="http://schemas.openxmlformats.org/drawingml/2006/main">
              <a:ext uri="{FF2B5EF4-FFF2-40B4-BE49-F238E27FC236}">
                <a16:creationId xmlns:a16="http://schemas.microsoft.com/office/drawing/2014/main" id="{087C33C2-0CA1-4CBE-ABB7-0B4234A8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”Motorn startar inte” och ”kontaktorn är trasig” skrivs i en rapport. Vilket är observation och vilket är hypotes?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F0C87AF8-271B-4B2D-B4AA-3D2BA6F9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7">
            <a:extLst xmlns:a="http://schemas.openxmlformats.org/drawingml/2006/main">
              <a:ext uri="{FF2B5EF4-FFF2-40B4-BE49-F238E27FC236}">
                <a16:creationId xmlns:a16="http://schemas.microsoft.com/office/drawing/2014/main" id="{ECD533DA-2C2E-4F1F-BA27-E9A2791F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f0e4cfe8e43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2">
            <a:extLst xmlns:a="http://schemas.openxmlformats.org/drawingml/2006/main">
              <a:ext uri="{FF2B5EF4-FFF2-40B4-BE49-F238E27FC236}">
                <a16:creationId xmlns:a16="http://schemas.microsoft.com/office/drawing/2014/main" id="{47DD95C8-1AE7-430D-8664-7EAA9A42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1.2</a:t>
            </a:r>
          </a:p>
        </p:txBody>
      </p:sp>
      <p:sp>
        <p:nvSpPr>
          <p:cNvPr id="10" name="Källa, kraftväg, styrning, skydd och last">
            <a:extLst xmlns:a="http://schemas.openxmlformats.org/drawingml/2006/main">
              <a:ext uri="{FF2B5EF4-FFF2-40B4-BE49-F238E27FC236}">
                <a16:creationId xmlns:a16="http://schemas.microsoft.com/office/drawing/2014/main" id="{C1183C2F-9131-4F26-ABC9-F745B2EF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Följ energin från nätet till pumpen och styrsignalen från knappen till kontaktorn.</a:t>
            </a:r>
          </a:p>
        </p:txBody>
      </p:sp>
      <p:sp>
        <p:nvSpPr>
          <p:cNvPr id="11" name="Utebliven funktion kan bero på vilken del som helst av kedjan. Et">
            <a:extLst xmlns:a="http://schemas.openxmlformats.org/drawingml/2006/main">
              <a:ext uri="{FF2B5EF4-FFF2-40B4-BE49-F238E27FC236}">
                <a16:creationId xmlns:a16="http://schemas.microsoft.com/office/drawing/2014/main" id="{A88AB444-635A-4C2E-BBEE-D37600A8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Felet kan sitta var som helst i kedjan, och ett startkommando bevisar inte att kraftmatningen fungerar.</a:t>
            </a:r>
          </a:p>
        </p:txBody>
      </p:sp>
      <p:sp>
        <p:nvSpPr>
          <p:cNvPr id="12" name="Förutsättningar: Pumpen startar inte. Inga ytterligare observatio">
            <a:extLst xmlns:a="http://schemas.openxmlformats.org/drawingml/2006/main">
              <a:ext uri="{FF2B5EF4-FFF2-40B4-BE49-F238E27FC236}">
                <a16:creationId xmlns:a16="http://schemas.microsoft.com/office/drawing/2014/main" id="{2760EC32-6492-4807-8147-644966F9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Pumpen startar inte. Mer än så vet du inte.</a:t>
            </a:r>
          </a:p>
        </p:txBody>
      </p:sp>
      <p:sp>
        <p:nvSpPr>
          <p:cNvPr id="13" name="Arbetsgång: Nämn minst fyra funktioner att avgränsa. Ange ett exe">
            <a:extLst xmlns:a="http://schemas.openxmlformats.org/drawingml/2006/main">
              <a:ext uri="{FF2B5EF4-FFF2-40B4-BE49-F238E27FC236}">
                <a16:creationId xmlns:a16="http://schemas.microsoft.com/office/drawing/2014/main" id="{FA3948C8-DEB9-4A76-9B62-A23A650A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Nämn minst fyra funktioner och ge ett exempel på vad som ska kontrolleras i en av dem.</a:t>
            </a:r>
          </a:p>
        </p:txBody>
      </p:sp>
      <p:sp>
        <p:nvSpPr>
          <p:cNvPr id="14" name="12">
            <a:extLst xmlns:a="http://schemas.openxmlformats.org/drawingml/2006/main">
              <a:ext uri="{FF2B5EF4-FFF2-40B4-BE49-F238E27FC236}">
                <a16:creationId xmlns:a16="http://schemas.microsoft.com/office/drawing/2014/main" id="{ABEEF726-9961-4FC4-856F-F9E3E077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4c1b6a45741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2">
            <a:extLst xmlns:a="http://schemas.openxmlformats.org/drawingml/2006/main">
              <a:ext uri="{FF2B5EF4-FFF2-40B4-BE49-F238E27FC236}">
                <a16:creationId xmlns:a16="http://schemas.microsoft.com/office/drawing/2014/main" id="{FDD2ABB1-40FA-466D-B74B-D276F802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1.2</a:t>
            </a:r>
          </a:p>
        </p:txBody>
      </p:sp>
      <p:sp>
        <p:nvSpPr>
          <p:cNvPr id="3" name="Uppdelning">
            <a:extLst xmlns:a="http://schemas.openxmlformats.org/drawingml/2006/main">
              <a:ext uri="{FF2B5EF4-FFF2-40B4-BE49-F238E27FC236}">
                <a16:creationId xmlns:a16="http://schemas.microsoft.com/office/drawing/2014/main" id="{04BCF74C-E4DD-4B79-9D0F-E54941E6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Uppdelning</a:t>
            </a:r>
          </a:p>
        </p:txBody>
      </p:sp>
      <p:sp>
        <p:nvSpPr>
          <p:cNvPr id="4" name="En pump startar inte. Nämn fyra funktioner att avgränsa innan en ">
            <a:extLst xmlns:a="http://schemas.openxmlformats.org/drawingml/2006/main">
              <a:ext uri="{FF2B5EF4-FFF2-40B4-BE49-F238E27FC236}">
                <a16:creationId xmlns:a16="http://schemas.microsoft.com/office/drawing/2014/main" id="{AF45E67B-A6AC-475D-AE64-C0637A9D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pump startar inte. Nämn minst fyra funktioner du behöver kontrollera innan du dömer ut någon komponent.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6485777B-5496-4486-A62E-CF9B5A7A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9F94278B-3A5B-49D9-9510-4AE503E9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0196e9a1a48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3">
            <a:extLst xmlns:a="http://schemas.openxmlformats.org/drawingml/2006/main">
              <a:ext uri="{FF2B5EF4-FFF2-40B4-BE49-F238E27FC236}">
                <a16:creationId xmlns:a16="http://schemas.microsoft.com/office/drawing/2014/main" id="{9C2A7D3D-76C9-4E6B-9CB1-2621F9A7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1.3</a:t>
            </a:r>
          </a:p>
        </p:txBody>
      </p:sp>
      <p:sp>
        <p:nvSpPr>
          <p:cNvPr id="10" name="Mätpunkter delar upp en matningskedja">
            <a:extLst xmlns:a="http://schemas.openxmlformats.org/drawingml/2006/main">
              <a:ext uri="{FF2B5EF4-FFF2-40B4-BE49-F238E27FC236}">
                <a16:creationId xmlns:a16="http://schemas.microsoft.com/office/drawing/2014/main" id="{6763C637-9EE5-4605-B89F-FEEB0F04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Mätpunkter delar upp en matningskedja</a:t>
            </a:r>
          </a:p>
        </p:txBody>
      </p:sp>
      <p:sp>
        <p:nvSpPr>
          <p:cNvPr id="11" name="Rätt spänning vid en mellanpunkt ger stöd för delen före punkten ">
            <a:extLst xmlns:a="http://schemas.openxmlformats.org/drawingml/2006/main">
              <a:ext uri="{FF2B5EF4-FFF2-40B4-BE49-F238E27FC236}">
                <a16:creationId xmlns:a16="http://schemas.microsoft.com/office/drawing/2014/main" id="{52FC8E78-B62B-4E97-A065-6EED7ED0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Rätt spänning i en mellanpunkt tyder på att delen före punkten fungerar.</a:t>
            </a:r>
          </a:p>
        </p:txBody>
      </p:sp>
      <p:sp>
        <p:nvSpPr>
          <p:cNvPr id="12" name="Förutsättningar: B har 24 V. Lastens pluspunkt har 0 V mot hel re">
            <a:extLst xmlns:a="http://schemas.openxmlformats.org/drawingml/2006/main">
              <a:ext uri="{FF2B5EF4-FFF2-40B4-BE49-F238E27FC236}">
                <a16:creationId xmlns:a16="http://schemas.microsoft.com/office/drawing/2014/main" id="{FA14F182-8AEC-4557-BE54-C8574C32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Källan har 24 V. B har 0 V mot hel retur. En enkel kedja och samma referens antas.</a:t>
            </a:r>
          </a:p>
        </p:txBody>
      </p:sp>
      <p:sp>
        <p:nvSpPr>
          <p:cNvPr id="13" name="Arbetsgång: Jämför punkterna och avgränsa sträckan där spänningen">
            <a:extLst xmlns:a="http://schemas.openxmlformats.org/drawingml/2006/main">
              <a:ext uri="{FF2B5EF4-FFF2-40B4-BE49-F238E27FC236}">
                <a16:creationId xmlns:a16="http://schemas.microsoft.com/office/drawing/2014/main" id="{BE4526D8-6D74-45B8-80ED-E411B826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Jämför punkterna och ringa in sträckan där spänningen försvinner.</a:t>
            </a:r>
          </a:p>
        </p:txBody>
      </p:sp>
      <p:sp>
        <p:nvSpPr>
          <p:cNvPr id="14" name="14">
            <a:extLst xmlns:a="http://schemas.openxmlformats.org/drawingml/2006/main">
              <a:ext uri="{FF2B5EF4-FFF2-40B4-BE49-F238E27FC236}">
                <a16:creationId xmlns:a16="http://schemas.microsoft.com/office/drawing/2014/main" id="{054274FF-8AFE-409A-84DE-E999835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fcf1c98444e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3">
            <a:extLst xmlns:a="http://schemas.openxmlformats.org/drawingml/2006/main">
              <a:ext uri="{FF2B5EF4-FFF2-40B4-BE49-F238E27FC236}">
                <a16:creationId xmlns:a16="http://schemas.microsoft.com/office/drawing/2014/main" id="{5C3CA333-D3D9-4D76-8C29-70A4E602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1.3</a:t>
            </a:r>
          </a:p>
        </p:txBody>
      </p:sp>
      <p:sp>
        <p:nvSpPr>
          <p:cNvPr id="3" name="Mittpunkt">
            <a:extLst xmlns:a="http://schemas.openxmlformats.org/drawingml/2006/main">
              <a:ext uri="{FF2B5EF4-FFF2-40B4-BE49-F238E27FC236}">
                <a16:creationId xmlns:a16="http://schemas.microsoft.com/office/drawing/2014/main" id="{DE5CB530-0E7A-4D65-B433-5EBF25C2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Mittpunkt</a:t>
            </a:r>
          </a:p>
        </p:txBody>
      </p:sp>
      <p:sp>
        <p:nvSpPr>
          <p:cNvPr id="4" name="En enkel 24 V-matningskedja har normal spänning vid punkt B i mit">
            <a:extLst xmlns:a="http://schemas.openxmlformats.org/drawingml/2006/main">
              <a:ext uri="{FF2B5EF4-FFF2-40B4-BE49-F238E27FC236}">
                <a16:creationId xmlns:a16="http://schemas.microsoft.com/office/drawing/2014/main" id="{BA6CF4F1-11B0-42C2-89CA-81D373C1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Källan visar 24 V. Punkt B, mitt i kedjan, visar 0 V mot returen. Returen är hel. Var letar du först: före B eller efter B?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768C32F6-EFA5-4E94-8BA2-829856D2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9">
            <a:extLst xmlns:a="http://schemas.openxmlformats.org/drawingml/2006/main">
              <a:ext uri="{FF2B5EF4-FFF2-40B4-BE49-F238E27FC236}">
                <a16:creationId xmlns:a16="http://schemas.microsoft.com/office/drawing/2014/main" id="{159DB6E9-08F8-487F-8FE7-89212F47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68a65aa124b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DFB0AF5A-DF29-40C1-AB38-35B5ADC8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1.4</a:t>
            </a:r>
          </a:p>
        </p:txBody>
      </p:sp>
      <p:sp>
        <p:nvSpPr>
          <p:cNvPr id="10" name="Öppen seriegren: I = 0&#10;Uresistor = R · I     Ukontakt = Ukälla − ">
            <a:extLst xmlns:a="http://schemas.openxmlformats.org/drawingml/2006/main">
              <a:ext uri="{FF2B5EF4-FFF2-40B4-BE49-F238E27FC236}">
                <a16:creationId xmlns:a16="http://schemas.microsoft.com/office/drawing/2014/main" id="{4319C3FB-70F9-4983-B18A-E1068FAD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U/R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total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resistor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R · I;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kontakt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källa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resistor</a:t>
            </a:r>
          </a:p>
        </p:txBody>
      </p:sp>
      <p:sp>
        <p:nvSpPr>
          <p:cNvPr id="11" name="En öppen kontakt hindrar strömmen. Utan ström får resistorn inget">
            <a:extLst xmlns:a="http://schemas.openxmlformats.org/drawingml/2006/main">
              <a:ext uri="{FF2B5EF4-FFF2-40B4-BE49-F238E27FC236}">
                <a16:creationId xmlns:a16="http://schemas.microsoft.com/office/drawing/2014/main" id="{49936755-EB26-493D-A107-E32960A4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Hur stor är resistansen i en öppen kontakt? Vad betyder det för strömmen i en seriekrets?</a:t>
            </a:r>
          </a:p>
        </p:txBody>
      </p:sp>
      <p:sp>
        <p:nvSpPr>
          <p:cNvPr id="12" name="Förutsättningar: Ideal 24 V-källa, en resistor, en enda öppen kon">
            <a:extLst xmlns:a="http://schemas.openxmlformats.org/drawingml/2006/main">
              <a:ext uri="{FF2B5EF4-FFF2-40B4-BE49-F238E27FC236}">
                <a16:creationId xmlns:a16="http://schemas.microsoft.com/office/drawing/2014/main" id="{9BB9854E-8771-4DA7-85A8-FFB85104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Ideal 24 V-källa, en resistor, en öppen kontakt och hel retur.</a:t>
            </a:r>
          </a:p>
        </p:txBody>
      </p:sp>
      <p:sp>
        <p:nvSpPr>
          <p:cNvPr id="13" name="Arbetsgång: Räkna strömmen först. Använd därefter slinglagen för ">
            <a:extLst xmlns:a="http://schemas.openxmlformats.org/drawingml/2006/main">
              <a:ext uri="{FF2B5EF4-FFF2-40B4-BE49-F238E27FC236}">
                <a16:creationId xmlns:a16="http://schemas.microsoft.com/office/drawing/2014/main" id="{674CABBF-E870-436F-A140-0E2D1EA2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först strömmen och använd sedan spänningslagen för spänningen över kontakten.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48912A45-DE44-4219-A089-BB7A3390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c27a8622242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4">
            <a:extLst xmlns:a="http://schemas.openxmlformats.org/drawingml/2006/main">
              <a:ext uri="{FF2B5EF4-FFF2-40B4-BE49-F238E27FC236}">
                <a16:creationId xmlns:a16="http://schemas.microsoft.com/office/drawing/2014/main" id="{44F880A2-04AD-4D8F-AD54-4BEE409F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1.4</a:t>
            </a:r>
          </a:p>
        </p:txBody>
      </p:sp>
      <p:sp>
        <p:nvSpPr>
          <p:cNvPr id="3" name="Spänning över avbrott">
            <a:extLst xmlns:a="http://schemas.openxmlformats.org/drawingml/2006/main">
              <a:ext uri="{FF2B5EF4-FFF2-40B4-BE49-F238E27FC236}">
                <a16:creationId xmlns:a16="http://schemas.microsoft.com/office/drawing/2014/main" id="{DD10B2C9-E1E4-4DD1-BE52-376B2C85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Spänning över avbrott</a:t>
            </a:r>
          </a:p>
        </p:txBody>
      </p:sp>
      <p:sp>
        <p:nvSpPr>
          <p:cNvPr id="4" name="24 V matar en resistor via en enda öppen kontakt. Returen är hel.">
            <a:extLst xmlns:a="http://schemas.openxmlformats.org/drawingml/2006/main">
              <a:ext uri="{FF2B5EF4-FFF2-40B4-BE49-F238E27FC236}">
                <a16:creationId xmlns:a16="http://schemas.microsoft.com/office/drawing/2014/main" id="{411243B2-DB6E-481A-A936-D898090C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24 V matar en resistor genom en enda kontakt, som står öppen. Returen är hel. Vilken ström går, och vilken spänning ligger över kontakten (idealt)?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D49C25D1-D429-44DB-B77A-FDA47B39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C7D5E79D-606F-4EBC-A523-0BE50714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24 V matar en resistor via en öppen kont" descr="24 V matar en resistor via en öppen kontakt; ström och spänning över kontakten okän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ed253727a45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5">
            <a:extLst xmlns:a="http://schemas.openxmlformats.org/drawingml/2006/main">
              <a:ext uri="{FF2B5EF4-FFF2-40B4-BE49-F238E27FC236}">
                <a16:creationId xmlns:a16="http://schemas.microsoft.com/office/drawing/2014/main" id="{78697C22-8D04-446E-A77A-51D15DF7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1.5</a:t>
            </a:r>
          </a:p>
        </p:txBody>
      </p:sp>
      <p:sp>
        <p:nvSpPr>
          <p:cNvPr id="10" name="I = U/Rtotal">
            <a:extLst xmlns:a="http://schemas.openxmlformats.org/drawingml/2006/main">
              <a:ext uri="{FF2B5EF4-FFF2-40B4-BE49-F238E27FC236}">
                <a16:creationId xmlns:a16="http://schemas.microsoft.com/office/drawing/2014/main" id="{A4A06098-09FA-4D85-9250-769B0E84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U/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total</a:t>
            </a:r>
          </a:p>
        </p:txBody>
      </p:sp>
      <p:sp>
        <p:nvSpPr>
          <p:cNvPr id="11" name="Rtotal omfattar hela den oavsiktliga strömvägen i modellen. V/Ω g">
            <a:extLst xmlns:a="http://schemas.openxmlformats.org/drawingml/2006/main">
              <a:ext uri="{FF2B5EF4-FFF2-40B4-BE49-F238E27FC236}">
                <a16:creationId xmlns:a16="http://schemas.microsoft.com/office/drawing/2014/main" id="{43D5C3DB-831F-4B62-956A-BBF0FBFF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total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resistansen i hela den oavsiktliga strömvägen. V/Ω ger A.</a:t>
            </a:r>
          </a:p>
        </p:txBody>
      </p:sp>
      <p:sp>
        <p:nvSpPr>
          <p:cNvPr id="12" name="Förutsättningar: Ideal 24 V-källa och total resistans 0,10 Ω. Ing">
            <a:extLst xmlns:a="http://schemas.openxmlformats.org/drawingml/2006/main">
              <a:ext uri="{FF2B5EF4-FFF2-40B4-BE49-F238E27FC236}">
                <a16:creationId xmlns:a16="http://schemas.microsoft.com/office/drawing/2014/main" id="{CCCF3282-0EC5-4783-91BA-EDB2C3AA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Ideal 24 V-källa och total resistans 0,10 Ω. Inget begränsar strömmen i beräkningen.</a:t>
            </a:r>
          </a:p>
        </p:txBody>
      </p:sp>
      <p:sp>
        <p:nvSpPr>
          <p:cNvPr id="13" name="Arbetsgång: Beräkna modellströmmen. Ange sedan att verklig källim">
            <a:extLst xmlns:a="http://schemas.openxmlformats.org/drawingml/2006/main">
              <a:ext uri="{FF2B5EF4-FFF2-40B4-BE49-F238E27FC236}">
                <a16:creationId xmlns:a16="http://schemas.microsoft.com/office/drawing/2014/main" id="{1E22DA03-E082-4493-87B3-93756BAD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strömmen och förklara att källans verkliga inre resistans och skydden påverkar vad som händer.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91F8B0D9-C3FF-4587-B7E6-97053FFE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aa5ba2ee643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5">
            <a:extLst xmlns:a="http://schemas.openxmlformats.org/drawingml/2006/main">
              <a:ext uri="{FF2B5EF4-FFF2-40B4-BE49-F238E27FC236}">
                <a16:creationId xmlns:a16="http://schemas.microsoft.com/office/drawing/2014/main" id="{3A670DB5-C221-4D7C-A46D-44AE80C9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1.5</a:t>
            </a:r>
          </a:p>
        </p:txBody>
      </p:sp>
      <p:sp>
        <p:nvSpPr>
          <p:cNvPr id="3" name="Felström i modell">
            <a:extLst xmlns:a="http://schemas.openxmlformats.org/drawingml/2006/main">
              <a:ext uri="{FF2B5EF4-FFF2-40B4-BE49-F238E27FC236}">
                <a16:creationId xmlns:a16="http://schemas.microsoft.com/office/drawing/2014/main" id="{086EAE64-B98A-496D-AC78-0AEA3702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Felström i en förenklad beräkning</a:t>
            </a:r>
          </a:p>
        </p:txBody>
      </p:sp>
      <p:sp>
        <p:nvSpPr>
          <p:cNvPr id="4" name="En 24 V ideal källa får en oavsiktlig väg med total R = 0,10 Ω. B">
            <a:extLst xmlns:a="http://schemas.openxmlformats.org/drawingml/2006/main">
              <a:ext uri="{FF2B5EF4-FFF2-40B4-BE49-F238E27FC236}">
                <a16:creationId xmlns:a16="http://schemas.microsoft.com/office/drawing/2014/main" id="{6FE2230F-A5B5-4D45-853A-9DA936C9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24 V-källa kortsluts av misstag. Kortslutningen har resistansen 0,10 Ω. a) Beräkna strömmen. b) Varför blir den verkliga strömmen mindre än din uträkning?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2DC6BD41-1CB2-42B2-AF3A-6B1E1EEB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25886421-0832-4AA4-9A93-A13A7BA3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44baf52da47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ass 2">
            <a:extLst xmlns:a="http://schemas.openxmlformats.org/drawingml/2006/main">
              <a:ext uri="{FF2B5EF4-FFF2-40B4-BE49-F238E27FC236}">
                <a16:creationId xmlns:a16="http://schemas.microsoft.com/office/drawing/2014/main" id="{03100774-471D-4B21-96EE-20E0500F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Avbrott och kortslutning&#10;Glapp och förhöjd resistans&#10;En skiljande">
            <a:extLst xmlns:a="http://schemas.openxmlformats.org/drawingml/2006/main">
              <a:ext uri="{FF2B5EF4-FFF2-40B4-BE49-F238E27FC236}">
                <a16:creationId xmlns:a16="http://schemas.microsoft.com/office/drawing/2014/main" id="{E59F7A48-44DA-4B68-840B-FC0E976D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7620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Avbrott och kortslutning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Glapp och förhöjd resistans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En skiljande kontroll</a:t>
            </a:r>
          </a:p>
        </p:txBody>
      </p:sp>
      <p:sp>
        <p:nvSpPr>
          <p:cNvPr id="4" name="Teori och exempel följs av övning 6–10.&#10;Lösningar och facit ligge">
            <a:extLst xmlns:a="http://schemas.openxmlformats.org/drawingml/2006/main">
              <a:ext uri="{FF2B5EF4-FFF2-40B4-BE49-F238E27FC236}">
                <a16:creationId xmlns:a16="http://schemas.microsoft.com/office/drawing/2014/main" id="{BC08D001-C462-414E-BE85-AC0CB79A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1.6–1.10.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2333F745-B8DC-437D-A71F-63ECE388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7f2d0245d4b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brott och kortslutning">
            <a:extLst xmlns:a="http://schemas.openxmlformats.org/drawingml/2006/main">
              <a:ext uri="{FF2B5EF4-FFF2-40B4-BE49-F238E27FC236}">
                <a16:creationId xmlns:a16="http://schemas.microsoft.com/office/drawing/2014/main" id="{75D86932-8243-42BA-BA06-717CDB19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Avbrott och kortslutning</a:t>
            </a:r>
          </a:p>
        </p:txBody>
      </p:sp>
      <p:sp>
        <p:nvSpPr>
          <p:cNvPr id="3" name="Ett avbrott hindrar ström i den berörda vägen.&#10;En kortslutning ge">
            <a:extLst xmlns:a="http://schemas.openxmlformats.org/drawingml/2006/main">
              <a:ext uri="{FF2B5EF4-FFF2-40B4-BE49-F238E27FC236}">
                <a16:creationId xmlns:a16="http://schemas.microsoft.com/office/drawing/2014/main" id="{A237DE2A-ACCA-409C-8ADD-6EAB5564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avbrott hindrar ström i den berörda vägen.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kortslutning är en oavsiktlig väg med låg impedans.</a:t>
            </a:r>
          </a:p>
        </p:txBody>
      </p:sp>
      <p:sp>
        <p:nvSpPr>
          <p:cNvPr id="4" name="Spänningsbild och strömbild ska stämma ihop">
            <a:extLst xmlns:a="http://schemas.openxmlformats.org/drawingml/2006/main">
              <a:ext uri="{FF2B5EF4-FFF2-40B4-BE49-F238E27FC236}">
                <a16:creationId xmlns:a16="http://schemas.microsoft.com/office/drawing/2014/main" id="{C765FE60-3D17-4414-BB37-921957A5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Spänningsbild och strömbild ska stämma ihop</a:t>
            </a:r>
          </a:p>
        </p:txBody>
      </p:sp>
      <p:sp>
        <p:nvSpPr>
          <p:cNvPr id="5" name="En öppen seriekontakt kan ha stor spänning över sig.&#10;Kortslutning">
            <a:extLst xmlns:a="http://schemas.openxmlformats.org/drawingml/2006/main">
              <a:ext uri="{FF2B5EF4-FFF2-40B4-BE49-F238E27FC236}">
                <a16:creationId xmlns:a16="http://schemas.microsoft.com/office/drawing/2014/main" id="{576C907D-7FF4-45F9-A9F1-BA08FD1D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öppen seriekontakt kan ha stor spänning över sig.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Kortslutningsmisstanke kräver kontroll av skydd och skadestatus.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385475A1-E35E-4C0A-B71D-0DE669C5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e85c786cd44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Glapp och förhöjd resistans">
            <a:extLst xmlns:a="http://schemas.openxmlformats.org/drawingml/2006/main">
              <a:ext uri="{FF2B5EF4-FFF2-40B4-BE49-F238E27FC236}">
                <a16:creationId xmlns:a16="http://schemas.microsoft.com/office/drawing/2014/main" id="{A01DF839-3A12-453C-85F0-9A99EF81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Glapp och förhöjd resistans</a:t>
            </a:r>
          </a:p>
        </p:txBody>
      </p:sp>
      <p:sp>
        <p:nvSpPr>
          <p:cNvPr id="3" name="Ett spänningsfall kan vara litet utan last men stort under last.&#10;">
            <a:extLst xmlns:a="http://schemas.openxmlformats.org/drawingml/2006/main">
              <a:ext uri="{FF2B5EF4-FFF2-40B4-BE49-F238E27FC236}">
                <a16:creationId xmlns:a16="http://schemas.microsoft.com/office/drawing/2014/main" id="{59B69714-3BB3-480E-82E5-EE00228A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spänningsfall kan vara litet utan last men stort under last.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Förhöjd kontaktresistans kan ge lokal värme.</a:t>
            </a:r>
          </a:p>
        </p:txBody>
      </p:sp>
      <p:sp>
        <p:nvSpPr>
          <p:cNvPr id="4" name="ΔU = I · R     P = I²R">
            <a:extLst xmlns:a="http://schemas.openxmlformats.org/drawingml/2006/main">
              <a:ext uri="{FF2B5EF4-FFF2-40B4-BE49-F238E27FC236}">
                <a16:creationId xmlns:a16="http://schemas.microsoft.com/office/drawing/2014/main" id="{283015F1-2D8B-496D-B24B-A20CE362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ΔU = I · R     P = I²R</a:t>
            </a:r>
          </a:p>
        </p:txBody>
      </p:sp>
      <p:sp>
        <p:nvSpPr>
          <p:cNvPr id="5" name="0,20 Ω vid 10 A ger 2 V fall och 20 W värme.&#10;Kontrollerade felmod">
            <a:extLst xmlns:a="http://schemas.openxmlformats.org/drawingml/2006/main">
              <a:ext uri="{FF2B5EF4-FFF2-40B4-BE49-F238E27FC236}">
                <a16:creationId xmlns:a16="http://schemas.microsoft.com/office/drawing/2014/main" id="{64DCC5B0-728C-4847-BF88-8EB53AA5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0,15 Ω vid 8 A ger 1,2 V fall och 9,6 W värme.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Kontrollerade felmoduler används i undervisning, aldrig avsiktligt glapp.</a:t>
            </a:r>
          </a:p>
        </p:txBody>
      </p:sp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066743B9-92F4-4B35-9BB4-1CB64CCE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79a28e8c845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En skiljande kontroll">
            <a:extLst xmlns:a="http://schemas.openxmlformats.org/drawingml/2006/main">
              <a:ext uri="{FF2B5EF4-FFF2-40B4-BE49-F238E27FC236}">
                <a16:creationId xmlns:a16="http://schemas.microsoft.com/office/drawing/2014/main" id="{E5087F8B-3733-4716-BE8E-CE4B306E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skiljande kontroll</a:t>
            </a:r>
          </a:p>
        </p:txBody>
      </p:sp>
      <p:sp>
        <p:nvSpPr>
          <p:cNvPr id="3" name="Två hypoteser ska ge olika förväntade kontrollresultat.&#10;Då ger ko">
            <a:extLst xmlns:a="http://schemas.openxmlformats.org/drawingml/2006/main">
              <a:ext uri="{FF2B5EF4-FFF2-40B4-BE49-F238E27FC236}">
                <a16:creationId xmlns:a16="http://schemas.microsoft.com/office/drawing/2014/main" id="{B1C1CCC1-E66B-462F-9B7E-6A3ED1CA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hypoteser ska ge olika förväntade kontrollresultat.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Då ger kontrollen mer information än ett slumpmässigt mätvärde.</a:t>
            </a:r>
          </a:p>
        </p:txBody>
      </p:sp>
      <p:sp>
        <p:nvSpPr>
          <p:cNvPr id="4" name="Exempel: matningsbortfall eller avbrott i hållväg">
            <a:extLst xmlns:a="http://schemas.openxmlformats.org/drawingml/2006/main">
              <a:ext uri="{FF2B5EF4-FFF2-40B4-BE49-F238E27FC236}">
                <a16:creationId xmlns:a16="http://schemas.microsoft.com/office/drawing/2014/main" id="{FEF1D4A7-921B-4A10-B94C-7D2AC537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Exempel: matningsbortfall eller avbrott i hållväg</a:t>
            </a:r>
          </a:p>
        </p:txBody>
      </p:sp>
      <p:sp>
        <p:nvSpPr>
          <p:cNvPr id="5" name="Normal spolspänning under START men bortfall efter släpp&#10;pekar mo">
            <a:extLst xmlns:a="http://schemas.openxmlformats.org/drawingml/2006/main">
              <a:ext uri="{FF2B5EF4-FFF2-40B4-BE49-F238E27FC236}">
                <a16:creationId xmlns:a16="http://schemas.microsoft.com/office/drawing/2014/main" id="{DBADA938-4F48-4559-8F16-4BF00613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en mätpunkt och ett driftläge där de två hypoteserna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förutsäger olika värden. Skriv förväntat värde före mätningen.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BEE40B7B-510F-4294-8519-101BF455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79fb4dcdb4b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förhöjd kontaktresistans">
            <a:extLst xmlns:a="http://schemas.openxmlformats.org/drawingml/2006/main">
              <a:ext uri="{FF2B5EF4-FFF2-40B4-BE49-F238E27FC236}">
                <a16:creationId xmlns:a16="http://schemas.microsoft.com/office/drawing/2014/main" id="{76ED2752-DB3E-4BCF-9DB1-875BFC9D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förhöjd kontaktresistans</a:t>
            </a:r>
          </a:p>
        </p:txBody>
      </p:sp>
      <p:sp>
        <p:nvSpPr>
          <p:cNvPr id="10" name="Källan håller 12 V under last. Lasten får 10 V vid 2 A. Övriga fa">
            <a:extLst xmlns:a="http://schemas.openxmlformats.org/drawingml/2006/main">
              <a:ext uri="{FF2B5EF4-FFF2-40B4-BE49-F238E27FC236}">
                <a16:creationId xmlns:a16="http://schemas.microsoft.com/office/drawing/2014/main" id="{5BDBE576-6B41-4E88-8D5B-AE330491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97763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Källan håller 12 V under last. Lasten får 10 V vid 2 A. Övriga fall försummas.</a:t>
            </a:r>
          </a:p>
        </p:txBody>
      </p:sp>
      <p:sp>
        <p:nvSpPr>
          <p:cNvPr id="11" name="Rextra = (Ukälla − Ulast)/I     P = I²Rextra">
            <a:extLst xmlns:a="http://schemas.openxmlformats.org/drawingml/2006/main">
              <a:ext uri="{FF2B5EF4-FFF2-40B4-BE49-F238E27FC236}">
                <a16:creationId xmlns:a16="http://schemas.microsoft.com/office/drawing/2014/main" id="{F2BD4B58-0576-4EF8-BFDC-528F4BC1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3977639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extra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(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källa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)/I     P = I² · 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extra</a:t>
            </a:r>
          </a:p>
        </p:txBody>
      </p:sp>
      <p:sp>
        <p:nvSpPr>
          <p:cNvPr id="12" name="1. ΔU = 12 − 10 = 2 V.&#10;2. Rextra = 2/2 = 1 Ω.&#10;3. P = 2² · 1 = 4 W">
            <a:extLst xmlns:a="http://schemas.openxmlformats.org/drawingml/2006/main">
              <a:ext uri="{FF2B5EF4-FFF2-40B4-BE49-F238E27FC236}">
                <a16:creationId xmlns:a16="http://schemas.microsoft.com/office/drawing/2014/main" id="{4BF576ED-BDF8-415A-97EB-F7E6829D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3977639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ΔU = 12 − 10 = 2 V.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extra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2/2 = 1 Ω.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P = 2² · 1 = 4 W i den extra resistansen.</a:t>
            </a:r>
          </a:p>
        </p:txBody>
      </p:sp>
      <p:sp>
        <p:nvSpPr>
          <p:cNvPr id="13" name="Kontroll: ΔU · I = 2 · 2 = 4 W. Tomgång kan dölja fallet eftersom">
            <a:extLst xmlns:a="http://schemas.openxmlformats.org/drawingml/2006/main">
              <a:ext uri="{FF2B5EF4-FFF2-40B4-BE49-F238E27FC236}">
                <a16:creationId xmlns:a16="http://schemas.microsoft.com/office/drawing/2014/main" id="{36A8DFF0-588B-44D2-BDB1-5E8638A2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97763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ΔU · I = 2 · 2 = 4 W. Tomgång kan dölja fallet eftersom strömmen då är liten.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A8A035B3-4E6E-4E95-A63F-099C5FD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pic xmlns:a="http://schemas.openxmlformats.org/drawingml/2006/main" xmlns:r="http://schemas.openxmlformats.org/officeDocument/2006/relationships">
        <p:nvPicPr>
          <p:cNvPr id="16" name="Figur: 12 V-källa, extra serieresistans 1 ohm o" descr="12 V-källa, extra serieresistans 1 ohm och last med 10 V vid 2 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70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a18b8da6b4a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7062C482-77A8-42DA-99C7-0924B6BB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1.6</a:t>
            </a:r>
          </a:p>
        </p:txBody>
      </p:sp>
      <p:sp>
        <p:nvSpPr>
          <p:cNvPr id="10" name="ΔU = I · R     P = I²R">
            <a:extLst xmlns:a="http://schemas.openxmlformats.org/drawingml/2006/main">
              <a:ext uri="{FF2B5EF4-FFF2-40B4-BE49-F238E27FC236}">
                <a16:creationId xmlns:a16="http://schemas.microsoft.com/office/drawing/2014/main" id="{B2292C4C-D4D2-46D6-93B8-E2D14A4E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ΔU = I · R; P = I² · R</a:t>
            </a:r>
          </a:p>
        </p:txBody>
      </p:sp>
      <p:sp>
        <p:nvSpPr>
          <p:cNvPr id="11" name="ΔU är anslutningens spänningsfall i V och P dess värmeeffekt i W.">
            <a:extLst xmlns:a="http://schemas.openxmlformats.org/drawingml/2006/main">
              <a:ext uri="{FF2B5EF4-FFF2-40B4-BE49-F238E27FC236}">
                <a16:creationId xmlns:a16="http://schemas.microsoft.com/office/drawing/2014/main" id="{84BD2813-6150-4DCA-A6A4-8BD3DA7D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ΔU är anslutningens spänningsfall i V och P dess värmeeffekt i W.</a:t>
            </a:r>
          </a:p>
        </p:txBody>
      </p:sp>
      <p:sp>
        <p:nvSpPr>
          <p:cNvPr id="12" name="Förutsättningar: R = 0,20 Ω och I = 10 A vid samma driftfall.">
            <a:extLst xmlns:a="http://schemas.openxmlformats.org/drawingml/2006/main">
              <a:ext uri="{FF2B5EF4-FFF2-40B4-BE49-F238E27FC236}">
                <a16:creationId xmlns:a16="http://schemas.microsoft.com/office/drawing/2014/main" id="{B4B79AD0-0B19-43B4-BAC5-579065AA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R = 0,20 Ω och I = 10 A vid samma tillfälle.</a:t>
            </a:r>
          </a:p>
        </p:txBody>
      </p:sp>
      <p:sp>
        <p:nvSpPr>
          <p:cNvPr id="13" name="Arbetsgång: Räkna spänningsfallet. Kvadrera därefter strömmen när">
            <a:extLst xmlns:a="http://schemas.openxmlformats.org/drawingml/2006/main">
              <a:ext uri="{FF2B5EF4-FFF2-40B4-BE49-F238E27FC236}">
                <a16:creationId xmlns:a16="http://schemas.microsoft.com/office/drawing/2014/main" id="{B1FDA4AF-221D-4256-96E3-F519ECA7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spänningsfallet. Kvadrera därefter strömmen när du beräknar värmeeffekten.</a:t>
            </a:r>
          </a:p>
        </p:txBody>
      </p:sp>
      <p:sp>
        <p:nvSpPr>
          <p:cNvPr id="14" name="25">
            <a:extLst xmlns:a="http://schemas.openxmlformats.org/drawingml/2006/main">
              <a:ext uri="{FF2B5EF4-FFF2-40B4-BE49-F238E27FC236}">
                <a16:creationId xmlns:a16="http://schemas.microsoft.com/office/drawing/2014/main" id="{0FC20C2B-569B-4BFB-8E37-E9BBC500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2e36e32e845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6">
            <a:extLst xmlns:a="http://schemas.openxmlformats.org/drawingml/2006/main">
              <a:ext uri="{FF2B5EF4-FFF2-40B4-BE49-F238E27FC236}">
                <a16:creationId xmlns:a16="http://schemas.microsoft.com/office/drawing/2014/main" id="{74CDE7C8-94A8-42D9-BA3F-0AE6877D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1.6</a:t>
            </a:r>
          </a:p>
        </p:txBody>
      </p:sp>
      <p:sp>
        <p:nvSpPr>
          <p:cNvPr id="3" name="Kontaktförlust">
            <a:extLst xmlns:a="http://schemas.openxmlformats.org/drawingml/2006/main">
              <a:ext uri="{FF2B5EF4-FFF2-40B4-BE49-F238E27FC236}">
                <a16:creationId xmlns:a16="http://schemas.microsoft.com/office/drawing/2014/main" id="{883B5ABF-E7AC-45CC-8CA6-1E4E62DB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Kontaktförlust</a:t>
            </a:r>
          </a:p>
        </p:txBody>
      </p:sp>
      <p:sp>
        <p:nvSpPr>
          <p:cNvPr id="4" name="En anslutning har R = 0,20 Ω och I = 10 A. Beräkna spänningsfall ">
            <a:extLst xmlns:a="http://schemas.openxmlformats.org/drawingml/2006/main">
              <a:ext uri="{FF2B5EF4-FFF2-40B4-BE49-F238E27FC236}">
                <a16:creationId xmlns:a16="http://schemas.microsoft.com/office/drawing/2014/main" id="{87BBD085-32FE-41B9-9ADB-617F869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anslutning har R = 0,20 Ω och I = 10 A. Beräkna spänningsfallet och värmeeffekten.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A75C044D-D0B0-4F0C-BD44-5C8867D1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6">
            <a:extLst xmlns:a="http://schemas.openxmlformats.org/drawingml/2006/main">
              <a:ext uri="{FF2B5EF4-FFF2-40B4-BE49-F238E27FC236}">
                <a16:creationId xmlns:a16="http://schemas.microsoft.com/office/drawing/2014/main" id="{94037482-83CC-4841-A771-22E3ABA6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b51940b4845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C4A1D661-7F94-4CB3-BA9B-A467E173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1.7</a:t>
            </a:r>
          </a:p>
        </p:txBody>
      </p:sp>
      <p:sp>
        <p:nvSpPr>
          <p:cNvPr id="10" name="ΔU = Ukälla − Ulast     Rextra = ΔU/I">
            <a:extLst xmlns:a="http://schemas.openxmlformats.org/drawingml/2006/main">
              <a:ext uri="{FF2B5EF4-FFF2-40B4-BE49-F238E27FC236}">
                <a16:creationId xmlns:a16="http://schemas.microsoft.com/office/drawing/2014/main" id="{E8647A8F-4935-4555-AA96-E48A9225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ΔU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källa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;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extra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ΔU/I</a:t>
            </a:r>
          </a:p>
        </p:txBody>
      </p:sp>
      <p:sp>
        <p:nvSpPr>
          <p:cNvPr id="11" name="Den beräknade resistansen avser summan av de förlustvägar som lig">
            <a:extLst xmlns:a="http://schemas.openxmlformats.org/drawingml/2006/main">
              <a:ext uri="{FF2B5EF4-FFF2-40B4-BE49-F238E27FC236}">
                <a16:creationId xmlns:a16="http://schemas.microsoft.com/office/drawing/2014/main" id="{FF6A5B4B-F577-46FC-94C4-6A281C5D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Resistansen du får fram är all resistans mellan mätpunkterna tillsammans.</a:t>
            </a:r>
          </a:p>
        </p:txBody>
      </p:sp>
      <p:sp>
        <p:nvSpPr>
          <p:cNvPr id="12" name="Förutsättningar: Källan håller 24 V under last. Ulast = 18 V och ">
            <a:extLst xmlns:a="http://schemas.openxmlformats.org/drawingml/2006/main">
              <a:ext uri="{FF2B5EF4-FFF2-40B4-BE49-F238E27FC236}">
                <a16:creationId xmlns:a16="http://schemas.microsoft.com/office/drawing/2014/main" id="{28421441-4CE2-4355-A45E-B231850A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Källan håller 24 V under last.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18 V och I = 3 A. Andra spänningsfall försummas.</a:t>
            </a:r>
          </a:p>
        </p:txBody>
      </p:sp>
      <p:sp>
        <p:nvSpPr>
          <p:cNvPr id="13" name="Arbetsgång: Använd de samtidiga värdena under last. Beräkna falle">
            <a:extLst xmlns:a="http://schemas.openxmlformats.org/drawingml/2006/main">
              <a:ext uri="{FF2B5EF4-FFF2-40B4-BE49-F238E27FC236}">
                <a16:creationId xmlns:a16="http://schemas.microsoft.com/office/drawing/2014/main" id="{7CA17447-4EA0-4BAB-A58C-E9F3610C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Använd värdena som mättes samtidigt under last. Räkna ut spänningsfallet och dela med strömmen.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7901FBD1-F5AD-41AF-9B7B-C7F144DB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4250f8b3d49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7">
            <a:extLst xmlns:a="http://schemas.openxmlformats.org/drawingml/2006/main">
              <a:ext uri="{FF2B5EF4-FFF2-40B4-BE49-F238E27FC236}">
                <a16:creationId xmlns:a16="http://schemas.microsoft.com/office/drawing/2014/main" id="{9C3C33EC-19D2-4EE3-A290-5ED84497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1.7</a:t>
            </a:r>
          </a:p>
        </p:txBody>
      </p:sp>
      <p:sp>
        <p:nvSpPr>
          <p:cNvPr id="3" name="Utan last och med last">
            <a:extLst xmlns:a="http://schemas.openxmlformats.org/drawingml/2006/main">
              <a:ext uri="{FF2B5EF4-FFF2-40B4-BE49-F238E27FC236}">
                <a16:creationId xmlns:a16="http://schemas.microsoft.com/office/drawing/2014/main" id="{E666CCCD-4273-4A58-9418-68F79C22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Utan last och med last</a:t>
            </a:r>
          </a:p>
        </p:txBody>
      </p:sp>
      <p:sp>
        <p:nvSpPr>
          <p:cNvPr id="4" name="Matningen mäts till 24 V utan last men bara 18 V vid lasten när s">
            <a:extLst xmlns:a="http://schemas.openxmlformats.org/drawingml/2006/main">
              <a:ext uri="{FF2B5EF4-FFF2-40B4-BE49-F238E27FC236}">
                <a16:creationId xmlns:a16="http://schemas.microsoft.com/office/drawing/2014/main" id="{EAB72307-18F0-46AA-956F-09E4174A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Matningen mäts till 24 V utan last men bara 18 V vid lasten när strömmen är 3 A. Vid källans anslutningar är det fortfarande 24 V. Beräkna den extra resistansen i serie.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2F0289AF-18D3-4237-957F-DA869D81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7">
            <a:extLst xmlns:a="http://schemas.openxmlformats.org/drawingml/2006/main">
              <a:ext uri="{FF2B5EF4-FFF2-40B4-BE49-F238E27FC236}">
                <a16:creationId xmlns:a16="http://schemas.microsoft.com/office/drawing/2014/main" id="{C767BC20-3AA6-4385-AFB8-B327B48D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Källan håller 24 V, lasten får 18 V vid " descr="Källan håller 24 V, lasten får 18 V vid 3 A; den extra serieresistansen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e4ffefe964c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5A7F2970-176C-42C4-8048-013A51A6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1.8</a:t>
            </a:r>
          </a:p>
        </p:txBody>
      </p:sp>
      <p:sp>
        <p:nvSpPr>
          <p:cNvPr id="10" name="Olika hypoteser ska ge olika kontrollresultat">
            <a:extLst xmlns:a="http://schemas.openxmlformats.org/drawingml/2006/main">
              <a:ext uri="{FF2B5EF4-FFF2-40B4-BE49-F238E27FC236}">
                <a16:creationId xmlns:a16="http://schemas.microsoft.com/office/drawing/2014/main" id="{60588188-F401-4C24-B8A5-3FC74997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Olika hypoteser ska ge olika kontrollresultat</a:t>
            </a:r>
          </a:p>
        </p:txBody>
      </p:sp>
      <p:sp>
        <p:nvSpPr>
          <p:cNvPr id="11" name="Bristande källmatning påverkar matningen under belastning. En bru">
            <a:extLst xmlns:a="http://schemas.openxmlformats.org/drawingml/2006/main">
              <a:ext uri="{FF2B5EF4-FFF2-40B4-BE49-F238E27FC236}">
                <a16:creationId xmlns:a16="http://schemas.microsoft.com/office/drawing/2014/main" id="{689F9812-BFFF-4971-8D54-411B1FB2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förutsäger varje hypotes för källspänningen och spolspänningen, under START och efter släpp?</a:t>
            </a:r>
          </a:p>
        </p:txBody>
      </p:sp>
      <p:sp>
        <p:nvSpPr>
          <p:cNvPr id="12" name="Förutsättningar: K1 drar under START men släpper efteråt. Kontrol">
            <a:extLst xmlns:a="http://schemas.openxmlformats.org/drawingml/2006/main">
              <a:ext uri="{FF2B5EF4-FFF2-40B4-BE49-F238E27FC236}">
                <a16:creationId xmlns:a16="http://schemas.microsoft.com/office/drawing/2014/main" id="{5CBA6D44-7FC2-4FD9-9F9F-681A6040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K1 drar när START hålls in men släpper efteråt. Kontrollerna görs enligt en säker mätplan.</a:t>
            </a:r>
          </a:p>
        </p:txBody>
      </p:sp>
      <p:sp>
        <p:nvSpPr>
          <p:cNvPr id="13" name="Arbetsgång: Jämför käll- och spolspänning under START. Beskriv dä">
            <a:extLst xmlns:a="http://schemas.openxmlformats.org/drawingml/2006/main">
              <a:ext uri="{FF2B5EF4-FFF2-40B4-BE49-F238E27FC236}">
                <a16:creationId xmlns:a16="http://schemas.microsoft.com/office/drawing/2014/main" id="{C3C16235-3CCF-4E28-A1C6-AA9B5694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Jämför käll- och spolspänning under START. Beskriv därefter en kontroll av hållvägens funktion.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FE0372CA-ADEB-49B0-BDFB-8BBEDE70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1cb5b615641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8">
            <a:extLst xmlns:a="http://schemas.openxmlformats.org/drawingml/2006/main">
              <a:ext uri="{FF2B5EF4-FFF2-40B4-BE49-F238E27FC236}">
                <a16:creationId xmlns:a16="http://schemas.microsoft.com/office/drawing/2014/main" id="{C25D5792-F3FD-41CA-A93A-41B2BF02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1.8</a:t>
            </a:r>
          </a:p>
        </p:txBody>
      </p:sp>
      <p:sp>
        <p:nvSpPr>
          <p:cNvPr id="3" name="Hållningen uteblir">
            <a:extLst xmlns:a="http://schemas.openxmlformats.org/drawingml/2006/main">
              <a:ext uri="{FF2B5EF4-FFF2-40B4-BE49-F238E27FC236}">
                <a16:creationId xmlns:a16="http://schemas.microsoft.com/office/drawing/2014/main" id="{E41F836A-2338-4DFC-A246-58878DC1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Hållningen uteblir</a:t>
            </a:r>
          </a:p>
        </p:txBody>
      </p:sp>
      <p:sp>
        <p:nvSpPr>
          <p:cNvPr id="4" name="K1 drar när START hålls inne och släpper när knappen släpps. Vilk">
            <a:extLst xmlns:a="http://schemas.openxmlformats.org/drawingml/2006/main">
              <a:ext uri="{FF2B5EF4-FFF2-40B4-BE49-F238E27FC236}">
                <a16:creationId xmlns:a16="http://schemas.microsoft.com/office/drawing/2014/main" id="{DF0DAB1B-431E-41EA-A4CF-5CB9DEEB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K1 drar när du håller in START. K1 släpper när du släpper START. Felet kan sitta i hållvägen eller i matningen. Vilken mätning visar vilket det är?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93546A4E-A397-4CBA-BB6B-B0D268B3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7D03007E-3B5F-4082-815F-CB37A271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2f49fa78e46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F0BBC2A9-4FCD-40FF-8857-E0259073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1.9</a:t>
            </a:r>
          </a:p>
        </p:txBody>
      </p:sp>
      <p:sp>
        <p:nvSpPr>
          <p:cNvPr id="10" name="Felvillkoret behöver finnas med i datainsamlingen">
            <a:extLst xmlns:a="http://schemas.openxmlformats.org/drawingml/2006/main">
              <a:ext uri="{FF2B5EF4-FFF2-40B4-BE49-F238E27FC236}">
                <a16:creationId xmlns:a16="http://schemas.microsoft.com/office/drawing/2014/main" id="{CBA017C6-7C6B-4E67-AEBF-A3964464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Felvillkoret behöver finnas med i datainsamlingen</a:t>
            </a:r>
          </a:p>
        </p:txBody>
      </p:sp>
      <p:sp>
        <p:nvSpPr>
          <p:cNvPr id="11" name="Kontaktresistans kan ge stort fall först vid hög ström. Temperatu">
            <a:extLst xmlns:a="http://schemas.openxmlformats.org/drawingml/2006/main">
              <a:ext uri="{FF2B5EF4-FFF2-40B4-BE49-F238E27FC236}">
                <a16:creationId xmlns:a16="http://schemas.microsoft.com/office/drawing/2014/main" id="{AA4A9CAC-2E2E-4EF3-9439-28C7FEF0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dålig kontakt kan ge stort spänningsfall först vid hög ström, och temperatur och tid påverkar också.</a:t>
            </a:r>
          </a:p>
        </p:txBody>
      </p:sp>
      <p:sp>
        <p:nvSpPr>
          <p:cNvPr id="12" name="Förutsättningar: Felet uppträder vid hög belastning och kan sakna">
            <a:extLst xmlns:a="http://schemas.openxmlformats.org/drawingml/2006/main">
              <a:ext uri="{FF2B5EF4-FFF2-40B4-BE49-F238E27FC236}">
                <a16:creationId xmlns:a16="http://schemas.microsoft.com/office/drawing/2014/main" id="{BEA197A4-5EA0-44A4-9641-732E0219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Felet visar sig vid hög belastning men kanske inte utan last.</a:t>
            </a:r>
          </a:p>
        </p:txBody>
      </p:sp>
      <p:sp>
        <p:nvSpPr>
          <p:cNvPr id="13" name="Arbetsgång: Ange samtidiga värden och driftvillkor att logga. Mot">
            <a:extLst xmlns:a="http://schemas.openxmlformats.org/drawingml/2006/main">
              <a:ext uri="{FF2B5EF4-FFF2-40B4-BE49-F238E27FC236}">
                <a16:creationId xmlns:a16="http://schemas.microsoft.com/office/drawing/2014/main" id="{BF76AE3A-1EDE-4E18-A152-1E7AB3F1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Ange vilka värden och driftförhållanden som ska loggas samtidigt, och förklara varför ett värde utan last inte räcker.</a:t>
            </a:r>
          </a:p>
        </p:txBody>
      </p:sp>
      <p:sp>
        <p:nvSpPr>
          <p:cNvPr id="14" name="31">
            <a:extLst xmlns:a="http://schemas.openxmlformats.org/drawingml/2006/main">
              <a:ext uri="{FF2B5EF4-FFF2-40B4-BE49-F238E27FC236}">
                <a16:creationId xmlns:a16="http://schemas.microsoft.com/office/drawing/2014/main" id="{D26267F3-28C0-4FA1-8A6F-7B3AED70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fab6ee7fb4b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9">
            <a:extLst xmlns:a="http://schemas.openxmlformats.org/drawingml/2006/main">
              <a:ext uri="{FF2B5EF4-FFF2-40B4-BE49-F238E27FC236}">
                <a16:creationId xmlns:a16="http://schemas.microsoft.com/office/drawing/2014/main" id="{0F78DEC5-DB47-4EE2-9579-05DC7F21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1.9</a:t>
            </a:r>
          </a:p>
        </p:txBody>
      </p:sp>
      <p:sp>
        <p:nvSpPr>
          <p:cNvPr id="3" name="Intermittent fel">
            <a:extLst xmlns:a="http://schemas.openxmlformats.org/drawingml/2006/main">
              <a:ext uri="{FF2B5EF4-FFF2-40B4-BE49-F238E27FC236}">
                <a16:creationId xmlns:a16="http://schemas.microsoft.com/office/drawing/2014/main" id="{EE8513A4-72D9-4803-BDA5-236397D6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Intermittent fel</a:t>
            </a:r>
          </a:p>
        </p:txBody>
      </p:sp>
      <p:sp>
        <p:nvSpPr>
          <p:cNvPr id="4" name="Ett fel uppträder bara vid hög belastning. Vilken information bör">
            <a:extLst xmlns:a="http://schemas.openxmlformats.org/drawingml/2006/main">
              <a:ext uri="{FF2B5EF4-FFF2-40B4-BE49-F238E27FC236}">
                <a16:creationId xmlns:a16="http://schemas.microsoft.com/office/drawing/2014/main" id="{3DFE8C36-17E5-406B-823B-EAD47CAE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fel syns bara när lasten är stor. En mätning utan last räcker inte. Vad ska du mäta, och när?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956ED9B0-B578-408B-AE2A-563D8BD3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9">
            <a:extLst xmlns:a="http://schemas.openxmlformats.org/drawingml/2006/main">
              <a:ext uri="{FF2B5EF4-FFF2-40B4-BE49-F238E27FC236}">
                <a16:creationId xmlns:a16="http://schemas.microsoft.com/office/drawing/2014/main" id="{29339660-3C6F-4F67-8282-0B537434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43c300d3742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C2D44225-DB40-43B4-A594-87007759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1.10</a:t>
            </a:r>
          </a:p>
        </p:txBody>
      </p:sp>
      <p:sp>
        <p:nvSpPr>
          <p:cNvPr id="10" name="Återgång kräver verifiering efter åtgärd">
            <a:extLst xmlns:a="http://schemas.openxmlformats.org/drawingml/2006/main">
              <a:ext uri="{FF2B5EF4-FFF2-40B4-BE49-F238E27FC236}">
                <a16:creationId xmlns:a16="http://schemas.microsoft.com/office/drawing/2014/main" id="{0FEC483F-4356-4E0D-B009-9A92A262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Återgång kräver verifiering efter åtgärd</a:t>
            </a:r>
          </a:p>
        </p:txBody>
      </p:sp>
      <p:sp>
        <p:nvSpPr>
          <p:cNvPr id="11" name="Funktion under rätt driftfall, föreskrivna säkerhetskontroller oc">
            <a:extLst xmlns:a="http://schemas.openxmlformats.org/drawingml/2006/main">
              <a:ext uri="{FF2B5EF4-FFF2-40B4-BE49-F238E27FC236}">
                <a16:creationId xmlns:a16="http://schemas.microsoft.com/office/drawing/2014/main" id="{6E21ED96-F05F-4929-BC05-E22531E9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Tänk på tre saker: fungerar det nu? Är det säkert? Vet nästa person vad som är gjort?</a:t>
            </a:r>
          </a:p>
        </p:txBody>
      </p:sp>
      <p:sp>
        <p:nvSpPr>
          <p:cNvPr id="12" name="Förutsättningar: En ledningsanslutning har åtgärdats. Inga efterk">
            <a:extLst xmlns:a="http://schemas.openxmlformats.org/drawingml/2006/main">
              <a:ext uri="{FF2B5EF4-FFF2-40B4-BE49-F238E27FC236}">
                <a16:creationId xmlns:a16="http://schemas.microsoft.com/office/drawing/2014/main" id="{A1B6033A-62B2-43DE-8492-432AD636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En ledningsanslutning har åtgärdats. Inga kontroller efteråt är redovisade än.</a:t>
            </a:r>
          </a:p>
        </p:txBody>
      </p:sp>
      <p:sp>
        <p:nvSpPr>
          <p:cNvPr id="13" name="Arbetsgång: Ange vad som ska kontrolleras och dokumenteras. Avgrä">
            <a:extLst xmlns:a="http://schemas.openxmlformats.org/drawingml/2006/main">
              <a:ext uri="{FF2B5EF4-FFF2-40B4-BE49-F238E27FC236}">
                <a16:creationId xmlns:a16="http://schemas.microsoft.com/office/drawing/2014/main" id="{67EA0F81-82BB-4D92-9CD0-1F959CD8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Ange vad som ska kontrolleras och dokumenteras, och skriv vad som fortfarande inte är provat.</a:t>
            </a:r>
          </a:p>
        </p:txBody>
      </p:sp>
      <p:sp>
        <p:nvSpPr>
          <p:cNvPr id="14" name="33">
            <a:extLst xmlns:a="http://schemas.openxmlformats.org/drawingml/2006/main">
              <a:ext uri="{FF2B5EF4-FFF2-40B4-BE49-F238E27FC236}">
                <a16:creationId xmlns:a16="http://schemas.microsoft.com/office/drawing/2014/main" id="{F2267B2B-D107-4502-B5F1-40E952BF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6eba6f0f943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0">
            <a:extLst xmlns:a="http://schemas.openxmlformats.org/drawingml/2006/main">
              <a:ext uri="{FF2B5EF4-FFF2-40B4-BE49-F238E27FC236}">
                <a16:creationId xmlns:a16="http://schemas.microsoft.com/office/drawing/2014/main" id="{36F08E7D-AAC8-4636-8CA9-05AE6311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1.10</a:t>
            </a:r>
          </a:p>
        </p:txBody>
      </p:sp>
      <p:sp>
        <p:nvSpPr>
          <p:cNvPr id="3" name="Efter åtgärd">
            <a:extLst xmlns:a="http://schemas.openxmlformats.org/drawingml/2006/main">
              <a:ext uri="{FF2B5EF4-FFF2-40B4-BE49-F238E27FC236}">
                <a16:creationId xmlns:a16="http://schemas.microsoft.com/office/drawing/2014/main" id="{E5A5BA35-F1C8-4669-8AEE-36E078A9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Efter åtgärd</a:t>
            </a:r>
          </a:p>
        </p:txBody>
      </p:sp>
      <p:sp>
        <p:nvSpPr>
          <p:cNvPr id="4" name="En ledningsanslutning har åtgärdats. Vilka kontroller behövs inna">
            <a:extLst xmlns:a="http://schemas.openxmlformats.org/drawingml/2006/main">
              <a:ext uri="{FF2B5EF4-FFF2-40B4-BE49-F238E27FC236}">
                <a16:creationId xmlns:a16="http://schemas.microsoft.com/office/drawing/2014/main" id="{7DA54CA1-3BEE-4A64-AC1B-9B5EC632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anslutning är lagad. Vad måste du kontrollera innan du skriver ”klart” i rapporten?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9B6455D0-6BE9-4098-96CB-E12FADBE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20">
            <a:extLst xmlns:a="http://schemas.openxmlformats.org/drawingml/2006/main">
              <a:ext uri="{FF2B5EF4-FFF2-40B4-BE49-F238E27FC236}">
                <a16:creationId xmlns:a16="http://schemas.microsoft.com/office/drawing/2014/main" id="{BB64A495-5CA1-4893-B532-728A1293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e69a32c6f45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 och eget arbete">
            <a:extLst xmlns:a="http://schemas.openxmlformats.org/drawingml/2006/main">
              <a:ext uri="{FF2B5EF4-FFF2-40B4-BE49-F238E27FC236}">
                <a16:creationId xmlns:a16="http://schemas.microsoft.com/office/drawing/2014/main" id="{E568F9D4-FFFF-4D87-B1F3-C9299F3A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Vilket resultat skulle få dig att överge din första felhypotes?">
            <a:extLst xmlns:a="http://schemas.openxmlformats.org/drawingml/2006/main">
              <a:ext uri="{FF2B5EF4-FFF2-40B4-BE49-F238E27FC236}">
                <a16:creationId xmlns:a16="http://schemas.microsoft.com/office/drawing/2014/main" id="{29F9B8DA-805F-4177-A188-48AE758A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Vilket resultat skulle få dig att överge din första felhypotes?</a:t>
            </a:r>
          </a:p>
        </p:txBody>
      </p:sp>
      <p:sp>
        <p:nvSpPr>
          <p:cNvPr id="4" name="Skriv en felsökningsrapport med minst två hypoteser och en kontro">
            <a:extLst xmlns:a="http://schemas.openxmlformats.org/drawingml/2006/main">
              <a:ext uri="{FF2B5EF4-FFF2-40B4-BE49-F238E27FC236}">
                <a16:creationId xmlns:a16="http://schemas.microsoft.com/office/drawing/2014/main" id="{180D84AC-297E-4434-8946-87512F02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en felsökningsrapport med minst två hypoteser och en kontroll som skiljer dem. Underlaget används på tisdag.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AB7FCCE4-C3F0-4BDF-BA9F-44BADCF1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5c1e053a64b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 och fortsatt läsning">
            <a:extLst xmlns:a="http://schemas.openxmlformats.org/drawingml/2006/main">
              <a:ext uri="{FF2B5EF4-FFF2-40B4-BE49-F238E27FC236}">
                <a16:creationId xmlns:a16="http://schemas.microsoft.com/office/drawing/2014/main" id="{2AE0F61B-2174-4DEF-A01D-84D2454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3" name="Studieplanen YH03151, 18 september 2026&#10;Sjöskolans kursmaterial o">
            <a:extLst xmlns:a="http://schemas.openxmlformats.org/drawingml/2006/main">
              <a:ext uri="{FF2B5EF4-FFF2-40B4-BE49-F238E27FC236}">
                <a16:creationId xmlns:a16="http://schemas.microsoft.com/office/drawing/2014/main" id="{CD72BD98-C3DF-45C4-857B-443112CA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Studieplanen YH03151, 18 september 2026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Sjöskolans kursmaterial och originalmall</a:t>
            </a:r>
          </a:p>
        </p:txBody>
      </p:sp>
      <p:sp>
        <p:nvSpPr>
          <p:cNvPr id="4" name="Fluke: multimeterns funktioner och mätning">
            <a:extLst xmlns:a="http://schemas.openxmlformats.org/drawingml/2006/main">
              <a:ext uri="{FF2B5EF4-FFF2-40B4-BE49-F238E27FC236}">
                <a16:creationId xmlns:a16="http://schemas.microsoft.com/office/drawing/2014/main" id="{1743F8B4-08A3-4AB5-9091-F43314EA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56427a37a92486f"/>
              </a:rPr>
              <a:t>Fluke: multimeterns funktioner och mätning</a:t>
            </a:r>
          </a:p>
        </p:txBody>
      </p:sp>
      <p:sp>
        <p:nvSpPr>
          <p:cNvPr id="5" name="SEK: SS-EN 50110-1, utgåva 4:2024">
            <a:extLst xmlns:a="http://schemas.openxmlformats.org/drawingml/2006/main">
              <a:ext uri="{FF2B5EF4-FFF2-40B4-BE49-F238E27FC236}">
                <a16:creationId xmlns:a16="http://schemas.microsoft.com/office/drawing/2014/main" id="{9BCB2DA1-3C6E-43E6-995A-82F50E69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6a313a6ccb646be"/>
              </a:rPr>
              <a:t>SEK: SS-EN 50110-1, utgåva 4:2024</a:t>
            </a:r>
          </a:p>
        </p:txBody>
      </p:sp>
      <p:sp>
        <p:nvSpPr>
          <p:cNvPr id="6" name="OpenStax: Kirchhoffs lagar">
            <a:extLst xmlns:a="http://schemas.openxmlformats.org/drawingml/2006/main">
              <a:ext uri="{FF2B5EF4-FFF2-40B4-BE49-F238E27FC236}">
                <a16:creationId xmlns:a16="http://schemas.microsoft.com/office/drawing/2014/main" id="{41C52157-F3DE-4466-9705-324F63BB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15459bebbf742a9"/>
              </a:rPr>
              <a:t>OpenStax: Kirchhoffs lagar</a:t>
            </a:r>
          </a:p>
        </p:txBody>
      </p:sp>
      <p:sp>
        <p:nvSpPr>
          <p:cNvPr id="8" name="22">
            <a:extLst xmlns:a="http://schemas.openxmlformats.org/drawingml/2006/main">
              <a:ext uri="{FF2B5EF4-FFF2-40B4-BE49-F238E27FC236}">
                <a16:creationId xmlns:a16="http://schemas.microsoft.com/office/drawing/2014/main" id="{F2CBBCF7-7B8F-4123-A08D-F368689B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2026-09-20T20:10:31.2710000Z</dcterms:created>
  <dcterms:modified xsi:type="dcterms:W3CDTF">2026-09-20T20:10:31.2710000Z</dcterms:modified>
</coreProperties>
</file>