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9549b2f895b04f1e" Type="http://schemas.openxmlformats.org/officeDocument/2006/relationships/officeDocument" Target="ppt/presentation.xml"/><Relationship Id="Rba22804b6a9a46ba" Type="http://schemas.openxmlformats.org/officeDocument/2006/relationships/extended-properties" Target="docProps/app.xml"/><Relationship Id="Rc270597900cc4e5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28c15daf1604a51"/>
  </p:sldMasterIdLst>
  <p:sldIdLst>
    <p:sldId id="256" r:id="R9098dc819ca34907"/>
    <p:sldId id="257" r:id="R896641be3db5409a"/>
    <p:sldId id="258" r:id="Rf0d0e26fbc9d4575"/>
    <p:sldId id="259" r:id="Rf4cc66b540e54974"/>
    <p:sldId id="260" r:id="R53c9d9536a914ae6"/>
    <p:sldId id="261" r:id="R079441a4cb234338"/>
    <p:sldId id="262" r:id="R75234df75d8a4729"/>
    <p:sldId id="263" r:id="R34ac04a2e31a41cd"/>
    <p:sldId id="264" r:id="R035dd86c08cc4ccc"/>
    <p:sldId id="265" r:id="Rc735acab7a19470d"/>
    <p:sldId id="266" r:id="Rd8fb1bd3c57d489d"/>
    <p:sldId id="267" r:id="R557ca182370f40bf"/>
    <p:sldId id="268" r:id="R6a33ac32344740ce"/>
    <p:sldId id="269" r:id="R6e9e6d9230c74440"/>
    <p:sldId id="270" r:id="Rdcf308c181874d12"/>
    <p:sldId id="271" r:id="Rf7ad0ec55ebe4bb1"/>
    <p:sldId id="272" r:id="R40100fdbf3cc4bcb"/>
    <p:sldId id="273" r:id="Rce33d310c2a84b57"/>
    <p:sldId id="274" r:id="R05631643de7349a3"/>
    <p:sldId id="275" r:id="R82ee86f9bed34699"/>
    <p:sldId id="276" r:id="R9c88a7f8c2ed4de9"/>
    <p:sldId id="277" r:id="R30190e9bd1054c61"/>
    <p:sldId id="278" r:id="Rb140d47f9ac7439f"/>
    <p:sldId id="279" r:id="Rddc90d569c6f44c2"/>
    <p:sldId id="280" r:id="R169c4946a58d426a"/>
    <p:sldId id="281" r:id="R07a807e5e8bf4080"/>
    <p:sldId id="282" r:id="Ra9657a57654f4f33"/>
    <p:sldId id="283" r:id="R82bb0fb5569a4894"/>
    <p:sldId id="284" r:id="Ra038f95959744aff"/>
    <p:sldId id="285" r:id="R6711004a58704b35"/>
    <p:sldId id="286" r:id="R4da4fc9975964674"/>
    <p:sldId id="287" r:id="Rda2a56eccfe34a5e"/>
    <p:sldId id="288" r:id="R8ae4472093f44e50"/>
    <p:sldId id="289" r:id="Ree9fb1d61a594fa4"/>
    <p:sldId id="290" r:id="Ra29bdbb17c204b87"/>
    <p:sldId id="291" r:id="R124302e24b6d444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35dd86c08cc4ccc" Type="http://schemas.openxmlformats.org/officeDocument/2006/relationships/slide" Target="slides/slide9.xml"/><Relationship Id="R05631643de7349a3" Type="http://schemas.openxmlformats.org/officeDocument/2006/relationships/slide" Target="slides/slide19.xml"/><Relationship Id="R079441a4cb234338" Type="http://schemas.openxmlformats.org/officeDocument/2006/relationships/slide" Target="slides/slide6.xml"/><Relationship Id="R07a807e5e8bf4080" Type="http://schemas.openxmlformats.org/officeDocument/2006/relationships/slide" Target="slides/slide26.xml"/><Relationship Id="R124302e24b6d4442" Type="http://schemas.openxmlformats.org/officeDocument/2006/relationships/slide" Target="slides/slide36.xml"/><Relationship Id="R169c4946a58d426a" Type="http://schemas.openxmlformats.org/officeDocument/2006/relationships/slide" Target="slides/slide25.xml"/><Relationship Id="R30190e9bd1054c61" Type="http://schemas.openxmlformats.org/officeDocument/2006/relationships/slide" Target="slides/slide22.xml"/><Relationship Id="R34ac04a2e31a41cd" Type="http://schemas.openxmlformats.org/officeDocument/2006/relationships/slide" Target="slides/slide8.xml"/><Relationship Id="R40100fdbf3cc4bcb" Type="http://schemas.openxmlformats.org/officeDocument/2006/relationships/slide" Target="slides/slide17.xml"/><Relationship Id="R4da4fc9975964674" Type="http://schemas.openxmlformats.org/officeDocument/2006/relationships/slide" Target="slides/slide31.xml"/><Relationship Id="R53c9d9536a914ae6" Type="http://schemas.openxmlformats.org/officeDocument/2006/relationships/slide" Target="slides/slide5.xml"/><Relationship Id="R557ca182370f40bf" Type="http://schemas.openxmlformats.org/officeDocument/2006/relationships/slide" Target="slides/slide12.xml"/><Relationship Id="R6711004a58704b35" Type="http://schemas.openxmlformats.org/officeDocument/2006/relationships/slide" Target="slides/slide30.xml"/><Relationship Id="R675a3944c14849c2" Type="http://schemas.openxmlformats.org/officeDocument/2006/relationships/presProps" Target="presProps.xml"/><Relationship Id="R6a33ac32344740ce" Type="http://schemas.openxmlformats.org/officeDocument/2006/relationships/slide" Target="slides/slide13.xml"/><Relationship Id="R6e9e6d9230c74440" Type="http://schemas.openxmlformats.org/officeDocument/2006/relationships/slide" Target="slides/slide14.xml"/><Relationship Id="R75234df75d8a4729" Type="http://schemas.openxmlformats.org/officeDocument/2006/relationships/slide" Target="slides/slide7.xml"/><Relationship Id="R757981dc857d4433" Type="http://schemas.openxmlformats.org/officeDocument/2006/relationships/tableStyles" Target="tableStyles.xml"/><Relationship Id="R82bb0fb5569a4894" Type="http://schemas.openxmlformats.org/officeDocument/2006/relationships/slide" Target="slides/slide28.xml"/><Relationship Id="R82ee86f9bed34699" Type="http://schemas.openxmlformats.org/officeDocument/2006/relationships/slide" Target="slides/slide20.xml"/><Relationship Id="R83d2fa7c27324f5b" Type="http://schemas.openxmlformats.org/officeDocument/2006/relationships/theme" Target="theme/theme1.xml"/><Relationship Id="R896641be3db5409a" Type="http://schemas.openxmlformats.org/officeDocument/2006/relationships/slide" Target="slides/slide2.xml"/><Relationship Id="R8ae4472093f44e50" Type="http://schemas.openxmlformats.org/officeDocument/2006/relationships/slide" Target="slides/slide33.xml"/><Relationship Id="R9098dc819ca34907" Type="http://schemas.openxmlformats.org/officeDocument/2006/relationships/slide" Target="slides/slide1.xml"/><Relationship Id="R9c88a7f8c2ed4de9" Type="http://schemas.openxmlformats.org/officeDocument/2006/relationships/slide" Target="slides/slide21.xml"/><Relationship Id="Ra038f95959744aff" Type="http://schemas.openxmlformats.org/officeDocument/2006/relationships/slide" Target="slides/slide29.xml"/><Relationship Id="Ra29bdbb17c204b87" Type="http://schemas.openxmlformats.org/officeDocument/2006/relationships/slide" Target="slides/slide35.xml"/><Relationship Id="Ra9657a57654f4f33" Type="http://schemas.openxmlformats.org/officeDocument/2006/relationships/slide" Target="slides/slide27.xml"/><Relationship Id="Rb140d47f9ac7439f" Type="http://schemas.openxmlformats.org/officeDocument/2006/relationships/slide" Target="slides/slide23.xml"/><Relationship Id="Rb28c15daf1604a51" Type="http://schemas.openxmlformats.org/officeDocument/2006/relationships/slideMaster" Target="slideMasters/slideMaster1.xml"/><Relationship Id="Rc735acab7a19470d" Type="http://schemas.openxmlformats.org/officeDocument/2006/relationships/slide" Target="slides/slide10.xml"/><Relationship Id="Rce33d310c2a84b57" Type="http://schemas.openxmlformats.org/officeDocument/2006/relationships/slide" Target="slides/slide18.xml"/><Relationship Id="Rd8fb1bd3c57d489d" Type="http://schemas.openxmlformats.org/officeDocument/2006/relationships/slide" Target="slides/slide11.xml"/><Relationship Id="Rda2a56eccfe34a5e" Type="http://schemas.openxmlformats.org/officeDocument/2006/relationships/slide" Target="slides/slide32.xml"/><Relationship Id="Rdcf308c181874d12" Type="http://schemas.openxmlformats.org/officeDocument/2006/relationships/slide" Target="slides/slide15.xml"/><Relationship Id="Rddc90d569c6f44c2" Type="http://schemas.openxmlformats.org/officeDocument/2006/relationships/slide" Target="slides/slide24.xml"/><Relationship Id="Re4a1c08ef1e44980" Type="http://schemas.openxmlformats.org/officeDocument/2006/relationships/viewProps" Target="viewProps.xml"/><Relationship Id="Ree9fb1d61a594fa4" Type="http://schemas.openxmlformats.org/officeDocument/2006/relationships/slide" Target="slides/slide34.xml"/><Relationship Id="Rf0d0e26fbc9d4575" Type="http://schemas.openxmlformats.org/officeDocument/2006/relationships/slide" Target="slides/slide3.xml"/><Relationship Id="Rf4cc66b540e54974" Type="http://schemas.openxmlformats.org/officeDocument/2006/relationships/slide" Target="slides/slide4.xml"/><Relationship Id="Rf7ad0ec55ebe4bb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e9ea41f2d84d40e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c2160ca757d4e2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5f70fdb240b0435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ee1037b088a8406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b3267840caeb436e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ff562663059e4b4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6f9d589629948c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72d677af69f845de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e1f53ea8309943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5c28ee8c0bd4c2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89891f58cd845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BFC0E2-19FF-4D48-A3E7-0BE2A2ABD7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9D5595-836D-4DF5-802A-D5628B8CCE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DB7556-B338-4E39-B75F-B068C20536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7BF90A-6822-4E83-BB6D-7FD42FA03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8C09B6-B9B9-40C2-9D20-8BB92F7937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B8436D-1F39-43A6-B02B-0F47AADED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62CAB3-C855-4C5B-A3AB-594198D811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F1899A-382E-4372-ACF4-826C5BF98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D8576B-5FB3-40EC-8306-F3898F3CD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0B56CE-6652-4C9F-9D38-1E86458862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97D93F-EB1C-4D04-88F9-C2883D4B8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36D12E-E00B-4ABD-96F7-FB36DAE17E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193108-B1FF-4F01-A768-7CFF7E47E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A398B-7F77-4E5E-9EA7-ED72A1E162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917F3-3C33-4C55-AA16-086D0A631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B54438-3257-4D49-8582-783A96B3C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4EFF7C-C252-4A6E-9482-38C5CCA7B6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1F1AD79-6F02-475A-907A-03E0DE5960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DCCF81-B1A8-42EF-96B0-0E70BFD7C7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219B663-288A-43EF-8C0C-3136640176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0AA406-DAD5-4C6C-93FB-F83B9B861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FEEF70-015B-49A6-858F-EC6236B29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118E66-19AC-4358-98A8-9C9EAAE005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0537989-FB44-4640-A199-0C81D77C44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7052ED-FF7B-42DF-BF0F-BF6C301FEE7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562AF46-9764-4374-9E0B-4A18A7AD880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088FC4-F46F-4265-9321-A1C76BC8DD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CCA77F7-3404-4502-86A6-5DCD43A19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B76C7CB-4B42-4BEF-B586-89D5B4FFB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57F387-2864-4FD2-9FC8-F43CD34DC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D24FB9A-1DD2-43D2-AAB6-BF5A9F90E4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0B54BA-06A1-4E15-8662-78A45202F7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84706A-F614-4592-9DBD-938996BDE0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5BBA47D-A5E5-4CFE-BD70-AE6CBDFCA4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7DF775B-C7D7-4856-BD9E-17F017D9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4555F8-5966-40AF-893C-A30B84FDF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36F4B8-25C8-498A-9383-47822D6D8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367C7D-8B86-4A87-9F68-00F9851871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0AA4855-25A7-475E-B875-A5BED8B7C5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41638E3-DF9E-4D0A-8176-B476FA8615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123A7A-5227-46AE-91EE-3CB7EE04B8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B83878-81DC-4BFF-9FFC-6812DEB684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1202FB-CE9F-4A6D-8D9D-D10CE0623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7CD9CDE-E94D-499B-B0B1-14EAA1FB43F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A3C6A5F-B46E-4AA8-9B57-29EE47E98D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FCB6FB-BC84-4BEC-A023-9E95D24EC0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28E95F-309C-47C9-A87A-5E1D2E1937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D31E288-ABF4-4553-965F-A012880F5C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032A9C-E124-4E32-8C20-8F8BAD8B90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60B734-2D3A-4612-A11B-8BF8D9C31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B8339-B10E-4B7C-894F-B4BDA35A2B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438B62-291C-4DE5-8570-71806BA180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D3141A-A9C8-42F6-907D-4C628E6A51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3283CCD-976E-4BCC-A0B4-688C1BFB0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62107F-0AA6-480C-9D51-637E165F8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6CA28C-5BCB-40D2-B589-A9125FFD24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68BCF8-9B95-4835-A4A9-3AD49D8FD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D2059C-562E-4ED0-9F3C-303457675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994856c3cf84706" Type="http://schemas.openxmlformats.org/officeDocument/2006/relationships/slideLayout" Target="../slideLayouts/slideLayout7.xml"/><Relationship Id="R1d5b027c49fd4ffb" Type="http://schemas.openxmlformats.org/officeDocument/2006/relationships/slideLayout" Target="../slideLayouts/slideLayout11.xml"/><Relationship Id="R2ec8f1f56e5e4d10" Type="http://schemas.openxmlformats.org/officeDocument/2006/relationships/theme" Target="theme/theme2.xml"/><Relationship Id="R36fd0cbd2a594f7e" Type="http://schemas.openxmlformats.org/officeDocument/2006/relationships/slideLayout" Target="../slideLayouts/slideLayout1.xml"/><Relationship Id="R4d709fe3449e45be" Type="http://schemas.openxmlformats.org/officeDocument/2006/relationships/slideLayout" Target="../slideLayouts/slideLayout3.xml"/><Relationship Id="R648c5016e2374466" Type="http://schemas.openxmlformats.org/officeDocument/2006/relationships/slideLayout" Target="../slideLayouts/slideLayout10.xml"/><Relationship Id="R7a2000bbdf954363" Type="http://schemas.openxmlformats.org/officeDocument/2006/relationships/slideLayout" Target="../slideLayouts/slideLayout9.xml"/><Relationship Id="Ra79861105e7e4190" Type="http://schemas.openxmlformats.org/officeDocument/2006/relationships/slideLayout" Target="../slideLayouts/slideLayout2.xml"/><Relationship Id="Raf0237e6c9f5489f" Type="http://schemas.openxmlformats.org/officeDocument/2006/relationships/slideLayout" Target="../slideLayouts/slideLayout8.xml"/><Relationship Id="Rb6be6099b29846b8" Type="http://schemas.openxmlformats.org/officeDocument/2006/relationships/slideLayout" Target="../slideLayouts/slideLayout5.xml"/><Relationship Id="Re72c3c38d47040b5" Type="http://schemas.openxmlformats.org/officeDocument/2006/relationships/slideLayout" Target="../slideLayouts/slideLayout4.xml"/><Relationship Id="Reaa669144e4c4391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40A9ED7-DE1C-42D2-8845-E7676360D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A8B12F-DA29-4F23-918F-508968767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2669EA-F274-4A1A-AA32-08F42BC2F3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D49171-DCB8-440C-8EBC-58987D0A9A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9CE383-DB5B-4DE2-A63F-8717EFF140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d0cbd2a594f7e"/>
    <p:sldLayoutId xmlns:r="http://schemas.openxmlformats.org/officeDocument/2006/relationships" id="2147483650" r:id="Ra79861105e7e4190"/>
    <p:sldLayoutId xmlns:r="http://schemas.openxmlformats.org/officeDocument/2006/relationships" id="2147483651" r:id="R4d709fe3449e45be"/>
    <p:sldLayoutId xmlns:r="http://schemas.openxmlformats.org/officeDocument/2006/relationships" id="2147483652" r:id="Re72c3c38d47040b5"/>
    <p:sldLayoutId xmlns:r="http://schemas.openxmlformats.org/officeDocument/2006/relationships" id="2147483653" r:id="Rb6be6099b29846b8"/>
    <p:sldLayoutId xmlns:r="http://schemas.openxmlformats.org/officeDocument/2006/relationships" id="2147483654" r:id="Reaa669144e4c4391"/>
    <p:sldLayoutId xmlns:r="http://schemas.openxmlformats.org/officeDocument/2006/relationships" id="2147483655" r:id="R0994856c3cf84706"/>
    <p:sldLayoutId xmlns:r="http://schemas.openxmlformats.org/officeDocument/2006/relationships" id="2147483656" r:id="Raf0237e6c9f5489f"/>
    <p:sldLayoutId xmlns:r="http://schemas.openxmlformats.org/officeDocument/2006/relationships" id="2147483657" r:id="R7a2000bbdf954363"/>
    <p:sldLayoutId xmlns:r="http://schemas.openxmlformats.org/officeDocument/2006/relationships" id="2147483658" r:id="R648c5016e2374466"/>
    <p:sldLayoutId xmlns:r="http://schemas.openxmlformats.org/officeDocument/2006/relationships" id="2147483659" r:id="R1d5b027c49fd4ff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1c75565317c44dc" Type="http://schemas.openxmlformats.org/officeDocument/2006/relationships/image" Target="../media/image.png"/><Relationship Id="R4e77340bbd9f40f7" Type="http://schemas.openxmlformats.org/officeDocument/2006/relationships/image" Target="../media/image.jpeg"/><Relationship Id="R7c8d4cf715934e7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4d3326f81b042e2" Type="http://schemas.openxmlformats.org/officeDocument/2006/relationships/slideLayout" Target="../slideLayouts/slideLayout1.xml"/><Relationship Id="Rf29c8f77bae841d9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0822dca3fb174934" Type="http://schemas.openxmlformats.org/officeDocument/2006/relationships/image" Target="../media/image.jpeg"/><Relationship Id="R8fa3d2581f41456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4a1c55352f7464b" Type="http://schemas.openxmlformats.org/officeDocument/2006/relationships/slideLayout" Target="../slideLayouts/slideLayout1.xml"/><Relationship Id="Rc0dcc55886e14432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00943520e5df4164" Type="http://schemas.openxmlformats.org/officeDocument/2006/relationships/image" Target="../media/image.jpeg"/><Relationship Id="R1f9ee7e39b884e2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477f165d97a4f26" Type="http://schemas.openxmlformats.org/officeDocument/2006/relationships/image" Target="../media/image.jpeg"/><Relationship Id="Rdf19a1eac8c041e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ba80692185746ec" Type="http://schemas.openxmlformats.org/officeDocument/2006/relationships/image" Target="../media/image.jpeg"/><Relationship Id="Ra1aa47b0e9f142c5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9417758fc2a74690" Type="http://schemas.openxmlformats.org/officeDocument/2006/relationships/slideLayout" Target="../slideLayouts/slideLayout1.xml"/><Relationship Id="Re81f48f130b24bb1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1aacbd6263424a23" Type="http://schemas.openxmlformats.org/officeDocument/2006/relationships/image" Target="../media/image.jpeg"/><Relationship Id="R1ff84d6d40bf46bc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2a2a2f0886eb4c83" Type="http://schemas.openxmlformats.org/officeDocument/2006/relationships/image" Target="../media/image.jpeg"/><Relationship Id="R7256ed1c4695420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ceeb42d44424e2e" Type="http://schemas.openxmlformats.org/officeDocument/2006/relationships/slideLayout" Target="../slideLayouts/slideLayout1.xml"/><Relationship Id="Rff133f8d8dca4060" Type="http://schemas.openxmlformats.org/officeDocument/2006/relationships/image" Target="../media/image.jpeg"/></Relationships>
</file>

<file path=ppt/slides/_rels/slide12.xml.rels><?xml version='1.0' encoding='UTF-8' standalone='yes'?>
<Relationships xmlns="http://schemas.openxmlformats.org/package/2006/relationships"><Relationship Id="R6a1cbe72b6644829" Type="http://schemas.openxmlformats.org/officeDocument/2006/relationships/slideLayout" Target="../slideLayouts/slideLayout1.xml"/><Relationship Id="R8f572af95bac407f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7a835466fb1d476c" Type="http://schemas.openxmlformats.org/officeDocument/2006/relationships/slideLayout" Target="../slideLayouts/slideLayout1.xml"/><Relationship Id="R8d28e9ab509c44eb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2b65683e654b4df5" Type="http://schemas.openxmlformats.org/officeDocument/2006/relationships/image" Target="../media/image.jpeg"/><Relationship Id="Ra73061d5fe70441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143f9c127ea43b7" Type="http://schemas.openxmlformats.org/officeDocument/2006/relationships/slideLayout" Target="../slideLayouts/slideLayout1.xml"/><Relationship Id="Rf0a520b7e2f94892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85f069041f3e4842" Type="http://schemas.openxmlformats.org/officeDocument/2006/relationships/image" Target="../media/image.jpeg"/><Relationship Id="Rfd63505452f94570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e2d63e4e24174f63" Type="http://schemas.openxmlformats.org/officeDocument/2006/relationships/image" Target="../media/image.jpeg"/><Relationship Id="Rfb5296dc0f57408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b5fd7a005fd47d4" Type="http://schemas.openxmlformats.org/officeDocument/2006/relationships/image" Target="../media/image.jpeg"/><Relationship Id="Ra13285599bd64283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bb2fd782df2048ed" Type="http://schemas.openxmlformats.org/officeDocument/2006/relationships/slideLayout" Target="../slideLayouts/slideLayout1.xml"/><Relationship Id="Rce5396209be94359" Type="http://schemas.openxmlformats.org/officeDocument/2006/relationships/image" Target="../media/image.jpeg"/></Relationships>
</file>

<file path=ppt/slides/_rels/slide20.xml.rels><?xml version='1.0' encoding='UTF-8' standalone='yes'?>
<Relationships xmlns="http://schemas.openxmlformats.org/package/2006/relationships"><Relationship Id="R895174cd6bc14087" Type="http://schemas.openxmlformats.org/officeDocument/2006/relationships/slideLayout" Target="../slideLayouts/slideLayout1.xml"/><Relationship Id="Rd837b61c462c467f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360d36406afd42bd" Type="http://schemas.openxmlformats.org/officeDocument/2006/relationships/slideLayout" Target="../slideLayouts/slideLayout1.xml"/><Relationship Id="Rfeb64cb8808f45f1" Type="http://schemas.openxmlformats.org/officeDocument/2006/relationships/image" Target="../media/image.jpe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2a565e7b0da348a5" Type="http://schemas.openxmlformats.org/officeDocument/2006/relationships/slideLayout" Target="../slideLayouts/slideLayout1.xml"/><Relationship Id="Rbe02de8fe867452b" Type="http://schemas.openxmlformats.org/officeDocument/2006/relationships/image" Target="../media/image.jpeg"/></Relationships>
</file>

<file path=ppt/slides/_rels/slide23.xml.rels><?xml version='1.0' encoding='UTF-8' standalone='yes'?>
<Relationships xmlns="http://schemas.openxmlformats.org/package/2006/relationships"><Relationship Id="Rc80c7bc71f2446c1" Type="http://schemas.openxmlformats.org/officeDocument/2006/relationships/slideLayout" Target="../slideLayouts/slideLayout1.xml"/><Relationship Id="Re0cebb3d8db8426c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a1a4004ce8e24498" Type="http://schemas.openxmlformats.org/officeDocument/2006/relationships/image" Target="../media/image.jpeg"/><Relationship Id="Rb8b289351aa546c8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13619d00c72449c1" Type="http://schemas.openxmlformats.org/officeDocument/2006/relationships/image" Target="../media/image.jpeg"/><Relationship Id="R5e944db576184f7a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90f1144382b4daa" Type="http://schemas.openxmlformats.org/officeDocument/2006/relationships/image" Target="../media/image.jpeg"/><Relationship Id="Rc5ae8d68436e4c9d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018f6ff89aa540a5" Type="http://schemas.openxmlformats.org/officeDocument/2006/relationships/image" Target="../media/image.jpeg"/><Relationship Id="R429eb90d465f45b4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343b622b6c6f4ae4" Type="http://schemas.openxmlformats.org/officeDocument/2006/relationships/image" Target="../media/image.jpeg"/><Relationship Id="Raa90ec8fb82c44d4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5e4a514d29a14055" Type="http://schemas.openxmlformats.org/officeDocument/2006/relationships/slideLayout" Target="../slideLayouts/slideLayout1.xml"/><Relationship Id="R98220cfe4ca04c0c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15842d97f83942eb" Type="http://schemas.openxmlformats.org/officeDocument/2006/relationships/slideLayout" Target="../slideLayouts/slideLayout1.xml"/><Relationship Id="Rc27cebe622c14190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0822955770ea44dd" Type="http://schemas.openxmlformats.org/officeDocument/2006/relationships/slideLayout" Target="../slideLayouts/slideLayout1.xml"/><Relationship Id="R37b843a16d154cde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6466ec6e254f4749" Type="http://schemas.openxmlformats.org/officeDocument/2006/relationships/slideLayout" Target="../slideLayouts/slideLayout1.xml"/><Relationship Id="Rae5f02e577db4c0c" Type="http://schemas.openxmlformats.org/officeDocument/2006/relationships/image" Target="../media/image.jpeg"/></Relationships>
</file>

<file path=ppt/slides/_rels/slide33.xml.rels><?xml version='1.0' encoding='UTF-8' standalone='yes'?>
<Relationships xmlns="http://schemas.openxmlformats.org/package/2006/relationships"><Relationship Id="R2423f64a81bc4255" Type="http://schemas.openxmlformats.org/officeDocument/2006/relationships/slideLayout" Target="../slideLayouts/slideLayout1.xml"/><Relationship Id="R9837ba5824f746c5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353a7fd2a22448a1" Type="http://schemas.openxmlformats.org/officeDocument/2006/relationships/image" Target="../media/image.jpeg"/><Relationship Id="R7305f0aeec194a3b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336fecb53fd44158" Type="http://schemas.openxmlformats.org/officeDocument/2006/relationships/image" Target="../media/image.jpeg"/><Relationship Id="Rcfa951f569164d12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4d520924c99f4e35" Type="http://schemas.openxmlformats.org/officeDocument/2006/relationships/slideLayout" Target="../slideLayouts/slideLayout1.xml"/><Relationship Id="R7f9f7282bc5345b6" Type="http://schemas.openxmlformats.org/officeDocument/2006/relationships/image" Target="../media/image.jpeg"/><Relationship Id="Rb4c12ac43f82445f" Type="http://schemas.openxmlformats.org/officeDocument/2006/relationships/hyperlink" Target="https://elstandard.se/documents/preview/3246401" TargetMode="External"/><Relationship Id="Rdae8b72e3b144209" Type="http://schemas.openxmlformats.org/officeDocument/2006/relationships/hyperlink" Target="https://webstore.iec.ch/en/publication/2723" TargetMode="External"/><Relationship Id="Rf55afdbe56724d85" Type="http://schemas.openxmlformats.org/officeDocument/2006/relationships/hyperlink" Target="https://www.electrical-installation.org/enwiki/Coordination_between_circuit-breakers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7340bbd9f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75565317c44dc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62348D60-C8C9-4E74-861A-CF223B7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08F6D055-FAFA-41E5-9FF5-C376988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Komponenter och skydd</a:t>
            </a:r>
          </a:p>
        </p:txBody>
      </p:sp>
      <p:sp>
        <p:nvSpPr>
          <p:cNvPr id="13" name="Brytare, säkringar, reläer och selektivitet">
            <a:extLst xmlns:a="http://schemas.openxmlformats.org/drawingml/2006/main">
              <a:ext uri="{FF2B5EF4-FFF2-40B4-BE49-F238E27FC236}">
                <a16:creationId xmlns:a16="http://schemas.microsoft.com/office/drawing/2014/main" id="{377CBFB0-1B89-42C5-B2F8-6248A7A4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Brytare, säkringar, reläer och selektivitet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D9BB4967-C973-43C9-A95F-65161DA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c8f77bae8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DB2A17D6-9797-4D6E-9AD8-9A95AFD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Förklara vad vanliga skydds- och manöverapparater gör.">
            <a:extLst xmlns:a="http://schemas.openxmlformats.org/drawingml/2006/main">
              <a:ext uri="{FF2B5EF4-FFF2-40B4-BE49-F238E27FC236}">
                <a16:creationId xmlns:a16="http://schemas.microsoft.com/office/drawing/2014/main" id="{5C953F2A-0644-4C6E-82B5-F9519FD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vad vanliga skydds- och manöverapparater gör.</a:t>
            </a:r>
          </a:p>
        </p:txBody>
      </p:sp>
      <p:sp>
        <p:nvSpPr>
          <p:cNvPr id="4" name="Skilja märkström, brytförmåga och utlösningsvillkor.">
            <a:extLst xmlns:a="http://schemas.openxmlformats.org/drawingml/2006/main">
              <a:ext uri="{FF2B5EF4-FFF2-40B4-BE49-F238E27FC236}">
                <a16:creationId xmlns:a16="http://schemas.microsoft.com/office/drawing/2014/main" id="{97A49806-B5F6-4BF1-B459-73F4024A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Skilja märkström, brytförmåga och utlösningsvillkor.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C12596A9-F04D-4429-8098-C992F37A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Kan en kontaktor ersätta både kortslutningsskydd och motorskydd?">
            <a:extLst xmlns:a="http://schemas.openxmlformats.org/drawingml/2006/main">
              <a:ext uri="{FF2B5EF4-FFF2-40B4-BE49-F238E27FC236}">
                <a16:creationId xmlns:a16="http://schemas.microsoft.com/office/drawing/2014/main" id="{E4EA3F24-B867-4A2E-B5D9-039A15D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Kan en kontaktor ersätta både kortslutningsskydd och motorskydd?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5E093B19-3F44-4EC3-97BA-DF4B6069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2dca3fb17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45712033-03FB-4D49-B36B-60D604D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9E1DD0F3-CC36-4B28-9FBD-AF4BE27E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3F9C55C1-1287-4D29-AF90-02F3282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1.1, 1.2 och 1.4,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9BA43625-2913-4F21-98E8-4937773A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4001CFDA-A146-404A-ABB7-C51F8DA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1.6, 1.7 och 1.8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A90C6B8E-B3BF-4BB7-9F2E-E6AEB38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90–110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847EDC28-0F76-4665-94FD-4E2C62B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cc55886e14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Apparatens uppgift och märkning">
            <a:extLst xmlns:a="http://schemas.openxmlformats.org/drawingml/2006/main">
              <a:ext uri="{FF2B5EF4-FFF2-40B4-BE49-F238E27FC236}">
                <a16:creationId xmlns:a16="http://schemas.microsoft.com/office/drawing/2014/main" id="{86566CB5-7AC0-4222-8642-6278D467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Apparatens uppgift och märkning</a:t>
            </a:r>
          </a:p>
        </p:txBody>
      </p:sp>
      <p:sp>
        <p:nvSpPr>
          <p:cNvPr id="10" name="Kontaktor manövrerar last genom elektriskt styrda kontakter.">
            <a:extLst xmlns:a="http://schemas.openxmlformats.org/drawingml/2006/main">
              <a:ext uri="{FF2B5EF4-FFF2-40B4-BE49-F238E27FC236}">
                <a16:creationId xmlns:a16="http://schemas.microsoft.com/office/drawing/2014/main" id="{AC28CB56-5706-4473-A1F2-82D89378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Kontaktor manövrerar last genom elektriskt styrda kontakter.</a:t>
            </a:r>
          </a:p>
        </p:txBody>
      </p:sp>
      <p:sp>
        <p:nvSpPr>
          <p:cNvPr id="11" name="Överlast och kortslutning är olika typer av överström.">
            <a:extLst xmlns:a="http://schemas.openxmlformats.org/drawingml/2006/main">
              <a:ext uri="{FF2B5EF4-FFF2-40B4-BE49-F238E27FC236}">
                <a16:creationId xmlns:a16="http://schemas.microsoft.com/office/drawing/2014/main" id="{2BD9508E-B5BF-4632-B74B-D9489FA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Överlast och kortslutning är olika typer av överström.</a:t>
            </a:r>
          </a:p>
        </p:txBody>
      </p:sp>
      <p:sp>
        <p:nvSpPr>
          <p:cNvPr id="12" name="Märkström, spänningsklass och brytförmåga beskriver olika krav.">
            <a:extLst xmlns:a="http://schemas.openxmlformats.org/drawingml/2006/main">
              <a:ext uri="{FF2B5EF4-FFF2-40B4-BE49-F238E27FC236}">
                <a16:creationId xmlns:a16="http://schemas.microsoft.com/office/drawing/2014/main" id="{99257D6C-C4B7-4A44-83B8-D050A8E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Märkström, spänningsklass och brytförmåga beskriver olika krav.</a:t>
            </a:r>
          </a:p>
        </p:txBody>
      </p:sp>
      <p:sp>
        <p:nvSpPr>
          <p:cNvPr id="13" name="Selektivitet kräver samordning så att rätt skyddsnivå kopplar bor">
            <a:extLst xmlns:a="http://schemas.openxmlformats.org/drawingml/2006/main">
              <a:ext uri="{FF2B5EF4-FFF2-40B4-BE49-F238E27FC236}">
                <a16:creationId xmlns:a16="http://schemas.microsoft.com/office/drawing/2014/main" id="{9E1F335E-5E87-46C3-BAA4-911FC4E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Selektivitet kräver samordning så att rätt skyddsnivå kopplar bort felet.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A10B779F-A72B-4B91-A34C-CAF4D4B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43520e5df4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8F882201-D2E3-4953-A34D-8E8D11A3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DD0DA387-5AB1-43B0-9B1A-81D22DC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B71B5C4A-D9CB-4AB0-A2E0-E77A831C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E8DB39F7-6C8A-4BDC-9CB5-362625F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383D6B81-B910-4DB0-A788-4DC30EB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70D04206-2D3D-4B92-907B-96940402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9AD39D9E-3266-4AD9-A504-1B16F27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D57000EF-CBAB-4EFA-B440-DBD3FF9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7f165d97a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anöver och frånskiljning">
            <a:extLst xmlns:a="http://schemas.openxmlformats.org/drawingml/2006/main">
              <a:ext uri="{FF2B5EF4-FFF2-40B4-BE49-F238E27FC236}">
                <a16:creationId xmlns:a16="http://schemas.microsoft.com/office/drawing/2014/main" id="{F2601448-604A-4265-A194-4BC962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Manöver och frånskiljning</a:t>
            </a:r>
          </a:p>
        </p:txBody>
      </p:sp>
      <p:sp>
        <p:nvSpPr>
          <p:cNvPr id="3" name="En brytare kan användas för att koppla en krets.&#10;Förmåga till säk">
            <a:extLst xmlns:a="http://schemas.openxmlformats.org/drawingml/2006/main">
              <a:ext uri="{FF2B5EF4-FFF2-40B4-BE49-F238E27FC236}">
                <a16:creationId xmlns:a16="http://schemas.microsoft.com/office/drawing/2014/main" id="{DFC15079-18B2-4DC0-8BE2-5840CF58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brytare kan användas för att koppla en krets.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Förmåga till säker frånskiljning måste framgå av apparatens data.</a:t>
            </a:r>
          </a:p>
        </p:txBody>
      </p:sp>
      <p:sp>
        <p:nvSpPr>
          <p:cNvPr id="4" name="Funktionen bestäms av märkning och konstruktion">
            <a:extLst xmlns:a="http://schemas.openxmlformats.org/drawingml/2006/main">
              <a:ext uri="{FF2B5EF4-FFF2-40B4-BE49-F238E27FC236}">
                <a16:creationId xmlns:a16="http://schemas.microsoft.com/office/drawing/2014/main" id="{D1D5C5E0-614C-4589-8ECB-8D3B4BB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Funktionen bestäms av märkning och konstruktion</a:t>
            </a:r>
          </a:p>
        </p:txBody>
      </p:sp>
      <p:sp>
        <p:nvSpPr>
          <p:cNvPr id="5" name="En kontaktor är avsedd för upprepad manöver.&#10;Öppen kontaktor är i">
            <a:extLst xmlns:a="http://schemas.openxmlformats.org/drawingml/2006/main">
              <a:ext uri="{FF2B5EF4-FFF2-40B4-BE49-F238E27FC236}">
                <a16:creationId xmlns:a16="http://schemas.microsoft.com/office/drawing/2014/main" id="{242FA51D-9B6E-46A0-911B-C00C29E6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kontaktor är avsedd för upprepad manöver.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Öppen kontaktor är inte automatiskt tillräcklig arbetsfrånskiljning.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8374291E-B4E1-4836-8801-7C808DFC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80692185746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äkring och dvärgbrytare">
            <a:extLst xmlns:a="http://schemas.openxmlformats.org/drawingml/2006/main">
              <a:ext uri="{FF2B5EF4-FFF2-40B4-BE49-F238E27FC236}">
                <a16:creationId xmlns:a16="http://schemas.microsoft.com/office/drawing/2014/main" id="{22A68521-B07E-45A8-9549-2CC8791E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Säkring och dvärgbrytare</a:t>
            </a:r>
          </a:p>
        </p:txBody>
      </p:sp>
      <p:sp>
        <p:nvSpPr>
          <p:cNvPr id="3" name="Överström kan vara överlast eller kortslutning.&#10;Skyddets ström–ti">
            <a:extLst xmlns:a="http://schemas.openxmlformats.org/drawingml/2006/main">
              <a:ext uri="{FF2B5EF4-FFF2-40B4-BE49-F238E27FC236}">
                <a16:creationId xmlns:a16="http://schemas.microsoft.com/office/drawing/2014/main" id="{C32A70BD-2DB4-4DE5-BBF0-946B8682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Överström kan vara överlast eller kortslutning.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Skyddets ström–tidsegenskap avgör hur snabbt det löser.</a:t>
            </a:r>
          </a:p>
        </p:txBody>
      </p:sp>
      <p:sp>
        <p:nvSpPr>
          <p:cNvPr id="4" name="Märkström är inte samma sak som brytförmåga">
            <a:extLst xmlns:a="http://schemas.openxmlformats.org/drawingml/2006/main">
              <a:ext uri="{FF2B5EF4-FFF2-40B4-BE49-F238E27FC236}">
                <a16:creationId xmlns:a16="http://schemas.microsoft.com/office/drawing/2014/main" id="{B895938F-B022-4859-97DF-D07444C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Märkström är inte samma sak som brytförmåga</a:t>
            </a:r>
          </a:p>
        </p:txBody>
      </p:sp>
      <p:sp>
        <p:nvSpPr>
          <p:cNvPr id="5" name="Ett skydd märkt 16 A kan tåla normal lastström.&#10;Angiven brytförmå">
            <a:extLst xmlns:a="http://schemas.openxmlformats.org/drawingml/2006/main">
              <a:ext uri="{FF2B5EF4-FFF2-40B4-BE49-F238E27FC236}">
                <a16:creationId xmlns:a16="http://schemas.microsoft.com/office/drawing/2014/main" id="{715A5E78-F03D-4DCA-9FFD-6110467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skydd märkt 16 A kan tåla normal lastström.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Angiven brytförmåga beskriver vilken felström det kan bryta.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2D26FB23-BB4D-4C24-B295-B2374DE8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Principskiss av en ström–tidskurva: lång" descr="Principskiss av en ström–tidskurva: långsam utlösning vid överlast och snabb vid kortslut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f48f130b2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Jordfelsbrytare">
            <a:extLst xmlns:a="http://schemas.openxmlformats.org/drawingml/2006/main">
              <a:ext uri="{FF2B5EF4-FFF2-40B4-BE49-F238E27FC236}">
                <a16:creationId xmlns:a16="http://schemas.microsoft.com/office/drawing/2014/main" id="{DF1125FD-7B6B-4702-8219-1D18D1D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Jordfelsbrytare</a:t>
            </a:r>
          </a:p>
        </p:txBody>
      </p:sp>
      <p:sp>
        <p:nvSpPr>
          <p:cNvPr id="3" name="Jordfelsbrytaren reagerar på differens mellan utgående&#10;och återko">
            <a:extLst xmlns:a="http://schemas.openxmlformats.org/drawingml/2006/main">
              <a:ext uri="{FF2B5EF4-FFF2-40B4-BE49-F238E27FC236}">
                <a16:creationId xmlns:a16="http://schemas.microsoft.com/office/drawing/2014/main" id="{B72D4E6D-02EC-403D-A750-988AD08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Jordfelsbrytaren reagerar på differens mellan utgående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och återkommande ström i de ledare som övervakas.</a:t>
            </a:r>
          </a:p>
        </p:txBody>
      </p:sp>
      <p:sp>
        <p:nvSpPr>
          <p:cNvPr id="4" name="IΔ = skillnaden mellan strömmarna">
            <a:extLst xmlns:a="http://schemas.openxmlformats.org/drawingml/2006/main">
              <a:ext uri="{FF2B5EF4-FFF2-40B4-BE49-F238E27FC236}">
                <a16:creationId xmlns:a16="http://schemas.microsoft.com/office/drawing/2014/main" id="{5349D384-3193-4ADC-9150-2683EB6B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skillnaden mellan strömmarna</a:t>
            </a:r>
          </a:p>
        </p:txBody>
      </p:sp>
      <p:sp>
        <p:nvSpPr>
          <p:cNvPr id="5" name="En ren jordfelsbrytare ersätter inte överströmsskydd.&#10;RCBO kombin">
            <a:extLst xmlns:a="http://schemas.openxmlformats.org/drawingml/2006/main">
              <a:ext uri="{FF2B5EF4-FFF2-40B4-BE49-F238E27FC236}">
                <a16:creationId xmlns:a16="http://schemas.microsoft.com/office/drawing/2014/main" id="{B3E18355-916D-4D48-B655-A7D868C8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ren jordfelsbrytare ersätter inte överströmsskydd.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Ombord: i ett IT-nät dimensionerat för fortsatt drift ger första jordfelet normalt larm, inte utlösning. Jordfelsbrytare används främst i 230 V uttagsgrupper.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A2A2996E-E7E8-423E-9420-CD24D4F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Jordfelsbrytare: L och N går genom en su" descr="Jordfelsbrytare: L och N går genom en summaströmtransformator; en läckström till jord ger skillnaden I-delta som påverkar utlösar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cbd6263424a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differensström">
            <a:extLst xmlns:a="http://schemas.openxmlformats.org/drawingml/2006/main">
              <a:ext uri="{FF2B5EF4-FFF2-40B4-BE49-F238E27FC236}">
                <a16:creationId xmlns:a16="http://schemas.microsoft.com/office/drawing/2014/main" id="{9588F8E2-0C80-43C3-A074-FBA36E0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differensström</a:t>
            </a:r>
          </a:p>
        </p:txBody>
      </p:sp>
      <p:sp>
        <p:nvSpPr>
          <p:cNvPr id="10" name="En enfaskrets har 2,000 A ut och 1,985 A tillbaka genom de överva">
            <a:extLst xmlns:a="http://schemas.openxmlformats.org/drawingml/2006/main">
              <a:ext uri="{FF2B5EF4-FFF2-40B4-BE49-F238E27FC236}">
                <a16:creationId xmlns:a16="http://schemas.microsoft.com/office/drawing/2014/main" id="{17F74671-0618-41BC-A41F-E174501A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enfaskrets har 2,000 A ut och 1,985 A tillbaka genom de övervakade ledarna.</a:t>
            </a:r>
          </a:p>
        </p:txBody>
      </p:sp>
      <p:sp>
        <p:nvSpPr>
          <p:cNvPr id="11" name="IΔ = |Iut − Iretur|">
            <a:extLst xmlns:a="http://schemas.openxmlformats.org/drawingml/2006/main">
              <a:ext uri="{FF2B5EF4-FFF2-40B4-BE49-F238E27FC236}">
                <a16:creationId xmlns:a16="http://schemas.microsoft.com/office/drawing/2014/main" id="{5FE2F851-6490-4DA1-BCC0-A1FFA76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|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</a:t>
            </a:r>
          </a:p>
        </p:txBody>
      </p:sp>
      <p:sp>
        <p:nvSpPr>
          <p:cNvPr id="12" name="1. IΔ = |2,000 − 1,985| = 0,015 A.&#10;2. 0,015 · 1 000 = 15 mA.&#10;3. S">
            <a:extLst xmlns:a="http://schemas.openxmlformats.org/drawingml/2006/main">
              <a:ext uri="{FF2B5EF4-FFF2-40B4-BE49-F238E27FC236}">
                <a16:creationId xmlns:a16="http://schemas.microsoft.com/office/drawing/2014/main" id="{78772D57-59C6-406A-8B65-A9742D44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|2,000 − 1,985| = 0,015 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0,015 · 1 000 = 15 mA.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Skillnaden innebär att en del av strömmen tar en annan väg.</a:t>
            </a:r>
          </a:p>
        </p:txBody>
      </p:sp>
      <p:sp>
        <p:nvSpPr>
          <p:cNvPr id="13" name="Vilken utlösning som ska ske kräver skyddets data. Här beräknas e">
            <a:extLst xmlns:a="http://schemas.openxmlformats.org/drawingml/2006/main">
              <a:ext uri="{FF2B5EF4-FFF2-40B4-BE49-F238E27FC236}">
                <a16:creationId xmlns:a16="http://schemas.microsoft.com/office/drawing/2014/main" id="{04B7E0EB-454E-4BB0-8C01-6514E79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utlösning som ska ske kräver skyddets data. Här beräknas endast differensströmmen.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0D28C4DF-B257-430D-A279-FA9BF7C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Jordfelsbrytare med 2,000 A ut och 1,985" descr="Jordfelsbrytare med 2,000 A ut och 1,985 A tillbaka; differensströmmen 15 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a2f0886eb4c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DEF28706-8A0D-4607-93B2-44ED2380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</a:t>
            </a:r>
          </a:p>
        </p:txBody>
      </p:sp>
      <p:sp>
        <p:nvSpPr>
          <p:cNvPr id="10" name="Spole styr kontaktor, huvudkontakter kopplar last">
            <a:extLst xmlns:a="http://schemas.openxmlformats.org/drawingml/2006/main">
              <a:ext uri="{FF2B5EF4-FFF2-40B4-BE49-F238E27FC236}">
                <a16:creationId xmlns:a16="http://schemas.microsoft.com/office/drawing/2014/main" id="{979C9C65-3772-40F9-9B2C-BEE6FB4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Vad händer när spolen får matning?</a:t>
            </a:r>
          </a:p>
        </p:txBody>
      </p:sp>
      <p:sp>
        <p:nvSpPr>
          <p:cNvPr id="11" name="Spolen tillhör manöverkretsen. Huvudkontakterna öppnar eller slut">
            <a:extLst xmlns:a="http://schemas.openxmlformats.org/drawingml/2006/main">
              <a:ext uri="{FF2B5EF4-FFF2-40B4-BE49-F238E27FC236}">
                <a16:creationId xmlns:a16="http://schemas.microsoft.com/office/drawing/2014/main" id="{444FBA63-6EBB-49C9-B46A-F5532C2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Spolen tillhör manöverkretsen. Huvudkontakterna ligger i kraftvägen till motorn.</a:t>
            </a:r>
          </a:p>
        </p:txBody>
      </p:sp>
      <p:sp>
        <p:nvSpPr>
          <p:cNvPr id="12" name="Förutsättningar: Normal kontaktorfunktion i en motorstartare. Sky">
            <a:extLst xmlns:a="http://schemas.openxmlformats.org/drawingml/2006/main">
              <a:ext uri="{FF2B5EF4-FFF2-40B4-BE49-F238E27FC236}">
                <a16:creationId xmlns:a16="http://schemas.microsoft.com/office/drawing/2014/main" id="{52A65DFC-7848-40F9-80B1-66EBC87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vanlig kontaktor i en motorstartare. Skydden behandlas för sig.</a:t>
            </a:r>
          </a:p>
        </p:txBody>
      </p:sp>
      <p:sp>
        <p:nvSpPr>
          <p:cNvPr id="13" name="Arbetsgång: Följ vad som händer när spolen får rätt matning och k">
            <a:extLst xmlns:a="http://schemas.openxmlformats.org/drawingml/2006/main">
              <a:ext uri="{FF2B5EF4-FFF2-40B4-BE49-F238E27FC236}">
                <a16:creationId xmlns:a16="http://schemas.microsoft.com/office/drawing/2014/main" id="{7B188BC4-2A65-42E2-A563-9F9DCDA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vad som händer när spolen får rätt matning och koppla det till kontaktorns huvuduppgift.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CD6B9EA6-377F-442C-9524-A68FE958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3f8d8dca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56DFE922-CBA9-45DD-96BF-1FC2F31E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</a:t>
            </a:r>
          </a:p>
        </p:txBody>
      </p:sp>
      <p:sp>
        <p:nvSpPr>
          <p:cNvPr id="3" name="Kontaktor">
            <a:extLst xmlns:a="http://schemas.openxmlformats.org/drawingml/2006/main">
              <a:ext uri="{FF2B5EF4-FFF2-40B4-BE49-F238E27FC236}">
                <a16:creationId xmlns:a16="http://schemas.microsoft.com/office/drawing/2014/main" id="{33366E87-A07C-40FF-8A1F-0F5A1798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Kontaktor</a:t>
            </a:r>
          </a:p>
        </p:txBody>
      </p:sp>
      <p:sp>
        <p:nvSpPr>
          <p:cNvPr id="4" name="Vilken huvuduppgift har en kontaktor i en motorstartare?">
            <a:extLst xmlns:a="http://schemas.openxmlformats.org/drawingml/2006/main">
              <a:ext uri="{FF2B5EF4-FFF2-40B4-BE49-F238E27FC236}">
                <a16:creationId xmlns:a16="http://schemas.microsoft.com/office/drawing/2014/main" id="{CDF85D6E-FDCA-4B03-8695-B56E9F8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huvuduppgift har en kontaktor i en motorstartare?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67E571D-F36D-4927-8F58-0790C50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405EB78D-D175-4C88-BE7B-DBF44113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72af95bac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DFEC71C3-3D81-4A32-9629-DEA0A36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1.2</a:t>
            </a:r>
          </a:p>
        </p:txBody>
      </p:sp>
      <p:sp>
        <p:nvSpPr>
          <p:cNvPr id="10" name="Överström omfattar överlast och kortslutning">
            <a:extLst xmlns:a="http://schemas.openxmlformats.org/drawingml/2006/main">
              <a:ext uri="{FF2B5EF4-FFF2-40B4-BE49-F238E27FC236}">
                <a16:creationId xmlns:a16="http://schemas.microsoft.com/office/drawing/2014/main" id="{2E2CF4F0-A4A8-48AA-B79B-9C405E2D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slags överström kan uppstå?</a:t>
            </a:r>
          </a:p>
        </p:txBody>
      </p:sp>
      <p:sp>
        <p:nvSpPr>
          <p:cNvPr id="11" name="Överlast är för hög ström i en i övrigt avsedd strömväg. Kortslut">
            <a:extLst xmlns:a="http://schemas.openxmlformats.org/drawingml/2006/main">
              <a:ext uri="{FF2B5EF4-FFF2-40B4-BE49-F238E27FC236}">
                <a16:creationId xmlns:a16="http://schemas.microsoft.com/office/drawing/2014/main" id="{204F3609-925A-4B55-9566-51F46D90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Tänk på en för stor last i en hel krets och på en oavsiktlig väg med låg impedans.</a:t>
            </a:r>
          </a:p>
        </p:txBody>
      </p:sp>
      <p:sp>
        <p:nvSpPr>
          <p:cNvPr id="12" name="Förutsättningar: Frågan gäller vilka feltyper ett avsett överströ">
            <a:extLst xmlns:a="http://schemas.openxmlformats.org/drawingml/2006/main">
              <a:ext uri="{FF2B5EF4-FFF2-40B4-BE49-F238E27FC236}">
                <a16:creationId xmlns:a16="http://schemas.microsoft.com/office/drawing/2014/main" id="{52845740-5104-44CD-83C2-3036FC9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Frågan gäller vilka slags fel ett överströmsskydd ska kunna hantera.</a:t>
            </a:r>
          </a:p>
        </p:txBody>
      </p:sp>
      <p:sp>
        <p:nvSpPr>
          <p:cNvPr id="13" name="Arbetsgång: Beskriv båda typerna och skillnaden i förlopp. Hänvis">
            <a:extLst xmlns:a="http://schemas.openxmlformats.org/drawingml/2006/main">
              <a:ext uri="{FF2B5EF4-FFF2-40B4-BE49-F238E27FC236}">
                <a16:creationId xmlns:a16="http://schemas.microsoft.com/office/drawing/2014/main" id="{87E86866-18E2-444D-B139-4FE6D05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Beskriv båda typerna och skillnaden i förlopp. Hänvisa till ström–tidsegenskapen för utlösning.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59B296AF-D5ED-42F4-BA08-E91F726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8e9ab509c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10530273-691B-435E-A165-867A385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1.2</a:t>
            </a:r>
          </a:p>
        </p:txBody>
      </p:sp>
      <p:sp>
        <p:nvSpPr>
          <p:cNvPr id="3" name="Säkringens uppgift">
            <a:extLst xmlns:a="http://schemas.openxmlformats.org/drawingml/2006/main">
              <a:ext uri="{FF2B5EF4-FFF2-40B4-BE49-F238E27FC236}">
                <a16:creationId xmlns:a16="http://schemas.microsoft.com/office/drawing/2014/main" id="{0C11FEFC-ADED-4EC0-95F8-4A8FF17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Säkringens uppgift</a:t>
            </a:r>
          </a:p>
        </p:txBody>
      </p:sp>
      <p:sp>
        <p:nvSpPr>
          <p:cNvPr id="4" name="Nämn två typer av överström som ett avsett överströmsskydd kan be">
            <a:extLst xmlns:a="http://schemas.openxmlformats.org/drawingml/2006/main">
              <a:ext uri="{FF2B5EF4-FFF2-40B4-BE49-F238E27FC236}">
                <a16:creationId xmlns:a16="http://schemas.microsoft.com/office/drawing/2014/main" id="{41ED6A66-C29B-44E4-A949-E8A505D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Nämn två typer av överström som ett överströmsskydd ska klara.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E09D2BEF-E054-4B8B-AF06-4F48578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C699FA7F-2B99-4BC2-96B4-BBB8C4B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5683e654b4d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545731A5-2D56-474F-8405-30542F23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1.3</a:t>
            </a:r>
          </a:p>
        </p:txBody>
      </p:sp>
      <p:sp>
        <p:nvSpPr>
          <p:cNvPr id="10" name="Märkström och brytförmåga är olika apparatdata">
            <a:extLst xmlns:a="http://schemas.openxmlformats.org/drawingml/2006/main">
              <a:ext uri="{FF2B5EF4-FFF2-40B4-BE49-F238E27FC236}">
                <a16:creationId xmlns:a16="http://schemas.microsoft.com/office/drawing/2014/main" id="{E331C899-483F-497D-83BD-E8F31609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Märkström och brytförmåga är olika apparatdata</a:t>
            </a:r>
          </a:p>
        </p:txBody>
      </p:sp>
      <p:sp>
        <p:nvSpPr>
          <p:cNvPr id="11" name="Märkström anges i A. Kortslutningsbrytförmåga anges ofta i kA. 1 ">
            <a:extLst xmlns:a="http://schemas.openxmlformats.org/drawingml/2006/main">
              <a:ext uri="{FF2B5EF4-FFF2-40B4-BE49-F238E27FC236}">
                <a16:creationId xmlns:a16="http://schemas.microsoft.com/office/drawing/2014/main" id="{3513A0EB-5A25-4C3C-B1FE-9E9EF1A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Märkströmmen anges i A och brytförmågan ofta i kA (1 kA = 1 000 A).</a:t>
            </a:r>
          </a:p>
        </p:txBody>
      </p:sp>
      <p:sp>
        <p:nvSpPr>
          <p:cNvPr id="12" name="Förutsättningar: Dvärgbrytaren är märkt 16 A och 6 kA. Brytförmåg">
            <a:extLst xmlns:a="http://schemas.openxmlformats.org/drawingml/2006/main">
              <a:ext uri="{FF2B5EF4-FFF2-40B4-BE49-F238E27FC236}">
                <a16:creationId xmlns:a16="http://schemas.microsoft.com/office/drawing/2014/main" id="{FFC6E14E-5C67-4C89-BB49-90F29FB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Dvärgbrytaren är märkt 16 A och 6 kA.</a:t>
            </a:r>
          </a:p>
        </p:txBody>
      </p:sp>
      <p:sp>
        <p:nvSpPr>
          <p:cNvPr id="13" name="Arbetsgång: Knyt den ena uppgiften till normal belastning och den">
            <a:extLst xmlns:a="http://schemas.openxmlformats.org/drawingml/2006/main">
              <a:ext uri="{FF2B5EF4-FFF2-40B4-BE49-F238E27FC236}">
                <a16:creationId xmlns:a16="http://schemas.microsoft.com/office/drawing/2014/main" id="{9E001C7E-3C66-4932-9099-DC188B4C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Koppla den ena uppgiften till normal last och den andra till den största felström som måste kunna brytas.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7577D712-9583-400D-AEDD-DCAEBE39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520b7e2f94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5D4E0657-8B2E-499D-B0F3-06ED8BA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1.3</a:t>
            </a:r>
          </a:p>
        </p:txBody>
      </p:sp>
      <p:sp>
        <p:nvSpPr>
          <p:cNvPr id="3" name="Två märkdata">
            <a:extLst xmlns:a="http://schemas.openxmlformats.org/drawingml/2006/main">
              <a:ext uri="{FF2B5EF4-FFF2-40B4-BE49-F238E27FC236}">
                <a16:creationId xmlns:a16="http://schemas.microsoft.com/office/drawing/2014/main" id="{021828C3-CE42-437A-BE92-470747DF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märkdata</a:t>
            </a:r>
          </a:p>
        </p:txBody>
      </p:sp>
      <p:sp>
        <p:nvSpPr>
          <p:cNvPr id="4" name="En dvärgbrytare är märkt 16 A och 6 kA. Förklara varför båda uppg">
            <a:extLst xmlns:a="http://schemas.openxmlformats.org/drawingml/2006/main">
              <a:ext uri="{FF2B5EF4-FFF2-40B4-BE49-F238E27FC236}">
                <a16:creationId xmlns:a16="http://schemas.microsoft.com/office/drawing/2014/main" id="{2280CA24-4404-4E90-801C-B3F18D7D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dvärgbrytare är märkt 16 A och 6 kA. Förklara varför båda uppgifterna behövs.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A9553CB-DE25-4BE3-AFCD-9147EB80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D0BF4796-5E3B-4333-8155-824E84F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069041f3e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DF4433C7-8018-4C05-8C45-F14826A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1.4</a:t>
            </a:r>
          </a:p>
        </p:txBody>
      </p:sp>
      <p:sp>
        <p:nvSpPr>
          <p:cNvPr id="10" name="IΔ = |Iut − Iretur|">
            <a:extLst xmlns:a="http://schemas.openxmlformats.org/drawingml/2006/main">
              <a:ext uri="{FF2B5EF4-FFF2-40B4-BE49-F238E27FC236}">
                <a16:creationId xmlns:a16="http://schemas.microsoft.com/office/drawing/2014/main" id="{E3D2C3D6-424A-4FC1-957F-CE6C591A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3977639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|I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</a:t>
            </a:r>
          </a:p>
        </p:txBody>
      </p:sp>
      <p:sp>
        <p:nvSpPr>
          <p:cNvPr id="11" name="IΔ är differensström i A. Multiplicera med 1 000 för mA.">
            <a:extLst xmlns:a="http://schemas.openxmlformats.org/drawingml/2006/main">
              <a:ext uri="{FF2B5EF4-FFF2-40B4-BE49-F238E27FC236}">
                <a16:creationId xmlns:a16="http://schemas.microsoft.com/office/drawing/2014/main" id="{D13994C0-0048-4906-9867-C15F779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77639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0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differensströmmen.</a:t>
            </a:r>
          </a:p>
        </p:txBody>
      </p:sp>
      <p:sp>
        <p:nvSpPr>
          <p:cNvPr id="12" name="Förutsättningar: Samtidiga enfasströmmar: 5,000 A ut och 4,970 A ">
            <a:extLst xmlns:a="http://schemas.openxmlformats.org/drawingml/2006/main">
              <a:ext uri="{FF2B5EF4-FFF2-40B4-BE49-F238E27FC236}">
                <a16:creationId xmlns:a16="http://schemas.microsoft.com/office/drawing/2014/main" id="{333C2E5B-AF49-4833-99B9-894721E9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3977639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Strömmarna är uppmätta samtidigt: 5,000 A ut och 4,970 A tillbaka.</a:t>
            </a:r>
          </a:p>
        </p:txBody>
      </p:sp>
      <p:sp>
        <p:nvSpPr>
          <p:cNvPr id="13" name="Arbetsgång: Subtrahera returströmmen från utgående ström och omva">
            <a:extLst xmlns:a="http://schemas.openxmlformats.org/drawingml/2006/main">
              <a:ext uri="{FF2B5EF4-FFF2-40B4-BE49-F238E27FC236}">
                <a16:creationId xmlns:a16="http://schemas.microsoft.com/office/drawing/2014/main" id="{9D0FF604-A73F-4118-AC0A-D0CB28F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Dra returströmmen från den utgående strömmen och multiplicera med 1 000 för att få mA.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0726CA5B-E85C-459E-A084-E3BF9CD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Jordfelsbrytare med 5,000 A ut och 4,970" descr="Jordfelsbrytare med 5,000 A ut och 4,970 A tillbaka; differensströmm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63e4e2417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D3F122D5-E082-45A1-996D-B036499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1.4</a:t>
            </a:r>
          </a:p>
        </p:txBody>
      </p:sp>
      <p:sp>
        <p:nvSpPr>
          <p:cNvPr id="3" name="Differensström">
            <a:extLst xmlns:a="http://schemas.openxmlformats.org/drawingml/2006/main">
              <a:ext uri="{FF2B5EF4-FFF2-40B4-BE49-F238E27FC236}">
                <a16:creationId xmlns:a16="http://schemas.microsoft.com/office/drawing/2014/main" id="{EC0784B5-8A4A-4EEC-8FCD-4890C31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Differensström</a:t>
            </a:r>
          </a:p>
        </p:txBody>
      </p:sp>
      <p:sp>
        <p:nvSpPr>
          <p:cNvPr id="4" name="En enfaskrets har 5,000 A ut och 4,970 A tillbaka genom de överva">
            <a:extLst xmlns:a="http://schemas.openxmlformats.org/drawingml/2006/main">
              <a:ext uri="{FF2B5EF4-FFF2-40B4-BE49-F238E27FC236}">
                <a16:creationId xmlns:a16="http://schemas.microsoft.com/office/drawing/2014/main" id="{631665EC-1811-4F8F-A7CB-0042468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enfaskrets har 5,000 A ut och 4,970 A tillbaka genom de övervakade ledarna. Beräkna differensströmmen.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544BDD0-A5A5-4A1B-9D97-80E0D72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405CF5EB-5AF2-44E1-B9BB-DF4B46C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fd7a005fd47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D50A71AC-A53A-42D5-8328-16C6B37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1.5</a:t>
            </a:r>
          </a:p>
        </p:txBody>
      </p:sp>
      <p:sp>
        <p:nvSpPr>
          <p:cNvPr id="10" name="Jordfelsfunktion reagerar på differensström">
            <a:extLst xmlns:a="http://schemas.openxmlformats.org/drawingml/2006/main">
              <a:ext uri="{FF2B5EF4-FFF2-40B4-BE49-F238E27FC236}">
                <a16:creationId xmlns:a16="http://schemas.microsoft.com/office/drawing/2014/main" id="{C2352607-013A-4529-AEA4-A8CA8F1B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3977639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Vad mäter jordfelsfunktionen?</a:t>
            </a:r>
          </a:p>
        </p:txBody>
      </p:sp>
      <p:sp>
        <p:nvSpPr>
          <p:cNvPr id="11" name="Om all ström återkommer genom de övervakade ledarna är differense">
            <a:extLst xmlns:a="http://schemas.openxmlformats.org/drawingml/2006/main">
              <a:ext uri="{FF2B5EF4-FFF2-40B4-BE49-F238E27FC236}">
                <a16:creationId xmlns:a16="http://schemas.microsoft.com/office/drawing/2014/main" id="{BDFCEF9B-AC08-48C5-8187-72C9FDA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77639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Jämför strömmen ut med strömmen tillbaka i de övervakade ledarna, även när lastströmmen är stor.</a:t>
            </a:r>
          </a:p>
        </p:txBody>
      </p:sp>
      <p:sp>
        <p:nvSpPr>
          <p:cNvPr id="12" name="Förutsättningar: Ren jordfelsbrytare utan kombinerat överströmssk">
            <a:extLst xmlns:a="http://schemas.openxmlformats.org/drawingml/2006/main">
              <a:ext uri="{FF2B5EF4-FFF2-40B4-BE49-F238E27FC236}">
                <a16:creationId xmlns:a16="http://schemas.microsoft.com/office/drawing/2014/main" id="{DBDF6F18-9C11-4742-A38E-EC79791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3977639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Jordfelsbrytaren har inget inbyggt överströmsskydd. Lasten drar för stor ström men har ingen läckström.</a:t>
            </a:r>
          </a:p>
        </p:txBody>
      </p:sp>
      <p:sp>
        <p:nvSpPr>
          <p:cNvPr id="13" name="Arbetsgång: Förklara vilket fel jordfelsfunktionen mäter och vilk">
            <a:extLst xmlns:a="http://schemas.openxmlformats.org/drawingml/2006/main">
              <a:ext uri="{FF2B5EF4-FFF2-40B4-BE49-F238E27FC236}">
                <a16:creationId xmlns:a16="http://schemas.microsoft.com/office/drawing/2014/main" id="{C9875076-BA9E-456B-91E9-E8933BB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Förklara vilket fel jordfelsfunktionen mäter och vilket fel ett separat överströmsskydd behöver hantera.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F5E5697C-D064-4A93-A714-5AF6744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Jordfelsbrytare där lasten drar för stor" descr="Jordfelsbrytare där lasten drar för stor ström men samma ström kommer tillbaka; differensströmmen ungefär n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96209be9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C090B939-C38A-47D6-AF61-11D6130B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1.5</a:t>
            </a:r>
          </a:p>
        </p:txBody>
      </p:sp>
      <p:sp>
        <p:nvSpPr>
          <p:cNvPr id="3" name="Överlast utan jordfel">
            <a:extLst xmlns:a="http://schemas.openxmlformats.org/drawingml/2006/main">
              <a:ext uri="{FF2B5EF4-FFF2-40B4-BE49-F238E27FC236}">
                <a16:creationId xmlns:a16="http://schemas.microsoft.com/office/drawing/2014/main" id="{1786B021-B9FC-469E-A4AB-0E14E4E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Överlast utan jordfel</a:t>
            </a:r>
          </a:p>
        </p:txBody>
      </p:sp>
      <p:sp>
        <p:nvSpPr>
          <p:cNvPr id="4" name="En ren jordfelsbrytare används tillsammans med en last som drar f">
            <a:extLst xmlns:a="http://schemas.openxmlformats.org/drawingml/2006/main">
              <a:ext uri="{FF2B5EF4-FFF2-40B4-BE49-F238E27FC236}">
                <a16:creationId xmlns:a16="http://schemas.microsoft.com/office/drawing/2014/main" id="{194E2D72-4E70-4913-9C0C-91566079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jordfelsbrytare har inget överströmsskydd. Lasten drar för mycket ström, men all ström kommer tillbaka. Varför behövs ett överströmsskydd också?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24977E1-A6CB-4367-8D43-0F8C7A3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509E39A2-1728-4B6F-9B9B-6170F70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7b61c462c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547ADB48-CB26-43E6-9447-F6F8BA4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Kontaktor och relä&#10;Motorskydd&#10;Selektivitet">
            <a:extLst xmlns:a="http://schemas.openxmlformats.org/drawingml/2006/main">
              <a:ext uri="{FF2B5EF4-FFF2-40B4-BE49-F238E27FC236}">
                <a16:creationId xmlns:a16="http://schemas.microsoft.com/office/drawing/2014/main" id="{A4F047F4-3702-4A96-972C-5FF17B7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Kontaktor och relä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Motorskydd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Selektivitet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3201B3CC-D79E-40FC-9F6E-09952EC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1.6–1.10.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F0A5CF6A-6CC6-4C31-9D77-9CD26C5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64cb8808f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ontaktor och relä">
            <a:extLst xmlns:a="http://schemas.openxmlformats.org/drawingml/2006/main">
              <a:ext uri="{FF2B5EF4-FFF2-40B4-BE49-F238E27FC236}">
                <a16:creationId xmlns:a16="http://schemas.microsoft.com/office/drawing/2014/main" id="{D8E1B702-52DA-4DEE-ADDF-9061D8D9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Kontaktor och relä</a:t>
            </a:r>
          </a:p>
        </p:txBody>
      </p:sp>
      <p:sp>
        <p:nvSpPr>
          <p:cNvPr id="3" name="En spole påverkar kontakter som manövrerar andra kretsar.&#10;Hjälpko">
            <a:extLst xmlns:a="http://schemas.openxmlformats.org/drawingml/2006/main">
              <a:ext uri="{FF2B5EF4-FFF2-40B4-BE49-F238E27FC236}">
                <a16:creationId xmlns:a16="http://schemas.microsoft.com/office/drawing/2014/main" id="{473F2EE8-9939-42D3-B1A0-DAAA4ABF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spole påverkar kontakter som manövrerar andra kretsar.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Hjälpkontakter kan ge hållning och återkoppling.</a:t>
            </a:r>
          </a:p>
        </p:txBody>
      </p:sp>
      <p:sp>
        <p:nvSpPr>
          <p:cNvPr id="4" name="NO: normalt öppen     NC: normalt sluten">
            <a:extLst xmlns:a="http://schemas.openxmlformats.org/drawingml/2006/main">
              <a:ext uri="{FF2B5EF4-FFF2-40B4-BE49-F238E27FC236}">
                <a16:creationId xmlns:a16="http://schemas.microsoft.com/office/drawing/2014/main" id="{68EE2DA5-A840-47EC-BD93-E5E2219D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NO: normalt öppen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NC: normalt sluten</a:t>
            </a:r>
          </a:p>
        </p:txBody>
      </p:sp>
      <p:sp>
        <p:nvSpPr>
          <p:cNvPr id="5" name="Normalläget avser angivet opåverkat tillstånd.&#10;Spolens märkspänni">
            <a:extLst xmlns:a="http://schemas.openxmlformats.org/drawingml/2006/main">
              <a:ext uri="{FF2B5EF4-FFF2-40B4-BE49-F238E27FC236}">
                <a16:creationId xmlns:a16="http://schemas.microsoft.com/office/drawing/2014/main" id="{4443ABA9-F39E-43E3-97BB-1EBD2C0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Normalläget avser angivet opåverkat tillstånd.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Spolens märkspänning är skild från huvudkontaktens lastdata.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BC709510-AFCC-4B6D-A45E-712A2A9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ontaktor K1 i opåverkat läge: spolen, e" descr="Kontaktor K1 i opåverkat läge: spolen, en NO-kontakt 13–14 som är öppen och en NC-kontakt 21–22 som är slut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8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2de8fe867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otorskydd">
            <a:extLst xmlns:a="http://schemas.openxmlformats.org/drawingml/2006/main">
              <a:ext uri="{FF2B5EF4-FFF2-40B4-BE49-F238E27FC236}">
                <a16:creationId xmlns:a16="http://schemas.microsoft.com/office/drawing/2014/main" id="{549E4C88-0629-4517-AC9A-0CA7C60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Motorskydd</a:t>
            </a:r>
          </a:p>
        </p:txBody>
      </p:sp>
      <p:sp>
        <p:nvSpPr>
          <p:cNvPr id="3" name="Motorskydd ska anpassas till motor och startförlopp.&#10;Överlastfunk">
            <a:extLst xmlns:a="http://schemas.openxmlformats.org/drawingml/2006/main">
              <a:ext uri="{FF2B5EF4-FFF2-40B4-BE49-F238E27FC236}">
                <a16:creationId xmlns:a16="http://schemas.microsoft.com/office/drawing/2014/main" id="{08FC5F9B-33FE-4296-91E0-7BF42B6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Motorskydd ska anpassas till motor och startförlopp.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Överlastfunktion och kortslutningsskydd behöver samordnas.</a:t>
            </a:r>
          </a:p>
        </p:txBody>
      </p:sp>
      <p:sp>
        <p:nvSpPr>
          <p:cNvPr id="4" name="Märkdata och tillverkarens anvisning styr">
            <a:extLst xmlns:a="http://schemas.openxmlformats.org/drawingml/2006/main">
              <a:ext uri="{FF2B5EF4-FFF2-40B4-BE49-F238E27FC236}">
                <a16:creationId xmlns:a16="http://schemas.microsoft.com/office/drawing/2014/main" id="{8327D019-5FDB-4CF4-83E3-42107E0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Märkdata och tillverkarens anvisning styr</a:t>
            </a:r>
          </a:p>
        </p:txBody>
      </p:sp>
      <p:sp>
        <p:nvSpPr>
          <p:cNvPr id="5" name="Enbart motorns kW-tal räcker inte för ett skyddsval.&#10;Ström, drift">
            <a:extLst xmlns:a="http://schemas.openxmlformats.org/drawingml/2006/main">
              <a:ext uri="{FF2B5EF4-FFF2-40B4-BE49-F238E27FC236}">
                <a16:creationId xmlns:a16="http://schemas.microsoft.com/office/drawing/2014/main" id="{224A380A-932A-45BC-ABAF-CC6B457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Enbart motorns kW-tal räcker inte för ett skyddsval.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Ström, drift, starttid och omgivning påverkar bedömningen.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F53BA8E5-028E-4495-97C9-C0A8080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ebb3d8db842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elektivitet">
            <a:extLst xmlns:a="http://schemas.openxmlformats.org/drawingml/2006/main">
              <a:ext uri="{FF2B5EF4-FFF2-40B4-BE49-F238E27FC236}">
                <a16:creationId xmlns:a16="http://schemas.microsoft.com/office/drawing/2014/main" id="{5DC7FC49-6D45-4FAD-983D-778DF33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Selektivitet</a:t>
            </a:r>
          </a:p>
        </p:txBody>
      </p:sp>
      <p:sp>
        <p:nvSpPr>
          <p:cNvPr id="3" name="Selektivitet innebär att avsedd skyddsnivå kopplar bort felet&#10;så ">
            <a:extLst xmlns:a="http://schemas.openxmlformats.org/drawingml/2006/main">
              <a:ext uri="{FF2B5EF4-FFF2-40B4-BE49-F238E27FC236}">
                <a16:creationId xmlns:a16="http://schemas.microsoft.com/office/drawing/2014/main" id="{A5FA6C8D-A450-4E30-9743-76D373E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Selektivitet innebär att avsedd skyddsnivå kopplar bort felet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så att övriga delar kan fortsätta fungera.</a:t>
            </a:r>
          </a:p>
        </p:txBody>
      </p:sp>
      <p:sp>
        <p:nvSpPr>
          <p:cNvPr id="4" name="Utlösningskurvor och samordningsdata behövs">
            <a:extLst xmlns:a="http://schemas.openxmlformats.org/drawingml/2006/main">
              <a:ext uri="{FF2B5EF4-FFF2-40B4-BE49-F238E27FC236}">
                <a16:creationId xmlns:a16="http://schemas.microsoft.com/office/drawing/2014/main" id="{94068253-AA9F-420C-A994-288DAAA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Utlösningskurvor och samordningsdata behövs</a:t>
            </a:r>
          </a:p>
        </p:txBody>
      </p:sp>
      <p:sp>
        <p:nvSpPr>
          <p:cNvPr id="5" name="Två skydd med olika märkström är inte automatiskt selektiva.&#10;Bedö">
            <a:extLst xmlns:a="http://schemas.openxmlformats.org/drawingml/2006/main">
              <a:ext uri="{FF2B5EF4-FFF2-40B4-BE49-F238E27FC236}">
                <a16:creationId xmlns:a16="http://schemas.microsoft.com/office/drawing/2014/main" id="{B3B555F5-6D14-45AB-B7F1-DD82D3E4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skydd med olika märkström är inte automatiskt selektiva.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Bedömningen gäller också den möjliga kortslutningsströmmen.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C2064021-CD80-4306-9AEB-A45BBB4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Huvudskydd och tre gruppskydd; vid fel i" descr="Huvudskydd och tre gruppskydd; vid fel i grupp B löser bara grupp B medan övriga är i dr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4004ce8e24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skyddsdata">
            <a:extLst xmlns:a="http://schemas.openxmlformats.org/drawingml/2006/main">
              <a:ext uri="{FF2B5EF4-FFF2-40B4-BE49-F238E27FC236}">
                <a16:creationId xmlns:a16="http://schemas.microsoft.com/office/drawing/2014/main" id="{2D129C3F-FE10-4D97-8B76-E235AAB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skyddsdata</a:t>
            </a:r>
          </a:p>
        </p:txBody>
      </p:sp>
      <p:sp>
        <p:nvSpPr>
          <p:cNvPr id="10" name="Möjlig kortslutningsström är 7 kA. Skydd A har 4,5 kA brytförmåga">
            <a:extLst xmlns:a="http://schemas.openxmlformats.org/drawingml/2006/main">
              <a:ext uri="{FF2B5EF4-FFF2-40B4-BE49-F238E27FC236}">
                <a16:creationId xmlns:a16="http://schemas.microsoft.com/office/drawing/2014/main" id="{67B2AE2B-7769-4465-8989-B4344731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Möjlig kortslutningsström är 7 kA. Skydd A har 4,5 kA brytförmåga och B har 10 kA. Ingen backup anges.</a:t>
            </a:r>
          </a:p>
        </p:txBody>
      </p:sp>
      <p:sp>
        <p:nvSpPr>
          <p:cNvPr id="11" name="Brytförmåga jämförs med möjlig felström">
            <a:extLst xmlns:a="http://schemas.openxmlformats.org/drawingml/2006/main">
              <a:ext uri="{FF2B5EF4-FFF2-40B4-BE49-F238E27FC236}">
                <a16:creationId xmlns:a16="http://schemas.microsoft.com/office/drawing/2014/main" id="{1A19BC5B-5EE9-46B8-8FE5-A9B6AE8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Brytförmåga jämförs med möjlig felström</a:t>
            </a:r>
          </a:p>
        </p:txBody>
      </p:sp>
      <p:sp>
        <p:nvSpPr>
          <p:cNvPr id="12" name="1. A: 4,5 kA är mindre än 7 kA och täcker inte kravet.&#10;2. B: 10 k">
            <a:extLst xmlns:a="http://schemas.openxmlformats.org/drawingml/2006/main">
              <a:ext uri="{FF2B5EF4-FFF2-40B4-BE49-F238E27FC236}">
                <a16:creationId xmlns:a16="http://schemas.microsoft.com/office/drawing/2014/main" id="{9D76F1B3-621E-4D35-9FC6-3EE73C6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A: 4,5 kA är mindre än 7 kA och täcker inte kravet.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B: 10 kA är större än 7 kA och klarar just denna jämförelse.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Spänningsklass, utlösning och samordning måste också prövas.</a:t>
            </a:r>
          </a:p>
        </p:txBody>
      </p:sp>
      <p:sp>
        <p:nvSpPr>
          <p:cNvPr id="13" name="Att klara brytförmågan är en nödvändig del av valet. Övriga skydd">
            <a:extLst xmlns:a="http://schemas.openxmlformats.org/drawingml/2006/main">
              <a:ext uri="{FF2B5EF4-FFF2-40B4-BE49-F238E27FC236}">
                <a16:creationId xmlns:a16="http://schemas.microsoft.com/office/drawing/2014/main" id="{2729DFBE-82EC-4343-9C97-A1156F3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Att klara brytförmågan är en nödvändig del av valet. Övriga skyddsvillkor återstår.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CC2C42A1-608E-4CA0-90B2-2223E4D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Stapeldiagram: skydd A har 4,5 kA och sk" descr="Stapeldiagram: skydd A har 4,5 kA och skydd B 10 kA brytförmåga jämfört med möjlig felström 7 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8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19d00c724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C6B9F556-590C-4D8E-9361-E1A5BBC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1.6</a:t>
            </a:r>
          </a:p>
        </p:txBody>
      </p:sp>
      <p:sp>
        <p:nvSpPr>
          <p:cNvPr id="10" name="NO = normalt öppen, NC = normalt sluten">
            <a:extLst xmlns:a="http://schemas.openxmlformats.org/drawingml/2006/main">
              <a:ext uri="{FF2B5EF4-FFF2-40B4-BE49-F238E27FC236}">
                <a16:creationId xmlns:a16="http://schemas.microsoft.com/office/drawing/2014/main" id="{2B8D7EB4-CFA7-409C-A06B-A5BED94B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 = normalt öppen, NC = normalt sluten</a:t>
            </a:r>
          </a:p>
        </p:txBody>
      </p:sp>
      <p:sp>
        <p:nvSpPr>
          <p:cNvPr id="11" name="Normalläget är apparatens definierade opåverkade tillstånd. K1:s ">
            <a:extLst xmlns:a="http://schemas.openxmlformats.org/drawingml/2006/main">
              <a:ext uri="{FF2B5EF4-FFF2-40B4-BE49-F238E27FC236}">
                <a16:creationId xmlns:a16="http://schemas.microsoft.com/office/drawing/2014/main" id="{661AB5D5-D48C-4BCC-B3C2-9BAB4DE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Normalläget är det läge kontakten har när spolen är strömlös. K1:s kontakter följer spolen.</a:t>
            </a:r>
          </a:p>
        </p:txBody>
      </p:sp>
      <p:sp>
        <p:nvSpPr>
          <p:cNvPr id="12" name="Förutsättningar: En NO-hjälpkontakt till en vanlig kontaktor K1. ">
            <a:extLst xmlns:a="http://schemas.openxmlformats.org/drawingml/2006/main">
              <a:ext uri="{FF2B5EF4-FFF2-40B4-BE49-F238E27FC236}">
                <a16:creationId xmlns:a16="http://schemas.microsoft.com/office/drawing/2014/main" id="{FEBBA217-913F-46AB-87A8-6CEF7502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NO-hjälpkontakt på en vanlig kontaktor K1. Inga specialfunktioner och inga fel.</a:t>
            </a:r>
          </a:p>
        </p:txBody>
      </p:sp>
      <p:sp>
        <p:nvSpPr>
          <p:cNvPr id="13" name="Arbetsgång: Ange kontaktläget före och efter att K1 drar.">
            <a:extLst xmlns:a="http://schemas.openxmlformats.org/drawingml/2006/main">
              <a:ext uri="{FF2B5EF4-FFF2-40B4-BE49-F238E27FC236}">
                <a16:creationId xmlns:a16="http://schemas.microsoft.com/office/drawing/2014/main" id="{CEDD9E2E-79CC-4FD7-B8E9-58E0435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kontaktens läge före och efter att K1 drar.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5F23FAC0-BD34-482D-AE1F-7C7DB4E7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f1144382b4d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2B1E92F7-AC76-4FB8-A28E-642E5F2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1.6</a:t>
            </a:r>
          </a:p>
        </p:txBody>
      </p:sp>
      <p:sp>
        <p:nvSpPr>
          <p:cNvPr id="3" name="Hjälpkontakt">
            <a:extLst xmlns:a="http://schemas.openxmlformats.org/drawingml/2006/main">
              <a:ext uri="{FF2B5EF4-FFF2-40B4-BE49-F238E27FC236}">
                <a16:creationId xmlns:a16="http://schemas.microsoft.com/office/drawing/2014/main" id="{9CFE99FC-CA7D-4DBD-AC46-0E84A6D9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Hjälpkontakt</a:t>
            </a:r>
          </a:p>
        </p:txBody>
      </p:sp>
      <p:sp>
        <p:nvSpPr>
          <p:cNvPr id="4" name="En NO-hjälpkontakt till K1 är opåverkad. Är den öppen eller slute">
            <a:extLst xmlns:a="http://schemas.openxmlformats.org/drawingml/2006/main">
              <a:ext uri="{FF2B5EF4-FFF2-40B4-BE49-F238E27FC236}">
                <a16:creationId xmlns:a16="http://schemas.microsoft.com/office/drawing/2014/main" id="{AE8B5DEF-F938-430A-BA13-16AB4C17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NO-hjälpkontakt till K1 är opåverkad. Är den öppen eller sluten? Vad händer normalt när K1 drar?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4FB446B-051B-408D-B755-98A2E9EB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75482D25-DEE2-4621-AEB5-10DF255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f6ff89aa5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B801270D-D2B3-48AB-98BF-271F7595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1.7</a:t>
            </a:r>
          </a:p>
        </p:txBody>
      </p:sp>
      <p:sp>
        <p:nvSpPr>
          <p:cNvPr id="10" name="Spoldata gäller manöverkretsen">
            <a:extLst xmlns:a="http://schemas.openxmlformats.org/drawingml/2006/main">
              <a:ext uri="{FF2B5EF4-FFF2-40B4-BE49-F238E27FC236}">
                <a16:creationId xmlns:a16="http://schemas.microsoft.com/office/drawing/2014/main" id="{5A36D4A1-3C14-4366-8D34-463B244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Vilken del av apparaten gäller varje märkvärde?</a:t>
            </a:r>
          </a:p>
        </p:txBody>
      </p:sp>
      <p:sp>
        <p:nvSpPr>
          <p:cNvPr id="11" name="Huvudkontakternas lastspänning och spolens matningsspänning avser">
            <a:extLst xmlns:a="http://schemas.openxmlformats.org/drawingml/2006/main">
              <a:ext uri="{FF2B5EF4-FFF2-40B4-BE49-F238E27FC236}">
                <a16:creationId xmlns:a16="http://schemas.microsoft.com/office/drawing/2014/main" id="{C8F1DAA0-F5C9-413A-B0EC-FCF1ECD2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Huvudkontakternas spänning och spolens spänning gäller olika delar av apparaten.</a:t>
            </a:r>
          </a:p>
        </p:txBody>
      </p:sp>
      <p:sp>
        <p:nvSpPr>
          <p:cNvPr id="12" name="Förutsättningar: Huvudkontakter för 400 V, spole märkt 24 V DC.">
            <a:extLst xmlns:a="http://schemas.openxmlformats.org/drawingml/2006/main">
              <a:ext uri="{FF2B5EF4-FFF2-40B4-BE49-F238E27FC236}">
                <a16:creationId xmlns:a16="http://schemas.microsoft.com/office/drawing/2014/main" id="{6FE389F7-D48B-44A3-B9C5-F0F491D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Huvudkontakter för 440 V, spole märkt 24 V DC.</a:t>
            </a:r>
          </a:p>
        </p:txBody>
      </p:sp>
      <p:sp>
        <p:nvSpPr>
          <p:cNvPr id="13" name="Arbetsgång: Välj spolens spänning och strömart ur märkningen. Anv">
            <a:extLst xmlns:a="http://schemas.openxmlformats.org/drawingml/2006/main">
              <a:ext uri="{FF2B5EF4-FFF2-40B4-BE49-F238E27FC236}">
                <a16:creationId xmlns:a16="http://schemas.microsoft.com/office/drawing/2014/main" id="{3AD4BD79-C26C-4032-ACBA-4562019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Huvudkontakterna och spolen har var sin märkning. Vilken del av kontaktorn är det som matas från manöverkretsen?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A8BBEF9D-633A-4A00-B725-00DBC6C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b622b6c6f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6B14319B-9F74-4A3A-9797-9525D09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1.7</a:t>
            </a:r>
          </a:p>
        </p:txBody>
      </p:sp>
      <p:sp>
        <p:nvSpPr>
          <p:cNvPr id="3" name="Spolspänning">
            <a:extLst xmlns:a="http://schemas.openxmlformats.org/drawingml/2006/main">
              <a:ext uri="{FF2B5EF4-FFF2-40B4-BE49-F238E27FC236}">
                <a16:creationId xmlns:a16="http://schemas.microsoft.com/office/drawing/2014/main" id="{2D651CEB-7EAE-43F0-A1DC-FA9B330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Spolspänning</a:t>
            </a:r>
          </a:p>
        </p:txBody>
      </p:sp>
      <p:sp>
        <p:nvSpPr>
          <p:cNvPr id="4" name="En kontaktor har huvudkontakter för 400 V men en spole märkt 24 V">
            <a:extLst xmlns:a="http://schemas.openxmlformats.org/drawingml/2006/main">
              <a:ext uri="{FF2B5EF4-FFF2-40B4-BE49-F238E27FC236}">
                <a16:creationId xmlns:a16="http://schemas.microsoft.com/office/drawing/2014/main" id="{253BEB90-2268-48A3-B47E-F4668A5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Kontaktorns huvudkontakter är märkta 440 V. Spolen är märkt 24 V DC. Vilken spänning ska spolen matas med?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E1991B0-F776-4141-8C85-1B4EB24B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B4B61C81-9E62-4EF8-AB94-820224A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20cfe4ca0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1B45C350-2B8D-4DDF-8DFE-67E3919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1.8</a:t>
            </a:r>
          </a:p>
        </p:txBody>
      </p:sp>
      <p:sp>
        <p:nvSpPr>
          <p:cNvPr id="10" name="Selektivitet begränsar bortkopplingen till felområdet">
            <a:extLst xmlns:a="http://schemas.openxmlformats.org/drawingml/2006/main">
              <a:ext uri="{FF2B5EF4-FFF2-40B4-BE49-F238E27FC236}">
                <a16:creationId xmlns:a16="http://schemas.microsoft.com/office/drawing/2014/main" id="{3353C269-4174-480C-9E2F-CE523096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Vilket skydd borde ha löst?</a:t>
            </a:r>
          </a:p>
        </p:txBody>
      </p:sp>
      <p:sp>
        <p:nvSpPr>
          <p:cNvPr id="11" name="När skydden är rätt samordnade kopplar avsedd nivå bort felet uta">
            <a:extLst xmlns:a="http://schemas.openxmlformats.org/drawingml/2006/main">
              <a:ext uri="{FF2B5EF4-FFF2-40B4-BE49-F238E27FC236}">
                <a16:creationId xmlns:a16="http://schemas.microsoft.com/office/drawing/2014/main" id="{2CEEFEFB-78FE-43D2-A116-5BEAB1DA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skydden är rätt samordnade kopplar det närmaste skyddet bort felet, och de felfria delarna fortsätter att fungera.</a:t>
            </a:r>
          </a:p>
        </p:txBody>
      </p:sp>
      <p:sp>
        <p:nvSpPr>
          <p:cNvPr id="12" name="Förutsättningar: Gruppskydd och huvudskydd löser för samma lokala">
            <a:extLst xmlns:a="http://schemas.openxmlformats.org/drawingml/2006/main">
              <a:ext uri="{FF2B5EF4-FFF2-40B4-BE49-F238E27FC236}">
                <a16:creationId xmlns:a16="http://schemas.microsoft.com/office/drawing/2014/main" id="{87E9F06C-B585-45CD-9324-726CDA4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Gruppskydd och huvudskydd löser ut för samma fel. Utlösningskurvor och felström är inte kända.</a:t>
            </a:r>
          </a:p>
        </p:txBody>
      </p:sp>
      <p:sp>
        <p:nvSpPr>
          <p:cNvPr id="13" name="Arbetsgång: Identifiera vilken funktion som behöver utredas och v">
            <a:extLst xmlns:a="http://schemas.openxmlformats.org/drawingml/2006/main">
              <a:ext uri="{FF2B5EF4-FFF2-40B4-BE49-F238E27FC236}">
                <a16:creationId xmlns:a16="http://schemas.microsoft.com/office/drawing/2014/main" id="{80289017-6D7B-48F9-986D-B760F42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vad som behöver utredas och vilka data från tillverkaren som behövs.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7398F0C1-534A-4957-AD61-8FC994AD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cebe622c1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D3D90DBC-C518-48E2-9FDF-31EFC0C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1.8</a:t>
            </a:r>
          </a:p>
        </p:txBody>
      </p:sp>
      <p:sp>
        <p:nvSpPr>
          <p:cNvPr id="3" name="Selektivitetsfall">
            <a:extLst xmlns:a="http://schemas.openxmlformats.org/drawingml/2006/main">
              <a:ext uri="{FF2B5EF4-FFF2-40B4-BE49-F238E27FC236}">
                <a16:creationId xmlns:a16="http://schemas.microsoft.com/office/drawing/2014/main" id="{3745E52E-4CB9-4164-91A0-65F5F56C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Selektivitetsfall</a:t>
            </a:r>
          </a:p>
        </p:txBody>
      </p:sp>
      <p:sp>
        <p:nvSpPr>
          <p:cNvPr id="4" name="Ett fel i en undercentral löser både dess gruppskydd och huvudsky">
            <a:extLst xmlns:a="http://schemas.openxmlformats.org/drawingml/2006/main">
              <a:ext uri="{FF2B5EF4-FFF2-40B4-BE49-F238E27FC236}">
                <a16:creationId xmlns:a16="http://schemas.microsoft.com/office/drawing/2014/main" id="{A01EE100-3B53-4EFC-96D8-A507234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fel i en undercentral (en mindre elcentral längre ut i nätet) gör att två skydd löser: gruppskyddet och huvudskyddet. Bara gruppskyddet borde ha löst. Vad behöver du ta reda på?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73C59CA-3C92-4DBB-BEEF-7313317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F7748D85-CE78-40C3-8A71-1688188B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843a16d15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7D9DD6A6-FA1B-4AA3-8D43-588E65E3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1.9</a:t>
            </a:r>
          </a:p>
        </p:txBody>
      </p:sp>
      <p:sp>
        <p:nvSpPr>
          <p:cNvPr id="10" name="Brytförmåga måste täcka möjlig felström">
            <a:extLst xmlns:a="http://schemas.openxmlformats.org/drawingml/2006/main">
              <a:ext uri="{FF2B5EF4-FFF2-40B4-BE49-F238E27FC236}">
                <a16:creationId xmlns:a16="http://schemas.microsoft.com/office/drawing/2014/main" id="{4458153C-6C48-4E9F-8D3F-906F750D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Brytförmåga måste täcka möjlig felström</a:t>
            </a:r>
          </a:p>
        </p:txBody>
      </p:sp>
      <p:sp>
        <p:nvSpPr>
          <p:cNvPr id="11" name="En dokumenterad backupkombination kan påverka tillåtet val. En så">
            <a:extLst xmlns:a="http://schemas.openxmlformats.org/drawingml/2006/main">
              <a:ext uri="{FF2B5EF4-FFF2-40B4-BE49-F238E27FC236}">
                <a16:creationId xmlns:a16="http://schemas.microsoft.com/office/drawing/2014/main" id="{08D6FAF8-B646-4BB6-A89B-7F4FC8E3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dokumenterat backupskydd hade kunnat ändra bedömningen, men du får inte anta att det finns.</a:t>
            </a:r>
          </a:p>
        </p:txBody>
      </p:sp>
      <p:sp>
        <p:nvSpPr>
          <p:cNvPr id="12" name="Förutsättningar: Möjlig kortslutningsström 8 kA, angiven brytförm">
            <a:extLst xmlns:a="http://schemas.openxmlformats.org/drawingml/2006/main">
              <a:ext uri="{FF2B5EF4-FFF2-40B4-BE49-F238E27FC236}">
                <a16:creationId xmlns:a16="http://schemas.microsoft.com/office/drawing/2014/main" id="{1A8DC6BC-DEB1-48A2-9D74-5EE6EEA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Möjlig kortslutningsström 8 kA, brytförmåga 6 kA. Inget dokumenterat backupskydd.</a:t>
            </a:r>
          </a:p>
        </p:txBody>
      </p:sp>
      <p:sp>
        <p:nvSpPr>
          <p:cNvPr id="13" name="Arbetsgång: Jämför värdena i samma enhet och motivera om det redo">
            <a:extLst xmlns:a="http://schemas.openxmlformats.org/drawingml/2006/main">
              <a:ext uri="{FF2B5EF4-FFF2-40B4-BE49-F238E27FC236}">
                <a16:creationId xmlns:a16="http://schemas.microsoft.com/office/drawing/2014/main" id="{200CA0F4-93C4-4A82-AD0A-5B3D02F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värdena och motivera om valet uppfyller kravet.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500D803D-B6E0-4E86-BC90-8D56641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f02e577db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8528BE0B-C26E-41B3-A54B-E5D6BB4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1.9</a:t>
            </a:r>
          </a:p>
        </p:txBody>
      </p:sp>
      <p:sp>
        <p:nvSpPr>
          <p:cNvPr id="3" name="Brytförmåga">
            <a:extLst xmlns:a="http://schemas.openxmlformats.org/drawingml/2006/main">
              <a:ext uri="{FF2B5EF4-FFF2-40B4-BE49-F238E27FC236}">
                <a16:creationId xmlns:a16="http://schemas.microsoft.com/office/drawing/2014/main" id="{5A66AACA-379B-4C15-A141-96F2741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Brytförmåga</a:t>
            </a:r>
          </a:p>
        </p:txBody>
      </p:sp>
      <p:sp>
        <p:nvSpPr>
          <p:cNvPr id="4" name="Beräknad möjlig kortslutningsström är 8 kA. Ett föreslaget skydd ">
            <a:extLst xmlns:a="http://schemas.openxmlformats.org/drawingml/2006/main">
              <a:ext uri="{FF2B5EF4-FFF2-40B4-BE49-F238E27FC236}">
                <a16:creationId xmlns:a16="http://schemas.microsoft.com/office/drawing/2014/main" id="{83BEDAB6-12F2-47AC-AAD2-838A01F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Kortslutningsströmmen kan bli 8 kA. Skyddet klarar att bryta 6 kA. Det finns inget annat skydd som hjälper till (backupskydd). Får du använda skyddet?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EABC8A9-8F31-4D69-BD58-A94CA803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57E9A952-7901-49EB-876B-632BD38E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7ba5824f7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DAFCC82F-EF66-4824-AE97-300858DD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1.10</a:t>
            </a:r>
          </a:p>
        </p:txBody>
      </p:sp>
      <p:sp>
        <p:nvSpPr>
          <p:cNvPr id="10" name="Manöver, överlastskydd och kortslutningsskydd">
            <a:extLst xmlns:a="http://schemas.openxmlformats.org/drawingml/2006/main">
              <a:ext uri="{FF2B5EF4-FFF2-40B4-BE49-F238E27FC236}">
                <a16:creationId xmlns:a16="http://schemas.microsoft.com/office/drawing/2014/main" id="{16BE4B8B-6530-4E69-9D62-4AC8395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funktioner behövs runt motorn?</a:t>
            </a:r>
          </a:p>
        </p:txBody>
      </p:sp>
      <p:sp>
        <p:nvSpPr>
          <p:cNvPr id="11" name="Kontaktor manövrerar. Överlastfunktion skyddar vid för hög belast">
            <a:extLst xmlns:a="http://schemas.openxmlformats.org/drawingml/2006/main">
              <a:ext uri="{FF2B5EF4-FFF2-40B4-BE49-F238E27FC236}">
                <a16:creationId xmlns:a16="http://schemas.microsoft.com/office/drawing/2014/main" id="{818E9AD0-B5F9-48C5-B0AF-2A2D15F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Tänk på normal start och stopp, på för hög belastning och på en kortslutning i kabel eller motor.</a:t>
            </a:r>
          </a:p>
        </p:txBody>
      </p:sp>
      <p:sp>
        <p:nvSpPr>
          <p:cNvPr id="12" name="Förutsättningar: Uppgiften gäller funktioner kring en motor, inte">
            <a:extLst xmlns:a="http://schemas.openxmlformats.org/drawingml/2006/main">
              <a:ext uri="{FF2B5EF4-FFF2-40B4-BE49-F238E27FC236}">
                <a16:creationId xmlns:a16="http://schemas.microsoft.com/office/drawing/2014/main" id="{4A064614-87AB-4019-B942-27EA6356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Uppgiften gäller vilka funktioner som behövs, inte vilka produkter eller inställningar.</a:t>
            </a:r>
          </a:p>
        </p:txBody>
      </p:sp>
      <p:sp>
        <p:nvSpPr>
          <p:cNvPr id="13" name="Arbetsgång: Ange hur funktionerna samverkar. Verkligt val behöver">
            <a:extLst xmlns:a="http://schemas.openxmlformats.org/drawingml/2006/main">
              <a:ext uri="{FF2B5EF4-FFF2-40B4-BE49-F238E27FC236}">
                <a16:creationId xmlns:a16="http://schemas.microsoft.com/office/drawing/2014/main" id="{19FBBEC5-D961-42A7-9F69-656DADB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hur funktionerna samverkar. Verkligt val behöver motor-, start- och samordningsdata.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080DF7FB-56BC-419A-9041-2477B838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a7fd2a22448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B4B8FE51-0A5B-4B0C-BE86-8C6DB99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1.10</a:t>
            </a:r>
          </a:p>
        </p:txBody>
      </p:sp>
      <p:sp>
        <p:nvSpPr>
          <p:cNvPr id="3" name="Motorpaket">
            <a:extLst xmlns:a="http://schemas.openxmlformats.org/drawingml/2006/main">
              <a:ext uri="{FF2B5EF4-FFF2-40B4-BE49-F238E27FC236}">
                <a16:creationId xmlns:a16="http://schemas.microsoft.com/office/drawing/2014/main" id="{71284EE5-DBBB-44FA-8C2B-1AEE65F9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Motorpaket</a:t>
            </a:r>
          </a:p>
        </p:txBody>
      </p:sp>
      <p:sp>
        <p:nvSpPr>
          <p:cNvPr id="4" name="Nämn vilka funktioner som behöver finnas runt en motor för normal">
            <a:extLst xmlns:a="http://schemas.openxmlformats.org/drawingml/2006/main">
              <a:ext uri="{FF2B5EF4-FFF2-40B4-BE49-F238E27FC236}">
                <a16:creationId xmlns:a16="http://schemas.microsoft.com/office/drawing/2014/main" id="{B992B556-C4B9-4CC3-AEA6-322FBEE9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Nämn vilka funktioner som behöver finnas runt en motor för normal manöver, överlastskydd och kortslutningsskydd.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D95974E-F11C-449D-A590-6716C54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CA292EFC-B813-4B95-BB3F-708A8B5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fecb53fd44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1DEF4382-48D3-4273-817C-B77D6C6E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rför bevisar olika märkströmmar inte att två skydd är selektiva">
            <a:extLst xmlns:a="http://schemas.openxmlformats.org/drawingml/2006/main">
              <a:ext uri="{FF2B5EF4-FFF2-40B4-BE49-F238E27FC236}">
                <a16:creationId xmlns:a16="http://schemas.microsoft.com/office/drawing/2014/main" id="{ADD3FDA6-4835-4BA7-B22D-D6B581A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Varför bevisar olika märkströmmar inte att två skydd är selektiva?</a:t>
            </a:r>
          </a:p>
        </p:txBody>
      </p:sp>
      <p:sp>
        <p:nvSpPr>
          <p:cNvPr id="4" name="Identifiera skydd och manöverkomponenter inför veckans motorstyrn">
            <a:extLst xmlns:a="http://schemas.openxmlformats.org/drawingml/2006/main">
              <a:ext uri="{FF2B5EF4-FFF2-40B4-BE49-F238E27FC236}">
                <a16:creationId xmlns:a16="http://schemas.microsoft.com/office/drawing/2014/main" id="{0B57A69D-CFE3-4124-8CE7-3F26D45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Identifiera skydd och manöverkomponenter inför veckans motorstyrningsschema. Dokumentera funktion och vilken data som behövs.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2C539D9C-1EA7-4C49-BF78-85A4C4E6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f7282bc5345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FCFF9D5A-DBD8-4255-96D4-6E76417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58967BDB-1F77-4417-AA1E-483B26D6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Schneider Electric: samordning av skydd">
            <a:extLst xmlns:a="http://schemas.openxmlformats.org/drawingml/2006/main">
              <a:ext uri="{FF2B5EF4-FFF2-40B4-BE49-F238E27FC236}">
                <a16:creationId xmlns:a16="http://schemas.microsoft.com/office/drawing/2014/main" id="{D23BA258-FF7A-4482-92C0-C0782C0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55afdbe56724d85"/>
              </a:rPr>
              <a:t>Schneider Electric: samordning av skydd</a:t>
            </a:r>
          </a:p>
        </p:txBody>
      </p:sp>
      <p:sp>
        <p:nvSpPr>
          <p:cNvPr id="5" name="IEC: IEC 60617, symboler för elscheman">
            <a:extLst xmlns:a="http://schemas.openxmlformats.org/drawingml/2006/main">
              <a:ext uri="{FF2B5EF4-FFF2-40B4-BE49-F238E27FC236}">
                <a16:creationId xmlns:a16="http://schemas.microsoft.com/office/drawing/2014/main" id="{C6FF2C27-E9F0-47D8-B90B-EACA95F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ae8b72e3b144209"/>
              </a:rPr>
              <a:t>IEC: IEC 60617, symboler för elscheman</a:t>
            </a:r>
          </a:p>
        </p:txBody>
      </p:sp>
      <p:sp>
        <p:nvSpPr>
          <p:cNvPr id="6" name="SEK: SS-EN 50110-1, utgåva 4:2024">
            <a:extLst xmlns:a="http://schemas.openxmlformats.org/drawingml/2006/main">
              <a:ext uri="{FF2B5EF4-FFF2-40B4-BE49-F238E27FC236}">
                <a16:creationId xmlns:a16="http://schemas.microsoft.com/office/drawing/2014/main" id="{BE965A60-784B-45E2-8AFA-F5DC20B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4c12ac43f82445f"/>
              </a:rPr>
              <a:t>SEK: SS-EN 50110-1, utgåva 4:2024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AD127B03-421F-438D-9D1E-A3BAA823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2026-09-20T20:09:55.0840000Z</dcterms:created>
  <dcterms:modified xsi:type="dcterms:W3CDTF">2026-09-20T20:09:55.0840000Z</dcterms:modified>
</coreProperties>
</file>