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f75b2216af043cc" Type="http://schemas.openxmlformats.org/package/2006/relationships/metadata/core-properties" Target="docProps/core.xml"/><Relationship Id="R2e413138dadd4dea" Type="http://schemas.openxmlformats.org/officeDocument/2006/relationships/extended-properties" Target="docProps/app.xml"/><Relationship Id="R7a2362ea759e423c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759ad6ada6404ae7"/>
  </p:sldMasterIdLst>
  <p:sldIdLst>
    <p:sldId id="256" r:id="R77a26596e4f844aa"/>
    <p:sldId id="257" r:id="R12946ac1f2624c52"/>
    <p:sldId id="258" r:id="R2f5e43753209466c"/>
    <p:sldId id="259" r:id="R7d1bbddac730429c"/>
    <p:sldId id="260" r:id="R05f4df479b2440d6"/>
    <p:sldId id="261" r:id="R85d50a69743f493c"/>
    <p:sldId id="262" r:id="R3f1df2f158214edb"/>
    <p:sldId id="263" r:id="R6b3b5276e8d14e8a"/>
    <p:sldId id="264" r:id="Re6528ae48c244ce3"/>
    <p:sldId id="265" r:id="R66909492b53244a6"/>
    <p:sldId id="266" r:id="R14517af18d784b44"/>
    <p:sldId id="267" r:id="R826dd6e6499a4f95"/>
    <p:sldId id="268" r:id="R9a55e94cc4934462"/>
    <p:sldId id="269" r:id="R7ed0d907b3ab4379"/>
    <p:sldId id="270" r:id="R1f483d13b2c74c1f"/>
    <p:sldId id="271" r:id="R0b37bd43e285496e"/>
    <p:sldId id="272" r:id="R5d43f94fede84ab3"/>
    <p:sldId id="273" r:id="R86653674dce44f62"/>
    <p:sldId id="274" r:id="Ra16ad01b2b154bb2"/>
    <p:sldId id="275" r:id="R87c9c04c942943df"/>
    <p:sldId id="276" r:id="R945db96660ac4e81"/>
    <p:sldId id="277" r:id="Rb89f52f368dd43e1"/>
    <p:sldId id="278" r:id="R01e70dcf34cb4ccd"/>
    <p:sldId id="279" r:id="R153184d38c204a2f"/>
    <p:sldId id="280" r:id="R29118a56ad4144ef"/>
    <p:sldId id="281" r:id="R0e92a93e119a43e5"/>
    <p:sldId id="282" r:id="Rc9a9086d732245bf"/>
    <p:sldId id="283" r:id="R173de07decdd4ee6"/>
    <p:sldId id="284" r:id="R3823bbb786164778"/>
    <p:sldId id="285" r:id="Rb07e80bbfefe4735"/>
    <p:sldId id="286" r:id="Rc3d9e2e81936475e"/>
    <p:sldId id="287" r:id="R3866ad93d8954ec5"/>
    <p:sldId id="288" r:id="R4450558ac3014f0f"/>
    <p:sldId id="289" r:id="Rc9803d05093a4977"/>
    <p:sldId id="290" r:id="Rb5159aa202d44b2b"/>
    <p:sldId id="291" r:id="R8c1c005259bc4a8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1e70dcf34cb4ccd" Type="http://schemas.openxmlformats.org/officeDocument/2006/relationships/slide" Target="slides/slide23.xml"/><Relationship Id="R05f4df479b2440d6" Type="http://schemas.openxmlformats.org/officeDocument/2006/relationships/slide" Target="slides/slide5.xml"/><Relationship Id="R0b37bd43e285496e" Type="http://schemas.openxmlformats.org/officeDocument/2006/relationships/slide" Target="slides/slide16.xml"/><Relationship Id="R0e92a93e119a43e5" Type="http://schemas.openxmlformats.org/officeDocument/2006/relationships/slide" Target="slides/slide26.xml"/><Relationship Id="R12946ac1f2624c52" Type="http://schemas.openxmlformats.org/officeDocument/2006/relationships/slide" Target="slides/slide2.xml"/><Relationship Id="R14517af18d784b44" Type="http://schemas.openxmlformats.org/officeDocument/2006/relationships/slide" Target="slides/slide11.xml"/><Relationship Id="R153184d38c204a2f" Type="http://schemas.openxmlformats.org/officeDocument/2006/relationships/slide" Target="slides/slide24.xml"/><Relationship Id="R173de07decdd4ee6" Type="http://schemas.openxmlformats.org/officeDocument/2006/relationships/slide" Target="slides/slide28.xml"/><Relationship Id="R1f483d13b2c74c1f" Type="http://schemas.openxmlformats.org/officeDocument/2006/relationships/slide" Target="slides/slide15.xml"/><Relationship Id="R29118a56ad4144ef" Type="http://schemas.openxmlformats.org/officeDocument/2006/relationships/slide" Target="slides/slide25.xml"/><Relationship Id="R2f5e43753209466c" Type="http://schemas.openxmlformats.org/officeDocument/2006/relationships/slide" Target="slides/slide3.xml"/><Relationship Id="R3823bbb786164778" Type="http://schemas.openxmlformats.org/officeDocument/2006/relationships/slide" Target="slides/slide29.xml"/><Relationship Id="R3866ad93d8954ec5" Type="http://schemas.openxmlformats.org/officeDocument/2006/relationships/slide" Target="slides/slide32.xml"/><Relationship Id="R3f1df2f158214edb" Type="http://schemas.openxmlformats.org/officeDocument/2006/relationships/slide" Target="slides/slide7.xml"/><Relationship Id="R4450558ac3014f0f" Type="http://schemas.openxmlformats.org/officeDocument/2006/relationships/slide" Target="slides/slide33.xml"/><Relationship Id="R52d0205a7d3b40ee" Type="http://schemas.openxmlformats.org/officeDocument/2006/relationships/viewProps" Target="viewProps.xml"/><Relationship Id="R5d43f94fede84ab3" Type="http://schemas.openxmlformats.org/officeDocument/2006/relationships/slide" Target="slides/slide17.xml"/><Relationship Id="R66909492b53244a6" Type="http://schemas.openxmlformats.org/officeDocument/2006/relationships/slide" Target="slides/slide10.xml"/><Relationship Id="R6b3b5276e8d14e8a" Type="http://schemas.openxmlformats.org/officeDocument/2006/relationships/slide" Target="slides/slide8.xml"/><Relationship Id="R759ad6ada6404ae7" Type="http://schemas.openxmlformats.org/officeDocument/2006/relationships/slideMaster" Target="slideMasters/slideMaster1.xml"/><Relationship Id="R75f2107c11bd4815" Type="http://schemas.openxmlformats.org/officeDocument/2006/relationships/theme" Target="theme/theme1.xml"/><Relationship Id="R77a26596e4f844aa" Type="http://schemas.openxmlformats.org/officeDocument/2006/relationships/slide" Target="slides/slide1.xml"/><Relationship Id="R7d1bbddac730429c" Type="http://schemas.openxmlformats.org/officeDocument/2006/relationships/slide" Target="slides/slide4.xml"/><Relationship Id="R7ed0d907b3ab4379" Type="http://schemas.openxmlformats.org/officeDocument/2006/relationships/slide" Target="slides/slide14.xml"/><Relationship Id="R826dd6e6499a4f95" Type="http://schemas.openxmlformats.org/officeDocument/2006/relationships/slide" Target="slides/slide12.xml"/><Relationship Id="R85d50a69743f493c" Type="http://schemas.openxmlformats.org/officeDocument/2006/relationships/slide" Target="slides/slide6.xml"/><Relationship Id="R86653674dce44f62" Type="http://schemas.openxmlformats.org/officeDocument/2006/relationships/slide" Target="slides/slide18.xml"/><Relationship Id="R87c9c04c942943df" Type="http://schemas.openxmlformats.org/officeDocument/2006/relationships/slide" Target="slides/slide20.xml"/><Relationship Id="R8c1c005259bc4a84" Type="http://schemas.openxmlformats.org/officeDocument/2006/relationships/slide" Target="slides/slide36.xml"/><Relationship Id="R91f3153509814bc3" Type="http://schemas.openxmlformats.org/officeDocument/2006/relationships/tableStyles" Target="tableStyles.xml"/><Relationship Id="R945db96660ac4e81" Type="http://schemas.openxmlformats.org/officeDocument/2006/relationships/slide" Target="slides/slide21.xml"/><Relationship Id="R9a55e94cc4934462" Type="http://schemas.openxmlformats.org/officeDocument/2006/relationships/slide" Target="slides/slide13.xml"/><Relationship Id="Ra16ad01b2b154bb2" Type="http://schemas.openxmlformats.org/officeDocument/2006/relationships/slide" Target="slides/slide19.xml"/><Relationship Id="Rb07e80bbfefe4735" Type="http://schemas.openxmlformats.org/officeDocument/2006/relationships/slide" Target="slides/slide30.xml"/><Relationship Id="Rb5159aa202d44b2b" Type="http://schemas.openxmlformats.org/officeDocument/2006/relationships/slide" Target="slides/slide35.xml"/><Relationship Id="Rb89f52f368dd43e1" Type="http://schemas.openxmlformats.org/officeDocument/2006/relationships/slide" Target="slides/slide22.xml"/><Relationship Id="Rc3d9e2e81936475e" Type="http://schemas.openxmlformats.org/officeDocument/2006/relationships/slide" Target="slides/slide31.xml"/><Relationship Id="Rc9803d05093a4977" Type="http://schemas.openxmlformats.org/officeDocument/2006/relationships/slide" Target="slides/slide34.xml"/><Relationship Id="Rc9a9086d732245bf" Type="http://schemas.openxmlformats.org/officeDocument/2006/relationships/slide" Target="slides/slide27.xml"/><Relationship Id="Re6528ae48c244ce3" Type="http://schemas.openxmlformats.org/officeDocument/2006/relationships/slide" Target="slides/slide9.xml"/><Relationship Id="Re7574298b0c345e6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0e200108374a4a2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8ddc65db23a6475f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e41561f6c956485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d39aeb8b70bc44ec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9c3d5fda26ef4fec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c5513c5d66bc414d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272fa9ba9d464f5a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0dc3e414a6a4c8c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45657cbb12424b5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1df3330f8e8d4fa8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cadc40dcc90645d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088AEF-6E0C-4A50-BCF4-E74E7898EE1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E583D0D-30CE-4261-8801-4FC2FEA33A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35D4EE6-262C-4486-BA96-F0AD298D88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E087DF-A1CA-40E9-A760-927F04B37E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EDE4AB-EC79-4CDD-AE84-3E621D44AA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016CB6-BF80-487F-8886-46395B1CB1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544475-DF0F-48F4-B6D6-BBC4C8792F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C37CE1-9842-4BFD-B545-F6238F438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370B81-6870-492F-9BBF-EB1435A878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E130D2-18DF-47F6-ABBB-5A6E362E0B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C07A55-B05B-437C-A161-E31ED645E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ED09D7-13B7-4EE1-AF62-467DFDC04F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EE583D-9FA3-4BAA-8C04-F5A153E3AD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32F69B-B76C-47CE-8742-3A6148FDE6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1F01A2-447A-4CD8-A6D9-2DC564FD25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72640D-78CC-45AB-A884-2985D63675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6DA6F4-C658-4BB5-A318-C962D7AE97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9818A7-ACAF-48F4-88CA-31D259D1BDF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F7BA8A3-790D-4D56-BA56-A683024C88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6C93C4-8C0A-4A5C-A70B-4FA8E7288E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121A679-81F7-4123-ADBB-00B7A1F93C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8B1118-E167-4B25-AA75-FD2DC57FA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0A7BB5C-188A-42B3-BF83-7B01490382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209363-711B-47AF-B7B0-5C0C240576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4677CBB-FF32-4E61-8F98-0A94480909B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98B3B62-B244-45A4-9498-0D400D12690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ACE058A-EE69-40A0-B13D-33287D20B8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66864FA-31BD-41BB-9880-62E83F3C5B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E1897C2-52A5-4715-A6C2-E56E73530D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6662E0-F7EC-42D1-BBF1-D53ECB9EAF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176E245-D509-4E68-9587-8A1BDB4819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96FF894-0345-44E1-8E73-8482E10123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A2EB7A4-FC3A-4EB7-9142-15362CADDF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F7F472C-1C8F-4734-AD26-B6826D33DA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8C745B3-A30B-447F-B45E-63398546FB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8493456-924B-447A-BA6D-40192242D5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968DCF-7B1D-488A-974D-63BC535296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5C0FB0-AA45-4DD1-A337-15E84A936E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871C291-6894-499F-8F92-B0DCCFCAFB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048A54E-C290-4539-8DD6-24A771405B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64A475D-B5FA-4F4B-85C4-568BA8EFCE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DEAB06-12D7-4889-A687-E5ED9CB8F6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D44594-10FF-49B3-896E-3CED4DD7F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ACCC686-AD3B-4A90-80D4-F49772BFC41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DF10CBA-2715-41D3-AD0B-ABC9768F02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D054847-A406-48AE-A89B-53EFBAEED6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8B348C-AF9A-4749-88B0-BB99F171D6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9768BE1-6A29-409C-B502-1176454BD6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9B9C25-7109-4472-9627-496EACC97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42943E-A2FA-4D4D-826F-3398329809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E46941-1CBA-43D1-93EC-E514337746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F9E035-D11D-4E76-852A-9A55A36B6C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C85A75-60B4-4760-8B61-A1D628246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85104D3-2F3B-4420-8E4B-6117BDD38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A36BD0-78F4-4F36-9221-8D6B86F15B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A76324-B8EE-4422-A165-16A94F6B6E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99E161-3F6E-404E-A8F4-618FBAF0A1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2D8812-A29A-4A05-8745-2939D01C02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491fc2c046024e43" Type="http://schemas.openxmlformats.org/officeDocument/2006/relationships/slideLayout" Target="../slideLayouts/slideLayout2.xml"/><Relationship Id="R56a9f45f112e48e6" Type="http://schemas.openxmlformats.org/officeDocument/2006/relationships/slideLayout" Target="../slideLayouts/slideLayout8.xml"/><Relationship Id="R72d0bbfec42246f8" Type="http://schemas.openxmlformats.org/officeDocument/2006/relationships/slideLayout" Target="../slideLayouts/slideLayout11.xml"/><Relationship Id="R79a8d02f20934892" Type="http://schemas.openxmlformats.org/officeDocument/2006/relationships/slideLayout" Target="../slideLayouts/slideLayout9.xml"/><Relationship Id="R7dc874b437684a71" Type="http://schemas.openxmlformats.org/officeDocument/2006/relationships/theme" Target="theme/theme2.xml"/><Relationship Id="R825ead2799384437" Type="http://schemas.openxmlformats.org/officeDocument/2006/relationships/slideLayout" Target="../slideLayouts/slideLayout10.xml"/><Relationship Id="R84b43770350349cf" Type="http://schemas.openxmlformats.org/officeDocument/2006/relationships/slideLayout" Target="../slideLayouts/slideLayout1.xml"/><Relationship Id="R87684fb390564f40" Type="http://schemas.openxmlformats.org/officeDocument/2006/relationships/slideLayout" Target="../slideLayouts/slideLayout6.xml"/><Relationship Id="R8a526f70735a43fa" Type="http://schemas.openxmlformats.org/officeDocument/2006/relationships/slideLayout" Target="../slideLayouts/slideLayout7.xml"/><Relationship Id="Ra01e3b2286064e0a" Type="http://schemas.openxmlformats.org/officeDocument/2006/relationships/slideLayout" Target="../slideLayouts/slideLayout5.xml"/><Relationship Id="Rbcfd4105b53443db" Type="http://schemas.openxmlformats.org/officeDocument/2006/relationships/slideLayout" Target="../slideLayouts/slideLayout3.xml"/><Relationship Id="Rf40e788953ff4a07" Type="http://schemas.openxmlformats.org/officeDocument/2006/relationships/slideLayout" Target="../slideLayouts/slideLayout4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9BE103E-24FD-43B3-9901-93762E5E47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6E2F6B-6871-4664-ACC1-41F07A7D76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0FAC11-66A0-4174-B8BF-F8AD29B60D6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B5846D-9318-4510-A675-5503963054B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7F9028-8FDE-4C63-BAB8-CE7F4297514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b43770350349cf"/>
    <p:sldLayoutId xmlns:r="http://schemas.openxmlformats.org/officeDocument/2006/relationships" id="2147483650" r:id="R491fc2c046024e43"/>
    <p:sldLayoutId xmlns:r="http://schemas.openxmlformats.org/officeDocument/2006/relationships" id="2147483651" r:id="Rbcfd4105b53443db"/>
    <p:sldLayoutId xmlns:r="http://schemas.openxmlformats.org/officeDocument/2006/relationships" id="2147483652" r:id="Rf40e788953ff4a07"/>
    <p:sldLayoutId xmlns:r="http://schemas.openxmlformats.org/officeDocument/2006/relationships" id="2147483653" r:id="Ra01e3b2286064e0a"/>
    <p:sldLayoutId xmlns:r="http://schemas.openxmlformats.org/officeDocument/2006/relationships" id="2147483654" r:id="R87684fb390564f40"/>
    <p:sldLayoutId xmlns:r="http://schemas.openxmlformats.org/officeDocument/2006/relationships" id="2147483655" r:id="R8a526f70735a43fa"/>
    <p:sldLayoutId xmlns:r="http://schemas.openxmlformats.org/officeDocument/2006/relationships" id="2147483656" r:id="R56a9f45f112e48e6"/>
    <p:sldLayoutId xmlns:r="http://schemas.openxmlformats.org/officeDocument/2006/relationships" id="2147483657" r:id="R79a8d02f20934892"/>
    <p:sldLayoutId xmlns:r="http://schemas.openxmlformats.org/officeDocument/2006/relationships" id="2147483658" r:id="R825ead2799384437"/>
    <p:sldLayoutId xmlns:r="http://schemas.openxmlformats.org/officeDocument/2006/relationships" id="2147483659" r:id="R72d0bbfec42246f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a67c0166e0e4511" Type="http://schemas.openxmlformats.org/officeDocument/2006/relationships/image" Target="../media/image.jpeg"/><Relationship Id="R4ad263fb59fc432c" Type="http://schemas.openxmlformats.org/officeDocument/2006/relationships/image" Target="../media/image.png"/><Relationship Id="Rcddc47da2b874627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e488baf03214c77" Type="http://schemas.openxmlformats.org/officeDocument/2006/relationships/image" Target="../media/image.jpeg"/><Relationship Id="Raa8622db28b8407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5b9f6c14e7854fe3" Type="http://schemas.openxmlformats.org/officeDocument/2006/relationships/image" Target="../media/image.jpeg"/><Relationship Id="Raad681822464473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48acde8855c34d03" Type="http://schemas.openxmlformats.org/officeDocument/2006/relationships/slideLayout" Target="../slideLayouts/slideLayout1.xml"/><Relationship Id="Rb1db2b90f2644e66" Type="http://schemas.openxmlformats.org/officeDocument/2006/relationships/image" Target="../media/image.jpeg"/></Relationships>
</file>

<file path=ppt/slides/_rels/slide5.xml.rels><?xml version='1.0' encoding='UTF-8' standalone='yes'?>
<Relationships xmlns="http://schemas.openxmlformats.org/package/2006/relationships"><Relationship Id="Ra951dc0d35e94030" Type="http://schemas.openxmlformats.org/officeDocument/2006/relationships/slideLayout" Target="../slideLayouts/slideLayout1.xml"/><Relationship Id="Re2be328b62f44753" Type="http://schemas.openxmlformats.org/officeDocument/2006/relationships/image" Target="../media/image.jpeg"/></Relationships>
</file>

<file path=ppt/slides/_rels/slide6.xml.rels><?xml version='1.0' encoding='UTF-8' standalone='yes'?>
<Relationships xmlns="http://schemas.openxmlformats.org/package/2006/relationships"><Relationship Id="R3e8df6c3eb7948a1" Type="http://schemas.openxmlformats.org/officeDocument/2006/relationships/image" Target="../media/image.jpeg"/><Relationship Id="Re156c27e5b0c4f34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0e66963976044d4a" Type="http://schemas.openxmlformats.org/officeDocument/2006/relationships/image" Target="../media/image.jpeg"/><Relationship Id="R824d623457654c36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5d9e6da148654c12" Type="http://schemas.openxmlformats.org/officeDocument/2006/relationships/slideLayout" Target="../slideLayouts/slideLayout1.xml"/><Relationship Id="Rd14a350d1cc241da" Type="http://schemas.openxmlformats.org/officeDocument/2006/relationships/image" Target="../media/image.jpeg"/></Relationships>
</file>

<file path=ppt/slides/_rels/slide9.xml.rels><?xml version='1.0' encoding='UTF-8' standalone='yes'?>
<Relationships xmlns="http://schemas.openxmlformats.org/package/2006/relationships"><Relationship Id="Rc0fe66299c774e98" Type="http://schemas.openxmlformats.org/officeDocument/2006/relationships/image" Target="../media/image.jpeg"/><Relationship Id="Rf743091bbb604bfe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4c7b1c6b2514e35" Type="http://schemas.openxmlformats.org/officeDocument/2006/relationships/image" Target="../media/image.jpeg"/><Relationship Id="R952b8da63c624b4e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a27b27af3ff2493d" Type="http://schemas.openxmlformats.org/officeDocument/2006/relationships/slideLayout" Target="../slideLayouts/slideLayout1.xml"/><Relationship Id="Rf8b946a0ce5f4abe" Type="http://schemas.openxmlformats.org/officeDocument/2006/relationships/image" Target="../media/image.jpe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da65d893f7244345" Type="http://schemas.openxmlformats.org/officeDocument/2006/relationships/slideLayout" Target="../slideLayouts/slideLayout1.xml"/><Relationship Id="Re74b9c74b77440f3" Type="http://schemas.openxmlformats.org/officeDocument/2006/relationships/image" Target="../media/image.jpeg"/></Relationships>
</file>

<file path=ppt/slides/_rels/slide13.xml.rels><?xml version='1.0' encoding='UTF-8' standalone='yes'?>
<Relationships xmlns="http://schemas.openxmlformats.org/package/2006/relationships"><Relationship Id="R9129408f3faf4eb1" Type="http://schemas.openxmlformats.org/officeDocument/2006/relationships/image" Target="../media/image.jpeg"/><Relationship Id="Ref3f7a1a226c45a7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a227c06e63e14431" Type="http://schemas.openxmlformats.org/officeDocument/2006/relationships/image" Target="../media/image.jpeg"/><Relationship Id="Rf4229a4b79dd4ca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ca7ebbc610874ec5" Type="http://schemas.openxmlformats.org/officeDocument/2006/relationships/slideLayout" Target="../slideLayouts/slideLayout1.xml"/><Relationship Id="Rd83bde605cbc4e85" Type="http://schemas.openxmlformats.org/officeDocument/2006/relationships/image" Target="../media/image.jpe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7c8617cd52b041cd" Type="http://schemas.openxmlformats.org/officeDocument/2006/relationships/slideLayout" Target="../slideLayouts/slideLayout1.xml"/><Relationship Id="Rcfde483091e94c21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0c7cc5a228f84f4c" Type="http://schemas.openxmlformats.org/officeDocument/2006/relationships/image" Target="../media/image.jpeg"/><Relationship Id="Rcb5960515d6240fc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0c8b929a22964342" Type="http://schemas.openxmlformats.org/officeDocument/2006/relationships/slideLayout" Target="../slideLayouts/slideLayout1.xml"/><Relationship Id="R2c1b9f0fbf4943e4" Type="http://schemas.openxmlformats.org/officeDocument/2006/relationships/image" Target="../media/image.jpeg"/></Relationships>
</file>

<file path=ppt/slides/_rels/slide19.xml.rels><?xml version='1.0' encoding='UTF-8' standalone='yes'?>
<Relationships xmlns="http://schemas.openxmlformats.org/package/2006/relationships"><Relationship Id="R0f1bbb12104b4686" Type="http://schemas.openxmlformats.org/officeDocument/2006/relationships/slideLayout" Target="../slideLayouts/slideLayout1.xml"/><Relationship Id="Rf8bb69576c7d48e9" Type="http://schemas.openxmlformats.org/officeDocument/2006/relationships/image" Target="../media/image.jpe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2536970c7db743b9" Type="http://schemas.openxmlformats.org/officeDocument/2006/relationships/image" Target="../media/image.jpeg"/><Relationship Id="R273d852d9dd9409f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ebccd9027f3444fc" Type="http://schemas.openxmlformats.org/officeDocument/2006/relationships/slideLayout" Target="../slideLayouts/slideLayout1.xml"/><Relationship Id="Rf266baa23e5241f3" Type="http://schemas.openxmlformats.org/officeDocument/2006/relationships/image" Target="../media/image.jpeg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6f1c21ee8e874061" Type="http://schemas.openxmlformats.org/officeDocument/2006/relationships/image" Target="../media/image.jpeg"/><Relationship Id="Rda76fe595dee447b" Type="http://schemas.openxmlformats.org/officeDocument/2006/relationships/slideLayout" Target="../slideLayouts/slideLayout1.xml"/><Relationship Id="rId3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ab9e6d69a4a542c5" Type="http://schemas.openxmlformats.org/officeDocument/2006/relationships/image" Target="../media/image.jpeg"/><Relationship Id="Rc11737926aa340bc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4d8715ebe9474ad8" Type="http://schemas.openxmlformats.org/officeDocument/2006/relationships/slideLayout" Target="../slideLayouts/slideLayout1.xml"/><Relationship Id="Rfb0fc19e20094391" Type="http://schemas.openxmlformats.org/officeDocument/2006/relationships/image" Target="../media/image.jpeg"/></Relationships>
</file>

<file path=ppt/slides/_rels/slide25.xml.rels><?xml version='1.0' encoding='UTF-8' standalone='yes'?>
<Relationships xmlns="http://schemas.openxmlformats.org/package/2006/relationships"><Relationship Id="R9a6dc4febbe14dd6" Type="http://schemas.openxmlformats.org/officeDocument/2006/relationships/slideLayout" Target="../slideLayouts/slideLayout1.xml"/><Relationship Id="Rc604b67fc5014e17" Type="http://schemas.openxmlformats.org/officeDocument/2006/relationships/image" Target="../media/image.jpeg"/></Relationships>
</file>

<file path=ppt/slides/_rels/slide26.xml.rels><?xml version='1.0' encoding='UTF-8' standalone='yes'?>
<Relationships xmlns="http://schemas.openxmlformats.org/package/2006/relationships"><Relationship Id="R9a10935ebffc419a" Type="http://schemas.openxmlformats.org/officeDocument/2006/relationships/slideLayout" Target="../slideLayouts/slideLayout1.xml"/><Relationship Id="Rb4d441a21076473c" Type="http://schemas.openxmlformats.org/officeDocument/2006/relationships/image" Target="../media/image.jpeg"/><Relationship Id="rId3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0e682addfeb64b0a" Type="http://schemas.openxmlformats.org/officeDocument/2006/relationships/slideLayout" Target="../slideLayouts/slideLayout1.xml"/><Relationship Id="Re555ecc289244c65" Type="http://schemas.openxmlformats.org/officeDocument/2006/relationships/image" Target="../media/image.jpeg"/></Relationships>
</file>

<file path=ppt/slides/_rels/slide28.xml.rels><?xml version='1.0' encoding='UTF-8' standalone='yes'?>
<Relationships xmlns="http://schemas.openxmlformats.org/package/2006/relationships"><Relationship Id="R012ec17f86334e66" Type="http://schemas.openxmlformats.org/officeDocument/2006/relationships/slideLayout" Target="../slideLayouts/slideLayout1.xml"/><Relationship Id="Rc900518338094dc0" Type="http://schemas.openxmlformats.org/officeDocument/2006/relationships/image" Target="../media/image.jpeg"/><Relationship Id="rId3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7c1ca9c35d374783" Type="http://schemas.openxmlformats.org/officeDocument/2006/relationships/image" Target="../media/image.jpeg"/><Relationship Id="R98c05565230f4156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a28f9f608f0441c4" Type="http://schemas.openxmlformats.org/officeDocument/2006/relationships/image" Target="../media/image.jpeg"/><Relationship Id="Re35bc620a6df4f41" Type="http://schemas.openxmlformats.org/officeDocument/2006/relationships/slideLayout" Target="../slideLayouts/slideLayout1.xml"/><Relationship Id="rId3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c210bb0e4c71406f" Type="http://schemas.openxmlformats.org/officeDocument/2006/relationships/slideLayout" Target="../slideLayouts/slideLayout1.xml"/><Relationship Id="Rc766191eab2b4b20" Type="http://schemas.openxmlformats.org/officeDocument/2006/relationships/image" Target="../media/image.jpeg"/></Relationships>
</file>

<file path=ppt/slides/_rels/slide32.xml.rels><?xml version='1.0' encoding='UTF-8' standalone='yes'?>
<Relationships xmlns="http://schemas.openxmlformats.org/package/2006/relationships"><Relationship Id="R5280e1f34d9a416f" Type="http://schemas.openxmlformats.org/officeDocument/2006/relationships/image" Target="../media/image.jpeg"/><Relationship Id="Rbe26900d94404509" Type="http://schemas.openxmlformats.org/officeDocument/2006/relationships/slideLayout" Target="../slideLayouts/slideLayout1.xml"/><Relationship Id="rId3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cd8f7513cbfc4f67" Type="http://schemas.openxmlformats.org/officeDocument/2006/relationships/image" Target="../media/image.jpeg"/><Relationship Id="Rdc999be8a10441b3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40833dd592024896" Type="http://schemas.openxmlformats.org/officeDocument/2006/relationships/slideLayout" Target="../slideLayouts/slideLayout1.xml"/><Relationship Id="Re5111c7201664e9c" Type="http://schemas.openxmlformats.org/officeDocument/2006/relationships/image" Target="../media/image.jpeg"/><Relationship Id="rId3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9f88c7cf33434546" Type="http://schemas.openxmlformats.org/officeDocument/2006/relationships/slideLayout" Target="../slideLayouts/slideLayout1.xml"/><Relationship Id="Rc754dfc130aa4ca3" Type="http://schemas.openxmlformats.org/officeDocument/2006/relationships/image" Target="../media/image.jpeg"/></Relationships>
</file>

<file path=ppt/slides/_rels/slide36.xml.rels><?xml version='1.0' encoding='UTF-8' standalone='yes'?>
<Relationships xmlns="http://schemas.openxmlformats.org/package/2006/relationships"><Relationship Id="R3c3845ef788e4557" Type="http://schemas.openxmlformats.org/officeDocument/2006/relationships/hyperlink" Target="https://openstax.org/books/university-physics-volume-2/pages/15-2-simple-ac-circuits" TargetMode="External"/><Relationship Id="R4ac4b80519e74607" Type="http://schemas.openxmlformats.org/officeDocument/2006/relationships/image" Target="../media/image.jpeg"/><Relationship Id="R5a48c381d7f043d2" Type="http://schemas.openxmlformats.org/officeDocument/2006/relationships/hyperlink" Target="https://www.electrical-installation.org/enwiki/Definition_of_reactive_power" TargetMode="External"/><Relationship Id="Rf86a957a3f814afe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7c0166e0e45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263fb59fc432c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7F188AA8-424D-428B-BCF3-5CB1420B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CC7529CD-C052-4735-ADF7-5FE9C282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Effekt i växelströmskretsar</a:t>
            </a:r>
          </a:p>
        </p:txBody>
      </p:sp>
      <p:sp>
        <p:nvSpPr>
          <p:cNvPr id="13" name="Aktiv, reaktiv och skenbar effekt">
            <a:extLst xmlns:a="http://schemas.openxmlformats.org/drawingml/2006/main">
              <a:ext uri="{FF2B5EF4-FFF2-40B4-BE49-F238E27FC236}">
                <a16:creationId xmlns:a16="http://schemas.microsoft.com/office/drawing/2014/main" id="{728A5BAA-7FC5-4700-B74E-7C2B47B6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Aktiv, reaktiv och skenbar effekt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A48258C5-18D1-4530-A1D3-CBA49E20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88baf03214c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F92B875A-3B78-4A85-AD12-D26DC3E5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Beräkna P, Q, S och effektfaktor för sinusformade signaler.">
            <a:extLst xmlns:a="http://schemas.openxmlformats.org/drawingml/2006/main">
              <a:ext uri="{FF2B5EF4-FFF2-40B4-BE49-F238E27FC236}">
                <a16:creationId xmlns:a16="http://schemas.microsoft.com/office/drawing/2014/main" id="{090E9787-E988-4461-883E-C599302F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P, Q, S och effektfaktor för sinusformade signaler.</a:t>
            </a:r>
          </a:p>
        </p:txBody>
      </p:sp>
      <p:sp>
        <p:nvSpPr>
          <p:cNvPr id="4" name="Förklara vad faskompensering ändrar i matningen.">
            <a:extLst xmlns:a="http://schemas.openxmlformats.org/drawingml/2006/main">
              <a:ext uri="{FF2B5EF4-FFF2-40B4-BE49-F238E27FC236}">
                <a16:creationId xmlns:a16="http://schemas.microsoft.com/office/drawing/2014/main" id="{F48F9932-58F5-4040-9627-1BFA416F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Förklara vad faskompensering ändrar i matningen.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68991557-D326-40EE-9A19-A3A1D774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En last tar 10 A vid 230 V. Är den aktiva effekten alltid 2 300 W">
            <a:extLst xmlns:a="http://schemas.openxmlformats.org/drawingml/2006/main">
              <a:ext uri="{FF2B5EF4-FFF2-40B4-BE49-F238E27FC236}">
                <a16:creationId xmlns:a16="http://schemas.microsoft.com/office/drawing/2014/main" id="{D891FCAE-7BCC-4FB0-9B73-7C14A125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last tar 10 A vid 230 V. Är den aktiva effekten alltid 2 300 W?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7CFD2539-370A-466E-A5BF-7D29E313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f6c14e7854f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03E8B7E7-5F3A-4CD4-AEE0-4DB389FC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67C5893C-EEA2-4C1A-8F28-954A77BF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EAC1E4FE-B6AC-4652-9E11-2DB3C30B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1, 2, 4, 5 min återkoppling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50F95F37-67DB-4171-809B-E2FAD13D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6674C2D6-0C8B-4F02-9AEB-39333325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6, 7, 8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63F28EB4-9D97-4614-B660-52C6D180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110–135 min. Paus tillkommer.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906C8EA3-1A96-4960-B08C-6B597902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b2b90f2644e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ffektstorheter och enheter">
            <a:extLst xmlns:a="http://schemas.openxmlformats.org/drawingml/2006/main">
              <a:ext uri="{FF2B5EF4-FFF2-40B4-BE49-F238E27FC236}">
                <a16:creationId xmlns:a16="http://schemas.microsoft.com/office/drawing/2014/main" id="{CB9C5614-C675-4C6B-881D-83CE36AF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Effektstorheter och enheter</a:t>
            </a:r>
          </a:p>
        </p:txBody>
      </p:sp>
      <p:sp>
        <p:nvSpPr>
          <p:cNvPr id="10" name="Aktiv effekt P mäts i W. Den ger arbete och värme i medeltal.">
            <a:extLst xmlns:a="http://schemas.openxmlformats.org/drawingml/2006/main">
              <a:ext uri="{FF2B5EF4-FFF2-40B4-BE49-F238E27FC236}">
                <a16:creationId xmlns:a16="http://schemas.microsoft.com/office/drawing/2014/main" id="{CD001EE4-14CC-47CA-90DC-2E3E8E20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Aktiv effekt P mäts i W. Den ger arbete och värme i medeltal.</a:t>
            </a:r>
          </a:p>
        </p:txBody>
      </p:sp>
      <p:sp>
        <p:nvSpPr>
          <p:cNvPr id="11" name="Reaktiv effekt Q mäts i var. Tecknet anger induktiv eller kapacit">
            <a:extLst xmlns:a="http://schemas.openxmlformats.org/drawingml/2006/main">
              <a:ext uri="{FF2B5EF4-FFF2-40B4-BE49-F238E27FC236}">
                <a16:creationId xmlns:a16="http://schemas.microsoft.com/office/drawing/2014/main" id="{516A7493-80E7-47DD-8E74-BA311C1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Reaktiv effekt Q mäts i var. Tecknet anger induktiv eller kapacitiv karaktär.</a:t>
            </a:r>
          </a:p>
        </p:txBody>
      </p:sp>
      <p:sp>
        <p:nvSpPr>
          <p:cNvPr id="12" name="Skenbar effekt S mäts i VA. Enfas: S = Urms · Irms.">
            <a:extLst xmlns:a="http://schemas.openxmlformats.org/drawingml/2006/main">
              <a:ext uri="{FF2B5EF4-FFF2-40B4-BE49-F238E27FC236}">
                <a16:creationId xmlns:a16="http://schemas.microsoft.com/office/drawing/2014/main" id="{6F0ABCE9-B211-43C3-9CA0-46B13515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Skenbar effekt S mäts i VA. Enfas: S = Urms · Irms.</a:t>
            </a:r>
          </a:p>
        </p:txBody>
      </p:sp>
      <p:sp>
        <p:nvSpPr>
          <p:cNvPr id="13" name="PF = P/S. PF är lika med cos φ när både spänning och ström är sin">
            <a:extLst xmlns:a="http://schemas.openxmlformats.org/drawingml/2006/main">
              <a:ext uri="{FF2B5EF4-FFF2-40B4-BE49-F238E27FC236}">
                <a16:creationId xmlns:a16="http://schemas.microsoft.com/office/drawing/2014/main" id="{157FB662-BD58-45D7-BE75-AD1A83A0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PF = P/S. PF är lika med cos φ när både spänning och ström är sinusformade.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62F25317-AC0C-422E-9792-73916FBC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e328b62f4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E9027F0A-E698-4E2D-B69A-FD96EB2E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8F9AEA12-4EAD-4DA5-81DF-0F8FC37B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D3CF064D-FFFD-4678-AAB1-7014B7F4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8EC8482C-225E-45F1-97D6-28A324F8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95AF87FD-744D-41F7-969F-D9A383E4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345B280E-41FD-4EB7-851E-CA015683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762B11DC-D3A6-4652-83A5-8AE4926A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21504D30-BA73-4DFF-8CC7-8E0EF307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df6c3eb7948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Tre effektstorheter">
            <a:extLst xmlns:a="http://schemas.openxmlformats.org/drawingml/2006/main">
              <a:ext uri="{FF2B5EF4-FFF2-40B4-BE49-F238E27FC236}">
                <a16:creationId xmlns:a16="http://schemas.microsoft.com/office/drawing/2014/main" id="{D7828553-774F-47DF-AC44-DA2B96DB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 effektstorheter</a:t>
            </a:r>
          </a:p>
        </p:txBody>
      </p:sp>
      <p:sp>
        <p:nvSpPr>
          <p:cNvPr id="3" name="Aktiv effekt P omvandlas i medeltal till arbete och värme.&#10;Skenba">
            <a:extLst xmlns:a="http://schemas.openxmlformats.org/drawingml/2006/main">
              <a:ext uri="{FF2B5EF4-FFF2-40B4-BE49-F238E27FC236}">
                <a16:creationId xmlns:a16="http://schemas.microsoft.com/office/drawing/2014/main" id="{51AF9B55-50A4-4288-B36B-BC36A248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Aktiv effekt P omvandlas i medeltal till arbete och värme.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Skenbar effekt S beskriver produkten av RMS-spänning och ström.</a:t>
            </a:r>
          </a:p>
        </p:txBody>
      </p:sp>
      <p:sp>
        <p:nvSpPr>
          <p:cNvPr id="4" name="S = U · I     P = U · I · cos φ">
            <a:extLst xmlns:a="http://schemas.openxmlformats.org/drawingml/2006/main">
              <a:ext uri="{FF2B5EF4-FFF2-40B4-BE49-F238E27FC236}">
                <a16:creationId xmlns:a16="http://schemas.microsoft.com/office/drawing/2014/main" id="{B55A9419-64EE-4296-BCC8-7B0A458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 = U · I     P = U · I · cos φ</a:t>
            </a:r>
          </a:p>
        </p:txBody>
      </p:sp>
      <p:sp>
        <p:nvSpPr>
          <p:cNvPr id="5" name="Enfas, sinus: 230 V, 10 A, cos φ = 0,80&#10;ger S = 2,30 kVA och P = ">
            <a:extLst xmlns:a="http://schemas.openxmlformats.org/drawingml/2006/main">
              <a:ext uri="{FF2B5EF4-FFF2-40B4-BE49-F238E27FC236}">
                <a16:creationId xmlns:a16="http://schemas.microsoft.com/office/drawing/2014/main" id="{40E41991-1B2E-4E16-AD74-0277685A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Enfas, sinus: 230 V, 6,0 A, cos φ = 0,85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ger S = 1,38 kVA och P = 1,17 kW.</a:t>
            </a:r>
          </a:p>
        </p:txBody>
      </p:sp>
      <p:sp>
        <p:nvSpPr>
          <p:cNvPr id="6" name="4">
            <a:extLst xmlns:a="http://schemas.openxmlformats.org/drawingml/2006/main">
              <a:ext uri="{FF2B5EF4-FFF2-40B4-BE49-F238E27FC236}">
                <a16:creationId xmlns:a16="http://schemas.microsoft.com/office/drawing/2014/main" id="{D8D87471-CD7C-433B-B0AF-F362FD79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Effekttriangel med aktiv effekt P, reakt" descr="Effekttriangel med aktiv effekt P, reaktiv effekt Q och skenbar effekt 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6963976044d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Reaktiv effekt">
            <a:extLst xmlns:a="http://schemas.openxmlformats.org/drawingml/2006/main">
              <a:ext uri="{FF2B5EF4-FFF2-40B4-BE49-F238E27FC236}">
                <a16:creationId xmlns:a16="http://schemas.microsoft.com/office/drawing/2014/main" id="{63930092-7D93-4574-8B33-37BB3170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Reaktiv effekt</a:t>
            </a:r>
          </a:p>
        </p:txBody>
      </p:sp>
      <p:sp>
        <p:nvSpPr>
          <p:cNvPr id="3" name="Energi växlar mellan källa och reaktiva komponenter.&#10;Induktiv Q ä">
            <a:extLst xmlns:a="http://schemas.openxmlformats.org/drawingml/2006/main">
              <a:ext uri="{FF2B5EF4-FFF2-40B4-BE49-F238E27FC236}">
                <a16:creationId xmlns:a16="http://schemas.microsoft.com/office/drawing/2014/main" id="{5C110DAB-25CC-43CA-A1DA-5FE1BD6B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Energi växlar mellan källa och reaktiva komponenter.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Induktiv Q är positiv i kursens teckenkonvention.</a:t>
            </a:r>
          </a:p>
        </p:txBody>
      </p:sp>
      <p:sp>
        <p:nvSpPr>
          <p:cNvPr id="4" name="Q = U · I · sin φ">
            <a:extLst xmlns:a="http://schemas.openxmlformats.org/drawingml/2006/main">
              <a:ext uri="{FF2B5EF4-FFF2-40B4-BE49-F238E27FC236}">
                <a16:creationId xmlns:a16="http://schemas.microsoft.com/office/drawing/2014/main" id="{28C2C982-85BD-4BE2-A26C-0E266DA8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Q = U · I · sin φ</a:t>
            </a:r>
          </a:p>
        </p:txBody>
      </p:sp>
      <p:sp>
        <p:nvSpPr>
          <p:cNvPr id="5" name="Vid cos φ = 0,80 är sin φ = 0,60.&#10;S = 2,30 kVA ger Q = 1,38 kvar.">
            <a:extLst xmlns:a="http://schemas.openxmlformats.org/drawingml/2006/main">
              <a:ext uri="{FF2B5EF4-FFF2-40B4-BE49-F238E27FC236}">
                <a16:creationId xmlns:a16="http://schemas.microsoft.com/office/drawing/2014/main" id="{275FD143-E58E-4730-826E-551FC193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cos φ = 0,85 är sin φ ≈ 0,53.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 = 1,38 kVA ger Q ≈ 0,73 kvar.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570C264E-FC09-4587-8014-67BD8B52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pänning, ström som släpar 90 grader och" descr="Spänning, ström som släpar 90 grader och momentan effekt med medelvärde no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a350d1cc241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Effekttriangeln">
            <a:extLst xmlns:a="http://schemas.openxmlformats.org/drawingml/2006/main">
              <a:ext uri="{FF2B5EF4-FFF2-40B4-BE49-F238E27FC236}">
                <a16:creationId xmlns:a16="http://schemas.microsoft.com/office/drawing/2014/main" id="{1EDA26D6-5C79-4051-BEDD-F7DB4D3C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Effekttriangeln</a:t>
            </a:r>
          </a:p>
        </p:txBody>
      </p:sp>
      <p:sp>
        <p:nvSpPr>
          <p:cNvPr id="3" name="För sinusformade spänningar och strömmar gäller&#10;att P och Q utgör">
            <a:extLst xmlns:a="http://schemas.openxmlformats.org/drawingml/2006/main">
              <a:ext uri="{FF2B5EF4-FFF2-40B4-BE49-F238E27FC236}">
                <a16:creationId xmlns:a16="http://schemas.microsoft.com/office/drawing/2014/main" id="{7193220E-4FCE-4F84-831E-32D0774D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 sinusformade spänningar och strömmar gäller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att P och Q utgör vinkelräta komponenter.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50339-2C79-48A6-A7FD-92FA5F1C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66281" y="4312245"/>
            <a:ext cx="12590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27E9F-DF45-4A44-A901-ED153D4A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432102" y="4265613"/>
            <a:ext cx="93266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52867-C3D2-4EB5-A75F-9195839C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32102" y="4312245"/>
            <a:ext cx="93266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B7A92-0047-4073-AB04-05627442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25367" y="2633464"/>
            <a:ext cx="0" cy="1678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B7816-E1E6-48C1-A622-4E04FC30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78734" y="2633464"/>
            <a:ext cx="46633" cy="93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2D836-70A1-4C6D-AA28-E4289802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5367" y="2633464"/>
            <a:ext cx="46633" cy="93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05024-C71D-4F34-9453-2FD433C1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66281" y="2633464"/>
            <a:ext cx="1259086" cy="1678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227B2-76BE-4141-8C57-80E76A42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32102" y="2633464"/>
            <a:ext cx="93266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7878E-2B0C-45DC-BB64-FDEE66F1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506714" y="2633464"/>
            <a:ext cx="18653" cy="102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64F91"/>
            </a:solidFill>
          </a:ln>
        </p:spPr>
      </p:sp>
      <p:sp>
        <p:nvSpPr>
          <p:cNvPr id="13" name="P = 3 kW">
            <a:extLst xmlns:a="http://schemas.openxmlformats.org/drawingml/2006/main">
              <a:ext uri="{FF2B5EF4-FFF2-40B4-BE49-F238E27FC236}">
                <a16:creationId xmlns:a16="http://schemas.microsoft.com/office/drawing/2014/main" id="{8A2FEBD7-6AA0-4FFF-AE61-590872F4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383" y="4358878"/>
            <a:ext cx="1678781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 = 3 kW</a:t>
            </a:r>
          </a:p>
        </p:txBody>
      </p:sp>
      <p:sp>
        <p:nvSpPr>
          <p:cNvPr id="14" name="Q = 4 kvar">
            <a:extLst xmlns:a="http://schemas.openxmlformats.org/drawingml/2006/main">
              <a:ext uri="{FF2B5EF4-FFF2-40B4-BE49-F238E27FC236}">
                <a16:creationId xmlns:a16="http://schemas.microsoft.com/office/drawing/2014/main" id="{47519D81-7444-41C8-AF55-79042361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898" y="3286323"/>
            <a:ext cx="1772047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Q = 4 kvar</a:t>
            </a:r>
          </a:p>
        </p:txBody>
      </p:sp>
      <p:sp>
        <p:nvSpPr>
          <p:cNvPr id="15" name="S = 5 kVA">
            <a:extLst xmlns:a="http://schemas.openxmlformats.org/drawingml/2006/main">
              <a:ext uri="{FF2B5EF4-FFF2-40B4-BE49-F238E27FC236}">
                <a16:creationId xmlns:a16="http://schemas.microsoft.com/office/drawing/2014/main" id="{946A53D5-EC36-4912-BC72-4C9A41ED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278" y="3053159"/>
            <a:ext cx="1678781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 = 5 kVA</a:t>
            </a:r>
          </a:p>
        </p:txBody>
      </p:sp>
      <p:sp>
        <p:nvSpPr>
          <p:cNvPr id="16" name="φ">
            <a:extLst xmlns:a="http://schemas.openxmlformats.org/drawingml/2006/main">
              <a:ext uri="{FF2B5EF4-FFF2-40B4-BE49-F238E27FC236}">
                <a16:creationId xmlns:a16="http://schemas.microsoft.com/office/drawing/2014/main" id="{934B514E-92B9-4544-B674-4933BDD1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323" y="3929856"/>
            <a:ext cx="373063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3BA01-A78F-4431-976B-1AE3AE47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66816" y="4153694"/>
            <a:ext cx="0" cy="158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5D96B-5410-418C-A57D-0A650AE8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6816" y="4153694"/>
            <a:ext cx="158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19" name="S² = P² + Q²">
            <a:extLst xmlns:a="http://schemas.openxmlformats.org/drawingml/2006/main">
              <a:ext uri="{FF2B5EF4-FFF2-40B4-BE49-F238E27FC236}">
                <a16:creationId xmlns:a16="http://schemas.microsoft.com/office/drawing/2014/main" id="{22AB080F-50DE-4414-BAE8-FDF2655B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S² = P² + Q²</a:t>
            </a:r>
          </a:p>
        </p:txBody>
      </p:sp>
      <p:sp>
        <p:nvSpPr>
          <p:cNvPr id="20" name="P = 3 kW och Q = 4 kvar ger S = 5 kVA.&#10;Effektfaktorn blir P/S = 0">
            <a:extLst xmlns:a="http://schemas.openxmlformats.org/drawingml/2006/main">
              <a:ext uri="{FF2B5EF4-FFF2-40B4-BE49-F238E27FC236}">
                <a16:creationId xmlns:a16="http://schemas.microsoft.com/office/drawing/2014/main" id="{EFFA35F4-BA9C-4905-B6E7-28BAEF3F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 = 3 kW och Q = 4 kvar ger S = 5 kVA.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Effektfaktorn blir P/S = 0,60.</a:t>
            </a:r>
          </a:p>
        </p:txBody>
      </p:sp>
      <p:sp>
        <p:nvSpPr>
          <p:cNvPr id="21" name="6">
            <a:extLst xmlns:a="http://schemas.openxmlformats.org/drawingml/2006/main">
              <a:ext uri="{FF2B5EF4-FFF2-40B4-BE49-F238E27FC236}">
                <a16:creationId xmlns:a16="http://schemas.microsoft.com/office/drawing/2014/main" id="{C801EE5E-63EA-4FB4-B546-3A8A15A1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e66299c774e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effekttriangeln">
            <a:extLst xmlns:a="http://schemas.openxmlformats.org/drawingml/2006/main">
              <a:ext uri="{FF2B5EF4-FFF2-40B4-BE49-F238E27FC236}">
                <a16:creationId xmlns:a16="http://schemas.microsoft.com/office/drawing/2014/main" id="{7FB3FD0B-48C7-4F8A-B3B0-839250F4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effekttriangeln</a:t>
            </a:r>
          </a:p>
        </p:txBody>
      </p:sp>
      <p:sp>
        <p:nvSpPr>
          <p:cNvPr id="10" name="En sinusformad induktiv enfaslast har P = 900 W och Q = 1 200 var">
            <a:extLst xmlns:a="http://schemas.openxmlformats.org/drawingml/2006/main">
              <a:ext uri="{FF2B5EF4-FFF2-40B4-BE49-F238E27FC236}">
                <a16:creationId xmlns:a16="http://schemas.microsoft.com/office/drawing/2014/main" id="{B4CC1C17-B05C-4E04-8AA7-FB05CF7E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sinusformad induktiv enfaslast har P = 900 W och Q = 1 200 var.</a:t>
            </a:r>
          </a:p>
        </p:txBody>
      </p:sp>
      <p:sp>
        <p:nvSpPr>
          <p:cNvPr id="11" name="S = √(P² + Q²)     PF = P/S">
            <a:extLst xmlns:a="http://schemas.openxmlformats.org/drawingml/2006/main">
              <a:ext uri="{FF2B5EF4-FFF2-40B4-BE49-F238E27FC236}">
                <a16:creationId xmlns:a16="http://schemas.microsoft.com/office/drawing/2014/main" id="{A8E22644-4067-41BB-B688-946058F7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 = √(P² + Q²)     PF = P/S</a:t>
            </a:r>
          </a:p>
        </p:txBody>
      </p:sp>
      <p:sp>
        <p:nvSpPr>
          <p:cNvPr id="12" name="1. S = √(900² + 1 200²) = 1 500 VA.&#10;2. PF = 900/1 500 = 0,60.&#10;3. ">
            <a:extLst xmlns:a="http://schemas.openxmlformats.org/drawingml/2006/main">
              <a:ext uri="{FF2B5EF4-FFF2-40B4-BE49-F238E27FC236}">
                <a16:creationId xmlns:a16="http://schemas.microsoft.com/office/drawing/2014/main" id="{518243D3-2592-4FF0-9E31-817017BA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S = √(900² + 1 200²) = 1 500 VA.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PF = 900/1 500 = 0,60.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Vid 230 V blir I = S/U = 1 500/230 ≈ 6,52 A.</a:t>
            </a:r>
          </a:p>
        </p:txBody>
      </p:sp>
      <p:sp>
        <p:nvSpPr>
          <p:cNvPr id="13" name="Kontroll: P = U · I · PF ≈ 230 · 6,52 · 0,60 ≈ 900 W.">
            <a:extLst xmlns:a="http://schemas.openxmlformats.org/drawingml/2006/main">
              <a:ext uri="{FF2B5EF4-FFF2-40B4-BE49-F238E27FC236}">
                <a16:creationId xmlns:a16="http://schemas.microsoft.com/office/drawing/2014/main" id="{294C5129-DBED-48FC-99D8-31A04F9E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P = U · I · PF ≈ 230 · 6,52 · 0,60 ≈ 900 W.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CE2F6DAD-6A74-4CF4-86E4-8C781D59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7b1c6b2514e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1B8C1CBD-2399-4C6C-8B3D-7E387D68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</a:t>
            </a:r>
          </a:p>
        </p:txBody>
      </p:sp>
      <p:sp>
        <p:nvSpPr>
          <p:cNvPr id="10" name="S = U · I">
            <a:extLst xmlns:a="http://schemas.openxmlformats.org/drawingml/2006/main">
              <a:ext uri="{FF2B5EF4-FFF2-40B4-BE49-F238E27FC236}">
                <a16:creationId xmlns:a16="http://schemas.microsoft.com/office/drawing/2014/main" id="{3ABEB196-BCF4-4574-98AC-76AE1783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 = U · I</a:t>
            </a:r>
          </a:p>
        </p:txBody>
      </p:sp>
      <p:sp>
        <p:nvSpPr>
          <p:cNvPr id="11" name="S är skenbar effekt i VA. U och I är effektivvärden i V och A.">
            <a:extLst xmlns:a="http://schemas.openxmlformats.org/drawingml/2006/main">
              <a:ext uri="{FF2B5EF4-FFF2-40B4-BE49-F238E27FC236}">
                <a16:creationId xmlns:a16="http://schemas.microsoft.com/office/drawing/2014/main" id="{47EC72D4-5CCB-4900-A024-298D055D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 är skenbar effekt i VA. U och I är effektivvärden i V och A.</a:t>
            </a:r>
          </a:p>
        </p:txBody>
      </p:sp>
      <p:sp>
        <p:nvSpPr>
          <p:cNvPr id="12" name="Förutsättningar: Enfaslast, U = 230 V och I = 4,0 A RMS.">
            <a:extLst xmlns:a="http://schemas.openxmlformats.org/drawingml/2006/main">
              <a:ext uri="{FF2B5EF4-FFF2-40B4-BE49-F238E27FC236}">
                <a16:creationId xmlns:a16="http://schemas.microsoft.com/office/drawing/2014/main" id="{ED52811E-0877-4449-A1C3-580BFBBC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Enfaslast, U = 230 V och I = 4,0 A RMS.</a:t>
            </a:r>
          </a:p>
        </p:txBody>
      </p:sp>
      <p:sp>
        <p:nvSpPr>
          <p:cNvPr id="13" name="Arbetsgång: Multiplicera U och I. Ange VA, eftersom aktiv effekt ">
            <a:extLst xmlns:a="http://schemas.openxmlformats.org/drawingml/2006/main">
              <a:ext uri="{FF2B5EF4-FFF2-40B4-BE49-F238E27FC236}">
                <a16:creationId xmlns:a16="http://schemas.microsoft.com/office/drawing/2014/main" id="{3D630812-AD21-4281-A476-76E0AADE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Multiplicera U och I. Ange VA, eftersom aktiv effekt ännu inte är känd.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D896F0C8-AF4D-4568-B507-2B5BC13E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946a0ce5f4a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96001EA0-343C-4883-8A0A-2C0EAB18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</a:t>
            </a:r>
          </a:p>
        </p:txBody>
      </p:sp>
      <p:sp>
        <p:nvSpPr>
          <p:cNvPr id="3" name="Skenbar effekt">
            <a:extLst xmlns:a="http://schemas.openxmlformats.org/drawingml/2006/main">
              <a:ext uri="{FF2B5EF4-FFF2-40B4-BE49-F238E27FC236}">
                <a16:creationId xmlns:a16="http://schemas.microsoft.com/office/drawing/2014/main" id="{45A90164-6AA6-4C3E-AFE8-05324815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Skenbar effekt</a:t>
            </a:r>
          </a:p>
        </p:txBody>
      </p:sp>
      <p:sp>
        <p:nvSpPr>
          <p:cNvPr id="4" name="En enfaslast har U = 230 V och I = 4,0 A RMS. Beräkna S.">
            <a:extLst xmlns:a="http://schemas.openxmlformats.org/drawingml/2006/main">
              <a:ext uri="{FF2B5EF4-FFF2-40B4-BE49-F238E27FC236}">
                <a16:creationId xmlns:a16="http://schemas.microsoft.com/office/drawing/2014/main" id="{1535BA2F-522A-4FDB-94AC-FF710E02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enfaslast har U = 230 V och I = 4,0 A RMS. Beräkna S.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4DEECED7-A0AD-4309-A0CA-0648F7BF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BD2B30CC-87BA-4217-8868-9DC38FCE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Enfaslast på 230 V där amperemetern visa" descr="Enfaslast på 230 V där amperemetern visar 4,0 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b9c74b77440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87061CEA-4350-43A8-954D-39B9C0DC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</a:t>
            </a:r>
          </a:p>
        </p:txBody>
      </p:sp>
      <p:sp>
        <p:nvSpPr>
          <p:cNvPr id="10" name="P = S · cos φ">
            <a:extLst xmlns:a="http://schemas.openxmlformats.org/drawingml/2006/main">
              <a:ext uri="{FF2B5EF4-FFF2-40B4-BE49-F238E27FC236}">
                <a16:creationId xmlns:a16="http://schemas.microsoft.com/office/drawing/2014/main" id="{2BFF9033-4D1A-4CE7-B6FD-81564E1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 = S · cos φ</a:t>
            </a:r>
          </a:p>
        </p:txBody>
      </p:sp>
      <p:sp>
        <p:nvSpPr>
          <p:cNvPr id="11" name="P är aktiv effekt i W. cos φ är effektfaktorn för rena sinussigna">
            <a:extLst xmlns:a="http://schemas.openxmlformats.org/drawingml/2006/main">
              <a:ext uri="{FF2B5EF4-FFF2-40B4-BE49-F238E27FC236}">
                <a16:creationId xmlns:a16="http://schemas.microsoft.com/office/drawing/2014/main" id="{EFFE2D8A-EEC5-4B24-BEEA-B4E44BA4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 är aktiv effekt i W. cos φ är effektfaktorn för rena sinussignaler.</a:t>
            </a:r>
          </a:p>
        </p:txBody>
      </p:sp>
      <p:sp>
        <p:nvSpPr>
          <p:cNvPr id="12" name="Förutsättningar: S = 920 VA och cos φ = 0,75. Lasten arbetar med ">
            <a:extLst xmlns:a="http://schemas.openxmlformats.org/drawingml/2006/main">
              <a:ext uri="{FF2B5EF4-FFF2-40B4-BE49-F238E27FC236}">
                <a16:creationId xmlns:a16="http://schemas.microsoft.com/office/drawing/2014/main" id="{1B7193A2-B6F4-449D-B0E2-5498A36B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 = 920 VA och cos φ = 0,75. Lasten arbetar med sinusformad spänning och ström.</a:t>
            </a:r>
          </a:p>
        </p:txBody>
      </p:sp>
      <p:sp>
        <p:nvSpPr>
          <p:cNvPr id="13" name="Arbetsgång: Multiplicera S med cos φ. P får inte bli större än S ">
            <a:extLst xmlns:a="http://schemas.openxmlformats.org/drawingml/2006/main">
              <a:ext uri="{FF2B5EF4-FFF2-40B4-BE49-F238E27FC236}">
                <a16:creationId xmlns:a16="http://schemas.microsoft.com/office/drawing/2014/main" id="{76792BD2-9F5E-411A-92D0-2182ABD4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Multiplicera S med cos φ. P får inte bli större än S för dessa värden.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FF3CDCE6-26A8-435B-AD89-AEC7DB25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9408f3faf4e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3B74C4DE-3E99-4640-A439-17DD4637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</a:t>
            </a:r>
          </a:p>
        </p:txBody>
      </p:sp>
      <p:sp>
        <p:nvSpPr>
          <p:cNvPr id="3" name="Aktiv effekt">
            <a:extLst xmlns:a="http://schemas.openxmlformats.org/drawingml/2006/main">
              <a:ext uri="{FF2B5EF4-FFF2-40B4-BE49-F238E27FC236}">
                <a16:creationId xmlns:a16="http://schemas.microsoft.com/office/drawing/2014/main" id="{1E0BADD3-7A63-45D7-8E37-0299B2EC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Aktiv effekt</a:t>
            </a:r>
          </a:p>
        </p:txBody>
      </p:sp>
      <p:sp>
        <p:nvSpPr>
          <p:cNvPr id="4" name="S = 920 VA och cos φ = 0,75. Beräkna P för sinusformade signaler.">
            <a:extLst xmlns:a="http://schemas.openxmlformats.org/drawingml/2006/main">
              <a:ext uri="{FF2B5EF4-FFF2-40B4-BE49-F238E27FC236}">
                <a16:creationId xmlns:a16="http://schemas.microsoft.com/office/drawing/2014/main" id="{78E3E3F9-9E70-4930-8D76-04A6A098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 = 920 VA och cos φ = 0,75. Beräkna P för sinusformade signaler.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5B48B297-6339-4B15-9433-FE0AEB97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A7F285AF-93AA-4F9A-B518-7A9F9C66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Effekttriangel med S = 920 VA och cos fi" descr="Effekttriangel med S = 920 VA och cos fi 0,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7c06e63e14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D18AEDA2-7EDD-48CC-8BA5-6400E0AD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</a:t>
            </a:r>
          </a:p>
        </p:txBody>
      </p:sp>
      <p:sp>
        <p:nvSpPr>
          <p:cNvPr id="10" name="S = √(P² + Q²)     PF = P/S">
            <a:extLst xmlns:a="http://schemas.openxmlformats.org/drawingml/2006/main">
              <a:ext uri="{FF2B5EF4-FFF2-40B4-BE49-F238E27FC236}">
                <a16:creationId xmlns:a16="http://schemas.microsoft.com/office/drawing/2014/main" id="{AFA6441B-1613-492C-8A5F-21713E9C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 = √(P² + Q²)     PF = P/S</a:t>
            </a:r>
          </a:p>
        </p:txBody>
      </p:sp>
      <p:sp>
        <p:nvSpPr>
          <p:cNvPr id="11" name="P mäts i W, Q i var och S i VA. PF är dimensionslös.">
            <a:extLst xmlns:a="http://schemas.openxmlformats.org/drawingml/2006/main">
              <a:ext uri="{FF2B5EF4-FFF2-40B4-BE49-F238E27FC236}">
                <a16:creationId xmlns:a16="http://schemas.microsoft.com/office/drawing/2014/main" id="{2D46FE48-3DE0-4DA2-A778-BD7A4CC9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 mäts i W, Q i var och S i VA. PF är dimensionslös.</a:t>
            </a:r>
          </a:p>
        </p:txBody>
      </p:sp>
      <p:sp>
        <p:nvSpPr>
          <p:cNvPr id="12" name="Förutsättningar: P = 600 W, Q = +800 var. Sinusformad stationär d">
            <a:extLst xmlns:a="http://schemas.openxmlformats.org/drawingml/2006/main">
              <a:ext uri="{FF2B5EF4-FFF2-40B4-BE49-F238E27FC236}">
                <a16:creationId xmlns:a16="http://schemas.microsoft.com/office/drawing/2014/main" id="{70503DDE-08B0-424C-8E11-578D5808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P = 600 W, Q = +800 var. Sinusformad stationär drift och induktiv last.</a:t>
            </a:r>
          </a:p>
        </p:txBody>
      </p:sp>
      <p:sp>
        <p:nvSpPr>
          <p:cNvPr id="13" name="Arbetsgång: Använd samma tusentalsskala för P och Q. Räkna S före">
            <a:extLst xmlns:a="http://schemas.openxmlformats.org/drawingml/2006/main">
              <a:ext uri="{FF2B5EF4-FFF2-40B4-BE49-F238E27FC236}">
                <a16:creationId xmlns:a16="http://schemas.microsoft.com/office/drawing/2014/main" id="{FFE7DBA0-C70C-440D-ACF4-3221B3D8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Använd samma tusentalsskala för P och Q. Räkna S före kvoten P/S.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CAD23F88-CDD8-45ED-BEB5-4DC02CB0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bde605cbc4e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9864DAC1-9074-4B4F-AB0A-BDED3D07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</a:t>
            </a:r>
          </a:p>
        </p:txBody>
      </p:sp>
      <p:sp>
        <p:nvSpPr>
          <p:cNvPr id="3" name="Effekttriangel">
            <a:extLst xmlns:a="http://schemas.openxmlformats.org/drawingml/2006/main">
              <a:ext uri="{FF2B5EF4-FFF2-40B4-BE49-F238E27FC236}">
                <a16:creationId xmlns:a16="http://schemas.microsoft.com/office/drawing/2014/main" id="{05141FA0-8F63-4A5F-B427-4C0CAF74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Effekttriangel</a:t>
            </a:r>
          </a:p>
        </p:txBody>
      </p:sp>
      <p:sp>
        <p:nvSpPr>
          <p:cNvPr id="4" name="En induktiv enfaslast har P = 600 W och Q = 800 var. Bestäm S och">
            <a:extLst xmlns:a="http://schemas.openxmlformats.org/drawingml/2006/main">
              <a:ext uri="{FF2B5EF4-FFF2-40B4-BE49-F238E27FC236}">
                <a16:creationId xmlns:a16="http://schemas.microsoft.com/office/drawing/2014/main" id="{D335041B-BBF9-49D5-991B-027ECEB0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induktiv enfaslast har P = 600 W och Q = 800 var. Bestäm S och PF.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305E6F4-18BF-4164-BFD4-186B34A8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85A07CC8-92FC-471E-8453-DD831E47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Effekttriangel med P = 600 W och Q = 800" descr="Effekttriangel med P = 600 W och Q = 800 v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e483091e94c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AC0C01E2-D83F-4CE5-B8FA-065E7D46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4</a:t>
            </a:r>
          </a:p>
        </p:txBody>
      </p:sp>
      <p:sp>
        <p:nvSpPr>
          <p:cNvPr id="10" name="P = S cos φ     sin φ = √(1 − cos²φ)&#10;Q = S sin φ">
            <a:extLst xmlns:a="http://schemas.openxmlformats.org/drawingml/2006/main">
              <a:ext uri="{FF2B5EF4-FFF2-40B4-BE49-F238E27FC236}">
                <a16:creationId xmlns:a16="http://schemas.microsoft.com/office/drawing/2014/main" id="{328074F2-F024-45BA-9D6F-8A3302DF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 = S cos φ     sin φ = √(1 − cos²φ)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Q = S sin φ</a:t>
            </a:r>
          </a:p>
        </p:txBody>
      </p:sp>
      <p:sp>
        <p:nvSpPr>
          <p:cNvPr id="11" name="För induktiv last väljs positiv sin φ och positiv Q. kVA ger kW r">
            <a:extLst xmlns:a="http://schemas.openxmlformats.org/drawingml/2006/main">
              <a:ext uri="{FF2B5EF4-FFF2-40B4-BE49-F238E27FC236}">
                <a16:creationId xmlns:a16="http://schemas.microsoft.com/office/drawing/2014/main" id="{8CD84AC7-7122-4752-B6D4-9CACAA73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 induktiv last väljs positiv sin φ och positiv Q. kVA ger kW respektive kvar med dessa formler.</a:t>
            </a:r>
          </a:p>
        </p:txBody>
      </p:sp>
      <p:sp>
        <p:nvSpPr>
          <p:cNvPr id="12" name="Förutsättningar: S = 2,0 kVA, cos φ = 0,80. Rena sinussignaler.">
            <a:extLst xmlns:a="http://schemas.openxmlformats.org/drawingml/2006/main">
              <a:ext uri="{FF2B5EF4-FFF2-40B4-BE49-F238E27FC236}">
                <a16:creationId xmlns:a16="http://schemas.microsoft.com/office/drawing/2014/main" id="{A6172295-0AF2-441F-B496-1F766B73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 = 2,0 kVA, cos φ = 0,80. Rena sinussignaler.</a:t>
            </a:r>
          </a:p>
        </p:txBody>
      </p:sp>
      <p:sp>
        <p:nvSpPr>
          <p:cNvPr id="13" name="Arbetsgång: Beräkna P och därefter sin φ. Multiplicera S med sin ">
            <a:extLst xmlns:a="http://schemas.openxmlformats.org/drawingml/2006/main">
              <a:ext uri="{FF2B5EF4-FFF2-40B4-BE49-F238E27FC236}">
                <a16:creationId xmlns:a16="http://schemas.microsoft.com/office/drawing/2014/main" id="{AE7C5CD4-0E33-4B7C-AF12-72BADC76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Beräkna P och därefter sin φ. Multiplicera S med sin φ för Q.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8C417806-72E5-434F-B5E1-6AB9E57F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cc5a228f8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49EF86ED-3F23-4DAD-BE1F-683DBFD7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4</a:t>
            </a:r>
          </a:p>
        </p:txBody>
      </p:sp>
      <p:sp>
        <p:nvSpPr>
          <p:cNvPr id="3" name="Reaktiv effekt">
            <a:extLst xmlns:a="http://schemas.openxmlformats.org/drawingml/2006/main">
              <a:ext uri="{FF2B5EF4-FFF2-40B4-BE49-F238E27FC236}">
                <a16:creationId xmlns:a16="http://schemas.microsoft.com/office/drawing/2014/main" id="{47B70D7F-BF29-406E-A252-D9010F3D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Reaktiv effekt</a:t>
            </a:r>
          </a:p>
        </p:txBody>
      </p:sp>
      <p:sp>
        <p:nvSpPr>
          <p:cNvPr id="4" name="S = 2,0 kVA och cos φ = 0,80. Lasten är induktiv och sinusformad.">
            <a:extLst xmlns:a="http://schemas.openxmlformats.org/drawingml/2006/main">
              <a:ext uri="{FF2B5EF4-FFF2-40B4-BE49-F238E27FC236}">
                <a16:creationId xmlns:a16="http://schemas.microsoft.com/office/drawing/2014/main" id="{43009EB0-09B9-42DD-A721-75E6854F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 = 2,0 kVA och cos φ = 0,80. Lasten är induktiv och sinusformad. Bestäm P och Q.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B9116694-8FB0-43E5-A604-49F09BC4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655D2E19-387E-4C90-A47E-EFDD8F8C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Effekttriangel med S = 2,0 kVA och cos f" descr="Effekttriangel med S = 2,0 kVA och cos fi 0,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b9f0fbf4943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E8017133-1108-418C-A21D-E6523C4A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5</a:t>
            </a:r>
          </a:p>
        </p:txBody>
      </p:sp>
      <p:sp>
        <p:nvSpPr>
          <p:cNvPr id="10" name="Eaktiv = P · t">
            <a:extLst xmlns:a="http://schemas.openxmlformats.org/drawingml/2006/main">
              <a:ext uri="{FF2B5EF4-FFF2-40B4-BE49-F238E27FC236}">
                <a16:creationId xmlns:a16="http://schemas.microsoft.com/office/drawing/2014/main" id="{37B40298-24BF-49A8-952E-7862A564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Eaktiv = P · t</a:t>
            </a:r>
          </a:p>
        </p:txBody>
      </p:sp>
      <p:sp>
        <p:nvSpPr>
          <p:cNvPr id="11" name="Aktiv energi anges i kWh när aktiv effekt P anges i kW och tid t ">
            <a:extLst xmlns:a="http://schemas.openxmlformats.org/drawingml/2006/main">
              <a:ext uri="{FF2B5EF4-FFF2-40B4-BE49-F238E27FC236}">
                <a16:creationId xmlns:a16="http://schemas.microsoft.com/office/drawing/2014/main" id="{A8691107-8F6A-48B9-B5A2-96BE2FB5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Aktiv energi anges i kWh när aktiv effekt P anges i kW och tid t i h.</a:t>
            </a:r>
          </a:p>
        </p:txBody>
      </p:sp>
      <p:sp>
        <p:nvSpPr>
          <p:cNvPr id="12" name="Förutsättningar: P = 1,60 kW är konstant under 3 h. S = 2,0 kVA a">
            <a:extLst xmlns:a="http://schemas.openxmlformats.org/drawingml/2006/main">
              <a:ext uri="{FF2B5EF4-FFF2-40B4-BE49-F238E27FC236}">
                <a16:creationId xmlns:a16="http://schemas.microsoft.com/office/drawing/2014/main" id="{5E88BF90-CF07-4BCF-A032-FA14856A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P = 1,60 kW är konstant under 3 h. S = 2,0 kVA används inte för aktiv energi.</a:t>
            </a:r>
          </a:p>
        </p:txBody>
      </p:sp>
      <p:sp>
        <p:nvSpPr>
          <p:cNvPr id="13" name="Arbetsgång: Välj aktiv effekt och multiplicera med tiden. Behåll ">
            <a:extLst xmlns:a="http://schemas.openxmlformats.org/drawingml/2006/main">
              <a:ext uri="{FF2B5EF4-FFF2-40B4-BE49-F238E27FC236}">
                <a16:creationId xmlns:a16="http://schemas.microsoft.com/office/drawing/2014/main" id="{96C10E1B-A35F-4D0E-B3BB-8C32D9A9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Välj aktiv effekt och multiplicera med tiden. Behåll enheten kWh.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7F4EA469-DB40-41F6-ABD2-B83437C3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b69576c7d48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73BBA3CB-3B00-450B-A87C-F0B7E8C1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5</a:t>
            </a:r>
          </a:p>
        </p:txBody>
      </p:sp>
      <p:sp>
        <p:nvSpPr>
          <p:cNvPr id="3" name="Energin på elmätaren">
            <a:extLst xmlns:a="http://schemas.openxmlformats.org/drawingml/2006/main">
              <a:ext uri="{FF2B5EF4-FFF2-40B4-BE49-F238E27FC236}">
                <a16:creationId xmlns:a16="http://schemas.microsoft.com/office/drawing/2014/main" id="{952F16BD-DB0B-45C7-9012-F81C80B7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Energi vid landanslutning</a:t>
            </a:r>
          </a:p>
        </p:txBody>
      </p:sp>
      <p:sp>
        <p:nvSpPr>
          <p:cNvPr id="4" name="En last har P = 1,60 kW och S = 2,0 kVA. Den går i 3 h. Beräkna a">
            <a:extLst xmlns:a="http://schemas.openxmlformats.org/drawingml/2006/main">
              <a:ext uri="{FF2B5EF4-FFF2-40B4-BE49-F238E27FC236}">
                <a16:creationId xmlns:a16="http://schemas.microsoft.com/office/drawing/2014/main" id="{1E8F8BEA-D5F5-4A5D-BAEB-4B530436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landanslutning tar en last P = 1,60 kW och S = 2,0 kVA. Den går i 3 h. Beräkna aktiv energi från land.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7E650EEB-9E34-470F-AE8C-1039D12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A9C1156E-0033-47F6-9137-DEDDCE74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Aktiv effekt 1,60 kW under 3 timmar, ene" descr="Aktiv effekt 1,60 kW under 3 timmar, energin är ytan under linj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6970c7db743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17E59F1C-F6C3-493F-A7D8-7DE0248A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Effektfaktor och övertoner&#10;Faskompensering&#10;Vad minskar och vad kv">
            <a:extLst xmlns:a="http://schemas.openxmlformats.org/drawingml/2006/main">
              <a:ext uri="{FF2B5EF4-FFF2-40B4-BE49-F238E27FC236}">
                <a16:creationId xmlns:a16="http://schemas.microsoft.com/office/drawing/2014/main" id="{DEFEDC48-627C-4836-BB15-0D7F8D68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Effektfaktor och övertoner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Faskompensering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Vad minskar och vad kvarstår?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5940A178-1AF9-45D2-B7E6-22F9BF29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6–10.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96646093-E691-4A54-AD1D-7DB68E3E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6baa23e5241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Effektfaktor och övertoner">
            <a:extLst xmlns:a="http://schemas.openxmlformats.org/drawingml/2006/main">
              <a:ext uri="{FF2B5EF4-FFF2-40B4-BE49-F238E27FC236}">
                <a16:creationId xmlns:a16="http://schemas.microsoft.com/office/drawing/2014/main" id="{C21AA680-E93A-4A81-94FD-F6EE2139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Effektfaktor och övertoner</a:t>
            </a:r>
          </a:p>
        </p:txBody>
      </p:sp>
      <p:sp>
        <p:nvSpPr>
          <p:cNvPr id="3" name="Effektfaktorn PF definieras som P/S.&#10;För rena sinussignaler är PF">
            <a:extLst xmlns:a="http://schemas.openxmlformats.org/drawingml/2006/main">
              <a:ext uri="{FF2B5EF4-FFF2-40B4-BE49-F238E27FC236}">
                <a16:creationId xmlns:a16="http://schemas.microsoft.com/office/drawing/2014/main" id="{90B8D2A6-AE55-4206-964E-2D4DC8D6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Effektfaktorn PF definieras som P/S.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 rena sinussignaler är PF = cos φ.</a:t>
            </a:r>
          </a:p>
        </p:txBody>
      </p:sp>
      <p:sp>
        <p:nvSpPr>
          <p:cNvPr id="4" name="PF = P/S">
            <a:extLst xmlns:a="http://schemas.openxmlformats.org/drawingml/2006/main">
              <a:ext uri="{FF2B5EF4-FFF2-40B4-BE49-F238E27FC236}">
                <a16:creationId xmlns:a16="http://schemas.microsoft.com/office/drawing/2014/main" id="{9A2B5328-C2E6-41ED-A45B-8C758685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PF = P/S</a:t>
            </a:r>
          </a:p>
        </p:txBody>
      </p:sp>
      <p:sp>
        <p:nvSpPr>
          <p:cNvPr id="5" name="Vid förvrängd ström kan PF vara lägre än cos φ.&#10;Ett vanligt fasvi">
            <a:extLst xmlns:a="http://schemas.openxmlformats.org/drawingml/2006/main">
              <a:ext uri="{FF2B5EF4-FFF2-40B4-BE49-F238E27FC236}">
                <a16:creationId xmlns:a16="http://schemas.microsoft.com/office/drawing/2014/main" id="{A64B7BBD-7D7C-410A-A8E2-C78966EF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förvrängd ström kan PF vara lägre än cos φ.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vanligt fasvinkelvärde beskriver då inte hela förloppet.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547E0D1E-ACFA-44FE-8451-1E0634F7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nusformad spänning och ström med övert" descr="Sinusformad spänning och ström med överto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c21ee8e874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Faskompensering">
            <a:extLst xmlns:a="http://schemas.openxmlformats.org/drawingml/2006/main">
              <a:ext uri="{FF2B5EF4-FFF2-40B4-BE49-F238E27FC236}">
                <a16:creationId xmlns:a16="http://schemas.microsoft.com/office/drawing/2014/main" id="{C65F17A7-B0CF-423A-B3CF-04012E2F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Faskompensering</a:t>
            </a:r>
          </a:p>
        </p:txBody>
      </p:sp>
      <p:sp>
        <p:nvSpPr>
          <p:cNvPr id="3" name="En kondensator kan minska induktiv Q som matningen levererar.&#10;Las">
            <a:extLst xmlns:a="http://schemas.openxmlformats.org/drawingml/2006/main">
              <a:ext uri="{FF2B5EF4-FFF2-40B4-BE49-F238E27FC236}">
                <a16:creationId xmlns:a16="http://schemas.microsoft.com/office/drawing/2014/main" id="{E44BA855-D9F8-4627-8B10-AA96711E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kondensator kan minska induktiv Q som matningen levererar.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Lastens aktiva effekt antas oförändrad i modellen.</a:t>
            </a:r>
          </a:p>
        </p:txBody>
      </p:sp>
      <p:sp>
        <p:nvSpPr>
          <p:cNvPr id="4" name="QC = P · (tan φ₁ − tan φ₂)">
            <a:extLst xmlns:a="http://schemas.openxmlformats.org/drawingml/2006/main">
              <a:ext uri="{FF2B5EF4-FFF2-40B4-BE49-F238E27FC236}">
                <a16:creationId xmlns:a16="http://schemas.microsoft.com/office/drawing/2014/main" id="{D05274D9-1F5C-4E81-B178-EFAF23B0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Q</a:t>
            </a:r>
            <a:r>
              <a:rPr sz="26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P · (tan φ₁ − tan φ₂)</a:t>
            </a:r>
          </a:p>
        </p:txBody>
      </p:sp>
      <p:sp>
        <p:nvSpPr>
          <p:cNvPr id="5" name="P = 3 kW, cos φ₁ = 0,60 och cos φ₂ = 1:&#10;QC = 4 kvar. Matningens S">
            <a:extLst xmlns:a="http://schemas.openxmlformats.org/drawingml/2006/main">
              <a:ext uri="{FF2B5EF4-FFF2-40B4-BE49-F238E27FC236}">
                <a16:creationId xmlns:a16="http://schemas.microsoft.com/office/drawing/2014/main" id="{0C93CA5B-273F-4F05-A12F-02B5D5C6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 = 3 kW, cos φ₁ = 0,60 och cos φ₂ = 1: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Q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4 kvar. Matningens S minskar från 5 till 3 kVA.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EFB58C1B-F8BE-4C62-BFCD-70AB63DE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Kondensatorns reaktiva effekt minskar Q " descr="Kondensatorns reaktiva effekt minskar Q och S medan P är oförändr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e6d69a4a5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Vad minskar och vad kvarstår?">
            <a:extLst xmlns:a="http://schemas.openxmlformats.org/drawingml/2006/main">
              <a:ext uri="{FF2B5EF4-FFF2-40B4-BE49-F238E27FC236}">
                <a16:creationId xmlns:a16="http://schemas.microsoft.com/office/drawing/2014/main" id="{B345A8DF-E22D-43CA-B66B-9051A120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minskar och vad kvarstår?</a:t>
            </a:r>
          </a:p>
        </p:txBody>
      </p:sp>
      <p:sp>
        <p:nvSpPr>
          <p:cNvPr id="3" name="Lägre matningsström minskar I²R-förluster i ledningen.&#10;Kompensati">
            <a:extLst xmlns:a="http://schemas.openxmlformats.org/drawingml/2006/main">
              <a:ext uri="{FF2B5EF4-FFF2-40B4-BE49-F238E27FC236}">
                <a16:creationId xmlns:a16="http://schemas.microsoft.com/office/drawing/2014/main" id="{B2C85381-B789-44EC-A644-020C2EEB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Lägre matningsström minskar I²R-förluster i ledningen.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Kompensation ska anpassas till nät och last.</a:t>
            </a:r>
          </a:p>
        </p:txBody>
      </p:sp>
      <p:sp>
        <p:nvSpPr>
          <p:cNvPr id="4" name="I = P/(U · PF)">
            <a:extLst xmlns:a="http://schemas.openxmlformats.org/drawingml/2006/main">
              <a:ext uri="{FF2B5EF4-FFF2-40B4-BE49-F238E27FC236}">
                <a16:creationId xmlns:a16="http://schemas.microsoft.com/office/drawing/2014/main" id="{BCDE2109-8E96-4830-AA16-8B174A4C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P/(U · PF)</a:t>
            </a:r>
          </a:p>
        </p:txBody>
      </p:sp>
      <p:sp>
        <p:nvSpPr>
          <p:cNvPr id="5" name="I modellen P = 1,8 kW, U = 230 V:&#10;PF 0,60 ger 13,0 A. PF 1,00 ger">
            <a:extLst xmlns:a="http://schemas.openxmlformats.org/drawingml/2006/main">
              <a:ext uri="{FF2B5EF4-FFF2-40B4-BE49-F238E27FC236}">
                <a16:creationId xmlns:a16="http://schemas.microsoft.com/office/drawing/2014/main" id="{86393CE1-6D63-40D7-9D93-B94E26DE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modellen P = 2,4 kW, U = 230 V: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PF 0,60 ger 17,4 A. PF 1,00 ger 10,4 A.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Ombord används kondensatorbatterier sällan: generatorn levererar Q själv. En kondensator kan hålla farlig spänning efter frånkoppling.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CF69B561-0CAD-4950-ACC0-E1F7A9DA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fc19e20094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kompensation och förlust">
            <a:extLst xmlns:a="http://schemas.openxmlformats.org/drawingml/2006/main">
              <a:ext uri="{FF2B5EF4-FFF2-40B4-BE49-F238E27FC236}">
                <a16:creationId xmlns:a16="http://schemas.microsoft.com/office/drawing/2014/main" id="{D7862259-1146-42E4-BCA5-F18228BE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kompensation och förlust</a:t>
            </a:r>
          </a:p>
        </p:txBody>
      </p:sp>
      <p:sp>
        <p:nvSpPr>
          <p:cNvPr id="10" name="En enfaslast har P = 1 200 W vid 240 V. PF förbättras från 0,50 t">
            <a:extLst xmlns:a="http://schemas.openxmlformats.org/drawingml/2006/main">
              <a:ext uri="{FF2B5EF4-FFF2-40B4-BE49-F238E27FC236}">
                <a16:creationId xmlns:a16="http://schemas.microsoft.com/office/drawing/2014/main" id="{9E3E1615-AA37-48D7-BB61-26CCD785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enfaslast har P = 1 200 W vid 240 V. PF förbättras från 0,50 till 1,00. Samma kabelresistans.</a:t>
            </a:r>
          </a:p>
        </p:txBody>
      </p:sp>
      <p:sp>
        <p:nvSpPr>
          <p:cNvPr id="11" name="I = P/(U · PF)     Pkabel,2/Pkabel,1 = (I₂/I₁)²">
            <a:extLst xmlns:a="http://schemas.openxmlformats.org/drawingml/2006/main">
              <a:ext uri="{FF2B5EF4-FFF2-40B4-BE49-F238E27FC236}">
                <a16:creationId xmlns:a16="http://schemas.microsoft.com/office/drawing/2014/main" id="{03058E9E-8EEA-4390-97A0-43C36706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P/(U · PF)     Pkabel,2/Pkabel,1 = (I₂/I₁)²</a:t>
            </a:r>
          </a:p>
        </p:txBody>
      </p:sp>
      <p:sp>
        <p:nvSpPr>
          <p:cNvPr id="12" name="1. I₁ = 1 200/(240 · 0,50) = 10 A.&#10;2. I₂ = 1 200/(240 · 1,00) = 5">
            <a:extLst xmlns:a="http://schemas.openxmlformats.org/drawingml/2006/main">
              <a:ext uri="{FF2B5EF4-FFF2-40B4-BE49-F238E27FC236}">
                <a16:creationId xmlns:a16="http://schemas.microsoft.com/office/drawing/2014/main" id="{026159F6-33FA-46BB-B03F-168FA9F9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I₁ = 1 200/(240 · 0,50) = 10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I₂ = 1 200/(240 · 1,00) = 5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Förlustkvot = (5/10)² = 0,25. Minskning = 75 %.</a:t>
            </a:r>
          </a:p>
        </p:txBody>
      </p:sp>
      <p:sp>
        <p:nvSpPr>
          <p:cNvPr id="13" name="Lastens aktiva effekt är fortfarande 1 200 W. I modellen minskar ">
            <a:extLst xmlns:a="http://schemas.openxmlformats.org/drawingml/2006/main">
              <a:ext uri="{FF2B5EF4-FFF2-40B4-BE49-F238E27FC236}">
                <a16:creationId xmlns:a16="http://schemas.microsoft.com/office/drawing/2014/main" id="{2379275C-7E8F-449A-BF86-6856DAA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Lastens aktiva effekt är fortfarande 1 200 W. I modellen minskar matningsström och kabelförlust.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A8B72173-C9B5-4DA9-A418-91C62839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4b67fc5014e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BA12FAE7-B17A-40A9-A637-851FA1E6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6</a:t>
            </a:r>
          </a:p>
        </p:txBody>
      </p:sp>
      <p:sp>
        <p:nvSpPr>
          <p:cNvPr id="10" name="I = P/(U · PF)">
            <a:extLst xmlns:a="http://schemas.openxmlformats.org/drawingml/2006/main">
              <a:ext uri="{FF2B5EF4-FFF2-40B4-BE49-F238E27FC236}">
                <a16:creationId xmlns:a16="http://schemas.microsoft.com/office/drawing/2014/main" id="{131FA802-39BE-480C-935D-41B23BE7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P/(U · PF)</a:t>
            </a:r>
          </a:p>
        </p:txBody>
      </p:sp>
      <p:sp>
        <p:nvSpPr>
          <p:cNvPr id="11" name="Formeln kommer från P = U · I · PF. P i W och U i V ger I i A.">
            <a:extLst xmlns:a="http://schemas.openxmlformats.org/drawingml/2006/main">
              <a:ext uri="{FF2B5EF4-FFF2-40B4-BE49-F238E27FC236}">
                <a16:creationId xmlns:a16="http://schemas.microsoft.com/office/drawing/2014/main" id="{7E1CEB88-5D79-4894-B8EC-66722CC1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Formeln kommer från P = U · I · PF. P i W och U i V ger I i A.</a:t>
            </a:r>
          </a:p>
        </p:txBody>
      </p:sp>
      <p:sp>
        <p:nvSpPr>
          <p:cNvPr id="12" name="Förutsättningar: Enfas, P = 1 840 W, U = 230 V RMS och PF = 0,80.">
            <a:extLst xmlns:a="http://schemas.openxmlformats.org/drawingml/2006/main">
              <a:ext uri="{FF2B5EF4-FFF2-40B4-BE49-F238E27FC236}">
                <a16:creationId xmlns:a16="http://schemas.microsoft.com/office/drawing/2014/main" id="{7A10952A-5FFA-41DD-80FB-18F95F37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Enfas, P = 1 840 W, U = 230 V RMS och PF = 0,80.</a:t>
            </a:r>
          </a:p>
        </p:txBody>
      </p:sp>
      <p:sp>
        <p:nvSpPr>
          <p:cNvPr id="13" name="Arbetsgång: Beräkna produkten i nämnaren och dividera P med den.">
            <a:extLst xmlns:a="http://schemas.openxmlformats.org/drawingml/2006/main">
              <a:ext uri="{FF2B5EF4-FFF2-40B4-BE49-F238E27FC236}">
                <a16:creationId xmlns:a16="http://schemas.microsoft.com/office/drawing/2014/main" id="{A6BA703C-932A-45F9-A927-35697E0F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Beräkna produkten i nämnaren och dividera P med den.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93F33316-9441-429A-A4D0-D8A6E340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441a2107647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F9167BDE-C9DB-4C95-A333-F18D1428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6</a:t>
            </a:r>
          </a:p>
        </p:txBody>
      </p:sp>
      <p:sp>
        <p:nvSpPr>
          <p:cNvPr id="3" name="Matningsström">
            <a:extLst xmlns:a="http://schemas.openxmlformats.org/drawingml/2006/main">
              <a:ext uri="{FF2B5EF4-FFF2-40B4-BE49-F238E27FC236}">
                <a16:creationId xmlns:a16="http://schemas.microsoft.com/office/drawing/2014/main" id="{E9BBC4ED-0215-47D8-9945-B0D2BBA7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Matningsström</a:t>
            </a:r>
          </a:p>
        </p:txBody>
      </p:sp>
      <p:sp>
        <p:nvSpPr>
          <p:cNvPr id="4" name="En enfaslast tar P = 1 840 W vid 230 V och PF = 0,80. Bestäm strö">
            <a:extLst xmlns:a="http://schemas.openxmlformats.org/drawingml/2006/main">
              <a:ext uri="{FF2B5EF4-FFF2-40B4-BE49-F238E27FC236}">
                <a16:creationId xmlns:a16="http://schemas.microsoft.com/office/drawing/2014/main" id="{BC874ECE-B291-4422-83AA-576FB58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enfaslast tar P = 1 840 W vid 230 V och PF = 0,80. Bestäm strömmen.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40DB605D-859C-424E-9C98-5440F0BB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4A00F964-AC91-4683-86CE-5544A0D6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Enfaslast på 230 V med P = 1 840 W och P" descr="Enfaslast på 230 V med P = 1 840 W och PF 0,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5ecc289244c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EF491D2F-F23F-4FF7-832C-06091C02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7</a:t>
            </a:r>
          </a:p>
        </p:txBody>
      </p:sp>
      <p:sp>
        <p:nvSpPr>
          <p:cNvPr id="10" name="Qtotal = Qlast + Qkondensator">
            <a:extLst xmlns:a="http://schemas.openxmlformats.org/drawingml/2006/main">
              <a:ext uri="{FF2B5EF4-FFF2-40B4-BE49-F238E27FC236}">
                <a16:creationId xmlns:a16="http://schemas.microsoft.com/office/drawing/2014/main" id="{9FFCD779-9E2B-4629-95D8-BCA78956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Qtotal = Qlast + Qkondensator</a:t>
            </a:r>
          </a:p>
        </p:txBody>
      </p:sp>
      <p:sp>
        <p:nvSpPr>
          <p:cNvPr id="11" name="Induktiv Q är positiv, kapacitiv Q negativ. Kompensationsbehovets">
            <a:extLst xmlns:a="http://schemas.openxmlformats.org/drawingml/2006/main">
              <a:ext uri="{FF2B5EF4-FFF2-40B4-BE49-F238E27FC236}">
                <a16:creationId xmlns:a16="http://schemas.microsoft.com/office/drawing/2014/main" id="{E95A9615-F42F-4FC5-A9BA-001F464E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Induktiv Q är positiv, kapacitiv Q negativ. Kompensationsbehovets belopp är positivt.</a:t>
            </a:r>
          </a:p>
        </p:txBody>
      </p:sp>
      <p:sp>
        <p:nvSpPr>
          <p:cNvPr id="12" name="Förutsättningar: Lasten har P = 3 kW, Qlast = +4 kvar. Målet är Q">
            <a:extLst xmlns:a="http://schemas.openxmlformats.org/drawingml/2006/main">
              <a:ext uri="{FF2B5EF4-FFF2-40B4-BE49-F238E27FC236}">
                <a16:creationId xmlns:a16="http://schemas.microsoft.com/office/drawing/2014/main" id="{0B8CC3BD-5BB6-4679-B673-0F77DC80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Lasten har P = 3 kW, Qlast = +4 kvar. Målet är Qtotal = 0 i en ideal modell.</a:t>
            </a:r>
          </a:p>
        </p:txBody>
      </p:sp>
      <p:sp>
        <p:nvSpPr>
          <p:cNvPr id="13" name="Arbetsgång: Lös ut Qkondensator. Ange både tecken och belopp. Kon">
            <a:extLst xmlns:a="http://schemas.openxmlformats.org/drawingml/2006/main">
              <a:ext uri="{FF2B5EF4-FFF2-40B4-BE49-F238E27FC236}">
                <a16:creationId xmlns:a16="http://schemas.microsoft.com/office/drawing/2014/main" id="{1B91B536-F8B7-4DDD-A2F8-C800A5C3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Lös ut Qkondensator. Ange både tecken och belopp. Kondensatorns kapacitans efterfrågas inte.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37BAE437-AFCE-459B-AF29-1F9ACAFB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0518338094d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88DF566C-B443-4866-9A19-28AE408D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7</a:t>
            </a:r>
          </a:p>
        </p:txBody>
      </p:sp>
      <p:sp>
        <p:nvSpPr>
          <p:cNvPr id="3" name="Full kompensation i modellen">
            <a:extLst xmlns:a="http://schemas.openxmlformats.org/drawingml/2006/main">
              <a:ext uri="{FF2B5EF4-FFF2-40B4-BE49-F238E27FC236}">
                <a16:creationId xmlns:a16="http://schemas.microsoft.com/office/drawing/2014/main" id="{1A2D1562-0975-4BD9-9E02-96D8D3E4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Full kompensation i modellen</a:t>
            </a:r>
          </a:p>
        </p:txBody>
      </p:sp>
      <p:sp>
        <p:nvSpPr>
          <p:cNvPr id="4" name="En sinusformad last har P = 3 kW och Q = +4 kvar. Vilken kapaciti">
            <a:extLst xmlns:a="http://schemas.openxmlformats.org/drawingml/2006/main">
              <a:ext uri="{FF2B5EF4-FFF2-40B4-BE49-F238E27FC236}">
                <a16:creationId xmlns:a16="http://schemas.microsoft.com/office/drawing/2014/main" id="{B12D7500-D871-467B-B05F-1352634B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sinusformad last har P = 3 kW och Q = +4 kvar. Vilken kapacitiv reaktiv effekt behövs för Qtotal = 0?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74B58772-1A4D-4CEB-B50B-FDD482AF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AA1D2309-6CB6-4D73-B4D9-FE31514A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Effekttriangel med P = 3 kW och Q = +4 k" descr="Effekttriangel med P = 3 kW och Q = +4 kvar samt okänd kapacitiv kompens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ca9c35d374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E1C361F6-DAC4-4F3B-8931-7B52FE2C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8</a:t>
            </a:r>
          </a:p>
        </p:txBody>
      </p:sp>
      <p:sp>
        <p:nvSpPr>
          <p:cNvPr id="10" name="I₁ = P/(U · PF₁)     I₂ = P/(U · PF₂)">
            <a:extLst xmlns:a="http://schemas.openxmlformats.org/drawingml/2006/main">
              <a:ext uri="{FF2B5EF4-FFF2-40B4-BE49-F238E27FC236}">
                <a16:creationId xmlns:a16="http://schemas.microsoft.com/office/drawing/2014/main" id="{4A699427-904E-4C92-B9BC-668E4676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 = P/(U · PF₁)     I₂ = P/(U · PF₂)</a:t>
            </a:r>
          </a:p>
        </p:txBody>
      </p:sp>
      <p:sp>
        <p:nvSpPr>
          <p:cNvPr id="11" name="Index 1 betyder före och 2 efter. Matningsströmmen minskar när PF">
            <a:extLst xmlns:a="http://schemas.openxmlformats.org/drawingml/2006/main">
              <a:ext uri="{FF2B5EF4-FFF2-40B4-BE49-F238E27FC236}">
                <a16:creationId xmlns:a16="http://schemas.microsoft.com/office/drawing/2014/main" id="{DA9D3A0F-D4CD-43FE-A218-BC17C3C5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Index 1 betyder före och 2 efter. Matningsströmmen minskar när PF ökar vid samma aktiva effekt.</a:t>
            </a:r>
          </a:p>
        </p:txBody>
      </p:sp>
      <p:sp>
        <p:nvSpPr>
          <p:cNvPr id="12" name="Förutsättningar: P = 1 800 W och U = 230 V är oförändrade. PF öka">
            <a:extLst xmlns:a="http://schemas.openxmlformats.org/drawingml/2006/main">
              <a:ext uri="{FF2B5EF4-FFF2-40B4-BE49-F238E27FC236}">
                <a16:creationId xmlns:a16="http://schemas.microsoft.com/office/drawing/2014/main" id="{A80453FF-60F6-49DA-B208-8805E12C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P = 1 800 W och U = 230 V är oförändrade. PF ökar från 0,60 till 0,90.</a:t>
            </a:r>
          </a:p>
        </p:txBody>
      </p:sp>
      <p:sp>
        <p:nvSpPr>
          <p:cNvPr id="13" name="Arbetsgång: Använd samma P och U i båda beräkningarna. Byt endast">
            <a:extLst xmlns:a="http://schemas.openxmlformats.org/drawingml/2006/main">
              <a:ext uri="{FF2B5EF4-FFF2-40B4-BE49-F238E27FC236}">
                <a16:creationId xmlns:a16="http://schemas.microsoft.com/office/drawing/2014/main" id="{95AB3342-49C9-486B-9DEB-33CF440F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Använd samma P och U i båda beräkningarna. Byt endast PF.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A364D200-B1FC-4C8C-B732-B22201F9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f9f608f0441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F78B10FF-AC0C-4D99-9A4C-58D76F4A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8</a:t>
            </a:r>
          </a:p>
        </p:txBody>
      </p:sp>
      <p:sp>
        <p:nvSpPr>
          <p:cNvPr id="3" name="Ström före och efter">
            <a:extLst xmlns:a="http://schemas.openxmlformats.org/drawingml/2006/main">
              <a:ext uri="{FF2B5EF4-FFF2-40B4-BE49-F238E27FC236}">
                <a16:creationId xmlns:a16="http://schemas.microsoft.com/office/drawing/2014/main" id="{6232E427-17C7-4784-96E2-633B2DF5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Ström före och efter</a:t>
            </a:r>
          </a:p>
        </p:txBody>
      </p:sp>
      <p:sp>
        <p:nvSpPr>
          <p:cNvPr id="4" name="En enfaslast har P = 1 800 W vid 230 V. PF höjs från 0,60 till 0,">
            <a:extLst xmlns:a="http://schemas.openxmlformats.org/drawingml/2006/main">
              <a:ext uri="{FF2B5EF4-FFF2-40B4-BE49-F238E27FC236}">
                <a16:creationId xmlns:a16="http://schemas.microsoft.com/office/drawing/2014/main" id="{7A11C795-12B6-452C-8509-9816B2C9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enfaslast har P = 1 800 W vid 230 V. PF höjs från 0,60 till 0,90. Beräkna matningsström före och efter.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231E5C8B-346B-4D17-9FE3-4038F186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B3324547-A13A-4C25-BFD8-EA574F36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vå effekttrianglar med samma P = 1 800 " descr="Två effekttrianglar med samma P = 1 800 W vid PF 0,60 och 0,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6191eab2b4b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D66D336A-B9BF-4DBB-950E-C3BA4BE7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9</a:t>
            </a:r>
          </a:p>
        </p:txBody>
      </p:sp>
      <p:sp>
        <p:nvSpPr>
          <p:cNvPr id="10" name="P₂/P₁ = (I₂/I₁)²&#10;Minskning i % = 100 · (1 − P₂/P₁)">
            <a:extLst xmlns:a="http://schemas.openxmlformats.org/drawingml/2006/main">
              <a:ext uri="{FF2B5EF4-FFF2-40B4-BE49-F238E27FC236}">
                <a16:creationId xmlns:a16="http://schemas.microsoft.com/office/drawing/2014/main" id="{2A8B8627-F022-4CCB-9A38-6AA9BE8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P₂/P₁ = (I₂/I₁)²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Minskning i % = 100 · (1 − P₂/P₁)</a:t>
            </a:r>
          </a:p>
        </p:txBody>
      </p:sp>
      <p:sp>
        <p:nvSpPr>
          <p:cNvPr id="11" name="Kvoten ger den andel som återstår. Multiplicera med 100 för proce">
            <a:extLst xmlns:a="http://schemas.openxmlformats.org/drawingml/2006/main">
              <a:ext uri="{FF2B5EF4-FFF2-40B4-BE49-F238E27FC236}">
                <a16:creationId xmlns:a16="http://schemas.microsoft.com/office/drawing/2014/main" id="{6C265DA3-C17E-406C-A7DF-9DEBE9BF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Kvoten ger den andel som återstår. Multiplicera med 100 för procent.</a:t>
            </a:r>
          </a:p>
        </p:txBody>
      </p:sp>
      <p:sp>
        <p:nvSpPr>
          <p:cNvPr id="12" name="Förutsättningar: Samma kabel och oförändrad R. Strömmen ändras fr">
            <a:extLst xmlns:a="http://schemas.openxmlformats.org/drawingml/2006/main">
              <a:ext uri="{FF2B5EF4-FFF2-40B4-BE49-F238E27FC236}">
                <a16:creationId xmlns:a16="http://schemas.microsoft.com/office/drawing/2014/main" id="{8A6A3382-3F7F-4DB3-A942-7D5FE1AB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Samma kabel och oförändrad R. Strömmen ändras från 12 A till 8 A.</a:t>
            </a:r>
          </a:p>
        </p:txBody>
      </p:sp>
      <p:sp>
        <p:nvSpPr>
          <p:cNvPr id="13" name="Arbetsgång: Kvadrera strömkvoten. Skilj på procent som återstår o">
            <a:extLst xmlns:a="http://schemas.openxmlformats.org/drawingml/2006/main">
              <a:ext uri="{FF2B5EF4-FFF2-40B4-BE49-F238E27FC236}">
                <a16:creationId xmlns:a16="http://schemas.microsoft.com/office/drawing/2014/main" id="{51431D49-FE3D-4B3D-A059-6DCF1408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Kvadrera strömkvoten. Skilj på procent som återstår och procentuell minskning.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2A1345B2-E86C-4ACB-9B67-89DF7723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0e1f34d9a41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6A90B7AE-4C4E-4833-AD09-8C0D6BFA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9</a:t>
            </a:r>
          </a:p>
        </p:txBody>
      </p:sp>
      <p:sp>
        <p:nvSpPr>
          <p:cNvPr id="3" name="Ledningsförlust">
            <a:extLst xmlns:a="http://schemas.openxmlformats.org/drawingml/2006/main">
              <a:ext uri="{FF2B5EF4-FFF2-40B4-BE49-F238E27FC236}">
                <a16:creationId xmlns:a16="http://schemas.microsoft.com/office/drawing/2014/main" id="{766860AD-C604-4C1A-95FC-C846E1D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Ledningsförlust</a:t>
            </a:r>
          </a:p>
        </p:txBody>
      </p:sp>
      <p:sp>
        <p:nvSpPr>
          <p:cNvPr id="4" name="För samma kabel minskar strömmen från 12 A till 8 A. Hur stor del">
            <a:extLst xmlns:a="http://schemas.openxmlformats.org/drawingml/2006/main">
              <a:ext uri="{FF2B5EF4-FFF2-40B4-BE49-F238E27FC236}">
                <a16:creationId xmlns:a16="http://schemas.microsoft.com/office/drawing/2014/main" id="{60B21369-901C-4A3C-9498-EBE5773A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 samma kabel minskar strömmen från 12 A till 8 A. Hur stor del av den gamla I²R-förlusten återstår?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F4D2CE96-9B5C-4C67-80EA-85CD2490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ADCC5E4C-DD71-4358-A9F8-3EE8828D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tapeldiagram för förlust I i kvadrat vi" descr="Stapeldiagram för förlust I i kvadrat vid 12 A och 8 A i samma k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f7513cbfc4f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BFC6C719-7C40-4864-A79D-3C42BED5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10</a:t>
            </a:r>
          </a:p>
        </p:txBody>
      </p:sp>
      <p:sp>
        <p:nvSpPr>
          <p:cNvPr id="10" name="PF = P/S">
            <a:extLst xmlns:a="http://schemas.openxmlformats.org/drawingml/2006/main">
              <a:ext uri="{FF2B5EF4-FFF2-40B4-BE49-F238E27FC236}">
                <a16:creationId xmlns:a16="http://schemas.microsoft.com/office/drawing/2014/main" id="{CF8F1C52-E24C-4D81-A6F4-7FFD3E4C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PF = P/S</a:t>
            </a:r>
          </a:p>
        </p:txBody>
      </p:sp>
      <p:sp>
        <p:nvSpPr>
          <p:cNvPr id="11" name="PF beskriver total aktiv effekt i förhållande till total skenbar ">
            <a:extLst xmlns:a="http://schemas.openxmlformats.org/drawingml/2006/main">
              <a:ext uri="{FF2B5EF4-FFF2-40B4-BE49-F238E27FC236}">
                <a16:creationId xmlns:a16="http://schemas.microsoft.com/office/drawing/2014/main" id="{23BE4408-F927-40FF-8202-C954E6F2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PF beskriver total aktiv effekt i förhållande till total skenbar effekt. cos φ beskriver här grundtonen.</a:t>
            </a:r>
          </a:p>
        </p:txBody>
      </p:sp>
      <p:sp>
        <p:nvSpPr>
          <p:cNvPr id="12" name="Förutsättningar: P = 800 W, S = 1 000 VA och grundtonens cos φ = ">
            <a:extLst xmlns:a="http://schemas.openxmlformats.org/drawingml/2006/main">
              <a:ext uri="{FF2B5EF4-FFF2-40B4-BE49-F238E27FC236}">
                <a16:creationId xmlns:a16="http://schemas.microsoft.com/office/drawing/2014/main" id="{2BBC6D55-A6F2-4DE7-8566-1DAF19BE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P = 800 W, S = 1 000 VA och grundtonens cos φ = 0,95. Strömmen kan innehålla övertoner.</a:t>
            </a:r>
          </a:p>
        </p:txBody>
      </p:sp>
      <p:sp>
        <p:nvSpPr>
          <p:cNvPr id="13" name="Arbetsgång: Beräkna PF direkt ur mätdata. Förklara varför cos φ i">
            <a:extLst xmlns:a="http://schemas.openxmlformats.org/drawingml/2006/main">
              <a:ext uri="{FF2B5EF4-FFF2-40B4-BE49-F238E27FC236}">
                <a16:creationId xmlns:a16="http://schemas.microsoft.com/office/drawing/2014/main" id="{F2BB5528-9D45-43E3-AC05-47A4476B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Beräkna PF direkt ur mätdata. Förklara varför cos φ inte ensam beskriver förvrängd ström.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1BED9DA3-6063-49A4-9A6A-4B6902DA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11c7201664e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E4144083-438B-4E41-8B4D-F3884AB2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10</a:t>
            </a:r>
          </a:p>
        </p:txBody>
      </p:sp>
      <p:sp>
        <p:nvSpPr>
          <p:cNvPr id="3" name="Övertoner">
            <a:extLst xmlns:a="http://schemas.openxmlformats.org/drawingml/2006/main">
              <a:ext uri="{FF2B5EF4-FFF2-40B4-BE49-F238E27FC236}">
                <a16:creationId xmlns:a16="http://schemas.microsoft.com/office/drawing/2014/main" id="{3AD19341-CF44-49C0-8046-6986895E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Övertoner</a:t>
            </a:r>
          </a:p>
        </p:txBody>
      </p:sp>
      <p:sp>
        <p:nvSpPr>
          <p:cNvPr id="4" name="En mätare visar P = 800 W, S = 1 000 VA och cos φ = 0,95 för grun">
            <a:extLst xmlns:a="http://schemas.openxmlformats.org/drawingml/2006/main">
              <a:ext uri="{FF2B5EF4-FFF2-40B4-BE49-F238E27FC236}">
                <a16:creationId xmlns:a16="http://schemas.microsoft.com/office/drawing/2014/main" id="{94F66146-E05A-4041-A1C2-4496D60B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mätare visar P = 800 W, S = 1 000 VA och cos φ = 0,95 för grundtonen. Beräkna PF och förklara skillnaden.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14F9F53B-947E-4BAF-882F-C69BB924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3980266F-C744-441E-AF19-D9548488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nusformad spänning och ström med övert" descr="Sinusformad spänning och ström med övertoner, P = 800 W och S = 1 000 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4dfc130aa4c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2814D187-8D5D-498A-BF84-E8CE8980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Kan effektfaktor alltid ersättas av cos φ? När gäller förenklinge">
            <a:extLst xmlns:a="http://schemas.openxmlformats.org/drawingml/2006/main">
              <a:ext uri="{FF2B5EF4-FFF2-40B4-BE49-F238E27FC236}">
                <a16:creationId xmlns:a16="http://schemas.microsoft.com/office/drawing/2014/main" id="{E291DAE8-0565-48E3-B7B5-BC9A39E1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Kan effektfaktor alltid ersättas av cos φ? När gäller förenklingen?</a:t>
            </a:r>
          </a:p>
        </p:txBody>
      </p:sp>
      <p:sp>
        <p:nvSpPr>
          <p:cNvPr id="4" name="V40-inlämningen lämnas senast söndag 4 oktober. Bifoga enheter W,">
            <a:extLst xmlns:a="http://schemas.openxmlformats.org/drawingml/2006/main">
              <a:ext uri="{FF2B5EF4-FFF2-40B4-BE49-F238E27FC236}">
                <a16:creationId xmlns:a16="http://schemas.microsoft.com/office/drawing/2014/main" id="{EE40E5FF-E62F-4799-AAF7-7EB25DDF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V40-inlämningen lämnas senast söndag 4 oktober. Bifoga enheter W, var och VA samt förklaring av vald teckenkonvention.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A60CCD3E-B95A-413D-8341-6F6F5031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4b80519e74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E226EAC6-1AA5-4DEC-B211-ACFDDEFF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07CA3AAF-6E93-4E82-BBC6-A5F9FD1E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OpenStax: enkla växelströmskretsar">
            <a:extLst xmlns:a="http://schemas.openxmlformats.org/drawingml/2006/main">
              <a:ext uri="{FF2B5EF4-FFF2-40B4-BE49-F238E27FC236}">
                <a16:creationId xmlns:a16="http://schemas.microsoft.com/office/drawing/2014/main" id="{5939CB0B-9557-49B7-8E7E-181D6234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c3845ef788e4557"/>
              </a:rPr>
              <a:t>OpenStax: enkla växelströmskretsar</a:t>
            </a:r>
          </a:p>
        </p:txBody>
      </p:sp>
      <p:sp>
        <p:nvSpPr>
          <p:cNvPr id="5" name="Schneider Electric: reaktiv effekt">
            <a:extLst xmlns:a="http://schemas.openxmlformats.org/drawingml/2006/main">
              <a:ext uri="{FF2B5EF4-FFF2-40B4-BE49-F238E27FC236}">
                <a16:creationId xmlns:a16="http://schemas.microsoft.com/office/drawing/2014/main" id="{98C95A39-5FB3-4279-B35E-38474927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a48c381d7f043d2"/>
              </a:rPr>
              <a:t>Schneider Electric: reaktiv effekt</a:t>
            </a:r>
          </a:p>
        </p:txBody>
      </p:sp>
      <p:sp>
        <p:nvSpPr>
          <p:cNvPr id="7" name="22">
            <a:extLst xmlns:a="http://schemas.openxmlformats.org/drawingml/2006/main">
              <a:ext uri="{FF2B5EF4-FFF2-40B4-BE49-F238E27FC236}">
                <a16:creationId xmlns:a16="http://schemas.microsoft.com/office/drawing/2014/main" id="{6E55023C-79D9-4005-87B2-C1B24FFC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2026-09-20T20:09:12.3470000Z</dcterms:created>
  <dcterms:modified xsi:type="dcterms:W3CDTF">2026-09-20T20:09:12.3470000Z</dcterms:modified>
</coreProperties>
</file>